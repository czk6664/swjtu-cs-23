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wmf" ContentType="image/x-wmf"/>
  <Default Extension="png" ContentType="image/png"/>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3"/>
  </p:sldMasterIdLst>
  <p:notesMasterIdLst>
    <p:notesMasterId r:id="rId11"/>
  </p:notesMasterIdLst>
  <p:sldIdLst>
    <p:sldId id="917" r:id="rId4"/>
    <p:sldId id="2113" r:id="rId5"/>
    <p:sldId id="2115" r:id="rId6"/>
    <p:sldId id="2117" r:id="rId7"/>
    <p:sldId id="2119" r:id="rId8"/>
    <p:sldId id="2167" r:id="rId9"/>
    <p:sldId id="2121" r:id="rId10"/>
    <p:sldId id="2114" r:id="rId12"/>
    <p:sldId id="2123" r:id="rId13"/>
    <p:sldId id="2124" r:id="rId14"/>
    <p:sldId id="2125" r:id="rId15"/>
    <p:sldId id="2168" r:id="rId16"/>
    <p:sldId id="2169" r:id="rId17"/>
    <p:sldId id="2126" r:id="rId18"/>
    <p:sldId id="2127" r:id="rId19"/>
    <p:sldId id="2128" r:id="rId20"/>
    <p:sldId id="2170" r:id="rId21"/>
    <p:sldId id="2171" r:id="rId22"/>
    <p:sldId id="2172" r:id="rId23"/>
    <p:sldId id="2173" r:id="rId24"/>
    <p:sldId id="2130" r:id="rId25"/>
    <p:sldId id="2175" r:id="rId26"/>
    <p:sldId id="2133" r:id="rId27"/>
    <p:sldId id="2134" r:id="rId28"/>
    <p:sldId id="2136" r:id="rId29"/>
    <p:sldId id="2137" r:id="rId30"/>
    <p:sldId id="2138" r:id="rId31"/>
    <p:sldId id="2139" r:id="rId32"/>
    <p:sldId id="2140" r:id="rId33"/>
    <p:sldId id="2142" r:id="rId34"/>
    <p:sldId id="2176" r:id="rId35"/>
    <p:sldId id="2144" r:id="rId36"/>
    <p:sldId id="2145" r:id="rId37"/>
    <p:sldId id="2146" r:id="rId38"/>
    <p:sldId id="2180" r:id="rId39"/>
    <p:sldId id="2181" r:id="rId40"/>
    <p:sldId id="2147" r:id="rId41"/>
    <p:sldId id="2148" r:id="rId42"/>
    <p:sldId id="2149" r:id="rId43"/>
    <p:sldId id="2150" r:id="rId44"/>
    <p:sldId id="2152" r:id="rId45"/>
    <p:sldId id="2153" r:id="rId46"/>
    <p:sldId id="2154" r:id="rId47"/>
    <p:sldId id="2155" r:id="rId48"/>
    <p:sldId id="2156" r:id="rId49"/>
    <p:sldId id="2157" r:id="rId50"/>
    <p:sldId id="2158" r:id="rId51"/>
    <p:sldId id="2159" r:id="rId52"/>
    <p:sldId id="2160" r:id="rId53"/>
    <p:sldId id="2161" r:id="rId54"/>
    <p:sldId id="2162" r:id="rId55"/>
    <p:sldId id="2164" r:id="rId56"/>
    <p:sldId id="2165" r:id="rId57"/>
    <p:sldId id="2179" r:id="rId58"/>
  </p:sldIdLst>
  <p:sldSz cx="9144000" cy="6858000" type="screen4x3"/>
  <p:notesSz cx="6781800" cy="9926320"/>
  <p:custDataLst>
    <p:tags r:id="rId62"/>
  </p:custDataLst>
  <p:defaultTextStyle>
    <a:defPPr>
      <a:defRPr lang="zh-CN"/>
    </a:defPPr>
    <a:lvl1pPr marL="0" lvl="0" indent="0" algn="l" defTabSz="914400" eaLnBrk="1" fontAlgn="base" latinLnBrk="0" hangingPunct="1">
      <a:lnSpc>
        <a:spcPct val="100000"/>
      </a:lnSpc>
      <a:spcBef>
        <a:spcPct val="0"/>
      </a:spcBef>
      <a:spcAft>
        <a:spcPct val="0"/>
      </a:spcAft>
      <a:buFont typeface="Arial" panose="020B0604020202020204" pitchFamily="34" charset="0"/>
      <a:buNone/>
      <a:defRPr sz="1800" b="1"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eaLnBrk="1" fontAlgn="base" latinLnBrk="0" hangingPunct="1">
      <a:lnSpc>
        <a:spcPct val="100000"/>
      </a:lnSpc>
      <a:spcBef>
        <a:spcPct val="0"/>
      </a:spcBef>
      <a:spcAft>
        <a:spcPct val="0"/>
      </a:spcAft>
      <a:buFont typeface="Arial" panose="020B0604020202020204" pitchFamily="34" charset="0"/>
      <a:buNone/>
      <a:defRPr sz="1800" b="1" i="0" u="none" kern="1200" baseline="0">
        <a:solidFill>
          <a:schemeClr val="tx1"/>
        </a:solidFill>
        <a:latin typeface="Arial" panose="020B0604020202020204" pitchFamily="34" charset="0"/>
        <a:ea typeface="宋体" panose="02010600030101010101" pitchFamily="2" charset="-122"/>
      </a:defRPr>
    </a:lvl2pPr>
    <a:lvl3pPr marL="914400" lvl="2" indent="0" algn="l" defTabSz="914400" eaLnBrk="1" fontAlgn="base" latinLnBrk="0" hangingPunct="1">
      <a:lnSpc>
        <a:spcPct val="100000"/>
      </a:lnSpc>
      <a:spcBef>
        <a:spcPct val="0"/>
      </a:spcBef>
      <a:spcAft>
        <a:spcPct val="0"/>
      </a:spcAft>
      <a:buFont typeface="Arial" panose="020B0604020202020204" pitchFamily="34" charset="0"/>
      <a:buNone/>
      <a:defRPr sz="1800" b="1" i="0" u="none" kern="1200" baseline="0">
        <a:solidFill>
          <a:schemeClr val="tx1"/>
        </a:solidFill>
        <a:latin typeface="Arial" panose="020B0604020202020204" pitchFamily="34" charset="0"/>
        <a:ea typeface="宋体" panose="02010600030101010101" pitchFamily="2" charset="-122"/>
      </a:defRPr>
    </a:lvl3pPr>
    <a:lvl4pPr marL="1371600" lvl="3" indent="0" algn="l" defTabSz="914400" eaLnBrk="1" fontAlgn="base" latinLnBrk="0" hangingPunct="1">
      <a:lnSpc>
        <a:spcPct val="100000"/>
      </a:lnSpc>
      <a:spcBef>
        <a:spcPct val="0"/>
      </a:spcBef>
      <a:spcAft>
        <a:spcPct val="0"/>
      </a:spcAft>
      <a:buFont typeface="Arial" panose="020B0604020202020204" pitchFamily="34" charset="0"/>
      <a:buNone/>
      <a:defRPr sz="1800" b="1" i="0" u="none" kern="1200" baseline="0">
        <a:solidFill>
          <a:schemeClr val="tx1"/>
        </a:solidFill>
        <a:latin typeface="Arial" panose="020B0604020202020204" pitchFamily="34" charset="0"/>
        <a:ea typeface="宋体" panose="02010600030101010101" pitchFamily="2" charset="-122"/>
      </a:defRPr>
    </a:lvl4pPr>
    <a:lvl5pPr marL="1828800" lvl="4" indent="0" algn="l" defTabSz="914400" eaLnBrk="1" fontAlgn="base" latinLnBrk="0" hangingPunct="1">
      <a:lnSpc>
        <a:spcPct val="100000"/>
      </a:lnSpc>
      <a:spcBef>
        <a:spcPct val="0"/>
      </a:spcBef>
      <a:spcAft>
        <a:spcPct val="0"/>
      </a:spcAft>
      <a:buFont typeface="Arial" panose="020B0604020202020204" pitchFamily="34" charset="0"/>
      <a:buNone/>
      <a:defRPr sz="1800" b="1" i="0" u="none" kern="1200" baseline="0">
        <a:solidFill>
          <a:schemeClr val="tx1"/>
        </a:solidFill>
        <a:latin typeface="Arial" panose="020B0604020202020204" pitchFamily="34" charset="0"/>
        <a:ea typeface="宋体" panose="02010600030101010101" pitchFamily="2" charset="-122"/>
      </a:defRPr>
    </a:lvl5pPr>
    <a:lvl6pPr marL="2286000" lvl="5" indent="0" algn="l" defTabSz="914400" eaLnBrk="1" fontAlgn="base" latinLnBrk="0" hangingPunct="1">
      <a:lnSpc>
        <a:spcPct val="100000"/>
      </a:lnSpc>
      <a:spcBef>
        <a:spcPct val="0"/>
      </a:spcBef>
      <a:spcAft>
        <a:spcPct val="0"/>
      </a:spcAft>
      <a:buFont typeface="Arial" panose="020B0604020202020204" pitchFamily="34" charset="0"/>
      <a:buNone/>
      <a:defRPr sz="1800" b="1" i="0" u="none" kern="1200" baseline="0">
        <a:solidFill>
          <a:schemeClr val="tx1"/>
        </a:solidFill>
        <a:latin typeface="Arial" panose="020B0604020202020204" pitchFamily="34" charset="0"/>
        <a:ea typeface="宋体" panose="02010600030101010101" pitchFamily="2" charset="-122"/>
      </a:defRPr>
    </a:lvl6pPr>
    <a:lvl7pPr marL="2743200" lvl="6" indent="0" algn="l" defTabSz="914400" eaLnBrk="1" fontAlgn="base" latinLnBrk="0" hangingPunct="1">
      <a:lnSpc>
        <a:spcPct val="100000"/>
      </a:lnSpc>
      <a:spcBef>
        <a:spcPct val="0"/>
      </a:spcBef>
      <a:spcAft>
        <a:spcPct val="0"/>
      </a:spcAft>
      <a:buFont typeface="Arial" panose="020B0604020202020204" pitchFamily="34" charset="0"/>
      <a:buNone/>
      <a:defRPr sz="1800" b="1" i="0" u="none" kern="1200" baseline="0">
        <a:solidFill>
          <a:schemeClr val="tx1"/>
        </a:solidFill>
        <a:latin typeface="Arial" panose="020B0604020202020204" pitchFamily="34" charset="0"/>
        <a:ea typeface="宋体" panose="02010600030101010101" pitchFamily="2" charset="-122"/>
      </a:defRPr>
    </a:lvl7pPr>
    <a:lvl8pPr marL="3200400" lvl="7" indent="0" algn="l" defTabSz="914400" eaLnBrk="1" fontAlgn="base" latinLnBrk="0" hangingPunct="1">
      <a:lnSpc>
        <a:spcPct val="100000"/>
      </a:lnSpc>
      <a:spcBef>
        <a:spcPct val="0"/>
      </a:spcBef>
      <a:spcAft>
        <a:spcPct val="0"/>
      </a:spcAft>
      <a:buFont typeface="Arial" panose="020B0604020202020204" pitchFamily="34" charset="0"/>
      <a:buNone/>
      <a:defRPr sz="1800" b="1" i="0" u="none" kern="1200" baseline="0">
        <a:solidFill>
          <a:schemeClr val="tx1"/>
        </a:solidFill>
        <a:latin typeface="Arial" panose="020B0604020202020204" pitchFamily="34" charset="0"/>
        <a:ea typeface="宋体" panose="02010600030101010101" pitchFamily="2" charset="-122"/>
      </a:defRPr>
    </a:lvl8pPr>
    <a:lvl9pPr marL="3657600" lvl="8" indent="0" algn="l" defTabSz="914400" eaLnBrk="1" fontAlgn="base" latinLnBrk="0" hangingPunct="1">
      <a:lnSpc>
        <a:spcPct val="100000"/>
      </a:lnSpc>
      <a:spcBef>
        <a:spcPct val="0"/>
      </a:spcBef>
      <a:spcAft>
        <a:spcPct val="0"/>
      </a:spcAft>
      <a:buFont typeface="Arial" panose="020B0604020202020204" pitchFamily="34" charset="0"/>
      <a:buNone/>
      <a:defRPr sz="1800" b="1" i="0" u="none" kern="1200" baseline="0">
        <a:solidFill>
          <a:schemeClr val="tx1"/>
        </a:solidFill>
        <a:latin typeface="Arial" panose="020B0604020202020204" pitchFamily="34" charset="0"/>
        <a:ea typeface="宋体" panose="02010600030101010101" pitchFamily="2" charset="-122"/>
      </a:defRPr>
    </a:lvl9pPr>
  </p:defaultTextStyle>
  <p:extLst>
    <p:ext uri="{EFAFB233-063F-42B5-8137-9DF3F51BA10A}">
      <p15:sldGuideLst xmlns:p15="http://schemas.microsoft.com/office/powerpoint/2012/main">
        <p15:guide id="1" orient="horz" pos="471" userDrawn="1">
          <p15:clr>
            <a:srgbClr val="A4A3A4"/>
          </p15:clr>
        </p15:guide>
        <p15:guide id="2" pos="263"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99"/>
    <a:srgbClr val="3402C2"/>
    <a:srgbClr val="006600"/>
    <a:srgbClr val="D60093"/>
    <a:srgbClr val="FF9933"/>
    <a:srgbClr val="0033CC"/>
    <a:srgbClr val="FF3300"/>
    <a:srgbClr val="CC0000"/>
    <a:srgbClr val="FFFFCC"/>
    <a:srgbClr val="A5002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howGuides="1">
      <p:cViewPr varScale="1">
        <p:scale>
          <a:sx n="73" d="100"/>
          <a:sy n="73" d="100"/>
        </p:scale>
        <p:origin x="1074" y="36"/>
      </p:cViewPr>
      <p:guideLst>
        <p:guide orient="horz" pos="471"/>
        <p:guide pos="263"/>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2" Type="http://schemas.openxmlformats.org/officeDocument/2006/relationships/tags" Target="tags/tag2.xml"/><Relationship Id="rId61" Type="http://schemas.openxmlformats.org/officeDocument/2006/relationships/tableStyles" Target="tableStyles.xml"/><Relationship Id="rId60" Type="http://schemas.openxmlformats.org/officeDocument/2006/relationships/viewProps" Target="viewProps.xml"/><Relationship Id="rId6" Type="http://schemas.openxmlformats.org/officeDocument/2006/relationships/slide" Target="slides/slide3.xml"/><Relationship Id="rId59" Type="http://schemas.openxmlformats.org/officeDocument/2006/relationships/presProps" Target="presProps.xml"/><Relationship Id="rId58" Type="http://schemas.openxmlformats.org/officeDocument/2006/relationships/slide" Target="slides/slide54.xml"/><Relationship Id="rId57" Type="http://schemas.openxmlformats.org/officeDocument/2006/relationships/slide" Target="slides/slide53.xml"/><Relationship Id="rId56" Type="http://schemas.openxmlformats.org/officeDocument/2006/relationships/slide" Target="slides/slide52.xml"/><Relationship Id="rId55" Type="http://schemas.openxmlformats.org/officeDocument/2006/relationships/slide" Target="slides/slide51.xml"/><Relationship Id="rId54" Type="http://schemas.openxmlformats.org/officeDocument/2006/relationships/slide" Target="slides/slide50.xml"/><Relationship Id="rId53" Type="http://schemas.openxmlformats.org/officeDocument/2006/relationships/slide" Target="slides/slide49.xml"/><Relationship Id="rId52" Type="http://schemas.openxmlformats.org/officeDocument/2006/relationships/slide" Target="slides/slide48.xml"/><Relationship Id="rId51" Type="http://schemas.openxmlformats.org/officeDocument/2006/relationships/slide" Target="slides/slide47.xml"/><Relationship Id="rId50" Type="http://schemas.openxmlformats.org/officeDocument/2006/relationships/slide" Target="slides/slide46.xml"/><Relationship Id="rId5" Type="http://schemas.openxmlformats.org/officeDocument/2006/relationships/slide" Target="slides/slide2.xml"/><Relationship Id="rId49" Type="http://schemas.openxmlformats.org/officeDocument/2006/relationships/slide" Target="slides/slide45.xml"/><Relationship Id="rId48" Type="http://schemas.openxmlformats.org/officeDocument/2006/relationships/slide" Target="slides/slide44.xml"/><Relationship Id="rId47" Type="http://schemas.openxmlformats.org/officeDocument/2006/relationships/slide" Target="slides/slide43.xml"/><Relationship Id="rId46" Type="http://schemas.openxmlformats.org/officeDocument/2006/relationships/slide" Target="slides/slide42.xml"/><Relationship Id="rId45" Type="http://schemas.openxmlformats.org/officeDocument/2006/relationships/slide" Target="slides/slide41.xml"/><Relationship Id="rId44" Type="http://schemas.openxmlformats.org/officeDocument/2006/relationships/slide" Target="slides/slide40.xml"/><Relationship Id="rId43" Type="http://schemas.openxmlformats.org/officeDocument/2006/relationships/slide" Target="slides/slide39.xml"/><Relationship Id="rId42" Type="http://schemas.openxmlformats.org/officeDocument/2006/relationships/slide" Target="slides/slide38.xml"/><Relationship Id="rId41" Type="http://schemas.openxmlformats.org/officeDocument/2006/relationships/slide" Target="slides/slide37.xml"/><Relationship Id="rId40" Type="http://schemas.openxmlformats.org/officeDocument/2006/relationships/slide" Target="slides/slide36.xml"/><Relationship Id="rId4" Type="http://schemas.openxmlformats.org/officeDocument/2006/relationships/slide" Target="slides/slide1.xml"/><Relationship Id="rId39" Type="http://schemas.openxmlformats.org/officeDocument/2006/relationships/slide" Target="slides/slide35.xml"/><Relationship Id="rId38" Type="http://schemas.openxmlformats.org/officeDocument/2006/relationships/slide" Target="slides/slide34.xml"/><Relationship Id="rId37" Type="http://schemas.openxmlformats.org/officeDocument/2006/relationships/slide" Target="slides/slide33.xml"/><Relationship Id="rId36" Type="http://schemas.openxmlformats.org/officeDocument/2006/relationships/slide" Target="slides/slide32.xml"/><Relationship Id="rId35" Type="http://schemas.openxmlformats.org/officeDocument/2006/relationships/slide" Target="slides/slide31.xml"/><Relationship Id="rId34" Type="http://schemas.openxmlformats.org/officeDocument/2006/relationships/slide" Target="slides/slide30.xml"/><Relationship Id="rId33" Type="http://schemas.openxmlformats.org/officeDocument/2006/relationships/slide" Target="slides/slide29.xml"/><Relationship Id="rId32" Type="http://schemas.openxmlformats.org/officeDocument/2006/relationships/slide" Target="slides/slide28.xml"/><Relationship Id="rId31" Type="http://schemas.openxmlformats.org/officeDocument/2006/relationships/slide" Target="slides/slide27.xml"/><Relationship Id="rId30" Type="http://schemas.openxmlformats.org/officeDocument/2006/relationships/slide" Target="slides/slide26.xml"/><Relationship Id="rId3" Type="http://schemas.openxmlformats.org/officeDocument/2006/relationships/slideMaster" Target="slideMasters/slideMaster2.xml"/><Relationship Id="rId29" Type="http://schemas.openxmlformats.org/officeDocument/2006/relationships/slide" Target="slides/slide25.xml"/><Relationship Id="rId28" Type="http://schemas.openxmlformats.org/officeDocument/2006/relationships/slide" Target="slides/slide24.xml"/><Relationship Id="rId27" Type="http://schemas.openxmlformats.org/officeDocument/2006/relationships/slide" Target="slides/slide23.xml"/><Relationship Id="rId26" Type="http://schemas.openxmlformats.org/officeDocument/2006/relationships/slide" Target="slides/slide22.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notesMaster" Target="notesMasters/notesMaster1.xml"/><Relationship Id="rId10" Type="http://schemas.openxmlformats.org/officeDocument/2006/relationships/slide" Target="slides/slide7.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3.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5.wmf"/></Relationships>
</file>

<file path=ppt/drawings/_rels/vmlDrawing3.vml.rels><?xml version="1.0" encoding="UTF-8" standalone="yes"?>
<Relationships xmlns="http://schemas.openxmlformats.org/package/2006/relationships"><Relationship Id="rId2" Type="http://schemas.openxmlformats.org/officeDocument/2006/relationships/image" Target="../media/image10.wmf"/><Relationship Id="rId1" Type="http://schemas.openxmlformats.org/officeDocument/2006/relationships/image" Target="../media/image9.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3.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4.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15.wmf"/></Relationships>
</file>

<file path=ppt/drawings/_rels/vmlDrawing7.vml.rels><?xml version="1.0" encoding="UTF-8" standalone="yes"?>
<Relationships xmlns="http://schemas.openxmlformats.org/package/2006/relationships"><Relationship Id="rId2" Type="http://schemas.openxmlformats.org/officeDocument/2006/relationships/image" Target="../media/image17.wmf"/><Relationship Id="rId1" Type="http://schemas.openxmlformats.org/officeDocument/2006/relationships/image" Target="../media/image16.w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18.wmf"/></Relationships>
</file>

<file path=ppt/drawings/_rels/vmlDrawing9.vml.rels><?xml version="1.0" encoding="UTF-8" standalone="yes"?>
<Relationships xmlns="http://schemas.openxmlformats.org/package/2006/relationships"><Relationship Id="rId2" Type="http://schemas.openxmlformats.org/officeDocument/2006/relationships/image" Target="../media/image20.wmf"/><Relationship Id="rId1" Type="http://schemas.openxmlformats.org/officeDocument/2006/relationships/image" Target="../media/image19.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Grp="1"/>
          </p:cNvSpPr>
          <p:nvPr>
            <p:ph type="hdr" sz="quarter"/>
          </p:nvPr>
        </p:nvSpPr>
        <p:spPr>
          <a:xfrm>
            <a:off x="0" y="0"/>
            <a:ext cx="2938463" cy="496888"/>
          </a:xfrm>
          <a:prstGeom prst="rect">
            <a:avLst/>
          </a:prstGeom>
          <a:noFill/>
          <a:ln w="9525">
            <a:noFill/>
          </a:ln>
        </p:spPr>
        <p:txBody>
          <a:bodyPr/>
          <a:lstStyle/>
          <a:p>
            <a:pPr lvl="0" eaLnBrk="1" fontAlgn="base" hangingPunct="1"/>
            <a:endParaRPr lang="en-US" altLang="x-none" sz="1200" b="0" strike="noStrike" noProof="1">
              <a:latin typeface="Times New Roman" panose="02020603050405020304" pitchFamily="2" charset="0"/>
            </a:endParaRPr>
          </a:p>
        </p:txBody>
      </p:sp>
      <p:sp>
        <p:nvSpPr>
          <p:cNvPr id="3075" name="Rectangle 3"/>
          <p:cNvSpPr>
            <a:spLocks noGrp="1"/>
          </p:cNvSpPr>
          <p:nvPr>
            <p:ph type="dt" idx="1"/>
          </p:nvPr>
        </p:nvSpPr>
        <p:spPr>
          <a:xfrm>
            <a:off x="3843338" y="0"/>
            <a:ext cx="2938463" cy="496888"/>
          </a:xfrm>
          <a:prstGeom prst="rect">
            <a:avLst/>
          </a:prstGeom>
          <a:noFill/>
          <a:ln w="9525">
            <a:noFill/>
          </a:ln>
        </p:spPr>
        <p:txBody>
          <a:bodyPr/>
          <a:lstStyle/>
          <a:p>
            <a:pPr lvl="0" algn="r" eaLnBrk="1" fontAlgn="base" hangingPunct="1"/>
            <a:endParaRPr lang="en-US" altLang="x-none" sz="1200" b="0" strike="noStrike" noProof="1">
              <a:latin typeface="Times New Roman" panose="02020603050405020304" pitchFamily="2" charset="0"/>
            </a:endParaRPr>
          </a:p>
        </p:txBody>
      </p:sp>
      <p:sp>
        <p:nvSpPr>
          <p:cNvPr id="3076" name="Rectangle 4"/>
          <p:cNvSpPr>
            <a:spLocks noGrp="1" noRot="1" noChangeAspect="1"/>
          </p:cNvSpPr>
          <p:nvPr>
            <p:ph type="sldImg"/>
          </p:nvPr>
        </p:nvSpPr>
        <p:spPr>
          <a:xfrm>
            <a:off x="909638" y="744538"/>
            <a:ext cx="4964112" cy="3722687"/>
          </a:xfrm>
          <a:prstGeom prst="rect">
            <a:avLst/>
          </a:prstGeom>
          <a:noFill/>
          <a:ln w="9525">
            <a:noFill/>
          </a:ln>
        </p:spPr>
      </p:sp>
      <p:sp>
        <p:nvSpPr>
          <p:cNvPr id="3077" name="Rectangle 5"/>
          <p:cNvSpPr>
            <a:spLocks noGrp="1"/>
          </p:cNvSpPr>
          <p:nvPr>
            <p:ph type="body" sz="quarter"/>
          </p:nvPr>
        </p:nvSpPr>
        <p:spPr>
          <a:xfrm>
            <a:off x="904875" y="4714875"/>
            <a:ext cx="4972050" cy="4467225"/>
          </a:xfrm>
          <a:prstGeom prst="rect">
            <a:avLst/>
          </a:prstGeom>
          <a:noFill/>
          <a:ln w="9525">
            <a:noFill/>
          </a:ln>
        </p:spPr>
        <p:txBody>
          <a:bodyPr anchor="t"/>
          <a:lstStyle/>
          <a:p>
            <a:pPr lvl="0" indent="0"/>
            <a:r>
              <a:rPr lang="zh-CN" altLang="en-US" dirty="0"/>
              <a:t>单击此处编辑母版文本样式</a:t>
            </a:r>
            <a:endParaRPr lang="zh-CN" altLang="en-US" dirty="0"/>
          </a:p>
          <a:p>
            <a:pPr lvl="1" indent="0"/>
            <a:r>
              <a:rPr lang="zh-CN" altLang="en-US" dirty="0"/>
              <a:t>第二级</a:t>
            </a:r>
            <a:endParaRPr lang="zh-CN" altLang="en-US" dirty="0"/>
          </a:p>
          <a:p>
            <a:pPr lvl="2" indent="0"/>
            <a:r>
              <a:rPr lang="zh-CN" altLang="en-US" dirty="0"/>
              <a:t>第三级</a:t>
            </a:r>
            <a:endParaRPr lang="zh-CN" altLang="en-US" dirty="0"/>
          </a:p>
          <a:p>
            <a:pPr lvl="3" indent="0"/>
            <a:r>
              <a:rPr lang="zh-CN" altLang="en-US" dirty="0"/>
              <a:t>第四级</a:t>
            </a:r>
            <a:endParaRPr lang="zh-CN" altLang="en-US" dirty="0"/>
          </a:p>
          <a:p>
            <a:pPr lvl="4" indent="0"/>
            <a:r>
              <a:rPr lang="zh-CN" altLang="en-US" dirty="0"/>
              <a:t>第五级</a:t>
            </a:r>
            <a:endParaRPr lang="zh-CN" altLang="en-US" dirty="0"/>
          </a:p>
        </p:txBody>
      </p:sp>
      <p:sp>
        <p:nvSpPr>
          <p:cNvPr id="3078" name="Rectangle 6"/>
          <p:cNvSpPr>
            <a:spLocks noGrp="1"/>
          </p:cNvSpPr>
          <p:nvPr>
            <p:ph type="ftr" sz="quarter" idx="4"/>
          </p:nvPr>
        </p:nvSpPr>
        <p:spPr>
          <a:xfrm>
            <a:off x="0" y="9429750"/>
            <a:ext cx="2938463" cy="496888"/>
          </a:xfrm>
          <a:prstGeom prst="rect">
            <a:avLst/>
          </a:prstGeom>
          <a:noFill/>
          <a:ln w="9525">
            <a:noFill/>
          </a:ln>
        </p:spPr>
        <p:txBody>
          <a:bodyPr anchor="b"/>
          <a:lstStyle/>
          <a:p>
            <a:pPr lvl="0" eaLnBrk="1" fontAlgn="base" hangingPunct="1"/>
            <a:endParaRPr lang="en-US" altLang="x-none" sz="1200" b="0" strike="noStrike" noProof="1">
              <a:latin typeface="Times New Roman" panose="02020603050405020304" pitchFamily="2" charset="0"/>
            </a:endParaRPr>
          </a:p>
        </p:txBody>
      </p:sp>
      <p:sp>
        <p:nvSpPr>
          <p:cNvPr id="3079" name="Rectangle 7"/>
          <p:cNvSpPr>
            <a:spLocks noGrp="1"/>
          </p:cNvSpPr>
          <p:nvPr>
            <p:ph type="sldNum" sz="quarter" idx="5"/>
          </p:nvPr>
        </p:nvSpPr>
        <p:spPr>
          <a:xfrm>
            <a:off x="3843338" y="9429750"/>
            <a:ext cx="2938463" cy="496888"/>
          </a:xfrm>
          <a:prstGeom prst="rect">
            <a:avLst/>
          </a:prstGeom>
          <a:noFill/>
          <a:ln w="9525">
            <a:noFill/>
          </a:ln>
        </p:spPr>
        <p:txBody>
          <a:bodyPr anchor="b"/>
          <a:lstStyle/>
          <a:p>
            <a:pPr lvl="0" algn="r" eaLnBrk="1" fontAlgn="base" hangingPunct="1"/>
            <a:fld id="{9A0DB2DC-4C9A-4742-B13C-FB6460FD3503}" type="slidenum">
              <a:rPr lang="en-US" altLang="x-none" sz="1200" b="0" strike="noStrike" noProof="1" dirty="0">
                <a:latin typeface="Times New Roman" panose="02020603050405020304" pitchFamily="2" charset="0"/>
                <a:ea typeface="宋体" panose="02010600030101010101" pitchFamily="2" charset="-122"/>
                <a:cs typeface="+mn-ea"/>
              </a:rPr>
            </a:fld>
            <a:endParaRPr lang="en-US" altLang="x-none" sz="1200" b="0" strike="noStrike" noProof="1">
              <a:latin typeface="Times New Roman" panose="02020603050405020304" pitchFamily="2" charset="0"/>
            </a:endParaRPr>
          </a:p>
        </p:txBody>
      </p:sp>
    </p:spTree>
  </p:cSld>
  <p:clrMap bg1="lt1" tx1="dk1" bg2="lt2" tx2="dk2" accent1="accent1" accent2="accent2" accent3="accent3" accent4="accent4" accent5="accent5" accent6="accent6" hlink="hlink" folHlink="folHlink"/>
  <p:hf sldNum="0" hdr="0" ftr="0" dt="0"/>
  <p:notesStyle>
    <a:lvl1pPr marL="0" lvl="0" indent="0" algn="l" defTabSz="914400" eaLnBrk="0" fontAlgn="base" latinLnBrk="0" hangingPunct="0">
      <a:lnSpc>
        <a:spcPct val="100000"/>
      </a:lnSpc>
      <a:spcBef>
        <a:spcPct val="30000"/>
      </a:spcBef>
      <a:spcAft>
        <a:spcPct val="0"/>
      </a:spcAft>
      <a:buNone/>
      <a:defRPr sz="1200" b="0" i="0" u="none" kern="1200" baseline="0">
        <a:solidFill>
          <a:schemeClr val="tx1"/>
        </a:solidFill>
        <a:latin typeface="Times New Roman" panose="02020603050405020304" pitchFamily="2" charset="0"/>
        <a:ea typeface="宋体" panose="02010600030101010101" pitchFamily="2" charset="-122"/>
      </a:defRPr>
    </a:lvl1pPr>
    <a:lvl2pPr marL="457200" lvl="1" indent="0" algn="l" defTabSz="914400" eaLnBrk="0" fontAlgn="base" latinLnBrk="0" hangingPunct="0">
      <a:lnSpc>
        <a:spcPct val="100000"/>
      </a:lnSpc>
      <a:spcBef>
        <a:spcPct val="30000"/>
      </a:spcBef>
      <a:spcAft>
        <a:spcPct val="0"/>
      </a:spcAft>
      <a:buNone/>
      <a:defRPr sz="1200" b="0" i="0" u="none" kern="1200" baseline="0">
        <a:solidFill>
          <a:schemeClr val="tx1"/>
        </a:solidFill>
        <a:latin typeface="Times New Roman" panose="02020603050405020304" pitchFamily="2" charset="0"/>
        <a:ea typeface="宋体" panose="02010600030101010101" pitchFamily="2" charset="-122"/>
      </a:defRPr>
    </a:lvl2pPr>
    <a:lvl3pPr marL="914400" lvl="2" indent="0" algn="l" defTabSz="914400" eaLnBrk="0" fontAlgn="base" latinLnBrk="0" hangingPunct="0">
      <a:lnSpc>
        <a:spcPct val="100000"/>
      </a:lnSpc>
      <a:spcBef>
        <a:spcPct val="30000"/>
      </a:spcBef>
      <a:spcAft>
        <a:spcPct val="0"/>
      </a:spcAft>
      <a:buNone/>
      <a:defRPr sz="1200" b="0" i="0" u="none" kern="1200" baseline="0">
        <a:solidFill>
          <a:schemeClr val="tx1"/>
        </a:solidFill>
        <a:latin typeface="Times New Roman" panose="02020603050405020304" pitchFamily="2" charset="0"/>
        <a:ea typeface="宋体" panose="02010600030101010101" pitchFamily="2" charset="-122"/>
      </a:defRPr>
    </a:lvl3pPr>
    <a:lvl4pPr marL="1371600" lvl="3" indent="0" algn="l" defTabSz="914400" eaLnBrk="0" fontAlgn="base" latinLnBrk="0" hangingPunct="0">
      <a:lnSpc>
        <a:spcPct val="100000"/>
      </a:lnSpc>
      <a:spcBef>
        <a:spcPct val="30000"/>
      </a:spcBef>
      <a:spcAft>
        <a:spcPct val="0"/>
      </a:spcAft>
      <a:buNone/>
      <a:defRPr sz="1200" b="0" i="0" u="none" kern="1200" baseline="0">
        <a:solidFill>
          <a:schemeClr val="tx1"/>
        </a:solidFill>
        <a:latin typeface="Times New Roman" panose="02020603050405020304" pitchFamily="2" charset="0"/>
        <a:ea typeface="宋体" panose="02010600030101010101" pitchFamily="2" charset="-122"/>
      </a:defRPr>
    </a:lvl4pPr>
    <a:lvl5pPr marL="1828800" lvl="4" indent="0" algn="l" defTabSz="914400" eaLnBrk="0" fontAlgn="base" latinLnBrk="0" hangingPunct="0">
      <a:lnSpc>
        <a:spcPct val="100000"/>
      </a:lnSpc>
      <a:spcBef>
        <a:spcPct val="30000"/>
      </a:spcBef>
      <a:spcAft>
        <a:spcPct val="0"/>
      </a:spcAft>
      <a:buNone/>
      <a:defRPr sz="1200" b="0" i="0" u="none" kern="1200" baseline="0">
        <a:solidFill>
          <a:schemeClr val="tx1"/>
        </a:solidFill>
        <a:latin typeface="Times New Roman" panose="02020603050405020304" pitchFamily="2" charset="0"/>
        <a:ea typeface="宋体" panose="02010600030101010101" pitchFamily="2" charset="-122"/>
      </a:defRPr>
    </a:lvl5pPr>
    <a:lvl6pPr marL="2286000" lvl="5" indent="0" algn="l" defTabSz="914400" eaLnBrk="0" fontAlgn="base" latinLnBrk="0" hangingPunct="0">
      <a:lnSpc>
        <a:spcPct val="100000"/>
      </a:lnSpc>
      <a:spcBef>
        <a:spcPct val="30000"/>
      </a:spcBef>
      <a:spcAft>
        <a:spcPct val="0"/>
      </a:spcAft>
      <a:buNone/>
      <a:defRPr sz="1200" b="0" i="0" u="none" kern="1200" baseline="0">
        <a:solidFill>
          <a:schemeClr val="tx1"/>
        </a:solidFill>
        <a:latin typeface="Times New Roman" panose="02020603050405020304" pitchFamily="2" charset="0"/>
        <a:ea typeface="宋体" panose="02010600030101010101" pitchFamily="2" charset="-122"/>
      </a:defRPr>
    </a:lvl6pPr>
    <a:lvl7pPr marL="2743200" lvl="6" indent="0" algn="l" defTabSz="914400" eaLnBrk="0" fontAlgn="base" latinLnBrk="0" hangingPunct="0">
      <a:lnSpc>
        <a:spcPct val="100000"/>
      </a:lnSpc>
      <a:spcBef>
        <a:spcPct val="30000"/>
      </a:spcBef>
      <a:spcAft>
        <a:spcPct val="0"/>
      </a:spcAft>
      <a:buNone/>
      <a:defRPr sz="1200" b="0" i="0" u="none" kern="1200" baseline="0">
        <a:solidFill>
          <a:schemeClr val="tx1"/>
        </a:solidFill>
        <a:latin typeface="Times New Roman" panose="02020603050405020304" pitchFamily="2" charset="0"/>
        <a:ea typeface="宋体" panose="02010600030101010101" pitchFamily="2" charset="-122"/>
      </a:defRPr>
    </a:lvl7pPr>
    <a:lvl8pPr marL="3200400" lvl="7" indent="0" algn="l" defTabSz="914400" eaLnBrk="0" fontAlgn="base" latinLnBrk="0" hangingPunct="0">
      <a:lnSpc>
        <a:spcPct val="100000"/>
      </a:lnSpc>
      <a:spcBef>
        <a:spcPct val="30000"/>
      </a:spcBef>
      <a:spcAft>
        <a:spcPct val="0"/>
      </a:spcAft>
      <a:buNone/>
      <a:defRPr sz="1200" b="0" i="0" u="none" kern="1200" baseline="0">
        <a:solidFill>
          <a:schemeClr val="tx1"/>
        </a:solidFill>
        <a:latin typeface="Times New Roman" panose="02020603050405020304" pitchFamily="2" charset="0"/>
        <a:ea typeface="宋体" panose="02010600030101010101" pitchFamily="2" charset="-122"/>
      </a:defRPr>
    </a:lvl8pPr>
    <a:lvl9pPr marL="3657600" lvl="8" indent="0" algn="l" defTabSz="914400" eaLnBrk="0" fontAlgn="base" latinLnBrk="0" hangingPunct="0">
      <a:lnSpc>
        <a:spcPct val="100000"/>
      </a:lnSpc>
      <a:spcBef>
        <a:spcPct val="30000"/>
      </a:spcBef>
      <a:spcAft>
        <a:spcPct val="0"/>
      </a:spcAft>
      <a:buNone/>
      <a:defRPr sz="1200" b="0" i="0" u="none" kern="1200" baseline="0">
        <a:solidFill>
          <a:schemeClr val="tx1"/>
        </a:solidFill>
        <a:latin typeface="Times New Roman" panose="02020603050405020304" pitchFamily="2" charset="0"/>
        <a:ea typeface="宋体" panose="02010600030101010101" pitchFamily="2" charset="-122"/>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98306" name="幻灯片图像占位符 1"/>
          <p:cNvSpPr>
            <a:spLocks noGrp="1" noRot="1" noChangeAspect="1" noTextEdit="1"/>
          </p:cNvSpPr>
          <p:nvPr>
            <p:ph type="sldImg"/>
          </p:nvPr>
        </p:nvSpPr>
        <p:spPr/>
      </p:sp>
      <p:sp>
        <p:nvSpPr>
          <p:cNvPr id="98307" name="备注占位符 2"/>
          <p:cNvSpPr>
            <a:spLocks noGrp="1"/>
          </p:cNvSpPr>
          <p:nvPr>
            <p:ph type="body"/>
          </p:nvPr>
        </p:nvSpPr>
        <p:spPr/>
        <p:txBody>
          <a:bodyPr wrap="square" anchor="t"/>
          <a:lstStyle/>
          <a:p>
            <a:pPr lvl="0" indent="0"/>
            <a:r>
              <a:rPr lang="zh-CN" altLang="en-US" dirty="0"/>
              <a:t>并发控制原则：既要将各事务的操作交错执行，以充分利用系统资源，又要避免各事务的数据访问冲突。</a:t>
            </a:r>
            <a:endParaRPr lang="zh-CN" altLang="en-US" dirty="0"/>
          </a:p>
        </p:txBody>
      </p:sp>
      <p:sp>
        <p:nvSpPr>
          <p:cNvPr id="98308" name="灯片编号占位符 3"/>
          <p:cNvSpPr txBox="1">
            <a:spLocks noGrp="1"/>
          </p:cNvSpPr>
          <p:nvPr/>
        </p:nvSpPr>
        <p:spPr>
          <a:xfrm>
            <a:off x="3843338" y="9429750"/>
            <a:ext cx="2938462" cy="496888"/>
          </a:xfrm>
          <a:prstGeom prst="rect">
            <a:avLst/>
          </a:prstGeom>
          <a:noFill/>
          <a:ln w="9525">
            <a:noFill/>
          </a:ln>
        </p:spPr>
        <p:txBody>
          <a:bodyPr anchor="b"/>
          <a:lstStyle/>
          <a:p>
            <a:pPr lvl="0" indent="0" algn="r"/>
            <a:fld id="{9A0DB2DC-4C9A-4742-B13C-FB6460FD3503}" type="slidenum">
              <a:rPr lang="en-US" altLang="x-none" sz="1200" b="0" dirty="0">
                <a:latin typeface="Times New Roman" panose="02020603050405020304" pitchFamily="2" charset="0"/>
              </a:rPr>
            </a:fld>
            <a:endParaRPr lang="en-US" altLang="x-none" sz="1200" b="0" dirty="0">
              <a:latin typeface="Times New Roman" panose="02020603050405020304" pitchFamily="2"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文本占位符 2"/>
          <p:cNvSpPr>
            <a:spLocks noGrp="1"/>
          </p:cNvSpPr>
          <p:nvPr>
            <p:ph type="body"/>
          </p:nvPr>
        </p:nvSpPr>
        <p:spPr/>
        <p:txBody>
          <a:bodyPr/>
          <a:lstStyle/>
          <a:p>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文本占位符 2"/>
          <p:cNvSpPr>
            <a:spLocks noGrp="1"/>
          </p:cNvSpPr>
          <p:nvPr>
            <p:ph type="body"/>
          </p:nvPr>
        </p:nvSpPr>
        <p:spPr/>
        <p:txBody>
          <a:bodyPr/>
          <a:lstStyle/>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Tree>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457200" y="996950"/>
            <a:ext cx="4032504" cy="5129213"/>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4296" y="996950"/>
            <a:ext cx="4032504" cy="5129213"/>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144463"/>
            <a:ext cx="2057400" cy="59817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457200" y="144463"/>
            <a:ext cx="6052930" cy="59817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a:prstGeom prst="rect">
            <a:avLst/>
          </a:prstGeo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Tree>
  </p:cSld>
  <p:clrMapOvr>
    <a:masterClrMapping/>
  </p:clrMapOv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144463"/>
            <a:ext cx="8229600" cy="577850"/>
          </a:xfrm>
          <a:prstGeom prst="rect">
            <a:avLst/>
          </a:prstGeom>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a:prstGeom prst="rect">
            <a:avLst/>
          </a:prstGeo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144463"/>
            <a:ext cx="8229600" cy="577850"/>
          </a:xfrm>
          <a:prstGeom prst="rect">
            <a:avLst/>
          </a:prstGeom>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457200" y="996950"/>
            <a:ext cx="4032504" cy="5129213"/>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4296" y="996950"/>
            <a:ext cx="4032504" cy="5129213"/>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a:prstGeom prst="rect">
            <a:avLst/>
          </a:prstGeo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144463"/>
            <a:ext cx="8229600" cy="577850"/>
          </a:xfrm>
          <a:prstGeom prst="rect">
            <a:avLst/>
          </a:prstGeom>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a:prstGeom prst="rect">
            <a:avLst/>
          </a:prstGeo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a:prstGeom prst="rect">
            <a:avLst/>
          </a:prstGeo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144463"/>
            <a:ext cx="8229600" cy="577850"/>
          </a:xfrm>
          <a:prstGeom prst="rect">
            <a:avLst/>
          </a:prstGeom>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144463"/>
            <a:ext cx="2057400" cy="5981700"/>
          </a:xfrm>
          <a:prstGeom prst="rect">
            <a:avLst/>
          </a:prstGeo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457200" y="144463"/>
            <a:ext cx="6052930" cy="59817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transition/>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0.xml"/><Relationship Id="rId8" Type="http://schemas.openxmlformats.org/officeDocument/2006/relationships/slideLayout" Target="../slideLayouts/slideLayout19.xml"/><Relationship Id="rId7" Type="http://schemas.openxmlformats.org/officeDocument/2006/relationships/slideLayout" Target="../slideLayouts/slideLayout18.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3" Type="http://schemas.openxmlformats.org/officeDocument/2006/relationships/slideLayout" Target="../slideLayouts/slideLayout14.xml"/><Relationship Id="rId2" Type="http://schemas.openxmlformats.org/officeDocument/2006/relationships/slideLayout" Target="../slideLayouts/slideLayout13.xml"/><Relationship Id="rId12" Type="http://schemas.openxmlformats.org/officeDocument/2006/relationships/theme" Target="../theme/theme2.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rotWithShape="0">
          <a:gsLst>
            <a:gs pos="0">
              <a:srgbClr val="FFFFFF"/>
            </a:gs>
            <a:gs pos="100000">
              <a:srgbClr val="CCECFF"/>
            </a:gs>
          </a:gsLst>
          <a:lin ang="5400000" scaled="1"/>
          <a:tileRect/>
        </a:gradFill>
        <a:effectLst/>
      </p:bgPr>
    </p:bg>
    <p:spTree>
      <p:nvGrpSpPr>
        <p:cNvPr id="1" name=""/>
        <p:cNvGrpSpPr/>
        <p:nvPr/>
      </p:nvGrpSpPr>
      <p:grpSpPr>
        <a:xfrm>
          <a:off x="0" y="0"/>
          <a:ext cx="0" cy="0"/>
          <a:chOff x="0" y="0"/>
          <a:chExt cx="0" cy="0"/>
        </a:xfrm>
      </p:grpSpPr>
      <p:sp>
        <p:nvSpPr>
          <p:cNvPr id="1026" name="Rectangle 9"/>
          <p:cNvSpPr/>
          <p:nvPr/>
        </p:nvSpPr>
        <p:spPr>
          <a:xfrm>
            <a:off x="-12700" y="6489700"/>
            <a:ext cx="9156700" cy="368300"/>
          </a:xfrm>
          <a:prstGeom prst="rect">
            <a:avLst/>
          </a:prstGeom>
          <a:solidFill>
            <a:schemeClr val="accent2">
              <a:alpha val="81000"/>
            </a:schemeClr>
          </a:solidFill>
          <a:ln w="9525" cap="flat" cmpd="sng">
            <a:solidFill>
              <a:schemeClr val="tx1"/>
            </a:solidFill>
            <a:prstDash val="solid"/>
            <a:miter/>
            <a:headEnd type="none" w="med" len="med"/>
            <a:tailEnd type="none" w="med" len="med"/>
          </a:ln>
        </p:spPr>
        <p:txBody>
          <a:bodyPr wrap="none" anchor="ctr"/>
          <a:lstStyle/>
          <a:p>
            <a:pPr lvl="0" indent="0">
              <a:lnSpc>
                <a:spcPct val="135000"/>
              </a:lnSpc>
              <a:buChar char="•"/>
            </a:pPr>
            <a:endParaRPr lang="zh-CN" altLang="en-US" dirty="0">
              <a:latin typeface="Arial" panose="020B0604020202020204" pitchFamily="34" charset="0"/>
              <a:ea typeface="宋体" panose="02010600030101010101" pitchFamily="2" charset="-122"/>
            </a:endParaRPr>
          </a:p>
        </p:txBody>
      </p:sp>
      <p:sp>
        <p:nvSpPr>
          <p:cNvPr id="1028" name="Rectangle 10"/>
          <p:cNvSpPr/>
          <p:nvPr/>
        </p:nvSpPr>
        <p:spPr>
          <a:xfrm>
            <a:off x="282575" y="774700"/>
            <a:ext cx="8582025" cy="50800"/>
          </a:xfrm>
          <a:prstGeom prst="rect">
            <a:avLst/>
          </a:prstGeom>
          <a:gradFill rotWithShape="1">
            <a:gsLst>
              <a:gs pos="0">
                <a:srgbClr val="FFFF00"/>
              </a:gs>
              <a:gs pos="50000">
                <a:srgbClr val="FF0066"/>
              </a:gs>
              <a:gs pos="100000">
                <a:srgbClr val="FFFF00"/>
              </a:gs>
            </a:gsLst>
            <a:lin ang="0" scaled="1"/>
            <a:tileRect/>
          </a:gradFill>
          <a:ln w="9525">
            <a:noFill/>
          </a:ln>
        </p:spPr>
        <p:txBody>
          <a:bodyPr wrap="none" anchor="ctr"/>
          <a:lstStyle/>
          <a:p>
            <a:pPr lvl="0" indent="0">
              <a:lnSpc>
                <a:spcPct val="135000"/>
              </a:lnSpc>
              <a:buChar char="•"/>
            </a:pPr>
            <a:endParaRPr lang="zh-CN" altLang="en-US" dirty="0">
              <a:latin typeface="Arial" panose="020B0604020202020204" pitchFamily="34" charset="0"/>
              <a:ea typeface="宋体" panose="02010600030101010101" pitchFamily="2" charset="-122"/>
            </a:endParaRPr>
          </a:p>
        </p:txBody>
      </p:sp>
      <p:sp>
        <p:nvSpPr>
          <p:cNvPr id="1029" name="Rectangle 11"/>
          <p:cNvSpPr/>
          <p:nvPr/>
        </p:nvSpPr>
        <p:spPr>
          <a:xfrm>
            <a:off x="8178800" y="6511925"/>
            <a:ext cx="889000" cy="269875"/>
          </a:xfrm>
          <a:prstGeom prst="rect">
            <a:avLst/>
          </a:prstGeom>
          <a:noFill/>
          <a:ln w="9525">
            <a:noFill/>
          </a:ln>
        </p:spPr>
        <p:txBody>
          <a:bodyPr anchor="t"/>
          <a:lstStyle/>
          <a:p>
            <a:pPr lvl="0" indent="0" algn="r"/>
            <a:fld id="{9A0DB2DC-4C9A-4742-B13C-FB6460FD3503}" type="slidenum">
              <a:rPr lang="en-US" altLang="x-none" sz="1400" b="0" dirty="0">
                <a:solidFill>
                  <a:schemeClr val="bg1"/>
                </a:solidFill>
                <a:latin typeface="Arial" panose="020B0604020202020204" pitchFamily="34" charset="0"/>
                <a:ea typeface="楷体_GB2312"/>
              </a:rPr>
            </a:fld>
            <a:endParaRPr lang="en-US" altLang="x-none" sz="1400" b="0" dirty="0">
              <a:solidFill>
                <a:schemeClr val="bg1"/>
              </a:solidFill>
              <a:latin typeface="Arial" panose="020B0604020202020204" pitchFamily="34" charset="0"/>
              <a:ea typeface="楷体_GB2312"/>
            </a:endParaRPr>
          </a:p>
        </p:txBody>
      </p:sp>
      <p:sp>
        <p:nvSpPr>
          <p:cNvPr id="1030" name="Rectangle 14"/>
          <p:cNvSpPr>
            <a:spLocks noGrp="1"/>
          </p:cNvSpPr>
          <p:nvPr>
            <p:ph type="body"/>
          </p:nvPr>
        </p:nvSpPr>
        <p:spPr>
          <a:xfrm>
            <a:off x="457200" y="996950"/>
            <a:ext cx="8229600" cy="5129213"/>
          </a:xfrm>
          <a:prstGeom prst="rect">
            <a:avLst/>
          </a:prstGeom>
          <a:noFill/>
          <a:ln w="9525">
            <a:noFill/>
          </a:ln>
        </p:spPr>
        <p:txBody>
          <a:bodyPr anchor="t"/>
          <a:lstStyle/>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sp>
        <p:nvSpPr>
          <p:cNvPr id="1031" name="Rectangle 15"/>
          <p:cNvSpPr>
            <a:spLocks noGrp="1"/>
          </p:cNvSpPr>
          <p:nvPr>
            <p:ph type="title"/>
          </p:nvPr>
        </p:nvSpPr>
        <p:spPr>
          <a:xfrm>
            <a:off x="457200" y="144463"/>
            <a:ext cx="8229600" cy="577850"/>
          </a:xfrm>
          <a:prstGeom prst="rect">
            <a:avLst/>
          </a:prstGeom>
          <a:noFill/>
          <a:ln w="9525">
            <a:noFill/>
          </a:ln>
        </p:spPr>
        <p:txBody>
          <a:bodyPr anchor="ctr"/>
          <a:lstStyle/>
          <a:p>
            <a:pPr lvl="0" indent="0"/>
            <a:r>
              <a:rPr lang="zh-CN" altLang="en-US"/>
              <a:t>单击此处编辑母版标题样式</a:t>
            </a:r>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p:hf sldNum="0" hdr="0" ftr="0" dt="0"/>
  <p:txStyles>
    <p:titleStyle>
      <a:lvl1pPr marL="0" lvl="0" indent="0" algn="l" defTabSz="914400" eaLnBrk="0" fontAlgn="base" latinLnBrk="0" hangingPunct="0">
        <a:lnSpc>
          <a:spcPct val="100000"/>
        </a:lnSpc>
        <a:spcBef>
          <a:spcPct val="0"/>
        </a:spcBef>
        <a:spcAft>
          <a:spcPct val="0"/>
        </a:spcAft>
        <a:buClr>
          <a:srgbClr val="000000"/>
        </a:buClr>
        <a:buNone/>
        <a:defRPr sz="3200" b="1" i="0" u="none" kern="1200" baseline="0">
          <a:solidFill>
            <a:srgbClr val="3333CC"/>
          </a:solidFill>
          <a:latin typeface="+mj-lt"/>
          <a:ea typeface="+mj-ea"/>
          <a:cs typeface="+mj-cs"/>
        </a:defRPr>
      </a:lvl1pPr>
    </p:titleStyle>
    <p:body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2000" b="1" i="0" u="none" kern="1200" baseline="0">
          <a:solidFill>
            <a:schemeClr val="tx1"/>
          </a:solidFill>
          <a:latin typeface="+mn-lt"/>
          <a:ea typeface="+mn-ea"/>
          <a:cs typeface="+mn-cs"/>
        </a:defRPr>
      </a:lvl1pPr>
      <a:lvl2pPr marL="742950" lvl="1" indent="-285750" algn="l" defTabSz="914400" eaLnBrk="0" fontAlgn="base" latinLnBrk="0" hangingPunct="0">
        <a:lnSpc>
          <a:spcPct val="100000"/>
        </a:lnSpc>
        <a:spcBef>
          <a:spcPct val="20000"/>
        </a:spcBef>
        <a:spcAft>
          <a:spcPct val="0"/>
        </a:spcAft>
        <a:buClr>
          <a:schemeClr val="accent2"/>
        </a:buClr>
        <a:buSzPct val="70000"/>
        <a:buFont typeface="Wingdings" panose="05000000000000000000" pitchFamily="2" charset="2"/>
        <a:buChar char="l"/>
        <a:defRPr sz="2800" b="1" i="0" u="none" kern="1200" baseline="0">
          <a:solidFill>
            <a:schemeClr val="tx1"/>
          </a:solidFill>
          <a:latin typeface="+mn-lt"/>
          <a:ea typeface="+mn-ea"/>
          <a:cs typeface="+mn-cs"/>
        </a:defRPr>
      </a:lvl2pPr>
      <a:lvl3pPr marL="1143000" lvl="2" indent="-228600" algn="l" defTabSz="914400" eaLnBrk="0" fontAlgn="base" latinLnBrk="0" hangingPunct="0">
        <a:lnSpc>
          <a:spcPct val="100000"/>
        </a:lnSpc>
        <a:spcBef>
          <a:spcPct val="20000"/>
        </a:spcBef>
        <a:spcAft>
          <a:spcPct val="0"/>
        </a:spcAft>
        <a:buClr>
          <a:schemeClr val="accent2"/>
        </a:buClr>
        <a:buSzPct val="60000"/>
        <a:buFont typeface="Wingdings" panose="05000000000000000000" pitchFamily="2" charset="2"/>
        <a:buChar char="l"/>
        <a:defRPr sz="1600" b="1" i="0" u="none" kern="1200" baseline="0">
          <a:solidFill>
            <a:schemeClr val="tx1"/>
          </a:solidFill>
          <a:latin typeface="+mn-lt"/>
          <a:ea typeface="+mn-ea"/>
          <a:cs typeface="+mn-cs"/>
        </a:defRPr>
      </a:lvl3pPr>
      <a:lvl4pPr marL="1600200" lvl="3" indent="-228600" algn="l" defTabSz="914400" eaLnBrk="0" fontAlgn="base" latinLnBrk="0" hangingPunct="0">
        <a:lnSpc>
          <a:spcPct val="100000"/>
        </a:lnSpc>
        <a:spcBef>
          <a:spcPct val="20000"/>
        </a:spcBef>
        <a:spcAft>
          <a:spcPct val="0"/>
        </a:spcAft>
        <a:buFont typeface="Wingdings" panose="05000000000000000000" pitchFamily="2" charset="2"/>
        <a:buChar char="–"/>
        <a:defRPr sz="1400" b="1" i="0" u="none" kern="1200" baseline="0">
          <a:solidFill>
            <a:schemeClr val="tx1"/>
          </a:solidFill>
          <a:latin typeface="+mn-lt"/>
          <a:ea typeface="+mn-ea"/>
          <a:cs typeface="+mn-cs"/>
        </a:defRPr>
      </a:lvl4pPr>
      <a:lvl5pPr marL="2057400" lvl="4" indent="-228600" algn="l" defTabSz="914400" eaLnBrk="0" fontAlgn="base" latinLnBrk="0" hangingPunct="0">
        <a:lnSpc>
          <a:spcPct val="100000"/>
        </a:lnSpc>
        <a:spcBef>
          <a:spcPct val="20000"/>
        </a:spcBef>
        <a:spcAft>
          <a:spcPct val="0"/>
        </a:spcAft>
        <a:buFont typeface="Wingdings" panose="05000000000000000000" pitchFamily="2" charset="2"/>
        <a:buChar char="»"/>
        <a:defRPr sz="1400" b="1" i="0" u="none" kern="1200" baseline="0">
          <a:solidFill>
            <a:schemeClr val="tx1"/>
          </a:solidFill>
          <a:latin typeface="+mn-lt"/>
          <a:ea typeface="+mn-ea"/>
          <a:cs typeface="+mn-cs"/>
        </a:defRPr>
      </a:lvl5pPr>
      <a:lvl6pPr marL="2514600" lvl="5" indent="-228600" algn="l" defTabSz="914400" eaLnBrk="0" fontAlgn="base" latinLnBrk="0" hangingPunct="0">
        <a:lnSpc>
          <a:spcPct val="100000"/>
        </a:lnSpc>
        <a:spcBef>
          <a:spcPct val="20000"/>
        </a:spcBef>
        <a:spcAft>
          <a:spcPct val="0"/>
        </a:spcAft>
        <a:buFont typeface="Wingdings" panose="05000000000000000000" pitchFamily="2" charset="2"/>
        <a:buChar char="»"/>
        <a:defRPr sz="1400" b="1" i="0" u="none" kern="1200" baseline="0">
          <a:solidFill>
            <a:schemeClr val="tx1"/>
          </a:solidFill>
          <a:latin typeface="+mn-lt"/>
          <a:ea typeface="+mn-ea"/>
          <a:cs typeface="+mn-cs"/>
        </a:defRPr>
      </a:lvl6pPr>
      <a:lvl7pPr marL="2971800" lvl="6" indent="-228600" algn="l" defTabSz="914400" eaLnBrk="0" fontAlgn="base" latinLnBrk="0" hangingPunct="0">
        <a:lnSpc>
          <a:spcPct val="100000"/>
        </a:lnSpc>
        <a:spcBef>
          <a:spcPct val="20000"/>
        </a:spcBef>
        <a:spcAft>
          <a:spcPct val="0"/>
        </a:spcAft>
        <a:buFont typeface="Wingdings" panose="05000000000000000000" pitchFamily="2" charset="2"/>
        <a:buChar char="»"/>
        <a:defRPr sz="1400" b="1" i="0" u="none" kern="1200" baseline="0">
          <a:solidFill>
            <a:schemeClr val="tx1"/>
          </a:solidFill>
          <a:latin typeface="+mn-lt"/>
          <a:ea typeface="+mn-ea"/>
          <a:cs typeface="+mn-cs"/>
        </a:defRPr>
      </a:lvl7pPr>
      <a:lvl8pPr marL="3429000" lvl="7" indent="-228600" algn="l" defTabSz="914400" eaLnBrk="0" fontAlgn="base" latinLnBrk="0" hangingPunct="0">
        <a:lnSpc>
          <a:spcPct val="100000"/>
        </a:lnSpc>
        <a:spcBef>
          <a:spcPct val="20000"/>
        </a:spcBef>
        <a:spcAft>
          <a:spcPct val="0"/>
        </a:spcAft>
        <a:buFont typeface="Wingdings" panose="05000000000000000000" pitchFamily="2" charset="2"/>
        <a:buChar char="»"/>
        <a:defRPr sz="1400" b="1" i="0" u="none" kern="1200" baseline="0">
          <a:solidFill>
            <a:schemeClr val="tx1"/>
          </a:solidFill>
          <a:latin typeface="+mn-lt"/>
          <a:ea typeface="+mn-ea"/>
          <a:cs typeface="+mn-cs"/>
        </a:defRPr>
      </a:lvl8pPr>
      <a:lvl9pPr marL="3886200" lvl="8" indent="-228600" algn="l" defTabSz="914400" eaLnBrk="0" fontAlgn="base" latinLnBrk="0" hangingPunct="0">
        <a:lnSpc>
          <a:spcPct val="100000"/>
        </a:lnSpc>
        <a:spcBef>
          <a:spcPct val="20000"/>
        </a:spcBef>
        <a:spcAft>
          <a:spcPct val="0"/>
        </a:spcAft>
        <a:buFont typeface="Wingdings" panose="05000000000000000000" pitchFamily="2" charset="2"/>
        <a:buChar char="»"/>
        <a:defRPr sz="1400" b="1" i="0" u="none" kern="1200" baseline="0">
          <a:solidFill>
            <a:schemeClr val="tx1"/>
          </a:solidFill>
          <a:latin typeface="+mn-lt"/>
          <a:ea typeface="+mn-ea"/>
          <a:cs typeface="+mn-cs"/>
        </a:defRPr>
      </a:lvl9pPr>
    </p:bodyStyle>
    <p:otherStyle>
      <a:lvl1pPr marL="0" lvl="0" indent="0" algn="l" defTabSz="914400" eaLnBrk="0" fontAlgn="base" latinLnBrk="0" hangingPunct="0">
        <a:lnSpc>
          <a:spcPct val="100000"/>
        </a:lnSpc>
        <a:spcBef>
          <a:spcPct val="0"/>
        </a:spcBef>
        <a:spcAft>
          <a:spcPct val="0"/>
        </a:spcAft>
        <a:buFont typeface="Arial" panose="020B0604020202020204" pitchFamily="34" charset="0"/>
        <a:buNone/>
        <a:defRPr sz="1800" b="1" i="0" u="none" kern="1200" baseline="0">
          <a:solidFill>
            <a:schemeClr val="tx1"/>
          </a:solidFill>
          <a:latin typeface="+mn-lt"/>
          <a:ea typeface="+mn-ea"/>
          <a:cs typeface="+mn-cs"/>
        </a:defRPr>
      </a:lvl1pPr>
      <a:lvl2pPr marL="457200" lvl="1" indent="0" algn="l" defTabSz="914400" eaLnBrk="1" fontAlgn="base" latinLnBrk="0" hangingPunct="1">
        <a:lnSpc>
          <a:spcPct val="100000"/>
        </a:lnSpc>
        <a:spcBef>
          <a:spcPct val="0"/>
        </a:spcBef>
        <a:spcAft>
          <a:spcPct val="0"/>
        </a:spcAft>
        <a:buFont typeface="Arial" panose="020B0604020202020204" pitchFamily="34" charset="0"/>
        <a:buNone/>
        <a:defRPr sz="1800" b="1" i="0" u="none" kern="1200" baseline="0">
          <a:solidFill>
            <a:schemeClr val="tx1"/>
          </a:solidFill>
          <a:latin typeface="+mn-lt"/>
          <a:ea typeface="+mn-ea"/>
          <a:cs typeface="+mn-cs"/>
        </a:defRPr>
      </a:lvl2pPr>
      <a:lvl3pPr marL="914400" lvl="2" indent="0" algn="l" defTabSz="914400" eaLnBrk="1" fontAlgn="base" latinLnBrk="0" hangingPunct="1">
        <a:lnSpc>
          <a:spcPct val="100000"/>
        </a:lnSpc>
        <a:spcBef>
          <a:spcPct val="0"/>
        </a:spcBef>
        <a:spcAft>
          <a:spcPct val="0"/>
        </a:spcAft>
        <a:buFont typeface="Arial" panose="020B0604020202020204" pitchFamily="34" charset="0"/>
        <a:buNone/>
        <a:defRPr sz="1800" b="1" i="0" u="none" kern="1200" baseline="0">
          <a:solidFill>
            <a:schemeClr val="tx1"/>
          </a:solidFill>
          <a:latin typeface="+mn-lt"/>
          <a:ea typeface="+mn-ea"/>
          <a:cs typeface="+mn-cs"/>
        </a:defRPr>
      </a:lvl3pPr>
      <a:lvl4pPr marL="1371600" lvl="3" indent="0" algn="l" defTabSz="914400" eaLnBrk="1" fontAlgn="base" latinLnBrk="0" hangingPunct="1">
        <a:lnSpc>
          <a:spcPct val="100000"/>
        </a:lnSpc>
        <a:spcBef>
          <a:spcPct val="0"/>
        </a:spcBef>
        <a:spcAft>
          <a:spcPct val="0"/>
        </a:spcAft>
        <a:buFont typeface="Arial" panose="020B0604020202020204" pitchFamily="34" charset="0"/>
        <a:buNone/>
        <a:defRPr sz="1800" b="1" i="0" u="none" kern="1200" baseline="0">
          <a:solidFill>
            <a:schemeClr val="tx1"/>
          </a:solidFill>
          <a:latin typeface="+mn-lt"/>
          <a:ea typeface="+mn-ea"/>
          <a:cs typeface="+mn-cs"/>
        </a:defRPr>
      </a:lvl4pPr>
      <a:lvl5pPr marL="1828800" lvl="4" indent="0" algn="l" defTabSz="914400" eaLnBrk="1" fontAlgn="base" latinLnBrk="0" hangingPunct="1">
        <a:lnSpc>
          <a:spcPct val="100000"/>
        </a:lnSpc>
        <a:spcBef>
          <a:spcPct val="0"/>
        </a:spcBef>
        <a:spcAft>
          <a:spcPct val="0"/>
        </a:spcAft>
        <a:buFont typeface="Arial" panose="020B0604020202020204" pitchFamily="34" charset="0"/>
        <a:buNone/>
        <a:defRPr sz="1800" b="1" i="0" u="none" kern="1200" baseline="0">
          <a:solidFill>
            <a:schemeClr val="tx1"/>
          </a:solidFill>
          <a:latin typeface="+mn-lt"/>
          <a:ea typeface="+mn-ea"/>
          <a:cs typeface="+mn-cs"/>
        </a:defRPr>
      </a:lvl5pPr>
      <a:lvl6pPr marL="2286000" lvl="5" indent="0" algn="l" defTabSz="914400" eaLnBrk="1" fontAlgn="base" latinLnBrk="0" hangingPunct="1">
        <a:lnSpc>
          <a:spcPct val="100000"/>
        </a:lnSpc>
        <a:spcBef>
          <a:spcPct val="0"/>
        </a:spcBef>
        <a:spcAft>
          <a:spcPct val="0"/>
        </a:spcAft>
        <a:buFont typeface="Arial" panose="020B0604020202020204" pitchFamily="34" charset="0"/>
        <a:buNone/>
        <a:defRPr sz="1800" b="1" i="0" u="none" kern="1200" baseline="0">
          <a:solidFill>
            <a:schemeClr val="tx1"/>
          </a:solidFill>
          <a:latin typeface="+mn-lt"/>
          <a:ea typeface="+mn-ea"/>
          <a:cs typeface="+mn-cs"/>
        </a:defRPr>
      </a:lvl6pPr>
      <a:lvl7pPr marL="2743200" lvl="6" indent="0" algn="l" defTabSz="914400" eaLnBrk="1" fontAlgn="base" latinLnBrk="0" hangingPunct="1">
        <a:lnSpc>
          <a:spcPct val="100000"/>
        </a:lnSpc>
        <a:spcBef>
          <a:spcPct val="0"/>
        </a:spcBef>
        <a:spcAft>
          <a:spcPct val="0"/>
        </a:spcAft>
        <a:buFont typeface="Arial" panose="020B0604020202020204" pitchFamily="34" charset="0"/>
        <a:buNone/>
        <a:defRPr sz="1800" b="1" i="0" u="none" kern="1200" baseline="0">
          <a:solidFill>
            <a:schemeClr val="tx1"/>
          </a:solidFill>
          <a:latin typeface="+mn-lt"/>
          <a:ea typeface="+mn-ea"/>
          <a:cs typeface="+mn-cs"/>
        </a:defRPr>
      </a:lvl7pPr>
      <a:lvl8pPr marL="3200400" lvl="7" indent="0" algn="l" defTabSz="914400" eaLnBrk="1" fontAlgn="base" latinLnBrk="0" hangingPunct="1">
        <a:lnSpc>
          <a:spcPct val="100000"/>
        </a:lnSpc>
        <a:spcBef>
          <a:spcPct val="0"/>
        </a:spcBef>
        <a:spcAft>
          <a:spcPct val="0"/>
        </a:spcAft>
        <a:buFont typeface="Arial" panose="020B0604020202020204" pitchFamily="34" charset="0"/>
        <a:buNone/>
        <a:defRPr sz="1800" b="1" i="0" u="none" kern="1200" baseline="0">
          <a:solidFill>
            <a:schemeClr val="tx1"/>
          </a:solidFill>
          <a:latin typeface="+mn-lt"/>
          <a:ea typeface="+mn-ea"/>
          <a:cs typeface="+mn-cs"/>
        </a:defRPr>
      </a:lvl8pPr>
      <a:lvl9pPr marL="3657600" lvl="8" indent="0" algn="l" defTabSz="914400" eaLnBrk="1" fontAlgn="base" latinLnBrk="0" hangingPunct="1">
        <a:lnSpc>
          <a:spcPct val="100000"/>
        </a:lnSpc>
        <a:spcBef>
          <a:spcPct val="0"/>
        </a:spcBef>
        <a:spcAft>
          <a:spcPct val="0"/>
        </a:spcAft>
        <a:buFont typeface="Arial" panose="020B0604020202020204" pitchFamily="34" charset="0"/>
        <a:buNone/>
        <a:defRPr sz="1800" b="1" i="0" u="none" kern="1200" baseline="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gradFill rotWithShape="0">
          <a:gsLst>
            <a:gs pos="0">
              <a:srgbClr val="FFFFFF"/>
            </a:gs>
            <a:gs pos="100000">
              <a:srgbClr val="CCECFF"/>
            </a:gs>
          </a:gsLst>
          <a:lin ang="5400000" scaled="1"/>
          <a:tileRect/>
        </a:gradFill>
        <a:effectLst/>
      </p:bgPr>
    </p:bg>
    <p:spTree>
      <p:nvGrpSpPr>
        <p:cNvPr id="1" name=""/>
        <p:cNvGrpSpPr/>
        <p:nvPr/>
      </p:nvGrpSpPr>
      <p:grpSpPr>
        <a:xfrm>
          <a:off x="0" y="0"/>
          <a:ext cx="0" cy="0"/>
          <a:chOff x="0" y="0"/>
          <a:chExt cx="0" cy="0"/>
        </a:xfrm>
      </p:grpSpPr>
      <p:sp>
        <p:nvSpPr>
          <p:cNvPr id="2050" name="Rectangle 2"/>
          <p:cNvSpPr/>
          <p:nvPr userDrawn="1"/>
        </p:nvSpPr>
        <p:spPr>
          <a:xfrm>
            <a:off x="-12700" y="6489700"/>
            <a:ext cx="9156700" cy="368300"/>
          </a:xfrm>
          <a:prstGeom prst="rect">
            <a:avLst/>
          </a:prstGeom>
          <a:solidFill>
            <a:schemeClr val="accent2">
              <a:alpha val="81000"/>
            </a:schemeClr>
          </a:solidFill>
          <a:ln w="9525" cap="flat" cmpd="sng">
            <a:solidFill>
              <a:schemeClr val="tx1"/>
            </a:solidFill>
            <a:prstDash val="solid"/>
            <a:miter/>
            <a:headEnd type="none" w="med" len="med"/>
            <a:tailEnd type="none" w="med" len="med"/>
          </a:ln>
        </p:spPr>
        <p:txBody>
          <a:bodyPr wrap="none" anchor="ctr"/>
          <a:lstStyle/>
          <a:p>
            <a:pPr lvl="0" indent="0">
              <a:lnSpc>
                <a:spcPct val="135000"/>
              </a:lnSpc>
              <a:buChar char="•"/>
            </a:pPr>
            <a:endParaRPr lang="zh-CN" altLang="en-US" dirty="0">
              <a:latin typeface="Arial" panose="020B0604020202020204" pitchFamily="34" charset="0"/>
              <a:ea typeface="宋体" panose="02010600030101010101" pitchFamily="2" charset="-122"/>
            </a:endParaRPr>
          </a:p>
        </p:txBody>
      </p:sp>
      <p:sp>
        <p:nvSpPr>
          <p:cNvPr id="2052" name="Rectangle 4"/>
          <p:cNvSpPr/>
          <p:nvPr userDrawn="1"/>
        </p:nvSpPr>
        <p:spPr>
          <a:xfrm>
            <a:off x="282575" y="774700"/>
            <a:ext cx="8582025" cy="50800"/>
          </a:xfrm>
          <a:prstGeom prst="rect">
            <a:avLst/>
          </a:prstGeom>
          <a:gradFill rotWithShape="1">
            <a:gsLst>
              <a:gs pos="0">
                <a:srgbClr val="FFFF00"/>
              </a:gs>
              <a:gs pos="50000">
                <a:srgbClr val="FF0066"/>
              </a:gs>
              <a:gs pos="100000">
                <a:srgbClr val="FFFF00"/>
              </a:gs>
            </a:gsLst>
            <a:lin ang="0" scaled="1"/>
            <a:tileRect/>
          </a:gradFill>
          <a:ln w="9525">
            <a:noFill/>
          </a:ln>
        </p:spPr>
        <p:txBody>
          <a:bodyPr wrap="none" anchor="ctr"/>
          <a:lstStyle/>
          <a:p>
            <a:pPr lvl="0" indent="0">
              <a:lnSpc>
                <a:spcPct val="135000"/>
              </a:lnSpc>
              <a:buChar char="•"/>
            </a:pPr>
            <a:endParaRPr lang="zh-CN" altLang="en-US" dirty="0">
              <a:latin typeface="Arial" panose="020B0604020202020204" pitchFamily="34" charset="0"/>
              <a:ea typeface="宋体" panose="02010600030101010101" pitchFamily="2" charset="-122"/>
            </a:endParaRPr>
          </a:p>
        </p:txBody>
      </p:sp>
      <p:sp>
        <p:nvSpPr>
          <p:cNvPr id="2053" name="Rectangle 5"/>
          <p:cNvSpPr/>
          <p:nvPr userDrawn="1"/>
        </p:nvSpPr>
        <p:spPr>
          <a:xfrm>
            <a:off x="8178800" y="6511925"/>
            <a:ext cx="889000" cy="269875"/>
          </a:xfrm>
          <a:prstGeom prst="rect">
            <a:avLst/>
          </a:prstGeom>
          <a:noFill/>
          <a:ln w="9525">
            <a:noFill/>
          </a:ln>
        </p:spPr>
        <p:txBody>
          <a:bodyPr anchor="t"/>
          <a:lstStyle/>
          <a:p>
            <a:pPr lvl="0" indent="0" algn="r"/>
            <a:fld id="{9A0DB2DC-4C9A-4742-B13C-FB6460FD3503}" type="slidenum">
              <a:rPr lang="en-US" altLang="x-none" sz="1400" b="0" dirty="0">
                <a:solidFill>
                  <a:schemeClr val="bg1"/>
                </a:solidFill>
                <a:latin typeface="Arial" panose="020B0604020202020204" pitchFamily="34" charset="0"/>
                <a:ea typeface="楷体_GB2312"/>
              </a:rPr>
            </a:fld>
            <a:endParaRPr lang="en-US" altLang="x-none" sz="1400" b="0" dirty="0">
              <a:solidFill>
                <a:schemeClr val="bg1"/>
              </a:solidFill>
              <a:latin typeface="Arial" panose="020B0604020202020204" pitchFamily="34" charset="0"/>
              <a:ea typeface="楷体_GB2312"/>
            </a:endParaRPr>
          </a:p>
        </p:txBody>
      </p:sp>
      <p:sp>
        <p:nvSpPr>
          <p:cNvPr id="2054" name="Rectangle 6"/>
          <p:cNvSpPr/>
          <p:nvPr userDrawn="1"/>
        </p:nvSpPr>
        <p:spPr>
          <a:xfrm>
            <a:off x="309563" y="174625"/>
            <a:ext cx="7237412" cy="560388"/>
          </a:xfrm>
          <a:prstGeom prst="rect">
            <a:avLst/>
          </a:prstGeom>
          <a:noFill/>
          <a:ln w="9525">
            <a:noFill/>
          </a:ln>
        </p:spPr>
        <p:txBody>
          <a:bodyPr anchor="t"/>
          <a:lstStyle/>
          <a:p>
            <a:pPr lvl="0" indent="0"/>
            <a:r>
              <a:rPr lang="en-US" altLang="x-none" sz="2800" dirty="0">
                <a:solidFill>
                  <a:srgbClr val="FF0000"/>
                </a:solidFill>
                <a:latin typeface="Times New Roman" panose="02020603050405020304" pitchFamily="2" charset="0"/>
                <a:ea typeface="宋体" panose="02010600030101010101" pitchFamily="2" charset="-122"/>
              </a:rPr>
              <a:t>Principle and Design of Database</a:t>
            </a:r>
            <a:endParaRPr lang="en-US" altLang="x-none" sz="2000" dirty="0">
              <a:solidFill>
                <a:srgbClr val="FF0000"/>
              </a:solidFill>
              <a:latin typeface="Times New Roman" panose="02020603050405020304" pitchFamily="2" charset="0"/>
              <a:ea typeface="宋体" panose="02010600030101010101" pitchFamily="2" charset="-122"/>
            </a:endParaRPr>
          </a:p>
          <a:p>
            <a:pPr lvl="0" indent="0"/>
            <a:endParaRPr lang="en-US" altLang="x-none" sz="2800" dirty="0">
              <a:solidFill>
                <a:srgbClr val="FF3300"/>
              </a:solidFill>
              <a:latin typeface="黑体" panose="02010609060101010101" pitchFamily="1" charset="-122"/>
              <a:ea typeface="黑体" panose="02010609060101010101" pitchFamily="1" charset="-122"/>
            </a:endParaRPr>
          </a:p>
        </p:txBody>
      </p:sp>
      <p:sp>
        <p:nvSpPr>
          <p:cNvPr id="2055" name="Rectangle 14"/>
          <p:cNvSpPr>
            <a:spLocks noGrp="1"/>
          </p:cNvSpPr>
          <p:nvPr>
            <p:ph type="body"/>
          </p:nvPr>
        </p:nvSpPr>
        <p:spPr>
          <a:xfrm>
            <a:off x="457200" y="996950"/>
            <a:ext cx="8229600" cy="5129213"/>
          </a:xfrm>
          <a:prstGeom prst="rect">
            <a:avLst/>
          </a:prstGeom>
          <a:noFill/>
          <a:ln w="9525">
            <a:noFill/>
          </a:ln>
        </p:spPr>
        <p:txBody>
          <a:bodyPr anchor="t"/>
          <a:lstStyle/>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ransition/>
  <p:hf sldNum="0" hdr="0" ftr="0" dt="0"/>
  <p:txStyles>
    <p:titleStyle>
      <a:lvl1pPr marL="0" lvl="0" indent="0" algn="l" defTabSz="914400" eaLnBrk="0" fontAlgn="base" latinLnBrk="0" hangingPunct="0">
        <a:lnSpc>
          <a:spcPct val="100000"/>
        </a:lnSpc>
        <a:spcBef>
          <a:spcPct val="0"/>
        </a:spcBef>
        <a:spcAft>
          <a:spcPct val="0"/>
        </a:spcAft>
        <a:buClr>
          <a:srgbClr val="000000"/>
        </a:buClr>
        <a:buNone/>
        <a:defRPr sz="3200" b="1" i="0" u="none" kern="1200" baseline="0">
          <a:solidFill>
            <a:srgbClr val="3333CC"/>
          </a:solidFill>
          <a:latin typeface="+mj-lt"/>
          <a:ea typeface="+mj-ea"/>
          <a:cs typeface="+mj-cs"/>
        </a:defRPr>
      </a:lvl1pPr>
    </p:titleStyle>
    <p:body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2000" b="1" i="0" u="none" kern="1200" baseline="0">
          <a:solidFill>
            <a:schemeClr val="tx1"/>
          </a:solidFill>
          <a:latin typeface="+mn-lt"/>
          <a:ea typeface="+mn-ea"/>
          <a:cs typeface="+mn-cs"/>
        </a:defRPr>
      </a:lvl1pPr>
      <a:lvl2pPr marL="742950" lvl="1" indent="-285750" algn="l" defTabSz="914400" eaLnBrk="0" fontAlgn="base" latinLnBrk="0" hangingPunct="0">
        <a:lnSpc>
          <a:spcPct val="100000"/>
        </a:lnSpc>
        <a:spcBef>
          <a:spcPct val="20000"/>
        </a:spcBef>
        <a:spcAft>
          <a:spcPct val="0"/>
        </a:spcAft>
        <a:buClr>
          <a:schemeClr val="accent2"/>
        </a:buClr>
        <a:buSzPct val="70000"/>
        <a:buFont typeface="Wingdings" panose="05000000000000000000" pitchFamily="2" charset="2"/>
        <a:buChar char="l"/>
        <a:defRPr sz="2800" b="1" i="0" u="none" kern="1200" baseline="0">
          <a:solidFill>
            <a:schemeClr val="tx1"/>
          </a:solidFill>
          <a:latin typeface="+mn-lt"/>
          <a:ea typeface="+mn-ea"/>
          <a:cs typeface="+mn-cs"/>
        </a:defRPr>
      </a:lvl2pPr>
      <a:lvl3pPr marL="1143000" lvl="2" indent="-228600" algn="l" defTabSz="914400" eaLnBrk="0" fontAlgn="base" latinLnBrk="0" hangingPunct="0">
        <a:lnSpc>
          <a:spcPct val="100000"/>
        </a:lnSpc>
        <a:spcBef>
          <a:spcPct val="20000"/>
        </a:spcBef>
        <a:spcAft>
          <a:spcPct val="0"/>
        </a:spcAft>
        <a:buClr>
          <a:schemeClr val="accent2"/>
        </a:buClr>
        <a:buSzPct val="60000"/>
        <a:buFont typeface="Wingdings" panose="05000000000000000000" pitchFamily="2" charset="2"/>
        <a:buChar char="l"/>
        <a:defRPr sz="1600" b="1" i="0" u="none" kern="1200" baseline="0">
          <a:solidFill>
            <a:schemeClr val="tx1"/>
          </a:solidFill>
          <a:latin typeface="+mn-lt"/>
          <a:ea typeface="+mn-ea"/>
          <a:cs typeface="+mn-cs"/>
        </a:defRPr>
      </a:lvl3pPr>
      <a:lvl4pPr marL="1600200" lvl="3" indent="-228600" algn="l" defTabSz="914400" eaLnBrk="0" fontAlgn="base" latinLnBrk="0" hangingPunct="0">
        <a:lnSpc>
          <a:spcPct val="100000"/>
        </a:lnSpc>
        <a:spcBef>
          <a:spcPct val="20000"/>
        </a:spcBef>
        <a:spcAft>
          <a:spcPct val="0"/>
        </a:spcAft>
        <a:buFont typeface="Wingdings" panose="05000000000000000000" pitchFamily="2" charset="2"/>
        <a:buChar char="–"/>
        <a:defRPr sz="1400" b="1" i="0" u="none" kern="1200" baseline="0">
          <a:solidFill>
            <a:schemeClr val="tx1"/>
          </a:solidFill>
          <a:latin typeface="+mn-lt"/>
          <a:ea typeface="+mn-ea"/>
          <a:cs typeface="+mn-cs"/>
        </a:defRPr>
      </a:lvl4pPr>
      <a:lvl5pPr marL="2057400" lvl="4" indent="-228600" algn="l" defTabSz="914400" eaLnBrk="0" fontAlgn="base" latinLnBrk="0" hangingPunct="0">
        <a:lnSpc>
          <a:spcPct val="100000"/>
        </a:lnSpc>
        <a:spcBef>
          <a:spcPct val="20000"/>
        </a:spcBef>
        <a:spcAft>
          <a:spcPct val="0"/>
        </a:spcAft>
        <a:buFont typeface="Wingdings" panose="05000000000000000000" pitchFamily="2" charset="2"/>
        <a:buChar char="»"/>
        <a:defRPr sz="1400" b="1" i="0" u="none" kern="1200" baseline="0">
          <a:solidFill>
            <a:schemeClr val="tx1"/>
          </a:solidFill>
          <a:latin typeface="+mn-lt"/>
          <a:ea typeface="+mn-ea"/>
          <a:cs typeface="+mn-cs"/>
        </a:defRPr>
      </a:lvl5pPr>
      <a:lvl6pPr marL="2514600" lvl="5" indent="-228600" algn="l" defTabSz="914400" eaLnBrk="0" fontAlgn="base" latinLnBrk="0" hangingPunct="0">
        <a:lnSpc>
          <a:spcPct val="100000"/>
        </a:lnSpc>
        <a:spcBef>
          <a:spcPct val="20000"/>
        </a:spcBef>
        <a:spcAft>
          <a:spcPct val="0"/>
        </a:spcAft>
        <a:buFont typeface="Wingdings" panose="05000000000000000000" pitchFamily="2" charset="2"/>
        <a:buChar char="»"/>
        <a:defRPr sz="1400" b="1" i="0" u="none" kern="1200" baseline="0">
          <a:solidFill>
            <a:schemeClr val="tx1"/>
          </a:solidFill>
          <a:latin typeface="+mn-lt"/>
          <a:ea typeface="+mn-ea"/>
          <a:cs typeface="+mn-cs"/>
        </a:defRPr>
      </a:lvl6pPr>
      <a:lvl7pPr marL="2971800" lvl="6" indent="-228600" algn="l" defTabSz="914400" eaLnBrk="0" fontAlgn="base" latinLnBrk="0" hangingPunct="0">
        <a:lnSpc>
          <a:spcPct val="100000"/>
        </a:lnSpc>
        <a:spcBef>
          <a:spcPct val="20000"/>
        </a:spcBef>
        <a:spcAft>
          <a:spcPct val="0"/>
        </a:spcAft>
        <a:buFont typeface="Wingdings" panose="05000000000000000000" pitchFamily="2" charset="2"/>
        <a:buChar char="»"/>
        <a:defRPr sz="1400" b="1" i="0" u="none" kern="1200" baseline="0">
          <a:solidFill>
            <a:schemeClr val="tx1"/>
          </a:solidFill>
          <a:latin typeface="+mn-lt"/>
          <a:ea typeface="+mn-ea"/>
          <a:cs typeface="+mn-cs"/>
        </a:defRPr>
      </a:lvl7pPr>
      <a:lvl8pPr marL="3429000" lvl="7" indent="-228600" algn="l" defTabSz="914400" eaLnBrk="0" fontAlgn="base" latinLnBrk="0" hangingPunct="0">
        <a:lnSpc>
          <a:spcPct val="100000"/>
        </a:lnSpc>
        <a:spcBef>
          <a:spcPct val="20000"/>
        </a:spcBef>
        <a:spcAft>
          <a:spcPct val="0"/>
        </a:spcAft>
        <a:buFont typeface="Wingdings" panose="05000000000000000000" pitchFamily="2" charset="2"/>
        <a:buChar char="»"/>
        <a:defRPr sz="1400" b="1" i="0" u="none" kern="1200" baseline="0">
          <a:solidFill>
            <a:schemeClr val="tx1"/>
          </a:solidFill>
          <a:latin typeface="+mn-lt"/>
          <a:ea typeface="+mn-ea"/>
          <a:cs typeface="+mn-cs"/>
        </a:defRPr>
      </a:lvl8pPr>
      <a:lvl9pPr marL="3886200" lvl="8" indent="-228600" algn="l" defTabSz="914400" eaLnBrk="0" fontAlgn="base" latinLnBrk="0" hangingPunct="0">
        <a:lnSpc>
          <a:spcPct val="100000"/>
        </a:lnSpc>
        <a:spcBef>
          <a:spcPct val="20000"/>
        </a:spcBef>
        <a:spcAft>
          <a:spcPct val="0"/>
        </a:spcAft>
        <a:buFont typeface="Wingdings" panose="05000000000000000000" pitchFamily="2" charset="2"/>
        <a:buChar char="»"/>
        <a:defRPr sz="1400" b="1" i="0" u="none" kern="1200" baseline="0">
          <a:solidFill>
            <a:schemeClr val="tx1"/>
          </a:solidFill>
          <a:latin typeface="+mn-lt"/>
          <a:ea typeface="+mn-ea"/>
          <a:cs typeface="+mn-cs"/>
        </a:defRPr>
      </a:lvl9pPr>
    </p:bodyStyle>
    <p:otherStyle>
      <a:lvl1pPr marL="0" lvl="0" indent="0" algn="l" defTabSz="914400" eaLnBrk="0" fontAlgn="base" latinLnBrk="0" hangingPunct="0">
        <a:lnSpc>
          <a:spcPct val="100000"/>
        </a:lnSpc>
        <a:spcBef>
          <a:spcPct val="0"/>
        </a:spcBef>
        <a:spcAft>
          <a:spcPct val="0"/>
        </a:spcAft>
        <a:buFont typeface="Arial" panose="020B0604020202020204" pitchFamily="34" charset="0"/>
        <a:buNone/>
        <a:defRPr sz="1800" b="1" i="0" u="none" kern="1200" baseline="0">
          <a:solidFill>
            <a:schemeClr val="tx1"/>
          </a:solidFill>
          <a:latin typeface="+mn-lt"/>
          <a:ea typeface="+mn-ea"/>
          <a:cs typeface="+mn-cs"/>
        </a:defRPr>
      </a:lvl1pPr>
      <a:lvl2pPr marL="457200" lvl="1" indent="0" algn="l" defTabSz="914400" eaLnBrk="1" fontAlgn="base" latinLnBrk="0" hangingPunct="1">
        <a:lnSpc>
          <a:spcPct val="100000"/>
        </a:lnSpc>
        <a:spcBef>
          <a:spcPct val="0"/>
        </a:spcBef>
        <a:spcAft>
          <a:spcPct val="0"/>
        </a:spcAft>
        <a:buFont typeface="Arial" panose="020B0604020202020204" pitchFamily="34" charset="0"/>
        <a:buNone/>
        <a:defRPr sz="1800" b="1" i="0" u="none" kern="1200" baseline="0">
          <a:solidFill>
            <a:schemeClr val="tx1"/>
          </a:solidFill>
          <a:latin typeface="+mn-lt"/>
          <a:ea typeface="+mn-ea"/>
          <a:cs typeface="+mn-cs"/>
        </a:defRPr>
      </a:lvl2pPr>
      <a:lvl3pPr marL="914400" lvl="2" indent="0" algn="l" defTabSz="914400" eaLnBrk="1" fontAlgn="base" latinLnBrk="0" hangingPunct="1">
        <a:lnSpc>
          <a:spcPct val="100000"/>
        </a:lnSpc>
        <a:spcBef>
          <a:spcPct val="0"/>
        </a:spcBef>
        <a:spcAft>
          <a:spcPct val="0"/>
        </a:spcAft>
        <a:buFont typeface="Arial" panose="020B0604020202020204" pitchFamily="34" charset="0"/>
        <a:buNone/>
        <a:defRPr sz="1800" b="1" i="0" u="none" kern="1200" baseline="0">
          <a:solidFill>
            <a:schemeClr val="tx1"/>
          </a:solidFill>
          <a:latin typeface="+mn-lt"/>
          <a:ea typeface="+mn-ea"/>
          <a:cs typeface="+mn-cs"/>
        </a:defRPr>
      </a:lvl3pPr>
      <a:lvl4pPr marL="1371600" lvl="3" indent="0" algn="l" defTabSz="914400" eaLnBrk="1" fontAlgn="base" latinLnBrk="0" hangingPunct="1">
        <a:lnSpc>
          <a:spcPct val="100000"/>
        </a:lnSpc>
        <a:spcBef>
          <a:spcPct val="0"/>
        </a:spcBef>
        <a:spcAft>
          <a:spcPct val="0"/>
        </a:spcAft>
        <a:buFont typeface="Arial" panose="020B0604020202020204" pitchFamily="34" charset="0"/>
        <a:buNone/>
        <a:defRPr sz="1800" b="1" i="0" u="none" kern="1200" baseline="0">
          <a:solidFill>
            <a:schemeClr val="tx1"/>
          </a:solidFill>
          <a:latin typeface="+mn-lt"/>
          <a:ea typeface="+mn-ea"/>
          <a:cs typeface="+mn-cs"/>
        </a:defRPr>
      </a:lvl4pPr>
      <a:lvl5pPr marL="1828800" lvl="4" indent="0" algn="l" defTabSz="914400" eaLnBrk="1" fontAlgn="base" latinLnBrk="0" hangingPunct="1">
        <a:lnSpc>
          <a:spcPct val="100000"/>
        </a:lnSpc>
        <a:spcBef>
          <a:spcPct val="0"/>
        </a:spcBef>
        <a:spcAft>
          <a:spcPct val="0"/>
        </a:spcAft>
        <a:buFont typeface="Arial" panose="020B0604020202020204" pitchFamily="34" charset="0"/>
        <a:buNone/>
        <a:defRPr sz="1800" b="1" i="0" u="none" kern="1200" baseline="0">
          <a:solidFill>
            <a:schemeClr val="tx1"/>
          </a:solidFill>
          <a:latin typeface="+mn-lt"/>
          <a:ea typeface="+mn-ea"/>
          <a:cs typeface="+mn-cs"/>
        </a:defRPr>
      </a:lvl5pPr>
      <a:lvl6pPr marL="2286000" lvl="5" indent="0" algn="l" defTabSz="914400" eaLnBrk="1" fontAlgn="base" latinLnBrk="0" hangingPunct="1">
        <a:lnSpc>
          <a:spcPct val="100000"/>
        </a:lnSpc>
        <a:spcBef>
          <a:spcPct val="0"/>
        </a:spcBef>
        <a:spcAft>
          <a:spcPct val="0"/>
        </a:spcAft>
        <a:buFont typeface="Arial" panose="020B0604020202020204" pitchFamily="34" charset="0"/>
        <a:buNone/>
        <a:defRPr sz="1800" b="1" i="0" u="none" kern="1200" baseline="0">
          <a:solidFill>
            <a:schemeClr val="tx1"/>
          </a:solidFill>
          <a:latin typeface="+mn-lt"/>
          <a:ea typeface="+mn-ea"/>
          <a:cs typeface="+mn-cs"/>
        </a:defRPr>
      </a:lvl6pPr>
      <a:lvl7pPr marL="2743200" lvl="6" indent="0" algn="l" defTabSz="914400" eaLnBrk="1" fontAlgn="base" latinLnBrk="0" hangingPunct="1">
        <a:lnSpc>
          <a:spcPct val="100000"/>
        </a:lnSpc>
        <a:spcBef>
          <a:spcPct val="0"/>
        </a:spcBef>
        <a:spcAft>
          <a:spcPct val="0"/>
        </a:spcAft>
        <a:buFont typeface="Arial" panose="020B0604020202020204" pitchFamily="34" charset="0"/>
        <a:buNone/>
        <a:defRPr sz="1800" b="1" i="0" u="none" kern="1200" baseline="0">
          <a:solidFill>
            <a:schemeClr val="tx1"/>
          </a:solidFill>
          <a:latin typeface="+mn-lt"/>
          <a:ea typeface="+mn-ea"/>
          <a:cs typeface="+mn-cs"/>
        </a:defRPr>
      </a:lvl7pPr>
      <a:lvl8pPr marL="3200400" lvl="7" indent="0" algn="l" defTabSz="914400" eaLnBrk="1" fontAlgn="base" latinLnBrk="0" hangingPunct="1">
        <a:lnSpc>
          <a:spcPct val="100000"/>
        </a:lnSpc>
        <a:spcBef>
          <a:spcPct val="0"/>
        </a:spcBef>
        <a:spcAft>
          <a:spcPct val="0"/>
        </a:spcAft>
        <a:buFont typeface="Arial" panose="020B0604020202020204" pitchFamily="34" charset="0"/>
        <a:buNone/>
        <a:defRPr sz="1800" b="1" i="0" u="none" kern="1200" baseline="0">
          <a:solidFill>
            <a:schemeClr val="tx1"/>
          </a:solidFill>
          <a:latin typeface="+mn-lt"/>
          <a:ea typeface="+mn-ea"/>
          <a:cs typeface="+mn-cs"/>
        </a:defRPr>
      </a:lvl8pPr>
      <a:lvl9pPr marL="3657600" lvl="8" indent="0" algn="l" defTabSz="914400" eaLnBrk="1" fontAlgn="base" latinLnBrk="0" hangingPunct="1">
        <a:lnSpc>
          <a:spcPct val="100000"/>
        </a:lnSpc>
        <a:spcBef>
          <a:spcPct val="0"/>
        </a:spcBef>
        <a:spcAft>
          <a:spcPct val="0"/>
        </a:spcAft>
        <a:buFont typeface="Arial" panose="020B0604020202020204" pitchFamily="34" charset="0"/>
        <a:buNone/>
        <a:defRPr sz="1800" b="1" i="0" u="none" kern="1200" baseline="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8.xml"/><Relationship Id="rId1" Type="http://schemas.openxmlformats.org/officeDocument/2006/relationships/image" Target="../media/image1.wmf"/></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png"/></Relationships>
</file>

<file path=ppt/slides/_rels/slide4.xml.rels><?xml version="1.0" encoding="UTF-8" standalone="yes"?>
<Relationships xmlns="http://schemas.openxmlformats.org/package/2006/relationships"><Relationship Id="rId4" Type="http://schemas.openxmlformats.org/officeDocument/2006/relationships/vmlDrawing" Target="../drawings/vmlDrawing1.vml"/><Relationship Id="rId3" Type="http://schemas.openxmlformats.org/officeDocument/2006/relationships/slideLayout" Target="../slideLayouts/slideLayout7.xml"/><Relationship Id="rId2" Type="http://schemas.openxmlformats.org/officeDocument/2006/relationships/image" Target="../media/image3.wmf"/><Relationship Id="rId1" Type="http://schemas.openxmlformats.org/officeDocument/2006/relationships/oleObject" Target="../embeddings/oleObject1.bin"/></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4.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4" Type="http://schemas.openxmlformats.org/officeDocument/2006/relationships/vmlDrawing" Target="../drawings/vmlDrawing2.vml"/><Relationship Id="rId3" Type="http://schemas.openxmlformats.org/officeDocument/2006/relationships/slideLayout" Target="../slideLayouts/slideLayout7.xml"/><Relationship Id="rId2" Type="http://schemas.openxmlformats.org/officeDocument/2006/relationships/image" Target="../media/image5.wmf"/><Relationship Id="rId1" Type="http://schemas.openxmlformats.org/officeDocument/2006/relationships/oleObject" Target="../embeddings/oleObject2.bin"/></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7.png"/><Relationship Id="rId1" Type="http://schemas.openxmlformats.org/officeDocument/2006/relationships/image" Target="../media/image6.png"/></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8.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6" Type="http://schemas.openxmlformats.org/officeDocument/2006/relationships/vmlDrawing" Target="../drawings/vmlDrawing3.vml"/><Relationship Id="rId5" Type="http://schemas.openxmlformats.org/officeDocument/2006/relationships/slideLayout" Target="../slideLayouts/slideLayout7.xml"/><Relationship Id="rId4" Type="http://schemas.openxmlformats.org/officeDocument/2006/relationships/image" Target="../media/image10.wmf"/><Relationship Id="rId3" Type="http://schemas.openxmlformats.org/officeDocument/2006/relationships/oleObject" Target="../embeddings/oleObject4.bin"/><Relationship Id="rId2" Type="http://schemas.openxmlformats.org/officeDocument/2006/relationships/image" Target="../media/image9.wmf"/><Relationship Id="rId1" Type="http://schemas.openxmlformats.org/officeDocument/2006/relationships/oleObject" Target="../embeddings/oleObject3.bin"/></Relationships>
</file>

<file path=ppt/slides/_rels/slide17.xml.rels><?xml version="1.0" encoding="UTF-8" standalone="yes"?>
<Relationships xmlns="http://schemas.openxmlformats.org/package/2006/relationships"><Relationship Id="rId4" Type="http://schemas.openxmlformats.org/officeDocument/2006/relationships/notesSlide" Target="../notesSlides/notesSlide2.xml"/><Relationship Id="rId3" Type="http://schemas.openxmlformats.org/officeDocument/2006/relationships/slideLayout" Target="../slideLayouts/slideLayout7.xml"/><Relationship Id="rId2" Type="http://schemas.openxmlformats.org/officeDocument/2006/relationships/image" Target="../media/image11.png"/><Relationship Id="rId1" Type="http://schemas.openxmlformats.org/officeDocument/2006/relationships/tags" Target="../tags/tag1.xml"/></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4" Type="http://schemas.openxmlformats.org/officeDocument/2006/relationships/vmlDrawing" Target="../drawings/vmlDrawing4.vml"/><Relationship Id="rId3" Type="http://schemas.openxmlformats.org/officeDocument/2006/relationships/slideLayout" Target="../slideLayouts/slideLayout7.xml"/><Relationship Id="rId2" Type="http://schemas.openxmlformats.org/officeDocument/2006/relationships/image" Target="../media/image13.emf"/><Relationship Id="rId1" Type="http://schemas.openxmlformats.org/officeDocument/2006/relationships/oleObject" Target="../embeddings/oleObject5.bin"/></Relationships>
</file>

<file path=ppt/slides/_rels/slide25.xml.rels><?xml version="1.0" encoding="UTF-8" standalone="yes"?>
<Relationships xmlns="http://schemas.openxmlformats.org/package/2006/relationships"><Relationship Id="rId4" Type="http://schemas.openxmlformats.org/officeDocument/2006/relationships/vmlDrawing" Target="../drawings/vmlDrawing5.vml"/><Relationship Id="rId3" Type="http://schemas.openxmlformats.org/officeDocument/2006/relationships/slideLayout" Target="../slideLayouts/slideLayout7.xml"/><Relationship Id="rId2" Type="http://schemas.openxmlformats.org/officeDocument/2006/relationships/image" Target="../media/image14.wmf"/><Relationship Id="rId1" Type="http://schemas.openxmlformats.org/officeDocument/2006/relationships/oleObject" Target="../embeddings/oleObject6.bin"/></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4" Type="http://schemas.openxmlformats.org/officeDocument/2006/relationships/vmlDrawing" Target="../drawings/vmlDrawing6.vml"/><Relationship Id="rId3" Type="http://schemas.openxmlformats.org/officeDocument/2006/relationships/slideLayout" Target="../slideLayouts/slideLayout7.xml"/><Relationship Id="rId2" Type="http://schemas.openxmlformats.org/officeDocument/2006/relationships/image" Target="../media/image15.wmf"/><Relationship Id="rId1" Type="http://schemas.openxmlformats.org/officeDocument/2006/relationships/oleObject" Target="../embeddings/oleObject7.bin"/></Relationships>
</file>

<file path=ppt/slides/_rels/slide29.xml.rels><?xml version="1.0" encoding="UTF-8" standalone="yes"?>
<Relationships xmlns="http://schemas.openxmlformats.org/package/2006/relationships"><Relationship Id="rId6" Type="http://schemas.openxmlformats.org/officeDocument/2006/relationships/vmlDrawing" Target="../drawings/vmlDrawing7.vml"/><Relationship Id="rId5" Type="http://schemas.openxmlformats.org/officeDocument/2006/relationships/slideLayout" Target="../slideLayouts/slideLayout7.xml"/><Relationship Id="rId4" Type="http://schemas.openxmlformats.org/officeDocument/2006/relationships/image" Target="../media/image17.wmf"/><Relationship Id="rId3" Type="http://schemas.openxmlformats.org/officeDocument/2006/relationships/oleObject" Target="../embeddings/oleObject9.bin"/><Relationship Id="rId2" Type="http://schemas.openxmlformats.org/officeDocument/2006/relationships/image" Target="../media/image16.wmf"/><Relationship Id="rId1" Type="http://schemas.openxmlformats.org/officeDocument/2006/relationships/oleObject" Target="../embeddings/oleObject8.bin"/></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4" Type="http://schemas.openxmlformats.org/officeDocument/2006/relationships/vmlDrawing" Target="../drawings/vmlDrawing8.vml"/><Relationship Id="rId3" Type="http://schemas.openxmlformats.org/officeDocument/2006/relationships/slideLayout" Target="../slideLayouts/slideLayout7.xml"/><Relationship Id="rId2" Type="http://schemas.openxmlformats.org/officeDocument/2006/relationships/image" Target="../media/image18.wmf"/><Relationship Id="rId1" Type="http://schemas.openxmlformats.org/officeDocument/2006/relationships/oleObject" Target="../embeddings/oleObject10.bin"/></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6" Type="http://schemas.openxmlformats.org/officeDocument/2006/relationships/vmlDrawing" Target="../drawings/vmlDrawing9.vml"/><Relationship Id="rId5" Type="http://schemas.openxmlformats.org/officeDocument/2006/relationships/slideLayout" Target="../slideLayouts/slideLayout7.xml"/><Relationship Id="rId4" Type="http://schemas.openxmlformats.org/officeDocument/2006/relationships/image" Target="../media/image20.wmf"/><Relationship Id="rId3" Type="http://schemas.openxmlformats.org/officeDocument/2006/relationships/oleObject" Target="../embeddings/oleObject12.bin"/><Relationship Id="rId2" Type="http://schemas.openxmlformats.org/officeDocument/2006/relationships/image" Target="../media/image19.wmf"/><Relationship Id="rId1" Type="http://schemas.openxmlformats.org/officeDocument/2006/relationships/oleObject" Target="../embeddings/oleObject11.bin"/></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AutoShape 51"/>
          <p:cNvSpPr/>
          <p:nvPr/>
        </p:nvSpPr>
        <p:spPr>
          <a:xfrm>
            <a:off x="1317625" y="1441450"/>
            <a:ext cx="6870700" cy="1586230"/>
          </a:xfrm>
          <a:prstGeom prst="roundRect">
            <a:avLst>
              <a:gd name="adj" fmla="val 50000"/>
            </a:avLst>
          </a:prstGeom>
          <a:solidFill>
            <a:srgbClr val="99CCFF"/>
          </a:solidFill>
          <a:ln w="28575" cap="flat" cmpd="sng">
            <a:solidFill>
              <a:srgbClr val="C0C0C0"/>
            </a:solidFill>
            <a:prstDash val="solid"/>
            <a:round/>
            <a:headEnd type="none" w="med" len="med"/>
            <a:tailEnd type="none" w="med" len="med"/>
          </a:ln>
        </p:spPr>
        <p:txBody>
          <a:bodyPr anchor="ctr"/>
          <a:lstStyle/>
          <a:p>
            <a:pPr lvl="0" indent="0" algn="ctr" eaLnBrk="0" hangingPunct="0">
              <a:lnSpc>
                <a:spcPct val="115000"/>
              </a:lnSpc>
              <a:spcBef>
                <a:spcPts val="50"/>
              </a:spcBef>
              <a:spcAft>
                <a:spcPts val="0"/>
              </a:spcAft>
            </a:pPr>
            <a:r>
              <a:rPr lang="zh-CN" altLang="en-US" sz="3600" dirty="0">
                <a:latin typeface="华文中宋" panose="02010600040101010101" charset="-122"/>
                <a:ea typeface="华文中宋" panose="02010600040101010101" charset="-122"/>
              </a:rPr>
              <a:t>第五章：数据库的保护</a:t>
            </a:r>
            <a:r>
              <a:rPr lang="en-US" altLang="zh-CN" sz="3600" dirty="0">
                <a:latin typeface="华文中宋" panose="02010600040101010101" charset="-122"/>
                <a:ea typeface="华文中宋" panose="02010600040101010101" charset="-122"/>
              </a:rPr>
              <a:t>--</a:t>
            </a:r>
            <a:endParaRPr lang="en-US" altLang="zh-CN" sz="3600" dirty="0">
              <a:latin typeface="华文中宋" panose="02010600040101010101" charset="-122"/>
              <a:ea typeface="华文中宋" panose="02010600040101010101" charset="-122"/>
            </a:endParaRPr>
          </a:p>
          <a:p>
            <a:pPr lvl="0" indent="0" algn="ctr" eaLnBrk="0" hangingPunct="0">
              <a:lnSpc>
                <a:spcPct val="115000"/>
              </a:lnSpc>
              <a:spcBef>
                <a:spcPts val="600"/>
              </a:spcBef>
              <a:spcAft>
                <a:spcPts val="0"/>
              </a:spcAft>
            </a:pPr>
            <a:r>
              <a:rPr lang="zh-CN" altLang="x-none" sz="3200" dirty="0" smtClean="0">
                <a:solidFill>
                  <a:srgbClr val="0033CC"/>
                </a:solidFill>
                <a:latin typeface="华文中宋" panose="02010600040101010101" charset="-122"/>
                <a:ea typeface="华文中宋" panose="02010600040101010101" charset="-122"/>
              </a:rPr>
              <a:t>第</a:t>
            </a:r>
            <a:r>
              <a:rPr lang="en-US" altLang="zh-CN" sz="3200" dirty="0" smtClean="0">
                <a:solidFill>
                  <a:srgbClr val="0033CC"/>
                </a:solidFill>
                <a:latin typeface="华文中宋" panose="02010600040101010101" charset="-122"/>
                <a:ea typeface="华文中宋" panose="02010600040101010101" charset="-122"/>
              </a:rPr>
              <a:t>3</a:t>
            </a:r>
            <a:r>
              <a:rPr lang="zh-CN" altLang="en-US" sz="3200" dirty="0" smtClean="0">
                <a:solidFill>
                  <a:srgbClr val="0033CC"/>
                </a:solidFill>
                <a:latin typeface="华文中宋" panose="02010600040101010101" charset="-122"/>
                <a:ea typeface="华文中宋" panose="02010600040101010101" charset="-122"/>
              </a:rPr>
              <a:t>讲：并发控制</a:t>
            </a:r>
            <a:endParaRPr lang="zh-CN" altLang="en-US" sz="3200" dirty="0">
              <a:solidFill>
                <a:srgbClr val="0033CC"/>
              </a:solidFill>
              <a:latin typeface="华文中宋" panose="02010600040101010101" charset="-122"/>
              <a:ea typeface="华文中宋" panose="02010600040101010101" charset="-122"/>
            </a:endParaRPr>
          </a:p>
        </p:txBody>
      </p:sp>
      <p:sp>
        <p:nvSpPr>
          <p:cNvPr id="5122" name="Rectangle 7"/>
          <p:cNvSpPr>
            <a:spLocks noGrp="1"/>
          </p:cNvSpPr>
          <p:nvPr>
            <p:ph type="body"/>
          </p:nvPr>
        </p:nvSpPr>
        <p:spPr>
          <a:xfrm>
            <a:off x="1640205" y="4156075"/>
            <a:ext cx="6429375" cy="1456055"/>
          </a:xfrm>
        </p:spPr>
        <p:txBody>
          <a:bodyPr wrap="square" lIns="0" tIns="0" rIns="0" bIns="0" anchor="t"/>
          <a:lstStyle/>
          <a:p>
            <a:pPr marL="342900" lvl="1" indent="-342900">
              <a:lnSpc>
                <a:spcPct val="110000"/>
              </a:lnSpc>
              <a:spcBef>
                <a:spcPts val="300"/>
              </a:spcBef>
              <a:buClr>
                <a:srgbClr val="0033CC"/>
              </a:buClr>
            </a:pPr>
            <a:r>
              <a:rPr lang="zh-CN" altLang="zh-CN" sz="2400"/>
              <a:t>事务并发执行可能引起的问题</a:t>
            </a:r>
            <a:endParaRPr lang="zh-CN" altLang="zh-CN" sz="2400"/>
          </a:p>
          <a:p>
            <a:pPr marL="342900" lvl="1" indent="-342900">
              <a:lnSpc>
                <a:spcPct val="110000"/>
              </a:lnSpc>
              <a:spcBef>
                <a:spcPts val="300"/>
              </a:spcBef>
              <a:buClr>
                <a:srgbClr val="0033CC"/>
              </a:buClr>
            </a:pPr>
            <a:r>
              <a:rPr lang="zh-CN" altLang="zh-CN" sz="2400">
                <a:sym typeface="+mn-ea"/>
              </a:rPr>
              <a:t>并发执行的正确性准则</a:t>
            </a:r>
            <a:endParaRPr lang="zh-CN" altLang="zh-CN" sz="2400"/>
          </a:p>
          <a:p>
            <a:pPr marL="342900" lvl="1" indent="-342900">
              <a:lnSpc>
                <a:spcPct val="110000"/>
              </a:lnSpc>
              <a:spcBef>
                <a:spcPts val="300"/>
              </a:spcBef>
              <a:buClr>
                <a:srgbClr val="0033CC"/>
              </a:buClr>
            </a:pPr>
            <a:r>
              <a:rPr lang="zh-CN" altLang="zh-CN" sz="2400">
                <a:sym typeface="+mn-ea"/>
              </a:rPr>
              <a:t>基于锁的并发控制协议</a:t>
            </a:r>
            <a:endParaRPr lang="zh-CN" altLang="zh-CN" sz="2400">
              <a:sym typeface="+mn-ea"/>
            </a:endParaRPr>
          </a:p>
          <a:p>
            <a:pPr marL="342900" lvl="1" indent="-342900">
              <a:lnSpc>
                <a:spcPct val="110000"/>
              </a:lnSpc>
              <a:spcBef>
                <a:spcPts val="300"/>
              </a:spcBef>
              <a:buClr>
                <a:srgbClr val="0033CC"/>
              </a:buClr>
            </a:pPr>
            <a:endParaRPr lang="zh-CN" altLang="zh-CN" sz="2400"/>
          </a:p>
          <a:p>
            <a:pPr marL="342900" lvl="1" indent="-342900">
              <a:buClrTx/>
              <a:buNone/>
            </a:pPr>
            <a:endParaRPr lang="zh-CN" altLang="en-US" sz="2200">
              <a:latin typeface="楷体" panose="02010609060101010101" pitchFamily="1" charset="-122"/>
              <a:ea typeface="楷体" panose="02010609060101010101" pitchFamily="1" charset="-122"/>
            </a:endParaRPr>
          </a:p>
        </p:txBody>
      </p:sp>
      <p:sp>
        <p:nvSpPr>
          <p:cNvPr id="5123" name="Rectangle 8"/>
          <p:cNvSpPr/>
          <p:nvPr/>
        </p:nvSpPr>
        <p:spPr>
          <a:xfrm>
            <a:off x="1369060" y="3984854"/>
            <a:ext cx="6804050" cy="1692012"/>
          </a:xfrm>
          <a:prstGeom prst="rect">
            <a:avLst/>
          </a:prstGeom>
          <a:noFill/>
          <a:ln w="9525" cap="flat" cmpd="sng">
            <a:solidFill>
              <a:srgbClr val="0000FF"/>
            </a:solidFill>
            <a:prstDash val="solid"/>
            <a:miter/>
            <a:headEnd type="none" w="med" len="med"/>
            <a:tailEnd type="none" w="med" len="med"/>
          </a:ln>
          <a:effectLst>
            <a:prstShdw prst="shdw17" dist="17961" dir="2699999">
              <a:srgbClr val="000099"/>
            </a:prstShdw>
          </a:effectLst>
        </p:spPr>
        <p:txBody>
          <a:bodyPr wrap="square" anchor="ctr">
            <a:spAutoFit/>
          </a:bodyPr>
          <a:lstStyle/>
          <a:p>
            <a:pPr lvl="0" indent="0">
              <a:lnSpc>
                <a:spcPct val="135000"/>
              </a:lnSpc>
              <a:buChar char="•"/>
            </a:pPr>
            <a:endParaRPr lang="zh-CN" altLang="en-US" dirty="0">
              <a:latin typeface="Arial" panose="020B0604020202020204" pitchFamily="34" charset="0"/>
              <a:ea typeface="宋体" panose="02010600030101010101" pitchFamily="2" charset="-122"/>
            </a:endParaRPr>
          </a:p>
        </p:txBody>
      </p:sp>
      <p:pic>
        <p:nvPicPr>
          <p:cNvPr id="5124" name="Picture 6" descr="j0233174"/>
          <p:cNvPicPr>
            <a:picLocks noChangeAspect="1"/>
          </p:cNvPicPr>
          <p:nvPr/>
        </p:nvPicPr>
        <p:blipFill>
          <a:blip r:embed="rId1"/>
          <a:stretch>
            <a:fillRect/>
          </a:stretch>
        </p:blipFill>
        <p:spPr>
          <a:xfrm>
            <a:off x="242888" y="4079875"/>
            <a:ext cx="1460500" cy="1882775"/>
          </a:xfrm>
          <a:prstGeom prst="rect">
            <a:avLst/>
          </a:prstGeom>
          <a:noFill/>
          <a:ln w="9525">
            <a:noFill/>
          </a:ln>
        </p:spPr>
      </p:pic>
      <p:sp>
        <p:nvSpPr>
          <p:cNvPr id="5125" name="Text Box 10"/>
          <p:cNvSpPr txBox="1"/>
          <p:nvPr/>
        </p:nvSpPr>
        <p:spPr>
          <a:xfrm>
            <a:off x="1292225" y="3240088"/>
            <a:ext cx="4348163" cy="681037"/>
          </a:xfrm>
          <a:prstGeom prst="rect">
            <a:avLst/>
          </a:prstGeom>
          <a:noFill/>
          <a:ln w="9525">
            <a:noFill/>
          </a:ln>
        </p:spPr>
        <p:txBody>
          <a:bodyPr anchor="t">
            <a:spAutoFit/>
          </a:bodyPr>
          <a:lstStyle/>
          <a:p>
            <a:pPr lvl="0" indent="0">
              <a:lnSpc>
                <a:spcPct val="135000"/>
              </a:lnSpc>
              <a:spcBef>
                <a:spcPct val="50000"/>
              </a:spcBef>
            </a:pPr>
            <a:r>
              <a:rPr lang="zh-CN" altLang="en-US" sz="3200" dirty="0">
                <a:latin typeface="Times New Roman" panose="02020603050405020304" pitchFamily="2" charset="0"/>
                <a:ea typeface="方正舒体" panose="02010601030101010101" pitchFamily="2" charset="-122"/>
              </a:rPr>
              <a:t>学习目的和要求</a:t>
            </a:r>
            <a:endParaRPr lang="zh-CN" altLang="en-US" sz="3200" dirty="0">
              <a:latin typeface="Times New Roman" panose="02020603050405020304" pitchFamily="2" charset="0"/>
              <a:ea typeface="方正舒体" panose="02010601030101010101" pitchFamily="2" charset="-122"/>
            </a:endParaRPr>
          </a:p>
        </p:txBody>
      </p:sp>
    </p:spTree>
  </p:cSld>
  <p:clrMapOvr>
    <a:masterClrMapping/>
  </p:clrMapOvr>
  <p:transition advTm="54672"/>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89" name="Rectangle 2"/>
          <p:cNvSpPr/>
          <p:nvPr/>
        </p:nvSpPr>
        <p:spPr>
          <a:xfrm>
            <a:off x="417513" y="55563"/>
            <a:ext cx="8229600" cy="692150"/>
          </a:xfrm>
          <a:prstGeom prst="rect">
            <a:avLst/>
          </a:prstGeom>
          <a:noFill/>
          <a:ln w="9525">
            <a:noFill/>
          </a:ln>
        </p:spPr>
        <p:txBody>
          <a:bodyPr anchor="ctr"/>
          <a:lstStyle/>
          <a:p>
            <a:pPr lvl="0" indent="0">
              <a:buFont typeface="Wingdings" panose="05000000000000000000" pitchFamily="2" charset="2"/>
              <a:buNone/>
            </a:pPr>
            <a:r>
              <a:rPr lang="zh-CN" altLang="en-US" sz="3200" dirty="0" smtClean="0">
                <a:solidFill>
                  <a:srgbClr val="0033CC"/>
                </a:solidFill>
                <a:ea typeface="黑体" panose="02010609060101010101" pitchFamily="1" charset="-122"/>
              </a:rPr>
              <a:t>一</a:t>
            </a:r>
            <a:r>
              <a:rPr lang="zh-CN" altLang="en-US" sz="3200" dirty="0" smtClean="0">
                <a:solidFill>
                  <a:srgbClr val="0033CC"/>
                </a:solidFill>
                <a:latin typeface="Arial" panose="020B0604020202020204" pitchFamily="34" charset="0"/>
                <a:ea typeface="黑体" panose="02010609060101010101" pitchFamily="1" charset="-122"/>
              </a:rPr>
              <a:t>、事务</a:t>
            </a:r>
            <a:r>
              <a:rPr lang="zh-CN" altLang="en-US" sz="3200" dirty="0" smtClean="0">
                <a:solidFill>
                  <a:srgbClr val="0033CC"/>
                </a:solidFill>
                <a:ea typeface="黑体" panose="02010609060101010101" pitchFamily="1" charset="-122"/>
                <a:cs typeface="+mn-ea"/>
                <a:sym typeface="+mn-ea"/>
              </a:rPr>
              <a:t>并发可能引起的问题</a:t>
            </a:r>
            <a:endParaRPr lang="zh-CN" altLang="en-US" sz="3200" dirty="0" smtClean="0">
              <a:solidFill>
                <a:srgbClr val="0033CC"/>
              </a:solidFill>
              <a:latin typeface="Arial" panose="020B0604020202020204" pitchFamily="34" charset="0"/>
              <a:ea typeface="黑体" panose="02010609060101010101" pitchFamily="1" charset="-122"/>
              <a:cs typeface="+mn-ea"/>
            </a:endParaRPr>
          </a:p>
        </p:txBody>
      </p:sp>
      <p:sp>
        <p:nvSpPr>
          <p:cNvPr id="89090" name="Rectangle 3"/>
          <p:cNvSpPr txBox="1"/>
          <p:nvPr/>
        </p:nvSpPr>
        <p:spPr>
          <a:xfrm>
            <a:off x="479425" y="1398588"/>
            <a:ext cx="8390255" cy="925512"/>
          </a:xfrm>
          <a:prstGeom prst="rect">
            <a:avLst/>
          </a:prstGeom>
          <a:noFill/>
          <a:ln w="9525">
            <a:noFill/>
          </a:ln>
        </p:spPr>
        <p:txBody>
          <a:bodyPr anchor="t"/>
          <a:lstStyle/>
          <a:p>
            <a:pPr marL="342900" lvl="0" indent="-342900" eaLnBrk="0" hangingPunct="0">
              <a:lnSpc>
                <a:spcPct val="120000"/>
              </a:lnSpc>
              <a:spcBef>
                <a:spcPct val="20000"/>
              </a:spcBef>
              <a:buClr>
                <a:srgbClr val="0033CC"/>
              </a:buClr>
              <a:buSzPct val="80000"/>
              <a:buFont typeface="Wingdings" panose="05000000000000000000" pitchFamily="2" charset="2"/>
              <a:buChar char="u"/>
            </a:pPr>
            <a:r>
              <a:rPr lang="zh-CN" altLang="en-US" sz="2400" u="sng" dirty="0">
                <a:solidFill>
                  <a:srgbClr val="000099"/>
                </a:solidFill>
                <a:latin typeface="Arial" panose="020B0604020202020204" pitchFamily="34" charset="0"/>
                <a:ea typeface="宋体" panose="02010600030101010101" pitchFamily="2" charset="-122"/>
              </a:rPr>
              <a:t>事务的串行执行（</a:t>
            </a:r>
            <a:r>
              <a:rPr lang="en-US" altLang="x-none" sz="2400" u="sng" dirty="0">
                <a:solidFill>
                  <a:srgbClr val="000099"/>
                </a:solidFill>
                <a:latin typeface="Arial" panose="020B0604020202020204" pitchFamily="34" charset="0"/>
                <a:ea typeface="宋体" panose="02010600030101010101" pitchFamily="2" charset="-122"/>
              </a:rPr>
              <a:t>serial excution</a:t>
            </a:r>
            <a:r>
              <a:rPr lang="zh-CN" altLang="en-US" sz="2400" u="sng" dirty="0">
                <a:solidFill>
                  <a:srgbClr val="000099"/>
                </a:solidFill>
                <a:latin typeface="Arial" panose="020B0604020202020204" pitchFamily="34" charset="0"/>
                <a:ea typeface="宋体" panose="02010600030101010101" pitchFamily="2" charset="-122"/>
              </a:rPr>
              <a:t>）：</a:t>
            </a:r>
            <a:r>
              <a:rPr lang="en-US" altLang="x-none" sz="2000" dirty="0">
                <a:latin typeface="Arial" panose="020B0604020202020204" pitchFamily="34" charset="0"/>
                <a:ea typeface="宋体" panose="02010600030101010101" pitchFamily="2" charset="-122"/>
              </a:rPr>
              <a:t>DBMS</a:t>
            </a:r>
            <a:r>
              <a:rPr lang="zh-CN" altLang="en-US" sz="2000" dirty="0">
                <a:latin typeface="Arial" panose="020B0604020202020204" pitchFamily="34" charset="0"/>
                <a:ea typeface="宋体" panose="02010600030101010101" pitchFamily="2" charset="-122"/>
              </a:rPr>
              <a:t>按顺序一次执行一个事务，执行完一个事务后才开始另一事务的执行。类似于现实生活中排队售票。事务的串行执行，容易控制，不易出错。</a:t>
            </a:r>
            <a:endParaRPr lang="en-US" altLang="x-none" sz="2000" dirty="0">
              <a:latin typeface="Arial" panose="020B0604020202020204" pitchFamily="34" charset="0"/>
              <a:ea typeface="宋体" panose="02010600030101010101" pitchFamily="2" charset="-122"/>
            </a:endParaRPr>
          </a:p>
        </p:txBody>
      </p:sp>
      <p:sp>
        <p:nvSpPr>
          <p:cNvPr id="89091" name="Rectangle 7"/>
          <p:cNvSpPr/>
          <p:nvPr/>
        </p:nvSpPr>
        <p:spPr>
          <a:xfrm>
            <a:off x="454025" y="806450"/>
            <a:ext cx="6261100" cy="609600"/>
          </a:xfrm>
          <a:prstGeom prst="rect">
            <a:avLst/>
          </a:prstGeom>
          <a:noFill/>
          <a:ln w="9525">
            <a:noFill/>
          </a:ln>
        </p:spPr>
        <p:txBody>
          <a:bodyPr wrap="none" anchor="ctr"/>
          <a:lstStyle/>
          <a:p>
            <a:pPr lvl="0" indent="0" algn="just">
              <a:spcBef>
                <a:spcPct val="20000"/>
              </a:spcBef>
              <a:buClr>
                <a:schemeClr val="folHlink"/>
              </a:buClr>
              <a:buSzPct val="75000"/>
              <a:buFont typeface="Wingdings" panose="05000000000000000000" pitchFamily="2" charset="2"/>
              <a:buNone/>
            </a:pPr>
            <a:r>
              <a:rPr lang="en-US" altLang="x-none" sz="2800" dirty="0">
                <a:solidFill>
                  <a:srgbClr val="FF0000"/>
                </a:solidFill>
                <a:latin typeface="黑体" panose="02010609060101010101" pitchFamily="1" charset="-122"/>
                <a:ea typeface="黑体" panose="02010609060101010101" pitchFamily="1" charset="-122"/>
              </a:rPr>
              <a:t>1</a:t>
            </a:r>
            <a:r>
              <a:rPr lang="zh-CN" altLang="en-US" sz="2800" dirty="0" smtClean="0">
                <a:solidFill>
                  <a:srgbClr val="FF0000"/>
                </a:solidFill>
                <a:latin typeface="黑体" panose="02010609060101010101" pitchFamily="1" charset="-122"/>
                <a:ea typeface="黑体" panose="02010609060101010101" pitchFamily="1" charset="-122"/>
              </a:rPr>
              <a:t>、事务的串行与并行执行</a:t>
            </a:r>
            <a:endParaRPr lang="en-US" altLang="x-none" sz="2800" dirty="0">
              <a:solidFill>
                <a:srgbClr val="FF0000"/>
              </a:solidFill>
              <a:latin typeface="黑体" panose="02010609060101010101" pitchFamily="1" charset="-122"/>
              <a:ea typeface="黑体" panose="02010609060101010101" pitchFamily="1" charset="-122"/>
            </a:endParaRPr>
          </a:p>
        </p:txBody>
      </p:sp>
      <p:sp>
        <p:nvSpPr>
          <p:cNvPr id="89092" name="Rectangle 3"/>
          <p:cNvSpPr txBox="1"/>
          <p:nvPr/>
        </p:nvSpPr>
        <p:spPr>
          <a:xfrm>
            <a:off x="492125" y="2663825"/>
            <a:ext cx="8377555" cy="925513"/>
          </a:xfrm>
          <a:prstGeom prst="rect">
            <a:avLst/>
          </a:prstGeom>
          <a:noFill/>
          <a:ln w="9525">
            <a:noFill/>
          </a:ln>
        </p:spPr>
        <p:txBody>
          <a:bodyPr anchor="t"/>
          <a:lstStyle/>
          <a:p>
            <a:pPr marL="342900" lvl="0" indent="-342900" eaLnBrk="0" hangingPunct="0">
              <a:lnSpc>
                <a:spcPct val="120000"/>
              </a:lnSpc>
              <a:spcBef>
                <a:spcPct val="20000"/>
              </a:spcBef>
              <a:buClr>
                <a:srgbClr val="0033CC"/>
              </a:buClr>
              <a:buSzPct val="80000"/>
              <a:buFont typeface="Wingdings" panose="05000000000000000000" pitchFamily="2" charset="2"/>
              <a:buChar char="u"/>
            </a:pPr>
            <a:r>
              <a:rPr lang="zh-CN" altLang="en-US" sz="2400" u="sng" dirty="0">
                <a:solidFill>
                  <a:srgbClr val="000099"/>
                </a:solidFill>
                <a:latin typeface="Arial" panose="020B0604020202020204" pitchFamily="34" charset="0"/>
                <a:ea typeface="宋体" panose="02010600030101010101" pitchFamily="2" charset="-122"/>
              </a:rPr>
              <a:t>事务的并行执行（</a:t>
            </a:r>
            <a:r>
              <a:rPr lang="en-US" altLang="x-none" sz="2400" u="sng" dirty="0">
                <a:solidFill>
                  <a:srgbClr val="000099"/>
                </a:solidFill>
                <a:latin typeface="Arial" panose="020B0604020202020204" pitchFamily="34" charset="0"/>
                <a:ea typeface="宋体" panose="02010600030101010101" pitchFamily="2" charset="-122"/>
              </a:rPr>
              <a:t>concurrent excution</a:t>
            </a:r>
            <a:r>
              <a:rPr lang="zh-CN" altLang="en-US" sz="2400" u="sng" dirty="0">
                <a:solidFill>
                  <a:srgbClr val="000099"/>
                </a:solidFill>
                <a:latin typeface="Arial" panose="020B0604020202020204" pitchFamily="34" charset="0"/>
                <a:ea typeface="宋体" panose="02010600030101010101" pitchFamily="2" charset="-122"/>
              </a:rPr>
              <a:t>）：</a:t>
            </a:r>
            <a:r>
              <a:rPr lang="en-US" altLang="x-none" sz="2000" dirty="0">
                <a:latin typeface="Arial" panose="020B0604020202020204" pitchFamily="34" charset="0"/>
                <a:ea typeface="宋体" panose="02010600030101010101" pitchFamily="2" charset="-122"/>
              </a:rPr>
              <a:t>DBMS</a:t>
            </a:r>
            <a:r>
              <a:rPr lang="zh-CN" altLang="en-US" sz="2000" dirty="0">
                <a:latin typeface="Arial" panose="020B0604020202020204" pitchFamily="34" charset="0"/>
                <a:ea typeface="宋体" panose="02010600030101010101" pitchFamily="2" charset="-122"/>
              </a:rPr>
              <a:t>同时执行多个事务，为此，</a:t>
            </a:r>
            <a:r>
              <a:rPr lang="en-US" altLang="x-none" sz="2000" dirty="0">
                <a:latin typeface="Arial" panose="020B0604020202020204" pitchFamily="34" charset="0"/>
                <a:ea typeface="宋体" panose="02010600030101010101" pitchFamily="2" charset="-122"/>
              </a:rPr>
              <a:t>DBMS</a:t>
            </a:r>
            <a:r>
              <a:rPr lang="zh-CN" altLang="en-US" sz="2000" dirty="0">
                <a:latin typeface="Arial" panose="020B0604020202020204" pitchFamily="34" charset="0"/>
                <a:ea typeface="宋体" panose="02010600030101010101" pitchFamily="2" charset="-122"/>
              </a:rPr>
              <a:t>须对各事务中的操作进行调度（</a:t>
            </a:r>
            <a:r>
              <a:rPr lang="en-US" altLang="x-none" sz="2000" dirty="0">
                <a:latin typeface="Arial" panose="020B0604020202020204" pitchFamily="34" charset="0"/>
                <a:ea typeface="宋体" panose="02010600030101010101" pitchFamily="2" charset="-122"/>
              </a:rPr>
              <a:t>schedule</a:t>
            </a:r>
            <a:r>
              <a:rPr lang="zh-CN" altLang="en-US" sz="2000" dirty="0">
                <a:latin typeface="Arial" panose="020B0604020202020204" pitchFamily="34" charset="0"/>
                <a:ea typeface="宋体" panose="02010600030101010101" pitchFamily="2" charset="-122"/>
              </a:rPr>
              <a:t>），令其交错执行，以达到同时运行多个事务的目的。</a:t>
            </a:r>
            <a:endParaRPr lang="en-US" altLang="x-none" sz="2000" dirty="0">
              <a:latin typeface="Arial" panose="020B0604020202020204" pitchFamily="34" charset="0"/>
              <a:ea typeface="宋体" panose="02010600030101010101" pitchFamily="2" charset="-122"/>
            </a:endParaRPr>
          </a:p>
        </p:txBody>
      </p:sp>
      <p:sp>
        <p:nvSpPr>
          <p:cNvPr id="92166" name="矩形 6"/>
          <p:cNvSpPr/>
          <p:nvPr/>
        </p:nvSpPr>
        <p:spPr>
          <a:xfrm>
            <a:off x="744538" y="3952875"/>
            <a:ext cx="7942262" cy="876300"/>
          </a:xfrm>
          <a:prstGeom prst="rect">
            <a:avLst/>
          </a:prstGeom>
          <a:noFill/>
          <a:ln w="9525">
            <a:noFill/>
          </a:ln>
        </p:spPr>
        <p:txBody>
          <a:bodyPr anchor="t">
            <a:spAutoFit/>
          </a:bodyPr>
          <a:lstStyle/>
          <a:p>
            <a:pPr lvl="0" indent="0">
              <a:spcBef>
                <a:spcPct val="50000"/>
              </a:spcBef>
            </a:pPr>
            <a:r>
              <a:rPr lang="en-US" altLang="x-none" sz="2400" u="sng" dirty="0">
                <a:solidFill>
                  <a:srgbClr val="CC0000"/>
                </a:solidFill>
                <a:latin typeface="华文楷体" panose="02010600040101010101" pitchFamily="2" charset="-122"/>
                <a:ea typeface="华文楷体" panose="02010600040101010101" pitchFamily="2" charset="-122"/>
                <a:sym typeface="Wingdings" panose="05000000000000000000" pitchFamily="2" charset="2"/>
              </a:rPr>
              <a:t>--</a:t>
            </a:r>
            <a:r>
              <a:rPr lang="zh-CN" altLang="en-US" sz="2400" u="sng" dirty="0">
                <a:solidFill>
                  <a:srgbClr val="CC0000"/>
                </a:solidFill>
                <a:latin typeface="华文楷体" panose="02010600040101010101" pitchFamily="2" charset="-122"/>
                <a:ea typeface="华文楷体" panose="02010600040101010101" pitchFamily="2" charset="-122"/>
                <a:sym typeface="Wingdings" panose="05000000000000000000" pitchFamily="2" charset="2"/>
              </a:rPr>
              <a:t>事务并发执行的好处：</a:t>
            </a:r>
            <a:endParaRPr lang="zh-CN" altLang="en-US" sz="2400" u="sng" dirty="0">
              <a:solidFill>
                <a:srgbClr val="CC0000"/>
              </a:solidFill>
              <a:latin typeface="华文楷体" panose="02010600040101010101" pitchFamily="2" charset="-122"/>
              <a:ea typeface="华文楷体" panose="02010600040101010101" pitchFamily="2" charset="-122"/>
              <a:sym typeface="Wingdings" panose="05000000000000000000" pitchFamily="2" charset="2"/>
            </a:endParaRPr>
          </a:p>
          <a:p>
            <a:pPr lvl="0" indent="0">
              <a:spcBef>
                <a:spcPts val="600"/>
              </a:spcBef>
            </a:pPr>
            <a:r>
              <a:rPr lang="zh-CN" altLang="en-US" sz="2200" dirty="0">
                <a:latin typeface="华文楷体" panose="02010600040101010101" pitchFamily="2" charset="-122"/>
                <a:ea typeface="华文楷体" panose="02010600040101010101" pitchFamily="2" charset="-122"/>
                <a:sym typeface="Wingdings" panose="05000000000000000000" pitchFamily="2" charset="2"/>
              </a:rPr>
              <a:t>（</a:t>
            </a:r>
            <a:r>
              <a:rPr lang="en-US" altLang="x-none" sz="2200" dirty="0">
                <a:latin typeface="华文楷体" panose="02010600040101010101" pitchFamily="2" charset="-122"/>
                <a:ea typeface="华文楷体" panose="02010600040101010101" pitchFamily="2" charset="-122"/>
                <a:sym typeface="Wingdings" panose="05000000000000000000" pitchFamily="2" charset="2"/>
              </a:rPr>
              <a:t>1</a:t>
            </a:r>
            <a:r>
              <a:rPr lang="zh-CN" altLang="en-US" sz="2200" dirty="0">
                <a:latin typeface="华文楷体" panose="02010600040101010101" pitchFamily="2" charset="-122"/>
                <a:ea typeface="华文楷体" panose="02010600040101010101" pitchFamily="2" charset="-122"/>
                <a:sym typeface="Wingdings" panose="05000000000000000000" pitchFamily="2" charset="2"/>
              </a:rPr>
              <a:t>）改善系统的资源利用率； （</a:t>
            </a:r>
            <a:r>
              <a:rPr lang="en-US" altLang="x-none" sz="2200" dirty="0">
                <a:latin typeface="华文楷体" panose="02010600040101010101" pitchFamily="2" charset="-122"/>
                <a:ea typeface="华文楷体" panose="02010600040101010101" pitchFamily="2" charset="-122"/>
                <a:sym typeface="Wingdings" panose="05000000000000000000" pitchFamily="2" charset="2"/>
              </a:rPr>
              <a:t>2</a:t>
            </a:r>
            <a:r>
              <a:rPr lang="zh-CN" altLang="en-US" sz="2200" dirty="0">
                <a:latin typeface="华文楷体" panose="02010600040101010101" pitchFamily="2" charset="-122"/>
                <a:ea typeface="华文楷体" panose="02010600040101010101" pitchFamily="2" charset="-122"/>
                <a:sym typeface="Wingdings" panose="05000000000000000000" pitchFamily="2" charset="2"/>
              </a:rPr>
              <a:t>）改善短事务的响应时间。</a:t>
            </a:r>
            <a:endParaRPr lang="zh-CN" altLang="en-US" sz="2200" dirty="0">
              <a:latin typeface="华文楷体" panose="02010600040101010101" pitchFamily="2" charset="-122"/>
              <a:ea typeface="华文楷体" panose="02010600040101010101" pitchFamily="2" charset="-122"/>
              <a:sym typeface="Wingdings" panose="05000000000000000000" pitchFamily="2" charset="2"/>
            </a:endParaRPr>
          </a:p>
        </p:txBody>
      </p:sp>
      <p:sp>
        <p:nvSpPr>
          <p:cNvPr id="92167" name="矩形 7"/>
          <p:cNvSpPr/>
          <p:nvPr/>
        </p:nvSpPr>
        <p:spPr>
          <a:xfrm>
            <a:off x="808038" y="4876800"/>
            <a:ext cx="7848600" cy="1138238"/>
          </a:xfrm>
          <a:prstGeom prst="rect">
            <a:avLst/>
          </a:prstGeom>
          <a:noFill/>
          <a:ln w="9525">
            <a:noFill/>
          </a:ln>
        </p:spPr>
        <p:txBody>
          <a:bodyPr anchor="t">
            <a:spAutoFit/>
          </a:bodyPr>
          <a:lstStyle/>
          <a:p>
            <a:pPr lvl="0" indent="0">
              <a:spcBef>
                <a:spcPct val="50000"/>
              </a:spcBef>
            </a:pPr>
            <a:r>
              <a:rPr lang="en-US" altLang="x-none" sz="2400" u="sng" dirty="0">
                <a:solidFill>
                  <a:srgbClr val="CC0000"/>
                </a:solidFill>
                <a:latin typeface="华文楷体" panose="02010600040101010101" pitchFamily="2" charset="-122"/>
                <a:ea typeface="华文楷体" panose="02010600040101010101" pitchFamily="2" charset="-122"/>
                <a:sym typeface="Wingdings" panose="05000000000000000000" pitchFamily="2" charset="2"/>
              </a:rPr>
              <a:t>--</a:t>
            </a:r>
            <a:r>
              <a:rPr lang="zh-CN" altLang="en-US" sz="2400" u="sng" dirty="0">
                <a:solidFill>
                  <a:srgbClr val="CC0000"/>
                </a:solidFill>
                <a:latin typeface="华文楷体" panose="02010600040101010101" pitchFamily="2" charset="-122"/>
                <a:ea typeface="华文楷体" panose="02010600040101010101" pitchFamily="2" charset="-122"/>
                <a:sym typeface="Wingdings" panose="05000000000000000000" pitchFamily="2" charset="2"/>
              </a:rPr>
              <a:t>事务并发执行的可能引起的问题：</a:t>
            </a:r>
            <a:r>
              <a:rPr lang="zh-CN" altLang="en-US" sz="2200" dirty="0">
                <a:latin typeface="华文楷体" panose="02010600040101010101" pitchFamily="2" charset="-122"/>
                <a:ea typeface="华文楷体" panose="02010600040101010101" pitchFamily="2" charset="-122"/>
                <a:sym typeface="Wingdings" panose="05000000000000000000" pitchFamily="2" charset="2"/>
              </a:rPr>
              <a:t>可能会同时存取数据库中同一数据的情况，如果不加控制，可能会引起读写数据的冲突，对数据库的一致性造成破坏。</a:t>
            </a:r>
            <a:endParaRPr lang="zh-CN" altLang="en-US" sz="2200" dirty="0">
              <a:latin typeface="华文楷体" panose="02010600040101010101" pitchFamily="2" charset="-122"/>
              <a:ea typeface="华文楷体" panose="02010600040101010101" pitchFamily="2" charset="-122"/>
              <a:sym typeface="Wingdings" panose="05000000000000000000" pitchFamily="2" charset="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92166"/>
                                        </p:tgtEl>
                                        <p:attrNameLst>
                                          <p:attrName>style.visibility</p:attrName>
                                        </p:attrNameLst>
                                      </p:cBhvr>
                                      <p:to>
                                        <p:strVal val="visible"/>
                                      </p:to>
                                    </p:set>
                                    <p:anim calcmode="lin" valueType="num">
                                      <p:cBhvr>
                                        <p:cTn id="7" dur="500" fill="hold"/>
                                        <p:tgtEl>
                                          <p:spTgt spid="92166"/>
                                        </p:tgtEl>
                                        <p:attrNameLst>
                                          <p:attrName>ppt_x</p:attrName>
                                        </p:attrNameLst>
                                      </p:cBhvr>
                                      <p:tavLst>
                                        <p:tav tm="0">
                                          <p:val>
                                            <p:strVal val="#ppt_x"/>
                                          </p:val>
                                        </p:tav>
                                        <p:tav tm="100000">
                                          <p:val>
                                            <p:strVal val="#ppt_x"/>
                                          </p:val>
                                        </p:tav>
                                      </p:tavLst>
                                    </p:anim>
                                    <p:anim calcmode="lin" valueType="num">
                                      <p:cBhvr>
                                        <p:cTn id="8" dur="500" fill="hold"/>
                                        <p:tgtEl>
                                          <p:spTgt spid="9216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92167"/>
                                        </p:tgtEl>
                                        <p:attrNameLst>
                                          <p:attrName>style.visibility</p:attrName>
                                        </p:attrNameLst>
                                      </p:cBhvr>
                                      <p:to>
                                        <p:strVal val="visible"/>
                                      </p:to>
                                    </p:set>
                                    <p:anim calcmode="lin" valueType="num">
                                      <p:cBhvr>
                                        <p:cTn id="13" dur="500" fill="hold"/>
                                        <p:tgtEl>
                                          <p:spTgt spid="92167"/>
                                        </p:tgtEl>
                                        <p:attrNameLst>
                                          <p:attrName>ppt_x</p:attrName>
                                        </p:attrNameLst>
                                      </p:cBhvr>
                                      <p:tavLst>
                                        <p:tav tm="0">
                                          <p:val>
                                            <p:strVal val="#ppt_x"/>
                                          </p:val>
                                        </p:tav>
                                        <p:tav tm="100000">
                                          <p:val>
                                            <p:strVal val="#ppt_x"/>
                                          </p:val>
                                        </p:tav>
                                      </p:tavLst>
                                    </p:anim>
                                    <p:anim calcmode="lin" valueType="num">
                                      <p:cBhvr>
                                        <p:cTn id="14" dur="500" fill="hold"/>
                                        <p:tgtEl>
                                          <p:spTgt spid="9216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166" grpId="0" bldLvl="0"/>
      <p:bldP spid="92167" grpId="0" bldLvl="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7"/>
          <p:cNvSpPr/>
          <p:nvPr/>
        </p:nvSpPr>
        <p:spPr>
          <a:xfrm>
            <a:off x="454025" y="806450"/>
            <a:ext cx="6261100" cy="609600"/>
          </a:xfrm>
          <a:prstGeom prst="rect">
            <a:avLst/>
          </a:prstGeom>
          <a:noFill/>
          <a:ln w="9525">
            <a:noFill/>
          </a:ln>
        </p:spPr>
        <p:txBody>
          <a:bodyPr wrap="none" anchor="ctr"/>
          <a:lstStyle/>
          <a:p>
            <a:pPr lvl="0" indent="0" algn="just">
              <a:spcBef>
                <a:spcPct val="20000"/>
              </a:spcBef>
              <a:buClr>
                <a:schemeClr val="folHlink"/>
              </a:buClr>
              <a:buSzPct val="75000"/>
              <a:buFont typeface="Wingdings" panose="05000000000000000000" pitchFamily="2" charset="2"/>
              <a:buNone/>
            </a:pPr>
            <a:r>
              <a:rPr lang="en-US" altLang="x-none" sz="2800" dirty="0" smtClean="0">
                <a:solidFill>
                  <a:srgbClr val="FF0000"/>
                </a:solidFill>
                <a:latin typeface="黑体" panose="02010609060101010101" pitchFamily="1" charset="-122"/>
                <a:ea typeface="黑体" panose="02010609060101010101" pitchFamily="1" charset="-122"/>
              </a:rPr>
              <a:t>2</a:t>
            </a:r>
            <a:r>
              <a:rPr lang="zh-CN" altLang="en-US" sz="2800" dirty="0" smtClean="0">
                <a:solidFill>
                  <a:srgbClr val="FF0000"/>
                </a:solidFill>
                <a:latin typeface="黑体" panose="02010609060101010101" pitchFamily="1" charset="-122"/>
                <a:ea typeface="黑体" panose="02010609060101010101" pitchFamily="1" charset="-122"/>
              </a:rPr>
              <a:t>、</a:t>
            </a:r>
            <a:r>
              <a:rPr lang="zh-CN" altLang="en-US" sz="2800" dirty="0">
                <a:solidFill>
                  <a:srgbClr val="FF0000"/>
                </a:solidFill>
                <a:latin typeface="黑体" panose="02010609060101010101" pitchFamily="1" charset="-122"/>
                <a:ea typeface="黑体" panose="02010609060101010101" pitchFamily="1" charset="-122"/>
              </a:rPr>
              <a:t>并发执行引起的</a:t>
            </a:r>
            <a:r>
              <a:rPr lang="en-US" altLang="zh-CN" sz="2800" dirty="0">
                <a:solidFill>
                  <a:srgbClr val="FF0000"/>
                </a:solidFill>
                <a:latin typeface="华文中宋" panose="02010600040101010101" charset="-122"/>
                <a:ea typeface="华文中宋" panose="02010600040101010101" charset="-122"/>
              </a:rPr>
              <a:t>“</a:t>
            </a:r>
            <a:r>
              <a:rPr lang="zh-CN" altLang="en-US" sz="2800" dirty="0">
                <a:solidFill>
                  <a:srgbClr val="FF0000"/>
                </a:solidFill>
                <a:latin typeface="华文中宋" panose="02010600040101010101" charset="-122"/>
                <a:ea typeface="华文中宋" panose="02010600040101010101" charset="-122"/>
              </a:rPr>
              <a:t>丢失更新</a:t>
            </a:r>
            <a:r>
              <a:rPr lang="en-US" altLang="zh-CN" sz="2800" dirty="0">
                <a:solidFill>
                  <a:srgbClr val="FF0000"/>
                </a:solidFill>
                <a:latin typeface="华文中宋" panose="02010600040101010101" charset="-122"/>
                <a:ea typeface="华文中宋" panose="02010600040101010101" charset="-122"/>
              </a:rPr>
              <a:t>”</a:t>
            </a:r>
            <a:r>
              <a:rPr lang="zh-CN" altLang="en-US" sz="2800" dirty="0">
                <a:solidFill>
                  <a:srgbClr val="FF0000"/>
                </a:solidFill>
                <a:latin typeface="黑体" panose="02010609060101010101" pitchFamily="1" charset="-122"/>
                <a:ea typeface="黑体" panose="02010609060101010101" pitchFamily="1" charset="-122"/>
              </a:rPr>
              <a:t>问题</a:t>
            </a:r>
            <a:endParaRPr lang="zh-CN" altLang="en-US" sz="2800" dirty="0">
              <a:solidFill>
                <a:srgbClr val="FF0000"/>
              </a:solidFill>
              <a:latin typeface="黑体" panose="02010609060101010101" pitchFamily="1" charset="-122"/>
              <a:ea typeface="黑体" panose="02010609060101010101" pitchFamily="1" charset="-122"/>
            </a:endParaRPr>
          </a:p>
        </p:txBody>
      </p:sp>
      <p:sp>
        <p:nvSpPr>
          <p:cNvPr id="94213" name="Text Box 4"/>
          <p:cNvSpPr txBox="1"/>
          <p:nvPr/>
        </p:nvSpPr>
        <p:spPr>
          <a:xfrm>
            <a:off x="454025" y="1339533"/>
            <a:ext cx="8389938" cy="899795"/>
          </a:xfrm>
          <a:prstGeom prst="rect">
            <a:avLst/>
          </a:prstGeom>
          <a:noFill/>
          <a:ln w="9525">
            <a:noFill/>
          </a:ln>
        </p:spPr>
        <p:txBody>
          <a:bodyPr anchor="t">
            <a:spAutoFit/>
          </a:bodyPr>
          <a:lstStyle/>
          <a:p>
            <a:pPr marL="342900" lvl="0" indent="-342900">
              <a:lnSpc>
                <a:spcPct val="110000"/>
              </a:lnSpc>
              <a:spcBef>
                <a:spcPct val="50000"/>
              </a:spcBef>
              <a:buFont typeface="Wingdings" panose="05000000000000000000" charset="0"/>
              <a:buChar char=""/>
            </a:pPr>
            <a:r>
              <a:rPr lang="zh-CN" altLang="en-US" sz="2400" dirty="0">
                <a:solidFill>
                  <a:srgbClr val="0000CC"/>
                </a:solidFill>
                <a:latin typeface="华文中宋" panose="02010600040101010101" charset="-122"/>
                <a:ea typeface="华文中宋" panose="02010600040101010101" charset="-122"/>
                <a:sym typeface="Wingdings" panose="05000000000000000000" pitchFamily="2" charset="2"/>
              </a:rPr>
              <a:t>丢失更新，亦称：覆盖未提交的数据</a:t>
            </a:r>
            <a:endParaRPr lang="zh-CN" altLang="en-US" sz="2400" dirty="0">
              <a:solidFill>
                <a:srgbClr val="0000CC"/>
              </a:solidFill>
              <a:latin typeface="华文中宋" panose="02010600040101010101" charset="-122"/>
              <a:ea typeface="华文中宋" panose="02010600040101010101" charset="-122"/>
              <a:sym typeface="Wingdings" panose="05000000000000000000" pitchFamily="2" charset="2"/>
            </a:endParaRPr>
          </a:p>
          <a:p>
            <a:pPr lvl="0">
              <a:lnSpc>
                <a:spcPct val="100000"/>
              </a:lnSpc>
              <a:spcBef>
                <a:spcPts val="500"/>
              </a:spcBef>
              <a:spcAft>
                <a:spcPts val="0"/>
              </a:spcAft>
              <a:buFont typeface="Wingdings" panose="05000000000000000000" charset="0"/>
            </a:pPr>
            <a:endParaRPr lang="zh-CN" altLang="en-US" sz="2200" dirty="0">
              <a:latin typeface="华文楷体" panose="02010600040101010101" pitchFamily="2" charset="-122"/>
              <a:ea typeface="华文楷体" panose="02010600040101010101" pitchFamily="2" charset="-122"/>
              <a:sym typeface="Wingdings" panose="05000000000000000000" pitchFamily="2" charset="2"/>
            </a:endParaRPr>
          </a:p>
        </p:txBody>
      </p:sp>
      <p:sp>
        <p:nvSpPr>
          <p:cNvPr id="2" name="Rectangle 2"/>
          <p:cNvSpPr/>
          <p:nvPr/>
        </p:nvSpPr>
        <p:spPr>
          <a:xfrm>
            <a:off x="417513" y="55563"/>
            <a:ext cx="8229600" cy="692150"/>
          </a:xfrm>
          <a:prstGeom prst="rect">
            <a:avLst/>
          </a:prstGeom>
          <a:noFill/>
          <a:ln w="9525">
            <a:noFill/>
          </a:ln>
        </p:spPr>
        <p:txBody>
          <a:bodyPr anchor="ctr"/>
          <a:lstStyle/>
          <a:p>
            <a:pPr lvl="0" indent="0">
              <a:buFont typeface="Wingdings" panose="05000000000000000000" pitchFamily="2" charset="2"/>
              <a:buNone/>
            </a:pPr>
            <a:r>
              <a:rPr lang="zh-CN" altLang="en-US" sz="3200" dirty="0" smtClean="0">
                <a:solidFill>
                  <a:srgbClr val="0033CC"/>
                </a:solidFill>
                <a:ea typeface="黑体" panose="02010609060101010101" pitchFamily="1" charset="-122"/>
              </a:rPr>
              <a:t>一</a:t>
            </a:r>
            <a:r>
              <a:rPr lang="zh-CN" altLang="en-US" sz="3200" dirty="0" smtClean="0">
                <a:solidFill>
                  <a:srgbClr val="0033CC"/>
                </a:solidFill>
                <a:latin typeface="Arial" panose="020B0604020202020204" pitchFamily="34" charset="0"/>
                <a:ea typeface="黑体" panose="02010609060101010101" pitchFamily="1" charset="-122"/>
              </a:rPr>
              <a:t>、事务</a:t>
            </a:r>
            <a:r>
              <a:rPr lang="zh-CN" altLang="en-US" sz="3200" dirty="0" smtClean="0">
                <a:solidFill>
                  <a:srgbClr val="0033CC"/>
                </a:solidFill>
                <a:ea typeface="黑体" panose="02010609060101010101" pitchFamily="1" charset="-122"/>
                <a:cs typeface="+mn-ea"/>
                <a:sym typeface="+mn-ea"/>
              </a:rPr>
              <a:t>并发可能引起的问题</a:t>
            </a:r>
            <a:endParaRPr lang="zh-CN" altLang="en-US" sz="3200" dirty="0" smtClean="0">
              <a:solidFill>
                <a:srgbClr val="0033CC"/>
              </a:solidFill>
              <a:latin typeface="Arial" panose="020B0604020202020204" pitchFamily="34" charset="0"/>
              <a:ea typeface="黑体" panose="02010609060101010101" pitchFamily="1" charset="-122"/>
              <a:cs typeface="+mn-ea"/>
            </a:endParaRPr>
          </a:p>
        </p:txBody>
      </p:sp>
      <p:sp>
        <p:nvSpPr>
          <p:cNvPr id="14" name="Rectangle 3"/>
          <p:cNvSpPr txBox="1">
            <a:spLocks noChangeArrowheads="1"/>
          </p:cNvSpPr>
          <p:nvPr/>
        </p:nvSpPr>
        <p:spPr>
          <a:xfrm>
            <a:off x="563245" y="1995170"/>
            <a:ext cx="4389120" cy="2631440"/>
          </a:xfrm>
          <a:prstGeom prst="rect">
            <a:avLst/>
          </a:prstGeom>
          <a:ln>
            <a:solidFill>
              <a:schemeClr val="accent1"/>
            </a:solidFill>
          </a:ln>
        </p:spPr>
        <p:txBody>
          <a:bodyPr/>
          <a:lstStyle/>
          <a:p>
            <a:pPr marL="342900" marR="0" lvl="0" indent="-342900" algn="l" defTabSz="914400" rtl="0" eaLnBrk="0" fontAlgn="base" latinLnBrk="0" hangingPunct="0">
              <a:lnSpc>
                <a:spcPct val="100000"/>
              </a:lnSpc>
              <a:spcBef>
                <a:spcPts val="200"/>
              </a:spcBef>
              <a:spcAft>
                <a:spcPts val="0"/>
              </a:spcAft>
              <a:buClr>
                <a:srgbClr val="0033CC"/>
              </a:buClr>
              <a:buSzPct val="80000"/>
              <a:buFont typeface="Wingdings" panose="05000000000000000000" pitchFamily="2" charset="2"/>
              <a:buChar char="u"/>
              <a:defRPr/>
            </a:pPr>
            <a:r>
              <a:rPr kumimoji="0" lang="zh-CN" altLang="en-US" sz="2400" b="1" i="0" u="none" strike="noStrike" kern="0" cap="none" spc="0" normalizeH="0" baseline="0" noProof="0" dirty="0">
                <a:ln>
                  <a:noFill/>
                </a:ln>
                <a:solidFill>
                  <a:schemeClr val="tx1"/>
                </a:solidFill>
                <a:effectLst/>
                <a:uLnTx/>
                <a:uFillTx/>
                <a:latin typeface="楷体" panose="02010609060101010101" pitchFamily="1" charset="-122"/>
                <a:ea typeface="楷体" panose="02010609060101010101" pitchFamily="1" charset="-122"/>
                <a:cs typeface="+mn-cs"/>
              </a:rPr>
              <a:t>丢失更新是指事务</a:t>
            </a:r>
            <a:r>
              <a:rPr kumimoji="0" lang="en-US" altLang="zh-CN" sz="2400" b="1" i="0" u="none" strike="noStrike" kern="0" cap="none" spc="0" normalizeH="0" baseline="0" noProof="0" dirty="0">
                <a:ln>
                  <a:noFill/>
                </a:ln>
                <a:solidFill>
                  <a:schemeClr val="tx1"/>
                </a:solidFill>
                <a:effectLst/>
                <a:uLnTx/>
                <a:uFillTx/>
                <a:latin typeface="楷体" panose="02010609060101010101" pitchFamily="1" charset="-122"/>
                <a:ea typeface="楷体" panose="02010609060101010101" pitchFamily="1" charset="-122"/>
                <a:cs typeface="+mn-cs"/>
              </a:rPr>
              <a:t>1</a:t>
            </a:r>
            <a:r>
              <a:rPr kumimoji="0" lang="zh-CN" altLang="en-US" sz="2400" b="1" i="0" u="none" strike="noStrike" kern="0" cap="none" spc="0" normalizeH="0" baseline="0" noProof="0" dirty="0">
                <a:ln>
                  <a:noFill/>
                </a:ln>
                <a:solidFill>
                  <a:schemeClr val="tx1"/>
                </a:solidFill>
                <a:effectLst/>
                <a:uLnTx/>
                <a:uFillTx/>
                <a:latin typeface="楷体" panose="02010609060101010101" pitchFamily="1" charset="-122"/>
                <a:ea typeface="楷体" panose="02010609060101010101" pitchFamily="1" charset="-122"/>
                <a:cs typeface="+mn-cs"/>
              </a:rPr>
              <a:t>与事务</a:t>
            </a:r>
            <a:r>
              <a:rPr kumimoji="0" lang="en-US" altLang="zh-CN" sz="2400" b="1" i="0" u="none" strike="noStrike" kern="0" cap="none" spc="0" normalizeH="0" baseline="0" noProof="0" dirty="0">
                <a:ln>
                  <a:noFill/>
                </a:ln>
                <a:solidFill>
                  <a:schemeClr val="tx1"/>
                </a:solidFill>
                <a:effectLst/>
                <a:uLnTx/>
                <a:uFillTx/>
                <a:latin typeface="楷体" panose="02010609060101010101" pitchFamily="1" charset="-122"/>
                <a:ea typeface="楷体" panose="02010609060101010101" pitchFamily="1" charset="-122"/>
                <a:cs typeface="+mn-cs"/>
              </a:rPr>
              <a:t>2</a:t>
            </a:r>
            <a:r>
              <a:rPr kumimoji="0" lang="zh-CN" altLang="en-US" sz="2400" b="1" i="0" u="none" strike="noStrike" kern="0" cap="none" spc="0" normalizeH="0" baseline="0" noProof="0" dirty="0">
                <a:ln>
                  <a:noFill/>
                </a:ln>
                <a:solidFill>
                  <a:schemeClr val="tx1"/>
                </a:solidFill>
                <a:effectLst/>
                <a:uLnTx/>
                <a:uFillTx/>
                <a:latin typeface="楷体" panose="02010609060101010101" pitchFamily="1" charset="-122"/>
                <a:ea typeface="楷体" panose="02010609060101010101" pitchFamily="1" charset="-122"/>
                <a:cs typeface="+mn-cs"/>
              </a:rPr>
              <a:t>从数据库中读入同一数据并修改</a:t>
            </a:r>
            <a:endParaRPr kumimoji="0" lang="zh-CN" altLang="en-US" sz="2400" b="1" i="0" u="none" strike="noStrike" kern="0" cap="none" spc="0" normalizeH="0" baseline="0" noProof="0" dirty="0">
              <a:ln>
                <a:noFill/>
              </a:ln>
              <a:solidFill>
                <a:schemeClr val="tx1"/>
              </a:solidFill>
              <a:effectLst/>
              <a:uLnTx/>
              <a:uFillTx/>
              <a:latin typeface="楷体" panose="02010609060101010101" pitchFamily="1" charset="-122"/>
              <a:ea typeface="楷体" panose="02010609060101010101" pitchFamily="1" charset="-122"/>
              <a:cs typeface="+mn-cs"/>
            </a:endParaRPr>
          </a:p>
          <a:p>
            <a:pPr marL="342900" marR="0" lvl="0" indent="-342900" algn="l" defTabSz="914400" rtl="0" eaLnBrk="0" fontAlgn="base" latinLnBrk="0" hangingPunct="0">
              <a:lnSpc>
                <a:spcPct val="100000"/>
              </a:lnSpc>
              <a:spcBef>
                <a:spcPts val="200"/>
              </a:spcBef>
              <a:spcAft>
                <a:spcPts val="0"/>
              </a:spcAft>
              <a:buClr>
                <a:srgbClr val="0033CC"/>
              </a:buClr>
              <a:buSzPct val="80000"/>
              <a:buFont typeface="Wingdings" panose="05000000000000000000" pitchFamily="2" charset="2"/>
              <a:buChar char="u"/>
              <a:defRPr/>
            </a:pPr>
            <a:r>
              <a:rPr kumimoji="0" lang="zh-CN" altLang="en-US" sz="2400" b="1" i="0" u="none" strike="noStrike" kern="0" cap="none" spc="0" normalizeH="0" baseline="0" noProof="0" dirty="0">
                <a:ln>
                  <a:noFill/>
                </a:ln>
                <a:solidFill>
                  <a:schemeClr val="tx1"/>
                </a:solidFill>
                <a:effectLst/>
                <a:uLnTx/>
                <a:uFillTx/>
                <a:latin typeface="楷体" panose="02010609060101010101" pitchFamily="1" charset="-122"/>
                <a:ea typeface="楷体" panose="02010609060101010101" pitchFamily="1" charset="-122"/>
                <a:cs typeface="+mn-cs"/>
              </a:rPr>
              <a:t>事务</a:t>
            </a:r>
            <a:r>
              <a:rPr kumimoji="0" lang="en-US" altLang="zh-CN" sz="2400" b="1" i="0" u="none" strike="noStrike" kern="0" cap="none" spc="0" normalizeH="0" baseline="0" noProof="0" dirty="0">
                <a:ln>
                  <a:noFill/>
                </a:ln>
                <a:solidFill>
                  <a:schemeClr val="tx1"/>
                </a:solidFill>
                <a:effectLst/>
                <a:uLnTx/>
                <a:uFillTx/>
                <a:latin typeface="楷体" panose="02010609060101010101" pitchFamily="1" charset="-122"/>
                <a:ea typeface="楷体" panose="02010609060101010101" pitchFamily="1" charset="-122"/>
                <a:cs typeface="+mn-cs"/>
              </a:rPr>
              <a:t>2</a:t>
            </a:r>
            <a:r>
              <a:rPr kumimoji="0" lang="zh-CN" altLang="en-US" sz="2400" b="1" i="0" u="none" strike="noStrike" kern="0" cap="none" spc="0" normalizeH="0" baseline="0" noProof="0" dirty="0">
                <a:ln>
                  <a:noFill/>
                </a:ln>
                <a:solidFill>
                  <a:schemeClr val="tx1"/>
                </a:solidFill>
                <a:effectLst/>
                <a:uLnTx/>
                <a:uFillTx/>
                <a:latin typeface="楷体" panose="02010609060101010101" pitchFamily="1" charset="-122"/>
                <a:ea typeface="楷体" panose="02010609060101010101" pitchFamily="1" charset="-122"/>
                <a:cs typeface="+mn-cs"/>
              </a:rPr>
              <a:t>的提交结果破坏了事务</a:t>
            </a:r>
            <a:r>
              <a:rPr kumimoji="0" lang="en-US" altLang="zh-CN" sz="2400" b="1" i="0" u="none" strike="noStrike" kern="0" cap="none" spc="0" normalizeH="0" baseline="0" noProof="0" dirty="0">
                <a:ln>
                  <a:noFill/>
                </a:ln>
                <a:solidFill>
                  <a:schemeClr val="tx1"/>
                </a:solidFill>
                <a:effectLst/>
                <a:uLnTx/>
                <a:uFillTx/>
                <a:latin typeface="楷体" panose="02010609060101010101" pitchFamily="1" charset="-122"/>
                <a:ea typeface="楷体" panose="02010609060101010101" pitchFamily="1" charset="-122"/>
                <a:cs typeface="+mn-cs"/>
              </a:rPr>
              <a:t>1</a:t>
            </a:r>
            <a:r>
              <a:rPr kumimoji="0" lang="zh-CN" altLang="en-US" sz="2400" b="1" i="0" u="none" strike="noStrike" kern="0" cap="none" spc="0" normalizeH="0" baseline="0" noProof="0" dirty="0">
                <a:ln>
                  <a:noFill/>
                </a:ln>
                <a:solidFill>
                  <a:schemeClr val="tx1"/>
                </a:solidFill>
                <a:effectLst/>
                <a:uLnTx/>
                <a:uFillTx/>
                <a:latin typeface="楷体" panose="02010609060101010101" pitchFamily="1" charset="-122"/>
                <a:ea typeface="楷体" panose="02010609060101010101" pitchFamily="1" charset="-122"/>
                <a:cs typeface="+mn-cs"/>
              </a:rPr>
              <a:t>的提交结果，导致事务</a:t>
            </a:r>
            <a:r>
              <a:rPr kumimoji="0" lang="en-US" altLang="zh-CN" sz="2400" b="1" i="0" u="none" strike="noStrike" kern="0" cap="none" spc="0" normalizeH="0" baseline="0" noProof="0" dirty="0">
                <a:ln>
                  <a:noFill/>
                </a:ln>
                <a:solidFill>
                  <a:schemeClr val="tx1"/>
                </a:solidFill>
                <a:effectLst/>
                <a:uLnTx/>
                <a:uFillTx/>
                <a:latin typeface="楷体" panose="02010609060101010101" pitchFamily="1" charset="-122"/>
                <a:ea typeface="楷体" panose="02010609060101010101" pitchFamily="1" charset="-122"/>
                <a:cs typeface="+mn-cs"/>
              </a:rPr>
              <a:t>1</a:t>
            </a:r>
            <a:r>
              <a:rPr kumimoji="0" lang="zh-CN" altLang="en-US" sz="2400" b="1" i="0" u="none" strike="noStrike" kern="0" cap="none" spc="0" normalizeH="0" baseline="0" noProof="0" dirty="0">
                <a:ln>
                  <a:noFill/>
                </a:ln>
                <a:solidFill>
                  <a:schemeClr val="tx1"/>
                </a:solidFill>
                <a:effectLst/>
                <a:uLnTx/>
                <a:uFillTx/>
                <a:latin typeface="楷体" panose="02010609060101010101" pitchFamily="1" charset="-122"/>
                <a:ea typeface="楷体" panose="02010609060101010101" pitchFamily="1" charset="-122"/>
                <a:cs typeface="+mn-cs"/>
              </a:rPr>
              <a:t>的修改被丢失</a:t>
            </a:r>
            <a:endParaRPr kumimoji="0" lang="zh-CN" altLang="en-US" sz="2400" b="1" i="0" u="none" strike="noStrike" kern="0" cap="none" spc="0" normalizeH="0" baseline="0" noProof="0" dirty="0">
              <a:ln>
                <a:noFill/>
              </a:ln>
              <a:solidFill>
                <a:schemeClr val="tx1"/>
              </a:solidFill>
              <a:effectLst/>
              <a:uLnTx/>
              <a:uFillTx/>
              <a:latin typeface="楷体" panose="02010609060101010101" pitchFamily="1" charset="-122"/>
              <a:ea typeface="楷体" panose="02010609060101010101" pitchFamily="1" charset="-122"/>
              <a:cs typeface="+mn-cs"/>
            </a:endParaRPr>
          </a:p>
        </p:txBody>
      </p:sp>
      <p:pic>
        <p:nvPicPr>
          <p:cNvPr id="15" name="图片 14"/>
          <p:cNvPicPr>
            <a:picLocks noChangeAspect="1"/>
          </p:cNvPicPr>
          <p:nvPr/>
        </p:nvPicPr>
        <p:blipFill>
          <a:blip r:embed="rId1"/>
          <a:stretch>
            <a:fillRect/>
          </a:stretch>
        </p:blipFill>
        <p:spPr>
          <a:xfrm>
            <a:off x="5466080" y="1906270"/>
            <a:ext cx="3378200" cy="4380230"/>
          </a:xfrm>
          <a:prstGeom prst="rect">
            <a:avLst/>
          </a:prstGeom>
        </p:spPr>
      </p:pic>
      <p:sp>
        <p:nvSpPr>
          <p:cNvPr id="16" name="文本框 15"/>
          <p:cNvSpPr txBox="1"/>
          <p:nvPr/>
        </p:nvSpPr>
        <p:spPr>
          <a:xfrm>
            <a:off x="6042025" y="1416050"/>
            <a:ext cx="2936240" cy="589280"/>
          </a:xfrm>
          <a:prstGeom prst="rect">
            <a:avLst/>
          </a:prstGeom>
          <a:noFill/>
        </p:spPr>
        <p:txBody>
          <a:bodyPr wrap="none" rtlCol="0" anchor="t">
            <a:spAutoFit/>
          </a:bodyPr>
          <a:lstStyle/>
          <a:p>
            <a:pPr>
              <a:buFont typeface="Wingdings" panose="05000000000000000000" charset="0"/>
              <a:buChar char="p"/>
            </a:pPr>
            <a:r>
              <a:rPr lang="zh-CN" altLang="en-US" sz="2400">
                <a:solidFill>
                  <a:srgbClr val="0033CC"/>
                </a:solidFill>
              </a:rPr>
              <a:t>飞机票订票的例子</a:t>
            </a:r>
            <a:endParaRPr lang="zh-CN" altLang="en-US" sz="2400">
              <a:solidFill>
                <a:srgbClr val="0033CC"/>
              </a:solidFill>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anim calcmode="lin" valueType="num">
                                      <p:cBhvr additive="base">
                                        <p:cTn id="7" dur="500" fill="hold"/>
                                        <p:tgtEl>
                                          <p:spTgt spid="15"/>
                                        </p:tgtEl>
                                        <p:attrNameLst>
                                          <p:attrName>ppt_x</p:attrName>
                                        </p:attrNameLst>
                                      </p:cBhvr>
                                      <p:tavLst>
                                        <p:tav tm="0">
                                          <p:val>
                                            <p:strVal val="#ppt_x"/>
                                          </p:val>
                                        </p:tav>
                                        <p:tav tm="100000">
                                          <p:val>
                                            <p:strVal val="#ppt_x"/>
                                          </p:val>
                                        </p:tav>
                                      </p:tavLst>
                                    </p:anim>
                                    <p:anim calcmode="lin" valueType="num">
                                      <p:cBhvr additive="base">
                                        <p:cTn id="8"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7"/>
          <p:cNvSpPr/>
          <p:nvPr/>
        </p:nvSpPr>
        <p:spPr>
          <a:xfrm>
            <a:off x="454025" y="806450"/>
            <a:ext cx="6261100" cy="609600"/>
          </a:xfrm>
          <a:prstGeom prst="rect">
            <a:avLst/>
          </a:prstGeom>
          <a:noFill/>
          <a:ln w="9525">
            <a:noFill/>
          </a:ln>
        </p:spPr>
        <p:txBody>
          <a:bodyPr wrap="none" anchor="ctr"/>
          <a:lstStyle/>
          <a:p>
            <a:pPr lvl="0" indent="0" algn="just">
              <a:spcBef>
                <a:spcPct val="20000"/>
              </a:spcBef>
              <a:buClr>
                <a:schemeClr val="folHlink"/>
              </a:buClr>
              <a:buSzPct val="75000"/>
              <a:buFont typeface="Wingdings" panose="05000000000000000000" pitchFamily="2" charset="2"/>
              <a:buNone/>
            </a:pPr>
            <a:r>
              <a:rPr lang="en-US" altLang="x-none" sz="2800" dirty="0">
                <a:solidFill>
                  <a:srgbClr val="FF0000"/>
                </a:solidFill>
                <a:latin typeface="黑体" panose="02010609060101010101" pitchFamily="1" charset="-122"/>
                <a:ea typeface="黑体" panose="02010609060101010101" pitchFamily="1" charset="-122"/>
              </a:rPr>
              <a:t>3</a:t>
            </a:r>
            <a:r>
              <a:rPr lang="zh-CN" altLang="en-US" sz="2800" dirty="0">
                <a:solidFill>
                  <a:srgbClr val="FF0000"/>
                </a:solidFill>
                <a:latin typeface="黑体" panose="02010609060101010101" pitchFamily="1" charset="-122"/>
                <a:ea typeface="黑体" panose="02010609060101010101" pitchFamily="1" charset="-122"/>
              </a:rPr>
              <a:t>、并发执行引起的</a:t>
            </a:r>
            <a:r>
              <a:rPr lang="en-US" altLang="zh-CN" sz="2800" dirty="0">
                <a:solidFill>
                  <a:srgbClr val="FF0000"/>
                </a:solidFill>
                <a:latin typeface="黑体" panose="02010609060101010101" pitchFamily="1" charset="-122"/>
                <a:ea typeface="黑体" panose="02010609060101010101" pitchFamily="1" charset="-122"/>
              </a:rPr>
              <a:t>“</a:t>
            </a:r>
            <a:r>
              <a:rPr lang="zh-CN" altLang="en-US" sz="2800" dirty="0">
                <a:solidFill>
                  <a:srgbClr val="FF0000"/>
                </a:solidFill>
                <a:latin typeface="黑体" panose="02010609060101010101" pitchFamily="1" charset="-122"/>
                <a:ea typeface="黑体" panose="02010609060101010101" pitchFamily="1" charset="-122"/>
              </a:rPr>
              <a:t>读脏数据</a:t>
            </a:r>
            <a:r>
              <a:rPr lang="en-US" altLang="zh-CN" sz="2800" dirty="0">
                <a:solidFill>
                  <a:srgbClr val="FF0000"/>
                </a:solidFill>
                <a:latin typeface="黑体" panose="02010609060101010101" pitchFamily="1" charset="-122"/>
                <a:ea typeface="黑体" panose="02010609060101010101" pitchFamily="1" charset="-122"/>
              </a:rPr>
              <a:t>”</a:t>
            </a:r>
            <a:r>
              <a:rPr lang="zh-CN" altLang="en-US" sz="2800" dirty="0">
                <a:solidFill>
                  <a:srgbClr val="FF0000"/>
                </a:solidFill>
                <a:latin typeface="黑体" panose="02010609060101010101" pitchFamily="1" charset="-122"/>
                <a:ea typeface="黑体" panose="02010609060101010101" pitchFamily="1" charset="-122"/>
              </a:rPr>
              <a:t>问题</a:t>
            </a:r>
            <a:endParaRPr lang="en-US" altLang="x-none" sz="2800" dirty="0">
              <a:solidFill>
                <a:srgbClr val="FF0000"/>
              </a:solidFill>
              <a:latin typeface="黑体" panose="02010609060101010101" pitchFamily="1" charset="-122"/>
              <a:ea typeface="黑体" panose="02010609060101010101" pitchFamily="1" charset="-122"/>
            </a:endParaRPr>
          </a:p>
        </p:txBody>
      </p:sp>
      <p:sp>
        <p:nvSpPr>
          <p:cNvPr id="93187" name="矩形 4"/>
          <p:cNvSpPr/>
          <p:nvPr/>
        </p:nvSpPr>
        <p:spPr>
          <a:xfrm>
            <a:off x="520700" y="1314450"/>
            <a:ext cx="7031355" cy="497205"/>
          </a:xfrm>
          <a:prstGeom prst="rect">
            <a:avLst/>
          </a:prstGeom>
          <a:noFill/>
          <a:ln w="9525">
            <a:noFill/>
          </a:ln>
        </p:spPr>
        <p:txBody>
          <a:bodyPr wrap="square" anchor="t">
            <a:spAutoFit/>
          </a:bodyPr>
          <a:lstStyle/>
          <a:p>
            <a:pPr marL="342900" lvl="0" indent="-342900">
              <a:lnSpc>
                <a:spcPct val="110000"/>
              </a:lnSpc>
              <a:spcBef>
                <a:spcPct val="50000"/>
              </a:spcBef>
              <a:buFont typeface="Wingdings" panose="05000000000000000000" charset="0"/>
              <a:buChar char=""/>
            </a:pPr>
            <a:r>
              <a:rPr lang="zh-CN" altLang="en-US" sz="2400" dirty="0">
                <a:solidFill>
                  <a:srgbClr val="0000CC"/>
                </a:solidFill>
                <a:latin typeface="华文中宋" panose="02010600040101010101" charset="-122"/>
                <a:ea typeface="华文中宋" panose="02010600040101010101" charset="-122"/>
                <a:cs typeface="+mn-ea"/>
                <a:sym typeface="Wingdings" panose="05000000000000000000" pitchFamily="2" charset="2"/>
              </a:rPr>
              <a:t>读脏数据，亦称：读未提交的数据 </a:t>
            </a:r>
            <a:endParaRPr lang="zh-CN" altLang="en-US" sz="2400" dirty="0">
              <a:solidFill>
                <a:srgbClr val="0000CC"/>
              </a:solidFill>
              <a:latin typeface="华文中宋" panose="02010600040101010101" charset="-122"/>
              <a:ea typeface="华文中宋" panose="02010600040101010101" charset="-122"/>
              <a:cs typeface="+mn-ea"/>
              <a:sym typeface="Wingdings" panose="05000000000000000000" pitchFamily="2" charset="2"/>
            </a:endParaRPr>
          </a:p>
        </p:txBody>
      </p:sp>
      <p:sp>
        <p:nvSpPr>
          <p:cNvPr id="96261" name="Text Box 2"/>
          <p:cNvSpPr txBox="1"/>
          <p:nvPr/>
        </p:nvSpPr>
        <p:spPr>
          <a:xfrm>
            <a:off x="655955" y="1798955"/>
            <a:ext cx="8232775" cy="774700"/>
          </a:xfrm>
          <a:prstGeom prst="rect">
            <a:avLst/>
          </a:prstGeom>
          <a:noFill/>
          <a:ln w="9525">
            <a:noFill/>
          </a:ln>
        </p:spPr>
        <p:txBody>
          <a:bodyPr anchor="t">
            <a:spAutoFit/>
          </a:bodyPr>
          <a:lstStyle/>
          <a:p>
            <a:pPr lvl="0">
              <a:lnSpc>
                <a:spcPct val="101000"/>
              </a:lnSpc>
              <a:spcBef>
                <a:spcPts val="0"/>
              </a:spcBef>
              <a:spcAft>
                <a:spcPts val="0"/>
              </a:spcAft>
              <a:buFont typeface="Wingdings" panose="05000000000000000000" pitchFamily="2" charset="2"/>
            </a:pPr>
            <a:r>
              <a:rPr lang="en-US" altLang="zh-CN" sz="2200" dirty="0">
                <a:solidFill>
                  <a:srgbClr val="000099"/>
                </a:solidFill>
                <a:latin typeface="华文楷体" panose="02010600040101010101" pitchFamily="2" charset="-122"/>
                <a:ea typeface="华文楷体" panose="02010600040101010101" pitchFamily="2" charset="-122"/>
                <a:sym typeface="Wingdings" panose="05000000000000000000" pitchFamily="2" charset="2"/>
              </a:rPr>
              <a:t>--</a:t>
            </a:r>
            <a:r>
              <a:rPr lang="zh-CN" altLang="en-US" sz="2200" dirty="0">
                <a:solidFill>
                  <a:srgbClr val="000099"/>
                </a:solidFill>
                <a:latin typeface="华文楷体" panose="02010600040101010101" pitchFamily="2" charset="-122"/>
                <a:ea typeface="华文楷体" panose="02010600040101010101" pitchFamily="2" charset="-122"/>
                <a:sym typeface="Wingdings" panose="05000000000000000000" pitchFamily="2" charset="2"/>
              </a:rPr>
              <a:t>原因：</a:t>
            </a:r>
            <a:r>
              <a:rPr lang="zh-CN" altLang="en-US" sz="2200" dirty="0">
                <a:latin typeface="华文楷体" panose="02010600040101010101" pitchFamily="2" charset="-122"/>
                <a:ea typeface="华文楷体" panose="02010600040101010101" pitchFamily="2" charset="-122"/>
                <a:sym typeface="Wingdings" panose="05000000000000000000" pitchFamily="2" charset="2"/>
              </a:rPr>
              <a:t>一事务读取了另一事务尚未提交的数据，称为</a:t>
            </a:r>
            <a:r>
              <a:rPr lang="zh-CN" altLang="en-US" sz="2200" dirty="0">
                <a:solidFill>
                  <a:srgbClr val="A50021"/>
                </a:solidFill>
                <a:latin typeface="华文楷体" panose="02010600040101010101" pitchFamily="2" charset="-122"/>
                <a:ea typeface="华文楷体" panose="02010600040101010101" pitchFamily="2" charset="-122"/>
                <a:sym typeface="Wingdings" panose="05000000000000000000" pitchFamily="2" charset="2"/>
              </a:rPr>
              <a:t>写</a:t>
            </a:r>
            <a:r>
              <a:rPr lang="en-US" altLang="x-none" sz="2200" dirty="0">
                <a:solidFill>
                  <a:srgbClr val="A50021"/>
                </a:solidFill>
                <a:latin typeface="华文楷体" panose="02010600040101010101" pitchFamily="2" charset="-122"/>
                <a:ea typeface="华文楷体" panose="02010600040101010101" pitchFamily="2" charset="-122"/>
                <a:sym typeface="Wingdings" panose="05000000000000000000" pitchFamily="2" charset="2"/>
              </a:rPr>
              <a:t>-</a:t>
            </a:r>
            <a:r>
              <a:rPr lang="zh-CN" altLang="en-US" sz="2200" dirty="0">
                <a:solidFill>
                  <a:srgbClr val="A50021"/>
                </a:solidFill>
                <a:latin typeface="华文楷体" panose="02010600040101010101" pitchFamily="2" charset="-122"/>
                <a:ea typeface="华文楷体" panose="02010600040101010101" pitchFamily="2" charset="-122"/>
                <a:sym typeface="Wingdings" panose="05000000000000000000" pitchFamily="2" charset="2"/>
              </a:rPr>
              <a:t>读冲突</a:t>
            </a:r>
            <a:r>
              <a:rPr lang="zh-CN" altLang="en-US" sz="2200" dirty="0">
                <a:latin typeface="华文楷体" panose="02010600040101010101" pitchFamily="2" charset="-122"/>
                <a:ea typeface="华文楷体" panose="02010600040101010101" pitchFamily="2" charset="-122"/>
                <a:sym typeface="Wingdings" panose="05000000000000000000" pitchFamily="2" charset="2"/>
              </a:rPr>
              <a:t>。</a:t>
            </a:r>
            <a:endParaRPr lang="zh-CN" altLang="en-US" sz="2200" dirty="0">
              <a:latin typeface="华文楷体" panose="02010600040101010101" pitchFamily="2" charset="-122"/>
              <a:ea typeface="华文楷体" panose="02010600040101010101" pitchFamily="2" charset="-122"/>
              <a:sym typeface="Wingdings" panose="05000000000000000000" pitchFamily="2" charset="2"/>
            </a:endParaRPr>
          </a:p>
          <a:p>
            <a:pPr lvl="0">
              <a:lnSpc>
                <a:spcPct val="101000"/>
              </a:lnSpc>
              <a:spcBef>
                <a:spcPts val="0"/>
              </a:spcBef>
              <a:spcAft>
                <a:spcPts val="0"/>
              </a:spcAft>
              <a:buFont typeface="Wingdings" panose="05000000000000000000" pitchFamily="2" charset="2"/>
            </a:pPr>
            <a:r>
              <a:rPr lang="en-US" altLang="zh-CN" sz="2200" dirty="0">
                <a:solidFill>
                  <a:srgbClr val="000099"/>
                </a:solidFill>
                <a:latin typeface="华文楷体" panose="02010600040101010101" pitchFamily="2" charset="-122"/>
                <a:ea typeface="华文楷体" panose="02010600040101010101" pitchFamily="2" charset="-122"/>
                <a:sym typeface="Wingdings" panose="05000000000000000000" pitchFamily="2" charset="2"/>
              </a:rPr>
              <a:t>--</a:t>
            </a:r>
            <a:r>
              <a:rPr lang="zh-CN" altLang="en-US" sz="2200" dirty="0">
                <a:solidFill>
                  <a:srgbClr val="000099"/>
                </a:solidFill>
                <a:latin typeface="华文楷体" panose="02010600040101010101" pitchFamily="2" charset="-122"/>
                <a:ea typeface="华文楷体" panose="02010600040101010101" pitchFamily="2" charset="-122"/>
                <a:sym typeface="Wingdings" panose="05000000000000000000" pitchFamily="2" charset="2"/>
              </a:rPr>
              <a:t>结果：</a:t>
            </a:r>
            <a:r>
              <a:rPr lang="zh-CN" altLang="en-US" sz="2200" dirty="0">
                <a:latin typeface="华文楷体" panose="02010600040101010101" pitchFamily="2" charset="-122"/>
                <a:ea typeface="华文楷体" panose="02010600040101010101" pitchFamily="2" charset="-122"/>
                <a:sym typeface="Wingdings" panose="05000000000000000000" pitchFamily="2" charset="2"/>
              </a:rPr>
              <a:t>有可能读到要回退的数据。读“脏数据”有两种情况。</a:t>
            </a:r>
            <a:endParaRPr lang="zh-CN" altLang="en-US" sz="2200" dirty="0">
              <a:latin typeface="华文楷体" panose="02010600040101010101" pitchFamily="2" charset="-122"/>
              <a:ea typeface="华文楷体" panose="02010600040101010101" pitchFamily="2" charset="-122"/>
              <a:sym typeface="Wingdings" panose="05000000000000000000" pitchFamily="2" charset="2"/>
            </a:endParaRPr>
          </a:p>
        </p:txBody>
      </p:sp>
      <p:sp>
        <p:nvSpPr>
          <p:cNvPr id="89089" name="Rectangle 2"/>
          <p:cNvSpPr/>
          <p:nvPr/>
        </p:nvSpPr>
        <p:spPr>
          <a:xfrm>
            <a:off x="417513" y="55563"/>
            <a:ext cx="8229600" cy="692150"/>
          </a:xfrm>
          <a:prstGeom prst="rect">
            <a:avLst/>
          </a:prstGeom>
          <a:noFill/>
          <a:ln w="9525">
            <a:noFill/>
          </a:ln>
        </p:spPr>
        <p:txBody>
          <a:bodyPr anchor="ctr"/>
          <a:lstStyle/>
          <a:p>
            <a:pPr lvl="0" indent="0">
              <a:buFont typeface="Wingdings" panose="05000000000000000000" pitchFamily="2" charset="2"/>
              <a:buNone/>
            </a:pPr>
            <a:r>
              <a:rPr lang="zh-CN" altLang="en-US" sz="3200" dirty="0" smtClean="0">
                <a:solidFill>
                  <a:srgbClr val="0033CC"/>
                </a:solidFill>
                <a:ea typeface="黑体" panose="02010609060101010101" pitchFamily="1" charset="-122"/>
              </a:rPr>
              <a:t>一</a:t>
            </a:r>
            <a:r>
              <a:rPr lang="zh-CN" altLang="en-US" sz="3200" dirty="0" smtClean="0">
                <a:solidFill>
                  <a:srgbClr val="0033CC"/>
                </a:solidFill>
                <a:latin typeface="Arial" panose="020B0604020202020204" pitchFamily="34" charset="0"/>
                <a:ea typeface="黑体" panose="02010609060101010101" pitchFamily="1" charset="-122"/>
              </a:rPr>
              <a:t>、事务</a:t>
            </a:r>
            <a:r>
              <a:rPr lang="zh-CN" altLang="en-US" sz="3200" dirty="0" smtClean="0">
                <a:solidFill>
                  <a:srgbClr val="0033CC"/>
                </a:solidFill>
                <a:ea typeface="黑体" panose="02010609060101010101" pitchFamily="1" charset="-122"/>
                <a:cs typeface="+mn-ea"/>
                <a:sym typeface="+mn-ea"/>
              </a:rPr>
              <a:t>并发可能引起的问题</a:t>
            </a:r>
            <a:endParaRPr lang="zh-CN" altLang="en-US" sz="3200" dirty="0" smtClean="0">
              <a:solidFill>
                <a:srgbClr val="0033CC"/>
              </a:solidFill>
              <a:latin typeface="Arial" panose="020B0604020202020204" pitchFamily="34" charset="0"/>
              <a:ea typeface="黑体" panose="02010609060101010101" pitchFamily="1" charset="-122"/>
              <a:cs typeface="+mn-ea"/>
            </a:endParaRPr>
          </a:p>
        </p:txBody>
      </p:sp>
      <p:grpSp>
        <p:nvGrpSpPr>
          <p:cNvPr id="4" name="组合 3"/>
          <p:cNvGrpSpPr/>
          <p:nvPr/>
        </p:nvGrpSpPr>
        <p:grpSpPr>
          <a:xfrm>
            <a:off x="673100" y="2665730"/>
            <a:ext cx="7719060" cy="3665855"/>
            <a:chOff x="1032" y="4093"/>
            <a:chExt cx="12156" cy="5773"/>
          </a:xfrm>
        </p:grpSpPr>
        <p:graphicFrame>
          <p:nvGraphicFramePr>
            <p:cNvPr id="2" name="对象 1"/>
            <p:cNvGraphicFramePr/>
            <p:nvPr/>
          </p:nvGraphicFramePr>
          <p:xfrm>
            <a:off x="1032" y="4093"/>
            <a:ext cx="12157" cy="5585"/>
          </p:xfrm>
          <a:graphic>
            <a:graphicData uri="http://schemas.openxmlformats.org/presentationml/2006/ole">
              <mc:AlternateContent xmlns:mc="http://schemas.openxmlformats.org/markup-compatibility/2006">
                <mc:Choice xmlns:v="urn:schemas-microsoft-com:vml" Requires="v">
                  <p:oleObj spid="_x0000_s1038" name="" r:id="rId1" imgW="5495925" imgH="2495550" progId="Paint.Picture">
                    <p:embed/>
                  </p:oleObj>
                </mc:Choice>
                <mc:Fallback>
                  <p:oleObj name="" r:id="rId1" imgW="5495925" imgH="2495550" progId="Paint.Picture">
                    <p:embed/>
                    <p:pic>
                      <p:nvPicPr>
                        <p:cNvPr id="0" name="图片 2"/>
                        <p:cNvPicPr/>
                        <p:nvPr/>
                      </p:nvPicPr>
                      <p:blipFill>
                        <a:blip r:embed="rId2"/>
                        <a:srcRect l="2874"/>
                        <a:stretch>
                          <a:fillRect/>
                        </a:stretch>
                      </p:blipFill>
                      <p:spPr>
                        <a:xfrm>
                          <a:off x="1032" y="4093"/>
                          <a:ext cx="12157" cy="5585"/>
                        </a:xfrm>
                        <a:prstGeom prst="rect">
                          <a:avLst/>
                        </a:prstGeom>
                      </p:spPr>
                    </p:pic>
                  </p:oleObj>
                </mc:Fallback>
              </mc:AlternateContent>
            </a:graphicData>
          </a:graphic>
        </p:graphicFrame>
        <p:sp>
          <p:nvSpPr>
            <p:cNvPr id="97283" name="Text Box 4"/>
            <p:cNvSpPr txBox="1"/>
            <p:nvPr/>
          </p:nvSpPr>
          <p:spPr>
            <a:xfrm>
              <a:off x="2357" y="9044"/>
              <a:ext cx="8359" cy="822"/>
            </a:xfrm>
            <a:prstGeom prst="rect">
              <a:avLst/>
            </a:prstGeom>
            <a:noFill/>
            <a:ln w="9525">
              <a:noFill/>
            </a:ln>
          </p:spPr>
          <p:txBody>
            <a:bodyPr wrap="square" anchor="t">
              <a:spAutoFit/>
            </a:bodyPr>
            <a:lstStyle/>
            <a:p>
              <a:pPr lvl="0" indent="0" algn="ctr">
                <a:spcBef>
                  <a:spcPct val="50000"/>
                </a:spcBef>
              </a:pPr>
              <a:r>
                <a:rPr lang="zh-CN" altLang="en-US" sz="2800" dirty="0">
                  <a:solidFill>
                    <a:srgbClr val="A50021"/>
                  </a:solidFill>
                  <a:latin typeface="宋体" panose="02010600030101010101" pitchFamily="2" charset="-122"/>
                  <a:ea typeface="宋体" panose="02010600030101010101" pitchFamily="2" charset="-122"/>
                  <a:sym typeface="Wingdings" panose="05000000000000000000" pitchFamily="2" charset="2"/>
                </a:rPr>
                <a:t>读脏数据图示一</a:t>
              </a:r>
              <a:endParaRPr lang="zh-CN" altLang="en-US" sz="2800" dirty="0">
                <a:solidFill>
                  <a:srgbClr val="A50021"/>
                </a:solidFill>
                <a:latin typeface="宋体" panose="02010600030101010101" pitchFamily="2" charset="-122"/>
                <a:ea typeface="宋体" panose="02010600030101010101" pitchFamily="2" charset="-122"/>
                <a:sym typeface="Wingdings" panose="05000000000000000000" pitchFamily="2" charset="2"/>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530225" y="1416050"/>
            <a:ext cx="8303895" cy="4631690"/>
            <a:chOff x="660" y="2258"/>
            <a:chExt cx="13428" cy="7557"/>
          </a:xfrm>
        </p:grpSpPr>
        <p:sp>
          <p:nvSpPr>
            <p:cNvPr id="95235" name="AutoShape 3"/>
            <p:cNvSpPr>
              <a:spLocks noChangeAspect="1" noTextEdit="1"/>
            </p:cNvSpPr>
            <p:nvPr/>
          </p:nvSpPr>
          <p:spPr>
            <a:xfrm>
              <a:off x="660" y="2258"/>
              <a:ext cx="13428" cy="7557"/>
            </a:xfrm>
            <a:prstGeom prst="rect">
              <a:avLst/>
            </a:prstGeom>
            <a:solidFill>
              <a:schemeClr val="bg1"/>
            </a:solidFill>
            <a:ln w="9525">
              <a:noFill/>
            </a:ln>
          </p:spPr>
          <p:txBody>
            <a:bodyPr anchor="t"/>
            <a:lstStyle/>
            <a:p>
              <a:pPr lvl="0" indent="0"/>
              <a:endParaRPr lang="zh-CN" altLang="en-US">
                <a:latin typeface="Arial" panose="020B0604020202020204" pitchFamily="34" charset="0"/>
                <a:ea typeface="宋体" panose="02010600030101010101" pitchFamily="2" charset="-122"/>
              </a:endParaRPr>
            </a:p>
          </p:txBody>
        </p:sp>
        <p:sp>
          <p:nvSpPr>
            <p:cNvPr id="98309" name="AutoShape 4"/>
            <p:cNvSpPr/>
            <p:nvPr/>
          </p:nvSpPr>
          <p:spPr>
            <a:xfrm>
              <a:off x="6508" y="2259"/>
              <a:ext cx="7110" cy="7393"/>
            </a:xfrm>
            <a:prstGeom prst="roundRect">
              <a:avLst>
                <a:gd name="adj" fmla="val 16667"/>
              </a:avLst>
            </a:prstGeom>
            <a:solidFill>
              <a:srgbClr val="CCFFFF">
                <a:alpha val="62999"/>
              </a:srgbClr>
            </a:solidFill>
            <a:ln w="9525" cap="flat" cmpd="sng">
              <a:solidFill>
                <a:schemeClr val="tx1"/>
              </a:solidFill>
              <a:prstDash val="solid"/>
              <a:round/>
              <a:headEnd type="none" w="med" len="med"/>
              <a:tailEnd type="none" w="med" len="med"/>
            </a:ln>
          </p:spPr>
          <p:txBody>
            <a:bodyPr wrap="none" lIns="90000" tIns="46800" rIns="90000" bIns="46800" anchor="ctr"/>
            <a:lstStyle/>
            <a:p>
              <a:pPr lvl="0" indent="0"/>
              <a:endParaRPr lang="zh-CN" altLang="en-US" dirty="0">
                <a:latin typeface="Arial" panose="020B0604020202020204" pitchFamily="34" charset="0"/>
                <a:ea typeface="宋体" panose="02010600030101010101" pitchFamily="2" charset="-122"/>
              </a:endParaRPr>
            </a:p>
          </p:txBody>
        </p:sp>
        <p:sp>
          <p:nvSpPr>
            <p:cNvPr id="95237" name="Text Box 5"/>
            <p:cNvSpPr txBox="1"/>
            <p:nvPr/>
          </p:nvSpPr>
          <p:spPr>
            <a:xfrm>
              <a:off x="1058" y="9123"/>
              <a:ext cx="5302" cy="601"/>
            </a:xfrm>
            <a:prstGeom prst="rect">
              <a:avLst/>
            </a:prstGeom>
            <a:noFill/>
            <a:ln w="9525">
              <a:noFill/>
            </a:ln>
          </p:spPr>
          <p:txBody>
            <a:bodyPr anchor="t">
              <a:spAutoFit/>
            </a:bodyPr>
            <a:lstStyle/>
            <a:p>
              <a:pPr lvl="0" indent="0" algn="ctr">
                <a:spcBef>
                  <a:spcPct val="50000"/>
                </a:spcBef>
              </a:pPr>
              <a:r>
                <a:rPr lang="zh-CN" altLang="en-US" dirty="0">
                  <a:solidFill>
                    <a:srgbClr val="A50021"/>
                  </a:solidFill>
                  <a:latin typeface="宋体" panose="02010600030101010101" pitchFamily="2" charset="-122"/>
                  <a:ea typeface="宋体" panose="02010600030101010101" pitchFamily="2" charset="-122"/>
                  <a:sym typeface="Wingdings" panose="05000000000000000000" pitchFamily="2" charset="2"/>
                </a:rPr>
                <a:t>读脏数据图示二</a:t>
              </a:r>
              <a:endParaRPr lang="zh-CN" altLang="en-US" dirty="0">
                <a:solidFill>
                  <a:srgbClr val="A50021"/>
                </a:solidFill>
                <a:latin typeface="宋体" panose="02010600030101010101" pitchFamily="2" charset="-122"/>
                <a:ea typeface="宋体" panose="02010600030101010101" pitchFamily="2" charset="-122"/>
                <a:sym typeface="Wingdings" panose="05000000000000000000" pitchFamily="2" charset="2"/>
              </a:endParaRPr>
            </a:p>
          </p:txBody>
        </p:sp>
        <p:sp>
          <p:nvSpPr>
            <p:cNvPr id="95238" name="Rectangle 7"/>
            <p:cNvSpPr/>
            <p:nvPr/>
          </p:nvSpPr>
          <p:spPr>
            <a:xfrm>
              <a:off x="2185" y="2700"/>
              <a:ext cx="760" cy="452"/>
            </a:xfrm>
            <a:prstGeom prst="rect">
              <a:avLst/>
            </a:prstGeom>
            <a:noFill/>
            <a:ln w="9525">
              <a:noFill/>
            </a:ln>
          </p:spPr>
          <p:txBody>
            <a:bodyPr wrap="square" lIns="0" tIns="0" rIns="0" bIns="0" anchor="t">
              <a:spAutoFit/>
            </a:bodyPr>
            <a:lstStyle/>
            <a:p>
              <a:pPr lvl="0" indent="0"/>
              <a:r>
                <a:rPr lang="zh-CN" altLang="en-US" dirty="0">
                  <a:solidFill>
                    <a:srgbClr val="000000"/>
                  </a:solidFill>
                  <a:latin typeface="宋体" panose="02010600030101010101" pitchFamily="2" charset="-122"/>
                  <a:ea typeface="宋体" panose="02010600030101010101" pitchFamily="2" charset="-122"/>
                </a:rPr>
                <a:t>事务</a:t>
              </a:r>
              <a:endParaRPr lang="zh-CN" altLang="en-US" dirty="0">
                <a:solidFill>
                  <a:srgbClr val="000000"/>
                </a:solidFill>
                <a:latin typeface="宋体" panose="02010600030101010101" pitchFamily="2" charset="-122"/>
                <a:ea typeface="宋体" panose="02010600030101010101" pitchFamily="2" charset="-122"/>
              </a:endParaRPr>
            </a:p>
          </p:txBody>
        </p:sp>
        <p:sp>
          <p:nvSpPr>
            <p:cNvPr id="95239" name="Rectangle 8"/>
            <p:cNvSpPr/>
            <p:nvPr/>
          </p:nvSpPr>
          <p:spPr>
            <a:xfrm>
              <a:off x="3055" y="2688"/>
              <a:ext cx="708" cy="452"/>
            </a:xfrm>
            <a:prstGeom prst="rect">
              <a:avLst/>
            </a:prstGeom>
            <a:noFill/>
            <a:ln w="9525">
              <a:noFill/>
            </a:ln>
          </p:spPr>
          <p:txBody>
            <a:bodyPr wrap="square" lIns="0" tIns="0" rIns="0" bIns="0" anchor="t">
              <a:spAutoFit/>
            </a:bodyPr>
            <a:lstStyle/>
            <a:p>
              <a:pPr lvl="0" indent="0"/>
              <a:r>
                <a:rPr lang="en-US" altLang="x-none" dirty="0">
                  <a:solidFill>
                    <a:srgbClr val="000000"/>
                  </a:solidFill>
                  <a:latin typeface="Times New Roman" panose="02020603050405020304" pitchFamily="2" charset="0"/>
                  <a:ea typeface="宋体" panose="02010600030101010101" pitchFamily="2" charset="-122"/>
                </a:rPr>
                <a:t>T1   </a:t>
              </a:r>
              <a:endParaRPr lang="en-US" altLang="x-none" dirty="0">
                <a:solidFill>
                  <a:srgbClr val="000000"/>
                </a:solidFill>
                <a:latin typeface="Times New Roman" panose="02020603050405020304" pitchFamily="2" charset="0"/>
                <a:ea typeface="宋体" panose="02010600030101010101" pitchFamily="2" charset="-122"/>
              </a:endParaRPr>
            </a:p>
          </p:txBody>
        </p:sp>
        <p:sp>
          <p:nvSpPr>
            <p:cNvPr id="95240" name="Rectangle 9"/>
            <p:cNvSpPr/>
            <p:nvPr/>
          </p:nvSpPr>
          <p:spPr>
            <a:xfrm>
              <a:off x="4068" y="2700"/>
              <a:ext cx="760" cy="452"/>
            </a:xfrm>
            <a:prstGeom prst="rect">
              <a:avLst/>
            </a:prstGeom>
            <a:noFill/>
            <a:ln w="9525">
              <a:noFill/>
            </a:ln>
          </p:spPr>
          <p:txBody>
            <a:bodyPr wrap="square" lIns="0" tIns="0" rIns="0" bIns="0" anchor="t">
              <a:spAutoFit/>
            </a:bodyPr>
            <a:lstStyle/>
            <a:p>
              <a:pPr lvl="0" indent="0"/>
              <a:r>
                <a:rPr lang="zh-CN" altLang="en-US" dirty="0">
                  <a:solidFill>
                    <a:srgbClr val="000000"/>
                  </a:solidFill>
                  <a:latin typeface="宋体" panose="02010600030101010101" pitchFamily="2" charset="-122"/>
                  <a:ea typeface="宋体" panose="02010600030101010101" pitchFamily="2" charset="-122"/>
                </a:rPr>
                <a:t>事务</a:t>
              </a:r>
              <a:endParaRPr lang="zh-CN" altLang="en-US" dirty="0">
                <a:solidFill>
                  <a:srgbClr val="000000"/>
                </a:solidFill>
                <a:latin typeface="宋体" panose="02010600030101010101" pitchFamily="2" charset="-122"/>
                <a:ea typeface="宋体" panose="02010600030101010101" pitchFamily="2" charset="-122"/>
              </a:endParaRPr>
            </a:p>
          </p:txBody>
        </p:sp>
        <p:sp>
          <p:nvSpPr>
            <p:cNvPr id="95241" name="Rectangle 10"/>
            <p:cNvSpPr/>
            <p:nvPr/>
          </p:nvSpPr>
          <p:spPr>
            <a:xfrm>
              <a:off x="4940" y="2688"/>
              <a:ext cx="423" cy="904"/>
            </a:xfrm>
            <a:prstGeom prst="rect">
              <a:avLst/>
            </a:prstGeom>
            <a:noFill/>
            <a:ln w="9525">
              <a:noFill/>
            </a:ln>
          </p:spPr>
          <p:txBody>
            <a:bodyPr wrap="square" lIns="0" tIns="0" rIns="0" bIns="0" anchor="t">
              <a:spAutoFit/>
            </a:bodyPr>
            <a:lstStyle/>
            <a:p>
              <a:pPr lvl="0" indent="0"/>
              <a:r>
                <a:rPr lang="en-US" altLang="x-none" dirty="0">
                  <a:solidFill>
                    <a:srgbClr val="000000"/>
                  </a:solidFill>
                  <a:latin typeface="Times New Roman" panose="02020603050405020304" pitchFamily="2" charset="0"/>
                  <a:ea typeface="宋体" panose="02010600030101010101" pitchFamily="2" charset="-122"/>
                </a:rPr>
                <a:t>T2</a:t>
              </a:r>
              <a:endParaRPr lang="en-US" altLang="x-none" dirty="0">
                <a:solidFill>
                  <a:srgbClr val="000000"/>
                </a:solidFill>
                <a:latin typeface="Times New Roman" panose="02020603050405020304" pitchFamily="2" charset="0"/>
                <a:ea typeface="宋体" panose="02010600030101010101" pitchFamily="2" charset="-122"/>
              </a:endParaRPr>
            </a:p>
          </p:txBody>
        </p:sp>
        <p:sp>
          <p:nvSpPr>
            <p:cNvPr id="95242" name="Rectangle 11"/>
            <p:cNvSpPr/>
            <p:nvPr/>
          </p:nvSpPr>
          <p:spPr>
            <a:xfrm>
              <a:off x="5370" y="2688"/>
              <a:ext cx="95" cy="452"/>
            </a:xfrm>
            <a:prstGeom prst="rect">
              <a:avLst/>
            </a:prstGeom>
            <a:noFill/>
            <a:ln w="9525">
              <a:noFill/>
            </a:ln>
          </p:spPr>
          <p:txBody>
            <a:bodyPr wrap="square" lIns="0" tIns="0" rIns="0" bIns="0" anchor="t">
              <a:spAutoFit/>
            </a:bodyPr>
            <a:lstStyle/>
            <a:p>
              <a:pPr lvl="0" indent="0"/>
              <a:r>
                <a:rPr lang="en-US" altLang="x-none" dirty="0">
                  <a:solidFill>
                    <a:srgbClr val="000000"/>
                  </a:solidFill>
                  <a:latin typeface="Times New Roman" panose="02020603050405020304" pitchFamily="2" charset="0"/>
                  <a:ea typeface="宋体" panose="02010600030101010101" pitchFamily="2" charset="-122"/>
                </a:rPr>
                <a:t> </a:t>
              </a:r>
              <a:endParaRPr lang="en-US" altLang="x-none" dirty="0">
                <a:solidFill>
                  <a:srgbClr val="000000"/>
                </a:solidFill>
                <a:latin typeface="Times New Roman" panose="02020603050405020304" pitchFamily="2" charset="0"/>
                <a:ea typeface="宋体" panose="02010600030101010101" pitchFamily="2" charset="-122"/>
              </a:endParaRPr>
            </a:p>
          </p:txBody>
        </p:sp>
        <p:sp>
          <p:nvSpPr>
            <p:cNvPr id="95243" name="Rectangle 12"/>
            <p:cNvSpPr/>
            <p:nvPr/>
          </p:nvSpPr>
          <p:spPr>
            <a:xfrm>
              <a:off x="2270" y="3445"/>
              <a:ext cx="1255" cy="452"/>
            </a:xfrm>
            <a:prstGeom prst="rect">
              <a:avLst/>
            </a:prstGeom>
            <a:noFill/>
            <a:ln w="9525">
              <a:noFill/>
            </a:ln>
          </p:spPr>
          <p:txBody>
            <a:bodyPr lIns="0" tIns="0" rIns="0" bIns="0" anchor="t">
              <a:spAutoFit/>
            </a:bodyPr>
            <a:lstStyle/>
            <a:p>
              <a:pPr lvl="0" indent="0"/>
              <a:r>
                <a:rPr lang="en-US" altLang="x-none" dirty="0">
                  <a:latin typeface="Times New Roman" panose="02020603050405020304" pitchFamily="2" charset="0"/>
                  <a:ea typeface="宋体" panose="02010600030101010101" pitchFamily="2" charset="-122"/>
                </a:rPr>
                <a:t>R(A)</a:t>
              </a:r>
              <a:endParaRPr lang="en-US" altLang="x-none" dirty="0">
                <a:latin typeface="Times New Roman" panose="02020603050405020304" pitchFamily="2" charset="0"/>
                <a:ea typeface="宋体" panose="02010600030101010101" pitchFamily="2" charset="-122"/>
              </a:endParaRPr>
            </a:p>
          </p:txBody>
        </p:sp>
        <p:sp>
          <p:nvSpPr>
            <p:cNvPr id="95244" name="Rectangle 13"/>
            <p:cNvSpPr/>
            <p:nvPr/>
          </p:nvSpPr>
          <p:spPr>
            <a:xfrm>
              <a:off x="3280" y="3973"/>
              <a:ext cx="95" cy="452"/>
            </a:xfrm>
            <a:prstGeom prst="rect">
              <a:avLst/>
            </a:prstGeom>
            <a:noFill/>
            <a:ln w="9525">
              <a:noFill/>
            </a:ln>
          </p:spPr>
          <p:txBody>
            <a:bodyPr wrap="square" lIns="0" tIns="0" rIns="0" bIns="0" anchor="t">
              <a:spAutoFit/>
            </a:bodyPr>
            <a:lstStyle/>
            <a:p>
              <a:pPr lvl="0" indent="0"/>
              <a:r>
                <a:rPr lang="en-US" altLang="x-none" dirty="0">
                  <a:solidFill>
                    <a:srgbClr val="000000"/>
                  </a:solidFill>
                  <a:latin typeface="Times New Roman" panose="02020603050405020304" pitchFamily="2" charset="0"/>
                  <a:ea typeface="宋体" panose="02010600030101010101" pitchFamily="2" charset="-122"/>
                </a:rPr>
                <a:t> </a:t>
              </a:r>
              <a:endParaRPr lang="en-US" altLang="x-none" dirty="0">
                <a:solidFill>
                  <a:srgbClr val="000000"/>
                </a:solidFill>
                <a:latin typeface="Times New Roman" panose="02020603050405020304" pitchFamily="2" charset="0"/>
                <a:ea typeface="宋体" panose="02010600030101010101" pitchFamily="2" charset="-122"/>
              </a:endParaRPr>
            </a:p>
          </p:txBody>
        </p:sp>
        <p:sp>
          <p:nvSpPr>
            <p:cNvPr id="95245" name="Rectangle 14"/>
            <p:cNvSpPr/>
            <p:nvPr/>
          </p:nvSpPr>
          <p:spPr>
            <a:xfrm>
              <a:off x="2573" y="4620"/>
              <a:ext cx="665" cy="452"/>
            </a:xfrm>
            <a:prstGeom prst="rect">
              <a:avLst/>
            </a:prstGeom>
            <a:noFill/>
            <a:ln w="9525">
              <a:noFill/>
            </a:ln>
          </p:spPr>
          <p:txBody>
            <a:bodyPr wrap="square" lIns="0" tIns="0" rIns="0" bIns="0" anchor="t">
              <a:spAutoFit/>
            </a:bodyPr>
            <a:lstStyle/>
            <a:p>
              <a:pPr lvl="0" indent="0"/>
              <a:r>
                <a:rPr lang="en-US" altLang="x-none" dirty="0">
                  <a:solidFill>
                    <a:srgbClr val="000000"/>
                  </a:solidFill>
                  <a:latin typeface="Times New Roman" panose="02020603050405020304" pitchFamily="2" charset="0"/>
                  <a:ea typeface="宋体" panose="02010600030101010101" pitchFamily="2" charset="-122"/>
                </a:rPr>
                <a:t>       </a:t>
              </a:r>
              <a:endParaRPr lang="en-US" altLang="x-none" dirty="0">
                <a:solidFill>
                  <a:srgbClr val="000000"/>
                </a:solidFill>
                <a:latin typeface="Times New Roman" panose="02020603050405020304" pitchFamily="2" charset="0"/>
                <a:ea typeface="宋体" panose="02010600030101010101" pitchFamily="2" charset="-122"/>
              </a:endParaRPr>
            </a:p>
          </p:txBody>
        </p:sp>
        <p:sp>
          <p:nvSpPr>
            <p:cNvPr id="95246" name="Rectangle 15"/>
            <p:cNvSpPr/>
            <p:nvPr/>
          </p:nvSpPr>
          <p:spPr>
            <a:xfrm>
              <a:off x="3973" y="5148"/>
              <a:ext cx="1135" cy="452"/>
            </a:xfrm>
            <a:prstGeom prst="rect">
              <a:avLst/>
            </a:prstGeom>
            <a:noFill/>
            <a:ln w="9525">
              <a:noFill/>
            </a:ln>
          </p:spPr>
          <p:txBody>
            <a:bodyPr lIns="0" tIns="0" rIns="0" bIns="0" anchor="t">
              <a:spAutoFit/>
            </a:bodyPr>
            <a:lstStyle/>
            <a:p>
              <a:pPr lvl="0" indent="0"/>
              <a:r>
                <a:rPr lang="en-US" altLang="x-none" dirty="0">
                  <a:solidFill>
                    <a:srgbClr val="000000"/>
                  </a:solidFill>
                  <a:latin typeface="Times New Roman" panose="02020603050405020304" pitchFamily="2" charset="0"/>
                  <a:ea typeface="宋体" panose="02010600030101010101" pitchFamily="2" charset="-122"/>
                </a:rPr>
                <a:t> </a:t>
              </a:r>
              <a:r>
                <a:rPr lang="en-US" altLang="x-none" dirty="0">
                  <a:latin typeface="Times New Roman" panose="02020603050405020304" pitchFamily="2" charset="0"/>
                  <a:ea typeface="宋体" panose="02010600030101010101" pitchFamily="2" charset="-122"/>
                </a:rPr>
                <a:t>R(A)</a:t>
              </a:r>
              <a:endParaRPr lang="en-US" altLang="x-none" dirty="0">
                <a:latin typeface="宋体" panose="02010600030101010101" pitchFamily="2" charset="-122"/>
                <a:ea typeface="宋体" panose="02010600030101010101" pitchFamily="2" charset="-122"/>
              </a:endParaRPr>
            </a:p>
          </p:txBody>
        </p:sp>
        <p:sp>
          <p:nvSpPr>
            <p:cNvPr id="95247" name="Rectangle 16"/>
            <p:cNvSpPr/>
            <p:nvPr/>
          </p:nvSpPr>
          <p:spPr>
            <a:xfrm>
              <a:off x="2158" y="7075"/>
              <a:ext cx="1510" cy="452"/>
            </a:xfrm>
            <a:prstGeom prst="rect">
              <a:avLst/>
            </a:prstGeom>
            <a:noFill/>
            <a:ln w="9525">
              <a:noFill/>
            </a:ln>
          </p:spPr>
          <p:txBody>
            <a:bodyPr wrap="square" lIns="0" tIns="0" rIns="0" bIns="0" anchor="t">
              <a:spAutoFit/>
            </a:bodyPr>
            <a:lstStyle/>
            <a:p>
              <a:pPr lvl="0" indent="0"/>
              <a:r>
                <a:rPr lang="en-US" altLang="x-none" dirty="0">
                  <a:latin typeface="Times New Roman" panose="02020603050405020304" pitchFamily="2" charset="0"/>
                  <a:ea typeface="宋体" panose="02010600030101010101" pitchFamily="2" charset="-122"/>
                </a:rPr>
                <a:t>RollBack</a:t>
              </a:r>
              <a:endParaRPr lang="en-US" altLang="x-none" dirty="0">
                <a:latin typeface="Times New Roman" panose="02020603050405020304" pitchFamily="2" charset="0"/>
                <a:ea typeface="宋体" panose="02010600030101010101" pitchFamily="2" charset="-122"/>
              </a:endParaRPr>
            </a:p>
          </p:txBody>
        </p:sp>
        <p:sp>
          <p:nvSpPr>
            <p:cNvPr id="95248" name="Rectangle 17"/>
            <p:cNvSpPr/>
            <p:nvPr/>
          </p:nvSpPr>
          <p:spPr>
            <a:xfrm>
              <a:off x="3653" y="5265"/>
              <a:ext cx="95" cy="452"/>
            </a:xfrm>
            <a:prstGeom prst="rect">
              <a:avLst/>
            </a:prstGeom>
            <a:noFill/>
            <a:ln w="9525">
              <a:noFill/>
            </a:ln>
          </p:spPr>
          <p:txBody>
            <a:bodyPr wrap="square" lIns="0" tIns="0" rIns="0" bIns="0" anchor="t">
              <a:spAutoFit/>
            </a:bodyPr>
            <a:lstStyle/>
            <a:p>
              <a:pPr lvl="0" indent="0"/>
              <a:r>
                <a:rPr lang="en-US" altLang="x-none" dirty="0">
                  <a:solidFill>
                    <a:srgbClr val="000000"/>
                  </a:solidFill>
                  <a:latin typeface="Times New Roman" panose="02020603050405020304" pitchFamily="2" charset="0"/>
                  <a:ea typeface="宋体" panose="02010600030101010101" pitchFamily="2" charset="-122"/>
                </a:rPr>
                <a:t> </a:t>
              </a:r>
              <a:endParaRPr lang="en-US" altLang="x-none" dirty="0">
                <a:solidFill>
                  <a:srgbClr val="000000"/>
                </a:solidFill>
                <a:latin typeface="Times New Roman" panose="02020603050405020304" pitchFamily="2" charset="0"/>
                <a:ea typeface="宋体" panose="02010600030101010101" pitchFamily="2" charset="-122"/>
              </a:endParaRPr>
            </a:p>
          </p:txBody>
        </p:sp>
        <p:sp>
          <p:nvSpPr>
            <p:cNvPr id="95249" name="Line 18"/>
            <p:cNvSpPr/>
            <p:nvPr/>
          </p:nvSpPr>
          <p:spPr>
            <a:xfrm>
              <a:off x="1873" y="3255"/>
              <a:ext cx="3605" cy="3"/>
            </a:xfrm>
            <a:prstGeom prst="line">
              <a:avLst/>
            </a:prstGeom>
            <a:ln w="20638" cap="flat" cmpd="sng">
              <a:solidFill>
                <a:srgbClr val="000000"/>
              </a:solidFill>
              <a:prstDash val="solid"/>
              <a:round/>
              <a:headEnd type="none" w="med" len="med"/>
              <a:tailEnd type="none" w="med" len="med"/>
            </a:ln>
          </p:spPr>
        </p:sp>
        <p:sp>
          <p:nvSpPr>
            <p:cNvPr id="95250" name="Line 19"/>
            <p:cNvSpPr/>
            <p:nvPr/>
          </p:nvSpPr>
          <p:spPr>
            <a:xfrm>
              <a:off x="3810" y="2725"/>
              <a:ext cx="3" cy="4888"/>
            </a:xfrm>
            <a:prstGeom prst="line">
              <a:avLst/>
            </a:prstGeom>
            <a:ln w="20638" cap="flat" cmpd="sng">
              <a:solidFill>
                <a:srgbClr val="000000"/>
              </a:solidFill>
              <a:prstDash val="solid"/>
              <a:round/>
              <a:headEnd type="none" w="med" len="med"/>
              <a:tailEnd type="none" w="med" len="med"/>
            </a:ln>
          </p:spPr>
        </p:sp>
        <p:sp>
          <p:nvSpPr>
            <p:cNvPr id="95251" name="Freeform 21"/>
            <p:cNvSpPr>
              <a:spLocks noEditPoints="1"/>
            </p:cNvSpPr>
            <p:nvPr/>
          </p:nvSpPr>
          <p:spPr>
            <a:xfrm>
              <a:off x="1530" y="3270"/>
              <a:ext cx="175" cy="4365"/>
            </a:xfrm>
            <a:custGeom>
              <a:avLst/>
              <a:gdLst/>
              <a:ahLst/>
              <a:cxnLst>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0"/>
                </a:cxn>
                <a:cxn ang="0">
                  <a:pos x="2147483647" y="0"/>
                </a:cxn>
                <a:cxn ang="0">
                  <a:pos x="2147483647" y="0"/>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0" y="2147483647"/>
                </a:cxn>
                <a:cxn ang="0">
                  <a:pos x="2147483647" y="2147483647"/>
                </a:cxn>
              </a:cxnLst>
              <a:rect l="0" t="0" r="0" b="0"/>
              <a:pathLst>
                <a:path w="70" h="3492">
                  <a:moveTo>
                    <a:pt x="37" y="4"/>
                  </a:moveTo>
                  <a:lnTo>
                    <a:pt x="37" y="3424"/>
                  </a:lnTo>
                  <a:lnTo>
                    <a:pt x="37" y="3426"/>
                  </a:lnTo>
                  <a:lnTo>
                    <a:pt x="37" y="3428"/>
                  </a:lnTo>
                  <a:lnTo>
                    <a:pt x="36" y="3428"/>
                  </a:lnTo>
                  <a:lnTo>
                    <a:pt x="35" y="3428"/>
                  </a:lnTo>
                  <a:lnTo>
                    <a:pt x="34" y="3428"/>
                  </a:lnTo>
                  <a:lnTo>
                    <a:pt x="33" y="3426"/>
                  </a:lnTo>
                  <a:lnTo>
                    <a:pt x="33" y="3424"/>
                  </a:lnTo>
                  <a:lnTo>
                    <a:pt x="33" y="4"/>
                  </a:lnTo>
                  <a:lnTo>
                    <a:pt x="33" y="2"/>
                  </a:lnTo>
                  <a:lnTo>
                    <a:pt x="34" y="2"/>
                  </a:lnTo>
                  <a:lnTo>
                    <a:pt x="34" y="0"/>
                  </a:lnTo>
                  <a:lnTo>
                    <a:pt x="35" y="0"/>
                  </a:lnTo>
                  <a:lnTo>
                    <a:pt x="36" y="0"/>
                  </a:lnTo>
                  <a:lnTo>
                    <a:pt x="37" y="2"/>
                  </a:lnTo>
                  <a:lnTo>
                    <a:pt x="37" y="4"/>
                  </a:lnTo>
                  <a:close/>
                  <a:moveTo>
                    <a:pt x="35" y="3424"/>
                  </a:moveTo>
                  <a:lnTo>
                    <a:pt x="70" y="3359"/>
                  </a:lnTo>
                  <a:lnTo>
                    <a:pt x="35" y="3492"/>
                  </a:lnTo>
                  <a:lnTo>
                    <a:pt x="0" y="3359"/>
                  </a:lnTo>
                  <a:lnTo>
                    <a:pt x="35" y="3424"/>
                  </a:lnTo>
                  <a:close/>
                </a:path>
              </a:pathLst>
            </a:custGeom>
            <a:solidFill>
              <a:srgbClr val="000000"/>
            </a:solidFill>
            <a:ln w="1588" cap="flat" cmpd="sng">
              <a:solidFill>
                <a:srgbClr val="000000"/>
              </a:solidFill>
              <a:prstDash val="solid"/>
              <a:miter/>
              <a:headEnd type="none" w="med" len="med"/>
              <a:tailEnd type="none" w="med" len="med"/>
            </a:ln>
          </p:spPr>
          <p:txBody>
            <a:bodyPr/>
            <a:lstStyle/>
            <a:p>
              <a:endParaRPr lang="zh-CN" altLang="en-US"/>
            </a:p>
          </p:txBody>
        </p:sp>
        <p:sp>
          <p:nvSpPr>
            <p:cNvPr id="95252" name="Rectangle 22"/>
            <p:cNvSpPr/>
            <p:nvPr/>
          </p:nvSpPr>
          <p:spPr>
            <a:xfrm rot="5400000">
              <a:off x="-340" y="6123"/>
              <a:ext cx="2880" cy="448"/>
            </a:xfrm>
            <a:prstGeom prst="rect">
              <a:avLst/>
            </a:prstGeom>
            <a:noFill/>
            <a:ln w="9525">
              <a:noFill/>
            </a:ln>
          </p:spPr>
          <p:txBody>
            <a:bodyPr wrap="square" lIns="0" tIns="0" rIns="0" bIns="0" anchor="t">
              <a:spAutoFit/>
            </a:bodyPr>
            <a:lstStyle/>
            <a:p>
              <a:pPr lvl="0" indent="0"/>
              <a:r>
                <a:rPr lang="zh-CN" altLang="en-US" dirty="0">
                  <a:solidFill>
                    <a:srgbClr val="000000"/>
                  </a:solidFill>
                  <a:latin typeface="宋体" panose="02010600030101010101" pitchFamily="2" charset="-122"/>
                  <a:ea typeface="宋体" panose="02010600030101010101" pitchFamily="2" charset="-122"/>
                </a:rPr>
                <a:t>操作执行次序</a:t>
              </a:r>
              <a:endParaRPr lang="zh-CN" altLang="en-US" dirty="0">
                <a:solidFill>
                  <a:srgbClr val="000000"/>
                </a:solidFill>
                <a:latin typeface="宋体" panose="02010600030101010101" pitchFamily="2" charset="-122"/>
                <a:ea typeface="宋体" panose="02010600030101010101" pitchFamily="2" charset="-122"/>
              </a:endParaRPr>
            </a:p>
          </p:txBody>
        </p:sp>
        <p:sp>
          <p:nvSpPr>
            <p:cNvPr id="95253" name="Rectangle 23"/>
            <p:cNvSpPr/>
            <p:nvPr/>
          </p:nvSpPr>
          <p:spPr>
            <a:xfrm>
              <a:off x="7693" y="2365"/>
              <a:ext cx="760" cy="452"/>
            </a:xfrm>
            <a:prstGeom prst="rect">
              <a:avLst/>
            </a:prstGeom>
            <a:noFill/>
            <a:ln w="9525">
              <a:noFill/>
            </a:ln>
          </p:spPr>
          <p:txBody>
            <a:bodyPr wrap="square" lIns="0" tIns="0" rIns="0" bIns="0" anchor="t">
              <a:spAutoFit/>
            </a:bodyPr>
            <a:lstStyle/>
            <a:p>
              <a:pPr lvl="0" indent="0"/>
              <a:r>
                <a:rPr lang="zh-CN" altLang="en-US" dirty="0">
                  <a:solidFill>
                    <a:srgbClr val="000000"/>
                  </a:solidFill>
                  <a:latin typeface="宋体" panose="02010600030101010101" pitchFamily="2" charset="-122"/>
                  <a:ea typeface="宋体" panose="02010600030101010101" pitchFamily="2" charset="-122"/>
                </a:rPr>
                <a:t>事务</a:t>
              </a:r>
              <a:endParaRPr lang="zh-CN" altLang="en-US" dirty="0">
                <a:solidFill>
                  <a:srgbClr val="000000"/>
                </a:solidFill>
                <a:latin typeface="宋体" panose="02010600030101010101" pitchFamily="2" charset="-122"/>
                <a:ea typeface="宋体" panose="02010600030101010101" pitchFamily="2" charset="-122"/>
              </a:endParaRPr>
            </a:p>
          </p:txBody>
        </p:sp>
        <p:sp>
          <p:nvSpPr>
            <p:cNvPr id="95254" name="Rectangle 24"/>
            <p:cNvSpPr/>
            <p:nvPr/>
          </p:nvSpPr>
          <p:spPr>
            <a:xfrm>
              <a:off x="8563" y="2353"/>
              <a:ext cx="707" cy="452"/>
            </a:xfrm>
            <a:prstGeom prst="rect">
              <a:avLst/>
            </a:prstGeom>
            <a:noFill/>
            <a:ln w="9525">
              <a:noFill/>
            </a:ln>
          </p:spPr>
          <p:txBody>
            <a:bodyPr wrap="square" lIns="0" tIns="0" rIns="0" bIns="0" anchor="t">
              <a:spAutoFit/>
            </a:bodyPr>
            <a:lstStyle/>
            <a:p>
              <a:pPr lvl="0" indent="0"/>
              <a:r>
                <a:rPr lang="en-US" altLang="x-none" dirty="0">
                  <a:solidFill>
                    <a:srgbClr val="000000"/>
                  </a:solidFill>
                  <a:latin typeface="Times New Roman" panose="02020603050405020304" pitchFamily="2" charset="0"/>
                  <a:ea typeface="宋体" panose="02010600030101010101" pitchFamily="2" charset="-122"/>
                </a:rPr>
                <a:t>T1   </a:t>
              </a:r>
              <a:endParaRPr lang="en-US" altLang="x-none" dirty="0">
                <a:solidFill>
                  <a:srgbClr val="000000"/>
                </a:solidFill>
                <a:latin typeface="Times New Roman" panose="02020603050405020304" pitchFamily="2" charset="0"/>
                <a:ea typeface="宋体" panose="02010600030101010101" pitchFamily="2" charset="-122"/>
              </a:endParaRPr>
            </a:p>
          </p:txBody>
        </p:sp>
        <p:sp>
          <p:nvSpPr>
            <p:cNvPr id="95255" name="Rectangle 25"/>
            <p:cNvSpPr/>
            <p:nvPr/>
          </p:nvSpPr>
          <p:spPr>
            <a:xfrm>
              <a:off x="10350" y="2365"/>
              <a:ext cx="760" cy="452"/>
            </a:xfrm>
            <a:prstGeom prst="rect">
              <a:avLst/>
            </a:prstGeom>
            <a:noFill/>
            <a:ln w="9525">
              <a:noFill/>
            </a:ln>
          </p:spPr>
          <p:txBody>
            <a:bodyPr wrap="square" lIns="0" tIns="0" rIns="0" bIns="0" anchor="t">
              <a:spAutoFit/>
            </a:bodyPr>
            <a:lstStyle/>
            <a:p>
              <a:pPr lvl="0" indent="0"/>
              <a:r>
                <a:rPr lang="zh-CN" altLang="en-US" dirty="0">
                  <a:solidFill>
                    <a:srgbClr val="000000"/>
                  </a:solidFill>
                  <a:latin typeface="宋体" panose="02010600030101010101" pitchFamily="2" charset="-122"/>
                  <a:ea typeface="宋体" panose="02010600030101010101" pitchFamily="2" charset="-122"/>
                </a:rPr>
                <a:t>事务</a:t>
              </a:r>
              <a:endParaRPr lang="zh-CN" altLang="en-US" dirty="0">
                <a:solidFill>
                  <a:srgbClr val="000000"/>
                </a:solidFill>
                <a:latin typeface="宋体" panose="02010600030101010101" pitchFamily="2" charset="-122"/>
                <a:ea typeface="宋体" panose="02010600030101010101" pitchFamily="2" charset="-122"/>
              </a:endParaRPr>
            </a:p>
          </p:txBody>
        </p:sp>
        <p:sp>
          <p:nvSpPr>
            <p:cNvPr id="95256" name="Rectangle 26"/>
            <p:cNvSpPr/>
            <p:nvPr/>
          </p:nvSpPr>
          <p:spPr>
            <a:xfrm>
              <a:off x="11220" y="2353"/>
              <a:ext cx="530" cy="452"/>
            </a:xfrm>
            <a:prstGeom prst="rect">
              <a:avLst/>
            </a:prstGeom>
            <a:noFill/>
            <a:ln w="9525">
              <a:noFill/>
            </a:ln>
          </p:spPr>
          <p:txBody>
            <a:bodyPr wrap="square" lIns="0" tIns="0" rIns="0" bIns="0" anchor="t">
              <a:spAutoFit/>
            </a:bodyPr>
            <a:lstStyle/>
            <a:p>
              <a:pPr lvl="0" indent="0"/>
              <a:r>
                <a:rPr lang="en-US" altLang="x-none" dirty="0">
                  <a:solidFill>
                    <a:srgbClr val="000000"/>
                  </a:solidFill>
                  <a:latin typeface="Times New Roman" panose="02020603050405020304" pitchFamily="2" charset="0"/>
                  <a:ea typeface="宋体" panose="02010600030101010101" pitchFamily="2" charset="-122"/>
                </a:rPr>
                <a:t>T2</a:t>
              </a:r>
              <a:endParaRPr lang="en-US" altLang="x-none" dirty="0">
                <a:solidFill>
                  <a:srgbClr val="000000"/>
                </a:solidFill>
                <a:latin typeface="Times New Roman" panose="02020603050405020304" pitchFamily="2" charset="0"/>
                <a:ea typeface="宋体" panose="02010600030101010101" pitchFamily="2" charset="-122"/>
              </a:endParaRPr>
            </a:p>
          </p:txBody>
        </p:sp>
        <p:sp>
          <p:nvSpPr>
            <p:cNvPr id="95257" name="Rectangle 27"/>
            <p:cNvSpPr/>
            <p:nvPr/>
          </p:nvSpPr>
          <p:spPr>
            <a:xfrm>
              <a:off x="11653" y="2353"/>
              <a:ext cx="95" cy="452"/>
            </a:xfrm>
            <a:prstGeom prst="rect">
              <a:avLst/>
            </a:prstGeom>
            <a:noFill/>
            <a:ln w="9525">
              <a:noFill/>
            </a:ln>
          </p:spPr>
          <p:txBody>
            <a:bodyPr wrap="square" lIns="0" tIns="0" rIns="0" bIns="0" anchor="t">
              <a:spAutoFit/>
            </a:bodyPr>
            <a:lstStyle/>
            <a:p>
              <a:pPr lvl="0" indent="0"/>
              <a:r>
                <a:rPr lang="en-US" altLang="x-none" dirty="0">
                  <a:solidFill>
                    <a:srgbClr val="000000"/>
                  </a:solidFill>
                  <a:latin typeface="Times New Roman" panose="02020603050405020304" pitchFamily="2" charset="0"/>
                  <a:ea typeface="宋体" panose="02010600030101010101" pitchFamily="2" charset="-122"/>
                </a:rPr>
                <a:t> </a:t>
              </a:r>
              <a:endParaRPr lang="en-US" altLang="x-none" dirty="0">
                <a:solidFill>
                  <a:srgbClr val="000000"/>
                </a:solidFill>
                <a:latin typeface="Times New Roman" panose="02020603050405020304" pitchFamily="2" charset="0"/>
                <a:ea typeface="宋体" panose="02010600030101010101" pitchFamily="2" charset="-122"/>
              </a:endParaRPr>
            </a:p>
          </p:txBody>
        </p:sp>
        <p:sp>
          <p:nvSpPr>
            <p:cNvPr id="95258" name="Rectangle 28"/>
            <p:cNvSpPr/>
            <p:nvPr/>
          </p:nvSpPr>
          <p:spPr>
            <a:xfrm>
              <a:off x="7065" y="3038"/>
              <a:ext cx="1633" cy="452"/>
            </a:xfrm>
            <a:prstGeom prst="rect">
              <a:avLst/>
            </a:prstGeom>
            <a:noFill/>
            <a:ln w="9525">
              <a:noFill/>
            </a:ln>
          </p:spPr>
          <p:txBody>
            <a:bodyPr wrap="square" lIns="0" tIns="0" rIns="0" bIns="0" anchor="t">
              <a:spAutoFit/>
            </a:bodyPr>
            <a:lstStyle/>
            <a:p>
              <a:pPr lvl="0" indent="0"/>
              <a:r>
                <a:rPr lang="en-US" altLang="x-none" dirty="0">
                  <a:latin typeface="Times New Roman" panose="02020603050405020304" pitchFamily="2" charset="0"/>
                  <a:ea typeface="宋体" panose="02010600030101010101" pitchFamily="2" charset="-122"/>
                </a:rPr>
                <a:t>R(A): 100</a:t>
              </a:r>
              <a:endParaRPr lang="en-US" altLang="x-none" dirty="0">
                <a:latin typeface="Times New Roman" panose="02020603050405020304" pitchFamily="2" charset="0"/>
                <a:ea typeface="宋体" panose="02010600030101010101" pitchFamily="2" charset="-122"/>
              </a:endParaRPr>
            </a:p>
          </p:txBody>
        </p:sp>
        <p:sp>
          <p:nvSpPr>
            <p:cNvPr id="95259" name="Rectangle 29"/>
            <p:cNvSpPr/>
            <p:nvPr/>
          </p:nvSpPr>
          <p:spPr>
            <a:xfrm>
              <a:off x="10468" y="4558"/>
              <a:ext cx="2030" cy="1355"/>
            </a:xfrm>
            <a:prstGeom prst="rect">
              <a:avLst/>
            </a:prstGeom>
            <a:noFill/>
            <a:ln w="9525">
              <a:noFill/>
            </a:ln>
          </p:spPr>
          <p:txBody>
            <a:bodyPr wrap="square" lIns="0" tIns="0" rIns="0" bIns="0" anchor="t">
              <a:spAutoFit/>
            </a:bodyPr>
            <a:lstStyle/>
            <a:p>
              <a:pPr lvl="0" indent="0"/>
              <a:r>
                <a:rPr lang="en-US" altLang="x-none" dirty="0">
                  <a:latin typeface="Times New Roman" panose="02020603050405020304" pitchFamily="2" charset="0"/>
                  <a:ea typeface="宋体" panose="02010600030101010101" pitchFamily="2" charset="-122"/>
                </a:rPr>
                <a:t>R(A): 70</a:t>
              </a:r>
              <a:endParaRPr lang="en-US" altLang="x-none" dirty="0">
                <a:latin typeface="Times New Roman" panose="02020603050405020304" pitchFamily="2" charset="0"/>
                <a:ea typeface="宋体" panose="02010600030101010101" pitchFamily="2" charset="-122"/>
              </a:endParaRPr>
            </a:p>
            <a:p>
              <a:pPr lvl="0" indent="0"/>
              <a:r>
                <a:rPr lang="en-US" altLang="x-none" dirty="0">
                  <a:latin typeface="Times New Roman" panose="02020603050405020304" pitchFamily="2" charset="0"/>
                  <a:ea typeface="宋体" panose="02010600030101010101" pitchFamily="2" charset="-122"/>
                </a:rPr>
                <a:t>A=A*2=140</a:t>
              </a:r>
              <a:endParaRPr lang="en-US" altLang="x-none" dirty="0">
                <a:latin typeface="Times New Roman" panose="02020603050405020304" pitchFamily="2" charset="0"/>
                <a:ea typeface="宋体" panose="02010600030101010101" pitchFamily="2" charset="-122"/>
              </a:endParaRPr>
            </a:p>
            <a:p>
              <a:pPr lvl="0" indent="0"/>
              <a:r>
                <a:rPr lang="en-US" altLang="x-none" dirty="0">
                  <a:latin typeface="Times New Roman" panose="02020603050405020304" pitchFamily="2" charset="0"/>
                  <a:ea typeface="宋体" panose="02010600030101010101" pitchFamily="2" charset="-122"/>
                </a:rPr>
                <a:t>W(A)</a:t>
              </a:r>
              <a:endParaRPr lang="en-US" altLang="x-none" dirty="0">
                <a:latin typeface="宋体" panose="02010600030101010101" pitchFamily="2" charset="-122"/>
                <a:ea typeface="宋体" panose="02010600030101010101" pitchFamily="2" charset="-122"/>
              </a:endParaRPr>
            </a:p>
          </p:txBody>
        </p:sp>
        <p:sp>
          <p:nvSpPr>
            <p:cNvPr id="95260" name="Rectangle 30"/>
            <p:cNvSpPr/>
            <p:nvPr/>
          </p:nvSpPr>
          <p:spPr>
            <a:xfrm>
              <a:off x="7180" y="6148"/>
              <a:ext cx="1815" cy="452"/>
            </a:xfrm>
            <a:prstGeom prst="rect">
              <a:avLst/>
            </a:prstGeom>
            <a:noFill/>
            <a:ln w="9525">
              <a:noFill/>
            </a:ln>
          </p:spPr>
          <p:txBody>
            <a:bodyPr lIns="0" tIns="0" rIns="0" bIns="0" anchor="t">
              <a:spAutoFit/>
            </a:bodyPr>
            <a:lstStyle/>
            <a:p>
              <a:pPr lvl="0" indent="0"/>
              <a:r>
                <a:rPr lang="en-US" altLang="x-none" dirty="0">
                  <a:latin typeface="Times New Roman" panose="02020603050405020304" pitchFamily="2" charset="0"/>
                  <a:ea typeface="宋体" panose="02010600030101010101" pitchFamily="2" charset="-122"/>
                </a:rPr>
                <a:t>RollBack</a:t>
              </a:r>
              <a:endParaRPr lang="en-US" altLang="x-none" dirty="0">
                <a:latin typeface="Times New Roman" panose="02020603050405020304" pitchFamily="2" charset="0"/>
                <a:ea typeface="宋体" panose="02010600030101010101" pitchFamily="2" charset="-122"/>
              </a:endParaRPr>
            </a:p>
          </p:txBody>
        </p:sp>
        <p:sp>
          <p:nvSpPr>
            <p:cNvPr id="95261" name="Rectangle 31"/>
            <p:cNvSpPr/>
            <p:nvPr/>
          </p:nvSpPr>
          <p:spPr>
            <a:xfrm>
              <a:off x="7180" y="7620"/>
              <a:ext cx="2608" cy="452"/>
            </a:xfrm>
            <a:prstGeom prst="rect">
              <a:avLst/>
            </a:prstGeom>
            <a:noFill/>
            <a:ln w="9525">
              <a:noFill/>
            </a:ln>
          </p:spPr>
          <p:txBody>
            <a:bodyPr lIns="0" tIns="0" rIns="0" bIns="0" anchor="t">
              <a:spAutoFit/>
            </a:bodyPr>
            <a:lstStyle/>
            <a:p>
              <a:pPr lvl="0" indent="0"/>
              <a:r>
                <a:rPr lang="en-US" altLang="x-none" dirty="0">
                  <a:latin typeface="Times New Roman" panose="02020603050405020304" pitchFamily="2" charset="0"/>
                  <a:ea typeface="宋体" panose="02010600030101010101" pitchFamily="2" charset="-122"/>
                </a:rPr>
                <a:t>A</a:t>
              </a:r>
              <a:r>
                <a:rPr lang="zh-CN" altLang="en-US" dirty="0">
                  <a:latin typeface="Times New Roman" panose="02020603050405020304" pitchFamily="2" charset="0"/>
                  <a:ea typeface="宋体" panose="02010600030101010101" pitchFamily="2" charset="-122"/>
                </a:rPr>
                <a:t>值恢复为</a:t>
              </a:r>
              <a:r>
                <a:rPr lang="en-US" altLang="x-none" dirty="0">
                  <a:latin typeface="Times New Roman" panose="02020603050405020304" pitchFamily="2" charset="0"/>
                  <a:ea typeface="宋体" panose="02010600030101010101" pitchFamily="2" charset="-122"/>
                </a:rPr>
                <a:t>100</a:t>
              </a:r>
              <a:endParaRPr lang="en-US" altLang="x-none" dirty="0">
                <a:latin typeface="Times New Roman" panose="02020603050405020304" pitchFamily="2" charset="0"/>
                <a:ea typeface="宋体" panose="02010600030101010101" pitchFamily="2" charset="-122"/>
              </a:endParaRPr>
            </a:p>
          </p:txBody>
        </p:sp>
        <p:sp>
          <p:nvSpPr>
            <p:cNvPr id="98335" name="Rectangle 32"/>
            <p:cNvSpPr/>
            <p:nvPr/>
          </p:nvSpPr>
          <p:spPr>
            <a:xfrm>
              <a:off x="10240" y="6373"/>
              <a:ext cx="3273" cy="1807"/>
            </a:xfrm>
            <a:prstGeom prst="rect">
              <a:avLst/>
            </a:prstGeom>
            <a:noFill/>
            <a:ln w="9525">
              <a:noFill/>
            </a:ln>
          </p:spPr>
          <p:txBody>
            <a:bodyPr lIns="0" tIns="0" rIns="0" bIns="0" anchor="t">
              <a:spAutoFit/>
            </a:bodyPr>
            <a:lstStyle/>
            <a:p>
              <a:pPr lvl="0" indent="0"/>
              <a:r>
                <a:rPr lang="en-US" altLang="x-none" dirty="0">
                  <a:solidFill>
                    <a:srgbClr val="000000"/>
                  </a:solidFill>
                  <a:latin typeface="宋体" panose="02010600030101010101" pitchFamily="2" charset="-122"/>
                  <a:ea typeface="宋体" panose="02010600030101010101" pitchFamily="2" charset="-122"/>
                </a:rPr>
                <a:t> </a:t>
              </a:r>
              <a:r>
                <a:rPr lang="en-US" altLang="x-none" dirty="0">
                  <a:latin typeface="宋体" panose="02010600030101010101" pitchFamily="2" charset="-122"/>
                  <a:ea typeface="宋体" panose="02010600030101010101" pitchFamily="2" charset="-122"/>
                </a:rPr>
                <a:t>T2</a:t>
              </a:r>
              <a:r>
                <a:rPr lang="zh-CN" altLang="en-US" dirty="0">
                  <a:latin typeface="宋体" panose="02010600030101010101" pitchFamily="2" charset="-122"/>
                  <a:ea typeface="宋体" panose="02010600030101010101" pitchFamily="2" charset="-122"/>
                </a:rPr>
                <a:t>既读了脏数据，又丢失了自己的更新操作。破坏了数据库完整性。</a:t>
              </a:r>
              <a:endParaRPr lang="zh-CN" altLang="en-US" dirty="0">
                <a:latin typeface="宋体" panose="02010600030101010101" pitchFamily="2" charset="-122"/>
                <a:ea typeface="宋体" panose="02010600030101010101" pitchFamily="2" charset="-122"/>
              </a:endParaRPr>
            </a:p>
          </p:txBody>
        </p:sp>
        <p:sp>
          <p:nvSpPr>
            <p:cNvPr id="95263" name="Line 33"/>
            <p:cNvSpPr/>
            <p:nvPr/>
          </p:nvSpPr>
          <p:spPr>
            <a:xfrm>
              <a:off x="6945" y="2968"/>
              <a:ext cx="6170" cy="2"/>
            </a:xfrm>
            <a:prstGeom prst="line">
              <a:avLst/>
            </a:prstGeom>
            <a:ln w="20638" cap="flat" cmpd="sng">
              <a:solidFill>
                <a:srgbClr val="000000"/>
              </a:solidFill>
              <a:prstDash val="solid"/>
              <a:round/>
              <a:headEnd type="none" w="med" len="med"/>
              <a:tailEnd type="none" w="med" len="med"/>
            </a:ln>
          </p:spPr>
        </p:sp>
        <p:sp>
          <p:nvSpPr>
            <p:cNvPr id="95264" name="Line 34"/>
            <p:cNvSpPr/>
            <p:nvPr/>
          </p:nvSpPr>
          <p:spPr>
            <a:xfrm>
              <a:off x="10025" y="2413"/>
              <a:ext cx="3" cy="6672"/>
            </a:xfrm>
            <a:prstGeom prst="line">
              <a:avLst/>
            </a:prstGeom>
            <a:ln w="20638" cap="flat" cmpd="sng">
              <a:solidFill>
                <a:srgbClr val="000000"/>
              </a:solidFill>
              <a:prstDash val="solid"/>
              <a:round/>
              <a:headEnd type="none" w="med" len="med"/>
              <a:tailEnd type="none" w="med" len="med"/>
            </a:ln>
          </p:spPr>
        </p:sp>
        <p:sp>
          <p:nvSpPr>
            <p:cNvPr id="95265" name="Rectangle 35"/>
            <p:cNvSpPr/>
            <p:nvPr/>
          </p:nvSpPr>
          <p:spPr>
            <a:xfrm>
              <a:off x="2270" y="8435"/>
              <a:ext cx="2143" cy="452"/>
            </a:xfrm>
            <a:prstGeom prst="rect">
              <a:avLst/>
            </a:prstGeom>
            <a:noFill/>
            <a:ln w="9525">
              <a:noFill/>
            </a:ln>
          </p:spPr>
          <p:txBody>
            <a:bodyPr wrap="square" lIns="0" tIns="0" rIns="0" bIns="0" anchor="t">
              <a:spAutoFit/>
            </a:bodyPr>
            <a:lstStyle/>
            <a:p>
              <a:pPr lvl="0" indent="0"/>
              <a:r>
                <a:rPr lang="en-US" altLang="x-none" dirty="0">
                  <a:latin typeface="Times New Roman" panose="02020603050405020304" pitchFamily="2" charset="0"/>
                  <a:ea typeface="宋体" panose="02010600030101010101" pitchFamily="2" charset="-122"/>
                </a:rPr>
                <a:t>(a) </a:t>
              </a:r>
              <a:r>
                <a:rPr lang="zh-CN" altLang="en-US" dirty="0">
                  <a:latin typeface="Times New Roman" panose="02020603050405020304" pitchFamily="2" charset="0"/>
                  <a:ea typeface="宋体" panose="02010600030101010101" pitchFamily="2" charset="-122"/>
                </a:rPr>
                <a:t>事务调度</a:t>
              </a:r>
              <a:endParaRPr lang="zh-CN" altLang="en-US" dirty="0">
                <a:latin typeface="Times New Roman" panose="02020603050405020304" pitchFamily="2" charset="0"/>
                <a:ea typeface="宋体" panose="02010600030101010101" pitchFamily="2" charset="-122"/>
              </a:endParaRPr>
            </a:p>
          </p:txBody>
        </p:sp>
        <p:sp>
          <p:nvSpPr>
            <p:cNvPr id="95266" name="Rectangle 36"/>
            <p:cNvSpPr/>
            <p:nvPr/>
          </p:nvSpPr>
          <p:spPr>
            <a:xfrm>
              <a:off x="7745" y="8983"/>
              <a:ext cx="3643" cy="452"/>
            </a:xfrm>
            <a:prstGeom prst="rect">
              <a:avLst/>
            </a:prstGeom>
            <a:noFill/>
            <a:ln w="9525">
              <a:noFill/>
            </a:ln>
          </p:spPr>
          <p:txBody>
            <a:bodyPr wrap="square" lIns="0" tIns="0" rIns="0" bIns="0" anchor="t">
              <a:spAutoFit/>
            </a:bodyPr>
            <a:lstStyle/>
            <a:p>
              <a:pPr lvl="0" indent="0"/>
              <a:r>
                <a:rPr lang="zh-CN" altLang="en-US" dirty="0">
                  <a:latin typeface="Times New Roman" panose="02020603050405020304" pitchFamily="2" charset="0"/>
                  <a:ea typeface="宋体" panose="02010600030101010101" pitchFamily="2" charset="-122"/>
                </a:rPr>
                <a:t>按</a:t>
              </a:r>
              <a:r>
                <a:rPr lang="en-US" altLang="x-none" dirty="0">
                  <a:latin typeface="Times New Roman" panose="02020603050405020304" pitchFamily="2" charset="0"/>
                  <a:ea typeface="宋体" panose="02010600030101010101" pitchFamily="2" charset="-122"/>
                </a:rPr>
                <a:t>(a)</a:t>
              </a:r>
              <a:r>
                <a:rPr lang="zh-CN" altLang="en-US" dirty="0">
                  <a:latin typeface="Times New Roman" panose="02020603050405020304" pitchFamily="2" charset="0"/>
                  <a:ea typeface="宋体" panose="02010600030101010101" pitchFamily="2" charset="-122"/>
                </a:rPr>
                <a:t>调度执行的结果</a:t>
              </a:r>
              <a:endParaRPr lang="zh-CN" altLang="en-US" dirty="0">
                <a:latin typeface="Times New Roman" panose="02020603050405020304" pitchFamily="2" charset="0"/>
                <a:ea typeface="宋体" panose="02010600030101010101" pitchFamily="2" charset="-122"/>
              </a:endParaRPr>
            </a:p>
          </p:txBody>
        </p:sp>
        <p:sp>
          <p:nvSpPr>
            <p:cNvPr id="95267" name="Rectangle 37"/>
            <p:cNvSpPr/>
            <p:nvPr/>
          </p:nvSpPr>
          <p:spPr>
            <a:xfrm>
              <a:off x="2270" y="4580"/>
              <a:ext cx="933" cy="452"/>
            </a:xfrm>
            <a:prstGeom prst="rect">
              <a:avLst/>
            </a:prstGeom>
            <a:noFill/>
            <a:ln w="9525">
              <a:noFill/>
            </a:ln>
          </p:spPr>
          <p:txBody>
            <a:bodyPr wrap="square" lIns="0" tIns="0" rIns="0" bIns="0" anchor="t">
              <a:spAutoFit/>
            </a:bodyPr>
            <a:lstStyle/>
            <a:p>
              <a:pPr lvl="0" indent="0"/>
              <a:r>
                <a:rPr lang="en-US" altLang="x-none" dirty="0">
                  <a:latin typeface="Times New Roman" panose="02020603050405020304" pitchFamily="2" charset="0"/>
                  <a:ea typeface="宋体" panose="02010600030101010101" pitchFamily="2" charset="-122"/>
                </a:rPr>
                <a:t>W(A)</a:t>
              </a:r>
              <a:endParaRPr lang="en-US" altLang="x-none" dirty="0">
                <a:latin typeface="Times New Roman" panose="02020603050405020304" pitchFamily="2" charset="0"/>
                <a:ea typeface="宋体" panose="02010600030101010101" pitchFamily="2" charset="-122"/>
              </a:endParaRPr>
            </a:p>
          </p:txBody>
        </p:sp>
        <p:sp>
          <p:nvSpPr>
            <p:cNvPr id="95268" name="Rectangle 38"/>
            <p:cNvSpPr/>
            <p:nvPr/>
          </p:nvSpPr>
          <p:spPr>
            <a:xfrm>
              <a:off x="2270" y="4013"/>
              <a:ext cx="1215" cy="452"/>
            </a:xfrm>
            <a:prstGeom prst="rect">
              <a:avLst/>
            </a:prstGeom>
            <a:noFill/>
            <a:ln w="9525">
              <a:noFill/>
            </a:ln>
          </p:spPr>
          <p:txBody>
            <a:bodyPr wrap="square" lIns="0" tIns="0" rIns="0" bIns="0" anchor="t">
              <a:spAutoFit/>
            </a:bodyPr>
            <a:lstStyle/>
            <a:p>
              <a:pPr lvl="0" indent="0"/>
              <a:r>
                <a:rPr lang="en-US" altLang="x-none" dirty="0">
                  <a:latin typeface="宋体" panose="02010600030101010101" pitchFamily="2" charset="-122"/>
                  <a:ea typeface="宋体" panose="02010600030101010101" pitchFamily="2" charset="-122"/>
                </a:rPr>
                <a:t>A=A-30</a:t>
              </a:r>
              <a:endParaRPr lang="en-US" altLang="x-none" dirty="0">
                <a:latin typeface="宋体" panose="02010600030101010101" pitchFamily="2" charset="-122"/>
                <a:ea typeface="宋体" panose="02010600030101010101" pitchFamily="2" charset="-122"/>
              </a:endParaRPr>
            </a:p>
          </p:txBody>
        </p:sp>
        <p:sp>
          <p:nvSpPr>
            <p:cNvPr id="95269" name="Rectangle 39"/>
            <p:cNvSpPr/>
            <p:nvPr/>
          </p:nvSpPr>
          <p:spPr>
            <a:xfrm>
              <a:off x="4085" y="5715"/>
              <a:ext cx="1013" cy="452"/>
            </a:xfrm>
            <a:prstGeom prst="rect">
              <a:avLst/>
            </a:prstGeom>
            <a:noFill/>
            <a:ln w="9525">
              <a:noFill/>
            </a:ln>
          </p:spPr>
          <p:txBody>
            <a:bodyPr wrap="square" lIns="0" tIns="0" rIns="0" bIns="0" anchor="t">
              <a:spAutoFit/>
            </a:bodyPr>
            <a:lstStyle/>
            <a:p>
              <a:pPr lvl="0" indent="0"/>
              <a:r>
                <a:rPr lang="en-US" altLang="x-none" dirty="0">
                  <a:latin typeface="宋体" panose="02010600030101010101" pitchFamily="2" charset="-122"/>
                  <a:ea typeface="宋体" panose="02010600030101010101" pitchFamily="2" charset="-122"/>
                </a:rPr>
                <a:t>A=A*2</a:t>
              </a:r>
              <a:endParaRPr lang="en-US" altLang="x-none" dirty="0">
                <a:latin typeface="宋体" panose="02010600030101010101" pitchFamily="2" charset="-122"/>
                <a:ea typeface="宋体" panose="02010600030101010101" pitchFamily="2" charset="-122"/>
              </a:endParaRPr>
            </a:p>
          </p:txBody>
        </p:sp>
        <p:sp>
          <p:nvSpPr>
            <p:cNvPr id="95270" name="Rectangle 40"/>
            <p:cNvSpPr/>
            <p:nvPr/>
          </p:nvSpPr>
          <p:spPr>
            <a:xfrm>
              <a:off x="4085" y="6280"/>
              <a:ext cx="810" cy="452"/>
            </a:xfrm>
            <a:prstGeom prst="rect">
              <a:avLst/>
            </a:prstGeom>
            <a:noFill/>
            <a:ln w="9525">
              <a:noFill/>
            </a:ln>
          </p:spPr>
          <p:txBody>
            <a:bodyPr wrap="square" lIns="0" tIns="0" rIns="0" bIns="0" anchor="t">
              <a:spAutoFit/>
            </a:bodyPr>
            <a:lstStyle/>
            <a:p>
              <a:pPr lvl="0" indent="0"/>
              <a:r>
                <a:rPr lang="en-US" altLang="x-none" dirty="0">
                  <a:latin typeface="宋体" panose="02010600030101010101" pitchFamily="2" charset="-122"/>
                  <a:ea typeface="宋体" panose="02010600030101010101" pitchFamily="2" charset="-122"/>
                </a:rPr>
                <a:t>W(A)</a:t>
              </a:r>
              <a:endParaRPr lang="en-US" altLang="x-none" dirty="0">
                <a:latin typeface="宋体" panose="02010600030101010101" pitchFamily="2" charset="-122"/>
                <a:ea typeface="宋体" panose="02010600030101010101" pitchFamily="2" charset="-122"/>
              </a:endParaRPr>
            </a:p>
          </p:txBody>
        </p:sp>
        <p:sp>
          <p:nvSpPr>
            <p:cNvPr id="95271" name="Rectangle 41"/>
            <p:cNvSpPr/>
            <p:nvPr/>
          </p:nvSpPr>
          <p:spPr>
            <a:xfrm>
              <a:off x="7065" y="3720"/>
              <a:ext cx="1963" cy="452"/>
            </a:xfrm>
            <a:prstGeom prst="rect">
              <a:avLst/>
            </a:prstGeom>
            <a:noFill/>
            <a:ln w="9525">
              <a:noFill/>
            </a:ln>
          </p:spPr>
          <p:txBody>
            <a:bodyPr wrap="square" lIns="0" tIns="0" rIns="0" bIns="0" anchor="t">
              <a:spAutoFit/>
            </a:bodyPr>
            <a:lstStyle/>
            <a:p>
              <a:pPr lvl="0" indent="0"/>
              <a:r>
                <a:rPr lang="en-US" altLang="x-none" dirty="0">
                  <a:latin typeface="Times New Roman" panose="02020603050405020304" pitchFamily="2" charset="0"/>
                  <a:ea typeface="宋体" panose="02010600030101010101" pitchFamily="2" charset="-122"/>
                </a:rPr>
                <a:t>A=A-30=70</a:t>
              </a:r>
              <a:endParaRPr lang="en-US" altLang="x-none" dirty="0">
                <a:latin typeface="Times New Roman" panose="02020603050405020304" pitchFamily="2" charset="0"/>
                <a:ea typeface="宋体" panose="02010600030101010101" pitchFamily="2" charset="-122"/>
              </a:endParaRPr>
            </a:p>
          </p:txBody>
        </p:sp>
        <p:sp>
          <p:nvSpPr>
            <p:cNvPr id="95272" name="Rectangle 42"/>
            <p:cNvSpPr/>
            <p:nvPr/>
          </p:nvSpPr>
          <p:spPr>
            <a:xfrm>
              <a:off x="7065" y="4305"/>
              <a:ext cx="1928" cy="452"/>
            </a:xfrm>
            <a:prstGeom prst="rect">
              <a:avLst/>
            </a:prstGeom>
            <a:noFill/>
            <a:ln w="9525">
              <a:noFill/>
            </a:ln>
          </p:spPr>
          <p:txBody>
            <a:bodyPr lIns="0" tIns="0" rIns="0" bIns="0" anchor="t">
              <a:spAutoFit/>
            </a:bodyPr>
            <a:lstStyle/>
            <a:p>
              <a:pPr lvl="0" indent="0"/>
              <a:r>
                <a:rPr lang="en-US" altLang="x-none" dirty="0">
                  <a:latin typeface="Times New Roman" panose="02020603050405020304" pitchFamily="2" charset="0"/>
                  <a:ea typeface="宋体" panose="02010600030101010101" pitchFamily="2" charset="-122"/>
                </a:rPr>
                <a:t>W(A)  </a:t>
              </a:r>
              <a:endParaRPr lang="en-US" altLang="x-none" dirty="0">
                <a:latin typeface="Times New Roman" panose="02020603050405020304" pitchFamily="2" charset="0"/>
                <a:ea typeface="宋体" panose="02010600030101010101" pitchFamily="2" charset="-122"/>
              </a:endParaRPr>
            </a:p>
          </p:txBody>
        </p:sp>
        <p:sp>
          <p:nvSpPr>
            <p:cNvPr id="98346" name="Oval 43"/>
            <p:cNvSpPr/>
            <p:nvPr/>
          </p:nvSpPr>
          <p:spPr>
            <a:xfrm>
              <a:off x="10128" y="4333"/>
              <a:ext cx="2720" cy="1700"/>
            </a:xfrm>
            <a:prstGeom prst="ellipse">
              <a:avLst/>
            </a:prstGeom>
            <a:noFill/>
            <a:ln w="28575" cap="flat" cmpd="sng">
              <a:solidFill>
                <a:srgbClr val="CC0000"/>
              </a:solidFill>
              <a:prstDash val="solid"/>
              <a:round/>
              <a:headEnd type="none" w="med" len="med"/>
              <a:tailEnd type="none" w="med" len="med"/>
            </a:ln>
          </p:spPr>
          <p:txBody>
            <a:bodyPr wrap="none" lIns="90000" tIns="46800" rIns="90000" bIns="46800" anchor="ctr"/>
            <a:lstStyle/>
            <a:p>
              <a:pPr lvl="0" indent="0"/>
              <a:endParaRPr lang="zh-CN" altLang="en-US" dirty="0">
                <a:latin typeface="Arial" panose="020B0604020202020204" pitchFamily="34" charset="0"/>
                <a:ea typeface="宋体" panose="02010600030101010101" pitchFamily="2" charset="-122"/>
              </a:endParaRPr>
            </a:p>
          </p:txBody>
        </p:sp>
        <p:sp>
          <p:nvSpPr>
            <p:cNvPr id="98347" name="Oval 44"/>
            <p:cNvSpPr/>
            <p:nvPr/>
          </p:nvSpPr>
          <p:spPr>
            <a:xfrm>
              <a:off x="7180" y="6940"/>
              <a:ext cx="2720" cy="1700"/>
            </a:xfrm>
            <a:prstGeom prst="ellipse">
              <a:avLst/>
            </a:prstGeom>
            <a:noFill/>
            <a:ln w="28575" cap="flat" cmpd="sng">
              <a:solidFill>
                <a:srgbClr val="CC0000"/>
              </a:solidFill>
              <a:prstDash val="solid"/>
              <a:round/>
              <a:headEnd type="none" w="med" len="med"/>
              <a:tailEnd type="none" w="med" len="med"/>
            </a:ln>
          </p:spPr>
          <p:txBody>
            <a:bodyPr wrap="none" lIns="90000" tIns="46800" rIns="90000" bIns="46800" anchor="ctr"/>
            <a:lstStyle/>
            <a:p>
              <a:pPr lvl="0" indent="0"/>
              <a:endParaRPr lang="zh-CN" altLang="en-US" dirty="0">
                <a:latin typeface="Arial" panose="020B0604020202020204" pitchFamily="34" charset="0"/>
                <a:ea typeface="宋体" panose="02010600030101010101" pitchFamily="2" charset="-122"/>
              </a:endParaRPr>
            </a:p>
          </p:txBody>
        </p:sp>
      </p:grpSp>
      <p:sp>
        <p:nvSpPr>
          <p:cNvPr id="93186" name="Rectangle 7"/>
          <p:cNvSpPr/>
          <p:nvPr/>
        </p:nvSpPr>
        <p:spPr>
          <a:xfrm>
            <a:off x="454025" y="819150"/>
            <a:ext cx="6261100" cy="609600"/>
          </a:xfrm>
          <a:prstGeom prst="rect">
            <a:avLst/>
          </a:prstGeom>
          <a:noFill/>
          <a:ln w="9525">
            <a:noFill/>
          </a:ln>
        </p:spPr>
        <p:txBody>
          <a:bodyPr wrap="none" anchor="ctr"/>
          <a:lstStyle/>
          <a:p>
            <a:pPr lvl="0" indent="0" algn="just">
              <a:spcBef>
                <a:spcPct val="20000"/>
              </a:spcBef>
              <a:buClr>
                <a:schemeClr val="folHlink"/>
              </a:buClr>
              <a:buSzPct val="75000"/>
              <a:buFont typeface="Wingdings" panose="05000000000000000000" pitchFamily="2" charset="2"/>
              <a:buNone/>
            </a:pPr>
            <a:r>
              <a:rPr lang="en-US" altLang="x-none" sz="2800" dirty="0">
                <a:solidFill>
                  <a:srgbClr val="FF0000"/>
                </a:solidFill>
                <a:latin typeface="黑体" panose="02010609060101010101" pitchFamily="1" charset="-122"/>
                <a:ea typeface="黑体" panose="02010609060101010101" pitchFamily="1" charset="-122"/>
              </a:rPr>
              <a:t>3</a:t>
            </a:r>
            <a:r>
              <a:rPr lang="zh-CN" altLang="en-US" sz="2800" dirty="0">
                <a:solidFill>
                  <a:srgbClr val="FF0000"/>
                </a:solidFill>
                <a:latin typeface="黑体" panose="02010609060101010101" pitchFamily="1" charset="-122"/>
                <a:ea typeface="黑体" panose="02010609060101010101" pitchFamily="1" charset="-122"/>
              </a:rPr>
              <a:t>、并发执行引起的</a:t>
            </a:r>
            <a:r>
              <a:rPr lang="en-US" altLang="zh-CN" sz="2800" dirty="0">
                <a:solidFill>
                  <a:srgbClr val="FF0000"/>
                </a:solidFill>
                <a:latin typeface="黑体" panose="02010609060101010101" pitchFamily="1" charset="-122"/>
                <a:ea typeface="黑体" panose="02010609060101010101" pitchFamily="1" charset="-122"/>
              </a:rPr>
              <a:t>“</a:t>
            </a:r>
            <a:r>
              <a:rPr lang="zh-CN" altLang="en-US" sz="2800" dirty="0">
                <a:solidFill>
                  <a:srgbClr val="FF0000"/>
                </a:solidFill>
                <a:latin typeface="黑体" panose="02010609060101010101" pitchFamily="1" charset="-122"/>
                <a:ea typeface="黑体" panose="02010609060101010101" pitchFamily="1" charset="-122"/>
              </a:rPr>
              <a:t>读脏数据</a:t>
            </a:r>
            <a:r>
              <a:rPr lang="en-US" altLang="zh-CN" sz="2800" dirty="0">
                <a:solidFill>
                  <a:srgbClr val="FF0000"/>
                </a:solidFill>
                <a:latin typeface="黑体" panose="02010609060101010101" pitchFamily="1" charset="-122"/>
                <a:ea typeface="黑体" panose="02010609060101010101" pitchFamily="1" charset="-122"/>
              </a:rPr>
              <a:t>”</a:t>
            </a:r>
            <a:r>
              <a:rPr lang="zh-CN" altLang="en-US" sz="2800" dirty="0">
                <a:solidFill>
                  <a:srgbClr val="FF0000"/>
                </a:solidFill>
                <a:latin typeface="黑体" panose="02010609060101010101" pitchFamily="1" charset="-122"/>
                <a:ea typeface="黑体" panose="02010609060101010101" pitchFamily="1" charset="-122"/>
              </a:rPr>
              <a:t>问题</a:t>
            </a:r>
            <a:endParaRPr lang="en-US" altLang="x-none" sz="2800" dirty="0">
              <a:solidFill>
                <a:srgbClr val="FF0000"/>
              </a:solidFill>
              <a:latin typeface="黑体" panose="02010609060101010101" pitchFamily="1" charset="-122"/>
              <a:ea typeface="黑体" panose="02010609060101010101" pitchFamily="1" charset="-122"/>
            </a:endParaRPr>
          </a:p>
        </p:txBody>
      </p:sp>
      <p:sp>
        <p:nvSpPr>
          <p:cNvPr id="2" name="Rectangle 2"/>
          <p:cNvSpPr/>
          <p:nvPr/>
        </p:nvSpPr>
        <p:spPr>
          <a:xfrm>
            <a:off x="417513" y="55563"/>
            <a:ext cx="8229600" cy="692150"/>
          </a:xfrm>
          <a:prstGeom prst="rect">
            <a:avLst/>
          </a:prstGeom>
          <a:noFill/>
          <a:ln w="9525">
            <a:noFill/>
          </a:ln>
        </p:spPr>
        <p:txBody>
          <a:bodyPr anchor="ctr"/>
          <a:lstStyle/>
          <a:p>
            <a:pPr lvl="0" indent="0">
              <a:buFont typeface="Wingdings" panose="05000000000000000000" pitchFamily="2" charset="2"/>
              <a:buNone/>
            </a:pPr>
            <a:r>
              <a:rPr lang="zh-CN" altLang="en-US" sz="3200" dirty="0" smtClean="0">
                <a:solidFill>
                  <a:srgbClr val="0033CC"/>
                </a:solidFill>
                <a:ea typeface="黑体" panose="02010609060101010101" pitchFamily="1" charset="-122"/>
              </a:rPr>
              <a:t>一</a:t>
            </a:r>
            <a:r>
              <a:rPr lang="zh-CN" altLang="en-US" sz="3200" dirty="0" smtClean="0">
                <a:solidFill>
                  <a:srgbClr val="0033CC"/>
                </a:solidFill>
                <a:latin typeface="Arial" panose="020B0604020202020204" pitchFamily="34" charset="0"/>
                <a:ea typeface="黑体" panose="02010609060101010101" pitchFamily="1" charset="-122"/>
              </a:rPr>
              <a:t>、事务</a:t>
            </a:r>
            <a:r>
              <a:rPr lang="zh-CN" altLang="en-US" sz="3200" dirty="0" smtClean="0">
                <a:solidFill>
                  <a:srgbClr val="0033CC"/>
                </a:solidFill>
                <a:ea typeface="黑体" panose="02010609060101010101" pitchFamily="1" charset="-122"/>
                <a:cs typeface="+mn-ea"/>
                <a:sym typeface="+mn-ea"/>
              </a:rPr>
              <a:t>并发可能引起的问题</a:t>
            </a:r>
            <a:endParaRPr lang="zh-CN" altLang="en-US" sz="3200" dirty="0" smtClean="0">
              <a:solidFill>
                <a:srgbClr val="0033CC"/>
              </a:solidFill>
              <a:latin typeface="Arial" panose="020B0604020202020204" pitchFamily="34" charset="0"/>
              <a:ea typeface="黑体" panose="02010609060101010101" pitchFamily="1" charset="-122"/>
              <a:cs typeface="+mn-ea"/>
            </a:endParaRPr>
          </a:p>
        </p:txBody>
      </p:sp>
    </p:spTree>
  </p:cSld>
  <p:clrMapOvr>
    <a:masterClrMapping/>
  </p:clrMapOvr>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3"/>
          <p:cNvSpPr txBox="1">
            <a:spLocks noChangeArrowheads="1"/>
          </p:cNvSpPr>
          <p:nvPr/>
        </p:nvSpPr>
        <p:spPr>
          <a:xfrm>
            <a:off x="582613" y="1515529"/>
            <a:ext cx="7899400" cy="892175"/>
          </a:xfrm>
          <a:prstGeom prst="rect">
            <a:avLst/>
          </a:prstGeom>
          <a:ln>
            <a:solidFill>
              <a:schemeClr val="accent1"/>
            </a:solidFill>
          </a:ln>
        </p:spPr>
        <p:txBody>
          <a:bodyPr/>
          <a:lstStyle/>
          <a:p>
            <a:pPr marL="342900" marR="0" lvl="0" indent="-342900" algn="l" defTabSz="914400" rtl="0" eaLnBrk="0" fontAlgn="base" latinLnBrk="0" hangingPunct="0">
              <a:lnSpc>
                <a:spcPct val="100000"/>
              </a:lnSpc>
              <a:spcBef>
                <a:spcPts val="200"/>
              </a:spcBef>
              <a:spcAft>
                <a:spcPts val="0"/>
              </a:spcAft>
              <a:buClr>
                <a:srgbClr val="0033CC"/>
              </a:buClr>
              <a:buSzPct val="80000"/>
              <a:buFont typeface="Wingdings" panose="05000000000000000000" pitchFamily="2" charset="2"/>
              <a:buChar char="u"/>
              <a:defRPr/>
            </a:pPr>
            <a:r>
              <a:rPr kumimoji="0" lang="zh-CN" altLang="en-US" sz="2400" b="1" i="0" u="none" strike="noStrike" kern="0" cap="none" spc="0" normalizeH="0" baseline="0" noProof="0" dirty="0">
                <a:ln>
                  <a:noFill/>
                </a:ln>
                <a:solidFill>
                  <a:schemeClr val="tx1"/>
                </a:solidFill>
                <a:effectLst/>
                <a:uLnTx/>
                <a:uFillTx/>
                <a:latin typeface="楷体" panose="02010609060101010101" pitchFamily="1" charset="-122"/>
                <a:ea typeface="楷体" panose="02010609060101010101" pitchFamily="1" charset="-122"/>
                <a:cs typeface="+mn-cs"/>
              </a:rPr>
              <a:t>不可重复读是指事务</a:t>
            </a:r>
            <a:r>
              <a:rPr kumimoji="0" lang="en-US" altLang="zh-CN" sz="2400" b="1" i="0" u="none" strike="noStrike" kern="0" cap="none" spc="0" normalizeH="0" baseline="0" noProof="0" dirty="0">
                <a:ln>
                  <a:noFill/>
                </a:ln>
                <a:solidFill>
                  <a:schemeClr val="tx1"/>
                </a:solidFill>
                <a:effectLst/>
                <a:uLnTx/>
                <a:uFillTx/>
                <a:latin typeface="楷体" panose="02010609060101010101" pitchFamily="1" charset="-122"/>
                <a:ea typeface="楷体" panose="02010609060101010101" pitchFamily="1" charset="-122"/>
                <a:cs typeface="+mn-cs"/>
              </a:rPr>
              <a:t>1</a:t>
            </a:r>
            <a:r>
              <a:rPr kumimoji="0" lang="zh-CN" altLang="en-US" sz="2400" b="1" i="0" u="none" strike="noStrike" kern="0" cap="none" spc="0" normalizeH="0" baseline="0" noProof="0" dirty="0">
                <a:ln>
                  <a:noFill/>
                </a:ln>
                <a:solidFill>
                  <a:schemeClr val="tx1"/>
                </a:solidFill>
                <a:effectLst/>
                <a:uLnTx/>
                <a:uFillTx/>
                <a:latin typeface="楷体" panose="02010609060101010101" pitchFamily="1" charset="-122"/>
                <a:ea typeface="楷体" panose="02010609060101010101" pitchFamily="1" charset="-122"/>
                <a:cs typeface="+mn-cs"/>
              </a:rPr>
              <a:t>读取数据后，事务</a:t>
            </a:r>
            <a:r>
              <a:rPr kumimoji="0" lang="en-US" altLang="zh-CN" sz="2400" b="1" i="0" u="none" strike="noStrike" kern="0" cap="none" spc="0" normalizeH="0" baseline="0" noProof="0" dirty="0">
                <a:ln>
                  <a:noFill/>
                </a:ln>
                <a:solidFill>
                  <a:schemeClr val="tx1"/>
                </a:solidFill>
                <a:effectLst/>
                <a:uLnTx/>
                <a:uFillTx/>
                <a:latin typeface="楷体" panose="02010609060101010101" pitchFamily="1" charset="-122"/>
                <a:ea typeface="楷体" panose="02010609060101010101" pitchFamily="1" charset="-122"/>
                <a:cs typeface="+mn-cs"/>
              </a:rPr>
              <a:t>2</a:t>
            </a:r>
            <a:r>
              <a:rPr kumimoji="0" lang="zh-CN" altLang="en-US" sz="2400" b="1" i="0" u="none" strike="noStrike" kern="0" cap="none" spc="0" normalizeH="0" baseline="0" noProof="0" dirty="0">
                <a:ln>
                  <a:noFill/>
                </a:ln>
                <a:solidFill>
                  <a:schemeClr val="tx1"/>
                </a:solidFill>
                <a:effectLst/>
                <a:uLnTx/>
                <a:uFillTx/>
                <a:latin typeface="楷体" panose="02010609060101010101" pitchFamily="1" charset="-122"/>
                <a:ea typeface="楷体" panose="02010609060101010101" pitchFamily="1" charset="-122"/>
                <a:cs typeface="+mn-cs"/>
              </a:rPr>
              <a:t>执行更新操作，使事务</a:t>
            </a:r>
            <a:r>
              <a:rPr kumimoji="0" lang="en-US" altLang="zh-CN" sz="2400" b="1" i="0" u="none" strike="noStrike" kern="0" cap="none" spc="0" normalizeH="0" baseline="0" noProof="0" dirty="0">
                <a:ln>
                  <a:noFill/>
                </a:ln>
                <a:solidFill>
                  <a:schemeClr val="tx1"/>
                </a:solidFill>
                <a:effectLst/>
                <a:uLnTx/>
                <a:uFillTx/>
                <a:latin typeface="楷体" panose="02010609060101010101" pitchFamily="1" charset="-122"/>
                <a:ea typeface="楷体" panose="02010609060101010101" pitchFamily="1" charset="-122"/>
                <a:cs typeface="+mn-cs"/>
              </a:rPr>
              <a:t>1</a:t>
            </a:r>
            <a:r>
              <a:rPr kumimoji="0" lang="zh-CN" altLang="en-US" sz="2400" b="1" i="0" u="none" strike="noStrike" kern="0" cap="none" spc="0" normalizeH="0" baseline="0" noProof="0" dirty="0">
                <a:ln>
                  <a:noFill/>
                </a:ln>
                <a:solidFill>
                  <a:schemeClr val="tx1"/>
                </a:solidFill>
                <a:effectLst/>
                <a:uLnTx/>
                <a:uFillTx/>
                <a:latin typeface="楷体" panose="02010609060101010101" pitchFamily="1" charset="-122"/>
                <a:ea typeface="楷体" panose="02010609060101010101" pitchFamily="1" charset="-122"/>
                <a:cs typeface="+mn-cs"/>
              </a:rPr>
              <a:t>无法再现前一次读取结果。</a:t>
            </a:r>
            <a:endParaRPr kumimoji="0" lang="zh-CN" altLang="en-US" sz="2400" b="1" i="0" u="none" strike="noStrike" kern="0" cap="none" spc="0" normalizeH="0" baseline="0" noProof="0" dirty="0">
              <a:ln>
                <a:noFill/>
              </a:ln>
              <a:solidFill>
                <a:schemeClr val="tx1"/>
              </a:solidFill>
              <a:effectLst/>
              <a:uLnTx/>
              <a:uFillTx/>
              <a:latin typeface="楷体" panose="02010609060101010101" pitchFamily="1" charset="-122"/>
              <a:ea typeface="楷体" panose="02010609060101010101" pitchFamily="1" charset="-122"/>
              <a:cs typeface="+mn-cs"/>
            </a:endParaRPr>
          </a:p>
        </p:txBody>
      </p:sp>
      <p:sp>
        <p:nvSpPr>
          <p:cNvPr id="7" name="文本框 6"/>
          <p:cNvSpPr txBox="1"/>
          <p:nvPr/>
        </p:nvSpPr>
        <p:spPr>
          <a:xfrm>
            <a:off x="633095" y="2583281"/>
            <a:ext cx="3861955" cy="461665"/>
          </a:xfrm>
          <a:prstGeom prst="rect">
            <a:avLst/>
          </a:prstGeom>
          <a:noFill/>
        </p:spPr>
        <p:txBody>
          <a:bodyPr wrap="none" rtlCol="0" anchor="t">
            <a:spAutoFit/>
          </a:bodyPr>
          <a:lstStyle/>
          <a:p>
            <a:pPr>
              <a:buFont typeface="Wingdings" panose="05000000000000000000" charset="0"/>
              <a:buChar char="p"/>
            </a:pPr>
            <a:r>
              <a:rPr lang="zh-CN" altLang="en-US" sz="2400" dirty="0">
                <a:solidFill>
                  <a:srgbClr val="C00000"/>
                </a:solidFill>
                <a:latin typeface="+mj-ea"/>
                <a:ea typeface="+mj-ea"/>
                <a:sym typeface="+mn-ea"/>
              </a:rPr>
              <a:t>三类读值不可复现的情况</a:t>
            </a:r>
            <a:endParaRPr lang="zh-CN" altLang="en-US" sz="2400" dirty="0">
              <a:solidFill>
                <a:srgbClr val="C00000"/>
              </a:solidFill>
              <a:latin typeface="+mj-ea"/>
              <a:ea typeface="+mj-ea"/>
              <a:sym typeface="+mn-ea"/>
            </a:endParaRPr>
          </a:p>
        </p:txBody>
      </p:sp>
      <p:sp>
        <p:nvSpPr>
          <p:cNvPr id="8" name="Rectangle 3"/>
          <p:cNvSpPr txBox="1">
            <a:spLocks noChangeArrowheads="1"/>
          </p:cNvSpPr>
          <p:nvPr/>
        </p:nvSpPr>
        <p:spPr>
          <a:xfrm>
            <a:off x="633095" y="3280613"/>
            <a:ext cx="7887970" cy="779780"/>
          </a:xfrm>
          <a:prstGeom prst="rect">
            <a:avLst/>
          </a:prstGeom>
          <a:ln>
            <a:solidFill>
              <a:schemeClr val="accent1"/>
            </a:solidFill>
          </a:ln>
        </p:spPr>
        <p:txBody>
          <a:bodyPr/>
          <a:lstStyle/>
          <a:p>
            <a:pPr marL="342900" marR="0" lvl="0" indent="-342900" algn="l" defTabSz="914400" rtl="0" eaLnBrk="0" fontAlgn="base" latinLnBrk="0" hangingPunct="0">
              <a:lnSpc>
                <a:spcPct val="100000"/>
              </a:lnSpc>
              <a:spcBef>
                <a:spcPts val="200"/>
              </a:spcBef>
              <a:spcAft>
                <a:spcPts val="0"/>
              </a:spcAft>
              <a:buClr>
                <a:srgbClr val="0033CC"/>
              </a:buClr>
              <a:buSzPct val="80000"/>
              <a:buFont typeface="Wingdings" panose="05000000000000000000" pitchFamily="2" charset="2"/>
              <a:buChar char="u"/>
              <a:defRPr/>
            </a:pPr>
            <a:r>
              <a:rPr kumimoji="0" lang="zh-CN" altLang="en-US" sz="2400" b="1" i="0" u="none" strike="noStrike" kern="0" cap="none" spc="0" normalizeH="0" baseline="0" noProof="0" dirty="0">
                <a:ln>
                  <a:noFill/>
                </a:ln>
                <a:solidFill>
                  <a:srgbClr val="C00000"/>
                </a:solidFill>
                <a:effectLst/>
                <a:uLnTx/>
                <a:uFillTx/>
                <a:latin typeface="楷体" panose="02010609060101010101" pitchFamily="1" charset="-122"/>
                <a:ea typeface="楷体" panose="02010609060101010101" pitchFamily="1" charset="-122"/>
                <a:cs typeface="+mn-cs"/>
              </a:rPr>
              <a:t>事务</a:t>
            </a:r>
            <a:r>
              <a:rPr kumimoji="0" lang="en-US" altLang="zh-CN" sz="2400" b="1" i="0" u="none" strike="noStrike" kern="0" cap="none" spc="0" normalizeH="0" baseline="0" noProof="0" dirty="0">
                <a:ln>
                  <a:noFill/>
                </a:ln>
                <a:solidFill>
                  <a:srgbClr val="C00000"/>
                </a:solidFill>
                <a:effectLst/>
                <a:uLnTx/>
                <a:uFillTx/>
                <a:latin typeface="楷体" panose="02010609060101010101" pitchFamily="1" charset="-122"/>
                <a:ea typeface="楷体" panose="02010609060101010101" pitchFamily="1" charset="-122"/>
                <a:cs typeface="+mn-cs"/>
              </a:rPr>
              <a:t>2</a:t>
            </a:r>
            <a:r>
              <a:rPr kumimoji="0" lang="zh-CN" altLang="en-US" sz="2400" b="1" i="0" u="none" strike="noStrike" kern="0" cap="none" spc="0" normalizeH="0" baseline="0" noProof="0" dirty="0">
                <a:ln>
                  <a:noFill/>
                </a:ln>
                <a:solidFill>
                  <a:srgbClr val="C00000"/>
                </a:solidFill>
                <a:effectLst/>
                <a:uLnTx/>
                <a:uFillTx/>
                <a:latin typeface="楷体" panose="02010609060101010101" pitchFamily="1" charset="-122"/>
                <a:ea typeface="楷体" panose="02010609060101010101" pitchFamily="1" charset="-122"/>
                <a:cs typeface="+mn-cs"/>
              </a:rPr>
              <a:t>对其做了修改</a:t>
            </a:r>
            <a:r>
              <a:rPr kumimoji="0" lang="zh-CN" altLang="en-US" sz="2400" b="1" i="0" u="none" strike="noStrike" kern="0" cap="none" spc="0" normalizeH="0" baseline="0" noProof="0" dirty="0">
                <a:ln>
                  <a:noFill/>
                </a:ln>
                <a:solidFill>
                  <a:schemeClr val="tx1"/>
                </a:solidFill>
                <a:effectLst/>
                <a:uLnTx/>
                <a:uFillTx/>
                <a:latin typeface="楷体" panose="02010609060101010101" pitchFamily="1" charset="-122"/>
                <a:ea typeface="楷体" panose="02010609060101010101" pitchFamily="1" charset="-122"/>
                <a:cs typeface="+mn-cs"/>
              </a:rPr>
              <a:t>，当事务</a:t>
            </a:r>
            <a:r>
              <a:rPr kumimoji="0" lang="en-US" altLang="zh-CN" sz="2400" b="1" i="0" u="none" strike="noStrike" kern="0" cap="none" spc="0" normalizeH="0" baseline="0" noProof="0" dirty="0">
                <a:ln>
                  <a:noFill/>
                </a:ln>
                <a:solidFill>
                  <a:schemeClr val="tx1"/>
                </a:solidFill>
                <a:effectLst/>
                <a:uLnTx/>
                <a:uFillTx/>
                <a:latin typeface="楷体" panose="02010609060101010101" pitchFamily="1" charset="-122"/>
                <a:ea typeface="楷体" panose="02010609060101010101" pitchFamily="1" charset="-122"/>
                <a:cs typeface="+mn-cs"/>
              </a:rPr>
              <a:t>1</a:t>
            </a:r>
            <a:r>
              <a:rPr kumimoji="0" lang="zh-CN" altLang="en-US" sz="2400" b="1" i="0" u="none" strike="noStrike" kern="0" cap="none" spc="0" normalizeH="0" baseline="0" noProof="0" dirty="0">
                <a:ln>
                  <a:noFill/>
                </a:ln>
                <a:solidFill>
                  <a:schemeClr val="tx1"/>
                </a:solidFill>
                <a:effectLst/>
                <a:uLnTx/>
                <a:uFillTx/>
                <a:latin typeface="楷体" panose="02010609060101010101" pitchFamily="1" charset="-122"/>
                <a:ea typeface="楷体" panose="02010609060101010101" pitchFamily="1" charset="-122"/>
                <a:cs typeface="+mn-cs"/>
              </a:rPr>
              <a:t>再次读该数据时，得到与前一次不同的值。</a:t>
            </a:r>
            <a:endParaRPr kumimoji="0" lang="zh-CN" altLang="en-US" sz="2400" b="1" i="0" u="none" strike="noStrike" kern="0" cap="none" spc="0" normalizeH="0" baseline="0" noProof="0" dirty="0">
              <a:ln>
                <a:noFill/>
              </a:ln>
              <a:solidFill>
                <a:schemeClr val="tx1"/>
              </a:solidFill>
              <a:effectLst/>
              <a:uLnTx/>
              <a:uFillTx/>
              <a:latin typeface="楷体" panose="02010609060101010101" pitchFamily="1" charset="-122"/>
              <a:ea typeface="楷体" panose="02010609060101010101" pitchFamily="1" charset="-122"/>
              <a:cs typeface="+mn-cs"/>
            </a:endParaRPr>
          </a:p>
        </p:txBody>
      </p:sp>
      <p:sp>
        <p:nvSpPr>
          <p:cNvPr id="9" name="Rectangle 3"/>
          <p:cNvSpPr txBox="1">
            <a:spLocks noChangeArrowheads="1"/>
          </p:cNvSpPr>
          <p:nvPr/>
        </p:nvSpPr>
        <p:spPr>
          <a:xfrm>
            <a:off x="622300" y="4220946"/>
            <a:ext cx="6895465" cy="768985"/>
          </a:xfrm>
          <a:prstGeom prst="rect">
            <a:avLst/>
          </a:prstGeom>
          <a:ln>
            <a:solidFill>
              <a:schemeClr val="accent1"/>
            </a:solidFill>
          </a:ln>
        </p:spPr>
        <p:txBody>
          <a:bodyPr/>
          <a:lstStyle/>
          <a:p>
            <a:pPr marL="342900" marR="0" lvl="0" indent="-342900" algn="l" defTabSz="914400" rtl="0" eaLnBrk="0" fontAlgn="base" latinLnBrk="0" hangingPunct="0">
              <a:lnSpc>
                <a:spcPct val="100000"/>
              </a:lnSpc>
              <a:spcBef>
                <a:spcPts val="200"/>
              </a:spcBef>
              <a:spcAft>
                <a:spcPts val="0"/>
              </a:spcAft>
              <a:buClr>
                <a:srgbClr val="0033CC"/>
              </a:buClr>
              <a:buSzPct val="80000"/>
              <a:buFont typeface="Wingdings" panose="05000000000000000000" pitchFamily="2" charset="2"/>
              <a:buChar char="u"/>
              <a:defRPr/>
            </a:pPr>
            <a:r>
              <a:rPr kumimoji="0" lang="zh-CN" altLang="en-US" sz="2400" b="1" i="0" u="none" strike="noStrike" kern="0" cap="none" spc="0" normalizeH="0" baseline="0" noProof="0" dirty="0">
                <a:ln>
                  <a:noFill/>
                </a:ln>
                <a:solidFill>
                  <a:srgbClr val="C00000"/>
                </a:solidFill>
                <a:effectLst/>
                <a:uLnTx/>
                <a:uFillTx/>
                <a:latin typeface="楷体" panose="02010609060101010101" pitchFamily="1" charset="-122"/>
                <a:ea typeface="楷体" panose="02010609060101010101" pitchFamily="1" charset="-122"/>
                <a:cs typeface="+mn-cs"/>
              </a:rPr>
              <a:t>事务</a:t>
            </a:r>
            <a:r>
              <a:rPr kumimoji="0" lang="en-US" altLang="zh-CN" sz="2400" b="1" i="0" u="none" strike="noStrike" kern="0" cap="none" spc="0" normalizeH="0" baseline="0" noProof="0" dirty="0">
                <a:ln>
                  <a:noFill/>
                </a:ln>
                <a:solidFill>
                  <a:srgbClr val="C00000"/>
                </a:solidFill>
                <a:effectLst/>
                <a:uLnTx/>
                <a:uFillTx/>
                <a:latin typeface="楷体" panose="02010609060101010101" pitchFamily="1" charset="-122"/>
                <a:ea typeface="楷体" panose="02010609060101010101" pitchFamily="1" charset="-122"/>
                <a:cs typeface="+mn-cs"/>
              </a:rPr>
              <a:t>2</a:t>
            </a:r>
            <a:r>
              <a:rPr kumimoji="0" lang="zh-CN" altLang="en-US" sz="2400" b="1" i="0" u="none" strike="noStrike" kern="0" cap="none" spc="0" normalizeH="0" baseline="0" noProof="0" dirty="0">
                <a:ln>
                  <a:noFill/>
                </a:ln>
                <a:solidFill>
                  <a:srgbClr val="C00000"/>
                </a:solidFill>
                <a:effectLst/>
                <a:uLnTx/>
                <a:uFillTx/>
                <a:latin typeface="楷体" panose="02010609060101010101" pitchFamily="1" charset="-122"/>
                <a:ea typeface="楷体" panose="02010609060101010101" pitchFamily="1" charset="-122"/>
                <a:cs typeface="+mn-cs"/>
              </a:rPr>
              <a:t>删除了其中部分记录</a:t>
            </a:r>
            <a:r>
              <a:rPr kumimoji="0" lang="zh-CN" altLang="en-US" sz="2400" b="1" i="0" u="none" strike="noStrike" kern="0" cap="none" spc="0" normalizeH="0" baseline="0" noProof="0" dirty="0">
                <a:ln>
                  <a:noFill/>
                </a:ln>
                <a:solidFill>
                  <a:schemeClr val="tx1"/>
                </a:solidFill>
                <a:effectLst/>
                <a:uLnTx/>
                <a:uFillTx/>
                <a:latin typeface="楷体" panose="02010609060101010101" pitchFamily="1" charset="-122"/>
                <a:ea typeface="楷体" panose="02010609060101010101" pitchFamily="1" charset="-122"/>
                <a:cs typeface="+mn-cs"/>
              </a:rPr>
              <a:t>，当事务</a:t>
            </a:r>
            <a:r>
              <a:rPr kumimoji="0" lang="en-US" altLang="zh-CN" sz="2400" b="1" i="0" u="none" strike="noStrike" kern="0" cap="none" spc="0" normalizeH="0" baseline="0" noProof="0" dirty="0">
                <a:ln>
                  <a:noFill/>
                </a:ln>
                <a:solidFill>
                  <a:schemeClr val="tx1"/>
                </a:solidFill>
                <a:effectLst/>
                <a:uLnTx/>
                <a:uFillTx/>
                <a:latin typeface="楷体" panose="02010609060101010101" pitchFamily="1" charset="-122"/>
                <a:ea typeface="楷体" panose="02010609060101010101" pitchFamily="1" charset="-122"/>
                <a:cs typeface="+mn-cs"/>
              </a:rPr>
              <a:t>1</a:t>
            </a:r>
            <a:r>
              <a:rPr kumimoji="0" lang="zh-CN" altLang="en-US" sz="2400" b="1" i="0" u="none" strike="noStrike" kern="0" cap="none" spc="0" normalizeH="0" baseline="0" noProof="0" dirty="0">
                <a:ln>
                  <a:noFill/>
                </a:ln>
                <a:solidFill>
                  <a:schemeClr val="tx1"/>
                </a:solidFill>
                <a:effectLst/>
                <a:uLnTx/>
                <a:uFillTx/>
                <a:latin typeface="楷体" panose="02010609060101010101" pitchFamily="1" charset="-122"/>
                <a:ea typeface="楷体" panose="02010609060101010101" pitchFamily="1" charset="-122"/>
                <a:cs typeface="+mn-cs"/>
              </a:rPr>
              <a:t>再次读取数据时，发现某些记录神秘地消失了。</a:t>
            </a:r>
            <a:endParaRPr kumimoji="0" lang="zh-CN" altLang="en-US" sz="2400" b="1" i="0" u="none" strike="noStrike" kern="0" cap="none" spc="0" normalizeH="0" baseline="0" noProof="0" dirty="0">
              <a:ln>
                <a:noFill/>
              </a:ln>
              <a:solidFill>
                <a:schemeClr val="tx1"/>
              </a:solidFill>
              <a:effectLst/>
              <a:uLnTx/>
              <a:uFillTx/>
              <a:latin typeface="楷体" panose="02010609060101010101" pitchFamily="1" charset="-122"/>
              <a:ea typeface="楷体" panose="02010609060101010101" pitchFamily="1" charset="-122"/>
              <a:cs typeface="+mn-cs"/>
            </a:endParaRPr>
          </a:p>
        </p:txBody>
      </p:sp>
      <p:sp>
        <p:nvSpPr>
          <p:cNvPr id="10" name="Rectangle 3"/>
          <p:cNvSpPr txBox="1">
            <a:spLocks noChangeArrowheads="1"/>
          </p:cNvSpPr>
          <p:nvPr/>
        </p:nvSpPr>
        <p:spPr>
          <a:xfrm>
            <a:off x="622300" y="5146675"/>
            <a:ext cx="6895465" cy="789940"/>
          </a:xfrm>
          <a:prstGeom prst="rect">
            <a:avLst/>
          </a:prstGeom>
          <a:ln>
            <a:solidFill>
              <a:schemeClr val="accent1"/>
            </a:solidFill>
          </a:ln>
        </p:spPr>
        <p:txBody>
          <a:bodyPr/>
          <a:lstStyle/>
          <a:p>
            <a:pPr marL="342900" marR="0" lvl="0" indent="-342900" algn="l" defTabSz="914400" rtl="0" eaLnBrk="0" fontAlgn="base" latinLnBrk="0" hangingPunct="0">
              <a:lnSpc>
                <a:spcPct val="100000"/>
              </a:lnSpc>
              <a:spcBef>
                <a:spcPts val="200"/>
              </a:spcBef>
              <a:spcAft>
                <a:spcPts val="0"/>
              </a:spcAft>
              <a:buClr>
                <a:srgbClr val="0033CC"/>
              </a:buClr>
              <a:buSzPct val="80000"/>
              <a:buFont typeface="Wingdings" panose="05000000000000000000" pitchFamily="2" charset="2"/>
              <a:buChar char="u"/>
              <a:defRPr/>
            </a:pPr>
            <a:r>
              <a:rPr kumimoji="0" lang="zh-CN" altLang="en-US" sz="2400" b="1" i="0" u="none" strike="noStrike" kern="0" cap="none" spc="0" normalizeH="0" baseline="0" noProof="0" dirty="0">
                <a:ln>
                  <a:noFill/>
                </a:ln>
                <a:solidFill>
                  <a:srgbClr val="C00000"/>
                </a:solidFill>
                <a:effectLst/>
                <a:uLnTx/>
                <a:uFillTx/>
                <a:latin typeface="楷体" panose="02010609060101010101" pitchFamily="1" charset="-122"/>
                <a:ea typeface="楷体" panose="02010609060101010101" pitchFamily="1" charset="-122"/>
                <a:cs typeface="+mn-cs"/>
              </a:rPr>
              <a:t>事务</a:t>
            </a:r>
            <a:r>
              <a:rPr kumimoji="0" lang="en-US" altLang="zh-CN" sz="2400" b="1" i="0" u="none" strike="noStrike" kern="0" cap="none" spc="0" normalizeH="0" baseline="0" noProof="0" dirty="0">
                <a:ln>
                  <a:noFill/>
                </a:ln>
                <a:solidFill>
                  <a:srgbClr val="C00000"/>
                </a:solidFill>
                <a:effectLst/>
                <a:uLnTx/>
                <a:uFillTx/>
                <a:latin typeface="楷体" panose="02010609060101010101" pitchFamily="1" charset="-122"/>
                <a:ea typeface="楷体" panose="02010609060101010101" pitchFamily="1" charset="-122"/>
                <a:cs typeface="+mn-cs"/>
              </a:rPr>
              <a:t>2</a:t>
            </a:r>
            <a:r>
              <a:rPr kumimoji="0" lang="zh-CN" altLang="en-US" sz="2400" b="1" i="0" u="none" strike="noStrike" kern="0" cap="none" spc="0" normalizeH="0" baseline="0" noProof="0" dirty="0">
                <a:ln>
                  <a:noFill/>
                </a:ln>
                <a:solidFill>
                  <a:srgbClr val="C00000"/>
                </a:solidFill>
                <a:effectLst/>
                <a:uLnTx/>
                <a:uFillTx/>
                <a:latin typeface="楷体" panose="02010609060101010101" pitchFamily="1" charset="-122"/>
                <a:ea typeface="楷体" panose="02010609060101010101" pitchFamily="1" charset="-122"/>
                <a:cs typeface="+mn-cs"/>
              </a:rPr>
              <a:t>插入了一些记录，</a:t>
            </a:r>
            <a:r>
              <a:rPr kumimoji="0" lang="zh-CN" altLang="en-US" sz="2400" b="1" i="0" u="none" strike="noStrike" kern="0" cap="none" spc="0" normalizeH="0" baseline="0" noProof="0" dirty="0">
                <a:ln>
                  <a:noFill/>
                </a:ln>
                <a:solidFill>
                  <a:schemeClr val="tx1"/>
                </a:solidFill>
                <a:effectLst/>
                <a:uLnTx/>
                <a:uFillTx/>
                <a:latin typeface="楷体" panose="02010609060101010101" pitchFamily="1" charset="-122"/>
                <a:ea typeface="楷体" panose="02010609060101010101" pitchFamily="1" charset="-122"/>
                <a:cs typeface="+mn-cs"/>
              </a:rPr>
              <a:t>当事务</a:t>
            </a:r>
            <a:r>
              <a:rPr kumimoji="0" lang="en-US" altLang="zh-CN" sz="2400" b="1" i="0" u="none" strike="noStrike" kern="0" cap="none" spc="0" normalizeH="0" baseline="0" noProof="0" dirty="0">
                <a:ln>
                  <a:noFill/>
                </a:ln>
                <a:solidFill>
                  <a:schemeClr val="tx1"/>
                </a:solidFill>
                <a:effectLst/>
                <a:uLnTx/>
                <a:uFillTx/>
                <a:latin typeface="楷体" panose="02010609060101010101" pitchFamily="1" charset="-122"/>
                <a:ea typeface="楷体" panose="02010609060101010101" pitchFamily="1" charset="-122"/>
                <a:cs typeface="+mn-cs"/>
              </a:rPr>
              <a:t>1</a:t>
            </a:r>
            <a:r>
              <a:rPr kumimoji="0" lang="zh-CN" altLang="en-US" sz="2400" b="1" i="0" u="none" strike="noStrike" kern="0" cap="none" spc="0" normalizeH="0" baseline="0" noProof="0" dirty="0">
                <a:ln>
                  <a:noFill/>
                </a:ln>
                <a:solidFill>
                  <a:schemeClr val="tx1"/>
                </a:solidFill>
                <a:effectLst/>
                <a:uLnTx/>
                <a:uFillTx/>
                <a:latin typeface="楷体" panose="02010609060101010101" pitchFamily="1" charset="-122"/>
                <a:ea typeface="楷体" panose="02010609060101010101" pitchFamily="1" charset="-122"/>
                <a:cs typeface="+mn-cs"/>
              </a:rPr>
              <a:t>再次按相同条件读取数据时，发现多了一些记录</a:t>
            </a:r>
            <a:endParaRPr kumimoji="0" lang="zh-CN" altLang="en-US" sz="2400" b="1" i="0" u="none" strike="noStrike" kern="0" cap="none" spc="0" normalizeH="0" baseline="0" noProof="0" dirty="0">
              <a:ln>
                <a:noFill/>
              </a:ln>
              <a:solidFill>
                <a:schemeClr val="tx1"/>
              </a:solidFill>
              <a:effectLst/>
              <a:uLnTx/>
              <a:uFillTx/>
              <a:latin typeface="楷体" panose="02010609060101010101" pitchFamily="1" charset="-122"/>
              <a:ea typeface="楷体" panose="02010609060101010101" pitchFamily="1" charset="-122"/>
              <a:cs typeface="+mn-cs"/>
            </a:endParaRPr>
          </a:p>
        </p:txBody>
      </p:sp>
      <p:sp>
        <p:nvSpPr>
          <p:cNvPr id="11" name="右大括号 10"/>
          <p:cNvSpPr/>
          <p:nvPr/>
        </p:nvSpPr>
        <p:spPr>
          <a:xfrm>
            <a:off x="7547610" y="4499610"/>
            <a:ext cx="194310" cy="1353185"/>
          </a:xfrm>
          <a:prstGeom prst="rightBrace">
            <a:avLst/>
          </a:prstGeom>
          <a:ln>
            <a:solidFill>
              <a:srgbClr val="CC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2" name="文本框 11"/>
          <p:cNvSpPr txBox="1"/>
          <p:nvPr/>
        </p:nvSpPr>
        <p:spPr>
          <a:xfrm>
            <a:off x="7868920" y="4673600"/>
            <a:ext cx="890905" cy="829945"/>
          </a:xfrm>
          <a:prstGeom prst="rect">
            <a:avLst/>
          </a:prstGeom>
          <a:noFill/>
        </p:spPr>
        <p:txBody>
          <a:bodyPr wrap="square" rtlCol="0" anchor="t">
            <a:spAutoFit/>
          </a:bodyPr>
          <a:lstStyle/>
          <a:p>
            <a:pPr>
              <a:lnSpc>
                <a:spcPct val="100000"/>
              </a:lnSpc>
              <a:buNone/>
            </a:pPr>
            <a:r>
              <a:rPr lang="zh-CN" altLang="en-US" sz="2400">
                <a:solidFill>
                  <a:srgbClr val="C00000"/>
                </a:solidFill>
                <a:latin typeface="+mj-ea"/>
                <a:ea typeface="+mj-ea"/>
              </a:rPr>
              <a:t>幻影现象</a:t>
            </a:r>
            <a:endParaRPr lang="zh-CN" altLang="en-US" sz="2400">
              <a:solidFill>
                <a:srgbClr val="C00000"/>
              </a:solidFill>
              <a:latin typeface="+mj-ea"/>
              <a:ea typeface="+mj-ea"/>
            </a:endParaRPr>
          </a:p>
        </p:txBody>
      </p:sp>
      <p:pic>
        <p:nvPicPr>
          <p:cNvPr id="14" name="图片 13"/>
          <p:cNvPicPr>
            <a:picLocks noChangeAspect="1"/>
          </p:cNvPicPr>
          <p:nvPr/>
        </p:nvPicPr>
        <p:blipFill>
          <a:blip r:embed="rId1"/>
          <a:stretch>
            <a:fillRect/>
          </a:stretch>
        </p:blipFill>
        <p:spPr>
          <a:xfrm>
            <a:off x="5064760" y="1864995"/>
            <a:ext cx="3695065" cy="4302125"/>
          </a:xfrm>
          <a:prstGeom prst="rect">
            <a:avLst/>
          </a:prstGeom>
        </p:spPr>
      </p:pic>
      <p:sp>
        <p:nvSpPr>
          <p:cNvPr id="18" name="Rectangle 2"/>
          <p:cNvSpPr/>
          <p:nvPr/>
        </p:nvSpPr>
        <p:spPr>
          <a:xfrm>
            <a:off x="417513" y="55563"/>
            <a:ext cx="8229600" cy="692150"/>
          </a:xfrm>
          <a:prstGeom prst="rect">
            <a:avLst/>
          </a:prstGeom>
          <a:noFill/>
          <a:ln w="9525">
            <a:noFill/>
          </a:ln>
        </p:spPr>
        <p:txBody>
          <a:bodyPr anchor="ctr"/>
          <a:lstStyle/>
          <a:p>
            <a:pPr lvl="0" indent="0">
              <a:buFont typeface="Wingdings" panose="05000000000000000000" pitchFamily="2" charset="2"/>
              <a:buNone/>
            </a:pPr>
            <a:r>
              <a:rPr lang="zh-CN" altLang="en-US" sz="3200" dirty="0" smtClean="0">
                <a:solidFill>
                  <a:srgbClr val="0033CC"/>
                </a:solidFill>
                <a:ea typeface="黑体" panose="02010609060101010101" pitchFamily="1" charset="-122"/>
              </a:rPr>
              <a:t>一</a:t>
            </a:r>
            <a:r>
              <a:rPr lang="zh-CN" altLang="en-US" sz="3200" dirty="0" smtClean="0">
                <a:solidFill>
                  <a:srgbClr val="0033CC"/>
                </a:solidFill>
                <a:latin typeface="Arial" panose="020B0604020202020204" pitchFamily="34" charset="0"/>
                <a:ea typeface="黑体" panose="02010609060101010101" pitchFamily="1" charset="-122"/>
              </a:rPr>
              <a:t>、事务</a:t>
            </a:r>
            <a:r>
              <a:rPr lang="zh-CN" altLang="en-US" sz="3200" dirty="0" smtClean="0">
                <a:solidFill>
                  <a:srgbClr val="0033CC"/>
                </a:solidFill>
                <a:ea typeface="黑体" panose="02010609060101010101" pitchFamily="1" charset="-122"/>
                <a:cs typeface="+mn-ea"/>
                <a:sym typeface="+mn-ea"/>
              </a:rPr>
              <a:t>并发可能引起的问题</a:t>
            </a:r>
            <a:endParaRPr lang="zh-CN" altLang="en-US" sz="3200" dirty="0" smtClean="0">
              <a:solidFill>
                <a:srgbClr val="0033CC"/>
              </a:solidFill>
              <a:latin typeface="Arial" panose="020B0604020202020204" pitchFamily="34" charset="0"/>
              <a:ea typeface="黑体" panose="02010609060101010101" pitchFamily="1" charset="-122"/>
              <a:cs typeface="+mn-ea"/>
            </a:endParaRPr>
          </a:p>
        </p:txBody>
      </p:sp>
      <p:sp>
        <p:nvSpPr>
          <p:cNvPr id="19" name="Rectangle 7"/>
          <p:cNvSpPr/>
          <p:nvPr/>
        </p:nvSpPr>
        <p:spPr>
          <a:xfrm>
            <a:off x="454025" y="793750"/>
            <a:ext cx="6261100" cy="609600"/>
          </a:xfrm>
          <a:prstGeom prst="rect">
            <a:avLst/>
          </a:prstGeom>
          <a:noFill/>
          <a:ln w="9525">
            <a:noFill/>
          </a:ln>
        </p:spPr>
        <p:txBody>
          <a:bodyPr wrap="none" anchor="ctr"/>
          <a:lstStyle/>
          <a:p>
            <a:pPr lvl="0" indent="0" algn="just">
              <a:spcBef>
                <a:spcPct val="20000"/>
              </a:spcBef>
              <a:buClr>
                <a:schemeClr val="folHlink"/>
              </a:buClr>
              <a:buSzPct val="75000"/>
              <a:buFont typeface="Wingdings" panose="05000000000000000000" pitchFamily="2" charset="2"/>
              <a:buNone/>
            </a:pPr>
            <a:r>
              <a:rPr lang="en-US" altLang="x-none" sz="2800" dirty="0">
                <a:solidFill>
                  <a:srgbClr val="FF0000"/>
                </a:solidFill>
                <a:latin typeface="黑体" panose="02010609060101010101" pitchFamily="1" charset="-122"/>
                <a:ea typeface="黑体" panose="02010609060101010101" pitchFamily="1" charset="-122"/>
              </a:rPr>
              <a:t>4</a:t>
            </a:r>
            <a:r>
              <a:rPr lang="zh-CN" altLang="en-US" sz="2800" dirty="0">
                <a:solidFill>
                  <a:srgbClr val="FF0000"/>
                </a:solidFill>
                <a:latin typeface="黑体" panose="02010609060101010101" pitchFamily="1" charset="-122"/>
                <a:ea typeface="黑体" panose="02010609060101010101" pitchFamily="1" charset="-122"/>
              </a:rPr>
              <a:t>、并发执行引起的</a:t>
            </a:r>
            <a:r>
              <a:rPr lang="en-US" altLang="zh-CN" sz="2800" dirty="0">
                <a:solidFill>
                  <a:srgbClr val="FF0000"/>
                </a:solidFill>
                <a:latin typeface="黑体" panose="02010609060101010101" pitchFamily="1" charset="-122"/>
                <a:ea typeface="黑体" panose="02010609060101010101" pitchFamily="1" charset="-122"/>
              </a:rPr>
              <a:t>“</a:t>
            </a:r>
            <a:r>
              <a:rPr lang="zh-CN" altLang="en-US" sz="2800" dirty="0">
                <a:solidFill>
                  <a:srgbClr val="FF0000"/>
                </a:solidFill>
                <a:latin typeface="黑体" panose="02010609060101010101" pitchFamily="1" charset="-122"/>
                <a:ea typeface="黑体" panose="02010609060101010101" pitchFamily="1" charset="-122"/>
              </a:rPr>
              <a:t>读值不可复现</a:t>
            </a:r>
            <a:r>
              <a:rPr lang="en-US" altLang="zh-CN" sz="2800" dirty="0">
                <a:solidFill>
                  <a:srgbClr val="FF0000"/>
                </a:solidFill>
                <a:latin typeface="黑体" panose="02010609060101010101" pitchFamily="1" charset="-122"/>
                <a:ea typeface="黑体" panose="02010609060101010101" pitchFamily="1" charset="-122"/>
              </a:rPr>
              <a:t>”</a:t>
            </a:r>
            <a:r>
              <a:rPr lang="zh-CN" altLang="en-US" sz="2800" dirty="0">
                <a:solidFill>
                  <a:srgbClr val="FF0000"/>
                </a:solidFill>
                <a:latin typeface="黑体" panose="02010609060101010101" pitchFamily="1" charset="-122"/>
                <a:ea typeface="黑体" panose="02010609060101010101" pitchFamily="1" charset="-122"/>
              </a:rPr>
              <a:t>问题</a:t>
            </a:r>
            <a:endParaRPr lang="en-US" altLang="x-none" sz="2800" dirty="0">
              <a:solidFill>
                <a:srgbClr val="FF0000"/>
              </a:solidFill>
              <a:latin typeface="黑体" panose="02010609060101010101" pitchFamily="1" charset="-122"/>
              <a:ea typeface="黑体" panose="02010609060101010101" pitchFamily="1" charset="-122"/>
            </a:endParaRPr>
          </a:p>
        </p:txBody>
      </p:sp>
      <p:sp>
        <p:nvSpPr>
          <p:cNvPr id="20" name="Rectangle 5"/>
          <p:cNvSpPr/>
          <p:nvPr/>
        </p:nvSpPr>
        <p:spPr>
          <a:xfrm>
            <a:off x="588328" y="4947285"/>
            <a:ext cx="8291512" cy="1200150"/>
          </a:xfrm>
          <a:prstGeom prst="rect">
            <a:avLst/>
          </a:prstGeom>
          <a:solidFill>
            <a:srgbClr val="CCFFFF"/>
          </a:solidFill>
          <a:ln w="9525">
            <a:noFill/>
          </a:ln>
        </p:spPr>
        <p:txBody>
          <a:bodyPr lIns="90000" tIns="46800" rIns="90000" bIns="46800" anchor="t">
            <a:spAutoFit/>
          </a:bodyPr>
          <a:lstStyle/>
          <a:p>
            <a:pPr lvl="0" indent="0"/>
            <a:r>
              <a:rPr lang="zh-CN" altLang="en-US" sz="2400" dirty="0">
                <a:solidFill>
                  <a:srgbClr val="FF0000"/>
                </a:solidFill>
                <a:latin typeface="华文中宋" panose="02010600040101010101" charset="-122"/>
                <a:ea typeface="华文中宋" panose="02010600040101010101" charset="-122"/>
              </a:rPr>
              <a:t>结论：</a:t>
            </a:r>
            <a:r>
              <a:rPr lang="zh-CN" altLang="en-US" sz="2400" dirty="0">
                <a:latin typeface="华文楷体" panose="02010600040101010101" pitchFamily="2" charset="-122"/>
                <a:ea typeface="华文楷体" panose="02010600040101010101" pitchFamily="2" charset="-122"/>
              </a:rPr>
              <a:t>由上可以看出，把不同事务中对同一对象进行</a:t>
            </a:r>
            <a:r>
              <a:rPr lang="en-US" altLang="x-none" sz="2400" dirty="0">
                <a:latin typeface="华文楷体" panose="02010600040101010101" pitchFamily="2" charset="-122"/>
                <a:ea typeface="华文楷体" panose="02010600040101010101" pitchFamily="2" charset="-122"/>
              </a:rPr>
              <a:t>WW</a:t>
            </a:r>
            <a:r>
              <a:rPr lang="zh-CN" altLang="en-US" sz="2400" dirty="0">
                <a:latin typeface="华文楷体" panose="02010600040101010101" pitchFamily="2" charset="-122"/>
                <a:ea typeface="华文楷体" panose="02010600040101010101" pitchFamily="2" charset="-122"/>
              </a:rPr>
              <a:t>、</a:t>
            </a:r>
            <a:r>
              <a:rPr lang="en-US" altLang="x-none" sz="2400" dirty="0">
                <a:latin typeface="华文楷体" panose="02010600040101010101" pitchFamily="2" charset="-122"/>
                <a:ea typeface="华文楷体" panose="02010600040101010101" pitchFamily="2" charset="-122"/>
              </a:rPr>
              <a:t>RW</a:t>
            </a:r>
            <a:r>
              <a:rPr lang="zh-CN" altLang="en-US" sz="2400" dirty="0">
                <a:latin typeface="华文楷体" panose="02010600040101010101" pitchFamily="2" charset="-122"/>
                <a:ea typeface="华文楷体" panose="02010600040101010101" pitchFamily="2" charset="-122"/>
              </a:rPr>
              <a:t>或</a:t>
            </a:r>
            <a:r>
              <a:rPr lang="en-US" altLang="x-none" sz="2400" dirty="0">
                <a:latin typeface="华文楷体" panose="02010600040101010101" pitchFamily="2" charset="-122"/>
                <a:ea typeface="华文楷体" panose="02010600040101010101" pitchFamily="2" charset="-122"/>
              </a:rPr>
              <a:t>WR</a:t>
            </a:r>
            <a:r>
              <a:rPr lang="zh-CN" altLang="en-US" sz="2400" dirty="0">
                <a:latin typeface="华文楷体" panose="02010600040101010101" pitchFamily="2" charset="-122"/>
                <a:ea typeface="华文楷体" panose="02010600040101010101" pitchFamily="2" charset="-122"/>
              </a:rPr>
              <a:t>的操作进行交错都会造成冲突，因此，在安排事务操作交错（即并发执行）时，应避免把这类操作放在一起。</a:t>
            </a:r>
            <a:endParaRPr lang="zh-CN" altLang="en-US" sz="2400" dirty="0">
              <a:latin typeface="华文楷体" panose="02010600040101010101" pitchFamily="2" charset="-122"/>
              <a:ea typeface="华文楷体" panose="0201060004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8"/>
                                        </p:tgtEl>
                                        <p:attrNameLst>
                                          <p:attrName>style.visibility</p:attrName>
                                        </p:attrNameLst>
                                      </p:cBhvr>
                                      <p:to>
                                        <p:strVal val="visible"/>
                                      </p:to>
                                    </p:set>
                                    <p:anim calcmode="lin" valueType="num">
                                      <p:cBhvr additive="base">
                                        <p:cTn id="13" dur="500" fill="hold"/>
                                        <p:tgtEl>
                                          <p:spTgt spid="8"/>
                                        </p:tgtEl>
                                        <p:attrNameLst>
                                          <p:attrName>ppt_x</p:attrName>
                                        </p:attrNameLst>
                                      </p:cBhvr>
                                      <p:tavLst>
                                        <p:tav tm="0">
                                          <p:val>
                                            <p:strVal val="#ppt_x"/>
                                          </p:val>
                                        </p:tav>
                                        <p:tav tm="100000">
                                          <p:val>
                                            <p:strVal val="#ppt_x"/>
                                          </p:val>
                                        </p:tav>
                                      </p:tavLst>
                                    </p:anim>
                                    <p:anim calcmode="lin" valueType="num">
                                      <p:cBhvr additive="base">
                                        <p:cTn id="14"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anim calcmode="lin" valueType="num">
                                      <p:cBhvr additive="base">
                                        <p:cTn id="19" dur="500" fill="hold"/>
                                        <p:tgtEl>
                                          <p:spTgt spid="9"/>
                                        </p:tgtEl>
                                        <p:attrNameLst>
                                          <p:attrName>ppt_x</p:attrName>
                                        </p:attrNameLst>
                                      </p:cBhvr>
                                      <p:tavLst>
                                        <p:tav tm="0">
                                          <p:val>
                                            <p:strVal val="#ppt_x"/>
                                          </p:val>
                                        </p:tav>
                                        <p:tav tm="100000">
                                          <p:val>
                                            <p:strVal val="#ppt_x"/>
                                          </p:val>
                                        </p:tav>
                                      </p:tavLst>
                                    </p:anim>
                                    <p:anim calcmode="lin" valueType="num">
                                      <p:cBhvr additive="base">
                                        <p:cTn id="20"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0"/>
                                        </p:tgtEl>
                                        <p:attrNameLst>
                                          <p:attrName>style.visibility</p:attrName>
                                        </p:attrNameLst>
                                      </p:cBhvr>
                                      <p:to>
                                        <p:strVal val="visible"/>
                                      </p:to>
                                    </p:set>
                                    <p:anim calcmode="lin" valueType="num">
                                      <p:cBhvr additive="base">
                                        <p:cTn id="25" dur="500" fill="hold"/>
                                        <p:tgtEl>
                                          <p:spTgt spid="10"/>
                                        </p:tgtEl>
                                        <p:attrNameLst>
                                          <p:attrName>ppt_x</p:attrName>
                                        </p:attrNameLst>
                                      </p:cBhvr>
                                      <p:tavLst>
                                        <p:tav tm="0">
                                          <p:val>
                                            <p:strVal val="#ppt_x"/>
                                          </p:val>
                                        </p:tav>
                                        <p:tav tm="100000">
                                          <p:val>
                                            <p:strVal val="#ppt_x"/>
                                          </p:val>
                                        </p:tav>
                                      </p:tavLst>
                                    </p:anim>
                                    <p:anim calcmode="lin" valueType="num">
                                      <p:cBhvr additive="base">
                                        <p:cTn id="26"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12"/>
                                        </p:tgtEl>
                                        <p:attrNameLst>
                                          <p:attrName>style.visibility</p:attrName>
                                        </p:attrNameLst>
                                      </p:cBhvr>
                                      <p:to>
                                        <p:strVal val="visible"/>
                                      </p:to>
                                    </p:set>
                                    <p:anim calcmode="lin" valueType="num">
                                      <p:cBhvr additive="base">
                                        <p:cTn id="31" dur="500" fill="hold"/>
                                        <p:tgtEl>
                                          <p:spTgt spid="12"/>
                                        </p:tgtEl>
                                        <p:attrNameLst>
                                          <p:attrName>ppt_x</p:attrName>
                                        </p:attrNameLst>
                                      </p:cBhvr>
                                      <p:tavLst>
                                        <p:tav tm="0">
                                          <p:val>
                                            <p:strVal val="#ppt_x"/>
                                          </p:val>
                                        </p:tav>
                                        <p:tav tm="100000">
                                          <p:val>
                                            <p:strVal val="#ppt_x"/>
                                          </p:val>
                                        </p:tav>
                                      </p:tavLst>
                                    </p:anim>
                                    <p:anim calcmode="lin" valueType="num">
                                      <p:cBhvr additive="base">
                                        <p:cTn id="32" dur="500" fill="hold"/>
                                        <p:tgtEl>
                                          <p:spTgt spid="12"/>
                                        </p:tgtEl>
                                        <p:attrNameLst>
                                          <p:attrName>ppt_y</p:attrName>
                                        </p:attrNameLst>
                                      </p:cBhvr>
                                      <p:tavLst>
                                        <p:tav tm="0">
                                          <p:val>
                                            <p:strVal val="1+#ppt_h/2"/>
                                          </p:val>
                                        </p:tav>
                                        <p:tav tm="100000">
                                          <p:val>
                                            <p:strVal val="#ppt_y"/>
                                          </p:val>
                                        </p:tav>
                                      </p:tavLst>
                                    </p:anim>
                                  </p:childTnLst>
                                </p:cTn>
                              </p:par>
                              <p:par>
                                <p:cTn id="33" presetID="2" presetClass="entr" presetSubtype="4" fill="hold" grpId="0" nodeType="withEffect">
                                  <p:stCondLst>
                                    <p:cond delay="0"/>
                                  </p:stCondLst>
                                  <p:childTnLst>
                                    <p:set>
                                      <p:cBhvr>
                                        <p:cTn id="34" dur="1" fill="hold">
                                          <p:stCondLst>
                                            <p:cond delay="0"/>
                                          </p:stCondLst>
                                        </p:cTn>
                                        <p:tgtEl>
                                          <p:spTgt spid="11"/>
                                        </p:tgtEl>
                                        <p:attrNameLst>
                                          <p:attrName>style.visibility</p:attrName>
                                        </p:attrNameLst>
                                      </p:cBhvr>
                                      <p:to>
                                        <p:strVal val="visible"/>
                                      </p:to>
                                    </p:set>
                                    <p:anim calcmode="lin" valueType="num">
                                      <p:cBhvr additive="base">
                                        <p:cTn id="35" dur="500" fill="hold"/>
                                        <p:tgtEl>
                                          <p:spTgt spid="11"/>
                                        </p:tgtEl>
                                        <p:attrNameLst>
                                          <p:attrName>ppt_x</p:attrName>
                                        </p:attrNameLst>
                                      </p:cBhvr>
                                      <p:tavLst>
                                        <p:tav tm="0">
                                          <p:val>
                                            <p:strVal val="#ppt_x"/>
                                          </p:val>
                                        </p:tav>
                                        <p:tav tm="100000">
                                          <p:val>
                                            <p:strVal val="#ppt_x"/>
                                          </p:val>
                                        </p:tav>
                                      </p:tavLst>
                                    </p:anim>
                                    <p:anim calcmode="lin" valueType="num">
                                      <p:cBhvr additive="base">
                                        <p:cTn id="36"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 presetClass="entr" presetSubtype="4" fill="hold" nodeType="clickEffect">
                                  <p:stCondLst>
                                    <p:cond delay="0"/>
                                  </p:stCondLst>
                                  <p:childTnLst>
                                    <p:set>
                                      <p:cBhvr>
                                        <p:cTn id="40" dur="1" fill="hold">
                                          <p:stCondLst>
                                            <p:cond delay="0"/>
                                          </p:stCondLst>
                                        </p:cTn>
                                        <p:tgtEl>
                                          <p:spTgt spid="14"/>
                                        </p:tgtEl>
                                        <p:attrNameLst>
                                          <p:attrName>style.visibility</p:attrName>
                                        </p:attrNameLst>
                                      </p:cBhvr>
                                      <p:to>
                                        <p:strVal val="visible"/>
                                      </p:to>
                                    </p:set>
                                    <p:anim calcmode="lin" valueType="num">
                                      <p:cBhvr additive="base">
                                        <p:cTn id="41" dur="500" fill="hold"/>
                                        <p:tgtEl>
                                          <p:spTgt spid="14"/>
                                        </p:tgtEl>
                                        <p:attrNameLst>
                                          <p:attrName>ppt_x</p:attrName>
                                        </p:attrNameLst>
                                      </p:cBhvr>
                                      <p:tavLst>
                                        <p:tav tm="0">
                                          <p:val>
                                            <p:strVal val="#ppt_x"/>
                                          </p:val>
                                        </p:tav>
                                        <p:tav tm="100000">
                                          <p:val>
                                            <p:strVal val="#ppt_x"/>
                                          </p:val>
                                        </p:tav>
                                      </p:tavLst>
                                    </p:anim>
                                    <p:anim calcmode="lin" valueType="num">
                                      <p:cBhvr additive="base">
                                        <p:cTn id="42"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13" presetClass="entr" presetSubtype="16" fill="hold" grpId="0" nodeType="clickEffect">
                                  <p:stCondLst>
                                    <p:cond delay="0"/>
                                  </p:stCondLst>
                                  <p:childTnLst>
                                    <p:set>
                                      <p:cBhvr>
                                        <p:cTn id="46" dur="1" fill="hold">
                                          <p:stCondLst>
                                            <p:cond delay="0"/>
                                          </p:stCondLst>
                                        </p:cTn>
                                        <p:tgtEl>
                                          <p:spTgt spid="20"/>
                                        </p:tgtEl>
                                        <p:attrNameLst>
                                          <p:attrName>style.visibility</p:attrName>
                                        </p:attrNameLst>
                                      </p:cBhvr>
                                      <p:to>
                                        <p:strVal val="visible"/>
                                      </p:to>
                                    </p:set>
                                    <p:animEffect transition="in" filter="plus(in)">
                                      <p:cBhvr>
                                        <p:cTn id="47" dur="20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animBg="1"/>
      <p:bldP spid="9" grpId="0" animBg="1"/>
      <p:bldP spid="10" grpId="0" animBg="1"/>
      <p:bldP spid="11" grpId="0" animBg="1"/>
      <p:bldP spid="12" grpId="0"/>
      <p:bldP spid="20" grpId="0" bldLvl="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1" name="Rectangle 3"/>
          <p:cNvSpPr txBox="1"/>
          <p:nvPr/>
        </p:nvSpPr>
        <p:spPr>
          <a:xfrm>
            <a:off x="517525" y="854075"/>
            <a:ext cx="7178675" cy="706438"/>
          </a:xfrm>
          <a:prstGeom prst="rect">
            <a:avLst/>
          </a:prstGeom>
          <a:noFill/>
          <a:ln w="9525">
            <a:noFill/>
          </a:ln>
        </p:spPr>
        <p:txBody>
          <a:bodyPr anchor="t"/>
          <a:lstStyle/>
          <a:p>
            <a:pPr lvl="0" indent="0" eaLnBrk="0" hangingPunct="0"/>
            <a:r>
              <a:rPr lang="en-US" altLang="x-none" sz="2800" dirty="0" smtClean="0">
                <a:solidFill>
                  <a:srgbClr val="FF0000"/>
                </a:solidFill>
                <a:latin typeface="黑体" panose="02010609060101010101" pitchFamily="1" charset="-122"/>
                <a:ea typeface="黑体" panose="02010609060101010101" pitchFamily="1" charset="-122"/>
              </a:rPr>
              <a:t>1</a:t>
            </a:r>
            <a:r>
              <a:rPr lang="zh-CN" altLang="en-US" sz="2800" dirty="0" smtClean="0">
                <a:solidFill>
                  <a:srgbClr val="FF0000"/>
                </a:solidFill>
                <a:latin typeface="黑体" panose="02010609060101010101" pitchFamily="1" charset="-122"/>
                <a:ea typeface="黑体" panose="02010609060101010101" pitchFamily="1" charset="-122"/>
              </a:rPr>
              <a:t>、事务调度</a:t>
            </a:r>
            <a:endParaRPr lang="en-US" altLang="x-none" sz="2800" dirty="0">
              <a:solidFill>
                <a:srgbClr val="FF0000"/>
              </a:solidFill>
              <a:latin typeface="黑体" panose="02010609060101010101" pitchFamily="1" charset="-122"/>
              <a:ea typeface="黑体" panose="02010609060101010101" pitchFamily="1" charset="-122"/>
            </a:endParaRPr>
          </a:p>
        </p:txBody>
      </p:sp>
      <p:sp>
        <p:nvSpPr>
          <p:cNvPr id="97282" name="Rectangle 4"/>
          <p:cNvSpPr txBox="1"/>
          <p:nvPr/>
        </p:nvSpPr>
        <p:spPr>
          <a:xfrm>
            <a:off x="514350" y="1447800"/>
            <a:ext cx="8355013" cy="4794250"/>
          </a:xfrm>
          <a:prstGeom prst="rect">
            <a:avLst/>
          </a:prstGeom>
          <a:noFill/>
          <a:ln w="9525">
            <a:noFill/>
          </a:ln>
        </p:spPr>
        <p:txBody>
          <a:bodyPr anchor="t"/>
          <a:lstStyle/>
          <a:p>
            <a:pPr marL="342900" lvl="0" indent="-342900" eaLnBrk="0" hangingPunct="0">
              <a:lnSpc>
                <a:spcPct val="110000"/>
              </a:lnSpc>
              <a:spcBef>
                <a:spcPct val="20000"/>
              </a:spcBef>
              <a:buClr>
                <a:srgbClr val="0033CC"/>
              </a:buClr>
              <a:buSzPct val="80000"/>
              <a:buFont typeface="Wingdings" panose="05000000000000000000" pitchFamily="2" charset="2"/>
              <a:buChar char="u"/>
            </a:pPr>
            <a:r>
              <a:rPr lang="zh-CN" altLang="en-US" sz="2400" u="sng" dirty="0">
                <a:solidFill>
                  <a:srgbClr val="000099"/>
                </a:solidFill>
                <a:latin typeface="华文楷体" panose="02010600040101010101" pitchFamily="2" charset="-122"/>
                <a:ea typeface="宋体" panose="02010600030101010101" pitchFamily="2" charset="-122"/>
                <a:sym typeface="Wingdings" panose="05000000000000000000" pitchFamily="2" charset="2"/>
              </a:rPr>
              <a:t>调度</a:t>
            </a:r>
            <a:r>
              <a:rPr lang="en-US" altLang="x-none" sz="2400" u="sng" dirty="0">
                <a:solidFill>
                  <a:srgbClr val="000099"/>
                </a:solidFill>
                <a:latin typeface="华文楷体" panose="02010600040101010101" pitchFamily="2" charset="-122"/>
                <a:ea typeface="宋体" panose="02010600030101010101" pitchFamily="2" charset="-122"/>
                <a:sym typeface="Wingdings" panose="05000000000000000000" pitchFamily="2" charset="2"/>
              </a:rPr>
              <a:t>(Schedule)</a:t>
            </a:r>
            <a:r>
              <a:rPr lang="zh-CN" altLang="en-US" sz="2400" u="sng" dirty="0">
                <a:solidFill>
                  <a:srgbClr val="000099"/>
                </a:solidFill>
                <a:latin typeface="华文楷体" panose="02010600040101010101" pitchFamily="2" charset="-122"/>
                <a:ea typeface="宋体" panose="02010600030101010101" pitchFamily="2" charset="-122"/>
                <a:sym typeface="Wingdings" panose="05000000000000000000" pitchFamily="2" charset="2"/>
              </a:rPr>
              <a:t>：</a:t>
            </a:r>
            <a:r>
              <a:rPr lang="zh-CN" altLang="en-US" sz="2400" dirty="0">
                <a:latin typeface="华文楷体" panose="02010600040101010101" pitchFamily="2" charset="-122"/>
                <a:ea typeface="宋体" panose="02010600030101010101" pitchFamily="2" charset="-122"/>
                <a:sym typeface="Wingdings" panose="05000000000000000000" pitchFamily="2" charset="2"/>
              </a:rPr>
              <a:t>事务中所有操作的执行序列。</a:t>
            </a:r>
            <a:endParaRPr lang="zh-CN" altLang="en-US" sz="2400" dirty="0">
              <a:latin typeface="华文楷体" panose="02010600040101010101" pitchFamily="2" charset="-122"/>
              <a:ea typeface="宋体" panose="02010600030101010101" pitchFamily="2" charset="-122"/>
              <a:sym typeface="Wingdings" panose="05000000000000000000" pitchFamily="2" charset="2"/>
            </a:endParaRPr>
          </a:p>
          <a:p>
            <a:pPr marL="742950" lvl="1" indent="-285750" eaLnBrk="0" hangingPunct="0">
              <a:lnSpc>
                <a:spcPct val="110000"/>
              </a:lnSpc>
              <a:spcBef>
                <a:spcPct val="20000"/>
              </a:spcBef>
              <a:buClr>
                <a:schemeClr val="accent2"/>
              </a:buClr>
              <a:buSzPct val="70000"/>
            </a:pPr>
            <a:r>
              <a:rPr lang="en-US" altLang="x-none" sz="2400" dirty="0">
                <a:latin typeface="华文楷体" panose="02010600040101010101" pitchFamily="2" charset="-122"/>
                <a:ea typeface="宋体" panose="02010600030101010101" pitchFamily="2" charset="-122"/>
                <a:sym typeface="Wingdings" panose="05000000000000000000" pitchFamily="2" charset="2"/>
              </a:rPr>
              <a:t>---</a:t>
            </a:r>
            <a:r>
              <a:rPr lang="zh-CN" altLang="en-US" sz="2400" dirty="0">
                <a:latin typeface="华文楷体" panose="02010600040101010101" pitchFamily="2" charset="-122"/>
                <a:ea typeface="宋体" panose="02010600030101010101" pitchFamily="2" charset="-122"/>
                <a:sym typeface="Wingdings" panose="05000000000000000000" pitchFamily="2" charset="2"/>
              </a:rPr>
              <a:t>如果多个事物依次执行，则称为事物的</a:t>
            </a:r>
            <a:r>
              <a:rPr lang="zh-CN" altLang="en-US" sz="2400" u="sng" dirty="0">
                <a:solidFill>
                  <a:srgbClr val="0033CC"/>
                </a:solidFill>
                <a:latin typeface="华文楷体" panose="02010600040101010101" pitchFamily="2" charset="-122"/>
                <a:ea typeface="宋体" panose="02010600030101010101" pitchFamily="2" charset="-122"/>
                <a:sym typeface="Wingdings" panose="05000000000000000000" pitchFamily="2" charset="2"/>
              </a:rPr>
              <a:t>串行调度</a:t>
            </a:r>
            <a:r>
              <a:rPr lang="zh-CN" altLang="en-US" sz="2400" dirty="0">
                <a:latin typeface="华文楷体" panose="02010600040101010101" pitchFamily="2" charset="-122"/>
                <a:ea typeface="宋体" panose="02010600030101010101" pitchFamily="2" charset="-122"/>
                <a:sym typeface="Wingdings" panose="05000000000000000000" pitchFamily="2" charset="2"/>
              </a:rPr>
              <a:t>。如果利用分时法，同时处理多个事物，则称为</a:t>
            </a:r>
            <a:r>
              <a:rPr lang="zh-CN" altLang="en-US" sz="2400" u="sng" dirty="0">
                <a:solidFill>
                  <a:srgbClr val="0033CC"/>
                </a:solidFill>
                <a:latin typeface="华文楷体" panose="02010600040101010101" pitchFamily="2" charset="-122"/>
                <a:ea typeface="宋体" panose="02010600030101010101" pitchFamily="2" charset="-122"/>
                <a:sym typeface="Wingdings" panose="05000000000000000000" pitchFamily="2" charset="2"/>
              </a:rPr>
              <a:t>并发调度</a:t>
            </a:r>
            <a:r>
              <a:rPr lang="zh-CN" altLang="en-US" sz="2400" dirty="0">
                <a:latin typeface="华文楷体" panose="02010600040101010101" pitchFamily="2" charset="-122"/>
                <a:ea typeface="宋体" panose="02010600030101010101" pitchFamily="2" charset="-122"/>
                <a:sym typeface="Wingdings" panose="05000000000000000000" pitchFamily="2" charset="2"/>
              </a:rPr>
              <a:t>。</a:t>
            </a:r>
            <a:endParaRPr lang="zh-CN" altLang="en-US" sz="2400" dirty="0">
              <a:latin typeface="华文楷体" panose="02010600040101010101" pitchFamily="2" charset="-122"/>
              <a:ea typeface="宋体" panose="02010600030101010101" pitchFamily="2" charset="-122"/>
              <a:sym typeface="Wingdings" panose="05000000000000000000" pitchFamily="2" charset="2"/>
            </a:endParaRPr>
          </a:p>
          <a:p>
            <a:pPr marL="342900" lvl="0" indent="-342900" eaLnBrk="0" hangingPunct="0">
              <a:lnSpc>
                <a:spcPct val="110000"/>
              </a:lnSpc>
              <a:spcBef>
                <a:spcPct val="50000"/>
              </a:spcBef>
              <a:buClr>
                <a:srgbClr val="0033CC"/>
              </a:buClr>
              <a:buSzPct val="80000"/>
              <a:buFont typeface="Wingdings" panose="05000000000000000000" pitchFamily="2" charset="2"/>
              <a:buChar char="u"/>
            </a:pPr>
            <a:r>
              <a:rPr lang="zh-CN" altLang="en-US" sz="2400" u="sng" dirty="0">
                <a:solidFill>
                  <a:srgbClr val="000099"/>
                </a:solidFill>
                <a:latin typeface="华文楷体" panose="02010600040101010101" pitchFamily="2" charset="-122"/>
                <a:sym typeface="Wingdings" panose="05000000000000000000" pitchFamily="2" charset="2"/>
              </a:rPr>
              <a:t>对调度的要求：</a:t>
            </a:r>
            <a:r>
              <a:rPr lang="zh-CN" altLang="en-US" sz="2400" dirty="0">
                <a:latin typeface="华文楷体" panose="02010600040101010101" pitchFamily="2" charset="-122"/>
                <a:sym typeface="Wingdings" panose="05000000000000000000" pitchFamily="2" charset="2"/>
              </a:rPr>
              <a:t>一个事务中的操作在调度中的顺序应该与它们在事务中的顺序一致。 </a:t>
            </a:r>
            <a:endParaRPr lang="en-US" altLang="x-none" sz="2400" dirty="0">
              <a:latin typeface="华文楷体" panose="02010600040101010101" pitchFamily="2" charset="-122"/>
              <a:ea typeface="宋体" panose="02010600030101010101" pitchFamily="2" charset="-122"/>
              <a:sym typeface="Wingdings" panose="05000000000000000000" pitchFamily="2" charset="2"/>
            </a:endParaRPr>
          </a:p>
          <a:p>
            <a:pPr marL="342900" lvl="0" indent="-342900" eaLnBrk="0" hangingPunct="0">
              <a:lnSpc>
                <a:spcPct val="110000"/>
              </a:lnSpc>
              <a:spcBef>
                <a:spcPct val="20000"/>
              </a:spcBef>
              <a:buClr>
                <a:srgbClr val="0033CC"/>
              </a:buClr>
              <a:buSzPct val="80000"/>
            </a:pPr>
            <a:r>
              <a:rPr lang="zh-CN" altLang="en-US" sz="2400" dirty="0">
                <a:latin typeface="华文楷体" panose="02010600040101010101" pitchFamily="2" charset="-122"/>
                <a:ea typeface="宋体" panose="02010600030101010101" pitchFamily="2" charset="-122"/>
              </a:rPr>
              <a:t>例：设事务</a:t>
            </a:r>
            <a:r>
              <a:rPr lang="en-US" altLang="x-none" sz="2400" dirty="0">
                <a:latin typeface="华文楷体" panose="02010600040101010101" pitchFamily="2" charset="-122"/>
                <a:ea typeface="宋体" panose="02010600030101010101" pitchFamily="2" charset="-122"/>
              </a:rPr>
              <a:t>1</a:t>
            </a:r>
            <a:r>
              <a:rPr lang="zh-CN" altLang="en-US" sz="2400" dirty="0">
                <a:latin typeface="华文楷体" panose="02010600040101010101" pitchFamily="2" charset="-122"/>
                <a:ea typeface="宋体" panose="02010600030101010101" pitchFamily="2" charset="-122"/>
              </a:rPr>
              <a:t>中的操作为</a:t>
            </a:r>
            <a:r>
              <a:rPr lang="en-US" altLang="x-none" sz="2400" dirty="0">
                <a:latin typeface="华文楷体" panose="02010600040101010101" pitchFamily="2" charset="-122"/>
                <a:ea typeface="宋体" panose="02010600030101010101" pitchFamily="2" charset="-122"/>
              </a:rPr>
              <a:t>ABC</a:t>
            </a:r>
            <a:r>
              <a:rPr lang="zh-CN" altLang="en-US" sz="2400" dirty="0">
                <a:latin typeface="华文楷体" panose="02010600040101010101" pitchFamily="2" charset="-122"/>
                <a:ea typeface="宋体" panose="02010600030101010101" pitchFamily="2" charset="-122"/>
              </a:rPr>
              <a:t>，事务</a:t>
            </a:r>
            <a:r>
              <a:rPr lang="en-US" altLang="x-none" sz="2400" dirty="0">
                <a:latin typeface="华文楷体" panose="02010600040101010101" pitchFamily="2" charset="-122"/>
                <a:ea typeface="宋体" panose="02010600030101010101" pitchFamily="2" charset="-122"/>
              </a:rPr>
              <a:t>2</a:t>
            </a:r>
            <a:r>
              <a:rPr lang="zh-CN" altLang="en-US" sz="2400" dirty="0">
                <a:latin typeface="华文楷体" panose="02010600040101010101" pitchFamily="2" charset="-122"/>
                <a:ea typeface="宋体" panose="02010600030101010101" pitchFamily="2" charset="-122"/>
              </a:rPr>
              <a:t>为</a:t>
            </a:r>
            <a:r>
              <a:rPr lang="en-US" altLang="x-none" sz="2400" dirty="0">
                <a:latin typeface="华文楷体" panose="02010600040101010101" pitchFamily="2" charset="-122"/>
                <a:ea typeface="宋体" panose="02010600030101010101" pitchFamily="2" charset="-122"/>
              </a:rPr>
              <a:t>PQR</a:t>
            </a:r>
            <a:r>
              <a:rPr lang="zh-CN" altLang="en-US" sz="2400" dirty="0">
                <a:latin typeface="华文楷体" panose="02010600040101010101" pitchFamily="2" charset="-122"/>
                <a:ea typeface="宋体" panose="02010600030101010101" pitchFamily="2" charset="-122"/>
              </a:rPr>
              <a:t>，</a:t>
            </a:r>
            <a:endParaRPr lang="zh-CN" altLang="en-US" sz="2400" dirty="0">
              <a:latin typeface="华文楷体" panose="02010600040101010101" pitchFamily="2" charset="-122"/>
              <a:ea typeface="宋体" panose="02010600030101010101" pitchFamily="2" charset="-122"/>
            </a:endParaRPr>
          </a:p>
          <a:p>
            <a:pPr marL="342900" lvl="0" indent="-342900" eaLnBrk="0" hangingPunct="0">
              <a:lnSpc>
                <a:spcPct val="110000"/>
              </a:lnSpc>
              <a:spcBef>
                <a:spcPts val="20"/>
              </a:spcBef>
              <a:spcAft>
                <a:spcPts val="0"/>
              </a:spcAft>
              <a:buClr>
                <a:srgbClr val="0033CC"/>
              </a:buClr>
              <a:buSzPct val="80000"/>
            </a:pPr>
            <a:r>
              <a:rPr lang="zh-CN" altLang="en-US" sz="2400" dirty="0">
                <a:latin typeface="华文楷体" panose="02010600040101010101" pitchFamily="2" charset="-122"/>
                <a:ea typeface="宋体" panose="02010600030101010101" pitchFamily="2" charset="-122"/>
              </a:rPr>
              <a:t>    </a:t>
            </a:r>
            <a:r>
              <a:rPr lang="en-US" altLang="x-none" sz="2300" dirty="0">
                <a:solidFill>
                  <a:srgbClr val="CC0000"/>
                </a:solidFill>
                <a:latin typeface="华文楷体" panose="02010600040101010101" pitchFamily="2" charset="-122"/>
                <a:ea typeface="宋体" panose="02010600030101010101" pitchFamily="2" charset="-122"/>
              </a:rPr>
              <a:t>ABCPQR </a:t>
            </a:r>
            <a:r>
              <a:rPr lang="zh-CN" altLang="en-US" sz="2300" dirty="0">
                <a:solidFill>
                  <a:srgbClr val="CC0000"/>
                </a:solidFill>
                <a:latin typeface="华文楷体" panose="02010600040101010101" pitchFamily="2" charset="-122"/>
                <a:ea typeface="宋体" panose="02010600030101010101" pitchFamily="2" charset="-122"/>
              </a:rPr>
              <a:t>和 </a:t>
            </a:r>
            <a:r>
              <a:rPr lang="en-US" altLang="x-none" sz="2300" dirty="0">
                <a:solidFill>
                  <a:srgbClr val="CC0000"/>
                </a:solidFill>
                <a:latin typeface="华文楷体" panose="02010600040101010101" pitchFamily="2" charset="-122"/>
                <a:ea typeface="宋体" panose="02010600030101010101" pitchFamily="2" charset="-122"/>
              </a:rPr>
              <a:t>PQRABC --</a:t>
            </a:r>
            <a:endParaRPr lang="zh-CN" altLang="en-US" sz="2300" dirty="0">
              <a:solidFill>
                <a:srgbClr val="CC0000"/>
              </a:solidFill>
              <a:latin typeface="华文楷体" panose="02010600040101010101" pitchFamily="2" charset="-122"/>
              <a:ea typeface="宋体" panose="02010600030101010101" pitchFamily="2" charset="-122"/>
            </a:endParaRPr>
          </a:p>
          <a:p>
            <a:pPr marL="342900" lvl="0" indent="-342900" eaLnBrk="0" hangingPunct="0">
              <a:lnSpc>
                <a:spcPct val="110000"/>
              </a:lnSpc>
              <a:spcBef>
                <a:spcPts val="20"/>
              </a:spcBef>
              <a:spcAft>
                <a:spcPts val="0"/>
              </a:spcAft>
              <a:buClr>
                <a:srgbClr val="0033CC"/>
              </a:buClr>
              <a:buSzPct val="80000"/>
            </a:pPr>
            <a:r>
              <a:rPr lang="zh-CN" altLang="en-US" sz="2300" dirty="0">
                <a:solidFill>
                  <a:srgbClr val="CC0000"/>
                </a:solidFill>
                <a:latin typeface="华文楷体" panose="02010600040101010101" pitchFamily="2" charset="-122"/>
                <a:ea typeface="宋体" panose="02010600030101010101" pitchFamily="2" charset="-122"/>
              </a:rPr>
              <a:t>    </a:t>
            </a:r>
            <a:r>
              <a:rPr lang="en-US" altLang="x-none" sz="2300" dirty="0" smtClean="0">
                <a:solidFill>
                  <a:srgbClr val="CC0000"/>
                </a:solidFill>
                <a:latin typeface="华文楷体" panose="02010600040101010101" pitchFamily="2" charset="-122"/>
                <a:ea typeface="宋体" panose="02010600030101010101" pitchFamily="2" charset="-122"/>
              </a:rPr>
              <a:t>ABPCQ</a:t>
            </a:r>
            <a:r>
              <a:rPr lang="en-US" altLang="zh-CN" sz="2300" dirty="0" smtClean="0">
                <a:solidFill>
                  <a:srgbClr val="CC0000"/>
                </a:solidFill>
                <a:latin typeface="华文楷体" panose="02010600040101010101" pitchFamily="2" charset="-122"/>
                <a:ea typeface="宋体" panose="02010600030101010101" pitchFamily="2" charset="-122"/>
              </a:rPr>
              <a:t>R</a:t>
            </a:r>
            <a:r>
              <a:rPr lang="en-US" altLang="x-none" sz="2300" dirty="0" smtClean="0">
                <a:solidFill>
                  <a:srgbClr val="CC0000"/>
                </a:solidFill>
                <a:latin typeface="华文楷体" panose="02010600040101010101" pitchFamily="2" charset="-122"/>
                <a:ea typeface="宋体" panose="02010600030101010101" pitchFamily="2" charset="-122"/>
              </a:rPr>
              <a:t>  </a:t>
            </a:r>
            <a:r>
              <a:rPr lang="zh-CN" altLang="en-US" sz="2300" dirty="0">
                <a:solidFill>
                  <a:srgbClr val="CC0000"/>
                </a:solidFill>
                <a:latin typeface="华文楷体" panose="02010600040101010101" pitchFamily="2" charset="-122"/>
                <a:ea typeface="宋体" panose="02010600030101010101" pitchFamily="2" charset="-122"/>
              </a:rPr>
              <a:t>和 </a:t>
            </a:r>
            <a:r>
              <a:rPr lang="en-US" altLang="x-none" sz="2300" dirty="0">
                <a:solidFill>
                  <a:srgbClr val="CC0000"/>
                </a:solidFill>
                <a:latin typeface="华文楷体" panose="02010600040101010101" pitchFamily="2" charset="-122"/>
                <a:ea typeface="宋体" panose="02010600030101010101" pitchFamily="2" charset="-122"/>
              </a:rPr>
              <a:t>PAQBCR </a:t>
            </a:r>
            <a:r>
              <a:rPr lang="en-US" altLang="zh-CN" sz="2300" dirty="0">
                <a:solidFill>
                  <a:srgbClr val="CC0000"/>
                </a:solidFill>
                <a:latin typeface="华文楷体" panose="02010600040101010101" pitchFamily="2" charset="-122"/>
                <a:ea typeface="宋体" panose="02010600030101010101" pitchFamily="2" charset="-122"/>
              </a:rPr>
              <a:t>--</a:t>
            </a:r>
            <a:endParaRPr lang="zh-CN" altLang="en-US" sz="2300" dirty="0">
              <a:solidFill>
                <a:srgbClr val="CC0000"/>
              </a:solidFill>
              <a:latin typeface="华文楷体" panose="02010600040101010101" pitchFamily="2" charset="-122"/>
              <a:ea typeface="宋体" panose="02010600030101010101" pitchFamily="2" charset="-122"/>
            </a:endParaRPr>
          </a:p>
          <a:p>
            <a:pPr marL="342900" lvl="0" indent="-342900" eaLnBrk="0" hangingPunct="0">
              <a:lnSpc>
                <a:spcPct val="110000"/>
              </a:lnSpc>
              <a:spcBef>
                <a:spcPts val="20"/>
              </a:spcBef>
              <a:spcAft>
                <a:spcPts val="0"/>
              </a:spcAft>
              <a:buClr>
                <a:srgbClr val="0033CC"/>
              </a:buClr>
              <a:buSzPct val="80000"/>
            </a:pPr>
            <a:r>
              <a:rPr lang="zh-CN" altLang="en-US" sz="2300" dirty="0">
                <a:solidFill>
                  <a:srgbClr val="CC0000"/>
                </a:solidFill>
                <a:latin typeface="华文楷体" panose="02010600040101010101" pitchFamily="2" charset="-122"/>
                <a:ea typeface="宋体" panose="02010600030101010101" pitchFamily="2" charset="-122"/>
              </a:rPr>
              <a:t>    </a:t>
            </a:r>
            <a:r>
              <a:rPr lang="en-US" altLang="x-none" sz="2300" dirty="0">
                <a:solidFill>
                  <a:srgbClr val="CC0000"/>
                </a:solidFill>
                <a:latin typeface="华文楷体" panose="02010600040101010101" pitchFamily="2" charset="-122"/>
                <a:ea typeface="宋体" panose="02010600030101010101" pitchFamily="2" charset="-122"/>
              </a:rPr>
              <a:t>ACPBQR  </a:t>
            </a:r>
            <a:r>
              <a:rPr lang="zh-CN" altLang="en-US" sz="2300" dirty="0">
                <a:solidFill>
                  <a:srgbClr val="CC0000"/>
                </a:solidFill>
                <a:latin typeface="华文楷体" panose="02010600040101010101" pitchFamily="2" charset="-122"/>
                <a:ea typeface="宋体" panose="02010600030101010101" pitchFamily="2" charset="-122"/>
              </a:rPr>
              <a:t>和 </a:t>
            </a:r>
            <a:r>
              <a:rPr lang="en-US" altLang="x-none" sz="2300" dirty="0">
                <a:solidFill>
                  <a:srgbClr val="CC0000"/>
                </a:solidFill>
                <a:latin typeface="华文楷体" panose="02010600040101010101" pitchFamily="2" charset="-122"/>
                <a:ea typeface="宋体" panose="02010600030101010101" pitchFamily="2" charset="-122"/>
              </a:rPr>
              <a:t>PABCRQ</a:t>
            </a:r>
            <a:r>
              <a:rPr lang="en-US" sz="2300" dirty="0">
                <a:solidFill>
                  <a:srgbClr val="CC0000"/>
                </a:solidFill>
                <a:latin typeface="华文楷体" panose="02010600040101010101" pitchFamily="2" charset="-122"/>
                <a:ea typeface="宋体" panose="02010600030101010101" pitchFamily="2" charset="-122"/>
              </a:rPr>
              <a:t>--  </a:t>
            </a:r>
            <a:endParaRPr lang="zh-CN" altLang="en-US" sz="2300" dirty="0">
              <a:solidFill>
                <a:srgbClr val="CC0000"/>
              </a:solidFill>
              <a:latin typeface="华文楷体" panose="02010600040101010101" pitchFamily="2" charset="-122"/>
              <a:ea typeface="宋体" panose="02010600030101010101" pitchFamily="2" charset="-122"/>
            </a:endParaRPr>
          </a:p>
          <a:p>
            <a:pPr marL="342900" lvl="0" indent="-342900" eaLnBrk="0" hangingPunct="0">
              <a:lnSpc>
                <a:spcPct val="110000"/>
              </a:lnSpc>
              <a:spcBef>
                <a:spcPct val="20000"/>
              </a:spcBef>
              <a:buClr>
                <a:srgbClr val="0033CC"/>
              </a:buClr>
              <a:buSzPct val="80000"/>
              <a:buFont typeface="Wingdings" panose="05000000000000000000" pitchFamily="2" charset="2"/>
              <a:buChar char="u"/>
            </a:pPr>
            <a:r>
              <a:rPr lang="zh-CN" altLang="en-US" sz="2400" dirty="0">
                <a:latin typeface="华文楷体" panose="02010600040101010101" pitchFamily="2" charset="-122"/>
                <a:ea typeface="宋体" panose="02010600030101010101" pitchFamily="2" charset="-122"/>
              </a:rPr>
              <a:t>如果事物的程序正确，串行调度运行的结果总是正确的。</a:t>
            </a:r>
            <a:endParaRPr lang="zh-CN" altLang="en-US" sz="2400" dirty="0">
              <a:latin typeface="华文楷体" panose="02010600040101010101" pitchFamily="2" charset="-122"/>
              <a:ea typeface="宋体" panose="02010600030101010101" pitchFamily="2" charset="-122"/>
            </a:endParaRPr>
          </a:p>
        </p:txBody>
      </p:sp>
      <p:sp>
        <p:nvSpPr>
          <p:cNvPr id="97283" name="Rectangle 2"/>
          <p:cNvSpPr/>
          <p:nvPr/>
        </p:nvSpPr>
        <p:spPr>
          <a:xfrm>
            <a:off x="417513" y="55563"/>
            <a:ext cx="8229600" cy="692150"/>
          </a:xfrm>
          <a:prstGeom prst="rect">
            <a:avLst/>
          </a:prstGeom>
          <a:noFill/>
          <a:ln w="9525">
            <a:noFill/>
          </a:ln>
        </p:spPr>
        <p:txBody>
          <a:bodyPr anchor="ctr"/>
          <a:lstStyle/>
          <a:p>
            <a:pPr lvl="0" indent="0">
              <a:buFont typeface="Wingdings" panose="05000000000000000000" pitchFamily="2" charset="2"/>
              <a:buNone/>
            </a:pPr>
            <a:r>
              <a:rPr lang="zh-CN" altLang="en-US" sz="3200" dirty="0" smtClean="0">
                <a:solidFill>
                  <a:srgbClr val="0033CC"/>
                </a:solidFill>
                <a:latin typeface="Arial" panose="020B0604020202020204" pitchFamily="34" charset="0"/>
                <a:ea typeface="黑体" panose="02010609060101010101" pitchFamily="1" charset="-122"/>
              </a:rPr>
              <a:t>二、并发执行的正确性准则</a:t>
            </a:r>
            <a:endParaRPr lang="zh-CN" altLang="en-US" sz="3200" dirty="0">
              <a:solidFill>
                <a:srgbClr val="0033CC"/>
              </a:solidFill>
              <a:latin typeface="Arial" panose="020B0604020202020204" pitchFamily="34" charset="0"/>
              <a:ea typeface="黑体" panose="02010609060101010101" pitchFamily="1" charset="-122"/>
            </a:endParaRPr>
          </a:p>
        </p:txBody>
      </p:sp>
      <p:sp>
        <p:nvSpPr>
          <p:cNvPr id="93191" name="Text Box 5"/>
          <p:cNvSpPr txBox="1"/>
          <p:nvPr/>
        </p:nvSpPr>
        <p:spPr>
          <a:xfrm>
            <a:off x="4025900" y="892175"/>
            <a:ext cx="4770438" cy="457200"/>
          </a:xfrm>
          <a:prstGeom prst="rect">
            <a:avLst/>
          </a:prstGeom>
          <a:noFill/>
          <a:ln w="9525">
            <a:noFill/>
          </a:ln>
        </p:spPr>
        <p:txBody>
          <a:bodyPr anchor="t">
            <a:spAutoFit/>
          </a:bodyPr>
          <a:lstStyle/>
          <a:p>
            <a:pPr lvl="0" indent="0">
              <a:spcBef>
                <a:spcPct val="50000"/>
              </a:spcBef>
            </a:pPr>
            <a:r>
              <a:rPr lang="en-US" altLang="x-none" sz="2400" dirty="0">
                <a:solidFill>
                  <a:srgbClr val="3333FF"/>
                </a:solidFill>
                <a:latin typeface="方正姚体" panose="02010601030101010101" pitchFamily="2" charset="-122"/>
                <a:ea typeface="方正姚体" panose="02010601030101010101" pitchFamily="2" charset="-122"/>
                <a:sym typeface="Wingdings" panose="05000000000000000000" pitchFamily="2" charset="2"/>
              </a:rPr>
              <a:t>        </a:t>
            </a:r>
            <a:r>
              <a:rPr lang="zh-CN" altLang="en-US" sz="2400" dirty="0">
                <a:solidFill>
                  <a:srgbClr val="CC3300"/>
                </a:solidFill>
                <a:latin typeface="方正姚体" panose="02010601030101010101" pitchFamily="2" charset="-122"/>
                <a:ea typeface="方正姚体" panose="02010601030101010101" pitchFamily="2" charset="-122"/>
                <a:sym typeface="Wingdings" panose="05000000000000000000" pitchFamily="2" charset="2"/>
              </a:rPr>
              <a:t>操作的交错执行：</a:t>
            </a:r>
            <a:r>
              <a:rPr lang="zh-CN" altLang="en-US" sz="2400" dirty="0">
                <a:latin typeface="方正姚体" panose="02010601030101010101" pitchFamily="2" charset="-122"/>
                <a:ea typeface="方正姚体" panose="02010601030101010101" pitchFamily="2" charset="-122"/>
                <a:sym typeface="Wingdings" panose="05000000000000000000" pitchFamily="2" charset="2"/>
              </a:rPr>
              <a:t>需要</a:t>
            </a:r>
            <a:r>
              <a:rPr lang="zh-CN" altLang="en-US" sz="2400" dirty="0">
                <a:solidFill>
                  <a:schemeClr val="accent2"/>
                </a:solidFill>
                <a:latin typeface="方正姚体" panose="02010601030101010101" pitchFamily="2" charset="-122"/>
                <a:ea typeface="方正姚体" panose="02010601030101010101" pitchFamily="2" charset="-122"/>
                <a:sym typeface="Wingdings" panose="05000000000000000000" pitchFamily="2" charset="2"/>
              </a:rPr>
              <a:t>调度</a:t>
            </a:r>
            <a:r>
              <a:rPr lang="zh-CN" altLang="en-US" sz="2400" dirty="0">
                <a:latin typeface="方正姚体" panose="02010601030101010101" pitchFamily="2" charset="-122"/>
                <a:ea typeface="方正姚体" panose="02010601030101010101" pitchFamily="2" charset="-122"/>
                <a:sym typeface="Wingdings" panose="05000000000000000000" pitchFamily="2" charset="2"/>
              </a:rPr>
              <a:t>。</a:t>
            </a:r>
            <a:endParaRPr lang="zh-CN" altLang="en-US" sz="2400" dirty="0">
              <a:latin typeface="方正姚体" panose="02010601030101010101" pitchFamily="2" charset="-122"/>
              <a:ea typeface="方正姚体" panose="02010601030101010101" pitchFamily="2" charset="-122"/>
              <a:sym typeface="Wingdings" panose="05000000000000000000" pitchFamily="2" charset="2"/>
            </a:endParaRPr>
          </a:p>
        </p:txBody>
      </p:sp>
      <p:grpSp>
        <p:nvGrpSpPr>
          <p:cNvPr id="9" name="组合 8"/>
          <p:cNvGrpSpPr/>
          <p:nvPr/>
        </p:nvGrpSpPr>
        <p:grpSpPr>
          <a:xfrm>
            <a:off x="4039235" y="4190365"/>
            <a:ext cx="1337310" cy="1261110"/>
            <a:chOff x="6361" y="6599"/>
            <a:chExt cx="2106" cy="1986"/>
          </a:xfrm>
        </p:grpSpPr>
        <p:sp>
          <p:nvSpPr>
            <p:cNvPr id="2" name="文本框 1"/>
            <p:cNvSpPr txBox="1"/>
            <p:nvPr/>
          </p:nvSpPr>
          <p:spPr>
            <a:xfrm>
              <a:off x="6361" y="6599"/>
              <a:ext cx="2056" cy="677"/>
            </a:xfrm>
            <a:prstGeom prst="rect">
              <a:avLst/>
            </a:prstGeom>
            <a:noFill/>
          </p:spPr>
          <p:txBody>
            <a:bodyPr wrap="none" rtlCol="0" anchor="t">
              <a:spAutoFit/>
            </a:bodyPr>
            <a:lstStyle/>
            <a:p>
              <a:r>
                <a:rPr lang="zh-CN" altLang="en-US" sz="2200" dirty="0">
                  <a:solidFill>
                    <a:srgbClr val="CC0000"/>
                  </a:solidFill>
                  <a:latin typeface="华文楷体" panose="02010600040101010101" pitchFamily="2" charset="-122"/>
                  <a:sym typeface="+mn-ea"/>
                </a:rPr>
                <a:t>串行调度</a:t>
              </a:r>
              <a:endParaRPr lang="zh-CN" altLang="en-US" sz="2200"/>
            </a:p>
          </p:txBody>
        </p:sp>
        <p:sp>
          <p:nvSpPr>
            <p:cNvPr id="3" name="文本框 2"/>
            <p:cNvSpPr txBox="1"/>
            <p:nvPr/>
          </p:nvSpPr>
          <p:spPr>
            <a:xfrm>
              <a:off x="6361" y="7232"/>
              <a:ext cx="2056" cy="677"/>
            </a:xfrm>
            <a:prstGeom prst="rect">
              <a:avLst/>
            </a:prstGeom>
            <a:noFill/>
          </p:spPr>
          <p:txBody>
            <a:bodyPr wrap="none" rtlCol="0" anchor="t">
              <a:spAutoFit/>
            </a:bodyPr>
            <a:lstStyle/>
            <a:p>
              <a:r>
                <a:rPr lang="zh-CN" altLang="en-US" sz="2200" dirty="0">
                  <a:solidFill>
                    <a:srgbClr val="CC0000"/>
                  </a:solidFill>
                  <a:latin typeface="华文楷体" panose="02010600040101010101" pitchFamily="2" charset="-122"/>
                  <a:sym typeface="+mn-ea"/>
                </a:rPr>
                <a:t>并发调度</a:t>
              </a:r>
              <a:endParaRPr lang="zh-CN" altLang="en-US" sz="2200"/>
            </a:p>
          </p:txBody>
        </p:sp>
        <p:sp>
          <p:nvSpPr>
            <p:cNvPr id="4" name="文本框 3"/>
            <p:cNvSpPr txBox="1"/>
            <p:nvPr/>
          </p:nvSpPr>
          <p:spPr>
            <a:xfrm>
              <a:off x="6411" y="7909"/>
              <a:ext cx="2056" cy="677"/>
            </a:xfrm>
            <a:prstGeom prst="rect">
              <a:avLst/>
            </a:prstGeom>
            <a:noFill/>
          </p:spPr>
          <p:txBody>
            <a:bodyPr wrap="none" rtlCol="0" anchor="t">
              <a:spAutoFit/>
            </a:bodyPr>
            <a:lstStyle/>
            <a:p>
              <a:r>
                <a:rPr lang="zh-CN" altLang="en-US" sz="2200" dirty="0">
                  <a:solidFill>
                    <a:srgbClr val="CC0000"/>
                  </a:solidFill>
                  <a:latin typeface="华文楷体" panose="02010600040101010101" pitchFamily="2" charset="-122"/>
                  <a:sym typeface="+mn-ea"/>
                </a:rPr>
                <a:t>不是调度</a:t>
              </a:r>
              <a:endParaRPr lang="zh-CN" altLang="en-US" sz="2200"/>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ppt_x"/>
                                          </p:val>
                                        </p:tav>
                                        <p:tav tm="100000">
                                          <p:val>
                                            <p:strVal val="#ppt_x"/>
                                          </p:val>
                                        </p:tav>
                                      </p:tavLst>
                                    </p:anim>
                                    <p:anim calcmode="lin" valueType="num">
                                      <p:cBhvr additive="base">
                                        <p:cTn id="8"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3189" name="Object 2"/>
          <p:cNvGraphicFramePr/>
          <p:nvPr/>
        </p:nvGraphicFramePr>
        <p:xfrm>
          <a:off x="6202680" y="847725"/>
          <a:ext cx="2444750" cy="3761740"/>
        </p:xfrm>
        <a:graphic>
          <a:graphicData uri="http://schemas.openxmlformats.org/presentationml/2006/ole">
            <mc:AlternateContent xmlns:mc="http://schemas.openxmlformats.org/markup-compatibility/2006">
              <mc:Choice xmlns:v="urn:schemas-microsoft-com:vml" Requires="v">
                <p:oleObj spid="_x0000_s5134" name="" r:id="rId1" imgW="5153025" imgH="7820025" progId="Word.Picture.8">
                  <p:embed/>
                </p:oleObj>
              </mc:Choice>
              <mc:Fallback>
                <p:oleObj name="" r:id="rId1" imgW="5153025" imgH="7820025" progId="Word.Picture.8">
                  <p:embed/>
                  <p:pic>
                    <p:nvPicPr>
                      <p:cNvPr id="0" name="图片 1024" descr="image20"/>
                      <p:cNvPicPr/>
                      <p:nvPr/>
                    </p:nvPicPr>
                    <p:blipFill>
                      <a:blip r:embed="rId2"/>
                      <a:stretch>
                        <a:fillRect/>
                      </a:stretch>
                    </p:blipFill>
                    <p:spPr>
                      <a:xfrm>
                        <a:off x="6202680" y="847725"/>
                        <a:ext cx="2444750" cy="3761740"/>
                      </a:xfrm>
                      <a:prstGeom prst="rect">
                        <a:avLst/>
                      </a:prstGeom>
                      <a:solidFill>
                        <a:srgbClr val="FFFFFF"/>
                      </a:solidFill>
                      <a:ln w="38100">
                        <a:noFill/>
                      </a:ln>
                    </p:spPr>
                  </p:pic>
                </p:oleObj>
              </mc:Fallback>
            </mc:AlternateContent>
          </a:graphicData>
        </a:graphic>
      </p:graphicFrame>
      <p:sp>
        <p:nvSpPr>
          <p:cNvPr id="93190" name="Rectangle 4"/>
          <p:cNvSpPr txBox="1"/>
          <p:nvPr/>
        </p:nvSpPr>
        <p:spPr>
          <a:xfrm>
            <a:off x="617855" y="1352550"/>
            <a:ext cx="5584825" cy="1734185"/>
          </a:xfrm>
          <a:prstGeom prst="rect">
            <a:avLst/>
          </a:prstGeom>
          <a:noFill/>
          <a:ln w="9525">
            <a:noFill/>
          </a:ln>
        </p:spPr>
        <p:txBody>
          <a:bodyPr anchor="t"/>
          <a:lstStyle/>
          <a:p>
            <a:pPr marL="342900" lvl="0" indent="-342900" eaLnBrk="0" hangingPunct="0">
              <a:lnSpc>
                <a:spcPct val="120000"/>
              </a:lnSpc>
              <a:spcBef>
                <a:spcPts val="600"/>
              </a:spcBef>
              <a:buClr>
                <a:srgbClr val="FF0000"/>
              </a:buClr>
              <a:buFont typeface="Wingdings" panose="05000000000000000000" charset="0"/>
              <a:buChar char=""/>
            </a:pPr>
            <a:r>
              <a:rPr lang="zh-CN" altLang="en-US" sz="2400" dirty="0">
                <a:solidFill>
                  <a:srgbClr val="FF0000"/>
                </a:solidFill>
                <a:latin typeface="华文楷体" panose="02010600040101010101" pitchFamily="2" charset="-122"/>
                <a:ea typeface="宋体" panose="02010600030101010101" pitchFamily="2" charset="-122"/>
                <a:sym typeface="Wingdings" panose="05000000000000000000" pitchFamily="2" charset="2"/>
              </a:rPr>
              <a:t>调度的表示（如图示）：</a:t>
            </a:r>
            <a:endParaRPr lang="zh-CN" altLang="en-US" sz="2400" dirty="0">
              <a:solidFill>
                <a:srgbClr val="FF0000"/>
              </a:solidFill>
              <a:latin typeface="华文楷体" panose="02010600040101010101" pitchFamily="2" charset="-122"/>
              <a:ea typeface="宋体" panose="02010600030101010101" pitchFamily="2" charset="-122"/>
              <a:sym typeface="Wingdings" panose="05000000000000000000" pitchFamily="2" charset="2"/>
            </a:endParaRPr>
          </a:p>
          <a:p>
            <a:pPr marL="342900" lvl="0" indent="-342900" eaLnBrk="0" hangingPunct="0">
              <a:lnSpc>
                <a:spcPct val="110000"/>
              </a:lnSpc>
              <a:spcBef>
                <a:spcPts val="300"/>
              </a:spcBef>
              <a:spcAft>
                <a:spcPts val="0"/>
              </a:spcAft>
              <a:buClr>
                <a:srgbClr val="0033CC"/>
              </a:buClr>
              <a:buSzPct val="80000"/>
            </a:pPr>
            <a:r>
              <a:rPr lang="en-US" altLang="x-none" sz="2400" dirty="0">
                <a:latin typeface="华文楷体" panose="02010600040101010101" pitchFamily="2" charset="-122"/>
                <a:ea typeface="宋体" panose="02010600030101010101" pitchFamily="2" charset="-122"/>
              </a:rPr>
              <a:t>S</a:t>
            </a:r>
            <a:r>
              <a:rPr lang="zh-CN" altLang="en-US" sz="2400" dirty="0">
                <a:latin typeface="华文楷体" panose="02010600040101010101" pitchFamily="2" charset="-122"/>
                <a:ea typeface="宋体" panose="02010600030101010101" pitchFamily="2" charset="-122"/>
              </a:rPr>
              <a:t>＝</a:t>
            </a:r>
            <a:r>
              <a:rPr lang="en-US" altLang="x-none" sz="2400" dirty="0">
                <a:latin typeface="华文楷体" panose="02010600040101010101" pitchFamily="2" charset="-122"/>
                <a:ea typeface="宋体" panose="02010600030101010101" pitchFamily="2" charset="-122"/>
              </a:rPr>
              <a:t>R</a:t>
            </a:r>
            <a:r>
              <a:rPr lang="en-US" altLang="x-none" sz="2400" baseline="-25000" dirty="0">
                <a:latin typeface="华文楷体" panose="02010600040101010101" pitchFamily="2" charset="-122"/>
                <a:ea typeface="宋体" panose="02010600030101010101" pitchFamily="2" charset="-122"/>
              </a:rPr>
              <a:t>T1</a:t>
            </a:r>
            <a:r>
              <a:rPr lang="en-US" altLang="x-none" sz="2400" dirty="0">
                <a:latin typeface="华文楷体" panose="02010600040101010101" pitchFamily="2" charset="-122"/>
                <a:ea typeface="宋体" panose="02010600030101010101" pitchFamily="2" charset="-122"/>
              </a:rPr>
              <a:t>(A)W</a:t>
            </a:r>
            <a:r>
              <a:rPr lang="en-US" altLang="x-none" sz="2400" baseline="-25000" dirty="0">
                <a:latin typeface="华文楷体" panose="02010600040101010101" pitchFamily="2" charset="-122"/>
                <a:ea typeface="宋体" panose="02010600030101010101" pitchFamily="2" charset="-122"/>
              </a:rPr>
              <a:t>T1</a:t>
            </a:r>
            <a:r>
              <a:rPr lang="en-US" altLang="x-none" sz="2400" dirty="0">
                <a:latin typeface="华文楷体" panose="02010600040101010101" pitchFamily="2" charset="-122"/>
                <a:ea typeface="宋体" panose="02010600030101010101" pitchFamily="2" charset="-122"/>
              </a:rPr>
              <a:t>(A)R</a:t>
            </a:r>
            <a:r>
              <a:rPr lang="en-US" altLang="x-none" sz="2400" baseline="-25000" dirty="0">
                <a:latin typeface="华文楷体" panose="02010600040101010101" pitchFamily="2" charset="-122"/>
                <a:ea typeface="宋体" panose="02010600030101010101" pitchFamily="2" charset="-122"/>
              </a:rPr>
              <a:t>T2</a:t>
            </a:r>
            <a:r>
              <a:rPr lang="en-US" altLang="x-none" sz="2400" dirty="0">
                <a:latin typeface="华文楷体" panose="02010600040101010101" pitchFamily="2" charset="-122"/>
                <a:ea typeface="宋体" panose="02010600030101010101" pitchFamily="2" charset="-122"/>
              </a:rPr>
              <a:t>(B)W</a:t>
            </a:r>
            <a:r>
              <a:rPr lang="en-US" altLang="x-none" sz="2400" baseline="-25000" dirty="0">
                <a:latin typeface="华文楷体" panose="02010600040101010101" pitchFamily="2" charset="-122"/>
                <a:ea typeface="宋体" panose="02010600030101010101" pitchFamily="2" charset="-122"/>
              </a:rPr>
              <a:t>T2</a:t>
            </a:r>
            <a:r>
              <a:rPr lang="en-US" altLang="x-none" sz="2400" dirty="0">
                <a:latin typeface="华文楷体" panose="02010600040101010101" pitchFamily="2" charset="-122"/>
                <a:ea typeface="宋体" panose="02010600030101010101" pitchFamily="2" charset="-122"/>
              </a:rPr>
              <a:t>(B)R</a:t>
            </a:r>
            <a:r>
              <a:rPr lang="en-US" altLang="x-none" sz="2400" baseline="-25000" dirty="0">
                <a:latin typeface="华文楷体" panose="02010600040101010101" pitchFamily="2" charset="-122"/>
                <a:ea typeface="宋体" panose="02010600030101010101" pitchFamily="2" charset="-122"/>
              </a:rPr>
              <a:t>T1</a:t>
            </a:r>
            <a:r>
              <a:rPr lang="en-US" altLang="x-none" sz="2400" dirty="0">
                <a:latin typeface="华文楷体" panose="02010600040101010101" pitchFamily="2" charset="-122"/>
                <a:ea typeface="宋体" panose="02010600030101010101" pitchFamily="2" charset="-122"/>
              </a:rPr>
              <a:t>(C)W</a:t>
            </a:r>
            <a:r>
              <a:rPr lang="en-US" altLang="x-none" sz="2400" baseline="-25000" dirty="0">
                <a:latin typeface="华文楷体" panose="02010600040101010101" pitchFamily="2" charset="-122"/>
                <a:ea typeface="宋体" panose="02010600030101010101" pitchFamily="2" charset="-122"/>
              </a:rPr>
              <a:t>T1</a:t>
            </a:r>
            <a:r>
              <a:rPr lang="en-US" altLang="x-none" sz="2400" dirty="0">
                <a:latin typeface="华文楷体" panose="02010600040101010101" pitchFamily="2" charset="-122"/>
                <a:ea typeface="宋体" panose="02010600030101010101" pitchFamily="2" charset="-122"/>
              </a:rPr>
              <a:t>(C)</a:t>
            </a:r>
            <a:endParaRPr lang="en-US" altLang="x-none" sz="2400" dirty="0">
              <a:latin typeface="华文楷体" panose="02010600040101010101" pitchFamily="2" charset="-122"/>
              <a:ea typeface="宋体" panose="02010600030101010101" pitchFamily="2" charset="-122"/>
            </a:endParaRPr>
          </a:p>
          <a:p>
            <a:pPr lvl="0" indent="0" eaLnBrk="0" hangingPunct="0">
              <a:lnSpc>
                <a:spcPct val="110000"/>
              </a:lnSpc>
              <a:spcBef>
                <a:spcPts val="300"/>
              </a:spcBef>
              <a:spcAft>
                <a:spcPts val="0"/>
              </a:spcAft>
              <a:buClr>
                <a:srgbClr val="0033CC"/>
              </a:buClr>
              <a:buSzPct val="80000"/>
            </a:pPr>
            <a:r>
              <a:rPr lang="zh-CN" altLang="en-US" sz="2200" dirty="0">
                <a:latin typeface="华文楷体" panose="02010600040101010101" pitchFamily="2" charset="-122"/>
                <a:ea typeface="宋体" panose="02010600030101010101" pitchFamily="2" charset="-122"/>
              </a:rPr>
              <a:t>其中，</a:t>
            </a:r>
            <a:r>
              <a:rPr lang="en-US" altLang="x-none" sz="2200" dirty="0">
                <a:latin typeface="华文楷体" panose="02010600040101010101" pitchFamily="2" charset="-122"/>
                <a:ea typeface="宋体" panose="02010600030101010101" pitchFamily="2" charset="-122"/>
              </a:rPr>
              <a:t>R(X)</a:t>
            </a:r>
            <a:r>
              <a:rPr lang="zh-CN" altLang="en-US" sz="2200" dirty="0">
                <a:latin typeface="华文楷体" panose="02010600040101010101" pitchFamily="2" charset="-122"/>
                <a:ea typeface="宋体" panose="02010600030101010101" pitchFamily="2" charset="-122"/>
              </a:rPr>
              <a:t>和</a:t>
            </a:r>
            <a:r>
              <a:rPr lang="en-US" altLang="x-none" sz="2200" dirty="0">
                <a:latin typeface="华文楷体" panose="02010600040101010101" pitchFamily="2" charset="-122"/>
                <a:ea typeface="宋体" panose="02010600030101010101" pitchFamily="2" charset="-122"/>
              </a:rPr>
              <a:t>W</a:t>
            </a:r>
            <a:r>
              <a:rPr lang="en-US" altLang="zh-CN" sz="2200" dirty="0">
                <a:latin typeface="华文楷体" panose="02010600040101010101" pitchFamily="2" charset="-122"/>
                <a:ea typeface="宋体" panose="02010600030101010101" pitchFamily="2" charset="-122"/>
              </a:rPr>
              <a:t>(</a:t>
            </a:r>
            <a:r>
              <a:rPr lang="en-US" altLang="x-none" sz="2200" dirty="0">
                <a:latin typeface="华文楷体" panose="02010600040101010101" pitchFamily="2" charset="-122"/>
                <a:ea typeface="宋体" panose="02010600030101010101" pitchFamily="2" charset="-122"/>
              </a:rPr>
              <a:t>X</a:t>
            </a:r>
            <a:r>
              <a:rPr lang="en-US" altLang="zh-CN" sz="2200" dirty="0">
                <a:latin typeface="华文楷体" panose="02010600040101010101" pitchFamily="2" charset="-122"/>
                <a:ea typeface="宋体" panose="02010600030101010101" pitchFamily="2" charset="-122"/>
              </a:rPr>
              <a:t>)</a:t>
            </a:r>
            <a:r>
              <a:rPr lang="zh-CN" altLang="en-US" sz="2200" dirty="0">
                <a:latin typeface="华文楷体" panose="02010600040101010101" pitchFamily="2" charset="-122"/>
                <a:ea typeface="宋体" panose="02010600030101010101" pitchFamily="2" charset="-122"/>
              </a:rPr>
              <a:t>分别表示对</a:t>
            </a:r>
            <a:r>
              <a:rPr lang="en-US" altLang="x-none" sz="2200" dirty="0">
                <a:latin typeface="华文楷体" panose="02010600040101010101" pitchFamily="2" charset="-122"/>
                <a:ea typeface="宋体" panose="02010600030101010101" pitchFamily="2" charset="-122"/>
              </a:rPr>
              <a:t>X</a:t>
            </a:r>
            <a:r>
              <a:rPr lang="zh-CN" altLang="en-US" sz="2200" dirty="0">
                <a:latin typeface="华文楷体" panose="02010600040101010101" pitchFamily="2" charset="-122"/>
                <a:ea typeface="宋体" panose="02010600030101010101" pitchFamily="2" charset="-122"/>
              </a:rPr>
              <a:t>对象的读和写。</a:t>
            </a:r>
            <a:r>
              <a:rPr lang="en-US" altLang="x-none" sz="2200" dirty="0">
                <a:latin typeface="华文楷体" panose="02010600040101010101" pitchFamily="2" charset="-122"/>
                <a:ea typeface="宋体" panose="02010600030101010101" pitchFamily="2" charset="-122"/>
              </a:rPr>
              <a:t>R</a:t>
            </a:r>
            <a:r>
              <a:rPr lang="en-US" altLang="x-none" sz="2200" baseline="-25000" dirty="0">
                <a:latin typeface="华文楷体" panose="02010600040101010101" pitchFamily="2" charset="-122"/>
                <a:ea typeface="宋体" panose="02010600030101010101" pitchFamily="2" charset="-122"/>
              </a:rPr>
              <a:t>T1</a:t>
            </a:r>
            <a:r>
              <a:rPr lang="en-US" altLang="x-none" sz="2200" dirty="0">
                <a:latin typeface="华文楷体" panose="02010600040101010101" pitchFamily="2" charset="-122"/>
                <a:ea typeface="宋体" panose="02010600030101010101" pitchFamily="2" charset="-122"/>
              </a:rPr>
              <a:t>(A)</a:t>
            </a:r>
            <a:r>
              <a:rPr lang="zh-CN" altLang="en-US" sz="2200" dirty="0">
                <a:latin typeface="华文楷体" panose="02010600040101010101" pitchFamily="2" charset="-122"/>
                <a:ea typeface="宋体" panose="02010600030101010101" pitchFamily="2" charset="-122"/>
              </a:rPr>
              <a:t>表示</a:t>
            </a:r>
            <a:r>
              <a:rPr lang="en-US" altLang="x-none" sz="2200" dirty="0">
                <a:latin typeface="华文楷体" panose="02010600040101010101" pitchFamily="2" charset="-122"/>
                <a:ea typeface="宋体" panose="02010600030101010101" pitchFamily="2" charset="-122"/>
              </a:rPr>
              <a:t>R</a:t>
            </a:r>
            <a:r>
              <a:rPr lang="en-US" altLang="zh-CN" sz="2200" dirty="0">
                <a:latin typeface="华文楷体" panose="02010600040101010101" pitchFamily="2" charset="-122"/>
                <a:ea typeface="宋体" panose="02010600030101010101" pitchFamily="2" charset="-122"/>
              </a:rPr>
              <a:t>(</a:t>
            </a:r>
            <a:r>
              <a:rPr lang="en-US" altLang="x-none" sz="2200" dirty="0">
                <a:latin typeface="华文楷体" panose="02010600040101010101" pitchFamily="2" charset="-122"/>
                <a:ea typeface="宋体" panose="02010600030101010101" pitchFamily="2" charset="-122"/>
              </a:rPr>
              <a:t>A</a:t>
            </a:r>
            <a:r>
              <a:rPr lang="en-US" altLang="zh-CN" sz="2200" dirty="0">
                <a:latin typeface="华文楷体" panose="02010600040101010101" pitchFamily="2" charset="-122"/>
                <a:ea typeface="宋体" panose="02010600030101010101" pitchFamily="2" charset="-122"/>
              </a:rPr>
              <a:t>)</a:t>
            </a:r>
            <a:r>
              <a:rPr lang="zh-CN" altLang="en-US" sz="2200" dirty="0">
                <a:latin typeface="华文楷体" panose="02010600040101010101" pitchFamily="2" charset="-122"/>
                <a:ea typeface="宋体" panose="02010600030101010101" pitchFamily="2" charset="-122"/>
              </a:rPr>
              <a:t>操作是事务</a:t>
            </a:r>
            <a:r>
              <a:rPr lang="en-US" altLang="x-none" sz="2200" dirty="0">
                <a:latin typeface="华文楷体" panose="02010600040101010101" pitchFamily="2" charset="-122"/>
                <a:ea typeface="宋体" panose="02010600030101010101" pitchFamily="2" charset="-122"/>
              </a:rPr>
              <a:t>T</a:t>
            </a:r>
            <a:r>
              <a:rPr lang="en-US" altLang="x-none" sz="2200" baseline="-25000" dirty="0">
                <a:latin typeface="华文楷体" panose="02010600040101010101" pitchFamily="2" charset="-122"/>
                <a:ea typeface="宋体" panose="02010600030101010101" pitchFamily="2" charset="-122"/>
              </a:rPr>
              <a:t>1</a:t>
            </a:r>
            <a:r>
              <a:rPr lang="zh-CN" altLang="en-US" sz="2200" dirty="0">
                <a:latin typeface="华文楷体" panose="02010600040101010101" pitchFamily="2" charset="-122"/>
                <a:ea typeface="宋体" panose="02010600030101010101" pitchFamily="2" charset="-122"/>
              </a:rPr>
              <a:t>发出的。</a:t>
            </a:r>
            <a:endParaRPr lang="zh-CN" altLang="en-US" sz="2200" baseline="-25000" dirty="0">
              <a:latin typeface="华文楷体" panose="02010600040101010101" pitchFamily="2" charset="-122"/>
              <a:ea typeface="宋体" panose="02010600030101010101" pitchFamily="2" charset="-122"/>
              <a:sym typeface="Wingdings" panose="05000000000000000000" pitchFamily="2" charset="2"/>
            </a:endParaRPr>
          </a:p>
        </p:txBody>
      </p:sp>
      <p:sp>
        <p:nvSpPr>
          <p:cNvPr id="97283" name="Rectangle 2"/>
          <p:cNvSpPr/>
          <p:nvPr/>
        </p:nvSpPr>
        <p:spPr>
          <a:xfrm>
            <a:off x="417513" y="55563"/>
            <a:ext cx="8229600" cy="692150"/>
          </a:xfrm>
          <a:prstGeom prst="rect">
            <a:avLst/>
          </a:prstGeom>
          <a:noFill/>
          <a:ln w="9525">
            <a:noFill/>
          </a:ln>
        </p:spPr>
        <p:txBody>
          <a:bodyPr anchor="ctr"/>
          <a:lstStyle/>
          <a:p>
            <a:pPr lvl="0" indent="0">
              <a:buFont typeface="Wingdings" panose="05000000000000000000" pitchFamily="2" charset="2"/>
              <a:buNone/>
            </a:pPr>
            <a:r>
              <a:rPr lang="zh-CN" altLang="en-US" sz="3200" dirty="0" smtClean="0">
                <a:solidFill>
                  <a:srgbClr val="0033CC"/>
                </a:solidFill>
                <a:latin typeface="Arial" panose="020B0604020202020204" pitchFamily="34" charset="0"/>
                <a:ea typeface="黑体" panose="02010609060101010101" pitchFamily="1" charset="-122"/>
              </a:rPr>
              <a:t>二、并发执行的正确性准则</a:t>
            </a:r>
            <a:endParaRPr lang="zh-CN" altLang="en-US" sz="3200" dirty="0">
              <a:solidFill>
                <a:srgbClr val="0033CC"/>
              </a:solidFill>
              <a:latin typeface="Arial" panose="020B0604020202020204" pitchFamily="34" charset="0"/>
              <a:ea typeface="黑体" panose="02010609060101010101" pitchFamily="1" charset="-122"/>
            </a:endParaRPr>
          </a:p>
        </p:txBody>
      </p:sp>
      <p:sp>
        <p:nvSpPr>
          <p:cNvPr id="2" name="文本框 1"/>
          <p:cNvSpPr txBox="1"/>
          <p:nvPr/>
        </p:nvSpPr>
        <p:spPr>
          <a:xfrm>
            <a:off x="417830" y="3150870"/>
            <a:ext cx="5790565" cy="1568450"/>
          </a:xfrm>
          <a:prstGeom prst="rect">
            <a:avLst/>
          </a:prstGeom>
          <a:noFill/>
        </p:spPr>
        <p:txBody>
          <a:bodyPr wrap="square" rtlCol="0" anchor="t">
            <a:spAutoFit/>
          </a:bodyPr>
          <a:lstStyle/>
          <a:p>
            <a:pPr marL="342900" indent="-342900">
              <a:lnSpc>
                <a:spcPct val="100000"/>
              </a:lnSpc>
              <a:spcBef>
                <a:spcPts val="0"/>
              </a:spcBef>
              <a:spcAft>
                <a:spcPts val="0"/>
              </a:spcAft>
              <a:buFont typeface="Wingdings" panose="05000000000000000000" charset="0"/>
              <a:buChar char=""/>
            </a:pPr>
            <a:r>
              <a:rPr lang="zh-CN" altLang="en-US" sz="2400" u="sng" dirty="0">
                <a:solidFill>
                  <a:srgbClr val="000099"/>
                </a:solidFill>
                <a:latin typeface="华文楷体" panose="02010600040101010101" pitchFamily="2" charset="-122"/>
                <a:ea typeface="华文楷体" panose="02010600040101010101" pitchFamily="2" charset="-122"/>
                <a:sym typeface="Wingdings" panose="05000000000000000000" pitchFamily="2" charset="2"/>
              </a:rPr>
              <a:t>并发原则：</a:t>
            </a:r>
            <a:r>
              <a:rPr lang="zh-CN" altLang="en-US" sz="2400" dirty="0">
                <a:latin typeface="华文楷体" panose="02010600040101010101" pitchFamily="2" charset="-122"/>
                <a:ea typeface="华文楷体" panose="02010600040101010101" pitchFamily="2" charset="-122"/>
                <a:sym typeface="Wingdings" panose="05000000000000000000" pitchFamily="2" charset="2"/>
              </a:rPr>
              <a:t>既要交错执行，以充分利用系统资源、加快短事务响应时间；又要避免访问冲突，可用“</a:t>
            </a:r>
            <a:r>
              <a:rPr lang="zh-CN" altLang="en-US" sz="2400" dirty="0">
                <a:solidFill>
                  <a:srgbClr val="CC0000"/>
                </a:solidFill>
                <a:latin typeface="华文楷体" panose="02010600040101010101" pitchFamily="2" charset="-122"/>
                <a:ea typeface="华文楷体" panose="02010600040101010101" pitchFamily="2" charset="-122"/>
                <a:sym typeface="Wingdings" panose="05000000000000000000" pitchFamily="2" charset="2"/>
              </a:rPr>
              <a:t>并发调度的可串行化</a:t>
            </a:r>
            <a:r>
              <a:rPr lang="zh-CN" altLang="en-US" sz="2400" dirty="0">
                <a:latin typeface="华文楷体" panose="02010600040101010101" pitchFamily="2" charset="-122"/>
                <a:ea typeface="华文楷体" panose="02010600040101010101" pitchFamily="2" charset="-122"/>
                <a:sym typeface="Wingdings" panose="05000000000000000000" pitchFamily="2" charset="2"/>
              </a:rPr>
              <a:t>” 来解决。</a:t>
            </a:r>
            <a:endParaRPr lang="zh-CN" altLang="en-US" sz="2400"/>
          </a:p>
        </p:txBody>
      </p:sp>
      <p:sp>
        <p:nvSpPr>
          <p:cNvPr id="103427" name="Text Box 3"/>
          <p:cNvSpPr txBox="1"/>
          <p:nvPr/>
        </p:nvSpPr>
        <p:spPr>
          <a:xfrm>
            <a:off x="617855" y="4596765"/>
            <a:ext cx="8180705" cy="1599565"/>
          </a:xfrm>
          <a:prstGeom prst="rect">
            <a:avLst/>
          </a:prstGeom>
          <a:noFill/>
          <a:ln w="9525">
            <a:noFill/>
          </a:ln>
        </p:spPr>
        <p:txBody>
          <a:bodyPr wrap="square" anchor="t">
            <a:spAutoFit/>
          </a:bodyPr>
          <a:lstStyle/>
          <a:p>
            <a:pPr lvl="0" indent="0">
              <a:spcBef>
                <a:spcPts val="300"/>
              </a:spcBef>
              <a:buClr>
                <a:srgbClr val="0000CC"/>
              </a:buClr>
              <a:buFont typeface="Wingdings" panose="05000000000000000000" pitchFamily="2" charset="2"/>
              <a:buChar char="p"/>
            </a:pPr>
            <a:r>
              <a:rPr lang="zh-CN" altLang="en-US" sz="2400" u="sng" dirty="0">
                <a:solidFill>
                  <a:srgbClr val="000099"/>
                </a:solidFill>
                <a:latin typeface="华文楷体" panose="02010600040101010101" pitchFamily="2" charset="-122"/>
                <a:ea typeface="华文楷体" panose="02010600040101010101" pitchFamily="2" charset="-122"/>
              </a:rPr>
              <a:t>可串行化理论有两个要点：</a:t>
            </a:r>
            <a:endParaRPr lang="zh-CN" altLang="en-US" sz="2400" u="sng" dirty="0">
              <a:solidFill>
                <a:srgbClr val="000099"/>
              </a:solidFill>
              <a:latin typeface="华文楷体" panose="02010600040101010101" pitchFamily="2" charset="-122"/>
              <a:ea typeface="华文楷体" panose="02010600040101010101" pitchFamily="2" charset="-122"/>
            </a:endParaRPr>
          </a:p>
          <a:p>
            <a:pPr lvl="1" indent="0">
              <a:spcBef>
                <a:spcPts val="300"/>
              </a:spcBef>
              <a:buClr>
                <a:srgbClr val="0000CC"/>
              </a:buClr>
              <a:buFont typeface="Wingdings" panose="05000000000000000000" pitchFamily="2" charset="2"/>
              <a:buChar char="ü"/>
            </a:pPr>
            <a:r>
              <a:rPr lang="zh-CN" altLang="en-US" sz="2300" dirty="0">
                <a:latin typeface="华文楷体" panose="02010600040101010101" pitchFamily="2" charset="-122"/>
                <a:ea typeface="华文楷体" panose="02010600040101010101" pitchFamily="2" charset="-122"/>
              </a:rPr>
              <a:t>它主要关心对数据库对象的读写操作，即</a:t>
            </a:r>
            <a:r>
              <a:rPr lang="en-US" altLang="x-none" sz="2300" dirty="0">
                <a:latin typeface="华文楷体" panose="02010600040101010101" pitchFamily="2" charset="-122"/>
                <a:ea typeface="华文楷体" panose="02010600040101010101" pitchFamily="2" charset="-122"/>
              </a:rPr>
              <a:t>read</a:t>
            </a:r>
            <a:r>
              <a:rPr lang="zh-CN" altLang="en-US" sz="2300" dirty="0">
                <a:latin typeface="华文楷体" panose="02010600040101010101" pitchFamily="2" charset="-122"/>
                <a:ea typeface="华文楷体" panose="02010600040101010101" pitchFamily="2" charset="-122"/>
              </a:rPr>
              <a:t>和</a:t>
            </a:r>
            <a:r>
              <a:rPr lang="en-US" altLang="x-none" sz="2300" dirty="0">
                <a:latin typeface="华文楷体" panose="02010600040101010101" pitchFamily="2" charset="-122"/>
                <a:ea typeface="华文楷体" panose="02010600040101010101" pitchFamily="2" charset="-122"/>
              </a:rPr>
              <a:t>write</a:t>
            </a:r>
            <a:r>
              <a:rPr lang="zh-CN" altLang="en-US" sz="2300" dirty="0">
                <a:latin typeface="华文楷体" panose="02010600040101010101" pitchFamily="2" charset="-122"/>
                <a:ea typeface="华文楷体" panose="02010600040101010101" pitchFamily="2" charset="-122"/>
              </a:rPr>
              <a:t>操作；</a:t>
            </a:r>
            <a:endParaRPr lang="zh-CN" altLang="en-US" sz="2300" dirty="0">
              <a:latin typeface="华文楷体" panose="02010600040101010101" pitchFamily="2" charset="-122"/>
              <a:ea typeface="华文楷体" panose="02010600040101010101" pitchFamily="2" charset="-122"/>
            </a:endParaRPr>
          </a:p>
          <a:p>
            <a:pPr lvl="1" indent="0">
              <a:spcBef>
                <a:spcPts val="300"/>
              </a:spcBef>
              <a:buClr>
                <a:srgbClr val="0000CC"/>
              </a:buClr>
              <a:buFont typeface="Wingdings" panose="05000000000000000000" pitchFamily="2" charset="2"/>
              <a:buChar char="ü"/>
            </a:pPr>
            <a:r>
              <a:rPr lang="zh-CN" altLang="en-US" sz="2300" dirty="0">
                <a:latin typeface="华文楷体" panose="02010600040101010101" pitchFamily="2" charset="-122"/>
                <a:ea typeface="华文楷体" panose="02010600040101010101" pitchFamily="2" charset="-122"/>
              </a:rPr>
              <a:t>它的目的是研究如何形成一个可串行的并发调度，即‘等价’于一个串行调度的并发调度。</a:t>
            </a:r>
            <a:r>
              <a:rPr lang="zh-CN" altLang="en-US" sz="2300" dirty="0">
                <a:solidFill>
                  <a:srgbClr val="0000CC"/>
                </a:solidFill>
                <a:latin typeface="华文楷体" panose="02010600040101010101" pitchFamily="2" charset="-122"/>
                <a:ea typeface="华文楷体" panose="02010600040101010101" pitchFamily="2" charset="-122"/>
              </a:rPr>
              <a:t> </a:t>
            </a:r>
            <a:endParaRPr lang="zh-CN" altLang="en-US" sz="2300" dirty="0">
              <a:solidFill>
                <a:srgbClr val="0000CC"/>
              </a:solidFill>
              <a:latin typeface="华文楷体" panose="02010600040101010101" pitchFamily="2" charset="-122"/>
              <a:ea typeface="华文楷体" panose="02010600040101010101" pitchFamily="2" charset="-122"/>
              <a:sym typeface="Wingdings" panose="05000000000000000000" pitchFamily="2" charset="2"/>
            </a:endParaRPr>
          </a:p>
        </p:txBody>
      </p:sp>
      <p:sp>
        <p:nvSpPr>
          <p:cNvPr id="97281" name="Rectangle 3"/>
          <p:cNvSpPr txBox="1"/>
          <p:nvPr/>
        </p:nvSpPr>
        <p:spPr>
          <a:xfrm>
            <a:off x="517525" y="854075"/>
            <a:ext cx="7178675" cy="706438"/>
          </a:xfrm>
          <a:prstGeom prst="rect">
            <a:avLst/>
          </a:prstGeom>
          <a:noFill/>
          <a:ln w="9525">
            <a:noFill/>
          </a:ln>
        </p:spPr>
        <p:txBody>
          <a:bodyPr anchor="t"/>
          <a:lstStyle/>
          <a:p>
            <a:pPr lvl="0" indent="0" eaLnBrk="0" hangingPunct="0"/>
            <a:r>
              <a:rPr lang="en-US" altLang="x-none" sz="2800" dirty="0" smtClean="0">
                <a:solidFill>
                  <a:srgbClr val="FF0000"/>
                </a:solidFill>
                <a:latin typeface="黑体" panose="02010609060101010101" pitchFamily="1" charset="-122"/>
                <a:ea typeface="黑体" panose="02010609060101010101" pitchFamily="1" charset="-122"/>
              </a:rPr>
              <a:t>1</a:t>
            </a:r>
            <a:r>
              <a:rPr lang="zh-CN" altLang="en-US" sz="2800" dirty="0" smtClean="0">
                <a:solidFill>
                  <a:srgbClr val="FF0000"/>
                </a:solidFill>
                <a:latin typeface="黑体" panose="02010609060101010101" pitchFamily="1" charset="-122"/>
                <a:ea typeface="黑体" panose="02010609060101010101" pitchFamily="1" charset="-122"/>
              </a:rPr>
              <a:t>、事务调度</a:t>
            </a:r>
            <a:endParaRPr lang="en-US" altLang="x-none" sz="2800" dirty="0">
              <a:solidFill>
                <a:srgbClr val="FF0000"/>
              </a:solidFill>
              <a:latin typeface="黑体" panose="02010609060101010101" pitchFamily="1" charset="-122"/>
              <a:ea typeface="黑体" panose="02010609060101010101" pitchFamily="1"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03427"/>
                                        </p:tgtEl>
                                        <p:attrNameLst>
                                          <p:attrName>style.visibility</p:attrName>
                                        </p:attrNameLst>
                                      </p:cBhvr>
                                      <p:to>
                                        <p:strVal val="visible"/>
                                      </p:to>
                                    </p:set>
                                    <p:anim calcmode="lin" valueType="num">
                                      <p:cBhvr>
                                        <p:cTn id="7" dur="500" fill="hold"/>
                                        <p:tgtEl>
                                          <p:spTgt spid="103427"/>
                                        </p:tgtEl>
                                        <p:attrNameLst>
                                          <p:attrName>ppt_x</p:attrName>
                                        </p:attrNameLst>
                                      </p:cBhvr>
                                      <p:tavLst>
                                        <p:tav tm="0">
                                          <p:val>
                                            <p:strVal val="#ppt_x"/>
                                          </p:val>
                                        </p:tav>
                                        <p:tav tm="100000">
                                          <p:val>
                                            <p:strVal val="#ppt_x"/>
                                          </p:val>
                                        </p:tav>
                                      </p:tavLst>
                                    </p:anim>
                                    <p:anim calcmode="lin" valueType="num">
                                      <p:cBhvr>
                                        <p:cTn id="8" dur="500" fill="hold"/>
                                        <p:tgtEl>
                                          <p:spTgt spid="10342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3427"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3" name="Rectangle 4"/>
          <p:cNvSpPr txBox="1"/>
          <p:nvPr/>
        </p:nvSpPr>
        <p:spPr>
          <a:xfrm>
            <a:off x="633095" y="1430655"/>
            <a:ext cx="8005445" cy="1621155"/>
          </a:xfrm>
          <a:prstGeom prst="rect">
            <a:avLst/>
          </a:prstGeom>
          <a:noFill/>
          <a:ln w="9525">
            <a:solidFill>
              <a:srgbClr val="0033CC"/>
            </a:solidFill>
            <a:prstDash val="dash"/>
          </a:ln>
        </p:spPr>
        <p:txBody>
          <a:bodyPr anchor="t"/>
          <a:lstStyle/>
          <a:p>
            <a:pPr marL="342900" lvl="0" indent="-342900" eaLnBrk="0" hangingPunct="0">
              <a:lnSpc>
                <a:spcPct val="110000"/>
              </a:lnSpc>
              <a:spcBef>
                <a:spcPts val="0"/>
              </a:spcBef>
              <a:buClr>
                <a:srgbClr val="FF0000"/>
              </a:buClr>
              <a:buSzPct val="100000"/>
              <a:buFont typeface="Wingdings" panose="05000000000000000000" charset="0"/>
              <a:buChar char=""/>
            </a:pPr>
            <a:r>
              <a:rPr lang="zh-CN" altLang="en-US" sz="2400" u="sng" dirty="0">
                <a:solidFill>
                  <a:srgbClr val="FF0000"/>
                </a:solidFill>
                <a:latin typeface="华文中宋" panose="02010600040101010101" charset="-122"/>
                <a:ea typeface="华文中宋" panose="02010600040101010101" charset="-122"/>
                <a:sym typeface="Wingdings" panose="05000000000000000000" pitchFamily="2" charset="2"/>
              </a:rPr>
              <a:t>等价调度：</a:t>
            </a:r>
            <a:r>
              <a:rPr lang="zh-CN" altLang="en-US" sz="2300" dirty="0">
                <a:latin typeface="华文楷体" panose="02010600040101010101" pitchFamily="2" charset="-122"/>
                <a:ea typeface="宋体" panose="02010600030101010101" pitchFamily="2" charset="-122"/>
                <a:sym typeface="Wingdings" panose="05000000000000000000" pitchFamily="2" charset="2"/>
              </a:rPr>
              <a:t>对同一事务集，可能有多种调度。如有两个调度</a:t>
            </a:r>
            <a:r>
              <a:rPr lang="en-US" altLang="x-none" sz="2300" dirty="0">
                <a:latin typeface="华文楷体" panose="02010600040101010101" pitchFamily="2" charset="-122"/>
                <a:ea typeface="宋体" panose="02010600030101010101" pitchFamily="2" charset="-122"/>
                <a:sym typeface="Wingdings" panose="05000000000000000000" pitchFamily="2" charset="2"/>
              </a:rPr>
              <a:t>S1</a:t>
            </a:r>
            <a:r>
              <a:rPr lang="zh-CN" altLang="en-US" sz="2300" dirty="0">
                <a:latin typeface="华文楷体" panose="02010600040101010101" pitchFamily="2" charset="-122"/>
                <a:ea typeface="宋体" panose="02010600030101010101" pitchFamily="2" charset="-122"/>
                <a:sym typeface="Wingdings" panose="05000000000000000000" pitchFamily="2" charset="2"/>
              </a:rPr>
              <a:t>和</a:t>
            </a:r>
            <a:r>
              <a:rPr lang="en-US" altLang="x-none" sz="2300" dirty="0">
                <a:latin typeface="华文楷体" panose="02010600040101010101" pitchFamily="2" charset="-122"/>
                <a:ea typeface="宋体" panose="02010600030101010101" pitchFamily="2" charset="-122"/>
                <a:sym typeface="Wingdings" panose="05000000000000000000" pitchFamily="2" charset="2"/>
              </a:rPr>
              <a:t>S2</a:t>
            </a:r>
            <a:r>
              <a:rPr lang="zh-CN" altLang="en-US" sz="2300" dirty="0">
                <a:latin typeface="华文楷体" panose="02010600040101010101" pitchFamily="2" charset="-122"/>
                <a:ea typeface="宋体" panose="02010600030101010101" pitchFamily="2" charset="-122"/>
                <a:sym typeface="Wingdings" panose="05000000000000000000" pitchFamily="2" charset="2"/>
              </a:rPr>
              <a:t>，在</a:t>
            </a:r>
            <a:r>
              <a:rPr lang="en-US" altLang="x-none" sz="2300" dirty="0">
                <a:latin typeface="华文楷体" panose="02010600040101010101" pitchFamily="2" charset="-122"/>
                <a:ea typeface="宋体" panose="02010600030101010101" pitchFamily="2" charset="-122"/>
                <a:sym typeface="Wingdings" panose="05000000000000000000" pitchFamily="2" charset="2"/>
              </a:rPr>
              <a:t>DB</a:t>
            </a:r>
            <a:r>
              <a:rPr lang="zh-CN" altLang="en-US" sz="2300" dirty="0">
                <a:latin typeface="华文楷体" panose="02010600040101010101" pitchFamily="2" charset="-122"/>
                <a:ea typeface="宋体" panose="02010600030101010101" pitchFamily="2" charset="-122"/>
                <a:sym typeface="Wingdings" panose="05000000000000000000" pitchFamily="2" charset="2"/>
              </a:rPr>
              <a:t>的任一初始状态下，所有读出的数据都是一样的，留给</a:t>
            </a:r>
            <a:r>
              <a:rPr lang="en-US" altLang="x-none" sz="2300" dirty="0">
                <a:latin typeface="华文楷体" panose="02010600040101010101" pitchFamily="2" charset="-122"/>
                <a:ea typeface="宋体" panose="02010600030101010101" pitchFamily="2" charset="-122"/>
                <a:sym typeface="Wingdings" panose="05000000000000000000" pitchFamily="2" charset="2"/>
              </a:rPr>
              <a:t>DB</a:t>
            </a:r>
            <a:r>
              <a:rPr lang="zh-CN" altLang="en-US" sz="2300" dirty="0">
                <a:latin typeface="华文楷体" panose="02010600040101010101" pitchFamily="2" charset="-122"/>
                <a:ea typeface="宋体" panose="02010600030101010101" pitchFamily="2" charset="-122"/>
                <a:sym typeface="Wingdings" panose="05000000000000000000" pitchFamily="2" charset="2"/>
              </a:rPr>
              <a:t>的最终状态也是一样的，则称</a:t>
            </a:r>
            <a:r>
              <a:rPr lang="en-US" altLang="x-none" sz="2300" dirty="0">
                <a:latin typeface="华文楷体" panose="02010600040101010101" pitchFamily="2" charset="-122"/>
                <a:ea typeface="宋体" panose="02010600030101010101" pitchFamily="2" charset="-122"/>
                <a:sym typeface="Wingdings" panose="05000000000000000000" pitchFamily="2" charset="2"/>
              </a:rPr>
              <a:t>S1</a:t>
            </a:r>
            <a:r>
              <a:rPr lang="zh-CN" altLang="en-US" sz="2300" dirty="0">
                <a:latin typeface="华文楷体" panose="02010600040101010101" pitchFamily="2" charset="-122"/>
                <a:ea typeface="宋体" panose="02010600030101010101" pitchFamily="2" charset="-122"/>
                <a:sym typeface="Wingdings" panose="05000000000000000000" pitchFamily="2" charset="2"/>
              </a:rPr>
              <a:t>和</a:t>
            </a:r>
            <a:r>
              <a:rPr lang="en-US" altLang="x-none" sz="2300" dirty="0">
                <a:latin typeface="华文楷体" panose="02010600040101010101" pitchFamily="2" charset="-122"/>
                <a:ea typeface="宋体" panose="02010600030101010101" pitchFamily="2" charset="-122"/>
                <a:sym typeface="Wingdings" panose="05000000000000000000" pitchFamily="2" charset="2"/>
              </a:rPr>
              <a:t>S2</a:t>
            </a:r>
            <a:r>
              <a:rPr lang="zh-CN" altLang="en-US" sz="2300" dirty="0">
                <a:latin typeface="华文楷体" panose="02010600040101010101" pitchFamily="2" charset="-122"/>
                <a:ea typeface="宋体" panose="02010600030101010101" pitchFamily="2" charset="-122"/>
                <a:sym typeface="Wingdings" panose="05000000000000000000" pitchFamily="2" charset="2"/>
              </a:rPr>
              <a:t>是</a:t>
            </a:r>
            <a:r>
              <a:rPr lang="zh-CN" altLang="en-US" sz="2300" dirty="0">
                <a:solidFill>
                  <a:srgbClr val="A50021"/>
                </a:solidFill>
                <a:latin typeface="华文楷体" panose="02010600040101010101" pitchFamily="2" charset="-122"/>
                <a:ea typeface="宋体" panose="02010600030101010101" pitchFamily="2" charset="-122"/>
                <a:sym typeface="Wingdings" panose="05000000000000000000" pitchFamily="2" charset="2"/>
              </a:rPr>
              <a:t>等价（</a:t>
            </a:r>
            <a:r>
              <a:rPr lang="en-US" altLang="x-none" sz="2300" dirty="0">
                <a:solidFill>
                  <a:srgbClr val="A50021"/>
                </a:solidFill>
                <a:latin typeface="华文楷体" panose="02010600040101010101" pitchFamily="2" charset="-122"/>
                <a:ea typeface="宋体" panose="02010600030101010101" pitchFamily="2" charset="-122"/>
                <a:sym typeface="Wingdings" panose="05000000000000000000" pitchFamily="2" charset="2"/>
              </a:rPr>
              <a:t>Equivalence</a:t>
            </a:r>
            <a:r>
              <a:rPr lang="zh-CN" altLang="en-US" sz="2300" dirty="0">
                <a:solidFill>
                  <a:srgbClr val="A50021"/>
                </a:solidFill>
                <a:latin typeface="华文楷体" panose="02010600040101010101" pitchFamily="2" charset="-122"/>
                <a:ea typeface="宋体" panose="02010600030101010101" pitchFamily="2" charset="-122"/>
                <a:sym typeface="Wingdings" panose="05000000000000000000" pitchFamily="2" charset="2"/>
              </a:rPr>
              <a:t>）</a:t>
            </a:r>
            <a:r>
              <a:rPr lang="zh-CN" altLang="en-US" sz="2300" dirty="0">
                <a:latin typeface="华文楷体" panose="02010600040101010101" pitchFamily="2" charset="-122"/>
                <a:ea typeface="宋体" panose="02010600030101010101" pitchFamily="2" charset="-122"/>
                <a:sym typeface="Wingdings" panose="05000000000000000000" pitchFamily="2" charset="2"/>
              </a:rPr>
              <a:t>的。</a:t>
            </a:r>
            <a:endParaRPr lang="zh-CN" altLang="en-US" sz="2400" dirty="0">
              <a:latin typeface="华文楷体" panose="02010600040101010101" pitchFamily="2" charset="-122"/>
              <a:ea typeface="宋体" panose="02010600030101010101" pitchFamily="2" charset="-122"/>
              <a:sym typeface="Wingdings" panose="05000000000000000000" pitchFamily="2" charset="2"/>
            </a:endParaRPr>
          </a:p>
        </p:txBody>
      </p:sp>
      <p:sp>
        <p:nvSpPr>
          <p:cNvPr id="6" name="Rectangle 3"/>
          <p:cNvSpPr txBox="1"/>
          <p:nvPr/>
        </p:nvSpPr>
        <p:spPr>
          <a:xfrm>
            <a:off x="517525" y="854075"/>
            <a:ext cx="7178675" cy="706438"/>
          </a:xfrm>
          <a:prstGeom prst="rect">
            <a:avLst/>
          </a:prstGeom>
          <a:noFill/>
          <a:ln w="9525">
            <a:noFill/>
          </a:ln>
        </p:spPr>
        <p:txBody>
          <a:bodyPr anchor="t"/>
          <a:lstStyle/>
          <a:p>
            <a:pPr lvl="0" indent="0" eaLnBrk="0" hangingPunct="0"/>
            <a:r>
              <a:rPr lang="en-US" altLang="x-none" sz="2800" dirty="0" smtClean="0">
                <a:solidFill>
                  <a:srgbClr val="FF0000"/>
                </a:solidFill>
                <a:latin typeface="黑体" panose="02010609060101010101" pitchFamily="1" charset="-122"/>
                <a:ea typeface="黑体" panose="02010609060101010101" pitchFamily="1" charset="-122"/>
              </a:rPr>
              <a:t>2</a:t>
            </a:r>
            <a:r>
              <a:rPr lang="zh-CN" altLang="en-US" sz="2800" dirty="0" smtClean="0">
                <a:solidFill>
                  <a:srgbClr val="FF0000"/>
                </a:solidFill>
                <a:latin typeface="黑体" panose="02010609060101010101" pitchFamily="1" charset="-122"/>
                <a:ea typeface="黑体" panose="02010609060101010101" pitchFamily="1" charset="-122"/>
              </a:rPr>
              <a:t>、等价调度</a:t>
            </a:r>
            <a:endParaRPr lang="en-US" altLang="x-none" sz="2800" dirty="0">
              <a:solidFill>
                <a:srgbClr val="FF0000"/>
              </a:solidFill>
              <a:latin typeface="黑体" panose="02010609060101010101" pitchFamily="1" charset="-122"/>
              <a:ea typeface="黑体" panose="02010609060101010101" pitchFamily="1" charset="-122"/>
            </a:endParaRPr>
          </a:p>
        </p:txBody>
      </p:sp>
      <p:sp>
        <p:nvSpPr>
          <p:cNvPr id="7" name="Rectangle 2"/>
          <p:cNvSpPr/>
          <p:nvPr/>
        </p:nvSpPr>
        <p:spPr>
          <a:xfrm>
            <a:off x="417513" y="55563"/>
            <a:ext cx="8229600" cy="692150"/>
          </a:xfrm>
          <a:prstGeom prst="rect">
            <a:avLst/>
          </a:prstGeom>
          <a:noFill/>
          <a:ln w="9525">
            <a:noFill/>
          </a:ln>
        </p:spPr>
        <p:txBody>
          <a:bodyPr anchor="ctr"/>
          <a:lstStyle/>
          <a:p>
            <a:pPr lvl="0" indent="0">
              <a:buFont typeface="Wingdings" panose="05000000000000000000" pitchFamily="2" charset="2"/>
              <a:buNone/>
            </a:pPr>
            <a:r>
              <a:rPr lang="zh-CN" altLang="en-US" sz="3200" dirty="0" smtClean="0">
                <a:solidFill>
                  <a:srgbClr val="0033CC"/>
                </a:solidFill>
                <a:latin typeface="Arial" panose="020B0604020202020204" pitchFamily="34" charset="0"/>
                <a:ea typeface="黑体" panose="02010609060101010101" pitchFamily="1" charset="-122"/>
              </a:rPr>
              <a:t>二、并发执行的正确性准则</a:t>
            </a:r>
            <a:endParaRPr lang="zh-CN" altLang="en-US" sz="3200" dirty="0">
              <a:solidFill>
                <a:srgbClr val="0033CC"/>
              </a:solidFill>
              <a:latin typeface="Arial" panose="020B0604020202020204" pitchFamily="34" charset="0"/>
              <a:ea typeface="黑体" panose="02010609060101010101" pitchFamily="1" charset="-122"/>
            </a:endParaRPr>
          </a:p>
        </p:txBody>
      </p:sp>
      <p:sp>
        <p:nvSpPr>
          <p:cNvPr id="2" name="Rectangle 4"/>
          <p:cNvSpPr txBox="1"/>
          <p:nvPr/>
        </p:nvSpPr>
        <p:spPr>
          <a:xfrm>
            <a:off x="658495" y="3179445"/>
            <a:ext cx="8027670" cy="2975610"/>
          </a:xfrm>
          <a:prstGeom prst="rect">
            <a:avLst/>
          </a:prstGeom>
          <a:noFill/>
          <a:ln w="9525">
            <a:noFill/>
          </a:ln>
        </p:spPr>
        <p:txBody>
          <a:bodyPr anchor="t"/>
          <a:lstStyle/>
          <a:p>
            <a:pPr lvl="0" eaLnBrk="0" hangingPunct="0">
              <a:spcBef>
                <a:spcPct val="20000"/>
              </a:spcBef>
              <a:buClr>
                <a:srgbClr val="FF0000"/>
              </a:buClr>
              <a:buSzPct val="100000"/>
              <a:buFont typeface="Wingdings" panose="05000000000000000000" charset="0"/>
            </a:pPr>
            <a:r>
              <a:rPr lang="en-US" altLang="x-none" sz="2400" dirty="0">
                <a:latin typeface="华文楷体" panose="02010600040101010101" pitchFamily="2" charset="-122"/>
                <a:ea typeface="宋体" panose="02010600030101010101" pitchFamily="2" charset="-122"/>
                <a:sym typeface="Wingdings" panose="05000000000000000000" pitchFamily="2" charset="2"/>
              </a:rPr>
              <a:t>--</a:t>
            </a:r>
            <a:r>
              <a:rPr lang="zh-CN" altLang="en-US" sz="2400" dirty="0">
                <a:latin typeface="华文楷体" panose="02010600040101010101" pitchFamily="2" charset="-122"/>
                <a:ea typeface="宋体" panose="02010600030101010101" pitchFamily="2" charset="-122"/>
                <a:sym typeface="Wingdings" panose="05000000000000000000" pitchFamily="2" charset="2"/>
              </a:rPr>
              <a:t>以上的调度等价定义是一个普遍定义，亦称为</a:t>
            </a:r>
            <a:r>
              <a:rPr lang="zh-CN" altLang="en-US" sz="2400" u="sng" dirty="0">
                <a:solidFill>
                  <a:srgbClr val="FF0000"/>
                </a:solidFill>
                <a:latin typeface="华文中宋" panose="02010600040101010101" charset="-122"/>
                <a:ea typeface="华文中宋" panose="02010600040101010101" charset="-122"/>
                <a:cs typeface="+mn-ea"/>
                <a:sym typeface="Wingdings" panose="05000000000000000000" pitchFamily="2" charset="2"/>
              </a:rPr>
              <a:t>目标等价</a:t>
            </a:r>
            <a:r>
              <a:rPr lang="zh-CN" altLang="en-US" sz="2400" dirty="0">
                <a:solidFill>
                  <a:srgbClr val="A50021"/>
                </a:solidFill>
                <a:latin typeface="华文楷体" panose="02010600040101010101" pitchFamily="2" charset="-122"/>
                <a:ea typeface="宋体" panose="02010600030101010101" pitchFamily="2" charset="-122"/>
                <a:sym typeface="Wingdings" panose="05000000000000000000" pitchFamily="2" charset="2"/>
              </a:rPr>
              <a:t>。</a:t>
            </a:r>
            <a:endParaRPr lang="zh-CN" altLang="en-US" sz="2400" dirty="0">
              <a:solidFill>
                <a:srgbClr val="A50021"/>
              </a:solidFill>
              <a:latin typeface="华文楷体" panose="02010600040101010101" pitchFamily="2" charset="-122"/>
              <a:ea typeface="宋体" panose="02010600030101010101" pitchFamily="2" charset="-122"/>
              <a:sym typeface="Wingdings" panose="05000000000000000000" pitchFamily="2" charset="2"/>
            </a:endParaRPr>
          </a:p>
          <a:p>
            <a:pPr lvl="0" indent="0" eaLnBrk="0" hangingPunct="0">
              <a:lnSpc>
                <a:spcPct val="120000"/>
              </a:lnSpc>
              <a:spcBef>
                <a:spcPts val="600"/>
              </a:spcBef>
              <a:buClr>
                <a:srgbClr val="0033CC"/>
              </a:buClr>
              <a:buSzPct val="80000"/>
              <a:buFont typeface="Wingdings" panose="05000000000000000000" pitchFamily="2" charset="2"/>
              <a:buChar char="u"/>
            </a:pPr>
            <a:r>
              <a:rPr lang="zh-CN" altLang="en-US" sz="2300" dirty="0">
                <a:latin typeface="华文楷体" panose="02010600040101010101" pitchFamily="2" charset="-122"/>
                <a:ea typeface="宋体" panose="02010600030101010101" pitchFamily="2" charset="-122"/>
                <a:sym typeface="Wingdings" panose="05000000000000000000" pitchFamily="2" charset="2"/>
              </a:rPr>
              <a:t>不同事务的一对操作，有些是冲突的，有些是不冲突的。</a:t>
            </a:r>
            <a:endParaRPr lang="zh-CN" altLang="en-US" sz="2300" dirty="0">
              <a:latin typeface="华文楷体" panose="02010600040101010101" pitchFamily="2" charset="-122"/>
              <a:ea typeface="宋体" panose="02010600030101010101" pitchFamily="2" charset="-122"/>
              <a:sym typeface="Wingdings" panose="05000000000000000000" pitchFamily="2" charset="2"/>
            </a:endParaRPr>
          </a:p>
          <a:p>
            <a:pPr marL="535305" lvl="1" indent="-268605" eaLnBrk="0" hangingPunct="0">
              <a:lnSpc>
                <a:spcPct val="120000"/>
              </a:lnSpc>
              <a:spcBef>
                <a:spcPts val="600"/>
              </a:spcBef>
              <a:buClr>
                <a:schemeClr val="accent2"/>
              </a:buClr>
              <a:buSzPct val="70000"/>
            </a:pPr>
            <a:r>
              <a:rPr lang="en-US" altLang="x-none" sz="2400" dirty="0">
                <a:solidFill>
                  <a:srgbClr val="A50021"/>
                </a:solidFill>
                <a:latin typeface="华文楷体" panose="02010600040101010101" pitchFamily="2" charset="-122"/>
                <a:ea typeface="宋体" panose="02010600030101010101" pitchFamily="2" charset="-122"/>
                <a:sym typeface="Wingdings" panose="05000000000000000000" pitchFamily="2" charset="2"/>
              </a:rPr>
              <a:t>--</a:t>
            </a:r>
            <a:r>
              <a:rPr lang="zh-CN" altLang="en-US" sz="2400" dirty="0">
                <a:solidFill>
                  <a:srgbClr val="A50021"/>
                </a:solidFill>
                <a:latin typeface="华文楷体" panose="02010600040101010101" pitchFamily="2" charset="-122"/>
                <a:ea typeface="宋体" panose="02010600030101010101" pitchFamily="2" charset="-122"/>
                <a:sym typeface="Wingdings" panose="05000000000000000000" pitchFamily="2" charset="2"/>
              </a:rPr>
              <a:t>冲突等价（</a:t>
            </a:r>
            <a:r>
              <a:rPr lang="en-US" altLang="x-none" sz="2400" dirty="0">
                <a:solidFill>
                  <a:srgbClr val="A50021"/>
                </a:solidFill>
                <a:latin typeface="华文楷体" panose="02010600040101010101" pitchFamily="2" charset="-122"/>
                <a:ea typeface="宋体" panose="02010600030101010101" pitchFamily="2" charset="-122"/>
                <a:sym typeface="Wingdings" panose="05000000000000000000" pitchFamily="2" charset="2"/>
              </a:rPr>
              <a:t>Conflict Equivalence</a:t>
            </a:r>
            <a:r>
              <a:rPr lang="zh-CN" altLang="en-US" sz="2400" dirty="0">
                <a:solidFill>
                  <a:srgbClr val="A50021"/>
                </a:solidFill>
                <a:latin typeface="华文楷体" panose="02010600040101010101" pitchFamily="2" charset="-122"/>
                <a:ea typeface="宋体" panose="02010600030101010101" pitchFamily="2" charset="-122"/>
                <a:sym typeface="Wingdings" panose="05000000000000000000" pitchFamily="2" charset="2"/>
              </a:rPr>
              <a:t>）：</a:t>
            </a:r>
            <a:r>
              <a:rPr lang="zh-CN" altLang="en-US" sz="2400" dirty="0">
                <a:latin typeface="华文楷体" panose="02010600040101010101" pitchFamily="2" charset="-122"/>
                <a:ea typeface="宋体" panose="02010600030101010101" pitchFamily="2" charset="-122"/>
                <a:sym typeface="Wingdings" panose="05000000000000000000" pitchFamily="2" charset="2"/>
              </a:rPr>
              <a:t>凡是通过调换</a:t>
            </a:r>
            <a:r>
              <a:rPr lang="en-US" altLang="x-none" sz="2400" dirty="0">
                <a:latin typeface="华文楷体" panose="02010600040101010101" pitchFamily="2" charset="-122"/>
                <a:ea typeface="宋体" panose="02010600030101010101" pitchFamily="2" charset="-122"/>
                <a:sym typeface="Wingdings" panose="05000000000000000000" pitchFamily="2" charset="2"/>
              </a:rPr>
              <a:t>S</a:t>
            </a:r>
            <a:r>
              <a:rPr lang="zh-CN" altLang="en-US" sz="2400" dirty="0">
                <a:latin typeface="华文楷体" panose="02010600040101010101" pitchFamily="2" charset="-122"/>
                <a:ea typeface="宋体" panose="02010600030101010101" pitchFamily="2" charset="-122"/>
                <a:sym typeface="Wingdings" panose="05000000000000000000" pitchFamily="2" charset="2"/>
              </a:rPr>
              <a:t>中</a:t>
            </a:r>
            <a:r>
              <a:rPr lang="zh-CN" altLang="en-US" sz="2400" u="sng" dirty="0">
                <a:solidFill>
                  <a:srgbClr val="A50021"/>
                </a:solidFill>
                <a:latin typeface="华文楷体" panose="02010600040101010101" pitchFamily="2" charset="-122"/>
                <a:ea typeface="宋体" panose="02010600030101010101" pitchFamily="2" charset="-122"/>
                <a:sym typeface="Wingdings" panose="05000000000000000000" pitchFamily="2" charset="2"/>
              </a:rPr>
              <a:t>不冲突操作</a:t>
            </a:r>
            <a:r>
              <a:rPr lang="zh-CN" altLang="en-US" sz="2400" dirty="0">
                <a:latin typeface="华文楷体" panose="02010600040101010101" pitchFamily="2" charset="-122"/>
                <a:ea typeface="宋体" panose="02010600030101010101" pitchFamily="2" charset="-122"/>
                <a:sym typeface="Wingdings" panose="05000000000000000000" pitchFamily="2" charset="2"/>
              </a:rPr>
              <a:t>所得的新调度，称为</a:t>
            </a:r>
            <a:r>
              <a:rPr lang="en-US" altLang="x-none" sz="2400" dirty="0">
                <a:latin typeface="华文楷体" panose="02010600040101010101" pitchFamily="2" charset="-122"/>
                <a:ea typeface="宋体" panose="02010600030101010101" pitchFamily="2" charset="-122"/>
                <a:sym typeface="Wingdings" panose="05000000000000000000" pitchFamily="2" charset="2"/>
              </a:rPr>
              <a:t>S</a:t>
            </a:r>
            <a:r>
              <a:rPr lang="zh-CN" altLang="en-US" sz="2400" dirty="0">
                <a:latin typeface="华文楷体" panose="02010600040101010101" pitchFamily="2" charset="-122"/>
                <a:ea typeface="宋体" panose="02010600030101010101" pitchFamily="2" charset="-122"/>
                <a:sym typeface="Wingdings" panose="05000000000000000000" pitchFamily="2" charset="2"/>
              </a:rPr>
              <a:t>的冲突等价调度。</a:t>
            </a:r>
            <a:endParaRPr lang="zh-CN" altLang="en-US" sz="2400" dirty="0">
              <a:latin typeface="华文楷体" panose="02010600040101010101" pitchFamily="2" charset="-122"/>
              <a:ea typeface="宋体" panose="02010600030101010101" pitchFamily="2" charset="-122"/>
              <a:sym typeface="Wingdings" panose="05000000000000000000" pitchFamily="2" charset="2"/>
            </a:endParaRPr>
          </a:p>
          <a:p>
            <a:pPr lvl="0" indent="0" eaLnBrk="0" hangingPunct="0">
              <a:lnSpc>
                <a:spcPct val="120000"/>
              </a:lnSpc>
              <a:spcBef>
                <a:spcPts val="600"/>
              </a:spcBef>
              <a:buClr>
                <a:srgbClr val="0033CC"/>
              </a:buClr>
              <a:buSzPct val="80000"/>
              <a:buFont typeface="Wingdings" panose="05000000000000000000" pitchFamily="2" charset="2"/>
              <a:buChar char="u"/>
            </a:pPr>
            <a:r>
              <a:rPr lang="zh-CN" altLang="en-US" sz="2400" u="sng" dirty="0">
                <a:solidFill>
                  <a:srgbClr val="FF0000"/>
                </a:solidFill>
                <a:latin typeface="华文中宋" panose="02010600040101010101" charset="-122"/>
                <a:ea typeface="华文中宋" panose="02010600040101010101" charset="-122"/>
                <a:sym typeface="Wingdings" panose="05000000000000000000" pitchFamily="2" charset="2"/>
              </a:rPr>
              <a:t>结论：</a:t>
            </a:r>
            <a:r>
              <a:rPr lang="zh-CN" altLang="en-US" sz="2300" dirty="0">
                <a:latin typeface="华文楷体" panose="02010600040101010101" pitchFamily="2" charset="-122"/>
                <a:ea typeface="宋体" panose="02010600030101010101" pitchFamily="2" charset="-122"/>
                <a:sym typeface="Wingdings" panose="05000000000000000000" pitchFamily="2" charset="2"/>
              </a:rPr>
              <a:t>如两个调度是冲突等价的，则一定是目标等价的；反之不亦然。</a:t>
            </a:r>
            <a:endParaRPr lang="zh-CN" altLang="en-US" sz="2300" dirty="0">
              <a:latin typeface="华文楷体" panose="02010600040101010101" pitchFamily="2" charset="-122"/>
              <a:ea typeface="宋体" panose="02010600030101010101" pitchFamily="2" charset="-122"/>
              <a:sym typeface="Wingdings" panose="05000000000000000000" pitchFamily="2" charset="2"/>
            </a:endParaRPr>
          </a:p>
        </p:txBody>
      </p:sp>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2"/>
          <p:cNvSpPr txBox="1"/>
          <p:nvPr/>
        </p:nvSpPr>
        <p:spPr>
          <a:xfrm>
            <a:off x="503238" y="1384609"/>
            <a:ext cx="5805487" cy="439737"/>
          </a:xfrm>
          <a:prstGeom prst="rect">
            <a:avLst/>
          </a:prstGeom>
          <a:noFill/>
          <a:ln w="9525">
            <a:noFill/>
          </a:ln>
        </p:spPr>
        <p:txBody>
          <a:bodyPr anchor="t"/>
          <a:lstStyle/>
          <a:p>
            <a:pPr lvl="0" indent="0" eaLnBrk="0" hangingPunct="0">
              <a:buFont typeface="Wingdings" panose="05000000000000000000" pitchFamily="2" charset="2"/>
              <a:buChar char="p"/>
            </a:pPr>
            <a:r>
              <a:rPr lang="zh-CN" altLang="en-US" sz="2600" dirty="0">
                <a:solidFill>
                  <a:srgbClr val="3333CC"/>
                </a:solidFill>
                <a:latin typeface="宋体" panose="02010600030101010101" pitchFamily="2" charset="-122"/>
                <a:ea typeface="黑体" panose="02010609060101010101" pitchFamily="1" charset="-122"/>
              </a:rPr>
              <a:t> 可串行化（</a:t>
            </a:r>
            <a:r>
              <a:rPr lang="en-US" altLang="x-none" sz="2600" dirty="0">
                <a:solidFill>
                  <a:srgbClr val="3333CC"/>
                </a:solidFill>
                <a:latin typeface="宋体" panose="02010600030101010101" pitchFamily="2" charset="-122"/>
                <a:ea typeface="黑体" panose="02010609060101010101" pitchFamily="1" charset="-122"/>
              </a:rPr>
              <a:t>Serializability</a:t>
            </a:r>
            <a:r>
              <a:rPr lang="zh-CN" altLang="en-US" sz="2600" dirty="0">
                <a:solidFill>
                  <a:srgbClr val="3333CC"/>
                </a:solidFill>
                <a:latin typeface="宋体" panose="02010600030101010101" pitchFamily="2" charset="-122"/>
                <a:ea typeface="黑体" panose="02010609060101010101" pitchFamily="1" charset="-122"/>
              </a:rPr>
              <a:t>）</a:t>
            </a:r>
            <a:endParaRPr lang="zh-CN" altLang="en-US" sz="2600" dirty="0">
              <a:solidFill>
                <a:srgbClr val="3333CC"/>
              </a:solidFill>
              <a:latin typeface="宋体" panose="02010600030101010101" pitchFamily="2" charset="-122"/>
              <a:ea typeface="黑体" panose="02010609060101010101" pitchFamily="1" charset="-122"/>
            </a:endParaRPr>
          </a:p>
        </p:txBody>
      </p:sp>
      <p:sp>
        <p:nvSpPr>
          <p:cNvPr id="101379" name="Rectangle 3"/>
          <p:cNvSpPr txBox="1"/>
          <p:nvPr/>
        </p:nvSpPr>
        <p:spPr>
          <a:xfrm>
            <a:off x="628968" y="1823403"/>
            <a:ext cx="8018462" cy="3408362"/>
          </a:xfrm>
          <a:prstGeom prst="rect">
            <a:avLst/>
          </a:prstGeom>
          <a:noFill/>
          <a:ln w="9525">
            <a:noFill/>
          </a:ln>
        </p:spPr>
        <p:txBody>
          <a:bodyPr anchor="t"/>
          <a:lstStyle/>
          <a:p>
            <a:pPr lvl="0" indent="0" eaLnBrk="0" hangingPunct="0">
              <a:lnSpc>
                <a:spcPct val="120000"/>
              </a:lnSpc>
              <a:spcBef>
                <a:spcPts val="600"/>
              </a:spcBef>
              <a:buClr>
                <a:srgbClr val="0033CC"/>
              </a:buClr>
              <a:buSzPct val="80000"/>
              <a:buFont typeface="Wingdings" panose="05000000000000000000" pitchFamily="2" charset="2"/>
              <a:buChar char="u"/>
            </a:pPr>
            <a:r>
              <a:rPr lang="zh-CN" altLang="en-US" sz="2400" u="sng" dirty="0">
                <a:solidFill>
                  <a:srgbClr val="000099"/>
                </a:solidFill>
                <a:latin typeface="华文楷体" panose="02010600040101010101" pitchFamily="2" charset="-122"/>
                <a:ea typeface="宋体" panose="02010600030101010101" pitchFamily="2" charset="-122"/>
                <a:sym typeface="Wingdings" panose="05000000000000000000" pitchFamily="2" charset="2"/>
              </a:rPr>
              <a:t>对一事务集，如一个并发调度与一个串行调度等价，则称此并发调度是可串行化的</a:t>
            </a:r>
            <a:r>
              <a:rPr lang="en-US" altLang="x-none" sz="2400" u="sng" dirty="0">
                <a:solidFill>
                  <a:srgbClr val="000099"/>
                </a:solidFill>
                <a:latin typeface="华文楷体" panose="02010600040101010101" pitchFamily="2" charset="-122"/>
                <a:ea typeface="宋体" panose="02010600030101010101" pitchFamily="2" charset="-122"/>
                <a:sym typeface="Wingdings" panose="05000000000000000000" pitchFamily="2" charset="2"/>
              </a:rPr>
              <a:t>(Serializable)</a:t>
            </a:r>
            <a:r>
              <a:rPr lang="zh-CN" altLang="en-US" sz="2400" dirty="0">
                <a:latin typeface="华文楷体" panose="02010600040101010101" pitchFamily="2" charset="-122"/>
                <a:ea typeface="宋体" panose="02010600030101010101" pitchFamily="2" charset="-122"/>
                <a:sym typeface="Wingdings" panose="05000000000000000000" pitchFamily="2" charset="2"/>
              </a:rPr>
              <a:t>。</a:t>
            </a:r>
            <a:endParaRPr lang="zh-CN" altLang="en-US" sz="2400" dirty="0">
              <a:latin typeface="华文楷体" panose="02010600040101010101" pitchFamily="2" charset="-122"/>
              <a:ea typeface="宋体" panose="02010600030101010101" pitchFamily="2" charset="-122"/>
              <a:sym typeface="Wingdings" panose="05000000000000000000" pitchFamily="2" charset="2"/>
            </a:endParaRPr>
          </a:p>
          <a:p>
            <a:pPr lvl="0" indent="0" eaLnBrk="0" hangingPunct="0">
              <a:lnSpc>
                <a:spcPct val="120000"/>
              </a:lnSpc>
              <a:spcBef>
                <a:spcPts val="600"/>
              </a:spcBef>
              <a:buClr>
                <a:srgbClr val="0033CC"/>
              </a:buClr>
              <a:buSzPct val="80000"/>
              <a:buFont typeface="Wingdings" panose="05000000000000000000" pitchFamily="2" charset="2"/>
              <a:buChar char="u"/>
            </a:pPr>
            <a:r>
              <a:rPr lang="zh-CN" altLang="en-US" sz="2400" dirty="0">
                <a:latin typeface="华文楷体" panose="02010600040101010101" pitchFamily="2" charset="-122"/>
                <a:ea typeface="宋体" panose="02010600030101010101" pitchFamily="2" charset="-122"/>
                <a:sym typeface="Wingdings" panose="05000000000000000000" pitchFamily="2" charset="2"/>
              </a:rPr>
              <a:t>可串行化分类：目标可串行化和冲突可串行化。</a:t>
            </a:r>
            <a:endParaRPr lang="zh-CN" altLang="en-US" sz="2400" dirty="0">
              <a:latin typeface="华文楷体" panose="02010600040101010101" pitchFamily="2" charset="-122"/>
              <a:ea typeface="宋体" panose="02010600030101010101" pitchFamily="2" charset="-122"/>
              <a:sym typeface="Wingdings" panose="05000000000000000000" pitchFamily="2" charset="2"/>
            </a:endParaRPr>
          </a:p>
          <a:p>
            <a:pPr lvl="0" indent="0" eaLnBrk="0" hangingPunct="0">
              <a:lnSpc>
                <a:spcPct val="114000"/>
              </a:lnSpc>
              <a:spcBef>
                <a:spcPts val="600"/>
              </a:spcBef>
              <a:buClr>
                <a:srgbClr val="0033CC"/>
              </a:buClr>
              <a:buSzPct val="80000"/>
              <a:buFont typeface="Wingdings" panose="05000000000000000000" pitchFamily="2" charset="2"/>
              <a:buChar char="ü"/>
            </a:pPr>
            <a:r>
              <a:rPr lang="zh-CN" altLang="en-US" sz="2400" u="sng" dirty="0">
                <a:solidFill>
                  <a:srgbClr val="CC0000"/>
                </a:solidFill>
                <a:latin typeface="华文楷体" panose="02010600040101010101" pitchFamily="2" charset="-122"/>
                <a:ea typeface="宋体" panose="02010600030101010101" pitchFamily="2" charset="-122"/>
                <a:sym typeface="Wingdings" panose="05000000000000000000" pitchFamily="2" charset="2"/>
              </a:rPr>
              <a:t>推论</a:t>
            </a:r>
            <a:r>
              <a:rPr lang="en-US" altLang="x-none" sz="2400" u="sng" dirty="0">
                <a:solidFill>
                  <a:srgbClr val="CC0000"/>
                </a:solidFill>
                <a:latin typeface="华文楷体" panose="02010600040101010101" pitchFamily="2" charset="-122"/>
                <a:ea typeface="宋体" panose="02010600030101010101" pitchFamily="2" charset="-122"/>
                <a:sym typeface="Wingdings" panose="05000000000000000000" pitchFamily="2" charset="2"/>
              </a:rPr>
              <a:t>1 </a:t>
            </a:r>
            <a:r>
              <a:rPr lang="zh-CN" altLang="en-US" sz="2400" u="sng" dirty="0">
                <a:solidFill>
                  <a:srgbClr val="CC0000"/>
                </a:solidFill>
                <a:latin typeface="华文楷体" panose="02010600040101010101" pitchFamily="2" charset="-122"/>
                <a:ea typeface="宋体" panose="02010600030101010101" pitchFamily="2" charset="-122"/>
                <a:sym typeface="Wingdings" panose="05000000000000000000" pitchFamily="2" charset="2"/>
              </a:rPr>
              <a:t>：</a:t>
            </a:r>
            <a:r>
              <a:rPr lang="zh-CN" altLang="en-US" sz="2400" dirty="0">
                <a:latin typeface="华文楷体" panose="02010600040101010101" pitchFamily="2" charset="-122"/>
                <a:ea typeface="宋体" panose="02010600030101010101" pitchFamily="2" charset="-122"/>
                <a:sym typeface="Wingdings" panose="05000000000000000000" pitchFamily="2" charset="2"/>
              </a:rPr>
              <a:t>因冲突等价一定是目标等价，故冲突可串行化调度也一定是目标可串行化调度。</a:t>
            </a:r>
            <a:endParaRPr lang="zh-CN" altLang="en-US" sz="2400" dirty="0">
              <a:latin typeface="华文楷体" panose="02010600040101010101" pitchFamily="2" charset="-122"/>
              <a:ea typeface="宋体" panose="02010600030101010101" pitchFamily="2" charset="-122"/>
              <a:sym typeface="Wingdings" panose="05000000000000000000" pitchFamily="2" charset="2"/>
            </a:endParaRPr>
          </a:p>
          <a:p>
            <a:pPr lvl="0" indent="0" eaLnBrk="0" hangingPunct="0">
              <a:lnSpc>
                <a:spcPct val="114000"/>
              </a:lnSpc>
              <a:spcBef>
                <a:spcPts val="600"/>
              </a:spcBef>
              <a:buClr>
                <a:srgbClr val="0033CC"/>
              </a:buClr>
              <a:buSzPct val="80000"/>
              <a:buFont typeface="Wingdings" panose="05000000000000000000" pitchFamily="2" charset="2"/>
              <a:buChar char="ü"/>
            </a:pPr>
            <a:r>
              <a:rPr lang="zh-CN" altLang="en-US" sz="2400" u="sng" dirty="0">
                <a:solidFill>
                  <a:srgbClr val="CC0000"/>
                </a:solidFill>
                <a:latin typeface="华文楷体" panose="02010600040101010101" pitchFamily="2" charset="-122"/>
                <a:ea typeface="宋体" panose="02010600030101010101" pitchFamily="2" charset="-122"/>
                <a:sym typeface="Wingdings" panose="05000000000000000000" pitchFamily="2" charset="2"/>
              </a:rPr>
              <a:t>推论</a:t>
            </a:r>
            <a:r>
              <a:rPr lang="en-US" altLang="x-none" sz="2400" u="sng" dirty="0">
                <a:solidFill>
                  <a:srgbClr val="CC0000"/>
                </a:solidFill>
                <a:latin typeface="华文楷体" panose="02010600040101010101" pitchFamily="2" charset="-122"/>
                <a:ea typeface="宋体" panose="02010600030101010101" pitchFamily="2" charset="-122"/>
                <a:sym typeface="Wingdings" panose="05000000000000000000" pitchFamily="2" charset="2"/>
              </a:rPr>
              <a:t>2</a:t>
            </a:r>
            <a:r>
              <a:rPr lang="zh-CN" altLang="en-US" sz="2400" u="sng" dirty="0">
                <a:solidFill>
                  <a:srgbClr val="CC0000"/>
                </a:solidFill>
                <a:latin typeface="华文楷体" panose="02010600040101010101" pitchFamily="2" charset="-122"/>
                <a:ea typeface="宋体" panose="02010600030101010101" pitchFamily="2" charset="-122"/>
                <a:sym typeface="Wingdings" panose="05000000000000000000" pitchFamily="2" charset="2"/>
              </a:rPr>
              <a:t>：</a:t>
            </a:r>
            <a:r>
              <a:rPr lang="zh-CN" altLang="en-US" sz="2400" dirty="0">
                <a:latin typeface="华文楷体" panose="02010600040101010101" pitchFamily="2" charset="-122"/>
                <a:ea typeface="宋体" panose="02010600030101010101" pitchFamily="2" charset="-122"/>
                <a:sym typeface="Wingdings" panose="05000000000000000000" pitchFamily="2" charset="2"/>
              </a:rPr>
              <a:t>可串行化调度与某一串行调度等价，故也不会产生并发所引起的问题。</a:t>
            </a:r>
            <a:endParaRPr lang="zh-CN" altLang="en-US" sz="2400" dirty="0">
              <a:latin typeface="华文楷体" panose="02010600040101010101" pitchFamily="2" charset="-122"/>
              <a:ea typeface="宋体" panose="02010600030101010101" pitchFamily="2" charset="-122"/>
              <a:sym typeface="Wingdings" panose="05000000000000000000" pitchFamily="2" charset="2"/>
            </a:endParaRPr>
          </a:p>
          <a:p>
            <a:pPr lvl="0" indent="0" eaLnBrk="0" hangingPunct="0">
              <a:lnSpc>
                <a:spcPct val="120000"/>
              </a:lnSpc>
              <a:spcBef>
                <a:spcPts val="600"/>
              </a:spcBef>
              <a:buClr>
                <a:srgbClr val="0033CC"/>
              </a:buClr>
              <a:buSzPct val="80000"/>
            </a:pPr>
            <a:r>
              <a:rPr lang="zh-CN" altLang="en-US" sz="2400" dirty="0">
                <a:solidFill>
                  <a:srgbClr val="CC0000"/>
                </a:solidFill>
                <a:latin typeface="华文楷体" panose="02010600040101010101" pitchFamily="2" charset="-122"/>
                <a:ea typeface="宋体" panose="02010600030101010101" pitchFamily="2" charset="-122"/>
                <a:sym typeface="Wingdings" panose="05000000000000000000" pitchFamily="2" charset="2"/>
              </a:rPr>
              <a:t>并发执行的正确性准则：</a:t>
            </a:r>
            <a:r>
              <a:rPr lang="zh-CN" altLang="en-US" sz="2400" dirty="0">
                <a:latin typeface="华文楷体" panose="02010600040101010101" pitchFamily="2" charset="-122"/>
                <a:ea typeface="宋体" panose="02010600030101010101" pitchFamily="2" charset="-122"/>
                <a:sym typeface="Wingdings" panose="05000000000000000000" pitchFamily="2" charset="2"/>
              </a:rPr>
              <a:t>在当前的</a:t>
            </a:r>
            <a:r>
              <a:rPr lang="en-US" altLang="x-none" sz="2400" dirty="0">
                <a:latin typeface="华文楷体" panose="02010600040101010101" pitchFamily="2" charset="-122"/>
                <a:ea typeface="宋体" panose="02010600030101010101" pitchFamily="2" charset="-122"/>
                <a:sym typeface="Wingdings" panose="05000000000000000000" pitchFamily="2" charset="2"/>
              </a:rPr>
              <a:t>DBMS</a:t>
            </a:r>
            <a:r>
              <a:rPr lang="zh-CN" altLang="en-US" sz="2400" dirty="0">
                <a:latin typeface="华文楷体" panose="02010600040101010101" pitchFamily="2" charset="-122"/>
                <a:ea typeface="宋体" panose="02010600030101010101" pitchFamily="2" charset="-122"/>
                <a:sym typeface="Wingdings" panose="05000000000000000000" pitchFamily="2" charset="2"/>
              </a:rPr>
              <a:t>中，均以“冲突可串行化”作为并发执行的正确性准则。</a:t>
            </a:r>
            <a:endParaRPr lang="zh-CN" altLang="en-US" sz="2400" dirty="0">
              <a:latin typeface="华文楷体" panose="02010600040101010101" pitchFamily="2" charset="-122"/>
              <a:ea typeface="宋体" panose="02010600030101010101" pitchFamily="2" charset="-122"/>
              <a:sym typeface="Wingdings" panose="05000000000000000000" pitchFamily="2" charset="2"/>
            </a:endParaRPr>
          </a:p>
        </p:txBody>
      </p:sp>
      <p:sp>
        <p:nvSpPr>
          <p:cNvPr id="7" name="Rectangle 3"/>
          <p:cNvSpPr txBox="1"/>
          <p:nvPr/>
        </p:nvSpPr>
        <p:spPr>
          <a:xfrm>
            <a:off x="517525" y="854075"/>
            <a:ext cx="7178675" cy="706438"/>
          </a:xfrm>
          <a:prstGeom prst="rect">
            <a:avLst/>
          </a:prstGeom>
          <a:noFill/>
          <a:ln w="9525">
            <a:noFill/>
          </a:ln>
        </p:spPr>
        <p:txBody>
          <a:bodyPr anchor="t"/>
          <a:lstStyle/>
          <a:p>
            <a:pPr lvl="0" indent="0" eaLnBrk="0" hangingPunct="0"/>
            <a:r>
              <a:rPr lang="en-US" altLang="x-none" sz="2800" dirty="0" smtClean="0">
                <a:solidFill>
                  <a:srgbClr val="FF0000"/>
                </a:solidFill>
                <a:latin typeface="黑体" panose="02010609060101010101" pitchFamily="1" charset="-122"/>
                <a:ea typeface="黑体" panose="02010609060101010101" pitchFamily="1" charset="-122"/>
              </a:rPr>
              <a:t>3</a:t>
            </a:r>
            <a:r>
              <a:rPr lang="zh-CN" altLang="en-US" sz="2800" dirty="0" smtClean="0">
                <a:solidFill>
                  <a:srgbClr val="FF0000"/>
                </a:solidFill>
                <a:latin typeface="黑体" panose="02010609060101010101" pitchFamily="1" charset="-122"/>
                <a:ea typeface="黑体" panose="02010609060101010101" pitchFamily="1" charset="-122"/>
              </a:rPr>
              <a:t>、可串行化调度</a:t>
            </a:r>
            <a:endParaRPr lang="en-US" altLang="x-none" sz="2800" dirty="0">
              <a:solidFill>
                <a:srgbClr val="FF0000"/>
              </a:solidFill>
              <a:latin typeface="黑体" panose="02010609060101010101" pitchFamily="1" charset="-122"/>
              <a:ea typeface="黑体" panose="02010609060101010101" pitchFamily="1" charset="-122"/>
            </a:endParaRPr>
          </a:p>
        </p:txBody>
      </p:sp>
      <p:sp>
        <p:nvSpPr>
          <p:cNvPr id="8" name="Rectangle 2"/>
          <p:cNvSpPr/>
          <p:nvPr/>
        </p:nvSpPr>
        <p:spPr>
          <a:xfrm>
            <a:off x="417513" y="55563"/>
            <a:ext cx="8229600" cy="692150"/>
          </a:xfrm>
          <a:prstGeom prst="rect">
            <a:avLst/>
          </a:prstGeom>
          <a:noFill/>
          <a:ln w="9525">
            <a:noFill/>
          </a:ln>
        </p:spPr>
        <p:txBody>
          <a:bodyPr anchor="ctr"/>
          <a:lstStyle/>
          <a:p>
            <a:pPr lvl="0" indent="0">
              <a:buFont typeface="Wingdings" panose="05000000000000000000" pitchFamily="2" charset="2"/>
              <a:buNone/>
            </a:pPr>
            <a:r>
              <a:rPr lang="zh-CN" altLang="en-US" sz="3200" dirty="0" smtClean="0">
                <a:solidFill>
                  <a:srgbClr val="0033CC"/>
                </a:solidFill>
                <a:latin typeface="Arial" panose="020B0604020202020204" pitchFamily="34" charset="0"/>
                <a:ea typeface="黑体" panose="02010609060101010101" pitchFamily="1" charset="-122"/>
              </a:rPr>
              <a:t>二、并发执行的正确性准则</a:t>
            </a:r>
            <a:endParaRPr lang="zh-CN" altLang="en-US" sz="3200" dirty="0">
              <a:solidFill>
                <a:srgbClr val="0033CC"/>
              </a:solidFill>
              <a:latin typeface="Arial" panose="020B0604020202020204" pitchFamily="34" charset="0"/>
              <a:ea typeface="黑体" panose="02010609060101010101" pitchFamily="1" charset="-122"/>
            </a:endParaRPr>
          </a:p>
        </p:txBody>
      </p:sp>
    </p:spTree>
  </p:cSld>
  <p:clrMapOvr>
    <a:masterClrMapping/>
  </p:clrMapOvr>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Text Box 2"/>
          <p:cNvSpPr txBox="1"/>
          <p:nvPr/>
        </p:nvSpPr>
        <p:spPr>
          <a:xfrm>
            <a:off x="584200" y="1589088"/>
            <a:ext cx="7994650" cy="3108325"/>
          </a:xfrm>
          <a:prstGeom prst="rect">
            <a:avLst/>
          </a:prstGeom>
          <a:noFill/>
          <a:ln w="9525">
            <a:noFill/>
          </a:ln>
        </p:spPr>
        <p:txBody>
          <a:bodyPr anchor="t">
            <a:spAutoFit/>
          </a:bodyPr>
          <a:lstStyle/>
          <a:p>
            <a:pPr lvl="0" indent="0">
              <a:spcBef>
                <a:spcPct val="50000"/>
              </a:spcBef>
            </a:pPr>
            <a:r>
              <a:rPr lang="zh-CN" altLang="en-US" sz="2800" dirty="0">
                <a:latin typeface="华文楷体" panose="02010600040101010101" pitchFamily="2" charset="-122"/>
                <a:ea typeface="华文楷体" panose="02010600040101010101" pitchFamily="2" charset="-122"/>
              </a:rPr>
              <a:t>注意：</a:t>
            </a:r>
            <a:r>
              <a:rPr lang="zh-CN" altLang="en-US" sz="2800" dirty="0">
                <a:latin typeface="华文楷体" panose="02010600040101010101" pitchFamily="2" charset="-122"/>
                <a:ea typeface="华文楷体" panose="02010600040101010101" pitchFamily="2" charset="-122"/>
                <a:sym typeface="Wingdings" panose="05000000000000000000" pitchFamily="2" charset="2"/>
              </a:rPr>
              <a:t> </a:t>
            </a:r>
            <a:endParaRPr lang="zh-CN" altLang="en-US" sz="2800" dirty="0">
              <a:latin typeface="华文楷体" panose="02010600040101010101" pitchFamily="2" charset="-122"/>
              <a:ea typeface="华文楷体" panose="02010600040101010101" pitchFamily="2" charset="-122"/>
              <a:sym typeface="Wingdings" panose="05000000000000000000" pitchFamily="2" charset="2"/>
            </a:endParaRPr>
          </a:p>
          <a:p>
            <a:pPr lvl="0" indent="0">
              <a:spcBef>
                <a:spcPct val="50000"/>
              </a:spcBef>
            </a:pPr>
            <a:r>
              <a:rPr lang="zh-CN" altLang="en-US" sz="2400" dirty="0">
                <a:latin typeface="华文楷体" panose="02010600040101010101" pitchFamily="2" charset="-122"/>
                <a:ea typeface="华文楷体" panose="02010600040101010101" pitchFamily="2" charset="-122"/>
                <a:sym typeface="Wingdings" panose="05000000000000000000" pitchFamily="2" charset="2"/>
              </a:rPr>
              <a:t>① 对</a:t>
            </a:r>
            <a:r>
              <a:rPr lang="en-US" altLang="x-none" sz="2400" dirty="0">
                <a:latin typeface="华文楷体" panose="02010600040101010101" pitchFamily="2" charset="-122"/>
                <a:ea typeface="华文楷体" panose="02010600040101010101" pitchFamily="2" charset="-122"/>
                <a:sym typeface="Wingdings" panose="05000000000000000000" pitchFamily="2" charset="2"/>
              </a:rPr>
              <a:t>n</a:t>
            </a:r>
            <a:r>
              <a:rPr lang="zh-CN" altLang="en-US" sz="2400" dirty="0">
                <a:latin typeface="华文楷体" panose="02010600040101010101" pitchFamily="2" charset="-122"/>
                <a:ea typeface="华文楷体" panose="02010600040101010101" pitchFamily="2" charset="-122"/>
                <a:sym typeface="Wingdings" panose="05000000000000000000" pitchFamily="2" charset="2"/>
              </a:rPr>
              <a:t>个事务，可有</a:t>
            </a:r>
            <a:r>
              <a:rPr lang="en-US" altLang="x-none" sz="2400" dirty="0">
                <a:latin typeface="华文楷体" panose="02010600040101010101" pitchFamily="2" charset="-122"/>
                <a:ea typeface="华文楷体" panose="02010600040101010101" pitchFamily="2" charset="-122"/>
                <a:sym typeface="Wingdings" panose="05000000000000000000" pitchFamily="2" charset="2"/>
              </a:rPr>
              <a:t>n</a:t>
            </a:r>
            <a:r>
              <a:rPr lang="zh-CN" altLang="en-US" sz="2400" dirty="0">
                <a:latin typeface="华文楷体" panose="02010600040101010101" pitchFamily="2" charset="-122"/>
                <a:ea typeface="华文楷体" panose="02010600040101010101" pitchFamily="2" charset="-122"/>
                <a:sym typeface="Wingdings" panose="05000000000000000000" pitchFamily="2" charset="2"/>
              </a:rPr>
              <a:t>！种排列，即有</a:t>
            </a:r>
            <a:r>
              <a:rPr lang="en-US" altLang="x-none" sz="2400" dirty="0">
                <a:latin typeface="华文楷体" panose="02010600040101010101" pitchFamily="2" charset="-122"/>
                <a:ea typeface="华文楷体" panose="02010600040101010101" pitchFamily="2" charset="-122"/>
                <a:sym typeface="Wingdings" panose="05000000000000000000" pitchFamily="2" charset="2"/>
              </a:rPr>
              <a:t>n</a:t>
            </a:r>
            <a:r>
              <a:rPr lang="zh-CN" altLang="en-US" sz="2400" dirty="0">
                <a:latin typeface="华文楷体" panose="02010600040101010101" pitchFamily="2" charset="-122"/>
                <a:ea typeface="华文楷体" panose="02010600040101010101" pitchFamily="2" charset="-122"/>
                <a:sym typeface="Wingdings" panose="05000000000000000000" pitchFamily="2" charset="2"/>
              </a:rPr>
              <a:t>！种串行调度。每个串行调度执行的结果可能不一样，可串行化准则只要求调度和其中一个串行调度等价即可。</a:t>
            </a:r>
            <a:endParaRPr lang="zh-CN" altLang="en-US" sz="2400" dirty="0">
              <a:latin typeface="华文楷体" panose="02010600040101010101" pitchFamily="2" charset="-122"/>
              <a:ea typeface="华文楷体" panose="02010600040101010101" pitchFamily="2" charset="-122"/>
              <a:sym typeface="Wingdings" panose="05000000000000000000" pitchFamily="2" charset="2"/>
            </a:endParaRPr>
          </a:p>
          <a:p>
            <a:pPr lvl="0" indent="0">
              <a:spcBef>
                <a:spcPct val="50000"/>
              </a:spcBef>
            </a:pPr>
            <a:r>
              <a:rPr lang="zh-CN" altLang="en-US" sz="2400" dirty="0">
                <a:latin typeface="华文楷体" panose="02010600040101010101" pitchFamily="2" charset="-122"/>
                <a:ea typeface="华文楷体" panose="02010600040101010101" pitchFamily="2" charset="-122"/>
                <a:sym typeface="Wingdings" panose="05000000000000000000" pitchFamily="2" charset="2"/>
              </a:rPr>
              <a:t>② 不同的可串行化调度是不一定等价的，即</a:t>
            </a:r>
            <a:r>
              <a:rPr lang="en-US" altLang="x-none" sz="2400" dirty="0">
                <a:latin typeface="华文楷体" panose="02010600040101010101" pitchFamily="2" charset="-122"/>
                <a:ea typeface="华文楷体" panose="02010600040101010101" pitchFamily="2" charset="-122"/>
                <a:sym typeface="Wingdings" panose="05000000000000000000" pitchFamily="2" charset="2"/>
              </a:rPr>
              <a:t>n</a:t>
            </a:r>
            <a:r>
              <a:rPr lang="zh-CN" altLang="en-US" sz="2400" dirty="0">
                <a:latin typeface="华文楷体" panose="02010600040101010101" pitchFamily="2" charset="-122"/>
                <a:ea typeface="华文楷体" panose="02010600040101010101" pitchFamily="2" charset="-122"/>
                <a:sym typeface="Wingdings" panose="05000000000000000000" pitchFamily="2" charset="2"/>
              </a:rPr>
              <a:t>个事务交付系统执行后，由于调度不同，可能产生不同的结果，这是允许的。 </a:t>
            </a:r>
            <a:endParaRPr lang="zh-CN" altLang="en-US" sz="2400" dirty="0">
              <a:latin typeface="华文楷体" panose="02010600040101010101" pitchFamily="2" charset="-122"/>
              <a:ea typeface="华文楷体" panose="02010600040101010101" pitchFamily="2" charset="-122"/>
              <a:sym typeface="Wingdings" panose="05000000000000000000" pitchFamily="2" charset="2"/>
            </a:endParaRPr>
          </a:p>
        </p:txBody>
      </p:sp>
      <p:sp>
        <p:nvSpPr>
          <p:cNvPr id="102403" name="Rectangle 3"/>
          <p:cNvSpPr txBox="1"/>
          <p:nvPr/>
        </p:nvSpPr>
        <p:spPr>
          <a:xfrm>
            <a:off x="517525" y="854075"/>
            <a:ext cx="7178675" cy="706438"/>
          </a:xfrm>
          <a:prstGeom prst="rect">
            <a:avLst/>
          </a:prstGeom>
          <a:noFill/>
          <a:ln w="9525">
            <a:noFill/>
          </a:ln>
        </p:spPr>
        <p:txBody>
          <a:bodyPr anchor="t"/>
          <a:lstStyle/>
          <a:p>
            <a:pPr lvl="0" indent="0" eaLnBrk="0" hangingPunct="0"/>
            <a:r>
              <a:rPr lang="en-US" altLang="x-none" sz="2800" dirty="0">
                <a:solidFill>
                  <a:srgbClr val="FF0000"/>
                </a:solidFill>
                <a:latin typeface="黑体" panose="02010609060101010101" pitchFamily="1" charset="-122"/>
                <a:ea typeface="黑体" panose="02010609060101010101" pitchFamily="1" charset="-122"/>
              </a:rPr>
              <a:t>3</a:t>
            </a:r>
            <a:r>
              <a:rPr lang="zh-CN" altLang="en-US" sz="2800" dirty="0">
                <a:solidFill>
                  <a:srgbClr val="FF0000"/>
                </a:solidFill>
                <a:latin typeface="黑体" panose="02010609060101010101" pitchFamily="1" charset="-122"/>
                <a:ea typeface="黑体" panose="02010609060101010101" pitchFamily="1" charset="-122"/>
              </a:rPr>
              <a:t>、并发执行的正确性准则</a:t>
            </a:r>
            <a:endParaRPr lang="en-US" altLang="x-none" sz="2800" dirty="0">
              <a:solidFill>
                <a:srgbClr val="FF0000"/>
              </a:solidFill>
              <a:latin typeface="黑体" panose="02010609060101010101" pitchFamily="1" charset="-122"/>
              <a:ea typeface="黑体" panose="02010609060101010101" pitchFamily="1" charset="-122"/>
            </a:endParaRPr>
          </a:p>
        </p:txBody>
      </p:sp>
      <p:sp>
        <p:nvSpPr>
          <p:cNvPr id="102404" name="Rectangle 3"/>
          <p:cNvSpPr txBox="1"/>
          <p:nvPr/>
        </p:nvSpPr>
        <p:spPr>
          <a:xfrm>
            <a:off x="6567488" y="854075"/>
            <a:ext cx="2225675" cy="706438"/>
          </a:xfrm>
          <a:prstGeom prst="rect">
            <a:avLst/>
          </a:prstGeom>
          <a:noFill/>
          <a:ln w="9525">
            <a:noFill/>
          </a:ln>
        </p:spPr>
        <p:txBody>
          <a:bodyPr anchor="t"/>
          <a:lstStyle/>
          <a:p>
            <a:pPr lvl="0" indent="0" eaLnBrk="0" hangingPunct="0">
              <a:buFont typeface="Wingdings" panose="05000000000000000000" pitchFamily="2" charset="2"/>
              <a:buChar char="p"/>
            </a:pPr>
            <a:r>
              <a:rPr lang="zh-CN" altLang="en-US" sz="2800" dirty="0">
                <a:solidFill>
                  <a:srgbClr val="000099"/>
                </a:solidFill>
                <a:latin typeface="黑体" panose="02010609060101010101" pitchFamily="1" charset="-122"/>
                <a:ea typeface="黑体" panose="02010609060101010101" pitchFamily="1" charset="-122"/>
              </a:rPr>
              <a:t>可串行化</a:t>
            </a:r>
            <a:endParaRPr lang="en-US" altLang="x-none" sz="2800" dirty="0">
              <a:solidFill>
                <a:srgbClr val="000099"/>
              </a:solidFill>
              <a:latin typeface="黑体" panose="02010609060101010101" pitchFamily="1" charset="-122"/>
              <a:ea typeface="黑体" panose="02010609060101010101" pitchFamily="1" charset="-122"/>
            </a:endParaRPr>
          </a:p>
        </p:txBody>
      </p:sp>
      <p:sp>
        <p:nvSpPr>
          <p:cNvPr id="102405" name="矩形 9"/>
          <p:cNvSpPr/>
          <p:nvPr/>
        </p:nvSpPr>
        <p:spPr>
          <a:xfrm>
            <a:off x="822325" y="4965700"/>
            <a:ext cx="7940675" cy="460375"/>
          </a:xfrm>
          <a:prstGeom prst="rect">
            <a:avLst/>
          </a:prstGeom>
          <a:noFill/>
          <a:ln w="9525">
            <a:noFill/>
          </a:ln>
        </p:spPr>
        <p:txBody>
          <a:bodyPr anchor="t">
            <a:spAutoFit/>
          </a:bodyPr>
          <a:lstStyle/>
          <a:p>
            <a:pPr lvl="0" indent="0">
              <a:spcBef>
                <a:spcPts val="600"/>
              </a:spcBef>
            </a:pPr>
            <a:r>
              <a:rPr lang="zh-CN" altLang="en-US" sz="2400" dirty="0">
                <a:latin typeface="华文楷体" panose="02010600040101010101" pitchFamily="2" charset="-122"/>
                <a:ea typeface="华文楷体" panose="02010600040101010101" pitchFamily="2" charset="-122"/>
                <a:sym typeface="Wingdings" panose="05000000000000000000" pitchFamily="2" charset="2"/>
              </a:rPr>
              <a:t>一个调度是否可串行化，可用其前趋图来测试。</a:t>
            </a:r>
            <a:endParaRPr lang="zh-CN" altLang="en-US" sz="2400" dirty="0">
              <a:latin typeface="华文楷体" panose="02010600040101010101" pitchFamily="2" charset="-122"/>
              <a:ea typeface="华文楷体" panose="02010600040101010101" pitchFamily="2" charset="-122"/>
              <a:sym typeface="Wingdings" panose="05000000000000000000" pitchFamily="2" charset="2"/>
            </a:endParaRPr>
          </a:p>
        </p:txBody>
      </p:sp>
      <p:sp>
        <p:nvSpPr>
          <p:cNvPr id="8" name="Rectangle 2"/>
          <p:cNvSpPr/>
          <p:nvPr/>
        </p:nvSpPr>
        <p:spPr>
          <a:xfrm>
            <a:off x="417513" y="55563"/>
            <a:ext cx="8229600" cy="692150"/>
          </a:xfrm>
          <a:prstGeom prst="rect">
            <a:avLst/>
          </a:prstGeom>
          <a:noFill/>
          <a:ln w="9525">
            <a:noFill/>
          </a:ln>
        </p:spPr>
        <p:txBody>
          <a:bodyPr anchor="ctr"/>
          <a:lstStyle/>
          <a:p>
            <a:pPr lvl="0" indent="0">
              <a:buFont typeface="Wingdings" panose="05000000000000000000" pitchFamily="2" charset="2"/>
              <a:buNone/>
            </a:pPr>
            <a:r>
              <a:rPr lang="zh-CN" altLang="en-US" sz="3200" dirty="0" smtClean="0">
                <a:solidFill>
                  <a:srgbClr val="0033CC"/>
                </a:solidFill>
                <a:latin typeface="Arial" panose="020B0604020202020204" pitchFamily="34" charset="0"/>
                <a:ea typeface="黑体" panose="02010609060101010101" pitchFamily="1" charset="-122"/>
              </a:rPr>
              <a:t>二、并发执行的正确性准则</a:t>
            </a:r>
            <a:endParaRPr lang="zh-CN" altLang="en-US" sz="3200" dirty="0">
              <a:solidFill>
                <a:srgbClr val="0033CC"/>
              </a:solidFill>
              <a:latin typeface="Arial" panose="020B0604020202020204" pitchFamily="34" charset="0"/>
              <a:ea typeface="黑体" panose="02010609060101010101" pitchFamily="1" charset="-122"/>
            </a:endParaRPr>
          </a:p>
        </p:txBody>
      </p:sp>
    </p:spTree>
  </p:cSld>
  <p:clrMapOvr>
    <a:masterClrMapping/>
  </p:clrMapOvr>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504825" y="929122"/>
            <a:ext cx="6325870" cy="1106805"/>
          </a:xfrm>
          <a:prstGeom prst="rect">
            <a:avLst/>
          </a:prstGeom>
          <a:noFill/>
        </p:spPr>
        <p:txBody>
          <a:bodyPr wrap="square" rtlCol="0" anchor="t">
            <a:spAutoFit/>
          </a:bodyPr>
          <a:lstStyle/>
          <a:p>
            <a:pPr>
              <a:lnSpc>
                <a:spcPct val="100000"/>
              </a:lnSpc>
              <a:buNone/>
            </a:pPr>
            <a:r>
              <a:rPr lang="zh-CN" altLang="en-US" sz="2400">
                <a:solidFill>
                  <a:srgbClr val="0033CC"/>
                </a:solidFill>
              </a:rPr>
              <a:t>例：</a:t>
            </a:r>
            <a:r>
              <a:rPr lang="zh-CN" altLang="en-US" sz="2000">
                <a:solidFill>
                  <a:schemeClr val="tx1"/>
                </a:solidFill>
              </a:rPr>
              <a:t>现有两个事务，分别包含以下操作：</a:t>
            </a:r>
            <a:endParaRPr lang="zh-CN" altLang="en-US" sz="2000">
              <a:solidFill>
                <a:schemeClr val="tx1"/>
              </a:solidFill>
            </a:endParaRPr>
          </a:p>
          <a:p>
            <a:pPr>
              <a:lnSpc>
                <a:spcPct val="100000"/>
              </a:lnSpc>
              <a:buNone/>
            </a:pPr>
            <a:r>
              <a:rPr lang="zh-CN" altLang="en-US" sz="2200">
                <a:solidFill>
                  <a:schemeClr val="tx1"/>
                </a:solidFill>
              </a:rPr>
              <a:t>     </a:t>
            </a:r>
            <a:r>
              <a:rPr lang="zh-CN" altLang="en-US" sz="2000">
                <a:solidFill>
                  <a:schemeClr val="tx1"/>
                </a:solidFill>
              </a:rPr>
              <a:t>事务</a:t>
            </a:r>
            <a:r>
              <a:rPr lang="en-US" altLang="zh-CN" sz="2000">
                <a:solidFill>
                  <a:schemeClr val="tx1"/>
                </a:solidFill>
              </a:rPr>
              <a:t>T1</a:t>
            </a:r>
            <a:r>
              <a:rPr lang="zh-CN" altLang="en-US" sz="2000">
                <a:solidFill>
                  <a:schemeClr val="tx1"/>
                </a:solidFill>
              </a:rPr>
              <a:t>：读</a:t>
            </a:r>
            <a:r>
              <a:rPr lang="en-US" altLang="zh-CN" sz="2000">
                <a:solidFill>
                  <a:schemeClr val="tx1"/>
                </a:solidFill>
              </a:rPr>
              <a:t>B</a:t>
            </a:r>
            <a:r>
              <a:rPr lang="zh-CN" altLang="en-US" sz="2000">
                <a:solidFill>
                  <a:schemeClr val="tx1"/>
                </a:solidFill>
              </a:rPr>
              <a:t>；</a:t>
            </a:r>
            <a:r>
              <a:rPr lang="en-US" altLang="zh-CN" sz="2000">
                <a:solidFill>
                  <a:schemeClr val="tx1"/>
                </a:solidFill>
              </a:rPr>
              <a:t>A=B+1</a:t>
            </a:r>
            <a:r>
              <a:rPr lang="zh-CN" altLang="en-US" sz="2000">
                <a:solidFill>
                  <a:schemeClr val="tx1"/>
                </a:solidFill>
              </a:rPr>
              <a:t>；写回</a:t>
            </a:r>
            <a:r>
              <a:rPr lang="en-US" altLang="zh-CN" sz="2000">
                <a:solidFill>
                  <a:schemeClr val="tx1"/>
                </a:solidFill>
              </a:rPr>
              <a:t>A</a:t>
            </a:r>
            <a:endParaRPr lang="en-US" altLang="zh-CN" sz="2000">
              <a:solidFill>
                <a:schemeClr val="tx1"/>
              </a:solidFill>
            </a:endParaRPr>
          </a:p>
          <a:p>
            <a:pPr>
              <a:lnSpc>
                <a:spcPct val="100000"/>
              </a:lnSpc>
              <a:buNone/>
            </a:pPr>
            <a:r>
              <a:rPr lang="en-US" altLang="zh-CN" sz="2000">
                <a:solidFill>
                  <a:schemeClr val="tx1"/>
                </a:solidFill>
              </a:rPr>
              <a:t>     </a:t>
            </a:r>
            <a:r>
              <a:rPr lang="zh-CN" altLang="en-US" sz="2000">
                <a:solidFill>
                  <a:schemeClr val="tx1"/>
                </a:solidFill>
              </a:rPr>
              <a:t>事务</a:t>
            </a:r>
            <a:r>
              <a:rPr lang="en-US" altLang="zh-CN" sz="2000">
                <a:solidFill>
                  <a:schemeClr val="tx1"/>
                </a:solidFill>
              </a:rPr>
              <a:t>T2</a:t>
            </a:r>
            <a:r>
              <a:rPr lang="zh-CN" altLang="en-US" sz="2000">
                <a:solidFill>
                  <a:schemeClr val="tx1"/>
                </a:solidFill>
              </a:rPr>
              <a:t>：读</a:t>
            </a:r>
            <a:r>
              <a:rPr lang="en-US" altLang="zh-CN" sz="2000">
                <a:solidFill>
                  <a:schemeClr val="tx1"/>
                </a:solidFill>
              </a:rPr>
              <a:t>A</a:t>
            </a:r>
            <a:r>
              <a:rPr lang="zh-CN" altLang="en-US" sz="2000">
                <a:solidFill>
                  <a:schemeClr val="tx1"/>
                </a:solidFill>
              </a:rPr>
              <a:t>；</a:t>
            </a:r>
            <a:r>
              <a:rPr lang="en-US" altLang="zh-CN" sz="2000">
                <a:solidFill>
                  <a:schemeClr val="tx1"/>
                </a:solidFill>
              </a:rPr>
              <a:t>B=A+1</a:t>
            </a:r>
            <a:r>
              <a:rPr lang="zh-CN" altLang="en-US" sz="2000">
                <a:solidFill>
                  <a:schemeClr val="tx1"/>
                </a:solidFill>
              </a:rPr>
              <a:t>；写回</a:t>
            </a:r>
            <a:r>
              <a:rPr lang="en-US" altLang="zh-CN" sz="2000">
                <a:solidFill>
                  <a:schemeClr val="tx1"/>
                </a:solidFill>
              </a:rPr>
              <a:t>B</a:t>
            </a:r>
            <a:endParaRPr lang="en-US" altLang="zh-CN" sz="2000">
              <a:solidFill>
                <a:schemeClr val="tx1"/>
              </a:solidFill>
            </a:endParaRPr>
          </a:p>
        </p:txBody>
      </p:sp>
      <p:pic>
        <p:nvPicPr>
          <p:cNvPr id="4" name="图片 3"/>
          <p:cNvPicPr>
            <a:picLocks noChangeAspect="1"/>
          </p:cNvPicPr>
          <p:nvPr/>
        </p:nvPicPr>
        <p:blipFill>
          <a:blip r:embed="rId1"/>
          <a:stretch>
            <a:fillRect/>
          </a:stretch>
        </p:blipFill>
        <p:spPr>
          <a:xfrm>
            <a:off x="723900" y="2315790"/>
            <a:ext cx="4739005" cy="3958590"/>
          </a:xfrm>
          <a:prstGeom prst="rect">
            <a:avLst/>
          </a:prstGeom>
        </p:spPr>
      </p:pic>
      <p:pic>
        <p:nvPicPr>
          <p:cNvPr id="8" name="图片 7"/>
          <p:cNvPicPr>
            <a:picLocks noChangeAspect="1"/>
          </p:cNvPicPr>
          <p:nvPr/>
        </p:nvPicPr>
        <p:blipFill>
          <a:blip r:embed="rId2"/>
          <a:stretch>
            <a:fillRect/>
          </a:stretch>
        </p:blipFill>
        <p:spPr>
          <a:xfrm>
            <a:off x="3787775" y="2295470"/>
            <a:ext cx="5124450" cy="3978910"/>
          </a:xfrm>
          <a:prstGeom prst="rect">
            <a:avLst/>
          </a:prstGeom>
        </p:spPr>
      </p:pic>
      <p:sp>
        <p:nvSpPr>
          <p:cNvPr id="6" name="Rectangle 2"/>
          <p:cNvSpPr/>
          <p:nvPr/>
        </p:nvSpPr>
        <p:spPr>
          <a:xfrm>
            <a:off x="417513" y="55563"/>
            <a:ext cx="8229600" cy="692150"/>
          </a:xfrm>
          <a:prstGeom prst="rect">
            <a:avLst/>
          </a:prstGeom>
          <a:noFill/>
          <a:ln w="9525">
            <a:noFill/>
          </a:ln>
        </p:spPr>
        <p:txBody>
          <a:bodyPr anchor="ctr"/>
          <a:lstStyle/>
          <a:p>
            <a:pPr lvl="0" indent="0">
              <a:buFont typeface="Wingdings" panose="05000000000000000000" pitchFamily="2" charset="2"/>
              <a:buNone/>
            </a:pPr>
            <a:r>
              <a:rPr lang="zh-CN" altLang="en-US" sz="3200" dirty="0" smtClean="0">
                <a:solidFill>
                  <a:srgbClr val="0033CC"/>
                </a:solidFill>
                <a:latin typeface="Arial" panose="020B0604020202020204" pitchFamily="34" charset="0"/>
                <a:ea typeface="黑体" panose="02010609060101010101" pitchFamily="1" charset="-122"/>
              </a:rPr>
              <a:t>二、并发执行的正确性准则</a:t>
            </a:r>
            <a:endParaRPr lang="zh-CN" altLang="en-US" sz="3200" dirty="0">
              <a:solidFill>
                <a:srgbClr val="0033CC"/>
              </a:solidFill>
              <a:latin typeface="Arial" panose="020B0604020202020204" pitchFamily="34" charset="0"/>
              <a:ea typeface="黑体" panose="02010609060101010101" pitchFamily="1"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8"/>
                                        </p:tgtEl>
                                        <p:attrNameLst>
                                          <p:attrName>style.visibility</p:attrName>
                                        </p:attrNameLst>
                                      </p:cBhvr>
                                      <p:to>
                                        <p:strVal val="visible"/>
                                      </p:to>
                                    </p:set>
                                    <p:anim calcmode="lin" valueType="num">
                                      <p:cBhvr additive="base">
                                        <p:cTn id="13" dur="500" fill="hold"/>
                                        <p:tgtEl>
                                          <p:spTgt spid="8"/>
                                        </p:tgtEl>
                                        <p:attrNameLst>
                                          <p:attrName>ppt_x</p:attrName>
                                        </p:attrNameLst>
                                      </p:cBhvr>
                                      <p:tavLst>
                                        <p:tav tm="0">
                                          <p:val>
                                            <p:strVal val="#ppt_x"/>
                                          </p:val>
                                        </p:tav>
                                        <p:tav tm="100000">
                                          <p:val>
                                            <p:strVal val="#ppt_x"/>
                                          </p:val>
                                        </p:tav>
                                      </p:tavLst>
                                    </p:anim>
                                    <p:anim calcmode="lin" valueType="num">
                                      <p:cBhvr additive="base">
                                        <p:cTn id="14"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矩形 2"/>
          <p:cNvSpPr/>
          <p:nvPr/>
        </p:nvSpPr>
        <p:spPr>
          <a:xfrm>
            <a:off x="384175" y="723900"/>
            <a:ext cx="8375650" cy="755650"/>
          </a:xfrm>
          <a:prstGeom prst="rect">
            <a:avLst/>
          </a:prstGeom>
          <a:noFill/>
          <a:ln w="9525">
            <a:noFill/>
          </a:ln>
        </p:spPr>
        <p:txBody>
          <a:bodyPr anchor="t">
            <a:spAutoFit/>
          </a:bodyPr>
          <a:lstStyle/>
          <a:p>
            <a:pPr algn="l">
              <a:lnSpc>
                <a:spcPct val="135000"/>
              </a:lnSpc>
              <a:buClrTx/>
              <a:buSzTx/>
              <a:buFont typeface="Wingdings" panose="05000000000000000000" charset="0"/>
              <a:buChar char="p"/>
            </a:pPr>
            <a:r>
              <a:rPr lang="zh-CN" altLang="en-US" sz="3200" dirty="0">
                <a:gradFill>
                  <a:gsLst>
                    <a:gs pos="0">
                      <a:srgbClr val="E30000"/>
                    </a:gs>
                    <a:gs pos="100000">
                      <a:srgbClr val="760303"/>
                    </a:gs>
                  </a:gsLst>
                  <a:lin scaled="0"/>
                </a:gradFill>
                <a:latin typeface="黑体" panose="02010609060101010101" pitchFamily="1" charset="-122"/>
                <a:ea typeface="黑体" panose="02010609060101010101" pitchFamily="1" charset="-122"/>
              </a:rPr>
              <a:t>知识点</a:t>
            </a:r>
            <a:r>
              <a:rPr lang="en-US" altLang="zh-CN" sz="3200" dirty="0">
                <a:gradFill>
                  <a:gsLst>
                    <a:gs pos="0">
                      <a:srgbClr val="E30000"/>
                    </a:gs>
                    <a:gs pos="100000">
                      <a:srgbClr val="760303"/>
                    </a:gs>
                  </a:gsLst>
                  <a:lin scaled="0"/>
                </a:gradFill>
                <a:latin typeface="黑体" panose="02010609060101010101" pitchFamily="1" charset="-122"/>
                <a:ea typeface="黑体" panose="02010609060101010101" pitchFamily="1" charset="-122"/>
              </a:rPr>
              <a:t>2</a:t>
            </a:r>
            <a:r>
              <a:rPr lang="zh-CN" altLang="en-US" sz="3200" dirty="0">
                <a:gradFill>
                  <a:gsLst>
                    <a:gs pos="0">
                      <a:srgbClr val="E30000"/>
                    </a:gs>
                    <a:gs pos="100000">
                      <a:srgbClr val="760303"/>
                    </a:gs>
                  </a:gsLst>
                  <a:lin scaled="0"/>
                </a:gradFill>
                <a:latin typeface="黑体" panose="02010609060101010101" pitchFamily="1" charset="-122"/>
                <a:ea typeface="黑体" panose="02010609060101010101" pitchFamily="1" charset="-122"/>
              </a:rPr>
              <a:t>：</a:t>
            </a:r>
            <a:r>
              <a:rPr lang="zh-CN" altLang="en-US" sz="2800" dirty="0">
                <a:solidFill>
                  <a:srgbClr val="0033CC"/>
                </a:solidFill>
                <a:latin typeface="黑体" panose="02010609060101010101" pitchFamily="1" charset="-122"/>
                <a:ea typeface="黑体" panose="02010609060101010101" pitchFamily="1" charset="-122"/>
                <a:cs typeface="+mn-ea"/>
                <a:sym typeface="+mn-ea"/>
              </a:rPr>
              <a:t>并发调度的可串行化理论</a:t>
            </a:r>
            <a:endParaRPr lang="zh-CN" altLang="en-US" sz="2800" dirty="0">
              <a:solidFill>
                <a:srgbClr val="0033CC"/>
              </a:solidFill>
              <a:latin typeface="黑体" panose="02010609060101010101" pitchFamily="1" charset="-122"/>
              <a:ea typeface="黑体" panose="02010609060101010101" pitchFamily="1" charset="-122"/>
              <a:cs typeface="+mn-ea"/>
              <a:sym typeface="+mn-ea"/>
            </a:endParaRPr>
          </a:p>
        </p:txBody>
      </p:sp>
      <p:sp>
        <p:nvSpPr>
          <p:cNvPr id="8" name="文本框 7"/>
          <p:cNvSpPr txBox="1"/>
          <p:nvPr/>
        </p:nvSpPr>
        <p:spPr>
          <a:xfrm>
            <a:off x="541020" y="1397000"/>
            <a:ext cx="7338695" cy="589280"/>
          </a:xfrm>
          <a:prstGeom prst="rect">
            <a:avLst/>
          </a:prstGeom>
          <a:noFill/>
        </p:spPr>
        <p:txBody>
          <a:bodyPr wrap="square" rtlCol="0" anchor="t">
            <a:spAutoFit/>
          </a:bodyPr>
          <a:lstStyle/>
          <a:p>
            <a:pPr>
              <a:buFont typeface="Wingdings" panose="05000000000000000000" charset="0"/>
              <a:buChar char="Ø"/>
            </a:pPr>
            <a:r>
              <a:rPr lang="zh-CN" altLang="en-US" sz="2400">
                <a:solidFill>
                  <a:srgbClr val="C00000"/>
                </a:solidFill>
                <a:sym typeface="+mn-ea"/>
              </a:rPr>
              <a:t>并发调度：</a:t>
            </a:r>
            <a:r>
              <a:rPr lang="zh-CN" altLang="en-US" sz="2200">
                <a:solidFill>
                  <a:srgbClr val="0033CC"/>
                </a:solidFill>
                <a:sym typeface="+mn-ea"/>
              </a:rPr>
              <a:t>多个事务同时被处理（即交错执行）</a:t>
            </a:r>
            <a:endParaRPr lang="zh-CN" altLang="en-US" sz="2200">
              <a:solidFill>
                <a:srgbClr val="0033CC"/>
              </a:solidFill>
              <a:sym typeface="+mn-ea"/>
            </a:endParaRPr>
          </a:p>
        </p:txBody>
      </p:sp>
      <p:sp>
        <p:nvSpPr>
          <p:cNvPr id="9" name="Rectangle 3"/>
          <p:cNvSpPr txBox="1">
            <a:spLocks noChangeArrowheads="1"/>
          </p:cNvSpPr>
          <p:nvPr/>
        </p:nvSpPr>
        <p:spPr>
          <a:xfrm>
            <a:off x="516255" y="1986280"/>
            <a:ext cx="7924800" cy="1141095"/>
          </a:xfrm>
          <a:prstGeom prst="rect">
            <a:avLst/>
          </a:prstGeom>
          <a:ln>
            <a:solidFill>
              <a:schemeClr val="accent1"/>
            </a:solidFill>
          </a:ln>
        </p:spPr>
        <p:txBody>
          <a:bodyPr/>
          <a:lstStyle/>
          <a:p>
            <a:pPr marL="342900" marR="0" lvl="0" indent="-342900" algn="l" defTabSz="914400" rtl="0" eaLnBrk="0" fontAlgn="base" latinLnBrk="0" hangingPunct="0">
              <a:lnSpc>
                <a:spcPct val="100000"/>
              </a:lnSpc>
              <a:spcBef>
                <a:spcPts val="200"/>
              </a:spcBef>
              <a:spcAft>
                <a:spcPts val="0"/>
              </a:spcAft>
              <a:buClr>
                <a:srgbClr val="0033CC"/>
              </a:buClr>
              <a:buSzPct val="80000"/>
              <a:buFont typeface="Wingdings" panose="05000000000000000000" pitchFamily="2" charset="2"/>
              <a:buChar char="u"/>
              <a:defRPr/>
            </a:pPr>
            <a:r>
              <a:rPr kumimoji="0" lang="zh-CN" altLang="en-US" sz="2200" b="1" i="0" u="none" strike="noStrike" kern="0" cap="none" spc="0" normalizeH="0" baseline="0" noProof="0" dirty="0">
                <a:ln>
                  <a:noFill/>
                </a:ln>
                <a:solidFill>
                  <a:schemeClr val="tx1"/>
                </a:solidFill>
                <a:effectLst/>
                <a:uLnTx/>
                <a:uFillTx/>
                <a:latin typeface="楷体" panose="02010609060101010101" pitchFamily="1" charset="-122"/>
                <a:ea typeface="楷体" panose="02010609060101010101" pitchFamily="1" charset="-122"/>
                <a:cs typeface="+mn-cs"/>
              </a:rPr>
              <a:t>在并发调度中，来自不同事务的指令是交错的；</a:t>
            </a:r>
            <a:endParaRPr kumimoji="0" lang="zh-CN" altLang="en-US" sz="2200" b="1" i="0" u="none" strike="noStrike" kern="0" cap="none" spc="0" normalizeH="0" baseline="0" noProof="0" dirty="0">
              <a:ln>
                <a:noFill/>
              </a:ln>
              <a:solidFill>
                <a:schemeClr val="tx1"/>
              </a:solidFill>
              <a:effectLst/>
              <a:uLnTx/>
              <a:uFillTx/>
              <a:latin typeface="楷体" panose="02010609060101010101" pitchFamily="1" charset="-122"/>
              <a:ea typeface="楷体" panose="02010609060101010101" pitchFamily="1" charset="-122"/>
              <a:cs typeface="+mn-cs"/>
            </a:endParaRPr>
          </a:p>
          <a:p>
            <a:pPr marL="342900" marR="0" lvl="0" indent="-342900" algn="l" defTabSz="914400" rtl="0" eaLnBrk="0" fontAlgn="base" latinLnBrk="0" hangingPunct="0">
              <a:lnSpc>
                <a:spcPct val="100000"/>
              </a:lnSpc>
              <a:spcBef>
                <a:spcPts val="200"/>
              </a:spcBef>
              <a:spcAft>
                <a:spcPts val="0"/>
              </a:spcAft>
              <a:buClr>
                <a:srgbClr val="0033CC"/>
              </a:buClr>
              <a:buSzPct val="80000"/>
              <a:buFont typeface="Wingdings" panose="05000000000000000000" pitchFamily="2" charset="2"/>
              <a:buChar char="u"/>
              <a:defRPr/>
            </a:pPr>
            <a:r>
              <a:rPr kumimoji="0" lang="zh-CN" altLang="en-US" sz="2200" b="1" i="0" u="none" strike="noStrike" kern="0" cap="none" spc="0" normalizeH="0" baseline="0" noProof="0" dirty="0">
                <a:ln>
                  <a:noFill/>
                </a:ln>
                <a:solidFill>
                  <a:schemeClr val="tx1"/>
                </a:solidFill>
                <a:effectLst/>
                <a:uLnTx/>
                <a:uFillTx/>
                <a:latin typeface="楷体" panose="02010609060101010101" pitchFamily="1" charset="-122"/>
                <a:ea typeface="楷体" panose="02010609060101010101" pitchFamily="1" charset="-122"/>
                <a:cs typeface="+mn-cs"/>
              </a:rPr>
              <a:t>并发调度的执行结果可能不正确。因为这些事务的执行可能相互干扰，需要进行控制。</a:t>
            </a:r>
            <a:endParaRPr kumimoji="0" lang="zh-CN" altLang="en-US" sz="2200" b="1" i="0" u="none" strike="noStrike" kern="0" cap="none" spc="0" normalizeH="0" baseline="0" noProof="0" dirty="0">
              <a:ln>
                <a:noFill/>
              </a:ln>
              <a:solidFill>
                <a:schemeClr val="tx1"/>
              </a:solidFill>
              <a:effectLst/>
              <a:uLnTx/>
              <a:uFillTx/>
              <a:latin typeface="楷体" panose="02010609060101010101" pitchFamily="1" charset="-122"/>
              <a:ea typeface="楷体" panose="02010609060101010101" pitchFamily="1" charset="-122"/>
              <a:cs typeface="+mn-cs"/>
            </a:endParaRPr>
          </a:p>
          <a:p>
            <a:pPr marR="0" lvl="0" algn="l" defTabSz="914400" rtl="0" eaLnBrk="0" fontAlgn="base" latinLnBrk="0" hangingPunct="0">
              <a:lnSpc>
                <a:spcPct val="100000"/>
              </a:lnSpc>
              <a:spcBef>
                <a:spcPts val="200"/>
              </a:spcBef>
              <a:spcAft>
                <a:spcPts val="0"/>
              </a:spcAft>
              <a:buClr>
                <a:srgbClr val="0033CC"/>
              </a:buClr>
              <a:buSzPct val="80000"/>
              <a:buFont typeface="Wingdings" panose="05000000000000000000" pitchFamily="2" charset="2"/>
              <a:buNone/>
              <a:defRPr/>
            </a:pPr>
            <a:endParaRPr kumimoji="0" lang="zh-CN" altLang="en-US" sz="2200" b="1" i="0" u="none" strike="noStrike" kern="0" cap="none" spc="0" normalizeH="0" baseline="0" noProof="0" dirty="0">
              <a:ln>
                <a:noFill/>
              </a:ln>
              <a:solidFill>
                <a:schemeClr val="tx1"/>
              </a:solidFill>
              <a:effectLst/>
              <a:uLnTx/>
              <a:uFillTx/>
              <a:latin typeface="楷体" panose="02010609060101010101" pitchFamily="1" charset="-122"/>
              <a:ea typeface="楷体" panose="02010609060101010101" pitchFamily="1" charset="-122"/>
              <a:cs typeface="+mn-cs"/>
            </a:endParaRPr>
          </a:p>
        </p:txBody>
      </p:sp>
      <p:sp>
        <p:nvSpPr>
          <p:cNvPr id="3" name="文本框 2"/>
          <p:cNvSpPr txBox="1"/>
          <p:nvPr/>
        </p:nvSpPr>
        <p:spPr>
          <a:xfrm>
            <a:off x="516255" y="3228340"/>
            <a:ext cx="7924165" cy="939800"/>
          </a:xfrm>
          <a:prstGeom prst="rect">
            <a:avLst/>
          </a:prstGeom>
          <a:noFill/>
        </p:spPr>
        <p:txBody>
          <a:bodyPr wrap="square" rtlCol="0" anchor="t">
            <a:spAutoFit/>
          </a:bodyPr>
          <a:lstStyle/>
          <a:p>
            <a:pPr>
              <a:lnSpc>
                <a:spcPct val="120000"/>
              </a:lnSpc>
              <a:spcBef>
                <a:spcPts val="0"/>
              </a:spcBef>
              <a:spcAft>
                <a:spcPts val="0"/>
              </a:spcAft>
              <a:buFont typeface="Wingdings" panose="05000000000000000000" charset="0"/>
              <a:buChar char="Ø"/>
            </a:pPr>
            <a:r>
              <a:rPr lang="zh-CN" altLang="en-US" sz="2400">
                <a:solidFill>
                  <a:srgbClr val="C00000"/>
                </a:solidFill>
                <a:latin typeface="+mj-ea"/>
                <a:ea typeface="+mj-ea"/>
                <a:sym typeface="+mn-ea"/>
              </a:rPr>
              <a:t>并发调度的可串行化：</a:t>
            </a:r>
            <a:r>
              <a:rPr lang="zh-CN" altLang="en-US" sz="2200">
                <a:solidFill>
                  <a:srgbClr val="0033CC"/>
                </a:solidFill>
                <a:latin typeface="+mj-ea"/>
                <a:ea typeface="+mj-ea"/>
                <a:sym typeface="+mn-ea"/>
              </a:rPr>
              <a:t>当并发调度的执行结果等于某个串行调度执行的结果时，则该并发调度是正确的。</a:t>
            </a:r>
            <a:endParaRPr lang="zh-CN" altLang="en-US" sz="2200">
              <a:solidFill>
                <a:srgbClr val="0033CC"/>
              </a:solidFill>
              <a:latin typeface="+mj-ea"/>
              <a:ea typeface="+mj-ea"/>
              <a:sym typeface="+mn-ea"/>
            </a:endParaRPr>
          </a:p>
        </p:txBody>
      </p:sp>
      <p:pic>
        <p:nvPicPr>
          <p:cNvPr id="4" name="图片 3"/>
          <p:cNvPicPr>
            <a:picLocks noChangeAspect="1"/>
          </p:cNvPicPr>
          <p:nvPr/>
        </p:nvPicPr>
        <p:blipFill>
          <a:blip r:embed="rId1"/>
          <a:stretch>
            <a:fillRect/>
          </a:stretch>
        </p:blipFill>
        <p:spPr>
          <a:xfrm>
            <a:off x="3220720" y="2426970"/>
            <a:ext cx="5219700" cy="3917950"/>
          </a:xfrm>
          <a:prstGeom prst="rect">
            <a:avLst/>
          </a:prstGeom>
        </p:spPr>
      </p:pic>
      <p:sp>
        <p:nvSpPr>
          <p:cNvPr id="7" name="Rectangle 2"/>
          <p:cNvSpPr/>
          <p:nvPr/>
        </p:nvSpPr>
        <p:spPr>
          <a:xfrm>
            <a:off x="417513" y="55563"/>
            <a:ext cx="8229600" cy="692150"/>
          </a:xfrm>
          <a:prstGeom prst="rect">
            <a:avLst/>
          </a:prstGeom>
          <a:noFill/>
          <a:ln w="9525">
            <a:noFill/>
          </a:ln>
        </p:spPr>
        <p:txBody>
          <a:bodyPr anchor="ctr"/>
          <a:lstStyle/>
          <a:p>
            <a:pPr lvl="0" indent="0">
              <a:buFont typeface="Wingdings" panose="05000000000000000000" pitchFamily="2" charset="2"/>
              <a:buNone/>
            </a:pPr>
            <a:r>
              <a:rPr lang="zh-CN" altLang="en-US" sz="3200" dirty="0" smtClean="0">
                <a:solidFill>
                  <a:srgbClr val="0033CC"/>
                </a:solidFill>
                <a:latin typeface="Arial" panose="020B0604020202020204" pitchFamily="34" charset="0"/>
                <a:ea typeface="黑体" panose="02010609060101010101" pitchFamily="1" charset="-122"/>
              </a:rPr>
              <a:t>二、并发执行的正确性准则</a:t>
            </a:r>
            <a:endParaRPr lang="zh-CN" altLang="en-US" sz="3200" dirty="0">
              <a:solidFill>
                <a:srgbClr val="0033CC"/>
              </a:solidFill>
              <a:latin typeface="Arial" panose="020B0604020202020204" pitchFamily="34" charset="0"/>
              <a:ea typeface="黑体" panose="02010609060101010101" pitchFamily="1"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4"/>
                                        </p:tgtEl>
                                        <p:attrNameLst>
                                          <p:attrName>style.visibility</p:attrName>
                                        </p:attrNameLst>
                                      </p:cBhvr>
                                      <p:to>
                                        <p:strVal val="visible"/>
                                      </p:to>
                                    </p:set>
                                    <p:anim calcmode="lin" valueType="num">
                                      <p:cBhvr additive="base">
                                        <p:cTn id="13" dur="500" fill="hold"/>
                                        <p:tgtEl>
                                          <p:spTgt spid="4"/>
                                        </p:tgtEl>
                                        <p:attrNameLst>
                                          <p:attrName>ppt_x</p:attrName>
                                        </p:attrNameLst>
                                      </p:cBhvr>
                                      <p:tavLst>
                                        <p:tav tm="0">
                                          <p:val>
                                            <p:strVal val="#ppt_x"/>
                                          </p:val>
                                        </p:tav>
                                        <p:tav tm="100000">
                                          <p:val>
                                            <p:strVal val="#ppt_x"/>
                                          </p:val>
                                        </p:tav>
                                      </p:tavLst>
                                    </p:anim>
                                    <p:anim calcmode="lin" valueType="num">
                                      <p:cBhvr additive="base">
                                        <p:cTn id="14"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Text Box 4"/>
          <p:cNvSpPr txBox="1"/>
          <p:nvPr/>
        </p:nvSpPr>
        <p:spPr>
          <a:xfrm>
            <a:off x="550863" y="1485900"/>
            <a:ext cx="8208962" cy="1189038"/>
          </a:xfrm>
          <a:prstGeom prst="rect">
            <a:avLst/>
          </a:prstGeom>
          <a:solidFill>
            <a:schemeClr val="bg1"/>
          </a:solidFill>
          <a:ln w="9525">
            <a:noFill/>
          </a:ln>
        </p:spPr>
        <p:txBody>
          <a:bodyPr anchor="t">
            <a:spAutoFit/>
          </a:bodyPr>
          <a:lstStyle/>
          <a:p>
            <a:pPr lvl="0" indent="0">
              <a:spcBef>
                <a:spcPts val="600"/>
              </a:spcBef>
              <a:buFont typeface="Wingdings" panose="05000000000000000000" pitchFamily="2" charset="2"/>
              <a:buChar char="p"/>
            </a:pPr>
            <a:r>
              <a:rPr lang="zh-CN" altLang="en-US" sz="2400" u="sng" dirty="0">
                <a:solidFill>
                  <a:srgbClr val="A50021"/>
                </a:solidFill>
                <a:latin typeface="华文楷体" panose="02010600040101010101" pitchFamily="2" charset="-122"/>
                <a:ea typeface="华文楷体" panose="02010600040101010101" pitchFamily="2" charset="-122"/>
                <a:sym typeface="Wingdings" panose="05000000000000000000" pitchFamily="2" charset="2"/>
              </a:rPr>
              <a:t>前趋图：</a:t>
            </a:r>
            <a:r>
              <a:rPr lang="zh-CN" altLang="en-US" sz="2400" dirty="0">
                <a:latin typeface="华文楷体" panose="02010600040101010101" pitchFamily="2" charset="-122"/>
                <a:ea typeface="华文楷体" panose="02010600040101010101" pitchFamily="2" charset="-122"/>
                <a:sym typeface="Wingdings" panose="05000000000000000000" pitchFamily="2" charset="2"/>
              </a:rPr>
              <a:t>是一有向图</a:t>
            </a:r>
            <a:r>
              <a:rPr lang="en-US" altLang="x-none" sz="2400" dirty="0">
                <a:latin typeface="华文楷体" panose="02010600040101010101" pitchFamily="2" charset="-122"/>
                <a:ea typeface="华文楷体" panose="02010600040101010101" pitchFamily="2" charset="-122"/>
                <a:sym typeface="Wingdings" panose="05000000000000000000" pitchFamily="2" charset="2"/>
              </a:rPr>
              <a:t>G=</a:t>
            </a:r>
            <a:r>
              <a:rPr lang="zh-CN" altLang="en-US" sz="2400" dirty="0">
                <a:latin typeface="华文楷体" panose="02010600040101010101" pitchFamily="2" charset="-122"/>
                <a:ea typeface="华文楷体" panose="02010600040101010101" pitchFamily="2" charset="-122"/>
                <a:sym typeface="Wingdings" panose="05000000000000000000" pitchFamily="2" charset="2"/>
              </a:rPr>
              <a:t>（</a:t>
            </a:r>
            <a:r>
              <a:rPr lang="en-US" altLang="x-none" sz="2400" dirty="0">
                <a:latin typeface="华文楷体" panose="02010600040101010101" pitchFamily="2" charset="-122"/>
                <a:ea typeface="华文楷体" panose="02010600040101010101" pitchFamily="2" charset="-122"/>
                <a:sym typeface="Wingdings" panose="05000000000000000000" pitchFamily="2" charset="2"/>
              </a:rPr>
              <a:t>V</a:t>
            </a:r>
            <a:r>
              <a:rPr lang="zh-CN" altLang="en-US" sz="2400" dirty="0">
                <a:latin typeface="华文楷体" panose="02010600040101010101" pitchFamily="2" charset="-122"/>
                <a:ea typeface="华文楷体" panose="02010600040101010101" pitchFamily="2" charset="-122"/>
                <a:sym typeface="Wingdings" panose="05000000000000000000" pitchFamily="2" charset="2"/>
              </a:rPr>
              <a:t>，</a:t>
            </a:r>
            <a:r>
              <a:rPr lang="en-US" altLang="x-none" sz="2400" dirty="0">
                <a:latin typeface="华文楷体" panose="02010600040101010101" pitchFamily="2" charset="-122"/>
                <a:ea typeface="华文楷体" panose="02010600040101010101" pitchFamily="2" charset="-122"/>
                <a:sym typeface="Wingdings" panose="05000000000000000000" pitchFamily="2" charset="2"/>
              </a:rPr>
              <a:t>E</a:t>
            </a:r>
            <a:r>
              <a:rPr lang="zh-CN" altLang="en-US" sz="2400" dirty="0">
                <a:latin typeface="华文楷体" panose="02010600040101010101" pitchFamily="2" charset="-122"/>
                <a:ea typeface="华文楷体" panose="02010600040101010101" pitchFamily="2" charset="-122"/>
                <a:sym typeface="Wingdings" panose="05000000000000000000" pitchFamily="2" charset="2"/>
              </a:rPr>
              <a:t>），</a:t>
            </a:r>
            <a:r>
              <a:rPr lang="en-US" altLang="x-none" sz="2400" dirty="0">
                <a:latin typeface="华文楷体" panose="02010600040101010101" pitchFamily="2" charset="-122"/>
                <a:ea typeface="华文楷体" panose="02010600040101010101" pitchFamily="2" charset="-122"/>
                <a:sym typeface="Wingdings" panose="05000000000000000000" pitchFamily="2" charset="2"/>
              </a:rPr>
              <a:t>V</a:t>
            </a:r>
            <a:r>
              <a:rPr lang="zh-CN" altLang="en-US" sz="2400" dirty="0">
                <a:latin typeface="华文楷体" panose="02010600040101010101" pitchFamily="2" charset="-122"/>
                <a:ea typeface="华文楷体" panose="02010600040101010101" pitchFamily="2" charset="-122"/>
                <a:sym typeface="Wingdings" panose="05000000000000000000" pitchFamily="2" charset="2"/>
              </a:rPr>
              <a:t>（</a:t>
            </a:r>
            <a:r>
              <a:rPr lang="en-US" altLang="x-none" sz="2400" dirty="0">
                <a:latin typeface="华文楷体" panose="02010600040101010101" pitchFamily="2" charset="-122"/>
                <a:ea typeface="华文楷体" panose="02010600040101010101" pitchFamily="2" charset="-122"/>
                <a:sym typeface="Wingdings" panose="05000000000000000000" pitchFamily="2" charset="2"/>
              </a:rPr>
              <a:t>Vertex</a:t>
            </a:r>
            <a:r>
              <a:rPr lang="zh-CN" altLang="en-US" sz="2400" dirty="0">
                <a:latin typeface="华文楷体" panose="02010600040101010101" pitchFamily="2" charset="-122"/>
                <a:ea typeface="华文楷体" panose="02010600040101010101" pitchFamily="2" charset="-122"/>
                <a:sym typeface="Wingdings" panose="05000000000000000000" pitchFamily="2" charset="2"/>
              </a:rPr>
              <a:t>）为顶点集合，</a:t>
            </a:r>
            <a:r>
              <a:rPr lang="en-US" altLang="x-none" sz="2400" dirty="0">
                <a:latin typeface="华文楷体" panose="02010600040101010101" pitchFamily="2" charset="-122"/>
                <a:ea typeface="华文楷体" panose="02010600040101010101" pitchFamily="2" charset="-122"/>
                <a:sym typeface="Wingdings" panose="05000000000000000000" pitchFamily="2" charset="2"/>
              </a:rPr>
              <a:t>E</a:t>
            </a:r>
            <a:r>
              <a:rPr lang="zh-CN" altLang="en-US" sz="2400" dirty="0">
                <a:latin typeface="华文楷体" panose="02010600040101010101" pitchFamily="2" charset="-122"/>
                <a:ea typeface="华文楷体" panose="02010600040101010101" pitchFamily="2" charset="-122"/>
                <a:sym typeface="Wingdings" panose="05000000000000000000" pitchFamily="2" charset="2"/>
              </a:rPr>
              <a:t>（</a:t>
            </a:r>
            <a:r>
              <a:rPr lang="en-US" altLang="x-none" sz="2400" dirty="0">
                <a:latin typeface="华文楷体" panose="02010600040101010101" pitchFamily="2" charset="-122"/>
                <a:ea typeface="华文楷体" panose="02010600040101010101" pitchFamily="2" charset="-122"/>
                <a:sym typeface="Wingdings" panose="05000000000000000000" pitchFamily="2" charset="2"/>
              </a:rPr>
              <a:t>Edge</a:t>
            </a:r>
            <a:r>
              <a:rPr lang="zh-CN" altLang="en-US" sz="2400" dirty="0">
                <a:latin typeface="华文楷体" panose="02010600040101010101" pitchFamily="2" charset="-122"/>
                <a:ea typeface="华文楷体" panose="02010600040101010101" pitchFamily="2" charset="-122"/>
                <a:sym typeface="Wingdings" panose="05000000000000000000" pitchFamily="2" charset="2"/>
              </a:rPr>
              <a:t>）为边集合。在此，</a:t>
            </a:r>
            <a:r>
              <a:rPr lang="en-US" altLang="x-none" sz="2400" dirty="0">
                <a:latin typeface="华文楷体" panose="02010600040101010101" pitchFamily="2" charset="-122"/>
                <a:ea typeface="华文楷体" panose="02010600040101010101" pitchFamily="2" charset="-122"/>
                <a:sym typeface="Wingdings" panose="05000000000000000000" pitchFamily="2" charset="2"/>
              </a:rPr>
              <a:t>V</a:t>
            </a:r>
            <a:r>
              <a:rPr lang="zh-CN" altLang="en-US" sz="2400" dirty="0">
                <a:latin typeface="华文楷体" panose="02010600040101010101" pitchFamily="2" charset="-122"/>
                <a:ea typeface="华文楷体" panose="02010600040101010101" pitchFamily="2" charset="-122"/>
                <a:sym typeface="Wingdings" panose="05000000000000000000" pitchFamily="2" charset="2"/>
              </a:rPr>
              <a:t>包含所有参与调度的事务，而边可通过分析冲突操作来决定（</a:t>
            </a:r>
            <a:r>
              <a:rPr lang="en-US" altLang="x-none" sz="2400" dirty="0">
                <a:latin typeface="华文楷体" panose="02010600040101010101" pitchFamily="2" charset="-122"/>
                <a:ea typeface="华文楷体" panose="02010600040101010101" pitchFamily="2" charset="-122"/>
                <a:sym typeface="Wingdings" panose="05000000000000000000" pitchFamily="2" charset="2"/>
              </a:rPr>
              <a:t>pp256)</a:t>
            </a:r>
            <a:r>
              <a:rPr lang="zh-CN" altLang="en-US" sz="2400" dirty="0">
                <a:latin typeface="华文楷体" panose="02010600040101010101" pitchFamily="2" charset="-122"/>
                <a:ea typeface="华文楷体" panose="02010600040101010101" pitchFamily="2" charset="-122"/>
                <a:sym typeface="Wingdings" panose="05000000000000000000" pitchFamily="2" charset="2"/>
              </a:rPr>
              <a:t>。</a:t>
            </a:r>
            <a:endParaRPr lang="zh-CN" altLang="en-US" sz="2400" dirty="0">
              <a:latin typeface="华文楷体" panose="02010600040101010101" pitchFamily="2" charset="-122"/>
              <a:ea typeface="华文楷体" panose="02010600040101010101" pitchFamily="2" charset="-122"/>
              <a:sym typeface="Wingdings" panose="05000000000000000000" pitchFamily="2" charset="2"/>
            </a:endParaRPr>
          </a:p>
        </p:txBody>
      </p:sp>
      <p:sp>
        <p:nvSpPr>
          <p:cNvPr id="103427" name="Rectangle 3"/>
          <p:cNvSpPr txBox="1"/>
          <p:nvPr/>
        </p:nvSpPr>
        <p:spPr>
          <a:xfrm>
            <a:off x="517525" y="849313"/>
            <a:ext cx="7178675" cy="706437"/>
          </a:xfrm>
          <a:prstGeom prst="rect">
            <a:avLst/>
          </a:prstGeom>
          <a:noFill/>
          <a:ln w="9525">
            <a:noFill/>
          </a:ln>
        </p:spPr>
        <p:txBody>
          <a:bodyPr anchor="t"/>
          <a:lstStyle/>
          <a:p>
            <a:pPr lvl="0" indent="0" eaLnBrk="0" hangingPunct="0"/>
            <a:r>
              <a:rPr lang="en-US" altLang="x-none" sz="2800" dirty="0">
                <a:solidFill>
                  <a:srgbClr val="FF0000"/>
                </a:solidFill>
                <a:latin typeface="黑体" panose="02010609060101010101" pitchFamily="1" charset="-122"/>
                <a:ea typeface="黑体" panose="02010609060101010101" pitchFamily="1" charset="-122"/>
              </a:rPr>
              <a:t>3</a:t>
            </a:r>
            <a:r>
              <a:rPr lang="zh-CN" altLang="en-US" sz="2800" dirty="0">
                <a:solidFill>
                  <a:srgbClr val="FF0000"/>
                </a:solidFill>
                <a:latin typeface="黑体" panose="02010609060101010101" pitchFamily="1" charset="-122"/>
                <a:ea typeface="黑体" panose="02010609060101010101" pitchFamily="1" charset="-122"/>
              </a:rPr>
              <a:t>、并发执行的正确性准则</a:t>
            </a:r>
            <a:endParaRPr lang="en-US" altLang="x-none" sz="2800" dirty="0">
              <a:solidFill>
                <a:srgbClr val="FF0000"/>
              </a:solidFill>
              <a:latin typeface="黑体" panose="02010609060101010101" pitchFamily="1" charset="-122"/>
              <a:ea typeface="黑体" panose="02010609060101010101" pitchFamily="1" charset="-122"/>
            </a:endParaRPr>
          </a:p>
        </p:txBody>
      </p:sp>
      <p:sp>
        <p:nvSpPr>
          <p:cNvPr id="103428" name="Rectangle 3"/>
          <p:cNvSpPr txBox="1"/>
          <p:nvPr/>
        </p:nvSpPr>
        <p:spPr>
          <a:xfrm>
            <a:off x="5821363" y="854075"/>
            <a:ext cx="2971800" cy="706438"/>
          </a:xfrm>
          <a:prstGeom prst="rect">
            <a:avLst/>
          </a:prstGeom>
          <a:noFill/>
          <a:ln w="9525">
            <a:noFill/>
          </a:ln>
        </p:spPr>
        <p:txBody>
          <a:bodyPr anchor="t"/>
          <a:lstStyle/>
          <a:p>
            <a:pPr lvl="0" indent="0" eaLnBrk="0" hangingPunct="0">
              <a:buFont typeface="Wingdings" panose="05000000000000000000" pitchFamily="2" charset="2"/>
              <a:buChar char="p"/>
            </a:pPr>
            <a:r>
              <a:rPr lang="zh-CN" altLang="en-US" sz="2800" dirty="0">
                <a:solidFill>
                  <a:srgbClr val="000099"/>
                </a:solidFill>
                <a:latin typeface="黑体" panose="02010609060101010101" pitchFamily="1" charset="-122"/>
                <a:ea typeface="黑体" panose="02010609060101010101" pitchFamily="1" charset="-122"/>
              </a:rPr>
              <a:t>可串行化测试</a:t>
            </a:r>
            <a:endParaRPr lang="en-US" altLang="x-none" sz="2800" dirty="0">
              <a:solidFill>
                <a:srgbClr val="000099"/>
              </a:solidFill>
              <a:latin typeface="黑体" panose="02010609060101010101" pitchFamily="1" charset="-122"/>
              <a:ea typeface="黑体" panose="02010609060101010101" pitchFamily="1" charset="-122"/>
            </a:endParaRPr>
          </a:p>
        </p:txBody>
      </p:sp>
      <p:sp>
        <p:nvSpPr>
          <p:cNvPr id="107526" name="Text Box 2"/>
          <p:cNvSpPr txBox="1"/>
          <p:nvPr/>
        </p:nvSpPr>
        <p:spPr>
          <a:xfrm>
            <a:off x="584518" y="2716530"/>
            <a:ext cx="8208962" cy="1552575"/>
          </a:xfrm>
          <a:prstGeom prst="rect">
            <a:avLst/>
          </a:prstGeom>
          <a:noFill/>
          <a:ln w="9525">
            <a:noFill/>
          </a:ln>
        </p:spPr>
        <p:txBody>
          <a:bodyPr wrap="square" anchor="t">
            <a:spAutoFit/>
          </a:bodyPr>
          <a:lstStyle/>
          <a:p>
            <a:pPr lvl="0" indent="0"/>
            <a:r>
              <a:rPr lang="zh-CN" altLang="en-US" sz="2400" dirty="0">
                <a:latin typeface="华文楷体" panose="02010600040101010101" pitchFamily="2" charset="-122"/>
                <a:ea typeface="华文楷体" panose="02010600040101010101" pitchFamily="2" charset="-122"/>
                <a:sym typeface="Wingdings" panose="05000000000000000000" pitchFamily="2" charset="2"/>
              </a:rPr>
              <a:t>事务集</a:t>
            </a:r>
            <a:r>
              <a:rPr lang="en-US" altLang="x-none" sz="2400" dirty="0">
                <a:latin typeface="华文楷体" panose="02010600040101010101" pitchFamily="2" charset="-122"/>
                <a:ea typeface="华文楷体" panose="02010600040101010101" pitchFamily="2" charset="-122"/>
                <a:sym typeface="Wingdings" panose="05000000000000000000" pitchFamily="2" charset="2"/>
              </a:rPr>
              <a:t>={T1</a:t>
            </a:r>
            <a:r>
              <a:rPr lang="zh-CN" altLang="en-US" sz="2400" dirty="0">
                <a:latin typeface="华文楷体" panose="02010600040101010101" pitchFamily="2" charset="-122"/>
                <a:ea typeface="华文楷体" panose="02010600040101010101" pitchFamily="2" charset="-122"/>
                <a:sym typeface="Wingdings" panose="05000000000000000000" pitchFamily="2" charset="2"/>
              </a:rPr>
              <a:t>，</a:t>
            </a:r>
            <a:r>
              <a:rPr lang="en-US" altLang="x-none" sz="2400" dirty="0">
                <a:latin typeface="华文楷体" panose="02010600040101010101" pitchFamily="2" charset="-122"/>
                <a:ea typeface="华文楷体" panose="02010600040101010101" pitchFamily="2" charset="-122"/>
                <a:sym typeface="Wingdings" panose="05000000000000000000" pitchFamily="2" charset="2"/>
              </a:rPr>
              <a:t>T2</a:t>
            </a:r>
            <a:r>
              <a:rPr lang="zh-CN" altLang="en-US" sz="2400" dirty="0">
                <a:latin typeface="华文楷体" panose="02010600040101010101" pitchFamily="2" charset="-122"/>
                <a:ea typeface="华文楷体" panose="02010600040101010101" pitchFamily="2" charset="-122"/>
                <a:sym typeface="Wingdings" panose="05000000000000000000" pitchFamily="2" charset="2"/>
              </a:rPr>
              <a:t>，</a:t>
            </a:r>
            <a:r>
              <a:rPr lang="en-US" altLang="x-none" sz="2400" dirty="0">
                <a:latin typeface="华文楷体" panose="02010600040101010101" pitchFamily="2" charset="-122"/>
                <a:ea typeface="华文楷体" panose="02010600040101010101" pitchFamily="2" charset="-122"/>
                <a:sym typeface="Wingdings" panose="05000000000000000000" pitchFamily="2" charset="2"/>
              </a:rPr>
              <a:t>T3</a:t>
            </a:r>
            <a:r>
              <a:rPr lang="zh-CN" altLang="en-US" sz="2400" dirty="0">
                <a:latin typeface="华文楷体" panose="02010600040101010101" pitchFamily="2" charset="-122"/>
                <a:ea typeface="华文楷体" panose="02010600040101010101" pitchFamily="2" charset="-122"/>
                <a:sym typeface="Wingdings" panose="05000000000000000000" pitchFamily="2" charset="2"/>
              </a:rPr>
              <a:t>，</a:t>
            </a:r>
            <a:r>
              <a:rPr lang="en-US" altLang="x-none" sz="2400" dirty="0">
                <a:latin typeface="华文楷体" panose="02010600040101010101" pitchFamily="2" charset="-122"/>
                <a:ea typeface="华文楷体" panose="02010600040101010101" pitchFamily="2" charset="-122"/>
                <a:sym typeface="Wingdings" panose="05000000000000000000" pitchFamily="2" charset="2"/>
              </a:rPr>
              <a:t>T4}         </a:t>
            </a:r>
            <a:endParaRPr lang="en-US" altLang="x-none" sz="2400" dirty="0">
              <a:latin typeface="华文楷体" panose="02010600040101010101" pitchFamily="2" charset="-122"/>
              <a:ea typeface="华文楷体" panose="02010600040101010101" pitchFamily="2" charset="-122"/>
              <a:sym typeface="Wingdings" panose="05000000000000000000" pitchFamily="2" charset="2"/>
            </a:endParaRPr>
          </a:p>
          <a:p>
            <a:pPr lvl="0" indent="0"/>
            <a:r>
              <a:rPr lang="en-US" altLang="x-none" sz="2400" dirty="0">
                <a:latin typeface="华文楷体" panose="02010600040101010101" pitchFamily="2" charset="-122"/>
                <a:ea typeface="华文楷体" panose="02010600040101010101" pitchFamily="2" charset="-122"/>
                <a:sym typeface="Wingdings" panose="05000000000000000000" pitchFamily="2" charset="2"/>
              </a:rPr>
              <a:t>S=W</a:t>
            </a:r>
            <a:r>
              <a:rPr lang="en-US" altLang="x-none" sz="2400" baseline="-25000" dirty="0">
                <a:latin typeface="华文楷体" panose="02010600040101010101" pitchFamily="2" charset="-122"/>
                <a:ea typeface="华文楷体" panose="02010600040101010101" pitchFamily="2" charset="-122"/>
                <a:sym typeface="Wingdings" panose="05000000000000000000" pitchFamily="2" charset="2"/>
              </a:rPr>
              <a:t>T3</a:t>
            </a:r>
            <a:r>
              <a:rPr lang="en-US" altLang="x-none" sz="2400" dirty="0">
                <a:latin typeface="华文楷体" panose="02010600040101010101" pitchFamily="2" charset="-122"/>
                <a:ea typeface="华文楷体" panose="02010600040101010101" pitchFamily="2" charset="-122"/>
                <a:sym typeface="Wingdings" panose="05000000000000000000" pitchFamily="2" charset="2"/>
              </a:rPr>
              <a:t>(y)R</a:t>
            </a:r>
            <a:r>
              <a:rPr lang="en-US" altLang="x-none" sz="2400" baseline="-25000" dirty="0">
                <a:latin typeface="华文楷体" panose="02010600040101010101" pitchFamily="2" charset="-122"/>
                <a:ea typeface="华文楷体" panose="02010600040101010101" pitchFamily="2" charset="-122"/>
                <a:sym typeface="Wingdings" panose="05000000000000000000" pitchFamily="2" charset="2"/>
              </a:rPr>
              <a:t>T1</a:t>
            </a:r>
            <a:r>
              <a:rPr lang="en-US" altLang="x-none" sz="2400" dirty="0">
                <a:latin typeface="华文楷体" panose="02010600040101010101" pitchFamily="2" charset="-122"/>
                <a:ea typeface="华文楷体" panose="02010600040101010101" pitchFamily="2" charset="-122"/>
                <a:sym typeface="Wingdings" panose="05000000000000000000" pitchFamily="2" charset="2"/>
              </a:rPr>
              <a:t>(x)R</a:t>
            </a:r>
            <a:r>
              <a:rPr lang="en-US" altLang="x-none" sz="2400" baseline="-25000" dirty="0">
                <a:latin typeface="华文楷体" panose="02010600040101010101" pitchFamily="2" charset="-122"/>
                <a:ea typeface="华文楷体" panose="02010600040101010101" pitchFamily="2" charset="-122"/>
                <a:sym typeface="Wingdings" panose="05000000000000000000" pitchFamily="2" charset="2"/>
              </a:rPr>
              <a:t>T2</a:t>
            </a:r>
            <a:r>
              <a:rPr lang="en-US" altLang="x-none" sz="2400" dirty="0">
                <a:latin typeface="华文楷体" panose="02010600040101010101" pitchFamily="2" charset="-122"/>
                <a:ea typeface="华文楷体" panose="02010600040101010101" pitchFamily="2" charset="-122"/>
                <a:sym typeface="Wingdings" panose="05000000000000000000" pitchFamily="2" charset="2"/>
              </a:rPr>
              <a:t>(y)W</a:t>
            </a:r>
            <a:r>
              <a:rPr lang="en-US" altLang="x-none" sz="2400" baseline="-25000" dirty="0">
                <a:latin typeface="华文楷体" panose="02010600040101010101" pitchFamily="2" charset="-122"/>
                <a:ea typeface="华文楷体" panose="02010600040101010101" pitchFamily="2" charset="-122"/>
                <a:sym typeface="Wingdings" panose="05000000000000000000" pitchFamily="2" charset="2"/>
              </a:rPr>
              <a:t>T3</a:t>
            </a:r>
            <a:r>
              <a:rPr lang="en-US" altLang="x-none" sz="2400" dirty="0">
                <a:latin typeface="华文楷体" panose="02010600040101010101" pitchFamily="2" charset="-122"/>
                <a:ea typeface="华文楷体" panose="02010600040101010101" pitchFamily="2" charset="-122"/>
                <a:sym typeface="Wingdings" panose="05000000000000000000" pitchFamily="2" charset="2"/>
              </a:rPr>
              <a:t>(x)W</a:t>
            </a:r>
            <a:r>
              <a:rPr lang="en-US" altLang="x-none" sz="2400" baseline="-25000" dirty="0">
                <a:latin typeface="华文楷体" panose="02010600040101010101" pitchFamily="2" charset="-122"/>
                <a:ea typeface="华文楷体" panose="02010600040101010101" pitchFamily="2" charset="-122"/>
                <a:sym typeface="Wingdings" panose="05000000000000000000" pitchFamily="2" charset="2"/>
              </a:rPr>
              <a:t>T2</a:t>
            </a:r>
            <a:r>
              <a:rPr lang="en-US" altLang="x-none" sz="2400" dirty="0">
                <a:latin typeface="华文楷体" panose="02010600040101010101" pitchFamily="2" charset="-122"/>
                <a:ea typeface="华文楷体" panose="02010600040101010101" pitchFamily="2" charset="-122"/>
                <a:sym typeface="Wingdings" panose="05000000000000000000" pitchFamily="2" charset="2"/>
              </a:rPr>
              <a:t>(x)W</a:t>
            </a:r>
            <a:r>
              <a:rPr lang="en-US" altLang="x-none" sz="2400" baseline="-25000" dirty="0">
                <a:latin typeface="华文楷体" panose="02010600040101010101" pitchFamily="2" charset="-122"/>
                <a:ea typeface="华文楷体" panose="02010600040101010101" pitchFamily="2" charset="-122"/>
                <a:sym typeface="Wingdings" panose="05000000000000000000" pitchFamily="2" charset="2"/>
              </a:rPr>
              <a:t>T3</a:t>
            </a:r>
            <a:r>
              <a:rPr lang="en-US" altLang="x-none" sz="2400" dirty="0">
                <a:latin typeface="华文楷体" panose="02010600040101010101" pitchFamily="2" charset="-122"/>
                <a:ea typeface="华文楷体" panose="02010600040101010101" pitchFamily="2" charset="-122"/>
                <a:sym typeface="Wingdings" panose="05000000000000000000" pitchFamily="2" charset="2"/>
              </a:rPr>
              <a:t>(z)R</a:t>
            </a:r>
            <a:r>
              <a:rPr lang="en-US" altLang="x-none" sz="2400" baseline="-25000" dirty="0">
                <a:latin typeface="华文楷体" panose="02010600040101010101" pitchFamily="2" charset="-122"/>
                <a:ea typeface="华文楷体" panose="02010600040101010101" pitchFamily="2" charset="-122"/>
                <a:sym typeface="Wingdings" panose="05000000000000000000" pitchFamily="2" charset="2"/>
              </a:rPr>
              <a:t>T4</a:t>
            </a:r>
            <a:r>
              <a:rPr lang="en-US" altLang="x-none" sz="2400" dirty="0">
                <a:latin typeface="华文楷体" panose="02010600040101010101" pitchFamily="2" charset="-122"/>
                <a:ea typeface="华文楷体" panose="02010600040101010101" pitchFamily="2" charset="-122"/>
                <a:sym typeface="Wingdings" panose="05000000000000000000" pitchFamily="2" charset="2"/>
              </a:rPr>
              <a:t>(z)W</a:t>
            </a:r>
            <a:r>
              <a:rPr lang="en-US" altLang="x-none" sz="2400" baseline="-25000" dirty="0">
                <a:latin typeface="华文楷体" panose="02010600040101010101" pitchFamily="2" charset="-122"/>
                <a:ea typeface="华文楷体" panose="02010600040101010101" pitchFamily="2" charset="-122"/>
                <a:sym typeface="Wingdings" panose="05000000000000000000" pitchFamily="2" charset="2"/>
              </a:rPr>
              <a:t>T4</a:t>
            </a:r>
            <a:r>
              <a:rPr lang="en-US" altLang="x-none" sz="2400" dirty="0">
                <a:latin typeface="华文楷体" panose="02010600040101010101" pitchFamily="2" charset="-122"/>
                <a:ea typeface="华文楷体" panose="02010600040101010101" pitchFamily="2" charset="-122"/>
                <a:sym typeface="Wingdings" panose="05000000000000000000" pitchFamily="2" charset="2"/>
              </a:rPr>
              <a:t>(x)</a:t>
            </a:r>
            <a:endParaRPr lang="en-US" altLang="x-none" sz="2400" dirty="0">
              <a:latin typeface="华文楷体" panose="02010600040101010101" pitchFamily="2" charset="-122"/>
              <a:ea typeface="华文楷体" panose="02010600040101010101" pitchFamily="2" charset="-122"/>
              <a:sym typeface="Wingdings" panose="05000000000000000000" pitchFamily="2" charset="2"/>
            </a:endParaRPr>
          </a:p>
          <a:p>
            <a:pPr lvl="0" indent="0"/>
            <a:r>
              <a:rPr lang="zh-CN" altLang="en-US" sz="2400" dirty="0">
                <a:latin typeface="华文楷体" panose="02010600040101010101" pitchFamily="2" charset="-122"/>
                <a:ea typeface="华文楷体" panose="02010600040101010101" pitchFamily="2" charset="-122"/>
                <a:sym typeface="Wingdings" panose="05000000000000000000" pitchFamily="2" charset="2"/>
              </a:rPr>
              <a:t>问题：① 该调度是否可串行化？② 如是，与其等价的串行调度是什么？</a:t>
            </a:r>
            <a:endParaRPr lang="zh-CN" altLang="en-US" sz="2400" dirty="0">
              <a:latin typeface="华文楷体" panose="02010600040101010101" pitchFamily="2" charset="-122"/>
              <a:ea typeface="华文楷体" panose="02010600040101010101" pitchFamily="2" charset="-122"/>
              <a:sym typeface="Wingdings" panose="05000000000000000000" pitchFamily="2" charset="2"/>
            </a:endParaRPr>
          </a:p>
        </p:txBody>
      </p:sp>
      <p:grpSp>
        <p:nvGrpSpPr>
          <p:cNvPr id="2" name="Group 7"/>
          <p:cNvGrpSpPr/>
          <p:nvPr/>
        </p:nvGrpSpPr>
        <p:grpSpPr>
          <a:xfrm>
            <a:off x="712788" y="4373563"/>
            <a:ext cx="3132137" cy="2073275"/>
            <a:chOff x="0" y="0"/>
            <a:chExt cx="1927" cy="1496"/>
          </a:xfrm>
        </p:grpSpPr>
        <p:sp>
          <p:nvSpPr>
            <p:cNvPr id="103431" name="Oval 8"/>
            <p:cNvSpPr/>
            <p:nvPr/>
          </p:nvSpPr>
          <p:spPr>
            <a:xfrm>
              <a:off x="340" y="199"/>
              <a:ext cx="170" cy="142"/>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lstStyle/>
            <a:p>
              <a:pPr lvl="0" indent="0"/>
              <a:endParaRPr lang="zh-CN" altLang="en-US" dirty="0">
                <a:latin typeface="Arial" panose="020B0604020202020204" pitchFamily="34" charset="0"/>
                <a:ea typeface="宋体" panose="02010600030101010101" pitchFamily="2" charset="-122"/>
              </a:endParaRPr>
            </a:p>
          </p:txBody>
        </p:sp>
        <p:sp>
          <p:nvSpPr>
            <p:cNvPr id="103432" name="Oval 9"/>
            <p:cNvSpPr/>
            <p:nvPr/>
          </p:nvSpPr>
          <p:spPr>
            <a:xfrm>
              <a:off x="1473" y="227"/>
              <a:ext cx="170" cy="142"/>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lstStyle/>
            <a:p>
              <a:pPr lvl="0" indent="0"/>
              <a:endParaRPr lang="zh-CN" altLang="en-US" dirty="0">
                <a:latin typeface="Arial" panose="020B0604020202020204" pitchFamily="34" charset="0"/>
                <a:ea typeface="宋体" panose="02010600030101010101" pitchFamily="2" charset="-122"/>
              </a:endParaRPr>
            </a:p>
          </p:txBody>
        </p:sp>
        <p:sp>
          <p:nvSpPr>
            <p:cNvPr id="103433" name="Oval 10"/>
            <p:cNvSpPr/>
            <p:nvPr/>
          </p:nvSpPr>
          <p:spPr>
            <a:xfrm>
              <a:off x="340" y="1162"/>
              <a:ext cx="170" cy="142"/>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lstStyle/>
            <a:p>
              <a:pPr lvl="0" indent="0"/>
              <a:endParaRPr lang="zh-CN" altLang="en-US" dirty="0">
                <a:latin typeface="Arial" panose="020B0604020202020204" pitchFamily="34" charset="0"/>
                <a:ea typeface="宋体" panose="02010600030101010101" pitchFamily="2" charset="-122"/>
              </a:endParaRPr>
            </a:p>
          </p:txBody>
        </p:sp>
        <p:sp>
          <p:nvSpPr>
            <p:cNvPr id="103434" name="Oval 11"/>
            <p:cNvSpPr/>
            <p:nvPr/>
          </p:nvSpPr>
          <p:spPr>
            <a:xfrm>
              <a:off x="1502" y="1162"/>
              <a:ext cx="170" cy="142"/>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lstStyle/>
            <a:p>
              <a:pPr lvl="0" indent="0"/>
              <a:endParaRPr lang="zh-CN" altLang="en-US" dirty="0">
                <a:latin typeface="Arial" panose="020B0604020202020204" pitchFamily="34" charset="0"/>
                <a:ea typeface="宋体" panose="02010600030101010101" pitchFamily="2" charset="-122"/>
              </a:endParaRPr>
            </a:p>
          </p:txBody>
        </p:sp>
        <p:sp>
          <p:nvSpPr>
            <p:cNvPr id="103435" name="Text Box 12"/>
            <p:cNvSpPr txBox="1"/>
            <p:nvPr/>
          </p:nvSpPr>
          <p:spPr>
            <a:xfrm>
              <a:off x="0" y="7"/>
              <a:ext cx="198" cy="220"/>
            </a:xfrm>
            <a:prstGeom prst="rect">
              <a:avLst/>
            </a:prstGeom>
            <a:noFill/>
            <a:ln w="9525">
              <a:noFill/>
            </a:ln>
          </p:spPr>
          <p:txBody>
            <a:bodyPr wrap="square" lIns="0" tIns="0" rIns="0" bIns="0" anchor="t">
              <a:spAutoFit/>
            </a:bodyPr>
            <a:lstStyle/>
            <a:p>
              <a:pPr lvl="0" indent="0" algn="ctr">
                <a:spcBef>
                  <a:spcPct val="50000"/>
                </a:spcBef>
              </a:pPr>
              <a:r>
                <a:rPr lang="en-US" altLang="x-none" sz="2000" dirty="0">
                  <a:latin typeface="Arial" panose="020B0604020202020204" pitchFamily="34" charset="0"/>
                  <a:ea typeface="宋体" panose="02010600030101010101" pitchFamily="2" charset="-122"/>
                </a:rPr>
                <a:t>T1</a:t>
              </a:r>
              <a:endParaRPr lang="en-US" altLang="x-none" sz="2000" dirty="0">
                <a:latin typeface="Arial" panose="020B0604020202020204" pitchFamily="34" charset="0"/>
                <a:ea typeface="宋体" panose="02010600030101010101" pitchFamily="2" charset="-122"/>
              </a:endParaRPr>
            </a:p>
          </p:txBody>
        </p:sp>
        <p:sp>
          <p:nvSpPr>
            <p:cNvPr id="103436" name="Text Box 13"/>
            <p:cNvSpPr txBox="1"/>
            <p:nvPr/>
          </p:nvSpPr>
          <p:spPr>
            <a:xfrm>
              <a:off x="1729" y="1276"/>
              <a:ext cx="198" cy="220"/>
            </a:xfrm>
            <a:prstGeom prst="rect">
              <a:avLst/>
            </a:prstGeom>
            <a:noFill/>
            <a:ln w="9525">
              <a:noFill/>
            </a:ln>
          </p:spPr>
          <p:txBody>
            <a:bodyPr wrap="square" lIns="0" tIns="0" rIns="0" bIns="0" anchor="t">
              <a:spAutoFit/>
            </a:bodyPr>
            <a:lstStyle/>
            <a:p>
              <a:pPr lvl="0" indent="0" algn="ctr">
                <a:spcBef>
                  <a:spcPct val="50000"/>
                </a:spcBef>
              </a:pPr>
              <a:r>
                <a:rPr lang="en-US" altLang="x-none" sz="2000" dirty="0">
                  <a:latin typeface="Arial" panose="020B0604020202020204" pitchFamily="34" charset="0"/>
                  <a:ea typeface="宋体" panose="02010600030101010101" pitchFamily="2" charset="-122"/>
                </a:rPr>
                <a:t>T4</a:t>
              </a:r>
              <a:endParaRPr lang="en-US" altLang="x-none" sz="2000" dirty="0">
                <a:latin typeface="Arial" panose="020B0604020202020204" pitchFamily="34" charset="0"/>
                <a:ea typeface="宋体" panose="02010600030101010101" pitchFamily="2" charset="-122"/>
              </a:endParaRPr>
            </a:p>
          </p:txBody>
        </p:sp>
        <p:sp>
          <p:nvSpPr>
            <p:cNvPr id="103437" name="Text Box 14"/>
            <p:cNvSpPr txBox="1"/>
            <p:nvPr/>
          </p:nvSpPr>
          <p:spPr>
            <a:xfrm>
              <a:off x="28" y="1276"/>
              <a:ext cx="198" cy="220"/>
            </a:xfrm>
            <a:prstGeom prst="rect">
              <a:avLst/>
            </a:prstGeom>
            <a:noFill/>
            <a:ln w="9525">
              <a:noFill/>
            </a:ln>
          </p:spPr>
          <p:txBody>
            <a:bodyPr wrap="square" lIns="0" tIns="0" rIns="0" bIns="0" anchor="t">
              <a:spAutoFit/>
            </a:bodyPr>
            <a:lstStyle/>
            <a:p>
              <a:pPr lvl="0" indent="0" algn="ctr">
                <a:spcBef>
                  <a:spcPct val="50000"/>
                </a:spcBef>
              </a:pPr>
              <a:r>
                <a:rPr lang="en-US" altLang="x-none" sz="2000" dirty="0">
                  <a:latin typeface="Arial" panose="020B0604020202020204" pitchFamily="34" charset="0"/>
                  <a:ea typeface="宋体" panose="02010600030101010101" pitchFamily="2" charset="-122"/>
                </a:rPr>
                <a:t>T3</a:t>
              </a:r>
              <a:endParaRPr lang="en-US" altLang="x-none" sz="2000" dirty="0">
                <a:latin typeface="Arial" panose="020B0604020202020204" pitchFamily="34" charset="0"/>
                <a:ea typeface="宋体" panose="02010600030101010101" pitchFamily="2" charset="-122"/>
              </a:endParaRPr>
            </a:p>
          </p:txBody>
        </p:sp>
        <p:sp>
          <p:nvSpPr>
            <p:cNvPr id="103438" name="Text Box 15"/>
            <p:cNvSpPr txBox="1"/>
            <p:nvPr/>
          </p:nvSpPr>
          <p:spPr>
            <a:xfrm>
              <a:off x="1672" y="0"/>
              <a:ext cx="198" cy="220"/>
            </a:xfrm>
            <a:prstGeom prst="rect">
              <a:avLst/>
            </a:prstGeom>
            <a:noFill/>
            <a:ln w="9525">
              <a:noFill/>
            </a:ln>
          </p:spPr>
          <p:txBody>
            <a:bodyPr wrap="square" lIns="0" tIns="0" rIns="0" bIns="0" anchor="t">
              <a:spAutoFit/>
            </a:bodyPr>
            <a:lstStyle/>
            <a:p>
              <a:pPr lvl="0" indent="0" algn="ctr">
                <a:spcBef>
                  <a:spcPct val="50000"/>
                </a:spcBef>
              </a:pPr>
              <a:r>
                <a:rPr lang="en-US" altLang="x-none" sz="2000" dirty="0">
                  <a:latin typeface="Arial" panose="020B0604020202020204" pitchFamily="34" charset="0"/>
                  <a:ea typeface="宋体" panose="02010600030101010101" pitchFamily="2" charset="-122"/>
                </a:rPr>
                <a:t>T2</a:t>
              </a:r>
              <a:endParaRPr lang="en-US" altLang="x-none" sz="2000" dirty="0">
                <a:latin typeface="Arial" panose="020B0604020202020204" pitchFamily="34" charset="0"/>
                <a:ea typeface="宋体" panose="02010600030101010101" pitchFamily="2" charset="-122"/>
              </a:endParaRPr>
            </a:p>
          </p:txBody>
        </p:sp>
        <p:sp>
          <p:nvSpPr>
            <p:cNvPr id="103439" name="Line 16"/>
            <p:cNvSpPr/>
            <p:nvPr/>
          </p:nvSpPr>
          <p:spPr>
            <a:xfrm>
              <a:off x="510" y="284"/>
              <a:ext cx="963" cy="0"/>
            </a:xfrm>
            <a:prstGeom prst="line">
              <a:avLst/>
            </a:prstGeom>
            <a:ln w="28575" cap="flat" cmpd="sng">
              <a:solidFill>
                <a:schemeClr val="tx1"/>
              </a:solidFill>
              <a:prstDash val="solid"/>
              <a:round/>
              <a:headEnd type="none" w="med" len="med"/>
              <a:tailEnd type="arrow" w="lg" len="med"/>
            </a:ln>
          </p:spPr>
        </p:sp>
        <p:sp>
          <p:nvSpPr>
            <p:cNvPr id="103440" name="Line 17"/>
            <p:cNvSpPr/>
            <p:nvPr/>
          </p:nvSpPr>
          <p:spPr>
            <a:xfrm>
              <a:off x="425" y="340"/>
              <a:ext cx="0" cy="822"/>
            </a:xfrm>
            <a:prstGeom prst="line">
              <a:avLst/>
            </a:prstGeom>
            <a:ln w="38100" cap="flat" cmpd="sng">
              <a:solidFill>
                <a:schemeClr val="tx1"/>
              </a:solidFill>
              <a:prstDash val="solid"/>
              <a:round/>
              <a:headEnd type="none" w="med" len="med"/>
              <a:tailEnd type="arrow" w="lg" len="med"/>
            </a:ln>
          </p:spPr>
        </p:sp>
        <p:sp>
          <p:nvSpPr>
            <p:cNvPr id="103441" name="Line 18"/>
            <p:cNvSpPr/>
            <p:nvPr/>
          </p:nvSpPr>
          <p:spPr>
            <a:xfrm>
              <a:off x="481" y="313"/>
              <a:ext cx="1021" cy="879"/>
            </a:xfrm>
            <a:prstGeom prst="line">
              <a:avLst/>
            </a:prstGeom>
            <a:ln w="38100" cap="flat" cmpd="sng">
              <a:solidFill>
                <a:schemeClr val="tx1"/>
              </a:solidFill>
              <a:prstDash val="solid"/>
              <a:round/>
              <a:headEnd type="none" w="med" len="med"/>
              <a:tailEnd type="arrow" w="lg" len="med"/>
            </a:ln>
          </p:spPr>
        </p:sp>
        <p:sp>
          <p:nvSpPr>
            <p:cNvPr id="103442" name="Line 19"/>
            <p:cNvSpPr/>
            <p:nvPr/>
          </p:nvSpPr>
          <p:spPr>
            <a:xfrm>
              <a:off x="510" y="1248"/>
              <a:ext cx="992" cy="0"/>
            </a:xfrm>
            <a:prstGeom prst="line">
              <a:avLst/>
            </a:prstGeom>
            <a:ln w="38100" cap="flat" cmpd="sng">
              <a:solidFill>
                <a:schemeClr val="tx1"/>
              </a:solidFill>
              <a:prstDash val="solid"/>
              <a:round/>
              <a:headEnd type="none" w="med" len="med"/>
              <a:tailEnd type="arrow" w="lg" len="med"/>
            </a:ln>
          </p:spPr>
        </p:sp>
        <p:sp>
          <p:nvSpPr>
            <p:cNvPr id="103443" name="Line 20"/>
            <p:cNvSpPr/>
            <p:nvPr/>
          </p:nvSpPr>
          <p:spPr>
            <a:xfrm>
              <a:off x="1559" y="369"/>
              <a:ext cx="0" cy="793"/>
            </a:xfrm>
            <a:prstGeom prst="line">
              <a:avLst/>
            </a:prstGeom>
            <a:ln w="38100" cap="flat" cmpd="sng">
              <a:solidFill>
                <a:schemeClr val="tx1"/>
              </a:solidFill>
              <a:prstDash val="solid"/>
              <a:round/>
              <a:headEnd type="none" w="med" len="med"/>
              <a:tailEnd type="arrow" w="lg" len="med"/>
            </a:ln>
          </p:spPr>
        </p:sp>
        <p:sp>
          <p:nvSpPr>
            <p:cNvPr id="103444" name="Line 21"/>
            <p:cNvSpPr/>
            <p:nvPr/>
          </p:nvSpPr>
          <p:spPr>
            <a:xfrm flipV="1">
              <a:off x="481" y="369"/>
              <a:ext cx="1021" cy="793"/>
            </a:xfrm>
            <a:prstGeom prst="line">
              <a:avLst/>
            </a:prstGeom>
            <a:ln w="38100" cap="flat" cmpd="sng">
              <a:solidFill>
                <a:schemeClr val="tx1"/>
              </a:solidFill>
              <a:prstDash val="solid"/>
              <a:round/>
              <a:headEnd type="none" w="med" len="med"/>
              <a:tailEnd type="arrow" w="lg" len="med"/>
            </a:ln>
          </p:spPr>
        </p:sp>
      </p:grpSp>
      <p:sp>
        <p:nvSpPr>
          <p:cNvPr id="107542" name="Oval 25"/>
          <p:cNvSpPr/>
          <p:nvPr/>
        </p:nvSpPr>
        <p:spPr>
          <a:xfrm>
            <a:off x="1073150" y="4505325"/>
            <a:ext cx="576263" cy="503238"/>
          </a:xfrm>
          <a:prstGeom prst="ellipse">
            <a:avLst/>
          </a:prstGeom>
          <a:noFill/>
          <a:ln w="38100" cap="flat" cmpd="sng">
            <a:solidFill>
              <a:srgbClr val="CC0000"/>
            </a:solidFill>
            <a:prstDash val="solid"/>
            <a:round/>
            <a:headEnd type="none" w="med" len="med"/>
            <a:tailEnd type="none" w="med" len="med"/>
          </a:ln>
        </p:spPr>
        <p:txBody>
          <a:bodyPr wrap="none" lIns="90000" tIns="46800" rIns="90000" bIns="46800" anchor="ctr"/>
          <a:lstStyle/>
          <a:p>
            <a:pPr lvl="0" indent="0"/>
            <a:endParaRPr lang="zh-CN" altLang="en-US" dirty="0">
              <a:latin typeface="Arial" panose="020B0604020202020204" pitchFamily="34" charset="0"/>
              <a:ea typeface="宋体" panose="02010600030101010101" pitchFamily="2" charset="-122"/>
            </a:endParaRPr>
          </a:p>
        </p:txBody>
      </p:sp>
      <p:sp>
        <p:nvSpPr>
          <p:cNvPr id="8" name="Rectangle 2"/>
          <p:cNvSpPr/>
          <p:nvPr/>
        </p:nvSpPr>
        <p:spPr>
          <a:xfrm>
            <a:off x="417513" y="55563"/>
            <a:ext cx="8229600" cy="692150"/>
          </a:xfrm>
          <a:prstGeom prst="rect">
            <a:avLst/>
          </a:prstGeom>
          <a:noFill/>
          <a:ln w="9525">
            <a:noFill/>
          </a:ln>
        </p:spPr>
        <p:txBody>
          <a:bodyPr anchor="ctr"/>
          <a:lstStyle/>
          <a:p>
            <a:pPr lvl="0" indent="0">
              <a:buFont typeface="Wingdings" panose="05000000000000000000" pitchFamily="2" charset="2"/>
              <a:buNone/>
            </a:pPr>
            <a:r>
              <a:rPr lang="zh-CN" altLang="en-US" sz="3200" dirty="0" smtClean="0">
                <a:solidFill>
                  <a:srgbClr val="0033CC"/>
                </a:solidFill>
                <a:latin typeface="Arial" panose="020B0604020202020204" pitchFamily="34" charset="0"/>
                <a:ea typeface="黑体" panose="02010609060101010101" pitchFamily="1" charset="-122"/>
              </a:rPr>
              <a:t>二、并发执行的正确性准则</a:t>
            </a:r>
            <a:endParaRPr lang="zh-CN" altLang="en-US" sz="3200" dirty="0">
              <a:solidFill>
                <a:srgbClr val="0033CC"/>
              </a:solidFill>
              <a:latin typeface="Arial" panose="020B0604020202020204" pitchFamily="34" charset="0"/>
              <a:ea typeface="黑体" panose="02010609060101010101" pitchFamily="1"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107526"/>
                                        </p:tgtEl>
                                        <p:attrNameLst>
                                          <p:attrName>style.visibility</p:attrName>
                                        </p:attrNameLst>
                                      </p:cBhvr>
                                      <p:to>
                                        <p:strVal val="visible"/>
                                      </p:to>
                                    </p:set>
                                    <p:animEffect transition="in" filter="checkerboard(across)">
                                      <p:cBhvr>
                                        <p:cTn id="7" dur="500"/>
                                        <p:tgtEl>
                                          <p:spTgt spid="107526"/>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20" presetClass="entr" presetSubtype="0" fill="hold" grpId="0" nodeType="clickEffect">
                                  <p:stCondLst>
                                    <p:cond delay="0"/>
                                  </p:stCondLst>
                                  <p:childTnLst>
                                    <p:set>
                                      <p:cBhvr>
                                        <p:cTn id="15" dur="1" fill="hold">
                                          <p:stCondLst>
                                            <p:cond delay="0"/>
                                          </p:stCondLst>
                                        </p:cTn>
                                        <p:tgtEl>
                                          <p:spTgt spid="107542"/>
                                        </p:tgtEl>
                                        <p:attrNameLst>
                                          <p:attrName>style.visibility</p:attrName>
                                        </p:attrNameLst>
                                      </p:cBhvr>
                                      <p:to>
                                        <p:strVal val="visible"/>
                                      </p:to>
                                    </p:set>
                                    <p:animEffect transition="in" filter="wedge">
                                      <p:cBhvr>
                                        <p:cTn id="16" dur="2000"/>
                                        <p:tgtEl>
                                          <p:spTgt spid="1075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7526" grpId="0"/>
      <p:bldP spid="107542" grpId="0" bldLvl="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Text Box 4"/>
          <p:cNvSpPr txBox="1"/>
          <p:nvPr/>
        </p:nvSpPr>
        <p:spPr>
          <a:xfrm>
            <a:off x="621665" y="1468120"/>
            <a:ext cx="8025765" cy="4349115"/>
          </a:xfrm>
          <a:prstGeom prst="rect">
            <a:avLst/>
          </a:prstGeom>
          <a:noFill/>
          <a:ln w="9525">
            <a:noFill/>
          </a:ln>
        </p:spPr>
        <p:txBody>
          <a:bodyPr wrap="square" anchor="t">
            <a:spAutoFit/>
          </a:bodyPr>
          <a:lstStyle/>
          <a:p>
            <a:pPr lvl="0" indent="0">
              <a:lnSpc>
                <a:spcPct val="125000"/>
              </a:lnSpc>
              <a:spcBef>
                <a:spcPts val="600"/>
              </a:spcBef>
              <a:buFont typeface="Wingdings" panose="05000000000000000000" pitchFamily="2" charset="2"/>
              <a:buChar char="p"/>
            </a:pPr>
            <a:r>
              <a:rPr lang="zh-CN" altLang="en-US" sz="2400" u="sng" dirty="0">
                <a:solidFill>
                  <a:srgbClr val="A50021"/>
                </a:solidFill>
                <a:latin typeface="华文楷体" panose="02010600040101010101" pitchFamily="2" charset="-122"/>
                <a:ea typeface="华文楷体" panose="02010600040101010101" pitchFamily="2" charset="-122"/>
                <a:sym typeface="Wingdings" panose="05000000000000000000" pitchFamily="2" charset="2"/>
              </a:rPr>
              <a:t>是否可串行化测试方法</a:t>
            </a:r>
            <a:r>
              <a:rPr lang="zh-CN" altLang="en-US" sz="2400" u="sng" dirty="0">
                <a:latin typeface="华文楷体" panose="02010600040101010101" pitchFamily="2" charset="-122"/>
                <a:ea typeface="华文楷体" panose="02010600040101010101" pitchFamily="2" charset="-122"/>
                <a:sym typeface="Wingdings" panose="05000000000000000000" pitchFamily="2" charset="2"/>
              </a:rPr>
              <a:t>：</a:t>
            </a:r>
            <a:r>
              <a:rPr lang="zh-CN" altLang="en-US" sz="2400" dirty="0">
                <a:latin typeface="华文楷体" panose="02010600040101010101" pitchFamily="2" charset="-122"/>
                <a:ea typeface="华文楷体" panose="02010600040101010101" pitchFamily="2" charset="-122"/>
                <a:sym typeface="Wingdings" panose="05000000000000000000" pitchFamily="2" charset="2"/>
              </a:rPr>
              <a:t>如前趋图中有回路，则</a:t>
            </a:r>
            <a:r>
              <a:rPr lang="en-US" altLang="x-none" sz="2400" dirty="0">
                <a:latin typeface="华文楷体" panose="02010600040101010101" pitchFamily="2" charset="-122"/>
                <a:ea typeface="华文楷体" panose="02010600040101010101" pitchFamily="2" charset="-122"/>
                <a:sym typeface="Wingdings" panose="05000000000000000000" pitchFamily="2" charset="2"/>
              </a:rPr>
              <a:t>S</a:t>
            </a:r>
            <a:r>
              <a:rPr lang="zh-CN" altLang="en-US" sz="2400" dirty="0">
                <a:latin typeface="华文楷体" panose="02010600040101010101" pitchFamily="2" charset="-122"/>
                <a:ea typeface="华文楷体" panose="02010600040101010101" pitchFamily="2" charset="-122"/>
                <a:sym typeface="Wingdings" panose="05000000000000000000" pitchFamily="2" charset="2"/>
              </a:rPr>
              <a:t>不可能等价于任何串行调度；如前趋图无回路，则可找到</a:t>
            </a:r>
            <a:r>
              <a:rPr lang="en-US" altLang="x-none" sz="2400" dirty="0">
                <a:latin typeface="华文楷体" panose="02010600040101010101" pitchFamily="2" charset="-122"/>
                <a:ea typeface="华文楷体" panose="02010600040101010101" pitchFamily="2" charset="-122"/>
                <a:sym typeface="Wingdings" panose="05000000000000000000" pitchFamily="2" charset="2"/>
              </a:rPr>
              <a:t>S</a:t>
            </a:r>
            <a:r>
              <a:rPr lang="zh-CN" altLang="en-US" sz="2400" dirty="0">
                <a:latin typeface="华文楷体" panose="02010600040101010101" pitchFamily="2" charset="-122"/>
                <a:ea typeface="华文楷体" panose="02010600040101010101" pitchFamily="2" charset="-122"/>
                <a:sym typeface="Wingdings" panose="05000000000000000000" pitchFamily="2" charset="2"/>
              </a:rPr>
              <a:t>的一个等价的串行调度。</a:t>
            </a:r>
            <a:endParaRPr lang="zh-CN" altLang="en-US" sz="2400" dirty="0">
              <a:latin typeface="华文楷体" panose="02010600040101010101" pitchFamily="2" charset="-122"/>
              <a:ea typeface="华文楷体" panose="02010600040101010101" pitchFamily="2" charset="-122"/>
              <a:sym typeface="Wingdings" panose="05000000000000000000" pitchFamily="2" charset="2"/>
            </a:endParaRPr>
          </a:p>
          <a:p>
            <a:pPr lvl="0" indent="0">
              <a:lnSpc>
                <a:spcPct val="125000"/>
              </a:lnSpc>
              <a:spcBef>
                <a:spcPts val="800"/>
              </a:spcBef>
              <a:spcAft>
                <a:spcPts val="0"/>
              </a:spcAft>
              <a:buFont typeface="Wingdings" panose="05000000000000000000" pitchFamily="2" charset="2"/>
              <a:buChar char="p"/>
            </a:pPr>
            <a:r>
              <a:rPr lang="zh-CN" altLang="en-US" sz="2400" u="sng" dirty="0">
                <a:solidFill>
                  <a:srgbClr val="A50021"/>
                </a:solidFill>
                <a:latin typeface="华文楷体" panose="02010600040101010101" pitchFamily="2" charset="-122"/>
                <a:ea typeface="华文楷体" panose="02010600040101010101" pitchFamily="2" charset="-122"/>
                <a:sym typeface="Wingdings" panose="05000000000000000000" pitchFamily="2" charset="2"/>
              </a:rPr>
              <a:t>寻找等价串行调度的方法：</a:t>
            </a:r>
            <a:r>
              <a:rPr lang="zh-CN" altLang="en-US" sz="2400" dirty="0">
                <a:latin typeface="华文楷体" panose="02010600040101010101" pitchFamily="2" charset="-122"/>
                <a:ea typeface="华文楷体" panose="02010600040101010101" pitchFamily="2" charset="-122"/>
                <a:sym typeface="Wingdings" panose="05000000000000000000" pitchFamily="2" charset="2"/>
              </a:rPr>
              <a:t>因图中无回路，必有一入度为零的结点，将这些结点及其边从图中移去存放于一个队列中（次序任意），对所剩图作同样处理，不过，移去的结点要放在队列中已存结点的后面，如此继续下去，直到所有结点移入队列中。按队中结点次序串行排列各事务操作，即可得到一个等价的串行调度。 </a:t>
            </a:r>
            <a:endParaRPr lang="zh-CN" altLang="en-US" sz="2400" dirty="0">
              <a:latin typeface="华文楷体" panose="02010600040101010101" pitchFamily="2" charset="-122"/>
              <a:ea typeface="华文楷体" panose="02010600040101010101" pitchFamily="2" charset="-122"/>
              <a:sym typeface="Wingdings" panose="05000000000000000000" pitchFamily="2" charset="2"/>
            </a:endParaRPr>
          </a:p>
        </p:txBody>
      </p:sp>
      <p:sp>
        <p:nvSpPr>
          <p:cNvPr id="104451" name="Rectangle 3"/>
          <p:cNvSpPr txBox="1"/>
          <p:nvPr/>
        </p:nvSpPr>
        <p:spPr>
          <a:xfrm>
            <a:off x="517525" y="862013"/>
            <a:ext cx="7178675" cy="706437"/>
          </a:xfrm>
          <a:prstGeom prst="rect">
            <a:avLst/>
          </a:prstGeom>
          <a:noFill/>
          <a:ln w="9525">
            <a:noFill/>
          </a:ln>
        </p:spPr>
        <p:txBody>
          <a:bodyPr wrap="square" anchor="t"/>
          <a:lstStyle/>
          <a:p>
            <a:pPr lvl="0" indent="0" eaLnBrk="0" hangingPunct="0"/>
            <a:r>
              <a:rPr lang="en-US" altLang="x-none" sz="2800" dirty="0">
                <a:solidFill>
                  <a:srgbClr val="FF0000"/>
                </a:solidFill>
                <a:latin typeface="黑体" panose="02010609060101010101" pitchFamily="1" charset="-122"/>
                <a:ea typeface="黑体" panose="02010609060101010101" pitchFamily="1" charset="-122"/>
              </a:rPr>
              <a:t>3</a:t>
            </a:r>
            <a:r>
              <a:rPr lang="zh-CN" altLang="en-US" sz="2800" dirty="0">
                <a:solidFill>
                  <a:srgbClr val="FF0000"/>
                </a:solidFill>
                <a:latin typeface="黑体" panose="02010609060101010101" pitchFamily="1" charset="-122"/>
                <a:ea typeface="黑体" panose="02010609060101010101" pitchFamily="1" charset="-122"/>
              </a:rPr>
              <a:t>、并发执行的正确性准则</a:t>
            </a:r>
            <a:endParaRPr lang="en-US" altLang="x-none" sz="2800" dirty="0">
              <a:solidFill>
                <a:srgbClr val="FF0000"/>
              </a:solidFill>
              <a:latin typeface="黑体" panose="02010609060101010101" pitchFamily="1" charset="-122"/>
              <a:ea typeface="黑体" panose="02010609060101010101" pitchFamily="1" charset="-122"/>
            </a:endParaRPr>
          </a:p>
        </p:txBody>
      </p:sp>
      <p:sp>
        <p:nvSpPr>
          <p:cNvPr id="8" name="Rectangle 2"/>
          <p:cNvSpPr/>
          <p:nvPr/>
        </p:nvSpPr>
        <p:spPr>
          <a:xfrm>
            <a:off x="417513" y="55563"/>
            <a:ext cx="8229600" cy="692150"/>
          </a:xfrm>
          <a:prstGeom prst="rect">
            <a:avLst/>
          </a:prstGeom>
          <a:noFill/>
          <a:ln w="9525">
            <a:noFill/>
          </a:ln>
        </p:spPr>
        <p:txBody>
          <a:bodyPr anchor="ctr"/>
          <a:lstStyle/>
          <a:p>
            <a:pPr lvl="0" indent="0">
              <a:buFont typeface="Wingdings" panose="05000000000000000000" pitchFamily="2" charset="2"/>
              <a:buNone/>
            </a:pPr>
            <a:r>
              <a:rPr lang="zh-CN" altLang="en-US" sz="3200" dirty="0" smtClean="0">
                <a:solidFill>
                  <a:srgbClr val="0033CC"/>
                </a:solidFill>
                <a:latin typeface="Arial" panose="020B0604020202020204" pitchFamily="34" charset="0"/>
                <a:ea typeface="黑体" panose="02010609060101010101" pitchFamily="1" charset="-122"/>
              </a:rPr>
              <a:t>二、并发执行的正确性准则</a:t>
            </a:r>
            <a:endParaRPr lang="zh-CN" altLang="en-US" sz="3200" dirty="0">
              <a:solidFill>
                <a:srgbClr val="0033CC"/>
              </a:solidFill>
              <a:latin typeface="Arial" panose="020B0604020202020204" pitchFamily="34" charset="0"/>
              <a:ea typeface="黑体" panose="02010609060101010101" pitchFamily="1"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5" presetClass="entr" presetSubtype="0" fill="hold" nodeType="clickEffect">
                                  <p:stCondLst>
                                    <p:cond delay="0"/>
                                  </p:stCondLst>
                                  <p:childTnLst>
                                    <p:set>
                                      <p:cBhvr>
                                        <p:cTn id="6" dur="1" fill="hold">
                                          <p:stCondLst>
                                            <p:cond delay="0"/>
                                          </p:stCondLst>
                                        </p:cTn>
                                        <p:tgtEl>
                                          <p:spTgt spid="108546">
                                            <p:txEl>
                                              <p:pRg st="0" end="0"/>
                                            </p:txEl>
                                          </p:spTgt>
                                        </p:tgtEl>
                                        <p:attrNameLst>
                                          <p:attrName>style.visibility</p:attrName>
                                        </p:attrNameLst>
                                      </p:cBhvr>
                                      <p:to>
                                        <p:strVal val="visible"/>
                                      </p:to>
                                    </p:set>
                                    <p:anim calcmode="lin" valueType="num">
                                      <p:cBhvr>
                                        <p:cTn id="7" dur="1000" fill="hold"/>
                                        <p:tgtEl>
                                          <p:spTgt spid="108546">
                                            <p:txEl>
                                              <p:pRg st="0" end="0"/>
                                            </p:txEl>
                                          </p:spTgt>
                                        </p:tgtEl>
                                        <p:attrNameLst>
                                          <p:attrName>ppt_w</p:attrName>
                                        </p:attrNameLst>
                                      </p:cBhvr>
                                      <p:tavLst>
                                        <p:tav tm="0">
                                          <p:val>
                                            <p:strVal val="#ppt_w*0.70"/>
                                          </p:val>
                                        </p:tav>
                                        <p:tav tm="100000">
                                          <p:val>
                                            <p:strVal val="#ppt_w"/>
                                          </p:val>
                                        </p:tav>
                                      </p:tavLst>
                                    </p:anim>
                                    <p:anim calcmode="lin" valueType="num">
                                      <p:cBhvr>
                                        <p:cTn id="8" dur="1000" fill="hold"/>
                                        <p:tgtEl>
                                          <p:spTgt spid="108546">
                                            <p:txEl>
                                              <p:pRg st="0" end="0"/>
                                            </p:txEl>
                                          </p:spTgt>
                                        </p:tgtEl>
                                        <p:attrNameLst>
                                          <p:attrName>ppt_h</p:attrName>
                                        </p:attrNameLst>
                                      </p:cBhvr>
                                      <p:tavLst>
                                        <p:tav tm="0">
                                          <p:val>
                                            <p:strVal val="#ppt_h"/>
                                          </p:val>
                                        </p:tav>
                                        <p:tav tm="100000">
                                          <p:val>
                                            <p:strVal val="#ppt_h"/>
                                          </p:val>
                                        </p:tav>
                                      </p:tavLst>
                                    </p:anim>
                                    <p:animEffect transition="in" filter="fade">
                                      <p:cBhvr>
                                        <p:cTn id="9" dur="1000"/>
                                        <p:tgtEl>
                                          <p:spTgt spid="108546">
                                            <p:txEl>
                                              <p:pRg st="0" end="0"/>
                                            </p:txEl>
                                          </p:spTgt>
                                        </p:tgtEl>
                                      </p:cBhvr>
                                    </p:animEffect>
                                  </p:childTnLst>
                                </p:cTn>
                              </p:par>
                            </p:childTnLst>
                          </p:cTn>
                        </p:par>
                      </p:childTnLst>
                    </p:cTn>
                  </p:par>
                  <p:par>
                    <p:cTn id="10" fill="hold">
                      <p:stCondLst>
                        <p:cond delay="indefinite"/>
                      </p:stCondLst>
                      <p:childTnLst>
                        <p:par>
                          <p:cTn id="11" fill="hold">
                            <p:stCondLst>
                              <p:cond delay="0"/>
                            </p:stCondLst>
                            <p:childTnLst>
                              <p:par>
                                <p:cTn id="12" presetID="16" presetClass="entr" presetSubtype="26" fill="hold" nodeType="clickEffect">
                                  <p:stCondLst>
                                    <p:cond delay="0"/>
                                  </p:stCondLst>
                                  <p:childTnLst>
                                    <p:set>
                                      <p:cBhvr>
                                        <p:cTn id="13" dur="1" fill="hold">
                                          <p:stCondLst>
                                            <p:cond delay="0"/>
                                          </p:stCondLst>
                                        </p:cTn>
                                        <p:tgtEl>
                                          <p:spTgt spid="108546">
                                            <p:txEl>
                                              <p:pRg st="1" end="1"/>
                                            </p:txEl>
                                          </p:spTgt>
                                        </p:tgtEl>
                                        <p:attrNameLst>
                                          <p:attrName>style.visibility</p:attrName>
                                        </p:attrNameLst>
                                      </p:cBhvr>
                                      <p:to>
                                        <p:strVal val="visible"/>
                                      </p:to>
                                    </p:set>
                                    <p:animEffect transition="in" filter="barn(inHorizontal)">
                                      <p:cBhvr>
                                        <p:cTn id="14" dur="500"/>
                                        <p:tgtEl>
                                          <p:spTgt spid="108546">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Text Box 5"/>
          <p:cNvSpPr txBox="1"/>
          <p:nvPr/>
        </p:nvSpPr>
        <p:spPr>
          <a:xfrm>
            <a:off x="519113" y="2420938"/>
            <a:ext cx="3275012" cy="1200150"/>
          </a:xfrm>
          <a:prstGeom prst="rect">
            <a:avLst/>
          </a:prstGeom>
          <a:noFill/>
          <a:ln w="9525">
            <a:noFill/>
          </a:ln>
        </p:spPr>
        <p:txBody>
          <a:bodyPr anchor="t">
            <a:spAutoFit/>
          </a:bodyPr>
          <a:lstStyle/>
          <a:p>
            <a:pPr lvl="0" indent="0" algn="just"/>
            <a:r>
              <a:rPr lang="zh-CN" altLang="en-US" sz="2400" dirty="0">
                <a:solidFill>
                  <a:srgbClr val="CC0000"/>
                </a:solidFill>
                <a:latin typeface="华文楷体" panose="02010600040101010101" pitchFamily="2" charset="-122"/>
                <a:ea typeface="华文楷体" panose="02010600040101010101" pitchFamily="2" charset="-122"/>
                <a:sym typeface="Wingdings" panose="05000000000000000000" pitchFamily="2" charset="2"/>
              </a:rPr>
              <a:t>问题</a:t>
            </a:r>
            <a:r>
              <a:rPr lang="en-US" altLang="x-none" sz="2400" dirty="0">
                <a:solidFill>
                  <a:srgbClr val="CC0000"/>
                </a:solidFill>
                <a:latin typeface="华文楷体" panose="02010600040101010101" pitchFamily="2" charset="-122"/>
                <a:ea typeface="华文楷体" panose="02010600040101010101" pitchFamily="2" charset="-122"/>
                <a:sym typeface="Wingdings" panose="05000000000000000000" pitchFamily="2" charset="2"/>
              </a:rPr>
              <a:t>1</a:t>
            </a:r>
            <a:r>
              <a:rPr lang="zh-CN" altLang="en-US" sz="2400" dirty="0">
                <a:solidFill>
                  <a:srgbClr val="CC0000"/>
                </a:solidFill>
                <a:latin typeface="华文楷体" panose="02010600040101010101" pitchFamily="2" charset="-122"/>
                <a:ea typeface="华文楷体" panose="02010600040101010101" pitchFamily="2" charset="-122"/>
                <a:sym typeface="Wingdings" panose="05000000000000000000" pitchFamily="2" charset="2"/>
              </a:rPr>
              <a:t>答案：</a:t>
            </a:r>
            <a:endParaRPr lang="zh-CN" altLang="en-US" sz="2400" dirty="0">
              <a:solidFill>
                <a:srgbClr val="CC0000"/>
              </a:solidFill>
              <a:latin typeface="华文楷体" panose="02010600040101010101" pitchFamily="2" charset="-122"/>
              <a:ea typeface="华文楷体" panose="02010600040101010101" pitchFamily="2" charset="-122"/>
              <a:sym typeface="Wingdings" panose="05000000000000000000" pitchFamily="2" charset="2"/>
            </a:endParaRPr>
          </a:p>
          <a:p>
            <a:pPr lvl="0" indent="0" algn="just"/>
            <a:r>
              <a:rPr lang="zh-CN" altLang="en-US" sz="2400" dirty="0">
                <a:latin typeface="华文楷体" panose="02010600040101010101" pitchFamily="2" charset="-122"/>
                <a:ea typeface="华文楷体" panose="02010600040101010101" pitchFamily="2" charset="-122"/>
                <a:sym typeface="Wingdings" panose="05000000000000000000" pitchFamily="2" charset="2"/>
              </a:rPr>
              <a:t>图中无回路，因此，该并发调度为可串行调度！</a:t>
            </a:r>
            <a:endParaRPr lang="zh-CN" altLang="en-US" sz="2400" dirty="0">
              <a:latin typeface="华文楷体" panose="02010600040101010101" pitchFamily="2" charset="-122"/>
              <a:ea typeface="华文楷体" panose="02010600040101010101" pitchFamily="2" charset="-122"/>
              <a:sym typeface="Wingdings" panose="05000000000000000000" pitchFamily="2" charset="2"/>
            </a:endParaRPr>
          </a:p>
        </p:txBody>
      </p:sp>
      <p:sp>
        <p:nvSpPr>
          <p:cNvPr id="105474" name="Rectangle 6"/>
          <p:cNvSpPr/>
          <p:nvPr/>
        </p:nvSpPr>
        <p:spPr>
          <a:xfrm>
            <a:off x="250825" y="5470525"/>
            <a:ext cx="8642350" cy="765175"/>
          </a:xfrm>
          <a:prstGeom prst="rect">
            <a:avLst/>
          </a:prstGeom>
          <a:solidFill>
            <a:schemeClr val="bg1"/>
          </a:solidFill>
          <a:ln w="9525">
            <a:noFill/>
          </a:ln>
        </p:spPr>
        <p:txBody>
          <a:bodyPr wrap="none" lIns="90000" tIns="46800" rIns="90000" bIns="46800" anchor="ctr"/>
          <a:lstStyle/>
          <a:p>
            <a:pPr lvl="0" indent="0"/>
            <a:endParaRPr lang="zh-CN" altLang="en-US" dirty="0">
              <a:latin typeface="Arial" panose="020B0604020202020204" pitchFamily="34" charset="0"/>
              <a:ea typeface="宋体" panose="02010600030101010101" pitchFamily="2" charset="-122"/>
            </a:endParaRPr>
          </a:p>
        </p:txBody>
      </p:sp>
      <p:grpSp>
        <p:nvGrpSpPr>
          <p:cNvPr id="2" name="Group 7"/>
          <p:cNvGrpSpPr/>
          <p:nvPr/>
        </p:nvGrpSpPr>
        <p:grpSpPr>
          <a:xfrm>
            <a:off x="395288" y="3814763"/>
            <a:ext cx="3132137" cy="2073275"/>
            <a:chOff x="0" y="0"/>
            <a:chExt cx="1927" cy="1496"/>
          </a:xfrm>
        </p:grpSpPr>
        <p:sp>
          <p:nvSpPr>
            <p:cNvPr id="105476" name="Oval 8"/>
            <p:cNvSpPr/>
            <p:nvPr/>
          </p:nvSpPr>
          <p:spPr>
            <a:xfrm>
              <a:off x="340" y="199"/>
              <a:ext cx="170" cy="142"/>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lstStyle/>
            <a:p>
              <a:pPr lvl="0" indent="0"/>
              <a:endParaRPr lang="zh-CN" altLang="en-US" dirty="0">
                <a:latin typeface="Arial" panose="020B0604020202020204" pitchFamily="34" charset="0"/>
                <a:ea typeface="宋体" panose="02010600030101010101" pitchFamily="2" charset="-122"/>
              </a:endParaRPr>
            </a:p>
          </p:txBody>
        </p:sp>
        <p:sp>
          <p:nvSpPr>
            <p:cNvPr id="105477" name="Oval 9"/>
            <p:cNvSpPr/>
            <p:nvPr/>
          </p:nvSpPr>
          <p:spPr>
            <a:xfrm>
              <a:off x="1473" y="227"/>
              <a:ext cx="170" cy="142"/>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lstStyle/>
            <a:p>
              <a:pPr lvl="0" indent="0"/>
              <a:endParaRPr lang="zh-CN" altLang="en-US" dirty="0">
                <a:latin typeface="Arial" panose="020B0604020202020204" pitchFamily="34" charset="0"/>
                <a:ea typeface="宋体" panose="02010600030101010101" pitchFamily="2" charset="-122"/>
              </a:endParaRPr>
            </a:p>
          </p:txBody>
        </p:sp>
        <p:sp>
          <p:nvSpPr>
            <p:cNvPr id="105478" name="Oval 10"/>
            <p:cNvSpPr/>
            <p:nvPr/>
          </p:nvSpPr>
          <p:spPr>
            <a:xfrm>
              <a:off x="340" y="1162"/>
              <a:ext cx="170" cy="142"/>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lstStyle/>
            <a:p>
              <a:pPr lvl="0" indent="0"/>
              <a:endParaRPr lang="zh-CN" altLang="en-US" dirty="0">
                <a:latin typeface="Arial" panose="020B0604020202020204" pitchFamily="34" charset="0"/>
                <a:ea typeface="宋体" panose="02010600030101010101" pitchFamily="2" charset="-122"/>
              </a:endParaRPr>
            </a:p>
          </p:txBody>
        </p:sp>
        <p:sp>
          <p:nvSpPr>
            <p:cNvPr id="105479" name="Oval 11"/>
            <p:cNvSpPr/>
            <p:nvPr/>
          </p:nvSpPr>
          <p:spPr>
            <a:xfrm>
              <a:off x="1502" y="1162"/>
              <a:ext cx="170" cy="142"/>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lstStyle/>
            <a:p>
              <a:pPr lvl="0" indent="0"/>
              <a:endParaRPr lang="zh-CN" altLang="en-US" dirty="0">
                <a:latin typeface="Arial" panose="020B0604020202020204" pitchFamily="34" charset="0"/>
                <a:ea typeface="宋体" panose="02010600030101010101" pitchFamily="2" charset="-122"/>
              </a:endParaRPr>
            </a:p>
          </p:txBody>
        </p:sp>
        <p:sp>
          <p:nvSpPr>
            <p:cNvPr id="105480" name="Text Box 12"/>
            <p:cNvSpPr txBox="1"/>
            <p:nvPr/>
          </p:nvSpPr>
          <p:spPr>
            <a:xfrm>
              <a:off x="0" y="7"/>
              <a:ext cx="198" cy="220"/>
            </a:xfrm>
            <a:prstGeom prst="rect">
              <a:avLst/>
            </a:prstGeom>
            <a:noFill/>
            <a:ln w="9525">
              <a:noFill/>
            </a:ln>
          </p:spPr>
          <p:txBody>
            <a:bodyPr lIns="0" tIns="0" rIns="0" bIns="0" anchor="t">
              <a:spAutoFit/>
            </a:bodyPr>
            <a:lstStyle/>
            <a:p>
              <a:pPr lvl="0" indent="0" algn="ctr">
                <a:spcBef>
                  <a:spcPct val="50000"/>
                </a:spcBef>
              </a:pPr>
              <a:r>
                <a:rPr lang="en-US" altLang="x-none" sz="2000" dirty="0">
                  <a:latin typeface="Arial" panose="020B0604020202020204" pitchFamily="34" charset="0"/>
                  <a:ea typeface="宋体" panose="02010600030101010101" pitchFamily="2" charset="-122"/>
                </a:rPr>
                <a:t>T1</a:t>
              </a:r>
              <a:endParaRPr lang="en-US" altLang="x-none" sz="2000" dirty="0">
                <a:latin typeface="Arial" panose="020B0604020202020204" pitchFamily="34" charset="0"/>
                <a:ea typeface="宋体" panose="02010600030101010101" pitchFamily="2" charset="-122"/>
              </a:endParaRPr>
            </a:p>
          </p:txBody>
        </p:sp>
        <p:sp>
          <p:nvSpPr>
            <p:cNvPr id="105481" name="Text Box 13"/>
            <p:cNvSpPr txBox="1"/>
            <p:nvPr/>
          </p:nvSpPr>
          <p:spPr>
            <a:xfrm>
              <a:off x="1729" y="1276"/>
              <a:ext cx="198" cy="220"/>
            </a:xfrm>
            <a:prstGeom prst="rect">
              <a:avLst/>
            </a:prstGeom>
            <a:noFill/>
            <a:ln w="9525">
              <a:noFill/>
            </a:ln>
          </p:spPr>
          <p:txBody>
            <a:bodyPr lIns="0" tIns="0" rIns="0" bIns="0" anchor="t">
              <a:spAutoFit/>
            </a:bodyPr>
            <a:lstStyle/>
            <a:p>
              <a:pPr lvl="0" indent="0" algn="ctr">
                <a:spcBef>
                  <a:spcPct val="50000"/>
                </a:spcBef>
              </a:pPr>
              <a:r>
                <a:rPr lang="en-US" altLang="x-none" sz="2000" dirty="0">
                  <a:latin typeface="Arial" panose="020B0604020202020204" pitchFamily="34" charset="0"/>
                  <a:ea typeface="宋体" panose="02010600030101010101" pitchFamily="2" charset="-122"/>
                </a:rPr>
                <a:t>T4</a:t>
              </a:r>
              <a:endParaRPr lang="en-US" altLang="x-none" sz="2000" dirty="0">
                <a:latin typeface="Arial" panose="020B0604020202020204" pitchFamily="34" charset="0"/>
                <a:ea typeface="宋体" panose="02010600030101010101" pitchFamily="2" charset="-122"/>
              </a:endParaRPr>
            </a:p>
          </p:txBody>
        </p:sp>
        <p:sp>
          <p:nvSpPr>
            <p:cNvPr id="105482" name="Text Box 14"/>
            <p:cNvSpPr txBox="1"/>
            <p:nvPr/>
          </p:nvSpPr>
          <p:spPr>
            <a:xfrm>
              <a:off x="28" y="1276"/>
              <a:ext cx="198" cy="220"/>
            </a:xfrm>
            <a:prstGeom prst="rect">
              <a:avLst/>
            </a:prstGeom>
            <a:noFill/>
            <a:ln w="9525">
              <a:noFill/>
            </a:ln>
          </p:spPr>
          <p:txBody>
            <a:bodyPr lIns="0" tIns="0" rIns="0" bIns="0" anchor="t">
              <a:spAutoFit/>
            </a:bodyPr>
            <a:lstStyle/>
            <a:p>
              <a:pPr lvl="0" indent="0" algn="ctr">
                <a:spcBef>
                  <a:spcPct val="50000"/>
                </a:spcBef>
              </a:pPr>
              <a:r>
                <a:rPr lang="en-US" altLang="x-none" sz="2000" dirty="0">
                  <a:latin typeface="Arial" panose="020B0604020202020204" pitchFamily="34" charset="0"/>
                  <a:ea typeface="宋体" panose="02010600030101010101" pitchFamily="2" charset="-122"/>
                </a:rPr>
                <a:t>T3</a:t>
              </a:r>
              <a:endParaRPr lang="en-US" altLang="x-none" sz="2000" dirty="0">
                <a:latin typeface="Arial" panose="020B0604020202020204" pitchFamily="34" charset="0"/>
                <a:ea typeface="宋体" panose="02010600030101010101" pitchFamily="2" charset="-122"/>
              </a:endParaRPr>
            </a:p>
          </p:txBody>
        </p:sp>
        <p:sp>
          <p:nvSpPr>
            <p:cNvPr id="105483" name="Text Box 15"/>
            <p:cNvSpPr txBox="1"/>
            <p:nvPr/>
          </p:nvSpPr>
          <p:spPr>
            <a:xfrm>
              <a:off x="1672" y="0"/>
              <a:ext cx="198" cy="220"/>
            </a:xfrm>
            <a:prstGeom prst="rect">
              <a:avLst/>
            </a:prstGeom>
            <a:noFill/>
            <a:ln w="9525">
              <a:noFill/>
            </a:ln>
          </p:spPr>
          <p:txBody>
            <a:bodyPr lIns="0" tIns="0" rIns="0" bIns="0" anchor="t">
              <a:spAutoFit/>
            </a:bodyPr>
            <a:lstStyle/>
            <a:p>
              <a:pPr lvl="0" indent="0" algn="ctr">
                <a:spcBef>
                  <a:spcPct val="50000"/>
                </a:spcBef>
              </a:pPr>
              <a:r>
                <a:rPr lang="en-US" altLang="x-none" sz="2000" dirty="0">
                  <a:latin typeface="Arial" panose="020B0604020202020204" pitchFamily="34" charset="0"/>
                  <a:ea typeface="宋体" panose="02010600030101010101" pitchFamily="2" charset="-122"/>
                </a:rPr>
                <a:t>T2</a:t>
              </a:r>
              <a:endParaRPr lang="en-US" altLang="x-none" sz="2000" dirty="0">
                <a:latin typeface="Arial" panose="020B0604020202020204" pitchFamily="34" charset="0"/>
                <a:ea typeface="宋体" panose="02010600030101010101" pitchFamily="2" charset="-122"/>
              </a:endParaRPr>
            </a:p>
          </p:txBody>
        </p:sp>
        <p:sp>
          <p:nvSpPr>
            <p:cNvPr id="105484" name="Line 16"/>
            <p:cNvSpPr/>
            <p:nvPr/>
          </p:nvSpPr>
          <p:spPr>
            <a:xfrm>
              <a:off x="510" y="284"/>
              <a:ext cx="963" cy="0"/>
            </a:xfrm>
            <a:prstGeom prst="line">
              <a:avLst/>
            </a:prstGeom>
            <a:ln w="28575" cap="flat" cmpd="sng">
              <a:solidFill>
                <a:schemeClr val="tx1"/>
              </a:solidFill>
              <a:prstDash val="solid"/>
              <a:round/>
              <a:headEnd type="none" w="med" len="med"/>
              <a:tailEnd type="arrow" w="lg" len="med"/>
            </a:ln>
          </p:spPr>
        </p:sp>
        <p:sp>
          <p:nvSpPr>
            <p:cNvPr id="105485" name="Line 17"/>
            <p:cNvSpPr/>
            <p:nvPr/>
          </p:nvSpPr>
          <p:spPr>
            <a:xfrm>
              <a:off x="425" y="340"/>
              <a:ext cx="0" cy="822"/>
            </a:xfrm>
            <a:prstGeom prst="line">
              <a:avLst/>
            </a:prstGeom>
            <a:ln w="38100" cap="flat" cmpd="sng">
              <a:solidFill>
                <a:schemeClr val="tx1"/>
              </a:solidFill>
              <a:prstDash val="solid"/>
              <a:round/>
              <a:headEnd type="none" w="med" len="med"/>
              <a:tailEnd type="arrow" w="lg" len="med"/>
            </a:ln>
          </p:spPr>
        </p:sp>
        <p:sp>
          <p:nvSpPr>
            <p:cNvPr id="105486" name="Line 18"/>
            <p:cNvSpPr/>
            <p:nvPr/>
          </p:nvSpPr>
          <p:spPr>
            <a:xfrm>
              <a:off x="481" y="313"/>
              <a:ext cx="1021" cy="879"/>
            </a:xfrm>
            <a:prstGeom prst="line">
              <a:avLst/>
            </a:prstGeom>
            <a:ln w="38100" cap="flat" cmpd="sng">
              <a:solidFill>
                <a:schemeClr val="tx1"/>
              </a:solidFill>
              <a:prstDash val="solid"/>
              <a:round/>
              <a:headEnd type="none" w="med" len="med"/>
              <a:tailEnd type="arrow" w="lg" len="med"/>
            </a:ln>
          </p:spPr>
        </p:sp>
        <p:sp>
          <p:nvSpPr>
            <p:cNvPr id="105487" name="Line 19"/>
            <p:cNvSpPr/>
            <p:nvPr/>
          </p:nvSpPr>
          <p:spPr>
            <a:xfrm>
              <a:off x="510" y="1248"/>
              <a:ext cx="992" cy="0"/>
            </a:xfrm>
            <a:prstGeom prst="line">
              <a:avLst/>
            </a:prstGeom>
            <a:ln w="38100" cap="flat" cmpd="sng">
              <a:solidFill>
                <a:schemeClr val="tx1"/>
              </a:solidFill>
              <a:prstDash val="solid"/>
              <a:round/>
              <a:headEnd type="none" w="med" len="med"/>
              <a:tailEnd type="arrow" w="lg" len="med"/>
            </a:ln>
          </p:spPr>
        </p:sp>
        <p:sp>
          <p:nvSpPr>
            <p:cNvPr id="105488" name="Line 20"/>
            <p:cNvSpPr/>
            <p:nvPr/>
          </p:nvSpPr>
          <p:spPr>
            <a:xfrm>
              <a:off x="1559" y="369"/>
              <a:ext cx="0" cy="793"/>
            </a:xfrm>
            <a:prstGeom prst="line">
              <a:avLst/>
            </a:prstGeom>
            <a:ln w="38100" cap="flat" cmpd="sng">
              <a:solidFill>
                <a:schemeClr val="tx1"/>
              </a:solidFill>
              <a:prstDash val="solid"/>
              <a:round/>
              <a:headEnd type="none" w="med" len="med"/>
              <a:tailEnd type="arrow" w="lg" len="med"/>
            </a:ln>
          </p:spPr>
        </p:sp>
        <p:sp>
          <p:nvSpPr>
            <p:cNvPr id="105489" name="Line 21"/>
            <p:cNvSpPr/>
            <p:nvPr/>
          </p:nvSpPr>
          <p:spPr>
            <a:xfrm flipV="1">
              <a:off x="481" y="369"/>
              <a:ext cx="1021" cy="793"/>
            </a:xfrm>
            <a:prstGeom prst="line">
              <a:avLst/>
            </a:prstGeom>
            <a:ln w="38100" cap="flat" cmpd="sng">
              <a:solidFill>
                <a:schemeClr val="tx1"/>
              </a:solidFill>
              <a:prstDash val="solid"/>
              <a:round/>
              <a:headEnd type="none" w="med" len="med"/>
              <a:tailEnd type="arrow" w="lg" len="med"/>
            </a:ln>
          </p:spPr>
        </p:sp>
      </p:grpSp>
      <p:graphicFrame>
        <p:nvGraphicFramePr>
          <p:cNvPr id="109587" name="Object 2"/>
          <p:cNvGraphicFramePr/>
          <p:nvPr/>
        </p:nvGraphicFramePr>
        <p:xfrm>
          <a:off x="3276600" y="2951163"/>
          <a:ext cx="2641600" cy="2870200"/>
        </p:xfrm>
        <a:graphic>
          <a:graphicData uri="http://schemas.openxmlformats.org/presentationml/2006/ole">
            <mc:AlternateContent xmlns:mc="http://schemas.openxmlformats.org/markup-compatibility/2006">
              <mc:Choice xmlns:v="urn:schemas-microsoft-com:vml" Requires="v">
                <p:oleObj spid="_x0000_s6171" name="" r:id="rId1" imgW="1644650" imgH="1790700" progId="Word.Picture.8">
                  <p:embed/>
                </p:oleObj>
              </mc:Choice>
              <mc:Fallback>
                <p:oleObj name="" r:id="rId1" imgW="1644650" imgH="1790700" progId="Word.Picture.8">
                  <p:embed/>
                  <p:pic>
                    <p:nvPicPr>
                      <p:cNvPr id="0" name="图片 5120" descr="image24"/>
                      <p:cNvPicPr/>
                      <p:nvPr/>
                    </p:nvPicPr>
                    <p:blipFill>
                      <a:blip r:embed="rId2"/>
                      <a:stretch>
                        <a:fillRect/>
                      </a:stretch>
                    </p:blipFill>
                    <p:spPr>
                      <a:xfrm>
                        <a:off x="3276600" y="2951163"/>
                        <a:ext cx="2641600" cy="2870200"/>
                      </a:xfrm>
                      <a:prstGeom prst="rect">
                        <a:avLst/>
                      </a:prstGeom>
                      <a:noFill/>
                      <a:ln w="38100">
                        <a:noFill/>
                      </a:ln>
                    </p:spPr>
                  </p:pic>
                </p:oleObj>
              </mc:Fallback>
            </mc:AlternateContent>
          </a:graphicData>
        </a:graphic>
      </p:graphicFrame>
      <p:graphicFrame>
        <p:nvGraphicFramePr>
          <p:cNvPr id="109588" name="Object 3"/>
          <p:cNvGraphicFramePr/>
          <p:nvPr/>
        </p:nvGraphicFramePr>
        <p:xfrm>
          <a:off x="5724525" y="3167063"/>
          <a:ext cx="3419475" cy="2560637"/>
        </p:xfrm>
        <a:graphic>
          <a:graphicData uri="http://schemas.openxmlformats.org/presentationml/2006/ole">
            <mc:AlternateContent xmlns:mc="http://schemas.openxmlformats.org/markup-compatibility/2006">
              <mc:Choice xmlns:v="urn:schemas-microsoft-com:vml" Requires="v">
                <p:oleObj spid="_x0000_s6172" name="" r:id="rId3" imgW="2386330" imgH="1790700" progId="Word.Picture.8">
                  <p:embed/>
                </p:oleObj>
              </mc:Choice>
              <mc:Fallback>
                <p:oleObj name="" r:id="rId3" imgW="2386330" imgH="1790700" progId="Word.Picture.8">
                  <p:embed/>
                  <p:pic>
                    <p:nvPicPr>
                      <p:cNvPr id="0" name="图片 5121" descr="image25"/>
                      <p:cNvPicPr/>
                      <p:nvPr/>
                    </p:nvPicPr>
                    <p:blipFill>
                      <a:blip r:embed="rId4"/>
                      <a:stretch>
                        <a:fillRect/>
                      </a:stretch>
                    </p:blipFill>
                    <p:spPr>
                      <a:xfrm>
                        <a:off x="5724525" y="3167063"/>
                        <a:ext cx="3419475" cy="2560637"/>
                      </a:xfrm>
                      <a:prstGeom prst="rect">
                        <a:avLst/>
                      </a:prstGeom>
                      <a:solidFill>
                        <a:srgbClr val="FFFFFF"/>
                      </a:solidFill>
                      <a:ln w="38100">
                        <a:noFill/>
                      </a:ln>
                    </p:spPr>
                  </p:pic>
                </p:oleObj>
              </mc:Fallback>
            </mc:AlternateContent>
          </a:graphicData>
        </a:graphic>
      </p:graphicFrame>
      <p:sp>
        <p:nvSpPr>
          <p:cNvPr id="109589" name="Text Box 24"/>
          <p:cNvSpPr txBox="1"/>
          <p:nvPr/>
        </p:nvSpPr>
        <p:spPr>
          <a:xfrm>
            <a:off x="4343400" y="2027238"/>
            <a:ext cx="4446588" cy="1200150"/>
          </a:xfrm>
          <a:prstGeom prst="rect">
            <a:avLst/>
          </a:prstGeom>
          <a:noFill/>
          <a:ln w="9525">
            <a:noFill/>
          </a:ln>
        </p:spPr>
        <p:txBody>
          <a:bodyPr anchor="t">
            <a:spAutoFit/>
          </a:bodyPr>
          <a:lstStyle/>
          <a:p>
            <a:pPr lvl="0" indent="0" algn="just"/>
            <a:r>
              <a:rPr lang="zh-CN" altLang="en-US" sz="2400" dirty="0">
                <a:solidFill>
                  <a:srgbClr val="CC0000"/>
                </a:solidFill>
                <a:latin typeface="华文楷体" panose="02010600040101010101" pitchFamily="2" charset="-122"/>
                <a:ea typeface="华文楷体" panose="02010600040101010101" pitchFamily="2" charset="-122"/>
                <a:sym typeface="Wingdings" panose="05000000000000000000" pitchFamily="2" charset="2"/>
              </a:rPr>
              <a:t>问题</a:t>
            </a:r>
            <a:r>
              <a:rPr lang="en-US" altLang="x-none" sz="2400" dirty="0">
                <a:solidFill>
                  <a:srgbClr val="CC0000"/>
                </a:solidFill>
                <a:latin typeface="华文楷体" panose="02010600040101010101" pitchFamily="2" charset="-122"/>
                <a:ea typeface="华文楷体" panose="02010600040101010101" pitchFamily="2" charset="-122"/>
                <a:sym typeface="Wingdings" panose="05000000000000000000" pitchFamily="2" charset="2"/>
              </a:rPr>
              <a:t>2</a:t>
            </a:r>
            <a:r>
              <a:rPr lang="zh-CN" altLang="en-US" sz="2400" dirty="0">
                <a:solidFill>
                  <a:srgbClr val="CC0000"/>
                </a:solidFill>
                <a:latin typeface="华文楷体" panose="02010600040101010101" pitchFamily="2" charset="-122"/>
                <a:ea typeface="华文楷体" panose="02010600040101010101" pitchFamily="2" charset="-122"/>
                <a:sym typeface="Wingdings" panose="05000000000000000000" pitchFamily="2" charset="2"/>
              </a:rPr>
              <a:t>答案：</a:t>
            </a:r>
            <a:endParaRPr lang="zh-CN" altLang="en-US" sz="2400" dirty="0">
              <a:solidFill>
                <a:srgbClr val="CC0000"/>
              </a:solidFill>
              <a:latin typeface="华文楷体" panose="02010600040101010101" pitchFamily="2" charset="-122"/>
              <a:ea typeface="华文楷体" panose="02010600040101010101" pitchFamily="2" charset="-122"/>
              <a:sym typeface="Wingdings" panose="05000000000000000000" pitchFamily="2" charset="2"/>
            </a:endParaRPr>
          </a:p>
          <a:p>
            <a:pPr lvl="0" indent="0" algn="just"/>
            <a:r>
              <a:rPr lang="zh-CN" altLang="en-US" sz="2400" dirty="0">
                <a:latin typeface="华文楷体" panose="02010600040101010101" pitchFamily="2" charset="-122"/>
                <a:ea typeface="华文楷体" panose="02010600040101010101" pitchFamily="2" charset="-122"/>
                <a:sym typeface="Wingdings" panose="05000000000000000000" pitchFamily="2" charset="2"/>
              </a:rPr>
              <a:t>与该并发调度等价的串行调度为：</a:t>
            </a:r>
            <a:r>
              <a:rPr lang="en-US" altLang="x-none" sz="2400" dirty="0">
                <a:latin typeface="华文楷体" panose="02010600040101010101" pitchFamily="2" charset="-122"/>
                <a:ea typeface="华文楷体" panose="02010600040101010101" pitchFamily="2" charset="-122"/>
                <a:sym typeface="Wingdings" panose="05000000000000000000" pitchFamily="2" charset="2"/>
              </a:rPr>
              <a:t>T1</a:t>
            </a:r>
            <a:r>
              <a:rPr lang="zh-CN" altLang="en-US" sz="2400" dirty="0">
                <a:latin typeface="华文楷体" panose="02010600040101010101" pitchFamily="2" charset="-122"/>
                <a:ea typeface="华文楷体" panose="02010600040101010101" pitchFamily="2" charset="-122"/>
                <a:sym typeface="Wingdings" panose="05000000000000000000" pitchFamily="2" charset="2"/>
              </a:rPr>
              <a:t>、</a:t>
            </a:r>
            <a:r>
              <a:rPr lang="en-US" altLang="x-none" sz="2400" dirty="0">
                <a:latin typeface="华文楷体" panose="02010600040101010101" pitchFamily="2" charset="-122"/>
                <a:ea typeface="华文楷体" panose="02010600040101010101" pitchFamily="2" charset="-122"/>
                <a:sym typeface="Wingdings" panose="05000000000000000000" pitchFamily="2" charset="2"/>
              </a:rPr>
              <a:t>T3</a:t>
            </a:r>
            <a:r>
              <a:rPr lang="zh-CN" altLang="en-US" sz="2400" dirty="0">
                <a:latin typeface="华文楷体" panose="02010600040101010101" pitchFamily="2" charset="-122"/>
                <a:ea typeface="华文楷体" panose="02010600040101010101" pitchFamily="2" charset="-122"/>
                <a:sym typeface="Wingdings" panose="05000000000000000000" pitchFamily="2" charset="2"/>
              </a:rPr>
              <a:t>、</a:t>
            </a:r>
            <a:r>
              <a:rPr lang="en-US" altLang="x-none" sz="2400" dirty="0">
                <a:latin typeface="华文楷体" panose="02010600040101010101" pitchFamily="2" charset="-122"/>
                <a:ea typeface="华文楷体" panose="02010600040101010101" pitchFamily="2" charset="-122"/>
                <a:sym typeface="Wingdings" panose="05000000000000000000" pitchFamily="2" charset="2"/>
              </a:rPr>
              <a:t>T2</a:t>
            </a:r>
            <a:r>
              <a:rPr lang="zh-CN" altLang="en-US" sz="2400" dirty="0">
                <a:latin typeface="华文楷体" panose="02010600040101010101" pitchFamily="2" charset="-122"/>
                <a:ea typeface="华文楷体" panose="02010600040101010101" pitchFamily="2" charset="-122"/>
                <a:sym typeface="Wingdings" panose="05000000000000000000" pitchFamily="2" charset="2"/>
              </a:rPr>
              <a:t>、</a:t>
            </a:r>
            <a:r>
              <a:rPr lang="en-US" altLang="x-none" sz="2400" dirty="0">
                <a:latin typeface="华文楷体" panose="02010600040101010101" pitchFamily="2" charset="-122"/>
                <a:ea typeface="华文楷体" panose="02010600040101010101" pitchFamily="2" charset="-122"/>
                <a:sym typeface="Wingdings" panose="05000000000000000000" pitchFamily="2" charset="2"/>
              </a:rPr>
              <a:t>T4</a:t>
            </a:r>
            <a:r>
              <a:rPr lang="zh-CN" altLang="en-US" sz="2400" dirty="0">
                <a:latin typeface="华文楷体" panose="02010600040101010101" pitchFamily="2" charset="-122"/>
                <a:ea typeface="华文楷体" panose="02010600040101010101" pitchFamily="2" charset="-122"/>
                <a:sym typeface="Wingdings" panose="05000000000000000000" pitchFamily="2" charset="2"/>
              </a:rPr>
              <a:t>。</a:t>
            </a:r>
            <a:endParaRPr lang="zh-CN" altLang="en-US" sz="2400" dirty="0">
              <a:latin typeface="华文楷体" panose="02010600040101010101" pitchFamily="2" charset="-122"/>
              <a:ea typeface="华文楷体" panose="02010600040101010101" pitchFamily="2" charset="-122"/>
              <a:sym typeface="Wingdings" panose="05000000000000000000" pitchFamily="2" charset="2"/>
            </a:endParaRPr>
          </a:p>
        </p:txBody>
      </p:sp>
      <p:sp>
        <p:nvSpPr>
          <p:cNvPr id="109590" name="Oval 25"/>
          <p:cNvSpPr/>
          <p:nvPr/>
        </p:nvSpPr>
        <p:spPr>
          <a:xfrm>
            <a:off x="755650" y="3946525"/>
            <a:ext cx="576263" cy="503238"/>
          </a:xfrm>
          <a:prstGeom prst="ellipse">
            <a:avLst/>
          </a:prstGeom>
          <a:noFill/>
          <a:ln w="38100" cap="flat" cmpd="sng">
            <a:solidFill>
              <a:srgbClr val="CC0000"/>
            </a:solidFill>
            <a:prstDash val="solid"/>
            <a:round/>
            <a:headEnd type="none" w="med" len="med"/>
            <a:tailEnd type="none" w="med" len="med"/>
          </a:ln>
        </p:spPr>
        <p:txBody>
          <a:bodyPr wrap="none" lIns="90000" tIns="46800" rIns="90000" bIns="46800" anchor="ctr"/>
          <a:lstStyle/>
          <a:p>
            <a:pPr lvl="0" indent="0"/>
            <a:endParaRPr lang="zh-CN" altLang="en-US" dirty="0">
              <a:latin typeface="Arial" panose="020B0604020202020204" pitchFamily="34" charset="0"/>
              <a:ea typeface="宋体" panose="02010600030101010101" pitchFamily="2" charset="-122"/>
            </a:endParaRPr>
          </a:p>
        </p:txBody>
      </p:sp>
      <p:sp>
        <p:nvSpPr>
          <p:cNvPr id="109591" name="Oval 26"/>
          <p:cNvSpPr/>
          <p:nvPr/>
        </p:nvSpPr>
        <p:spPr>
          <a:xfrm>
            <a:off x="4067175" y="5327650"/>
            <a:ext cx="576263" cy="503238"/>
          </a:xfrm>
          <a:prstGeom prst="ellipse">
            <a:avLst/>
          </a:prstGeom>
          <a:noFill/>
          <a:ln w="38100" cap="flat" cmpd="sng">
            <a:solidFill>
              <a:srgbClr val="CC0000"/>
            </a:solidFill>
            <a:prstDash val="solid"/>
            <a:round/>
            <a:headEnd type="none" w="med" len="med"/>
            <a:tailEnd type="none" w="med" len="med"/>
          </a:ln>
        </p:spPr>
        <p:txBody>
          <a:bodyPr wrap="none" lIns="90000" tIns="46800" rIns="90000" bIns="46800" anchor="ctr"/>
          <a:lstStyle/>
          <a:p>
            <a:pPr lvl="0" indent="0"/>
            <a:endParaRPr lang="zh-CN" altLang="en-US" dirty="0">
              <a:latin typeface="Arial" panose="020B0604020202020204" pitchFamily="34" charset="0"/>
              <a:ea typeface="宋体" panose="02010600030101010101" pitchFamily="2" charset="-122"/>
            </a:endParaRPr>
          </a:p>
        </p:txBody>
      </p:sp>
      <p:sp>
        <p:nvSpPr>
          <p:cNvPr id="109592" name="Oval 27"/>
          <p:cNvSpPr/>
          <p:nvPr/>
        </p:nvSpPr>
        <p:spPr>
          <a:xfrm>
            <a:off x="3708400" y="4391025"/>
            <a:ext cx="431800" cy="431800"/>
          </a:xfrm>
          <a:prstGeom prst="ellipse">
            <a:avLst/>
          </a:prstGeom>
          <a:noFill/>
          <a:ln w="38100" cap="flat" cmpd="sng">
            <a:solidFill>
              <a:srgbClr val="CC0000"/>
            </a:solidFill>
            <a:prstDash val="solid"/>
            <a:round/>
            <a:headEnd type="none" w="med" len="med"/>
            <a:tailEnd type="none" w="med" len="med"/>
          </a:ln>
        </p:spPr>
        <p:txBody>
          <a:bodyPr wrap="none" lIns="90000" tIns="46800" rIns="90000" bIns="46800" anchor="ctr"/>
          <a:lstStyle/>
          <a:p>
            <a:pPr lvl="0" indent="0"/>
            <a:endParaRPr lang="zh-CN" altLang="en-US" dirty="0">
              <a:latin typeface="Arial" panose="020B0604020202020204" pitchFamily="34" charset="0"/>
              <a:ea typeface="宋体" panose="02010600030101010101" pitchFamily="2" charset="-122"/>
            </a:endParaRPr>
          </a:p>
        </p:txBody>
      </p:sp>
      <p:sp>
        <p:nvSpPr>
          <p:cNvPr id="109593" name="Text Box 28"/>
          <p:cNvSpPr txBox="1"/>
          <p:nvPr/>
        </p:nvSpPr>
        <p:spPr>
          <a:xfrm>
            <a:off x="684213" y="4894263"/>
            <a:ext cx="8137525" cy="1004887"/>
          </a:xfrm>
          <a:prstGeom prst="rect">
            <a:avLst/>
          </a:prstGeom>
          <a:solidFill>
            <a:srgbClr val="000099"/>
          </a:solidFill>
          <a:ln w="9525">
            <a:noFill/>
          </a:ln>
        </p:spPr>
        <p:txBody>
          <a:bodyPr lIns="90000" tIns="46800" rIns="90000" bIns="46800" anchor="t">
            <a:spAutoFit/>
          </a:bodyPr>
          <a:lstStyle/>
          <a:p>
            <a:pPr lvl="0" indent="0">
              <a:spcBef>
                <a:spcPct val="50000"/>
              </a:spcBef>
            </a:pPr>
            <a:r>
              <a:rPr lang="en-US" altLang="x-none" sz="2400" dirty="0">
                <a:solidFill>
                  <a:srgbClr val="FFFFFF"/>
                </a:solidFill>
                <a:latin typeface="宋体" panose="02010600030101010101" pitchFamily="2" charset="-122"/>
                <a:ea typeface="宋体" panose="02010600030101010101" pitchFamily="2" charset="-122"/>
                <a:sym typeface="Wingdings" panose="05000000000000000000" pitchFamily="2" charset="2"/>
              </a:rPr>
              <a:t>S=R</a:t>
            </a:r>
            <a:r>
              <a:rPr lang="en-US" altLang="x-none" sz="2400" baseline="-25000" dirty="0">
                <a:solidFill>
                  <a:srgbClr val="FFFFFF"/>
                </a:solidFill>
                <a:latin typeface="宋体" panose="02010600030101010101" pitchFamily="2" charset="-122"/>
                <a:ea typeface="宋体" panose="02010600030101010101" pitchFamily="2" charset="-122"/>
                <a:sym typeface="Wingdings" panose="05000000000000000000" pitchFamily="2" charset="2"/>
              </a:rPr>
              <a:t>T1</a:t>
            </a:r>
            <a:r>
              <a:rPr lang="en-US" altLang="x-none" sz="2400" dirty="0">
                <a:solidFill>
                  <a:srgbClr val="FFFFFF"/>
                </a:solidFill>
                <a:latin typeface="宋体" panose="02010600030101010101" pitchFamily="2" charset="-122"/>
                <a:ea typeface="宋体" panose="02010600030101010101" pitchFamily="2" charset="-122"/>
                <a:sym typeface="Wingdings" panose="05000000000000000000" pitchFamily="2" charset="2"/>
              </a:rPr>
              <a:t>(x)W</a:t>
            </a:r>
            <a:r>
              <a:rPr lang="en-US" altLang="x-none" sz="2400" baseline="-25000" dirty="0">
                <a:solidFill>
                  <a:srgbClr val="FFFFFF"/>
                </a:solidFill>
                <a:latin typeface="宋体" panose="02010600030101010101" pitchFamily="2" charset="-122"/>
                <a:ea typeface="宋体" panose="02010600030101010101" pitchFamily="2" charset="-122"/>
                <a:sym typeface="Wingdings" panose="05000000000000000000" pitchFamily="2" charset="2"/>
              </a:rPr>
              <a:t>T3</a:t>
            </a:r>
            <a:r>
              <a:rPr lang="en-US" altLang="x-none" sz="2400" dirty="0">
                <a:solidFill>
                  <a:srgbClr val="FFFFFF"/>
                </a:solidFill>
                <a:latin typeface="宋体" panose="02010600030101010101" pitchFamily="2" charset="-122"/>
                <a:ea typeface="宋体" panose="02010600030101010101" pitchFamily="2" charset="-122"/>
                <a:sym typeface="Wingdings" panose="05000000000000000000" pitchFamily="2" charset="2"/>
              </a:rPr>
              <a:t>(y) W</a:t>
            </a:r>
            <a:r>
              <a:rPr lang="en-US" altLang="x-none" sz="2400" baseline="-25000" dirty="0">
                <a:solidFill>
                  <a:srgbClr val="FFFFFF"/>
                </a:solidFill>
                <a:latin typeface="宋体" panose="02010600030101010101" pitchFamily="2" charset="-122"/>
                <a:ea typeface="宋体" panose="02010600030101010101" pitchFamily="2" charset="-122"/>
                <a:sym typeface="Wingdings" panose="05000000000000000000" pitchFamily="2" charset="2"/>
              </a:rPr>
              <a:t>T3</a:t>
            </a:r>
            <a:r>
              <a:rPr lang="en-US" altLang="x-none" sz="2400" dirty="0">
                <a:solidFill>
                  <a:srgbClr val="FFFFFF"/>
                </a:solidFill>
                <a:latin typeface="宋体" panose="02010600030101010101" pitchFamily="2" charset="-122"/>
                <a:ea typeface="宋体" panose="02010600030101010101" pitchFamily="2" charset="-122"/>
                <a:sym typeface="Wingdings" panose="05000000000000000000" pitchFamily="2" charset="2"/>
              </a:rPr>
              <a:t>(x) W</a:t>
            </a:r>
            <a:r>
              <a:rPr lang="en-US" altLang="x-none" sz="2400" baseline="-25000" dirty="0">
                <a:solidFill>
                  <a:srgbClr val="FFFFFF"/>
                </a:solidFill>
                <a:latin typeface="宋体" panose="02010600030101010101" pitchFamily="2" charset="-122"/>
                <a:ea typeface="宋体" panose="02010600030101010101" pitchFamily="2" charset="-122"/>
                <a:sym typeface="Wingdings" panose="05000000000000000000" pitchFamily="2" charset="2"/>
              </a:rPr>
              <a:t>T3</a:t>
            </a:r>
            <a:r>
              <a:rPr lang="en-US" altLang="x-none" sz="2400" dirty="0">
                <a:solidFill>
                  <a:srgbClr val="FFFFFF"/>
                </a:solidFill>
                <a:latin typeface="宋体" panose="02010600030101010101" pitchFamily="2" charset="-122"/>
                <a:ea typeface="宋体" panose="02010600030101010101" pitchFamily="2" charset="-122"/>
                <a:sym typeface="Wingdings" panose="05000000000000000000" pitchFamily="2" charset="2"/>
              </a:rPr>
              <a:t>(z) R</a:t>
            </a:r>
            <a:r>
              <a:rPr lang="en-US" altLang="x-none" sz="2400" baseline="-25000" dirty="0">
                <a:solidFill>
                  <a:srgbClr val="FFFFFF"/>
                </a:solidFill>
                <a:latin typeface="宋体" panose="02010600030101010101" pitchFamily="2" charset="-122"/>
                <a:ea typeface="宋体" panose="02010600030101010101" pitchFamily="2" charset="-122"/>
                <a:sym typeface="Wingdings" panose="05000000000000000000" pitchFamily="2" charset="2"/>
              </a:rPr>
              <a:t>T2</a:t>
            </a:r>
            <a:r>
              <a:rPr lang="en-US" altLang="x-none" sz="2400" dirty="0">
                <a:solidFill>
                  <a:srgbClr val="FFFFFF"/>
                </a:solidFill>
                <a:latin typeface="宋体" panose="02010600030101010101" pitchFamily="2" charset="-122"/>
                <a:ea typeface="宋体" panose="02010600030101010101" pitchFamily="2" charset="-122"/>
                <a:sym typeface="Wingdings" panose="05000000000000000000" pitchFamily="2" charset="2"/>
              </a:rPr>
              <a:t>(y) W</a:t>
            </a:r>
            <a:r>
              <a:rPr lang="en-US" altLang="x-none" sz="2400" baseline="-25000" dirty="0">
                <a:solidFill>
                  <a:srgbClr val="FFFFFF"/>
                </a:solidFill>
                <a:latin typeface="宋体" panose="02010600030101010101" pitchFamily="2" charset="-122"/>
                <a:ea typeface="宋体" panose="02010600030101010101" pitchFamily="2" charset="-122"/>
                <a:sym typeface="Wingdings" panose="05000000000000000000" pitchFamily="2" charset="2"/>
              </a:rPr>
              <a:t>T2</a:t>
            </a:r>
            <a:r>
              <a:rPr lang="en-US" altLang="x-none" sz="2400" dirty="0">
                <a:solidFill>
                  <a:srgbClr val="FFFFFF"/>
                </a:solidFill>
                <a:latin typeface="宋体" panose="02010600030101010101" pitchFamily="2" charset="-122"/>
                <a:ea typeface="宋体" panose="02010600030101010101" pitchFamily="2" charset="-122"/>
                <a:sym typeface="Wingdings" panose="05000000000000000000" pitchFamily="2" charset="2"/>
              </a:rPr>
              <a:t>(x) R</a:t>
            </a:r>
            <a:r>
              <a:rPr lang="en-US" altLang="x-none" sz="2400" baseline="-25000" dirty="0">
                <a:solidFill>
                  <a:srgbClr val="FFFFFF"/>
                </a:solidFill>
                <a:latin typeface="宋体" panose="02010600030101010101" pitchFamily="2" charset="-122"/>
                <a:ea typeface="宋体" panose="02010600030101010101" pitchFamily="2" charset="-122"/>
                <a:sym typeface="Wingdings" panose="05000000000000000000" pitchFamily="2" charset="2"/>
              </a:rPr>
              <a:t>T4</a:t>
            </a:r>
            <a:r>
              <a:rPr lang="en-US" altLang="x-none" sz="2400" dirty="0">
                <a:solidFill>
                  <a:srgbClr val="FFFFFF"/>
                </a:solidFill>
                <a:latin typeface="宋体" panose="02010600030101010101" pitchFamily="2" charset="-122"/>
                <a:ea typeface="宋体" panose="02010600030101010101" pitchFamily="2" charset="-122"/>
                <a:sym typeface="Wingdings" panose="05000000000000000000" pitchFamily="2" charset="2"/>
              </a:rPr>
              <a:t>(z)W</a:t>
            </a:r>
            <a:r>
              <a:rPr lang="en-US" altLang="x-none" sz="2400" baseline="-25000" dirty="0">
                <a:solidFill>
                  <a:srgbClr val="FFFFFF"/>
                </a:solidFill>
                <a:latin typeface="宋体" panose="02010600030101010101" pitchFamily="2" charset="-122"/>
                <a:ea typeface="宋体" panose="02010600030101010101" pitchFamily="2" charset="-122"/>
                <a:sym typeface="Wingdings" panose="05000000000000000000" pitchFamily="2" charset="2"/>
              </a:rPr>
              <a:t>T4</a:t>
            </a:r>
            <a:r>
              <a:rPr lang="en-US" altLang="x-none" sz="2400" dirty="0">
                <a:solidFill>
                  <a:srgbClr val="FFFFFF"/>
                </a:solidFill>
                <a:latin typeface="宋体" panose="02010600030101010101" pitchFamily="2" charset="-122"/>
                <a:ea typeface="宋体" panose="02010600030101010101" pitchFamily="2" charset="-122"/>
                <a:sym typeface="Wingdings" panose="05000000000000000000" pitchFamily="2" charset="2"/>
              </a:rPr>
              <a:t>(x)</a:t>
            </a:r>
            <a:endParaRPr lang="en-US" altLang="x-none" sz="2400" dirty="0">
              <a:solidFill>
                <a:srgbClr val="FFFFFF"/>
              </a:solidFill>
              <a:latin typeface="宋体" panose="02010600030101010101" pitchFamily="2" charset="-122"/>
              <a:ea typeface="宋体" panose="02010600030101010101" pitchFamily="2" charset="-122"/>
              <a:sym typeface="Wingdings" panose="05000000000000000000" pitchFamily="2" charset="2"/>
            </a:endParaRPr>
          </a:p>
          <a:p>
            <a:pPr lvl="0" indent="0">
              <a:spcBef>
                <a:spcPct val="50000"/>
              </a:spcBef>
            </a:pPr>
            <a:endParaRPr lang="en-US" altLang="x-none" sz="2400" dirty="0">
              <a:solidFill>
                <a:srgbClr val="FFFFFF"/>
              </a:solidFill>
              <a:latin typeface="宋体" panose="02010600030101010101" pitchFamily="2" charset="-122"/>
              <a:ea typeface="宋体" panose="02010600030101010101" pitchFamily="2" charset="-122"/>
              <a:sym typeface="Wingdings" panose="05000000000000000000" pitchFamily="2" charset="2"/>
            </a:endParaRPr>
          </a:p>
        </p:txBody>
      </p:sp>
      <p:sp>
        <p:nvSpPr>
          <p:cNvPr id="105498" name="Rectangle 3"/>
          <p:cNvSpPr txBox="1"/>
          <p:nvPr/>
        </p:nvSpPr>
        <p:spPr>
          <a:xfrm>
            <a:off x="517525" y="811213"/>
            <a:ext cx="7178675" cy="706437"/>
          </a:xfrm>
          <a:prstGeom prst="rect">
            <a:avLst/>
          </a:prstGeom>
          <a:noFill/>
          <a:ln w="9525">
            <a:noFill/>
          </a:ln>
        </p:spPr>
        <p:txBody>
          <a:bodyPr anchor="t"/>
          <a:lstStyle/>
          <a:p>
            <a:pPr lvl="0" indent="0" eaLnBrk="0" hangingPunct="0"/>
            <a:r>
              <a:rPr lang="en-US" altLang="x-none" sz="2800" dirty="0">
                <a:solidFill>
                  <a:srgbClr val="FF0000"/>
                </a:solidFill>
                <a:latin typeface="黑体" panose="02010609060101010101" pitchFamily="1" charset="-122"/>
                <a:ea typeface="黑体" panose="02010609060101010101" pitchFamily="1" charset="-122"/>
              </a:rPr>
              <a:t>3</a:t>
            </a:r>
            <a:r>
              <a:rPr lang="zh-CN" altLang="en-US" sz="2800" dirty="0">
                <a:solidFill>
                  <a:srgbClr val="FF0000"/>
                </a:solidFill>
                <a:latin typeface="黑体" panose="02010609060101010101" pitchFamily="1" charset="-122"/>
                <a:ea typeface="黑体" panose="02010609060101010101" pitchFamily="1" charset="-122"/>
              </a:rPr>
              <a:t>、并发执行的正确性准则</a:t>
            </a:r>
            <a:endParaRPr lang="en-US" altLang="x-none" sz="2800" dirty="0">
              <a:solidFill>
                <a:srgbClr val="FF0000"/>
              </a:solidFill>
              <a:latin typeface="黑体" panose="02010609060101010101" pitchFamily="1" charset="-122"/>
              <a:ea typeface="黑体" panose="02010609060101010101" pitchFamily="1" charset="-122"/>
            </a:endParaRPr>
          </a:p>
        </p:txBody>
      </p:sp>
      <p:sp>
        <p:nvSpPr>
          <p:cNvPr id="105499" name="Rectangle 3"/>
          <p:cNvSpPr txBox="1"/>
          <p:nvPr/>
        </p:nvSpPr>
        <p:spPr>
          <a:xfrm>
            <a:off x="565150" y="1422400"/>
            <a:ext cx="3382963" cy="708025"/>
          </a:xfrm>
          <a:prstGeom prst="rect">
            <a:avLst/>
          </a:prstGeom>
          <a:noFill/>
          <a:ln w="9525">
            <a:noFill/>
          </a:ln>
        </p:spPr>
        <p:txBody>
          <a:bodyPr anchor="t"/>
          <a:lstStyle/>
          <a:p>
            <a:pPr lvl="0" indent="0" eaLnBrk="0" hangingPunct="0">
              <a:buFont typeface="Wingdings" panose="05000000000000000000" pitchFamily="2" charset="2"/>
              <a:buChar char="p"/>
            </a:pPr>
            <a:r>
              <a:rPr lang="zh-CN" altLang="en-US" sz="2800" dirty="0">
                <a:solidFill>
                  <a:srgbClr val="000099"/>
                </a:solidFill>
                <a:latin typeface="黑体" panose="02010609060101010101" pitchFamily="1" charset="-122"/>
                <a:ea typeface="黑体" panose="02010609060101010101" pitchFamily="1" charset="-122"/>
              </a:rPr>
              <a:t>可串行化测试示例</a:t>
            </a:r>
            <a:endParaRPr lang="en-US" altLang="x-none" sz="2800" dirty="0">
              <a:solidFill>
                <a:srgbClr val="000099"/>
              </a:solidFill>
              <a:latin typeface="黑体" panose="02010609060101010101" pitchFamily="1" charset="-122"/>
              <a:ea typeface="黑体" panose="02010609060101010101" pitchFamily="1" charset="-122"/>
            </a:endParaRPr>
          </a:p>
        </p:txBody>
      </p:sp>
      <p:sp>
        <p:nvSpPr>
          <p:cNvPr id="8" name="Rectangle 2"/>
          <p:cNvSpPr/>
          <p:nvPr/>
        </p:nvSpPr>
        <p:spPr>
          <a:xfrm>
            <a:off x="417513" y="55563"/>
            <a:ext cx="8229600" cy="692150"/>
          </a:xfrm>
          <a:prstGeom prst="rect">
            <a:avLst/>
          </a:prstGeom>
          <a:noFill/>
          <a:ln w="9525">
            <a:noFill/>
          </a:ln>
        </p:spPr>
        <p:txBody>
          <a:bodyPr anchor="ctr"/>
          <a:lstStyle/>
          <a:p>
            <a:pPr lvl="0" indent="0">
              <a:buFont typeface="Wingdings" panose="05000000000000000000" pitchFamily="2" charset="2"/>
              <a:buNone/>
            </a:pPr>
            <a:r>
              <a:rPr lang="zh-CN" altLang="en-US" sz="3200" dirty="0" smtClean="0">
                <a:solidFill>
                  <a:srgbClr val="0033CC"/>
                </a:solidFill>
                <a:latin typeface="Arial" panose="020B0604020202020204" pitchFamily="34" charset="0"/>
                <a:ea typeface="黑体" panose="02010609060101010101" pitchFamily="1" charset="-122"/>
              </a:rPr>
              <a:t>二、并发执行的正确性准则</a:t>
            </a:r>
            <a:endParaRPr lang="zh-CN" altLang="en-US" sz="3200" dirty="0">
              <a:solidFill>
                <a:srgbClr val="0033CC"/>
              </a:solidFill>
              <a:latin typeface="Arial" panose="020B0604020202020204" pitchFamily="34" charset="0"/>
              <a:ea typeface="黑体" panose="02010609060101010101" pitchFamily="1"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5" presetClass="entr" presetSubtype="10" fill="hold" grpId="0" nodeType="clickEffect">
                                  <p:stCondLst>
                                    <p:cond delay="0"/>
                                  </p:stCondLst>
                                  <p:childTnLst>
                                    <p:set>
                                      <p:cBhvr>
                                        <p:cTn id="10" dur="1" fill="hold">
                                          <p:stCondLst>
                                            <p:cond delay="0"/>
                                          </p:stCondLst>
                                        </p:cTn>
                                        <p:tgtEl>
                                          <p:spTgt spid="109570"/>
                                        </p:tgtEl>
                                        <p:attrNameLst>
                                          <p:attrName>style.visibility</p:attrName>
                                        </p:attrNameLst>
                                      </p:cBhvr>
                                      <p:to>
                                        <p:strVal val="visible"/>
                                      </p:to>
                                    </p:set>
                                    <p:animEffect transition="in" filter="checkerboard(across)">
                                      <p:cBhvr>
                                        <p:cTn id="11" dur="500"/>
                                        <p:tgtEl>
                                          <p:spTgt spid="109570"/>
                                        </p:tgtEl>
                                      </p:cBhvr>
                                    </p:animEffect>
                                  </p:childTnLst>
                                </p:cTn>
                              </p:par>
                            </p:childTnLst>
                          </p:cTn>
                        </p:par>
                      </p:childTnLst>
                    </p:cTn>
                  </p:par>
                  <p:par>
                    <p:cTn id="12" fill="hold">
                      <p:stCondLst>
                        <p:cond delay="indefinite"/>
                      </p:stCondLst>
                      <p:childTnLst>
                        <p:par>
                          <p:cTn id="13" fill="hold">
                            <p:stCondLst>
                              <p:cond delay="0"/>
                            </p:stCondLst>
                            <p:childTnLst>
                              <p:par>
                                <p:cTn id="14" presetID="20" presetClass="entr" presetSubtype="0" fill="hold" grpId="0" nodeType="clickEffect">
                                  <p:stCondLst>
                                    <p:cond delay="0"/>
                                  </p:stCondLst>
                                  <p:childTnLst>
                                    <p:set>
                                      <p:cBhvr>
                                        <p:cTn id="15" dur="1" fill="hold">
                                          <p:stCondLst>
                                            <p:cond delay="0"/>
                                          </p:stCondLst>
                                        </p:cTn>
                                        <p:tgtEl>
                                          <p:spTgt spid="109590"/>
                                        </p:tgtEl>
                                        <p:attrNameLst>
                                          <p:attrName>style.visibility</p:attrName>
                                        </p:attrNameLst>
                                      </p:cBhvr>
                                      <p:to>
                                        <p:strVal val="visible"/>
                                      </p:to>
                                    </p:set>
                                    <p:animEffect transition="in" filter="wedge">
                                      <p:cBhvr>
                                        <p:cTn id="16" dur="2000"/>
                                        <p:tgtEl>
                                          <p:spTgt spid="109590"/>
                                        </p:tgtEl>
                                      </p:cBhvr>
                                    </p:animEffect>
                                  </p:childTnLst>
                                </p:cTn>
                              </p:par>
                            </p:childTnLst>
                          </p:cTn>
                        </p:par>
                      </p:childTnLst>
                    </p:cTn>
                  </p:par>
                  <p:par>
                    <p:cTn id="17" fill="hold">
                      <p:stCondLst>
                        <p:cond delay="indefinite"/>
                      </p:stCondLst>
                      <p:childTnLst>
                        <p:par>
                          <p:cTn id="18" fill="hold">
                            <p:stCondLst>
                              <p:cond delay="0"/>
                            </p:stCondLst>
                            <p:childTnLst>
                              <p:par>
                                <p:cTn id="19" presetID="20" presetClass="entr" presetSubtype="0" fill="hold" grpId="0" nodeType="clickEffect">
                                  <p:stCondLst>
                                    <p:cond delay="0"/>
                                  </p:stCondLst>
                                  <p:childTnLst>
                                    <p:set>
                                      <p:cBhvr>
                                        <p:cTn id="20" dur="1" fill="hold">
                                          <p:stCondLst>
                                            <p:cond delay="0"/>
                                          </p:stCondLst>
                                        </p:cTn>
                                        <p:tgtEl>
                                          <p:spTgt spid="109591"/>
                                        </p:tgtEl>
                                        <p:attrNameLst>
                                          <p:attrName>style.visibility</p:attrName>
                                        </p:attrNameLst>
                                      </p:cBhvr>
                                      <p:to>
                                        <p:strVal val="visible"/>
                                      </p:to>
                                    </p:set>
                                    <p:animEffect transition="in" filter="wedge">
                                      <p:cBhvr>
                                        <p:cTn id="21" dur="2000"/>
                                        <p:tgtEl>
                                          <p:spTgt spid="109591"/>
                                        </p:tgtEl>
                                      </p:cBhvr>
                                    </p:animEffect>
                                  </p:childTnLst>
                                </p:cTn>
                              </p:par>
                            </p:childTnLst>
                          </p:cTn>
                        </p:par>
                      </p:childTnLst>
                    </p:cTn>
                  </p:par>
                  <p:par>
                    <p:cTn id="22" fill="hold">
                      <p:stCondLst>
                        <p:cond delay="indefinite"/>
                      </p:stCondLst>
                      <p:childTnLst>
                        <p:par>
                          <p:cTn id="23" fill="hold">
                            <p:stCondLst>
                              <p:cond delay="0"/>
                            </p:stCondLst>
                            <p:childTnLst>
                              <p:par>
                                <p:cTn id="24" presetID="5" presetClass="entr" presetSubtype="10" fill="hold" nodeType="clickEffect">
                                  <p:stCondLst>
                                    <p:cond delay="0"/>
                                  </p:stCondLst>
                                  <p:childTnLst>
                                    <p:set>
                                      <p:cBhvr>
                                        <p:cTn id="25" dur="1" fill="hold">
                                          <p:stCondLst>
                                            <p:cond delay="0"/>
                                          </p:stCondLst>
                                        </p:cTn>
                                        <p:tgtEl>
                                          <p:spTgt spid="109587"/>
                                        </p:tgtEl>
                                        <p:attrNameLst>
                                          <p:attrName>style.visibility</p:attrName>
                                        </p:attrNameLst>
                                      </p:cBhvr>
                                      <p:to>
                                        <p:strVal val="visible"/>
                                      </p:to>
                                    </p:set>
                                    <p:animEffect transition="in" filter="checkerboard(across)">
                                      <p:cBhvr>
                                        <p:cTn id="26" dur="500"/>
                                        <p:tgtEl>
                                          <p:spTgt spid="109587"/>
                                        </p:tgtEl>
                                      </p:cBhvr>
                                    </p:animEffect>
                                  </p:childTnLst>
                                </p:cTn>
                              </p:par>
                            </p:childTnLst>
                          </p:cTn>
                        </p:par>
                      </p:childTnLst>
                    </p:cTn>
                  </p:par>
                  <p:par>
                    <p:cTn id="27" fill="hold">
                      <p:stCondLst>
                        <p:cond delay="indefinite"/>
                      </p:stCondLst>
                      <p:childTnLst>
                        <p:par>
                          <p:cTn id="28" fill="hold">
                            <p:stCondLst>
                              <p:cond delay="0"/>
                            </p:stCondLst>
                            <p:childTnLst>
                              <p:par>
                                <p:cTn id="29" presetID="20" presetClass="entr" presetSubtype="0" fill="hold" grpId="0" nodeType="clickEffect">
                                  <p:stCondLst>
                                    <p:cond delay="0"/>
                                  </p:stCondLst>
                                  <p:childTnLst>
                                    <p:set>
                                      <p:cBhvr>
                                        <p:cTn id="30" dur="1" fill="hold">
                                          <p:stCondLst>
                                            <p:cond delay="0"/>
                                          </p:stCondLst>
                                        </p:cTn>
                                        <p:tgtEl>
                                          <p:spTgt spid="109592"/>
                                        </p:tgtEl>
                                        <p:attrNameLst>
                                          <p:attrName>style.visibility</p:attrName>
                                        </p:attrNameLst>
                                      </p:cBhvr>
                                      <p:to>
                                        <p:strVal val="visible"/>
                                      </p:to>
                                    </p:set>
                                    <p:animEffect transition="in" filter="wedge">
                                      <p:cBhvr>
                                        <p:cTn id="31" dur="2000"/>
                                        <p:tgtEl>
                                          <p:spTgt spid="109592"/>
                                        </p:tgtEl>
                                      </p:cBhvr>
                                    </p:animEffect>
                                  </p:childTnLst>
                                </p:cTn>
                              </p:par>
                            </p:childTnLst>
                          </p:cTn>
                        </p:par>
                      </p:childTnLst>
                    </p:cTn>
                  </p:par>
                  <p:par>
                    <p:cTn id="32" fill="hold">
                      <p:stCondLst>
                        <p:cond delay="indefinite"/>
                      </p:stCondLst>
                      <p:childTnLst>
                        <p:par>
                          <p:cTn id="33" fill="hold">
                            <p:stCondLst>
                              <p:cond delay="0"/>
                            </p:stCondLst>
                            <p:childTnLst>
                              <p:par>
                                <p:cTn id="34" presetID="5" presetClass="entr" presetSubtype="10" fill="hold" nodeType="clickEffect">
                                  <p:stCondLst>
                                    <p:cond delay="0"/>
                                  </p:stCondLst>
                                  <p:childTnLst>
                                    <p:set>
                                      <p:cBhvr>
                                        <p:cTn id="35" dur="1" fill="hold">
                                          <p:stCondLst>
                                            <p:cond delay="0"/>
                                          </p:stCondLst>
                                        </p:cTn>
                                        <p:tgtEl>
                                          <p:spTgt spid="109588"/>
                                        </p:tgtEl>
                                        <p:attrNameLst>
                                          <p:attrName>style.visibility</p:attrName>
                                        </p:attrNameLst>
                                      </p:cBhvr>
                                      <p:to>
                                        <p:strVal val="visible"/>
                                      </p:to>
                                    </p:set>
                                    <p:animEffect transition="in" filter="checkerboard(across)">
                                      <p:cBhvr>
                                        <p:cTn id="36" dur="500"/>
                                        <p:tgtEl>
                                          <p:spTgt spid="109588"/>
                                        </p:tgtEl>
                                      </p:cBhvr>
                                    </p:animEffect>
                                  </p:childTnLst>
                                </p:cTn>
                              </p:par>
                            </p:childTnLst>
                          </p:cTn>
                        </p:par>
                      </p:childTnLst>
                    </p:cTn>
                  </p:par>
                  <p:par>
                    <p:cTn id="37" fill="hold">
                      <p:stCondLst>
                        <p:cond delay="indefinite"/>
                      </p:stCondLst>
                      <p:childTnLst>
                        <p:par>
                          <p:cTn id="38" fill="hold">
                            <p:stCondLst>
                              <p:cond delay="0"/>
                            </p:stCondLst>
                            <p:childTnLst>
                              <p:par>
                                <p:cTn id="39" presetID="5" presetClass="entr" presetSubtype="10" fill="hold" grpId="0" nodeType="clickEffect">
                                  <p:stCondLst>
                                    <p:cond delay="0"/>
                                  </p:stCondLst>
                                  <p:childTnLst>
                                    <p:set>
                                      <p:cBhvr>
                                        <p:cTn id="40" dur="1" fill="hold">
                                          <p:stCondLst>
                                            <p:cond delay="0"/>
                                          </p:stCondLst>
                                        </p:cTn>
                                        <p:tgtEl>
                                          <p:spTgt spid="109589"/>
                                        </p:tgtEl>
                                        <p:attrNameLst>
                                          <p:attrName>style.visibility</p:attrName>
                                        </p:attrNameLst>
                                      </p:cBhvr>
                                      <p:to>
                                        <p:strVal val="visible"/>
                                      </p:to>
                                    </p:set>
                                    <p:animEffect transition="in" filter="checkerboard(across)">
                                      <p:cBhvr>
                                        <p:cTn id="41" dur="500"/>
                                        <p:tgtEl>
                                          <p:spTgt spid="109589"/>
                                        </p:tgtEl>
                                      </p:cBhvr>
                                    </p:animEffect>
                                  </p:childTnLst>
                                </p:cTn>
                              </p:par>
                            </p:childTnLst>
                          </p:cTn>
                        </p:par>
                      </p:childTnLst>
                    </p:cTn>
                  </p:par>
                  <p:par>
                    <p:cTn id="42" fill="hold">
                      <p:stCondLst>
                        <p:cond delay="indefinite"/>
                      </p:stCondLst>
                      <p:childTnLst>
                        <p:par>
                          <p:cTn id="43" fill="hold">
                            <p:stCondLst>
                              <p:cond delay="0"/>
                            </p:stCondLst>
                            <p:childTnLst>
                              <p:par>
                                <p:cTn id="44" presetID="55" presetClass="entr" presetSubtype="0" fill="hold" grpId="0" nodeType="clickEffect">
                                  <p:stCondLst>
                                    <p:cond delay="0"/>
                                  </p:stCondLst>
                                  <p:childTnLst>
                                    <p:set>
                                      <p:cBhvr>
                                        <p:cTn id="45" dur="1" fill="hold">
                                          <p:stCondLst>
                                            <p:cond delay="0"/>
                                          </p:stCondLst>
                                        </p:cTn>
                                        <p:tgtEl>
                                          <p:spTgt spid="109593"/>
                                        </p:tgtEl>
                                        <p:attrNameLst>
                                          <p:attrName>style.visibility</p:attrName>
                                        </p:attrNameLst>
                                      </p:cBhvr>
                                      <p:to>
                                        <p:strVal val="visible"/>
                                      </p:to>
                                    </p:set>
                                    <p:anim calcmode="lin" valueType="num">
                                      <p:cBhvr>
                                        <p:cTn id="46" dur="1000" fill="hold"/>
                                        <p:tgtEl>
                                          <p:spTgt spid="109593"/>
                                        </p:tgtEl>
                                        <p:attrNameLst>
                                          <p:attrName>ppt_w</p:attrName>
                                        </p:attrNameLst>
                                      </p:cBhvr>
                                      <p:tavLst>
                                        <p:tav tm="0">
                                          <p:val>
                                            <p:strVal val="#ppt_w*0.70"/>
                                          </p:val>
                                        </p:tav>
                                        <p:tav tm="100000">
                                          <p:val>
                                            <p:strVal val="#ppt_w"/>
                                          </p:val>
                                        </p:tav>
                                      </p:tavLst>
                                    </p:anim>
                                    <p:anim calcmode="lin" valueType="num">
                                      <p:cBhvr>
                                        <p:cTn id="47" dur="1000" fill="hold"/>
                                        <p:tgtEl>
                                          <p:spTgt spid="109593"/>
                                        </p:tgtEl>
                                        <p:attrNameLst>
                                          <p:attrName>ppt_h</p:attrName>
                                        </p:attrNameLst>
                                      </p:cBhvr>
                                      <p:tavLst>
                                        <p:tav tm="0">
                                          <p:val>
                                            <p:strVal val="#ppt_h"/>
                                          </p:val>
                                        </p:tav>
                                        <p:tav tm="100000">
                                          <p:val>
                                            <p:strVal val="#ppt_h"/>
                                          </p:val>
                                        </p:tav>
                                      </p:tavLst>
                                    </p:anim>
                                    <p:animEffect transition="in" filter="fade">
                                      <p:cBhvr>
                                        <p:cTn id="48" dur="1000"/>
                                        <p:tgtEl>
                                          <p:spTgt spid="10959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9570" grpId="0"/>
      <p:bldP spid="109589" grpId="0"/>
      <p:bldP spid="109590" grpId="0" bldLvl="0" animBg="1"/>
      <p:bldP spid="109591" grpId="0" bldLvl="0" animBg="1"/>
      <p:bldP spid="109592" grpId="0" bldLvl="0" animBg="1"/>
      <p:bldP spid="109593" grpId="0" bldLvl="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文本框 44"/>
          <p:cNvSpPr txBox="1"/>
          <p:nvPr/>
        </p:nvSpPr>
        <p:spPr>
          <a:xfrm>
            <a:off x="452149" y="0"/>
            <a:ext cx="2681605" cy="829945"/>
          </a:xfrm>
          <a:prstGeom prst="rect">
            <a:avLst/>
          </a:prstGeom>
          <a:noFill/>
        </p:spPr>
        <p:txBody>
          <a:bodyPr wrap="none" rtlCol="0" anchor="t">
            <a:spAutoFit/>
          </a:bodyPr>
          <a:lstStyle/>
          <a:p>
            <a:pPr marL="457200" indent="-457200" algn="just">
              <a:lnSpc>
                <a:spcPct val="150000"/>
              </a:lnSpc>
              <a:spcAft>
                <a:spcPts val="0"/>
              </a:spcAft>
              <a:buFont typeface="Wingdings" panose="05000000000000000000" pitchFamily="2" charset="2"/>
              <a:buChar char="p"/>
            </a:pPr>
            <a:r>
              <a:rPr lang="zh-CN" altLang="zh-CN" sz="3200" kern="100" dirty="0" smtClean="0">
                <a:solidFill>
                  <a:srgbClr val="FF0000"/>
                </a:solidFill>
                <a:latin typeface="Calibri" panose="020F0502020204030204" pitchFamily="34" charset="0"/>
                <a:cs typeface="Times New Roman" panose="02020603050405020304" pitchFamily="2" charset="0"/>
                <a:sym typeface="+mn-ea"/>
              </a:rPr>
              <a:t>问题研讨：</a:t>
            </a:r>
            <a:endParaRPr lang="zh-CN" altLang="en-US" sz="3200" dirty="0"/>
          </a:p>
        </p:txBody>
      </p:sp>
      <p:sp>
        <p:nvSpPr>
          <p:cNvPr id="9" name="文本框 8"/>
          <p:cNvSpPr txBox="1"/>
          <p:nvPr/>
        </p:nvSpPr>
        <p:spPr>
          <a:xfrm>
            <a:off x="554355" y="1054622"/>
            <a:ext cx="8316595" cy="902970"/>
          </a:xfrm>
          <a:prstGeom prst="rect">
            <a:avLst/>
          </a:prstGeom>
          <a:noFill/>
        </p:spPr>
        <p:txBody>
          <a:bodyPr wrap="square" rtlCol="0" anchor="t">
            <a:spAutoFit/>
          </a:bodyPr>
          <a:lstStyle/>
          <a:p>
            <a:pPr>
              <a:lnSpc>
                <a:spcPct val="120000"/>
              </a:lnSpc>
              <a:spcBef>
                <a:spcPts val="0"/>
              </a:spcBef>
              <a:spcAft>
                <a:spcPts val="0"/>
              </a:spcAft>
              <a:buNone/>
            </a:pPr>
            <a:r>
              <a:rPr lang="en-US" altLang="zh-CN" sz="2200"/>
              <a:t>1</a:t>
            </a:r>
            <a:r>
              <a:rPr lang="zh-CN" altLang="en-US" sz="2200"/>
              <a:t>、事务有多个性质，其中不包括（      ） </a:t>
            </a:r>
            <a:endParaRPr lang="zh-CN" altLang="en-US" sz="2200"/>
          </a:p>
          <a:p>
            <a:pPr>
              <a:lnSpc>
                <a:spcPct val="120000"/>
              </a:lnSpc>
              <a:spcBef>
                <a:spcPts val="0"/>
              </a:spcBef>
              <a:spcAft>
                <a:spcPts val="0"/>
              </a:spcAft>
              <a:buNone/>
            </a:pPr>
            <a:r>
              <a:rPr lang="en-US" altLang="zh-CN" sz="2200"/>
              <a:t>  A</a:t>
            </a:r>
            <a:r>
              <a:rPr lang="zh-CN" altLang="en-US" sz="2200"/>
              <a:t>、一致性      </a:t>
            </a:r>
            <a:r>
              <a:rPr lang="en-US" altLang="zh-CN" sz="2200"/>
              <a:t>B</a:t>
            </a:r>
            <a:r>
              <a:rPr lang="zh-CN" altLang="en-US" sz="2200"/>
              <a:t>、唯一性</a:t>
            </a:r>
            <a:r>
              <a:rPr lang="en-US" altLang="zh-CN" sz="2200"/>
              <a:t>     C</a:t>
            </a:r>
            <a:r>
              <a:rPr lang="zh-CN" altLang="en-US" sz="2200"/>
              <a:t>、原子性     </a:t>
            </a:r>
            <a:r>
              <a:rPr lang="en-US" altLang="zh-CN" sz="2200"/>
              <a:t>D</a:t>
            </a:r>
            <a:r>
              <a:rPr lang="zh-CN" altLang="en-US" sz="2200"/>
              <a:t>、隔离性</a:t>
            </a:r>
            <a:endParaRPr lang="zh-CN" altLang="en-US" sz="2200"/>
          </a:p>
        </p:txBody>
      </p:sp>
      <p:sp>
        <p:nvSpPr>
          <p:cNvPr id="18" name="文本框 17"/>
          <p:cNvSpPr txBox="1"/>
          <p:nvPr/>
        </p:nvSpPr>
        <p:spPr>
          <a:xfrm>
            <a:off x="5063722" y="1066972"/>
            <a:ext cx="403225" cy="589280"/>
          </a:xfrm>
          <a:prstGeom prst="rect">
            <a:avLst/>
          </a:prstGeom>
          <a:noFill/>
        </p:spPr>
        <p:txBody>
          <a:bodyPr wrap="none" rtlCol="0" anchor="t">
            <a:spAutoFit/>
          </a:bodyPr>
          <a:lstStyle/>
          <a:p>
            <a:pPr>
              <a:buNone/>
            </a:pPr>
            <a:r>
              <a:rPr lang="en-US" altLang="zh-CN" sz="2400" dirty="0">
                <a:solidFill>
                  <a:srgbClr val="C00000"/>
                </a:solidFill>
              </a:rPr>
              <a:t>B</a:t>
            </a:r>
            <a:endParaRPr lang="en-US" altLang="zh-CN" sz="2400" dirty="0">
              <a:solidFill>
                <a:srgbClr val="C00000"/>
              </a:solidFill>
            </a:endParaRPr>
          </a:p>
        </p:txBody>
      </p:sp>
      <p:sp>
        <p:nvSpPr>
          <p:cNvPr id="4" name="文本框 3"/>
          <p:cNvSpPr txBox="1"/>
          <p:nvPr/>
        </p:nvSpPr>
        <p:spPr>
          <a:xfrm>
            <a:off x="554355" y="1951242"/>
            <a:ext cx="8316595" cy="1308735"/>
          </a:xfrm>
          <a:prstGeom prst="rect">
            <a:avLst/>
          </a:prstGeom>
          <a:noFill/>
        </p:spPr>
        <p:txBody>
          <a:bodyPr wrap="square" lIns="0" rtlCol="0" anchor="t">
            <a:spAutoFit/>
          </a:bodyPr>
          <a:lstStyle/>
          <a:p>
            <a:pPr>
              <a:lnSpc>
                <a:spcPct val="120000"/>
              </a:lnSpc>
              <a:spcBef>
                <a:spcPts val="0"/>
              </a:spcBef>
              <a:spcAft>
                <a:spcPts val="0"/>
              </a:spcAft>
              <a:buNone/>
            </a:pPr>
            <a:r>
              <a:rPr lang="en-US" altLang="zh-CN" sz="2200" dirty="0"/>
              <a:t>2</a:t>
            </a:r>
            <a:r>
              <a:rPr lang="zh-CN" altLang="en-US" sz="2200" dirty="0"/>
              <a:t>、对数据库并发操作有可能带来的问题包括（      ） </a:t>
            </a:r>
            <a:endParaRPr lang="zh-CN" altLang="en-US" sz="2200" dirty="0"/>
          </a:p>
          <a:p>
            <a:pPr>
              <a:lnSpc>
                <a:spcPct val="120000"/>
              </a:lnSpc>
              <a:spcBef>
                <a:spcPts val="0"/>
              </a:spcBef>
              <a:spcAft>
                <a:spcPts val="0"/>
              </a:spcAft>
              <a:buNone/>
            </a:pPr>
            <a:r>
              <a:rPr lang="en-US" altLang="zh-CN" sz="2200" dirty="0"/>
              <a:t>  A</a:t>
            </a:r>
            <a:r>
              <a:rPr lang="zh-CN" altLang="en-US" sz="2200" dirty="0"/>
              <a:t>、读出</a:t>
            </a:r>
            <a:r>
              <a:rPr lang="en-US" altLang="zh-CN" sz="2200" dirty="0"/>
              <a:t>“</a:t>
            </a:r>
            <a:r>
              <a:rPr lang="zh-CN" altLang="en-US" sz="2200" dirty="0"/>
              <a:t>脏数据</a:t>
            </a:r>
            <a:r>
              <a:rPr lang="en-US" altLang="zh-CN" sz="2200" dirty="0"/>
              <a:t>”</a:t>
            </a:r>
            <a:r>
              <a:rPr lang="zh-CN" altLang="en-US" sz="2200" dirty="0"/>
              <a:t>                                </a:t>
            </a:r>
            <a:r>
              <a:rPr lang="en-US" altLang="zh-CN" sz="2200" dirty="0" smtClean="0"/>
              <a:t>B</a:t>
            </a:r>
            <a:r>
              <a:rPr lang="zh-CN" altLang="en-US" sz="2200" dirty="0"/>
              <a:t>、带来数据的冗余</a:t>
            </a:r>
            <a:r>
              <a:rPr lang="en-US" altLang="zh-CN" sz="2200" dirty="0"/>
              <a:t>    </a:t>
            </a:r>
            <a:endParaRPr lang="en-US" altLang="zh-CN" sz="2200" dirty="0"/>
          </a:p>
          <a:p>
            <a:pPr>
              <a:lnSpc>
                <a:spcPct val="120000"/>
              </a:lnSpc>
              <a:spcBef>
                <a:spcPts val="0"/>
              </a:spcBef>
              <a:spcAft>
                <a:spcPts val="0"/>
              </a:spcAft>
              <a:buNone/>
            </a:pPr>
            <a:r>
              <a:rPr lang="en-US" altLang="zh-CN" sz="2200" dirty="0"/>
              <a:t>  C</a:t>
            </a:r>
            <a:r>
              <a:rPr lang="zh-CN" altLang="en-US" sz="2200" dirty="0"/>
              <a:t>、未被授权的用户非法存取数据      </a:t>
            </a:r>
            <a:r>
              <a:rPr lang="en-US" altLang="zh-CN" sz="2200" dirty="0"/>
              <a:t>D</a:t>
            </a:r>
            <a:r>
              <a:rPr lang="zh-CN" altLang="en-US" sz="2200" dirty="0"/>
              <a:t>、破坏数据独立性</a:t>
            </a:r>
            <a:endParaRPr lang="zh-CN" altLang="en-US" sz="2200" dirty="0"/>
          </a:p>
        </p:txBody>
      </p:sp>
      <p:sp>
        <p:nvSpPr>
          <p:cNvPr id="10" name="文本框 9"/>
          <p:cNvSpPr txBox="1"/>
          <p:nvPr/>
        </p:nvSpPr>
        <p:spPr>
          <a:xfrm>
            <a:off x="6410960" y="1933287"/>
            <a:ext cx="403225" cy="589280"/>
          </a:xfrm>
          <a:prstGeom prst="rect">
            <a:avLst/>
          </a:prstGeom>
          <a:noFill/>
        </p:spPr>
        <p:txBody>
          <a:bodyPr wrap="none" rtlCol="0" anchor="t">
            <a:spAutoFit/>
          </a:bodyPr>
          <a:lstStyle/>
          <a:p>
            <a:pPr>
              <a:buNone/>
            </a:pPr>
            <a:r>
              <a:rPr lang="en-US" altLang="zh-CN" sz="2400" dirty="0">
                <a:solidFill>
                  <a:srgbClr val="C00000"/>
                </a:solidFill>
              </a:rPr>
              <a:t>A</a:t>
            </a:r>
            <a:endParaRPr lang="en-US" altLang="zh-CN" sz="2400" dirty="0">
              <a:solidFill>
                <a:srgbClr val="C00000"/>
              </a:solidFill>
            </a:endParaRPr>
          </a:p>
        </p:txBody>
      </p:sp>
      <p:pic>
        <p:nvPicPr>
          <p:cNvPr id="11" name="图片 10"/>
          <p:cNvPicPr>
            <a:picLocks noChangeAspect="1"/>
          </p:cNvPicPr>
          <p:nvPr>
            <p:custDataLst>
              <p:tags r:id="rId1"/>
            </p:custDataLst>
          </p:nvPr>
        </p:nvPicPr>
        <p:blipFill>
          <a:blip r:embed="rId2"/>
          <a:srcRect t="8684" r="28945" b="24942"/>
          <a:stretch>
            <a:fillRect/>
          </a:stretch>
        </p:blipFill>
        <p:spPr>
          <a:xfrm>
            <a:off x="3973195" y="3488610"/>
            <a:ext cx="4462145" cy="2472690"/>
          </a:xfrm>
          <a:prstGeom prst="rect">
            <a:avLst/>
          </a:prstGeom>
        </p:spPr>
      </p:pic>
      <p:sp>
        <p:nvSpPr>
          <p:cNvPr id="12" name="文本框 11"/>
          <p:cNvSpPr txBox="1"/>
          <p:nvPr/>
        </p:nvSpPr>
        <p:spPr>
          <a:xfrm>
            <a:off x="535305" y="3367960"/>
            <a:ext cx="3268980" cy="2526665"/>
          </a:xfrm>
          <a:prstGeom prst="rect">
            <a:avLst/>
          </a:prstGeom>
          <a:noFill/>
        </p:spPr>
        <p:txBody>
          <a:bodyPr wrap="square" rtlCol="0" anchor="t">
            <a:spAutoFit/>
          </a:bodyPr>
          <a:lstStyle/>
          <a:p>
            <a:pPr>
              <a:lnSpc>
                <a:spcPct val="120000"/>
              </a:lnSpc>
              <a:spcBef>
                <a:spcPts val="0"/>
              </a:spcBef>
              <a:spcAft>
                <a:spcPts val="0"/>
              </a:spcAft>
              <a:buNone/>
            </a:pPr>
            <a:r>
              <a:rPr lang="en-US" altLang="zh-CN" sz="2200" dirty="0"/>
              <a:t>3</a:t>
            </a:r>
            <a:r>
              <a:rPr lang="zh-CN" altLang="en-US" sz="2200" dirty="0"/>
              <a:t>、下面的并行调度会出现的错误是（      ） </a:t>
            </a:r>
            <a:endParaRPr lang="zh-CN" altLang="en-US" sz="2200" dirty="0"/>
          </a:p>
          <a:p>
            <a:pPr>
              <a:lnSpc>
                <a:spcPct val="120000"/>
              </a:lnSpc>
              <a:spcBef>
                <a:spcPts val="0"/>
              </a:spcBef>
              <a:spcAft>
                <a:spcPts val="0"/>
              </a:spcAft>
              <a:buNone/>
            </a:pPr>
            <a:r>
              <a:rPr lang="en-US" altLang="zh-CN" sz="2200" dirty="0"/>
              <a:t>  A</a:t>
            </a:r>
            <a:r>
              <a:rPr lang="zh-CN" altLang="en-US" sz="2200" dirty="0"/>
              <a:t>、读出</a:t>
            </a:r>
            <a:r>
              <a:rPr lang="en-US" altLang="zh-CN" sz="2200" dirty="0"/>
              <a:t>“</a:t>
            </a:r>
            <a:r>
              <a:rPr lang="zh-CN" altLang="en-US" sz="2200" dirty="0"/>
              <a:t>脏数据</a:t>
            </a:r>
            <a:r>
              <a:rPr lang="en-US" altLang="zh-CN" sz="2200" dirty="0"/>
              <a:t>”</a:t>
            </a:r>
            <a:r>
              <a:rPr lang="zh-CN" altLang="en-US" sz="2200" dirty="0"/>
              <a:t>    </a:t>
            </a:r>
            <a:endParaRPr lang="zh-CN" altLang="en-US" sz="2200" dirty="0"/>
          </a:p>
          <a:p>
            <a:pPr>
              <a:lnSpc>
                <a:spcPct val="120000"/>
              </a:lnSpc>
              <a:spcBef>
                <a:spcPts val="0"/>
              </a:spcBef>
              <a:spcAft>
                <a:spcPts val="0"/>
              </a:spcAft>
              <a:buNone/>
            </a:pPr>
            <a:r>
              <a:rPr lang="zh-CN" altLang="en-US" sz="2200" dirty="0"/>
              <a:t>  </a:t>
            </a:r>
            <a:r>
              <a:rPr lang="en-US" altLang="zh-CN" sz="2200" dirty="0"/>
              <a:t>B</a:t>
            </a:r>
            <a:r>
              <a:rPr lang="zh-CN" altLang="en-US" sz="2200" dirty="0"/>
              <a:t>、丢失更新</a:t>
            </a:r>
            <a:r>
              <a:rPr lang="en-US" altLang="zh-CN" sz="2200" dirty="0"/>
              <a:t>  </a:t>
            </a:r>
            <a:endParaRPr lang="en-US" altLang="zh-CN" sz="2200" dirty="0"/>
          </a:p>
          <a:p>
            <a:pPr>
              <a:lnSpc>
                <a:spcPct val="120000"/>
              </a:lnSpc>
              <a:spcBef>
                <a:spcPts val="0"/>
              </a:spcBef>
              <a:spcAft>
                <a:spcPts val="0"/>
              </a:spcAft>
              <a:buNone/>
            </a:pPr>
            <a:r>
              <a:rPr lang="en-US" altLang="zh-CN" sz="2200" dirty="0"/>
              <a:t>  C</a:t>
            </a:r>
            <a:r>
              <a:rPr lang="zh-CN" altLang="en-US" sz="2200" dirty="0"/>
              <a:t>、不可重复读      </a:t>
            </a:r>
            <a:endParaRPr lang="zh-CN" altLang="en-US" sz="2200" dirty="0"/>
          </a:p>
          <a:p>
            <a:pPr>
              <a:lnSpc>
                <a:spcPct val="120000"/>
              </a:lnSpc>
              <a:spcBef>
                <a:spcPts val="0"/>
              </a:spcBef>
              <a:spcAft>
                <a:spcPts val="0"/>
              </a:spcAft>
              <a:buNone/>
            </a:pPr>
            <a:r>
              <a:rPr lang="zh-CN" altLang="en-US" sz="2200" dirty="0"/>
              <a:t>  </a:t>
            </a:r>
            <a:r>
              <a:rPr lang="en-US" altLang="zh-CN" sz="2200" dirty="0"/>
              <a:t>D</a:t>
            </a:r>
            <a:r>
              <a:rPr lang="zh-CN" altLang="en-US" sz="2200" dirty="0"/>
              <a:t>、幻影读</a:t>
            </a:r>
            <a:endParaRPr lang="zh-CN" altLang="en-US" sz="2200" dirty="0"/>
          </a:p>
        </p:txBody>
      </p:sp>
      <p:sp>
        <p:nvSpPr>
          <p:cNvPr id="13" name="文本框 12"/>
          <p:cNvSpPr txBox="1"/>
          <p:nvPr/>
        </p:nvSpPr>
        <p:spPr>
          <a:xfrm>
            <a:off x="2313940" y="3657080"/>
            <a:ext cx="403225" cy="589280"/>
          </a:xfrm>
          <a:prstGeom prst="rect">
            <a:avLst/>
          </a:prstGeom>
          <a:noFill/>
        </p:spPr>
        <p:txBody>
          <a:bodyPr wrap="none" rtlCol="0" anchor="t">
            <a:spAutoFit/>
          </a:bodyPr>
          <a:lstStyle/>
          <a:p>
            <a:pPr>
              <a:buNone/>
            </a:pPr>
            <a:r>
              <a:rPr lang="en-US" altLang="zh-CN" sz="2400">
                <a:solidFill>
                  <a:srgbClr val="C00000"/>
                </a:solidFill>
              </a:rPr>
              <a:t>C</a:t>
            </a:r>
            <a:endParaRPr lang="en-US" altLang="zh-CN" sz="2400">
              <a:solidFill>
                <a:srgbClr val="C00000"/>
              </a:solidFill>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anim calcmode="lin" valueType="num">
                                      <p:cBhvr additive="base">
                                        <p:cTn id="7" dur="500" fill="hold"/>
                                        <p:tgtEl>
                                          <p:spTgt spid="18"/>
                                        </p:tgtEl>
                                        <p:attrNameLst>
                                          <p:attrName>ppt_x</p:attrName>
                                        </p:attrNameLst>
                                      </p:cBhvr>
                                      <p:tavLst>
                                        <p:tav tm="0">
                                          <p:val>
                                            <p:strVal val="#ppt_x"/>
                                          </p:val>
                                        </p:tav>
                                        <p:tav tm="100000">
                                          <p:val>
                                            <p:strVal val="#ppt_x"/>
                                          </p:val>
                                        </p:tav>
                                      </p:tavLst>
                                    </p:anim>
                                    <p:anim calcmode="lin" valueType="num">
                                      <p:cBhvr additive="base">
                                        <p:cTn id="8" dur="500" fill="hold"/>
                                        <p:tgtEl>
                                          <p:spTgt spid="18"/>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0"/>
                                        </p:tgtEl>
                                        <p:attrNameLst>
                                          <p:attrName>style.visibility</p:attrName>
                                        </p:attrNameLst>
                                      </p:cBhvr>
                                      <p:to>
                                        <p:strVal val="visible"/>
                                      </p:to>
                                    </p:set>
                                    <p:anim calcmode="lin" valueType="num">
                                      <p:cBhvr additive="base">
                                        <p:cTn id="13" dur="500" fill="hold"/>
                                        <p:tgtEl>
                                          <p:spTgt spid="10"/>
                                        </p:tgtEl>
                                        <p:attrNameLst>
                                          <p:attrName>ppt_x</p:attrName>
                                        </p:attrNameLst>
                                      </p:cBhvr>
                                      <p:tavLst>
                                        <p:tav tm="0">
                                          <p:val>
                                            <p:strVal val="#ppt_x"/>
                                          </p:val>
                                        </p:tav>
                                        <p:tav tm="100000">
                                          <p:val>
                                            <p:strVal val="#ppt_x"/>
                                          </p:val>
                                        </p:tav>
                                      </p:tavLst>
                                    </p:anim>
                                    <p:anim calcmode="lin" valueType="num">
                                      <p:cBhvr additive="base">
                                        <p:cTn id="14"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3"/>
                                        </p:tgtEl>
                                        <p:attrNameLst>
                                          <p:attrName>style.visibility</p:attrName>
                                        </p:attrNameLst>
                                      </p:cBhvr>
                                      <p:to>
                                        <p:strVal val="visible"/>
                                      </p:to>
                                    </p:set>
                                    <p:anim calcmode="lin" valueType="num">
                                      <p:cBhvr additive="base">
                                        <p:cTn id="19" dur="500" fill="hold"/>
                                        <p:tgtEl>
                                          <p:spTgt spid="13"/>
                                        </p:tgtEl>
                                        <p:attrNameLst>
                                          <p:attrName>ppt_x</p:attrName>
                                        </p:attrNameLst>
                                      </p:cBhvr>
                                      <p:tavLst>
                                        <p:tav tm="0">
                                          <p:val>
                                            <p:strVal val="#ppt_x"/>
                                          </p:val>
                                        </p:tav>
                                        <p:tav tm="100000">
                                          <p:val>
                                            <p:strVal val="#ppt_x"/>
                                          </p:val>
                                        </p:tav>
                                      </p:tavLst>
                                    </p:anim>
                                    <p:anim calcmode="lin" valueType="num">
                                      <p:cBhvr additive="base">
                                        <p:cTn id="20"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10" grpId="0"/>
      <p:bldP spid="13"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文本框 8"/>
          <p:cNvSpPr txBox="1"/>
          <p:nvPr/>
        </p:nvSpPr>
        <p:spPr>
          <a:xfrm>
            <a:off x="554355" y="980732"/>
            <a:ext cx="8316595" cy="2529923"/>
          </a:xfrm>
          <a:prstGeom prst="rect">
            <a:avLst/>
          </a:prstGeom>
          <a:noFill/>
        </p:spPr>
        <p:txBody>
          <a:bodyPr wrap="square" rtlCol="0" anchor="t">
            <a:spAutoFit/>
          </a:bodyPr>
          <a:lstStyle/>
          <a:p>
            <a:pPr>
              <a:lnSpc>
                <a:spcPct val="120000"/>
              </a:lnSpc>
              <a:spcBef>
                <a:spcPts val="0"/>
              </a:spcBef>
              <a:spcAft>
                <a:spcPts val="0"/>
              </a:spcAft>
              <a:buNone/>
            </a:pPr>
            <a:r>
              <a:rPr lang="en-US" altLang="zh-CN" sz="2200" dirty="0"/>
              <a:t>4</a:t>
            </a:r>
            <a:r>
              <a:rPr lang="zh-CN" altLang="en-US" sz="2200" dirty="0"/>
              <a:t>、设事务</a:t>
            </a:r>
            <a:r>
              <a:rPr lang="en-US" altLang="zh-CN" sz="2200" dirty="0"/>
              <a:t>T1</a:t>
            </a:r>
            <a:r>
              <a:rPr lang="zh-CN" altLang="en-US" sz="2200" dirty="0"/>
              <a:t>和事务</a:t>
            </a:r>
            <a:r>
              <a:rPr lang="en-US" altLang="zh-CN" sz="2200" dirty="0"/>
              <a:t>T2</a:t>
            </a:r>
            <a:r>
              <a:rPr lang="zh-CN" altLang="en-US" sz="2200" dirty="0"/>
              <a:t>对数据库中的数据</a:t>
            </a:r>
            <a:r>
              <a:rPr lang="en-US" altLang="zh-CN" sz="2200" dirty="0"/>
              <a:t>A</a:t>
            </a:r>
            <a:r>
              <a:rPr lang="zh-CN" altLang="en-US" sz="2200" dirty="0"/>
              <a:t>进行操作可能有如下几种情况，请问哪一种情况下不会发生冲突（      ） </a:t>
            </a:r>
            <a:endParaRPr lang="zh-CN" altLang="en-US" sz="2200" dirty="0"/>
          </a:p>
          <a:p>
            <a:pPr>
              <a:lnSpc>
                <a:spcPct val="120000"/>
              </a:lnSpc>
              <a:spcBef>
                <a:spcPts val="0"/>
              </a:spcBef>
              <a:spcAft>
                <a:spcPts val="0"/>
              </a:spcAft>
              <a:buNone/>
            </a:pPr>
            <a:r>
              <a:rPr lang="en-US" altLang="zh-CN" sz="2200" dirty="0"/>
              <a:t>  A</a:t>
            </a:r>
            <a:r>
              <a:rPr lang="zh-CN" altLang="en-US" sz="2200" dirty="0"/>
              <a:t>、</a:t>
            </a:r>
            <a:r>
              <a:rPr lang="en-US" altLang="zh-CN" sz="2200" dirty="0"/>
              <a:t>T1</a:t>
            </a:r>
            <a:r>
              <a:rPr lang="zh-CN" altLang="en-US" sz="2200" dirty="0"/>
              <a:t>正在写</a:t>
            </a:r>
            <a:r>
              <a:rPr lang="en-US" altLang="zh-CN" sz="2200" dirty="0"/>
              <a:t>A,T2</a:t>
            </a:r>
            <a:r>
              <a:rPr lang="zh-CN" altLang="en-US" sz="2200" dirty="0"/>
              <a:t>要读</a:t>
            </a:r>
            <a:r>
              <a:rPr lang="en-US" altLang="zh-CN" sz="2200" dirty="0"/>
              <a:t>A</a:t>
            </a:r>
            <a:r>
              <a:rPr lang="zh-CN" altLang="en-US" sz="2200" dirty="0"/>
              <a:t>        </a:t>
            </a:r>
            <a:endParaRPr lang="en-US" altLang="zh-CN" sz="2200" dirty="0" smtClean="0"/>
          </a:p>
          <a:p>
            <a:pPr>
              <a:lnSpc>
                <a:spcPct val="120000"/>
              </a:lnSpc>
              <a:spcBef>
                <a:spcPts val="0"/>
              </a:spcBef>
              <a:spcAft>
                <a:spcPts val="0"/>
              </a:spcAft>
              <a:buNone/>
            </a:pPr>
            <a:r>
              <a:rPr lang="en-US" altLang="zh-CN" sz="2200" dirty="0"/>
              <a:t> </a:t>
            </a:r>
            <a:r>
              <a:rPr lang="en-US" altLang="zh-CN" sz="2200" dirty="0" smtClean="0"/>
              <a:t> B</a:t>
            </a:r>
            <a:r>
              <a:rPr lang="zh-CN" altLang="en-US" sz="2200" dirty="0"/>
              <a:t>、</a:t>
            </a:r>
            <a:r>
              <a:rPr lang="en-US" altLang="zh-CN" sz="2200" dirty="0">
                <a:sym typeface="+mn-ea"/>
              </a:rPr>
              <a:t>T1</a:t>
            </a:r>
            <a:r>
              <a:rPr lang="zh-CN" altLang="en-US" sz="2200" dirty="0">
                <a:sym typeface="+mn-ea"/>
              </a:rPr>
              <a:t>正在写</a:t>
            </a:r>
            <a:r>
              <a:rPr lang="en-US" altLang="zh-CN" sz="2200" dirty="0">
                <a:sym typeface="+mn-ea"/>
              </a:rPr>
              <a:t>A,T2</a:t>
            </a:r>
            <a:r>
              <a:rPr lang="zh-CN" altLang="en-US" sz="2200" dirty="0">
                <a:sym typeface="+mn-ea"/>
              </a:rPr>
              <a:t>也要写</a:t>
            </a:r>
            <a:r>
              <a:rPr lang="en-US" altLang="zh-CN" sz="2200" dirty="0">
                <a:sym typeface="+mn-ea"/>
              </a:rPr>
              <a:t>A</a:t>
            </a:r>
            <a:endParaRPr lang="en-US" altLang="zh-CN" sz="2200" dirty="0">
              <a:sym typeface="+mn-ea"/>
            </a:endParaRPr>
          </a:p>
          <a:p>
            <a:pPr>
              <a:lnSpc>
                <a:spcPct val="120000"/>
              </a:lnSpc>
              <a:spcBef>
                <a:spcPts val="0"/>
              </a:spcBef>
              <a:spcAft>
                <a:spcPts val="0"/>
              </a:spcAft>
              <a:buNone/>
            </a:pPr>
            <a:r>
              <a:rPr lang="en-US" altLang="zh-CN" sz="2200" dirty="0"/>
              <a:t>  C</a:t>
            </a:r>
            <a:r>
              <a:rPr lang="zh-CN" altLang="en-US" sz="2200" dirty="0"/>
              <a:t>、</a:t>
            </a:r>
            <a:r>
              <a:rPr lang="en-US" altLang="zh-CN" sz="2200" dirty="0"/>
              <a:t>T1</a:t>
            </a:r>
            <a:r>
              <a:rPr lang="zh-CN" altLang="en-US" sz="2200" dirty="0"/>
              <a:t>正在读</a:t>
            </a:r>
            <a:r>
              <a:rPr lang="en-US" altLang="zh-CN" sz="2200" dirty="0"/>
              <a:t>A,T2</a:t>
            </a:r>
            <a:r>
              <a:rPr lang="zh-CN" altLang="en-US" sz="2200" dirty="0"/>
              <a:t>要写</a:t>
            </a:r>
            <a:r>
              <a:rPr lang="en-US" altLang="zh-CN" sz="2200" dirty="0"/>
              <a:t>A   </a:t>
            </a:r>
            <a:r>
              <a:rPr lang="zh-CN" altLang="en-US" sz="2200" dirty="0"/>
              <a:t>     </a:t>
            </a:r>
            <a:endParaRPr lang="en-US" altLang="zh-CN" sz="2200" dirty="0" smtClean="0"/>
          </a:p>
          <a:p>
            <a:pPr>
              <a:lnSpc>
                <a:spcPct val="120000"/>
              </a:lnSpc>
              <a:spcBef>
                <a:spcPts val="0"/>
              </a:spcBef>
              <a:spcAft>
                <a:spcPts val="0"/>
              </a:spcAft>
              <a:buNone/>
            </a:pPr>
            <a:r>
              <a:rPr lang="en-US" altLang="zh-CN" sz="2200" dirty="0"/>
              <a:t> </a:t>
            </a:r>
            <a:r>
              <a:rPr lang="en-US" altLang="zh-CN" sz="2200" dirty="0" smtClean="0"/>
              <a:t> D</a:t>
            </a:r>
            <a:r>
              <a:rPr lang="zh-CN" altLang="en-US" sz="2200" dirty="0"/>
              <a:t>、</a:t>
            </a:r>
            <a:r>
              <a:rPr lang="en-US" altLang="zh-CN" sz="2200" dirty="0">
                <a:sym typeface="+mn-ea"/>
              </a:rPr>
              <a:t>T1</a:t>
            </a:r>
            <a:r>
              <a:rPr lang="zh-CN" altLang="en-US" sz="2200" dirty="0">
                <a:sym typeface="+mn-ea"/>
              </a:rPr>
              <a:t>正在读</a:t>
            </a:r>
            <a:r>
              <a:rPr lang="en-US" altLang="zh-CN" sz="2200" dirty="0">
                <a:sym typeface="+mn-ea"/>
              </a:rPr>
              <a:t>A,T2</a:t>
            </a:r>
            <a:r>
              <a:rPr lang="zh-CN" altLang="en-US" sz="2200" dirty="0">
                <a:sym typeface="+mn-ea"/>
              </a:rPr>
              <a:t>也要读</a:t>
            </a:r>
            <a:r>
              <a:rPr lang="en-US" altLang="zh-CN" sz="2200" dirty="0">
                <a:sym typeface="+mn-ea"/>
              </a:rPr>
              <a:t>A  </a:t>
            </a:r>
            <a:endParaRPr lang="zh-CN" altLang="en-US" sz="2200" dirty="0"/>
          </a:p>
        </p:txBody>
      </p:sp>
      <p:sp>
        <p:nvSpPr>
          <p:cNvPr id="13" name="文本框 12"/>
          <p:cNvSpPr txBox="1"/>
          <p:nvPr/>
        </p:nvSpPr>
        <p:spPr>
          <a:xfrm>
            <a:off x="5981065" y="1303312"/>
            <a:ext cx="403225" cy="589280"/>
          </a:xfrm>
          <a:prstGeom prst="rect">
            <a:avLst/>
          </a:prstGeom>
          <a:noFill/>
        </p:spPr>
        <p:txBody>
          <a:bodyPr wrap="none" rtlCol="0" anchor="t">
            <a:spAutoFit/>
          </a:bodyPr>
          <a:lstStyle/>
          <a:p>
            <a:pPr>
              <a:buNone/>
            </a:pPr>
            <a:r>
              <a:rPr lang="en-US" altLang="zh-CN" sz="2400">
                <a:solidFill>
                  <a:srgbClr val="C00000"/>
                </a:solidFill>
              </a:rPr>
              <a:t>D</a:t>
            </a:r>
            <a:endParaRPr lang="en-US" altLang="zh-CN" sz="2400">
              <a:solidFill>
                <a:srgbClr val="C00000"/>
              </a:solidFill>
            </a:endParaRPr>
          </a:p>
        </p:txBody>
      </p:sp>
      <p:pic>
        <p:nvPicPr>
          <p:cNvPr id="2" name="图片 1"/>
          <p:cNvPicPr>
            <a:picLocks noChangeAspect="1"/>
          </p:cNvPicPr>
          <p:nvPr/>
        </p:nvPicPr>
        <p:blipFill>
          <a:blip r:embed="rId1"/>
          <a:srcRect l="47905" r="2165" b="18962"/>
          <a:stretch>
            <a:fillRect/>
          </a:stretch>
        </p:blipFill>
        <p:spPr>
          <a:xfrm>
            <a:off x="4809490" y="3828415"/>
            <a:ext cx="3314065" cy="2332990"/>
          </a:xfrm>
          <a:prstGeom prst="rect">
            <a:avLst/>
          </a:prstGeom>
        </p:spPr>
      </p:pic>
      <p:sp>
        <p:nvSpPr>
          <p:cNvPr id="3" name="文本框 2"/>
          <p:cNvSpPr txBox="1"/>
          <p:nvPr/>
        </p:nvSpPr>
        <p:spPr>
          <a:xfrm>
            <a:off x="554355" y="3510655"/>
            <a:ext cx="8316595" cy="2526665"/>
          </a:xfrm>
          <a:prstGeom prst="rect">
            <a:avLst/>
          </a:prstGeom>
          <a:noFill/>
        </p:spPr>
        <p:txBody>
          <a:bodyPr wrap="square" rtlCol="0" anchor="t">
            <a:spAutoFit/>
          </a:bodyPr>
          <a:lstStyle/>
          <a:p>
            <a:pPr>
              <a:lnSpc>
                <a:spcPct val="120000"/>
              </a:lnSpc>
              <a:spcBef>
                <a:spcPts val="0"/>
              </a:spcBef>
              <a:spcAft>
                <a:spcPts val="0"/>
              </a:spcAft>
              <a:buNone/>
            </a:pPr>
            <a:r>
              <a:rPr lang="en-US" altLang="zh-CN" sz="2200" dirty="0"/>
              <a:t>5</a:t>
            </a:r>
            <a:r>
              <a:rPr lang="zh-CN" altLang="en-US" sz="2200" dirty="0"/>
              <a:t>、设事务</a:t>
            </a:r>
            <a:r>
              <a:rPr lang="en-US" altLang="zh-CN" sz="2200" dirty="0"/>
              <a:t>T1</a:t>
            </a:r>
            <a:r>
              <a:rPr lang="zh-CN" altLang="en-US" sz="2200" dirty="0"/>
              <a:t>和事务</a:t>
            </a:r>
            <a:r>
              <a:rPr lang="en-US" altLang="zh-CN" sz="2200" dirty="0"/>
              <a:t>T2</a:t>
            </a:r>
            <a:r>
              <a:rPr lang="zh-CN" sz="2200" dirty="0"/>
              <a:t>，其并发操作如右图，下列评价正确的是</a:t>
            </a:r>
            <a:r>
              <a:rPr lang="zh-CN" altLang="en-US" sz="2200" dirty="0"/>
              <a:t>（      ） </a:t>
            </a:r>
            <a:endParaRPr lang="zh-CN" altLang="en-US" sz="2200" dirty="0"/>
          </a:p>
          <a:p>
            <a:pPr>
              <a:lnSpc>
                <a:spcPct val="120000"/>
              </a:lnSpc>
              <a:spcBef>
                <a:spcPts val="0"/>
              </a:spcBef>
              <a:spcAft>
                <a:spcPts val="0"/>
              </a:spcAft>
              <a:buNone/>
            </a:pPr>
            <a:r>
              <a:rPr lang="en-US" altLang="zh-CN" sz="2200" dirty="0"/>
              <a:t>  A</a:t>
            </a:r>
            <a:r>
              <a:rPr lang="zh-CN" altLang="en-US" sz="2200" dirty="0"/>
              <a:t>、该操作不存在问题           </a:t>
            </a:r>
            <a:endParaRPr lang="zh-CN" altLang="en-US" sz="2200" dirty="0"/>
          </a:p>
          <a:p>
            <a:pPr>
              <a:lnSpc>
                <a:spcPct val="120000"/>
              </a:lnSpc>
              <a:spcBef>
                <a:spcPts val="0"/>
              </a:spcBef>
              <a:spcAft>
                <a:spcPts val="0"/>
              </a:spcAft>
              <a:buNone/>
            </a:pPr>
            <a:r>
              <a:rPr lang="zh-CN" altLang="en-US" sz="2200" dirty="0"/>
              <a:t>  </a:t>
            </a:r>
            <a:r>
              <a:rPr lang="en-US" altLang="zh-CN" sz="2200" dirty="0"/>
              <a:t>B</a:t>
            </a:r>
            <a:r>
              <a:rPr lang="zh-CN" altLang="en-US" sz="2200" dirty="0"/>
              <a:t>、</a:t>
            </a:r>
            <a:r>
              <a:rPr lang="zh-CN" altLang="en-US" sz="2200" dirty="0">
                <a:sym typeface="+mn-ea"/>
              </a:rPr>
              <a:t>该操作丢失更新</a:t>
            </a:r>
            <a:endParaRPr lang="en-US" altLang="zh-CN" sz="2200" dirty="0">
              <a:sym typeface="+mn-ea"/>
            </a:endParaRPr>
          </a:p>
          <a:p>
            <a:pPr>
              <a:lnSpc>
                <a:spcPct val="120000"/>
              </a:lnSpc>
              <a:spcBef>
                <a:spcPts val="0"/>
              </a:spcBef>
              <a:spcAft>
                <a:spcPts val="0"/>
              </a:spcAft>
              <a:buNone/>
            </a:pPr>
            <a:r>
              <a:rPr lang="en-US" altLang="zh-CN" sz="2200" dirty="0"/>
              <a:t>  C</a:t>
            </a:r>
            <a:r>
              <a:rPr lang="zh-CN" altLang="en-US" sz="2200" dirty="0"/>
              <a:t>、该操作读值不可复现</a:t>
            </a:r>
            <a:r>
              <a:rPr lang="en-US" altLang="zh-CN" sz="2200" dirty="0"/>
              <a:t>   </a:t>
            </a:r>
            <a:r>
              <a:rPr lang="zh-CN" altLang="en-US" sz="2200" dirty="0"/>
              <a:t>     </a:t>
            </a:r>
            <a:endParaRPr lang="zh-CN" altLang="en-US" sz="2200" dirty="0"/>
          </a:p>
          <a:p>
            <a:pPr>
              <a:lnSpc>
                <a:spcPct val="120000"/>
              </a:lnSpc>
              <a:spcBef>
                <a:spcPts val="0"/>
              </a:spcBef>
              <a:spcAft>
                <a:spcPts val="0"/>
              </a:spcAft>
              <a:buNone/>
            </a:pPr>
            <a:r>
              <a:rPr lang="zh-CN" altLang="en-US" sz="2200" dirty="0"/>
              <a:t>  </a:t>
            </a:r>
            <a:r>
              <a:rPr lang="en-US" altLang="zh-CN" sz="2200" dirty="0"/>
              <a:t>D</a:t>
            </a:r>
            <a:r>
              <a:rPr lang="zh-CN" altLang="en-US" sz="2200" dirty="0"/>
              <a:t>、该操作读</a:t>
            </a:r>
            <a:r>
              <a:rPr lang="en-US" altLang="zh-CN" sz="2200" dirty="0"/>
              <a:t>“</a:t>
            </a:r>
            <a:r>
              <a:rPr lang="zh-CN" altLang="en-US" sz="2200" dirty="0"/>
              <a:t>脏数据</a:t>
            </a:r>
            <a:r>
              <a:rPr lang="en-US" altLang="zh-CN" sz="2200" dirty="0"/>
              <a:t>”</a:t>
            </a:r>
            <a:endParaRPr lang="en-US" altLang="zh-CN" sz="2200" dirty="0"/>
          </a:p>
        </p:txBody>
      </p:sp>
      <p:sp>
        <p:nvSpPr>
          <p:cNvPr id="4" name="文本框 3"/>
          <p:cNvSpPr txBox="1"/>
          <p:nvPr/>
        </p:nvSpPr>
        <p:spPr>
          <a:xfrm>
            <a:off x="964565" y="3972105"/>
            <a:ext cx="403225" cy="589280"/>
          </a:xfrm>
          <a:prstGeom prst="rect">
            <a:avLst/>
          </a:prstGeom>
          <a:noFill/>
        </p:spPr>
        <p:txBody>
          <a:bodyPr wrap="none" rtlCol="0" anchor="t">
            <a:spAutoFit/>
          </a:bodyPr>
          <a:lstStyle/>
          <a:p>
            <a:pPr>
              <a:buNone/>
            </a:pPr>
            <a:r>
              <a:rPr lang="en-US" altLang="zh-CN" sz="2400" dirty="0">
                <a:solidFill>
                  <a:srgbClr val="C00000"/>
                </a:solidFill>
              </a:rPr>
              <a:t>B</a:t>
            </a:r>
            <a:endParaRPr lang="en-US" altLang="zh-CN" sz="2400" dirty="0">
              <a:solidFill>
                <a:srgbClr val="C00000"/>
              </a:solidFill>
            </a:endParaRPr>
          </a:p>
        </p:txBody>
      </p:sp>
      <p:sp>
        <p:nvSpPr>
          <p:cNvPr id="45" name="文本框 44"/>
          <p:cNvSpPr txBox="1"/>
          <p:nvPr/>
        </p:nvSpPr>
        <p:spPr>
          <a:xfrm>
            <a:off x="442913" y="16657"/>
            <a:ext cx="2681605" cy="829945"/>
          </a:xfrm>
          <a:prstGeom prst="rect">
            <a:avLst/>
          </a:prstGeom>
          <a:noFill/>
        </p:spPr>
        <p:txBody>
          <a:bodyPr wrap="none" rtlCol="0" anchor="t">
            <a:spAutoFit/>
          </a:bodyPr>
          <a:lstStyle/>
          <a:p>
            <a:pPr marL="457200" indent="-457200" algn="just">
              <a:lnSpc>
                <a:spcPct val="150000"/>
              </a:lnSpc>
              <a:spcAft>
                <a:spcPts val="0"/>
              </a:spcAft>
              <a:buFont typeface="Wingdings" panose="05000000000000000000" pitchFamily="2" charset="2"/>
              <a:buChar char="p"/>
            </a:pPr>
            <a:r>
              <a:rPr lang="zh-CN" altLang="zh-CN" sz="3200" kern="100" dirty="0" smtClean="0">
                <a:solidFill>
                  <a:srgbClr val="FF0000"/>
                </a:solidFill>
                <a:latin typeface="Calibri" panose="020F0502020204030204" pitchFamily="34" charset="0"/>
                <a:cs typeface="Times New Roman" panose="02020603050405020304" pitchFamily="2" charset="0"/>
                <a:sym typeface="+mn-ea"/>
              </a:rPr>
              <a:t>问题研讨：</a:t>
            </a:r>
            <a:endParaRPr lang="zh-CN" altLang="en-US" sz="3200"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 calcmode="lin" valueType="num">
                                      <p:cBhvr additive="base">
                                        <p:cTn id="7" dur="500" fill="hold"/>
                                        <p:tgtEl>
                                          <p:spTgt spid="13"/>
                                        </p:tgtEl>
                                        <p:attrNameLst>
                                          <p:attrName>ppt_x</p:attrName>
                                        </p:attrNameLst>
                                      </p:cBhvr>
                                      <p:tavLst>
                                        <p:tav tm="0">
                                          <p:val>
                                            <p:strVal val="#ppt_x"/>
                                          </p:val>
                                        </p:tav>
                                        <p:tav tm="100000">
                                          <p:val>
                                            <p:strVal val="#ppt_x"/>
                                          </p:val>
                                        </p:tav>
                                      </p:tavLst>
                                    </p:anim>
                                    <p:anim calcmode="lin" valueType="num">
                                      <p:cBhvr additive="base">
                                        <p:cTn id="8"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4"/>
                                        </p:tgtEl>
                                        <p:attrNameLst>
                                          <p:attrName>style.visibility</p:attrName>
                                        </p:attrNameLst>
                                      </p:cBhvr>
                                      <p:to>
                                        <p:strVal val="visible"/>
                                      </p:to>
                                    </p:set>
                                    <p:anim calcmode="lin" valueType="num">
                                      <p:cBhvr additive="base">
                                        <p:cTn id="13" dur="500" fill="hold"/>
                                        <p:tgtEl>
                                          <p:spTgt spid="4"/>
                                        </p:tgtEl>
                                        <p:attrNameLst>
                                          <p:attrName>ppt_x</p:attrName>
                                        </p:attrNameLst>
                                      </p:cBhvr>
                                      <p:tavLst>
                                        <p:tav tm="0">
                                          <p:val>
                                            <p:strVal val="#ppt_x"/>
                                          </p:val>
                                        </p:tav>
                                        <p:tav tm="100000">
                                          <p:val>
                                            <p:strVal val="#ppt_x"/>
                                          </p:val>
                                        </p:tav>
                                      </p:tavLst>
                                    </p:anim>
                                    <p:anim calcmode="lin" valueType="num">
                                      <p:cBhvr additive="base">
                                        <p:cTn id="14"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4"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文本框 99"/>
          <p:cNvSpPr txBox="1"/>
          <p:nvPr/>
        </p:nvSpPr>
        <p:spPr>
          <a:xfrm>
            <a:off x="690245" y="1012190"/>
            <a:ext cx="8131810" cy="1783715"/>
          </a:xfrm>
          <a:prstGeom prst="rect">
            <a:avLst/>
          </a:prstGeom>
          <a:noFill/>
          <a:ln w="9525">
            <a:noFill/>
          </a:ln>
        </p:spPr>
        <p:txBody>
          <a:bodyPr wrap="square">
            <a:spAutoFit/>
          </a:bodyPr>
          <a:lstStyle/>
          <a:p>
            <a:pPr>
              <a:lnSpc>
                <a:spcPct val="100000"/>
              </a:lnSpc>
              <a:buNone/>
            </a:pPr>
            <a:r>
              <a:rPr lang="en-US" sz="2200" b="0">
                <a:solidFill>
                  <a:srgbClr val="000000"/>
                </a:solidFill>
                <a:latin typeface="Arial" panose="020B0604020202020204" pitchFamily="34" charset="0"/>
              </a:rPr>
              <a:t>6. </a:t>
            </a:r>
            <a:r>
              <a:rPr lang="zh-CN" sz="2200" b="0">
                <a:solidFill>
                  <a:srgbClr val="000000"/>
                </a:solidFill>
                <a:latin typeface="Arial" panose="020B0604020202020204" pitchFamily="34" charset="0"/>
                <a:ea typeface="宋体" panose="02010600030101010101" pitchFamily="2" charset="-122"/>
              </a:rPr>
              <a:t>设有如下两个事务：</a:t>
            </a:r>
            <a:endParaRPr lang="en-US" sz="2200" b="0">
              <a:solidFill>
                <a:srgbClr val="000000"/>
              </a:solidFill>
              <a:latin typeface="Arial" panose="020B0604020202020204" pitchFamily="34" charset="0"/>
              <a:cs typeface="Arial" panose="020B0604020202020204" pitchFamily="34" charset="0"/>
            </a:endParaRPr>
          </a:p>
          <a:p>
            <a:pPr>
              <a:lnSpc>
                <a:spcPct val="100000"/>
              </a:lnSpc>
              <a:buNone/>
            </a:pPr>
            <a:r>
              <a:rPr lang="en-US" sz="2200" b="0">
                <a:solidFill>
                  <a:srgbClr val="000000"/>
                </a:solidFill>
                <a:latin typeface="Arial" panose="020B0604020202020204" pitchFamily="34" charset="0"/>
                <a:cs typeface="Arial" panose="020B0604020202020204" pitchFamily="34" charset="0"/>
              </a:rPr>
              <a:t>   T1</a:t>
            </a:r>
            <a:r>
              <a:rPr lang="zh-CN" sz="2200" b="0">
                <a:solidFill>
                  <a:srgbClr val="000000"/>
                </a:solidFill>
                <a:latin typeface="Arial" panose="020B0604020202020204" pitchFamily="34" charset="0"/>
                <a:ea typeface="宋体" panose="02010600030101010101" pitchFamily="2" charset="-122"/>
              </a:rPr>
              <a:t>：读</a:t>
            </a:r>
            <a:r>
              <a:rPr lang="en-US" sz="2200" b="0">
                <a:solidFill>
                  <a:srgbClr val="000000"/>
                </a:solidFill>
                <a:latin typeface="Arial" panose="020B0604020202020204" pitchFamily="34" charset="0"/>
              </a:rPr>
              <a:t>B</a:t>
            </a:r>
            <a:r>
              <a:rPr lang="zh-CN" sz="2200" b="0">
                <a:solidFill>
                  <a:srgbClr val="000000"/>
                </a:solidFill>
                <a:latin typeface="Arial" panose="020B0604020202020204" pitchFamily="34" charset="0"/>
                <a:ea typeface="宋体" panose="02010600030101010101" pitchFamily="2" charset="-122"/>
              </a:rPr>
              <a:t>；</a:t>
            </a:r>
            <a:r>
              <a:rPr lang="en-US" sz="2200" b="0">
                <a:solidFill>
                  <a:srgbClr val="000000"/>
                </a:solidFill>
                <a:latin typeface="Arial" panose="020B0604020202020204" pitchFamily="34" charset="0"/>
              </a:rPr>
              <a:t>A=B+1</a:t>
            </a:r>
            <a:r>
              <a:rPr lang="zh-CN" sz="2200" b="0">
                <a:solidFill>
                  <a:srgbClr val="000000"/>
                </a:solidFill>
                <a:latin typeface="Arial" panose="020B0604020202020204" pitchFamily="34" charset="0"/>
                <a:ea typeface="宋体" panose="02010600030101010101" pitchFamily="2" charset="-122"/>
              </a:rPr>
              <a:t>；写回</a:t>
            </a:r>
            <a:r>
              <a:rPr lang="en-US" sz="2200" b="0">
                <a:solidFill>
                  <a:srgbClr val="000000"/>
                </a:solidFill>
                <a:latin typeface="Arial" panose="020B0604020202020204" pitchFamily="34" charset="0"/>
              </a:rPr>
              <a:t>A</a:t>
            </a:r>
            <a:endParaRPr lang="en-US" sz="2200" b="0">
              <a:solidFill>
                <a:srgbClr val="000000"/>
              </a:solidFill>
              <a:latin typeface="Arial" panose="020B0604020202020204" pitchFamily="34" charset="0"/>
              <a:cs typeface="Arial" panose="020B0604020202020204" pitchFamily="34" charset="0"/>
            </a:endParaRPr>
          </a:p>
          <a:p>
            <a:pPr>
              <a:lnSpc>
                <a:spcPct val="100000"/>
              </a:lnSpc>
              <a:buNone/>
            </a:pPr>
            <a:r>
              <a:rPr lang="en-US" sz="2200" b="0">
                <a:solidFill>
                  <a:srgbClr val="000000"/>
                </a:solidFill>
                <a:latin typeface="Arial" panose="020B0604020202020204" pitchFamily="34" charset="0"/>
                <a:cs typeface="Arial" panose="020B0604020202020204" pitchFamily="34" charset="0"/>
              </a:rPr>
              <a:t>   T2</a:t>
            </a:r>
            <a:r>
              <a:rPr lang="zh-CN" sz="2200" b="0">
                <a:solidFill>
                  <a:srgbClr val="000000"/>
                </a:solidFill>
                <a:latin typeface="Arial" panose="020B0604020202020204" pitchFamily="34" charset="0"/>
                <a:ea typeface="宋体" panose="02010600030101010101" pitchFamily="2" charset="-122"/>
              </a:rPr>
              <a:t>：读</a:t>
            </a:r>
            <a:r>
              <a:rPr lang="en-US" sz="2200" b="0">
                <a:solidFill>
                  <a:srgbClr val="000000"/>
                </a:solidFill>
                <a:latin typeface="Arial" panose="020B0604020202020204" pitchFamily="34" charset="0"/>
              </a:rPr>
              <a:t>A</a:t>
            </a:r>
            <a:r>
              <a:rPr lang="zh-CN" sz="2200" b="0">
                <a:solidFill>
                  <a:srgbClr val="000000"/>
                </a:solidFill>
                <a:latin typeface="Arial" panose="020B0604020202020204" pitchFamily="34" charset="0"/>
                <a:ea typeface="宋体" panose="02010600030101010101" pitchFamily="2" charset="-122"/>
              </a:rPr>
              <a:t>；</a:t>
            </a:r>
            <a:r>
              <a:rPr lang="en-US" sz="2200" b="0">
                <a:solidFill>
                  <a:srgbClr val="000000"/>
                </a:solidFill>
                <a:latin typeface="Arial" panose="020B0604020202020204" pitchFamily="34" charset="0"/>
              </a:rPr>
              <a:t>B=A+1</a:t>
            </a:r>
            <a:r>
              <a:rPr lang="zh-CN" sz="2200" b="0">
                <a:solidFill>
                  <a:srgbClr val="000000"/>
                </a:solidFill>
                <a:latin typeface="Arial" panose="020B0604020202020204" pitchFamily="34" charset="0"/>
                <a:ea typeface="宋体" panose="02010600030101010101" pitchFamily="2" charset="-122"/>
              </a:rPr>
              <a:t>；写回</a:t>
            </a:r>
            <a:r>
              <a:rPr lang="en-US" sz="2200" b="0">
                <a:solidFill>
                  <a:srgbClr val="000000"/>
                </a:solidFill>
                <a:latin typeface="Arial" panose="020B0604020202020204" pitchFamily="34" charset="0"/>
              </a:rPr>
              <a:t>B</a:t>
            </a:r>
            <a:endParaRPr lang="zh-CN" sz="2200" b="0">
              <a:solidFill>
                <a:srgbClr val="000000"/>
              </a:solidFill>
              <a:latin typeface="Arial" panose="020B0604020202020204" pitchFamily="34" charset="0"/>
              <a:ea typeface="宋体" panose="02010600030101010101" pitchFamily="2" charset="-122"/>
            </a:endParaRPr>
          </a:p>
          <a:p>
            <a:pPr>
              <a:lnSpc>
                <a:spcPct val="100000"/>
              </a:lnSpc>
              <a:buNone/>
            </a:pPr>
            <a:r>
              <a:rPr lang="zh-CN" sz="2200" b="0">
                <a:solidFill>
                  <a:srgbClr val="000000"/>
                </a:solidFill>
                <a:latin typeface="Arial" panose="020B0604020202020204" pitchFamily="34" charset="0"/>
                <a:ea typeface="宋体" panose="02010600030101010101" pitchFamily="2" charset="-122"/>
              </a:rPr>
              <a:t>设</a:t>
            </a:r>
            <a:r>
              <a:rPr lang="en-US" sz="2200" b="0">
                <a:solidFill>
                  <a:srgbClr val="000000"/>
                </a:solidFill>
                <a:latin typeface="Arial" panose="020B0604020202020204" pitchFamily="34" charset="0"/>
                <a:cs typeface="Arial" panose="020B0604020202020204" pitchFamily="34" charset="0"/>
              </a:rPr>
              <a:t>A</a:t>
            </a:r>
            <a:r>
              <a:rPr lang="zh-CN" sz="2200" b="0">
                <a:solidFill>
                  <a:srgbClr val="000000"/>
                </a:solidFill>
                <a:latin typeface="Arial" panose="020B0604020202020204" pitchFamily="34" charset="0"/>
                <a:ea typeface="宋体" panose="02010600030101010101" pitchFamily="2" charset="-122"/>
              </a:rPr>
              <a:t>、</a:t>
            </a:r>
            <a:r>
              <a:rPr lang="en-US" sz="2200" b="0">
                <a:solidFill>
                  <a:srgbClr val="000000"/>
                </a:solidFill>
                <a:latin typeface="Arial" panose="020B0604020202020204" pitchFamily="34" charset="0"/>
              </a:rPr>
              <a:t>B</a:t>
            </a:r>
            <a:r>
              <a:rPr lang="zh-CN" sz="2200" b="0">
                <a:solidFill>
                  <a:srgbClr val="000000"/>
                </a:solidFill>
                <a:latin typeface="Arial" panose="020B0604020202020204" pitchFamily="34" charset="0"/>
                <a:ea typeface="宋体" panose="02010600030101010101" pitchFamily="2" charset="-122"/>
              </a:rPr>
              <a:t>的初始值均为</a:t>
            </a:r>
            <a:r>
              <a:rPr lang="en-US" sz="2200" b="0">
                <a:solidFill>
                  <a:srgbClr val="000000"/>
                </a:solidFill>
                <a:latin typeface="Arial" panose="020B0604020202020204" pitchFamily="34" charset="0"/>
              </a:rPr>
              <a:t>2</a:t>
            </a:r>
            <a:r>
              <a:rPr lang="zh-CN" sz="2200" b="0">
                <a:solidFill>
                  <a:srgbClr val="000000"/>
                </a:solidFill>
                <a:latin typeface="Arial" panose="020B0604020202020204" pitchFamily="34" charset="0"/>
                <a:ea typeface="宋体" panose="02010600030101010101" pitchFamily="2" charset="-122"/>
              </a:rPr>
              <a:t>，若某一并发调度的执行结果为</a:t>
            </a:r>
            <a:r>
              <a:rPr lang="en-US" sz="2200" b="0">
                <a:solidFill>
                  <a:srgbClr val="000000"/>
                </a:solidFill>
                <a:latin typeface="Arial" panose="020B0604020202020204" pitchFamily="34" charset="0"/>
              </a:rPr>
              <a:t>A=3</a:t>
            </a:r>
            <a:r>
              <a:rPr lang="zh-CN" sz="2200" b="0">
                <a:solidFill>
                  <a:srgbClr val="000000"/>
                </a:solidFill>
                <a:latin typeface="Arial" panose="020B0604020202020204" pitchFamily="34" charset="0"/>
                <a:ea typeface="宋体" panose="02010600030101010101" pitchFamily="2" charset="-122"/>
              </a:rPr>
              <a:t>、</a:t>
            </a:r>
            <a:r>
              <a:rPr lang="en-US" sz="2200" b="0">
                <a:solidFill>
                  <a:srgbClr val="000000"/>
                </a:solidFill>
                <a:latin typeface="Arial" panose="020B0604020202020204" pitchFamily="34" charset="0"/>
              </a:rPr>
              <a:t>B=3</a:t>
            </a:r>
            <a:r>
              <a:rPr lang="zh-CN" sz="2200" b="0">
                <a:solidFill>
                  <a:srgbClr val="000000"/>
                </a:solidFill>
                <a:latin typeface="Arial" panose="020B0604020202020204" pitchFamily="34" charset="0"/>
                <a:ea typeface="宋体" panose="02010600030101010101" pitchFamily="2" charset="-122"/>
              </a:rPr>
              <a:t>，则该调度是否为可串行化调度？说明理由。</a:t>
            </a:r>
            <a:endParaRPr lang="zh-CN" altLang="en-US" sz="2200"/>
          </a:p>
        </p:txBody>
      </p:sp>
      <p:sp>
        <p:nvSpPr>
          <p:cNvPr id="2" name="文本框 1"/>
          <p:cNvSpPr txBox="1"/>
          <p:nvPr/>
        </p:nvSpPr>
        <p:spPr>
          <a:xfrm>
            <a:off x="690245" y="2795905"/>
            <a:ext cx="7844790" cy="3119755"/>
          </a:xfrm>
          <a:prstGeom prst="rect">
            <a:avLst/>
          </a:prstGeom>
          <a:noFill/>
          <a:ln w="9525">
            <a:noFill/>
          </a:ln>
        </p:spPr>
        <p:txBody>
          <a:bodyPr wrap="square">
            <a:spAutoFit/>
          </a:bodyPr>
          <a:lstStyle/>
          <a:p>
            <a:pPr>
              <a:lnSpc>
                <a:spcPct val="120000"/>
              </a:lnSpc>
              <a:spcBef>
                <a:spcPts val="0"/>
              </a:spcBef>
              <a:spcAft>
                <a:spcPts val="0"/>
              </a:spcAft>
              <a:buNone/>
            </a:pPr>
            <a:r>
              <a:rPr lang="zh-CN" sz="2400">
                <a:solidFill>
                  <a:srgbClr val="C00000"/>
                </a:solidFill>
                <a:ea typeface="楷体" panose="02010609060101010101" pitchFamily="1" charset="-122"/>
              </a:rPr>
              <a:t>答：</a:t>
            </a:r>
            <a:r>
              <a:rPr lang="zh-CN" sz="2000" b="0">
                <a:solidFill>
                  <a:srgbClr val="0000FF"/>
                </a:solidFill>
                <a:ea typeface="楷体" panose="02010609060101010101" pitchFamily="1" charset="-122"/>
              </a:rPr>
              <a:t>事务T1和T2可能的串行调度：</a:t>
            </a:r>
            <a:endParaRPr lang="zh-CN" sz="2000" b="0">
              <a:solidFill>
                <a:srgbClr val="0000FF"/>
              </a:solidFill>
              <a:ea typeface="楷体" panose="02010609060101010101" pitchFamily="1" charset="-122"/>
            </a:endParaRPr>
          </a:p>
          <a:p>
            <a:pPr>
              <a:lnSpc>
                <a:spcPct val="120000"/>
              </a:lnSpc>
              <a:spcBef>
                <a:spcPts val="0"/>
              </a:spcBef>
              <a:spcAft>
                <a:spcPts val="0"/>
              </a:spcAft>
              <a:buNone/>
            </a:pPr>
            <a:r>
              <a:rPr lang="zh-CN" sz="2000" b="0">
                <a:solidFill>
                  <a:srgbClr val="0000FF"/>
                </a:solidFill>
                <a:ea typeface="楷体" panose="02010609060101010101" pitchFamily="1" charset="-122"/>
              </a:rPr>
              <a:t>（1）T1T2：先执行T1，A=3；再执行T2，B=4；若T1失败T2成功， A=2；B=3；若T1成功T2失败 A=3，B=2；若T1和T2均执行失败，则A=2，B=2。</a:t>
            </a:r>
            <a:endParaRPr lang="zh-CN" sz="2000" b="0">
              <a:solidFill>
                <a:srgbClr val="0000FF"/>
              </a:solidFill>
              <a:ea typeface="楷体" panose="02010609060101010101" pitchFamily="1" charset="-122"/>
            </a:endParaRPr>
          </a:p>
          <a:p>
            <a:pPr>
              <a:lnSpc>
                <a:spcPct val="120000"/>
              </a:lnSpc>
              <a:spcBef>
                <a:spcPts val="0"/>
              </a:spcBef>
              <a:spcAft>
                <a:spcPts val="0"/>
              </a:spcAft>
              <a:buNone/>
            </a:pPr>
            <a:r>
              <a:rPr lang="zh-CN" sz="2000" b="0">
                <a:solidFill>
                  <a:srgbClr val="0000FF"/>
                </a:solidFill>
                <a:ea typeface="楷体" panose="02010609060101010101" pitchFamily="1" charset="-122"/>
              </a:rPr>
              <a:t>（2）T2T1：先执行T2，B=3；再执行T1，A=4；若T2失败T1成功，A=3，B=2；若T2成功T1失败，B=3，A=2；若T1和T2均执行失败，则A=2，B=2。</a:t>
            </a:r>
            <a:endParaRPr lang="zh-CN" sz="2000" b="0">
              <a:solidFill>
                <a:srgbClr val="0000FF"/>
              </a:solidFill>
              <a:ea typeface="楷体" panose="02010609060101010101" pitchFamily="1" charset="-122"/>
            </a:endParaRPr>
          </a:p>
          <a:p>
            <a:pPr>
              <a:lnSpc>
                <a:spcPct val="120000"/>
              </a:lnSpc>
              <a:spcBef>
                <a:spcPts val="0"/>
              </a:spcBef>
              <a:spcAft>
                <a:spcPts val="0"/>
              </a:spcAft>
              <a:buNone/>
            </a:pPr>
            <a:r>
              <a:rPr lang="zh-CN" sz="2000" b="0">
                <a:solidFill>
                  <a:srgbClr val="0000FF"/>
                </a:solidFill>
                <a:ea typeface="楷体" panose="02010609060101010101" pitchFamily="1" charset="-122"/>
              </a:rPr>
              <a:t>所以A=3，B=3的调度不是可串行化的调度。</a:t>
            </a:r>
            <a:endParaRPr lang="zh-CN" altLang="en-US" sz="2000"/>
          </a:p>
        </p:txBody>
      </p:sp>
      <p:sp>
        <p:nvSpPr>
          <p:cNvPr id="4" name="文本框 3"/>
          <p:cNvSpPr txBox="1"/>
          <p:nvPr/>
        </p:nvSpPr>
        <p:spPr>
          <a:xfrm>
            <a:off x="442913" y="16657"/>
            <a:ext cx="2681605" cy="829945"/>
          </a:xfrm>
          <a:prstGeom prst="rect">
            <a:avLst/>
          </a:prstGeom>
          <a:noFill/>
        </p:spPr>
        <p:txBody>
          <a:bodyPr wrap="none" rtlCol="0" anchor="t">
            <a:spAutoFit/>
          </a:bodyPr>
          <a:lstStyle/>
          <a:p>
            <a:pPr marL="457200" indent="-457200" algn="just">
              <a:lnSpc>
                <a:spcPct val="150000"/>
              </a:lnSpc>
              <a:spcAft>
                <a:spcPts val="0"/>
              </a:spcAft>
              <a:buFont typeface="Wingdings" panose="05000000000000000000" pitchFamily="2" charset="2"/>
              <a:buChar char="p"/>
            </a:pPr>
            <a:r>
              <a:rPr lang="zh-CN" altLang="zh-CN" sz="3200" kern="100" dirty="0" smtClean="0">
                <a:solidFill>
                  <a:srgbClr val="FF0000"/>
                </a:solidFill>
                <a:latin typeface="Calibri" panose="020F0502020204030204" pitchFamily="34" charset="0"/>
                <a:cs typeface="Times New Roman" panose="02020603050405020304" pitchFamily="2" charset="0"/>
                <a:sym typeface="+mn-ea"/>
              </a:rPr>
              <a:t>问题研讨：</a:t>
            </a:r>
            <a:endParaRPr lang="zh-CN" altLang="en-US" sz="3200"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文本框 8"/>
          <p:cNvSpPr txBox="1"/>
          <p:nvPr/>
        </p:nvSpPr>
        <p:spPr>
          <a:xfrm>
            <a:off x="554355" y="1292190"/>
            <a:ext cx="8316595" cy="1714500"/>
          </a:xfrm>
          <a:prstGeom prst="rect">
            <a:avLst/>
          </a:prstGeom>
          <a:noFill/>
        </p:spPr>
        <p:txBody>
          <a:bodyPr wrap="square" rtlCol="0" anchor="t">
            <a:spAutoFit/>
          </a:bodyPr>
          <a:lstStyle/>
          <a:p>
            <a:pPr>
              <a:lnSpc>
                <a:spcPct val="120000"/>
              </a:lnSpc>
              <a:spcBef>
                <a:spcPts val="0"/>
              </a:spcBef>
              <a:spcAft>
                <a:spcPts val="0"/>
              </a:spcAft>
              <a:buNone/>
            </a:pPr>
            <a:r>
              <a:rPr lang="en-US" altLang="zh-CN" sz="2200"/>
              <a:t>7</a:t>
            </a:r>
            <a:r>
              <a:rPr lang="zh-CN" altLang="en-US" sz="2200"/>
              <a:t>、设有如下调度</a:t>
            </a:r>
            <a:r>
              <a:rPr lang="en-US" sz="2200"/>
              <a:t>S=R</a:t>
            </a:r>
            <a:r>
              <a:rPr lang="en-US" sz="2200" baseline="-25000"/>
              <a:t>T2</a:t>
            </a:r>
            <a:r>
              <a:rPr lang="en-US" sz="2200"/>
              <a:t>(A)R</a:t>
            </a:r>
            <a:r>
              <a:rPr lang="en-US" sz="2200" baseline="-25000">
                <a:sym typeface="+mn-ea"/>
              </a:rPr>
              <a:t>T1</a:t>
            </a:r>
            <a:r>
              <a:rPr lang="en-US" sz="2200">
                <a:sym typeface="+mn-ea"/>
              </a:rPr>
              <a:t>(B)W</a:t>
            </a:r>
            <a:r>
              <a:rPr lang="en-US" sz="2200" baseline="-25000">
                <a:sym typeface="+mn-ea"/>
              </a:rPr>
              <a:t>T2</a:t>
            </a:r>
            <a:r>
              <a:rPr lang="en-US" sz="2200">
                <a:sym typeface="+mn-ea"/>
              </a:rPr>
              <a:t>(A)R</a:t>
            </a:r>
            <a:r>
              <a:rPr lang="en-US" sz="2200" baseline="-25000">
                <a:sym typeface="+mn-ea"/>
              </a:rPr>
              <a:t>T2</a:t>
            </a:r>
            <a:r>
              <a:rPr lang="en-US" sz="2200">
                <a:sym typeface="+mn-ea"/>
              </a:rPr>
              <a:t>(B)R</a:t>
            </a:r>
            <a:r>
              <a:rPr lang="en-US" sz="2200" baseline="-25000">
                <a:sym typeface="+mn-ea"/>
              </a:rPr>
              <a:t>T3</a:t>
            </a:r>
            <a:r>
              <a:rPr lang="en-US" sz="2200">
                <a:sym typeface="+mn-ea"/>
              </a:rPr>
              <a:t>(A)W</a:t>
            </a:r>
            <a:r>
              <a:rPr lang="en-US" sz="2200" baseline="-25000">
                <a:sym typeface="+mn-ea"/>
              </a:rPr>
              <a:t>T1</a:t>
            </a:r>
            <a:r>
              <a:rPr lang="en-US" sz="2200">
                <a:sym typeface="+mn-ea"/>
              </a:rPr>
              <a:t>(B)W</a:t>
            </a:r>
            <a:r>
              <a:rPr lang="en-US" sz="2200" baseline="-25000">
                <a:sym typeface="+mn-ea"/>
              </a:rPr>
              <a:t>T3</a:t>
            </a:r>
            <a:r>
              <a:rPr lang="en-US" sz="2200">
                <a:sym typeface="+mn-ea"/>
              </a:rPr>
              <a:t>(A)W</a:t>
            </a:r>
            <a:r>
              <a:rPr lang="en-US" sz="2200" baseline="-25000">
                <a:sym typeface="+mn-ea"/>
              </a:rPr>
              <a:t>T2</a:t>
            </a:r>
            <a:r>
              <a:rPr lang="en-US" sz="2200">
                <a:sym typeface="+mn-ea"/>
              </a:rPr>
              <a:t>(B)</a:t>
            </a:r>
            <a:endParaRPr lang="zh-CN" altLang="en-US" sz="2200"/>
          </a:p>
          <a:p>
            <a:pPr>
              <a:lnSpc>
                <a:spcPct val="120000"/>
              </a:lnSpc>
              <a:spcBef>
                <a:spcPts val="0"/>
              </a:spcBef>
              <a:spcAft>
                <a:spcPts val="0"/>
              </a:spcAft>
              <a:buNone/>
            </a:pPr>
            <a:r>
              <a:rPr lang="zh-CN" altLang="en-US" sz="2200"/>
              <a:t>画出前趋图，判断该调度是否可串行化，若可串行化，给出其等价调度。</a:t>
            </a:r>
            <a:r>
              <a:rPr lang="en-US" altLang="zh-CN" sz="2200"/>
              <a:t> </a:t>
            </a:r>
            <a:endParaRPr lang="zh-CN" altLang="en-US" sz="2200"/>
          </a:p>
        </p:txBody>
      </p:sp>
      <p:grpSp>
        <p:nvGrpSpPr>
          <p:cNvPr id="107527" name="Group 7"/>
          <p:cNvGrpSpPr/>
          <p:nvPr/>
        </p:nvGrpSpPr>
        <p:grpSpPr>
          <a:xfrm>
            <a:off x="689293" y="3337843"/>
            <a:ext cx="3039489" cy="2184145"/>
            <a:chOff x="0" y="0"/>
            <a:chExt cx="1870" cy="1576"/>
          </a:xfrm>
        </p:grpSpPr>
        <p:sp>
          <p:nvSpPr>
            <p:cNvPr id="103431" name="Oval 8"/>
            <p:cNvSpPr/>
            <p:nvPr/>
          </p:nvSpPr>
          <p:spPr>
            <a:xfrm>
              <a:off x="340" y="199"/>
              <a:ext cx="170" cy="142"/>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lstStyle/>
            <a:p>
              <a:pPr lvl="0" indent="0"/>
              <a:endParaRPr lang="zh-CN" altLang="en-US" dirty="0">
                <a:latin typeface="Arial" panose="020B0604020202020204" pitchFamily="34" charset="0"/>
                <a:ea typeface="宋体" panose="02010600030101010101" pitchFamily="2" charset="-122"/>
              </a:endParaRPr>
            </a:p>
          </p:txBody>
        </p:sp>
        <p:sp>
          <p:nvSpPr>
            <p:cNvPr id="103432" name="Oval 9"/>
            <p:cNvSpPr/>
            <p:nvPr/>
          </p:nvSpPr>
          <p:spPr>
            <a:xfrm>
              <a:off x="1473" y="227"/>
              <a:ext cx="170" cy="142"/>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lstStyle/>
            <a:p>
              <a:pPr lvl="0" indent="0"/>
              <a:endParaRPr lang="zh-CN" altLang="en-US" dirty="0">
                <a:latin typeface="Arial" panose="020B0604020202020204" pitchFamily="34" charset="0"/>
                <a:ea typeface="宋体" panose="02010600030101010101" pitchFamily="2" charset="-122"/>
              </a:endParaRPr>
            </a:p>
          </p:txBody>
        </p:sp>
        <p:sp>
          <p:nvSpPr>
            <p:cNvPr id="103433" name="Oval 10"/>
            <p:cNvSpPr/>
            <p:nvPr/>
          </p:nvSpPr>
          <p:spPr>
            <a:xfrm>
              <a:off x="340" y="1162"/>
              <a:ext cx="170" cy="142"/>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lstStyle/>
            <a:p>
              <a:pPr lvl="0" indent="0"/>
              <a:endParaRPr lang="zh-CN" altLang="en-US" dirty="0">
                <a:latin typeface="Arial" panose="020B0604020202020204" pitchFamily="34" charset="0"/>
                <a:ea typeface="宋体" panose="02010600030101010101" pitchFamily="2" charset="-122"/>
              </a:endParaRPr>
            </a:p>
          </p:txBody>
        </p:sp>
        <p:sp>
          <p:nvSpPr>
            <p:cNvPr id="103435" name="Text Box 12"/>
            <p:cNvSpPr txBox="1"/>
            <p:nvPr/>
          </p:nvSpPr>
          <p:spPr>
            <a:xfrm>
              <a:off x="0" y="7"/>
              <a:ext cx="198" cy="300"/>
            </a:xfrm>
            <a:prstGeom prst="rect">
              <a:avLst/>
            </a:prstGeom>
            <a:noFill/>
            <a:ln w="9525">
              <a:noFill/>
            </a:ln>
          </p:spPr>
          <p:txBody>
            <a:bodyPr wrap="square" lIns="0" tIns="0" rIns="0" bIns="0" anchor="t">
              <a:spAutoFit/>
            </a:bodyPr>
            <a:lstStyle/>
            <a:p>
              <a:pPr lvl="0" algn="ctr">
                <a:spcBef>
                  <a:spcPct val="50000"/>
                </a:spcBef>
                <a:buNone/>
              </a:pPr>
              <a:r>
                <a:rPr lang="en-US" altLang="x-none" sz="2000" dirty="0">
                  <a:latin typeface="Arial" panose="020B0604020202020204" pitchFamily="34" charset="0"/>
                  <a:ea typeface="宋体" panose="02010600030101010101" pitchFamily="2" charset="-122"/>
                </a:rPr>
                <a:t>T1</a:t>
              </a:r>
              <a:endParaRPr lang="en-US" altLang="x-none" sz="2000" dirty="0">
                <a:latin typeface="Arial" panose="020B0604020202020204" pitchFamily="34" charset="0"/>
                <a:ea typeface="宋体" panose="02010600030101010101" pitchFamily="2" charset="-122"/>
              </a:endParaRPr>
            </a:p>
          </p:txBody>
        </p:sp>
        <p:sp>
          <p:nvSpPr>
            <p:cNvPr id="103437" name="Text Box 14"/>
            <p:cNvSpPr txBox="1"/>
            <p:nvPr/>
          </p:nvSpPr>
          <p:spPr>
            <a:xfrm>
              <a:off x="28" y="1276"/>
              <a:ext cx="198" cy="300"/>
            </a:xfrm>
            <a:prstGeom prst="rect">
              <a:avLst/>
            </a:prstGeom>
            <a:noFill/>
            <a:ln w="9525">
              <a:noFill/>
            </a:ln>
          </p:spPr>
          <p:txBody>
            <a:bodyPr wrap="square" lIns="0" tIns="0" rIns="0" bIns="0" anchor="t">
              <a:spAutoFit/>
            </a:bodyPr>
            <a:lstStyle/>
            <a:p>
              <a:pPr lvl="0" algn="ctr">
                <a:spcBef>
                  <a:spcPct val="50000"/>
                </a:spcBef>
                <a:buNone/>
              </a:pPr>
              <a:r>
                <a:rPr lang="en-US" altLang="x-none" sz="2000" dirty="0">
                  <a:latin typeface="Arial" panose="020B0604020202020204" pitchFamily="34" charset="0"/>
                  <a:ea typeface="宋体" panose="02010600030101010101" pitchFamily="2" charset="-122"/>
                </a:rPr>
                <a:t>T3</a:t>
              </a:r>
              <a:endParaRPr lang="en-US" altLang="x-none" sz="2000" dirty="0">
                <a:latin typeface="Arial" panose="020B0604020202020204" pitchFamily="34" charset="0"/>
                <a:ea typeface="宋体" panose="02010600030101010101" pitchFamily="2" charset="-122"/>
              </a:endParaRPr>
            </a:p>
          </p:txBody>
        </p:sp>
        <p:sp>
          <p:nvSpPr>
            <p:cNvPr id="103438" name="Text Box 15"/>
            <p:cNvSpPr txBox="1"/>
            <p:nvPr/>
          </p:nvSpPr>
          <p:spPr>
            <a:xfrm>
              <a:off x="1672" y="0"/>
              <a:ext cx="198" cy="300"/>
            </a:xfrm>
            <a:prstGeom prst="rect">
              <a:avLst/>
            </a:prstGeom>
            <a:noFill/>
            <a:ln w="9525">
              <a:noFill/>
            </a:ln>
          </p:spPr>
          <p:txBody>
            <a:bodyPr wrap="square" lIns="0" tIns="0" rIns="0" bIns="0" anchor="t">
              <a:spAutoFit/>
            </a:bodyPr>
            <a:lstStyle/>
            <a:p>
              <a:pPr lvl="0" algn="ctr">
                <a:spcBef>
                  <a:spcPct val="50000"/>
                </a:spcBef>
                <a:buNone/>
              </a:pPr>
              <a:r>
                <a:rPr lang="en-US" altLang="x-none" sz="2000" dirty="0">
                  <a:latin typeface="Arial" panose="020B0604020202020204" pitchFamily="34" charset="0"/>
                  <a:ea typeface="宋体" panose="02010600030101010101" pitchFamily="2" charset="-122"/>
                </a:rPr>
                <a:t>T2</a:t>
              </a:r>
              <a:endParaRPr lang="en-US" altLang="x-none" sz="2000" dirty="0">
                <a:latin typeface="Arial" panose="020B0604020202020204" pitchFamily="34" charset="0"/>
                <a:ea typeface="宋体" panose="02010600030101010101" pitchFamily="2" charset="-122"/>
              </a:endParaRPr>
            </a:p>
          </p:txBody>
        </p:sp>
      </p:grpSp>
      <p:sp>
        <p:nvSpPr>
          <p:cNvPr id="45" name="文本框 44"/>
          <p:cNvSpPr txBox="1"/>
          <p:nvPr/>
        </p:nvSpPr>
        <p:spPr>
          <a:xfrm>
            <a:off x="443230" y="16089"/>
            <a:ext cx="2681605" cy="829945"/>
          </a:xfrm>
          <a:prstGeom prst="rect">
            <a:avLst/>
          </a:prstGeom>
          <a:noFill/>
        </p:spPr>
        <p:txBody>
          <a:bodyPr wrap="none" rtlCol="0" anchor="t">
            <a:spAutoFit/>
          </a:bodyPr>
          <a:lstStyle/>
          <a:p>
            <a:pPr marL="457200" indent="-457200" algn="just">
              <a:lnSpc>
                <a:spcPct val="150000"/>
              </a:lnSpc>
              <a:spcAft>
                <a:spcPts val="0"/>
              </a:spcAft>
              <a:buFont typeface="Wingdings" panose="05000000000000000000" pitchFamily="2" charset="2"/>
              <a:buChar char="p"/>
            </a:pPr>
            <a:r>
              <a:rPr lang="zh-CN" altLang="zh-CN" sz="3200" kern="100" dirty="0" smtClean="0">
                <a:solidFill>
                  <a:srgbClr val="FF0000"/>
                </a:solidFill>
                <a:latin typeface="Calibri" panose="020F0502020204030204" pitchFamily="34" charset="0"/>
                <a:cs typeface="Times New Roman" panose="02020603050405020304" pitchFamily="2" charset="0"/>
                <a:sym typeface="+mn-ea"/>
              </a:rPr>
              <a:t>问题研讨：</a:t>
            </a:r>
            <a:endParaRPr lang="zh-CN" altLang="en-US" sz="3200" dirty="0"/>
          </a:p>
        </p:txBody>
      </p:sp>
      <p:cxnSp>
        <p:nvCxnSpPr>
          <p:cNvPr id="2" name="直接箭头连接符 1"/>
          <p:cNvCxnSpPr/>
          <p:nvPr/>
        </p:nvCxnSpPr>
        <p:spPr>
          <a:xfrm flipH="1">
            <a:off x="1548765" y="3820760"/>
            <a:ext cx="1534795" cy="1083310"/>
          </a:xfrm>
          <a:prstGeom prst="straightConnector1">
            <a:avLst/>
          </a:prstGeom>
          <a:ln w="38100">
            <a:solidFill>
              <a:srgbClr val="FF3300"/>
            </a:solidFill>
            <a:tailEnd type="arrow"/>
          </a:ln>
        </p:spPr>
        <p:style>
          <a:lnRef idx="1">
            <a:schemeClr val="accent1"/>
          </a:lnRef>
          <a:fillRef idx="0">
            <a:schemeClr val="accent1"/>
          </a:fillRef>
          <a:effectRef idx="0">
            <a:schemeClr val="accent1"/>
          </a:effectRef>
          <a:fontRef idx="minor">
            <a:schemeClr val="tx1"/>
          </a:fontRef>
        </p:style>
      </p:cxnSp>
      <p:cxnSp>
        <p:nvCxnSpPr>
          <p:cNvPr id="4" name="直接箭头连接符 3"/>
          <p:cNvCxnSpPr/>
          <p:nvPr/>
        </p:nvCxnSpPr>
        <p:spPr>
          <a:xfrm flipH="1">
            <a:off x="1558925" y="3729955"/>
            <a:ext cx="1415415" cy="3175"/>
          </a:xfrm>
          <a:prstGeom prst="straightConnector1">
            <a:avLst/>
          </a:prstGeom>
          <a:ln w="38100">
            <a:solidFill>
              <a:srgbClr val="FF3300"/>
            </a:solidFill>
            <a:tailEnd type="arrow"/>
          </a:ln>
        </p:spPr>
        <p:style>
          <a:lnRef idx="1">
            <a:schemeClr val="accent1"/>
          </a:lnRef>
          <a:fillRef idx="0">
            <a:schemeClr val="accent1"/>
          </a:fillRef>
          <a:effectRef idx="0">
            <a:schemeClr val="accent1"/>
          </a:effectRef>
          <a:fontRef idx="minor">
            <a:schemeClr val="tx1"/>
          </a:fontRef>
        </p:style>
      </p:cxnSp>
      <p:cxnSp>
        <p:nvCxnSpPr>
          <p:cNvPr id="5" name="直接箭头连接符 4"/>
          <p:cNvCxnSpPr/>
          <p:nvPr/>
        </p:nvCxnSpPr>
        <p:spPr>
          <a:xfrm>
            <a:off x="1607820" y="3595335"/>
            <a:ext cx="1517015" cy="2540"/>
          </a:xfrm>
          <a:prstGeom prst="straightConnector1">
            <a:avLst/>
          </a:prstGeom>
          <a:ln w="38100">
            <a:solidFill>
              <a:srgbClr val="FF3300"/>
            </a:solidFill>
            <a:tailEnd type="arrow"/>
          </a:ln>
        </p:spPr>
        <p:style>
          <a:lnRef idx="1">
            <a:schemeClr val="accent1"/>
          </a:lnRef>
          <a:fillRef idx="0">
            <a:schemeClr val="accent1"/>
          </a:fillRef>
          <a:effectRef idx="0">
            <a:schemeClr val="accent1"/>
          </a:effectRef>
          <a:fontRef idx="minor">
            <a:schemeClr val="tx1"/>
          </a:fontRef>
        </p:style>
      </p:cxnSp>
      <p:sp>
        <p:nvSpPr>
          <p:cNvPr id="6" name="文本框 5"/>
          <p:cNvSpPr txBox="1"/>
          <p:nvPr/>
        </p:nvSpPr>
        <p:spPr>
          <a:xfrm>
            <a:off x="3359785" y="4814535"/>
            <a:ext cx="4646295" cy="922020"/>
          </a:xfrm>
          <a:prstGeom prst="rect">
            <a:avLst/>
          </a:prstGeom>
          <a:noFill/>
        </p:spPr>
        <p:txBody>
          <a:bodyPr wrap="square" rtlCol="0" anchor="t">
            <a:spAutoFit/>
          </a:bodyPr>
          <a:lstStyle/>
          <a:p>
            <a:pPr>
              <a:buNone/>
            </a:pPr>
            <a:r>
              <a:rPr lang="zh-CN" altLang="en-US" sz="2000">
                <a:solidFill>
                  <a:srgbClr val="0033CC"/>
                </a:solidFill>
                <a:sym typeface="+mn-ea"/>
              </a:rPr>
              <a:t>存在回路，</a:t>
            </a:r>
            <a:r>
              <a:rPr lang="en-US" altLang="zh-CN" sz="2000">
                <a:solidFill>
                  <a:srgbClr val="0033CC"/>
                </a:solidFill>
                <a:sym typeface="+mn-ea"/>
              </a:rPr>
              <a:t>S</a:t>
            </a:r>
            <a:r>
              <a:rPr lang="zh-CN" altLang="en-US" sz="2000">
                <a:solidFill>
                  <a:srgbClr val="0033CC"/>
                </a:solidFill>
                <a:sym typeface="+mn-ea"/>
              </a:rPr>
              <a:t>不等价于任何一个串行调度，即</a:t>
            </a:r>
            <a:r>
              <a:rPr lang="en-US" altLang="zh-CN" sz="2000">
                <a:solidFill>
                  <a:srgbClr val="0033CC"/>
                </a:solidFill>
                <a:sym typeface="+mn-ea"/>
              </a:rPr>
              <a:t>S</a:t>
            </a:r>
            <a:r>
              <a:rPr lang="zh-CN" altLang="en-US" sz="2000">
                <a:solidFill>
                  <a:srgbClr val="0033CC"/>
                </a:solidFill>
                <a:sym typeface="+mn-ea"/>
              </a:rPr>
              <a:t>是错误调度。</a:t>
            </a:r>
            <a:endParaRPr lang="zh-CN" altLang="en-US" sz="2000">
              <a:solidFill>
                <a:srgbClr val="0033CC"/>
              </a:solidFill>
              <a:sym typeface="+mn-ea"/>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07527"/>
                                        </p:tgtEl>
                                        <p:attrNameLst>
                                          <p:attrName>style.visibility</p:attrName>
                                        </p:attrNameLst>
                                      </p:cBhvr>
                                      <p:to>
                                        <p:strVal val="visible"/>
                                      </p:to>
                                    </p:set>
                                    <p:anim calcmode="lin" valueType="num">
                                      <p:cBhvr additive="base">
                                        <p:cTn id="7" dur="500" fill="hold"/>
                                        <p:tgtEl>
                                          <p:spTgt spid="107527"/>
                                        </p:tgtEl>
                                        <p:attrNameLst>
                                          <p:attrName>ppt_x</p:attrName>
                                        </p:attrNameLst>
                                      </p:cBhvr>
                                      <p:tavLst>
                                        <p:tav tm="0">
                                          <p:val>
                                            <p:strVal val="#ppt_x"/>
                                          </p:val>
                                        </p:tav>
                                        <p:tav tm="100000">
                                          <p:val>
                                            <p:strVal val="#ppt_x"/>
                                          </p:val>
                                        </p:tav>
                                      </p:tavLst>
                                    </p:anim>
                                    <p:anim calcmode="lin" valueType="num">
                                      <p:cBhvr additive="base">
                                        <p:cTn id="8" dur="500" fill="hold"/>
                                        <p:tgtEl>
                                          <p:spTgt spid="107527"/>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
                                        </p:tgtEl>
                                        <p:attrNameLst>
                                          <p:attrName>style.visibility</p:attrName>
                                        </p:attrNameLst>
                                      </p:cBhvr>
                                      <p:to>
                                        <p:strVal val="visible"/>
                                      </p:to>
                                    </p:set>
                                    <p:anim calcmode="lin" valueType="num">
                                      <p:cBhvr additive="base">
                                        <p:cTn id="13" dur="500" fill="hold"/>
                                        <p:tgtEl>
                                          <p:spTgt spid="2"/>
                                        </p:tgtEl>
                                        <p:attrNameLst>
                                          <p:attrName>ppt_x</p:attrName>
                                        </p:attrNameLst>
                                      </p:cBhvr>
                                      <p:tavLst>
                                        <p:tav tm="0">
                                          <p:val>
                                            <p:strVal val="#ppt_x"/>
                                          </p:val>
                                        </p:tav>
                                        <p:tav tm="100000">
                                          <p:val>
                                            <p:strVal val="#ppt_x"/>
                                          </p:val>
                                        </p:tav>
                                      </p:tavLst>
                                    </p:anim>
                                    <p:anim calcmode="lin" valueType="num">
                                      <p:cBhvr additive="base">
                                        <p:cTn id="14"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4"/>
                                        </p:tgtEl>
                                        <p:attrNameLst>
                                          <p:attrName>style.visibility</p:attrName>
                                        </p:attrNameLst>
                                      </p:cBhvr>
                                      <p:to>
                                        <p:strVal val="visible"/>
                                      </p:to>
                                    </p:set>
                                    <p:anim calcmode="lin" valueType="num">
                                      <p:cBhvr additive="base">
                                        <p:cTn id="19" dur="500" fill="hold"/>
                                        <p:tgtEl>
                                          <p:spTgt spid="4"/>
                                        </p:tgtEl>
                                        <p:attrNameLst>
                                          <p:attrName>ppt_x</p:attrName>
                                        </p:attrNameLst>
                                      </p:cBhvr>
                                      <p:tavLst>
                                        <p:tav tm="0">
                                          <p:val>
                                            <p:strVal val="#ppt_x"/>
                                          </p:val>
                                        </p:tav>
                                        <p:tav tm="100000">
                                          <p:val>
                                            <p:strVal val="#ppt_x"/>
                                          </p:val>
                                        </p:tav>
                                      </p:tavLst>
                                    </p:anim>
                                    <p:anim calcmode="lin" valueType="num">
                                      <p:cBhvr additive="base">
                                        <p:cTn id="20"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5"/>
                                        </p:tgtEl>
                                        <p:attrNameLst>
                                          <p:attrName>style.visibility</p:attrName>
                                        </p:attrNameLst>
                                      </p:cBhvr>
                                      <p:to>
                                        <p:strVal val="visible"/>
                                      </p:to>
                                    </p:set>
                                    <p:anim calcmode="lin" valueType="num">
                                      <p:cBhvr additive="base">
                                        <p:cTn id="25" dur="500" fill="hold"/>
                                        <p:tgtEl>
                                          <p:spTgt spid="5"/>
                                        </p:tgtEl>
                                        <p:attrNameLst>
                                          <p:attrName>ppt_x</p:attrName>
                                        </p:attrNameLst>
                                      </p:cBhvr>
                                      <p:tavLst>
                                        <p:tav tm="0">
                                          <p:val>
                                            <p:strVal val="#ppt_x"/>
                                          </p:val>
                                        </p:tav>
                                        <p:tav tm="100000">
                                          <p:val>
                                            <p:strVal val="#ppt_x"/>
                                          </p:val>
                                        </p:tav>
                                      </p:tavLst>
                                    </p:anim>
                                    <p:anim calcmode="lin" valueType="num">
                                      <p:cBhvr additive="base">
                                        <p:cTn id="26"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6"/>
                                        </p:tgtEl>
                                        <p:attrNameLst>
                                          <p:attrName>style.visibility</p:attrName>
                                        </p:attrNameLst>
                                      </p:cBhvr>
                                      <p:to>
                                        <p:strVal val="visible"/>
                                      </p:to>
                                    </p:set>
                                    <p:anim calcmode="lin" valueType="num">
                                      <p:cBhvr additive="base">
                                        <p:cTn id="31" dur="500" fill="hold"/>
                                        <p:tgtEl>
                                          <p:spTgt spid="6"/>
                                        </p:tgtEl>
                                        <p:attrNameLst>
                                          <p:attrName>ppt_x</p:attrName>
                                        </p:attrNameLst>
                                      </p:cBhvr>
                                      <p:tavLst>
                                        <p:tav tm="0">
                                          <p:val>
                                            <p:strVal val="#ppt_x"/>
                                          </p:val>
                                        </p:tav>
                                        <p:tav tm="100000">
                                          <p:val>
                                            <p:strVal val="#ppt_x"/>
                                          </p:val>
                                        </p:tav>
                                      </p:tavLst>
                                    </p:anim>
                                    <p:anim calcmode="lin" valueType="num">
                                      <p:cBhvr additive="base">
                                        <p:cTn id="32"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Text Box 3"/>
          <p:cNvSpPr txBox="1"/>
          <p:nvPr/>
        </p:nvSpPr>
        <p:spPr>
          <a:xfrm>
            <a:off x="517208" y="1483678"/>
            <a:ext cx="8135937" cy="4386580"/>
          </a:xfrm>
          <a:prstGeom prst="rect">
            <a:avLst/>
          </a:prstGeom>
          <a:noFill/>
          <a:ln w="9525">
            <a:noFill/>
          </a:ln>
        </p:spPr>
        <p:txBody>
          <a:bodyPr anchor="t">
            <a:spAutoFit/>
          </a:bodyPr>
          <a:lstStyle/>
          <a:p>
            <a:pPr lvl="0" indent="0">
              <a:lnSpc>
                <a:spcPct val="120000"/>
              </a:lnSpc>
              <a:spcBef>
                <a:spcPts val="600"/>
              </a:spcBef>
              <a:buFont typeface="Wingdings" panose="05000000000000000000" pitchFamily="2" charset="2"/>
              <a:buChar char="p"/>
            </a:pPr>
            <a:r>
              <a:rPr lang="zh-CN" altLang="en-US" sz="2400" u="sng" dirty="0">
                <a:solidFill>
                  <a:srgbClr val="CC0000"/>
                </a:solidFill>
                <a:latin typeface="宋体" panose="02010600030101010101" pitchFamily="2" charset="-122"/>
                <a:ea typeface="宋体" panose="02010600030101010101" pitchFamily="2" charset="-122"/>
              </a:rPr>
              <a:t>问题提出：</a:t>
            </a:r>
            <a:r>
              <a:rPr lang="en-US" altLang="x-none" sz="2400" dirty="0">
                <a:latin typeface="宋体" panose="02010600030101010101" pitchFamily="2" charset="-122"/>
                <a:ea typeface="宋体" panose="02010600030101010101" pitchFamily="2" charset="-122"/>
                <a:sym typeface="Wingdings" panose="05000000000000000000" pitchFamily="2" charset="2"/>
              </a:rPr>
              <a:t>DBMS</a:t>
            </a:r>
            <a:r>
              <a:rPr lang="zh-CN" altLang="en-US" sz="2400" dirty="0">
                <a:latin typeface="宋体" panose="02010600030101010101" pitchFamily="2" charset="-122"/>
                <a:ea typeface="宋体" panose="02010600030101010101" pitchFamily="2" charset="-122"/>
                <a:sym typeface="Wingdings" panose="05000000000000000000" pitchFamily="2" charset="2"/>
              </a:rPr>
              <a:t>并发控制的任务是要保证事务执行的可串行化。但用前面的测试方法来保证调度可串行化是不现实的：一是事务集随机、不固定。二是不可能事先定好调度。</a:t>
            </a:r>
            <a:endParaRPr lang="zh-CN" altLang="en-US" sz="2400" dirty="0">
              <a:latin typeface="宋体" panose="02010600030101010101" pitchFamily="2" charset="-122"/>
              <a:ea typeface="宋体" panose="02010600030101010101" pitchFamily="2" charset="-122"/>
              <a:sym typeface="Wingdings" panose="05000000000000000000" pitchFamily="2" charset="2"/>
            </a:endParaRPr>
          </a:p>
          <a:p>
            <a:pPr lvl="0" indent="0">
              <a:lnSpc>
                <a:spcPct val="120000"/>
              </a:lnSpc>
              <a:spcBef>
                <a:spcPts val="600"/>
              </a:spcBef>
              <a:buFont typeface="Wingdings" panose="05000000000000000000" pitchFamily="2" charset="2"/>
              <a:buChar char="p"/>
            </a:pPr>
            <a:r>
              <a:rPr lang="en-US" altLang="x-none" sz="2400" dirty="0">
                <a:latin typeface="宋体" panose="02010600030101010101" pitchFamily="2" charset="-122"/>
                <a:ea typeface="宋体" panose="02010600030101010101" pitchFamily="2" charset="-122"/>
                <a:sym typeface="Wingdings" panose="05000000000000000000" pitchFamily="2" charset="2"/>
              </a:rPr>
              <a:t>DBMS</a:t>
            </a:r>
            <a:r>
              <a:rPr lang="zh-CN" altLang="en-US" sz="2400" dirty="0">
                <a:latin typeface="宋体" panose="02010600030101010101" pitchFamily="2" charset="-122"/>
                <a:ea typeface="宋体" panose="02010600030101010101" pitchFamily="2" charset="-122"/>
              </a:rPr>
              <a:t>如何实现事务的并发控制呢？</a:t>
            </a:r>
            <a:endParaRPr lang="zh-CN" altLang="en-US" sz="2400" dirty="0">
              <a:latin typeface="宋体" panose="02010600030101010101" pitchFamily="2" charset="-122"/>
              <a:ea typeface="宋体" panose="02010600030101010101" pitchFamily="2" charset="-122"/>
            </a:endParaRPr>
          </a:p>
          <a:p>
            <a:pPr lvl="0" indent="0" algn="just">
              <a:lnSpc>
                <a:spcPct val="120000"/>
              </a:lnSpc>
              <a:spcBef>
                <a:spcPts val="600"/>
              </a:spcBef>
              <a:buFont typeface="Wingdings" panose="05000000000000000000" pitchFamily="2" charset="2"/>
              <a:buChar char="p"/>
            </a:pPr>
            <a:r>
              <a:rPr lang="zh-CN" altLang="en-US" sz="2400" u="sng" dirty="0">
                <a:solidFill>
                  <a:srgbClr val="CC0000"/>
                </a:solidFill>
                <a:latin typeface="宋体" panose="02010600030101010101" pitchFamily="2" charset="-122"/>
                <a:ea typeface="宋体" panose="02010600030101010101" pitchFamily="2" charset="-122"/>
                <a:cs typeface="+mn-ea"/>
                <a:sym typeface="Wingdings" panose="05000000000000000000" pitchFamily="2" charset="2"/>
              </a:rPr>
              <a:t>并发控制通常的实现方法：</a:t>
            </a:r>
            <a:r>
              <a:rPr lang="zh-CN" altLang="en-US" sz="2400" dirty="0">
                <a:latin typeface="宋体" panose="02010600030101010101" pitchFamily="2" charset="-122"/>
                <a:ea typeface="宋体" panose="02010600030101010101" pitchFamily="2" charset="-122"/>
                <a:sym typeface="Wingdings" panose="05000000000000000000" pitchFamily="2" charset="2"/>
              </a:rPr>
              <a:t>由</a:t>
            </a:r>
            <a:r>
              <a:rPr lang="en-US" altLang="x-none" sz="2400" dirty="0">
                <a:latin typeface="宋体" panose="02010600030101010101" pitchFamily="2" charset="-122"/>
                <a:ea typeface="宋体" panose="02010600030101010101" pitchFamily="2" charset="-122"/>
                <a:sym typeface="Wingdings" panose="05000000000000000000" pitchFamily="2" charset="2"/>
              </a:rPr>
              <a:t>DBMS</a:t>
            </a:r>
            <a:r>
              <a:rPr lang="zh-CN" altLang="en-US" sz="2400" dirty="0">
                <a:latin typeface="宋体" panose="02010600030101010101" pitchFamily="2" charset="-122"/>
                <a:ea typeface="宋体" panose="02010600030101010101" pitchFamily="2" charset="-122"/>
                <a:sym typeface="Wingdings" panose="05000000000000000000" pitchFamily="2" charset="2"/>
              </a:rPr>
              <a:t>定好一个协议，按此协议执行事务，即可保证可串行化，而不必关心具体的调度。</a:t>
            </a:r>
            <a:endParaRPr lang="zh-CN" altLang="en-US" sz="2400" dirty="0">
              <a:latin typeface="宋体" panose="02010600030101010101" pitchFamily="2" charset="-122"/>
              <a:ea typeface="宋体" panose="02010600030101010101" pitchFamily="2" charset="-122"/>
              <a:sym typeface="Wingdings" panose="05000000000000000000" pitchFamily="2" charset="2"/>
            </a:endParaRPr>
          </a:p>
          <a:p>
            <a:pPr lvl="0" indent="0">
              <a:lnSpc>
                <a:spcPct val="120000"/>
              </a:lnSpc>
              <a:spcBef>
                <a:spcPts val="600"/>
              </a:spcBef>
              <a:buFont typeface="Wingdings" panose="05000000000000000000" pitchFamily="2" charset="2"/>
              <a:buChar char="p"/>
            </a:pPr>
            <a:r>
              <a:rPr lang="zh-CN" altLang="en-US" sz="2400" dirty="0">
                <a:solidFill>
                  <a:srgbClr val="C00000"/>
                </a:solidFill>
                <a:latin typeface="宋体" panose="02010600030101010101" pitchFamily="2" charset="-122"/>
                <a:ea typeface="宋体" panose="02010600030101010101" pitchFamily="2" charset="-122"/>
                <a:sym typeface="Wingdings" panose="05000000000000000000" pitchFamily="2" charset="2"/>
              </a:rPr>
              <a:t>加锁协议</a:t>
            </a:r>
            <a:r>
              <a:rPr lang="en-US" altLang="x-none" sz="2400" dirty="0">
                <a:solidFill>
                  <a:srgbClr val="C00000"/>
                </a:solidFill>
                <a:latin typeface="宋体" panose="02010600030101010101" pitchFamily="2" charset="-122"/>
                <a:ea typeface="宋体" panose="02010600030101010101" pitchFamily="2" charset="-122"/>
                <a:sym typeface="Wingdings" panose="05000000000000000000" pitchFamily="2" charset="2"/>
              </a:rPr>
              <a:t>(Locking Protocol)</a:t>
            </a:r>
            <a:r>
              <a:rPr lang="zh-CN" altLang="en-US" sz="2400" dirty="0">
                <a:solidFill>
                  <a:srgbClr val="C00000"/>
                </a:solidFill>
                <a:latin typeface="宋体" panose="02010600030101010101" pitchFamily="2" charset="-122"/>
                <a:ea typeface="宋体" panose="02010600030101010101" pitchFamily="2" charset="-122"/>
                <a:sym typeface="Wingdings" panose="05000000000000000000" pitchFamily="2" charset="2"/>
              </a:rPr>
              <a:t>：</a:t>
            </a:r>
            <a:r>
              <a:rPr lang="zh-CN" altLang="en-US" sz="2400" dirty="0">
                <a:latin typeface="宋体" panose="02010600030101010101" pitchFamily="2" charset="-122"/>
                <a:ea typeface="宋体" panose="02010600030101010101" pitchFamily="2" charset="-122"/>
                <a:sym typeface="Wingdings" panose="05000000000000000000" pitchFamily="2" charset="2"/>
              </a:rPr>
              <a:t>是这类协议中的一种，它是用加锁来实现并发控制，即是在操作前对操作对象加锁。</a:t>
            </a:r>
            <a:endParaRPr lang="zh-CN" altLang="en-US" sz="2400" dirty="0">
              <a:latin typeface="宋体" panose="02010600030101010101" pitchFamily="2" charset="-122"/>
              <a:ea typeface="宋体" panose="02010600030101010101" pitchFamily="2" charset="-122"/>
              <a:sym typeface="Wingdings" panose="05000000000000000000" pitchFamily="2" charset="2"/>
            </a:endParaRPr>
          </a:p>
          <a:p>
            <a:pPr lvl="0" indent="0">
              <a:lnSpc>
                <a:spcPct val="120000"/>
              </a:lnSpc>
              <a:spcBef>
                <a:spcPts val="600"/>
              </a:spcBef>
              <a:buFont typeface="Wingdings" panose="05000000000000000000" pitchFamily="2" charset="2"/>
              <a:buChar char="p"/>
            </a:pPr>
            <a:r>
              <a:rPr lang="zh-CN" altLang="en-US" sz="2400" u="sng" dirty="0">
                <a:solidFill>
                  <a:srgbClr val="C00000"/>
                </a:solidFill>
                <a:latin typeface="宋体" panose="02010600030101010101" pitchFamily="2" charset="-122"/>
                <a:ea typeface="宋体" panose="02010600030101010101" pitchFamily="2" charset="-122"/>
                <a:sym typeface="Wingdings" panose="05000000000000000000" pitchFamily="2" charset="2"/>
              </a:rPr>
              <a:t>定理：</a:t>
            </a:r>
            <a:r>
              <a:rPr lang="zh-CN" altLang="en-US" sz="2400" dirty="0">
                <a:latin typeface="宋体" panose="02010600030101010101" pitchFamily="2" charset="-122"/>
                <a:ea typeface="宋体" panose="02010600030101010101" pitchFamily="2" charset="-122"/>
                <a:sym typeface="Wingdings" panose="05000000000000000000" pitchFamily="2" charset="2"/>
              </a:rPr>
              <a:t>事务只要遵守加锁协议，即可保证调度的可串行化。</a:t>
            </a:r>
            <a:endParaRPr lang="zh-CN" altLang="en-US" sz="2400" dirty="0">
              <a:latin typeface="宋体" panose="02010600030101010101" pitchFamily="2" charset="-122"/>
              <a:ea typeface="宋体" panose="02010600030101010101" pitchFamily="2" charset="-122"/>
              <a:sym typeface="Wingdings" panose="05000000000000000000" pitchFamily="2" charset="2"/>
            </a:endParaRPr>
          </a:p>
        </p:txBody>
      </p:sp>
      <p:sp>
        <p:nvSpPr>
          <p:cNvPr id="106499" name="Rectangle 3"/>
          <p:cNvSpPr txBox="1"/>
          <p:nvPr/>
        </p:nvSpPr>
        <p:spPr>
          <a:xfrm>
            <a:off x="517525" y="874713"/>
            <a:ext cx="7178675" cy="706437"/>
          </a:xfrm>
          <a:prstGeom prst="rect">
            <a:avLst/>
          </a:prstGeom>
          <a:noFill/>
          <a:ln w="9525">
            <a:noFill/>
          </a:ln>
        </p:spPr>
        <p:txBody>
          <a:bodyPr anchor="t"/>
          <a:lstStyle/>
          <a:p>
            <a:pPr lvl="0" indent="0" eaLnBrk="0" hangingPunct="0"/>
            <a:r>
              <a:rPr lang="en-US" altLang="x-none" sz="2800" dirty="0">
                <a:solidFill>
                  <a:srgbClr val="FF0000"/>
                </a:solidFill>
                <a:latin typeface="黑体" panose="02010609060101010101" pitchFamily="1" charset="-122"/>
                <a:ea typeface="黑体" panose="02010609060101010101" pitchFamily="1" charset="-122"/>
              </a:rPr>
              <a:t>1</a:t>
            </a:r>
            <a:r>
              <a:rPr lang="zh-CN" altLang="en-US" sz="2800" dirty="0">
                <a:solidFill>
                  <a:srgbClr val="FF0000"/>
                </a:solidFill>
                <a:latin typeface="黑体" panose="02010609060101010101" pitchFamily="1" charset="-122"/>
                <a:ea typeface="黑体" panose="02010609060101010101" pitchFamily="1" charset="-122"/>
              </a:rPr>
              <a:t>、加锁协议的提出</a:t>
            </a:r>
            <a:endParaRPr lang="en-US" altLang="x-none" sz="2800" dirty="0">
              <a:solidFill>
                <a:srgbClr val="FF0000"/>
              </a:solidFill>
              <a:latin typeface="黑体" panose="02010609060101010101" pitchFamily="1" charset="-122"/>
              <a:ea typeface="黑体" panose="02010609060101010101" pitchFamily="1" charset="-122"/>
            </a:endParaRPr>
          </a:p>
        </p:txBody>
      </p:sp>
      <p:sp>
        <p:nvSpPr>
          <p:cNvPr id="8" name="Rectangle 2"/>
          <p:cNvSpPr/>
          <p:nvPr/>
        </p:nvSpPr>
        <p:spPr>
          <a:xfrm>
            <a:off x="417513" y="55563"/>
            <a:ext cx="8229600" cy="692150"/>
          </a:xfrm>
          <a:prstGeom prst="rect">
            <a:avLst/>
          </a:prstGeom>
          <a:noFill/>
          <a:ln w="9525">
            <a:noFill/>
          </a:ln>
        </p:spPr>
        <p:txBody>
          <a:bodyPr anchor="ctr"/>
          <a:lstStyle/>
          <a:p>
            <a:pPr lvl="0" indent="0">
              <a:buFont typeface="Wingdings" panose="05000000000000000000" pitchFamily="2" charset="2"/>
              <a:buNone/>
            </a:pPr>
            <a:r>
              <a:rPr lang="zh-CN" altLang="en-US" sz="3200" dirty="0" smtClean="0">
                <a:solidFill>
                  <a:srgbClr val="0033CC"/>
                </a:solidFill>
                <a:latin typeface="Arial" panose="020B0604020202020204" pitchFamily="34" charset="0"/>
                <a:ea typeface="黑体" panose="02010609060101010101" pitchFamily="1" charset="-122"/>
              </a:rPr>
              <a:t>三、基于锁的并发控制协议</a:t>
            </a:r>
            <a:endParaRPr lang="zh-CN" altLang="en-US" sz="3200" dirty="0">
              <a:solidFill>
                <a:srgbClr val="0033CC"/>
              </a:solidFill>
              <a:latin typeface="Arial" panose="020B0604020202020204" pitchFamily="34" charset="0"/>
              <a:ea typeface="黑体" panose="02010609060101010101" pitchFamily="1"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10594">
                                            <p:txEl>
                                              <p:pRg st="2" end="2"/>
                                            </p:txEl>
                                          </p:spTgt>
                                        </p:tgtEl>
                                        <p:attrNameLst>
                                          <p:attrName>style.visibility</p:attrName>
                                        </p:attrNameLst>
                                      </p:cBhvr>
                                      <p:to>
                                        <p:strVal val="visible"/>
                                      </p:to>
                                    </p:set>
                                    <p:animEffect transition="in" filter="dissolve">
                                      <p:cBhvr>
                                        <p:cTn id="7" dur="500"/>
                                        <p:tgtEl>
                                          <p:spTgt spid="110594">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10594">
                                            <p:txEl>
                                              <p:pRg st="3" end="3"/>
                                            </p:txEl>
                                          </p:spTgt>
                                        </p:tgtEl>
                                        <p:attrNameLst>
                                          <p:attrName>style.visibility</p:attrName>
                                        </p:attrNameLst>
                                      </p:cBhvr>
                                      <p:to>
                                        <p:strVal val="visible"/>
                                      </p:to>
                                    </p:set>
                                    <p:animEffect transition="in" filter="dissolve">
                                      <p:cBhvr>
                                        <p:cTn id="12" dur="500"/>
                                        <p:tgtEl>
                                          <p:spTgt spid="110594">
                                            <p:txEl>
                                              <p:pRg st="3" end="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110594">
                                            <p:txEl>
                                              <p:pRg st="4" end="4"/>
                                            </p:txEl>
                                          </p:spTgt>
                                        </p:tgtEl>
                                        <p:attrNameLst>
                                          <p:attrName>style.visibility</p:attrName>
                                        </p:attrNameLst>
                                      </p:cBhvr>
                                      <p:to>
                                        <p:strVal val="visible"/>
                                      </p:to>
                                    </p:set>
                                    <p:animEffect transition="in" filter="dissolve">
                                      <p:cBhvr>
                                        <p:cTn id="17" dur="500"/>
                                        <p:tgtEl>
                                          <p:spTgt spid="110594">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0594" grpId="0" uiExpand="1"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541020" y="1397000"/>
            <a:ext cx="7338695" cy="589280"/>
          </a:xfrm>
          <a:prstGeom prst="rect">
            <a:avLst/>
          </a:prstGeom>
          <a:noFill/>
        </p:spPr>
        <p:txBody>
          <a:bodyPr wrap="square" rtlCol="0" anchor="t">
            <a:spAutoFit/>
          </a:bodyPr>
          <a:lstStyle/>
          <a:p>
            <a:pPr>
              <a:buFont typeface="Wingdings" panose="05000000000000000000" charset="0"/>
              <a:buChar char="Ø"/>
            </a:pPr>
            <a:r>
              <a:rPr lang="zh-CN" altLang="en-US" sz="2400">
                <a:solidFill>
                  <a:srgbClr val="0033CC"/>
                </a:solidFill>
                <a:latin typeface="+mj-ea"/>
                <a:ea typeface="+mj-ea"/>
                <a:sym typeface="+mn-ea"/>
              </a:rPr>
              <a:t>什么是加锁</a:t>
            </a:r>
            <a:endParaRPr lang="zh-CN" altLang="en-US" sz="2400">
              <a:solidFill>
                <a:srgbClr val="0033CC"/>
              </a:solidFill>
              <a:latin typeface="+mj-ea"/>
              <a:ea typeface="+mj-ea"/>
              <a:sym typeface="+mn-ea"/>
            </a:endParaRPr>
          </a:p>
        </p:txBody>
      </p:sp>
      <p:sp>
        <p:nvSpPr>
          <p:cNvPr id="9" name="Rectangle 3"/>
          <p:cNvSpPr txBox="1">
            <a:spLocks noChangeArrowheads="1"/>
          </p:cNvSpPr>
          <p:nvPr/>
        </p:nvSpPr>
        <p:spPr>
          <a:xfrm>
            <a:off x="516255" y="2026920"/>
            <a:ext cx="7924800" cy="1647825"/>
          </a:xfrm>
          <a:prstGeom prst="rect">
            <a:avLst/>
          </a:prstGeom>
          <a:ln>
            <a:solidFill>
              <a:schemeClr val="accent1"/>
            </a:solidFill>
          </a:ln>
        </p:spPr>
        <p:txBody>
          <a:bodyPr/>
          <a:lstStyle/>
          <a:p>
            <a:pPr marL="342900" marR="0" lvl="0" indent="-342900" algn="l" defTabSz="914400" rtl="0" eaLnBrk="0" fontAlgn="base" latinLnBrk="0" hangingPunct="0">
              <a:lnSpc>
                <a:spcPct val="110000"/>
              </a:lnSpc>
              <a:spcBef>
                <a:spcPts val="400"/>
              </a:spcBef>
              <a:spcAft>
                <a:spcPts val="0"/>
              </a:spcAft>
              <a:buClr>
                <a:srgbClr val="0033CC"/>
              </a:buClr>
              <a:buSzPct val="80000"/>
              <a:buFont typeface="Wingdings" panose="05000000000000000000" pitchFamily="2" charset="2"/>
              <a:buChar char="u"/>
              <a:defRPr/>
            </a:pPr>
            <a:r>
              <a:rPr kumimoji="0" lang="zh-CN" altLang="en-US" sz="2200" b="1" i="0" u="none" strike="noStrike" kern="0" cap="none" spc="0" normalizeH="0" baseline="0" noProof="0" dirty="0">
                <a:ln>
                  <a:noFill/>
                </a:ln>
                <a:solidFill>
                  <a:schemeClr val="tx1"/>
                </a:solidFill>
                <a:effectLst/>
                <a:uLnTx/>
                <a:uFillTx/>
                <a:latin typeface="楷体" panose="02010609060101010101" pitchFamily="1" charset="-122"/>
                <a:ea typeface="楷体" panose="02010609060101010101" pitchFamily="1" charset="-122"/>
                <a:cs typeface="+mn-cs"/>
              </a:rPr>
              <a:t>加锁就是事务</a:t>
            </a:r>
            <a:r>
              <a:rPr kumimoji="0" lang="en-US" altLang="zh-CN" sz="2200" b="1" i="0" u="none" strike="noStrike" kern="0" cap="none" spc="0" normalizeH="0" baseline="0" noProof="0" dirty="0">
                <a:ln>
                  <a:noFill/>
                </a:ln>
                <a:solidFill>
                  <a:schemeClr val="tx1"/>
                </a:solidFill>
                <a:effectLst/>
                <a:uLnTx/>
                <a:uFillTx/>
                <a:latin typeface="楷体" panose="02010609060101010101" pitchFamily="1" charset="-122"/>
                <a:ea typeface="楷体" panose="02010609060101010101" pitchFamily="1" charset="-122"/>
                <a:cs typeface="+mn-cs"/>
              </a:rPr>
              <a:t>T</a:t>
            </a:r>
            <a:r>
              <a:rPr kumimoji="0" lang="zh-CN" altLang="en-US" sz="2200" b="1" i="0" u="none" strike="noStrike" kern="0" cap="none" spc="0" normalizeH="0" baseline="0" noProof="0" dirty="0">
                <a:ln>
                  <a:noFill/>
                </a:ln>
                <a:solidFill>
                  <a:schemeClr val="tx1"/>
                </a:solidFill>
                <a:effectLst/>
                <a:uLnTx/>
                <a:uFillTx/>
                <a:latin typeface="楷体" panose="02010609060101010101" pitchFamily="1" charset="-122"/>
                <a:ea typeface="楷体" panose="02010609060101010101" pitchFamily="1" charset="-122"/>
                <a:cs typeface="+mn-cs"/>
              </a:rPr>
              <a:t>在对某数据对象（例如表、记录等）操作之前，先向系统发出请求，对其加锁；</a:t>
            </a:r>
            <a:endParaRPr kumimoji="0" lang="zh-CN" altLang="en-US" sz="2200" b="1" i="0" u="none" strike="noStrike" kern="0" cap="none" spc="0" normalizeH="0" baseline="0" noProof="0" dirty="0">
              <a:ln>
                <a:noFill/>
              </a:ln>
              <a:solidFill>
                <a:schemeClr val="tx1"/>
              </a:solidFill>
              <a:effectLst/>
              <a:uLnTx/>
              <a:uFillTx/>
              <a:latin typeface="楷体" panose="02010609060101010101" pitchFamily="1" charset="-122"/>
              <a:ea typeface="楷体" panose="02010609060101010101" pitchFamily="1" charset="-122"/>
              <a:cs typeface="+mn-cs"/>
            </a:endParaRPr>
          </a:p>
          <a:p>
            <a:pPr marL="342900" marR="0" lvl="0" indent="-342900" algn="l" defTabSz="914400" rtl="0" eaLnBrk="0" fontAlgn="base" latinLnBrk="0" hangingPunct="0">
              <a:lnSpc>
                <a:spcPct val="110000"/>
              </a:lnSpc>
              <a:spcBef>
                <a:spcPts val="400"/>
              </a:spcBef>
              <a:spcAft>
                <a:spcPts val="0"/>
              </a:spcAft>
              <a:buClr>
                <a:srgbClr val="0033CC"/>
              </a:buClr>
              <a:buSzPct val="80000"/>
              <a:buFont typeface="Wingdings" panose="05000000000000000000" pitchFamily="2" charset="2"/>
              <a:buChar char="u"/>
              <a:defRPr/>
            </a:pPr>
            <a:r>
              <a:rPr kumimoji="0" lang="zh-CN" altLang="en-US" sz="2200" b="1" i="0" u="none" strike="noStrike" kern="0" cap="none" spc="0" normalizeH="0" baseline="0" noProof="0" dirty="0">
                <a:ln>
                  <a:noFill/>
                </a:ln>
                <a:solidFill>
                  <a:schemeClr val="tx1"/>
                </a:solidFill>
                <a:effectLst/>
                <a:uLnTx/>
                <a:uFillTx/>
                <a:latin typeface="楷体" panose="02010609060101010101" pitchFamily="1" charset="-122"/>
                <a:ea typeface="楷体" panose="02010609060101010101" pitchFamily="1" charset="-122"/>
                <a:cs typeface="+mn-cs"/>
              </a:rPr>
              <a:t>加锁后事务</a:t>
            </a:r>
            <a:r>
              <a:rPr kumimoji="0" lang="en-US" altLang="zh-CN" sz="2200" b="1" i="0" u="none" strike="noStrike" kern="0" cap="none" spc="0" normalizeH="0" baseline="0" noProof="0" dirty="0">
                <a:ln>
                  <a:noFill/>
                </a:ln>
                <a:solidFill>
                  <a:schemeClr val="tx1"/>
                </a:solidFill>
                <a:effectLst/>
                <a:uLnTx/>
                <a:uFillTx/>
                <a:latin typeface="楷体" panose="02010609060101010101" pitchFamily="1" charset="-122"/>
                <a:ea typeface="楷体" panose="02010609060101010101" pitchFamily="1" charset="-122"/>
                <a:cs typeface="+mn-cs"/>
              </a:rPr>
              <a:t>T</a:t>
            </a:r>
            <a:r>
              <a:rPr kumimoji="0" lang="zh-CN" altLang="en-US" sz="2200" b="1" i="0" u="none" strike="noStrike" kern="0" cap="none" spc="0" normalizeH="0" baseline="0" noProof="0" dirty="0">
                <a:ln>
                  <a:noFill/>
                </a:ln>
                <a:solidFill>
                  <a:schemeClr val="tx1"/>
                </a:solidFill>
                <a:effectLst/>
                <a:uLnTx/>
                <a:uFillTx/>
                <a:latin typeface="楷体" panose="02010609060101010101" pitchFamily="1" charset="-122"/>
                <a:ea typeface="楷体" panose="02010609060101010101" pitchFamily="1" charset="-122"/>
                <a:cs typeface="+mn-cs"/>
              </a:rPr>
              <a:t>就对该数据对象有了一定的控制，在事务</a:t>
            </a:r>
            <a:r>
              <a:rPr kumimoji="0" lang="en-US" altLang="zh-CN" sz="2200" b="1" i="0" u="none" strike="noStrike" kern="0" cap="none" spc="0" normalizeH="0" baseline="0" noProof="0" dirty="0">
                <a:ln>
                  <a:noFill/>
                </a:ln>
                <a:solidFill>
                  <a:schemeClr val="tx1"/>
                </a:solidFill>
                <a:effectLst/>
                <a:uLnTx/>
                <a:uFillTx/>
                <a:latin typeface="楷体" panose="02010609060101010101" pitchFamily="1" charset="-122"/>
                <a:ea typeface="楷体" panose="02010609060101010101" pitchFamily="1" charset="-122"/>
                <a:cs typeface="+mn-cs"/>
              </a:rPr>
              <a:t>T</a:t>
            </a:r>
            <a:r>
              <a:rPr kumimoji="0" lang="zh-CN" altLang="en-US" sz="2200" b="1" i="0" u="none" strike="noStrike" kern="0" cap="none" spc="0" normalizeH="0" baseline="0" noProof="0" dirty="0">
                <a:ln>
                  <a:noFill/>
                </a:ln>
                <a:solidFill>
                  <a:schemeClr val="tx1"/>
                </a:solidFill>
                <a:effectLst/>
                <a:uLnTx/>
                <a:uFillTx/>
                <a:latin typeface="楷体" panose="02010609060101010101" pitchFamily="1" charset="-122"/>
                <a:ea typeface="楷体" panose="02010609060101010101" pitchFamily="1" charset="-122"/>
                <a:cs typeface="+mn-cs"/>
              </a:rPr>
              <a:t>释放它的锁之前，其他事务</a:t>
            </a:r>
            <a:r>
              <a:rPr kumimoji="0" lang="zh-CN" altLang="en-US" sz="2200" b="1" i="0" u="none" strike="noStrike" kern="0" cap="none" spc="0" normalizeH="0" baseline="0" noProof="0" dirty="0" smtClean="0">
                <a:ln>
                  <a:noFill/>
                </a:ln>
                <a:solidFill>
                  <a:schemeClr val="tx1"/>
                </a:solidFill>
                <a:effectLst/>
                <a:uLnTx/>
                <a:uFillTx/>
                <a:latin typeface="楷体" panose="02010609060101010101" pitchFamily="1" charset="-122"/>
                <a:ea typeface="楷体" panose="02010609060101010101" pitchFamily="1" charset="-122"/>
                <a:cs typeface="+mn-cs"/>
              </a:rPr>
              <a:t>不能</a:t>
            </a:r>
            <a:r>
              <a:rPr lang="zh-CN" altLang="en-US" sz="2200" kern="0" noProof="0" dirty="0">
                <a:latin typeface="楷体" panose="02010609060101010101" pitchFamily="1" charset="-122"/>
                <a:ea typeface="楷体" panose="02010609060101010101" pitchFamily="1" charset="-122"/>
                <a:cs typeface="+mn-cs"/>
              </a:rPr>
              <a:t>操作</a:t>
            </a:r>
            <a:r>
              <a:rPr kumimoji="0" lang="zh-CN" altLang="en-US" sz="2200" b="1" i="0" u="none" strike="noStrike" kern="0" cap="none" spc="0" normalizeH="0" baseline="0" noProof="0" dirty="0" smtClean="0">
                <a:ln>
                  <a:noFill/>
                </a:ln>
                <a:solidFill>
                  <a:schemeClr val="tx1"/>
                </a:solidFill>
                <a:effectLst/>
                <a:uLnTx/>
                <a:uFillTx/>
                <a:latin typeface="楷体" panose="02010609060101010101" pitchFamily="1" charset="-122"/>
                <a:ea typeface="楷体" panose="02010609060101010101" pitchFamily="1" charset="-122"/>
                <a:cs typeface="+mn-cs"/>
              </a:rPr>
              <a:t>此</a:t>
            </a:r>
            <a:r>
              <a:rPr kumimoji="0" lang="zh-CN" altLang="en-US" sz="2200" b="1" i="0" u="none" strike="noStrike" kern="0" cap="none" spc="0" normalizeH="0" baseline="0" noProof="0" dirty="0">
                <a:ln>
                  <a:noFill/>
                </a:ln>
                <a:solidFill>
                  <a:schemeClr val="tx1"/>
                </a:solidFill>
                <a:effectLst/>
                <a:uLnTx/>
                <a:uFillTx/>
                <a:latin typeface="楷体" panose="02010609060101010101" pitchFamily="1" charset="-122"/>
                <a:ea typeface="楷体" panose="02010609060101010101" pitchFamily="1" charset="-122"/>
                <a:cs typeface="+mn-cs"/>
              </a:rPr>
              <a:t>数据对象。</a:t>
            </a:r>
            <a:endParaRPr kumimoji="0" lang="zh-CN" altLang="en-US" sz="2200" b="1" i="0" u="none" strike="noStrike" kern="0" cap="none" spc="0" normalizeH="0" baseline="0" noProof="0" dirty="0">
              <a:ln>
                <a:noFill/>
              </a:ln>
              <a:solidFill>
                <a:schemeClr val="tx1"/>
              </a:solidFill>
              <a:effectLst/>
              <a:uLnTx/>
              <a:uFillTx/>
              <a:latin typeface="楷体" panose="02010609060101010101" pitchFamily="1" charset="-122"/>
              <a:ea typeface="楷体" panose="02010609060101010101" pitchFamily="1" charset="-122"/>
              <a:cs typeface="+mn-cs"/>
            </a:endParaRPr>
          </a:p>
          <a:p>
            <a:pPr marR="0" lvl="0" algn="l" defTabSz="914400" rtl="0" eaLnBrk="0" fontAlgn="base" latinLnBrk="0" hangingPunct="0">
              <a:lnSpc>
                <a:spcPct val="110000"/>
              </a:lnSpc>
              <a:spcBef>
                <a:spcPts val="400"/>
              </a:spcBef>
              <a:spcAft>
                <a:spcPts val="0"/>
              </a:spcAft>
              <a:buClr>
                <a:srgbClr val="0033CC"/>
              </a:buClr>
              <a:buSzPct val="80000"/>
              <a:buFont typeface="Wingdings" panose="05000000000000000000" pitchFamily="2" charset="2"/>
              <a:buNone/>
              <a:defRPr/>
            </a:pPr>
            <a:endParaRPr kumimoji="0" lang="zh-CN" altLang="en-US" sz="2200" b="1" i="0" u="none" strike="noStrike" kern="0" cap="none" spc="0" normalizeH="0" baseline="0" noProof="0" dirty="0">
              <a:ln>
                <a:noFill/>
              </a:ln>
              <a:solidFill>
                <a:schemeClr val="tx1"/>
              </a:solidFill>
              <a:effectLst/>
              <a:uLnTx/>
              <a:uFillTx/>
              <a:latin typeface="楷体" panose="02010609060101010101" pitchFamily="1" charset="-122"/>
              <a:ea typeface="楷体" panose="02010609060101010101" pitchFamily="1" charset="-122"/>
              <a:cs typeface="+mn-cs"/>
            </a:endParaRPr>
          </a:p>
        </p:txBody>
      </p:sp>
      <p:sp>
        <p:nvSpPr>
          <p:cNvPr id="3" name="文本框 2"/>
          <p:cNvSpPr txBox="1"/>
          <p:nvPr/>
        </p:nvSpPr>
        <p:spPr>
          <a:xfrm>
            <a:off x="516255" y="3743325"/>
            <a:ext cx="8047990" cy="975995"/>
          </a:xfrm>
          <a:prstGeom prst="rect">
            <a:avLst/>
          </a:prstGeom>
          <a:noFill/>
        </p:spPr>
        <p:txBody>
          <a:bodyPr wrap="square" rtlCol="0" anchor="t">
            <a:spAutoFit/>
          </a:bodyPr>
          <a:lstStyle/>
          <a:p>
            <a:pPr>
              <a:lnSpc>
                <a:spcPct val="125000"/>
              </a:lnSpc>
              <a:spcBef>
                <a:spcPts val="0"/>
              </a:spcBef>
              <a:spcAft>
                <a:spcPts val="0"/>
              </a:spcAft>
              <a:buFont typeface="Wingdings" panose="05000000000000000000" charset="0"/>
              <a:buChar char="Ø"/>
            </a:pPr>
            <a:r>
              <a:rPr lang="zh-CN" altLang="en-US" sz="2400">
                <a:solidFill>
                  <a:srgbClr val="0033CC"/>
                </a:solidFill>
                <a:latin typeface="+mj-ea"/>
                <a:ea typeface="+mj-ea"/>
                <a:sym typeface="+mn-ea"/>
              </a:rPr>
              <a:t>基本加锁类型：</a:t>
            </a:r>
            <a:r>
              <a:rPr lang="zh-CN" altLang="en-US" sz="2200">
                <a:solidFill>
                  <a:schemeClr val="tx1"/>
                </a:solidFill>
                <a:latin typeface="+mn-ea"/>
                <a:ea typeface="+mn-ea"/>
                <a:sym typeface="+mn-ea"/>
              </a:rPr>
              <a:t>一个事务对某个数据对象加锁后究竟拥有什么样的控制是由封锁的类型决定的。</a:t>
            </a:r>
            <a:endParaRPr lang="zh-CN" altLang="en-US" sz="2200">
              <a:solidFill>
                <a:schemeClr val="tx1"/>
              </a:solidFill>
              <a:latin typeface="+mn-ea"/>
              <a:ea typeface="+mn-ea"/>
              <a:sym typeface="+mn-ea"/>
            </a:endParaRPr>
          </a:p>
        </p:txBody>
      </p:sp>
      <p:sp>
        <p:nvSpPr>
          <p:cNvPr id="5" name="Rectangle 3"/>
          <p:cNvSpPr txBox="1">
            <a:spLocks noChangeArrowheads="1"/>
          </p:cNvSpPr>
          <p:nvPr/>
        </p:nvSpPr>
        <p:spPr>
          <a:xfrm>
            <a:off x="541020" y="4790440"/>
            <a:ext cx="7924800" cy="939800"/>
          </a:xfrm>
          <a:prstGeom prst="rect">
            <a:avLst/>
          </a:prstGeom>
          <a:ln>
            <a:solidFill>
              <a:schemeClr val="accent1"/>
            </a:solidFill>
          </a:ln>
        </p:spPr>
        <p:txBody>
          <a:bodyPr/>
          <a:lstStyle/>
          <a:p>
            <a:pPr marR="0" lvl="0" algn="l" defTabSz="914400" rtl="0" eaLnBrk="0" fontAlgn="base" latinLnBrk="0" hangingPunct="0">
              <a:lnSpc>
                <a:spcPct val="110000"/>
              </a:lnSpc>
              <a:spcBef>
                <a:spcPts val="400"/>
              </a:spcBef>
              <a:spcAft>
                <a:spcPts val="0"/>
              </a:spcAft>
              <a:buClr>
                <a:srgbClr val="0033CC"/>
              </a:buClr>
              <a:buSzPct val="80000"/>
              <a:buFont typeface="Wingdings" panose="05000000000000000000" charset="0"/>
              <a:buChar char="u"/>
              <a:defRPr/>
            </a:pPr>
            <a:r>
              <a:rPr kumimoji="0" lang="zh-CN" altLang="en-US" sz="2200" b="1" i="0" u="none" strike="noStrike" kern="0" cap="none" spc="0" normalizeH="0" baseline="0" noProof="0" dirty="0">
                <a:ln>
                  <a:noFill/>
                </a:ln>
                <a:solidFill>
                  <a:schemeClr val="tx1"/>
                </a:solidFill>
                <a:effectLst/>
                <a:uLnTx/>
                <a:uFillTx/>
                <a:latin typeface="楷体" panose="02010609060101010101" pitchFamily="1" charset="-122"/>
                <a:ea typeface="楷体" panose="02010609060101010101" pitchFamily="1" charset="-122"/>
                <a:cs typeface="+mn-cs"/>
              </a:rPr>
              <a:t>排它锁（</a:t>
            </a:r>
            <a:r>
              <a:rPr kumimoji="0" lang="en-US" altLang="zh-CN" sz="2200" b="1" i="0" u="none" strike="noStrike" kern="0" cap="none" spc="0" normalizeH="0" baseline="0" noProof="0" dirty="0">
                <a:ln>
                  <a:noFill/>
                </a:ln>
                <a:solidFill>
                  <a:schemeClr val="tx1"/>
                </a:solidFill>
                <a:effectLst/>
                <a:uLnTx/>
                <a:uFillTx/>
                <a:latin typeface="楷体" panose="02010609060101010101" pitchFamily="1" charset="-122"/>
                <a:ea typeface="楷体" panose="02010609060101010101" pitchFamily="1" charset="-122"/>
                <a:cs typeface="+mn-cs"/>
              </a:rPr>
              <a:t>eXclusive lock</a:t>
            </a:r>
            <a:r>
              <a:rPr kumimoji="0" lang="zh-CN" altLang="en-US" sz="2200" b="1" i="0" u="none" strike="noStrike" kern="0" cap="none" spc="0" normalizeH="0" baseline="0" noProof="0" dirty="0">
                <a:ln>
                  <a:noFill/>
                </a:ln>
                <a:solidFill>
                  <a:schemeClr val="tx1"/>
                </a:solidFill>
                <a:effectLst/>
                <a:uLnTx/>
                <a:uFillTx/>
                <a:latin typeface="楷体" panose="02010609060101010101" pitchFamily="1" charset="-122"/>
                <a:ea typeface="楷体" panose="02010609060101010101" pitchFamily="1" charset="-122"/>
                <a:cs typeface="+mn-cs"/>
              </a:rPr>
              <a:t>，简称为</a:t>
            </a:r>
            <a:r>
              <a:rPr kumimoji="0" lang="en-US" altLang="zh-CN" sz="2200" b="1" i="0" u="none" strike="noStrike" kern="0" cap="none" spc="0" normalizeH="0" baseline="0" noProof="0" dirty="0">
                <a:ln>
                  <a:noFill/>
                </a:ln>
                <a:solidFill>
                  <a:schemeClr val="tx1"/>
                </a:solidFill>
                <a:effectLst/>
                <a:uLnTx/>
                <a:uFillTx/>
                <a:latin typeface="楷体" panose="02010609060101010101" pitchFamily="1" charset="-122"/>
                <a:ea typeface="楷体" panose="02010609060101010101" pitchFamily="1" charset="-122"/>
                <a:cs typeface="+mn-cs"/>
              </a:rPr>
              <a:t>X</a:t>
            </a:r>
            <a:r>
              <a:rPr kumimoji="0" lang="zh-CN" altLang="en-US" sz="2200" b="1" i="0" u="none" strike="noStrike" kern="0" cap="none" spc="0" normalizeH="0" baseline="0" noProof="0" dirty="0">
                <a:ln>
                  <a:noFill/>
                </a:ln>
                <a:solidFill>
                  <a:schemeClr val="tx1"/>
                </a:solidFill>
                <a:effectLst/>
                <a:uLnTx/>
                <a:uFillTx/>
                <a:latin typeface="楷体" panose="02010609060101010101" pitchFamily="1" charset="-122"/>
                <a:ea typeface="楷体" panose="02010609060101010101" pitchFamily="1" charset="-122"/>
                <a:cs typeface="+mn-cs"/>
              </a:rPr>
              <a:t>锁）</a:t>
            </a:r>
            <a:endParaRPr kumimoji="0" lang="zh-CN" altLang="en-US" sz="2200" b="1" i="0" u="none" strike="noStrike" kern="0" cap="none" spc="0" normalizeH="0" baseline="0" noProof="0" dirty="0">
              <a:ln>
                <a:noFill/>
              </a:ln>
              <a:solidFill>
                <a:schemeClr val="tx1"/>
              </a:solidFill>
              <a:effectLst/>
              <a:uLnTx/>
              <a:uFillTx/>
              <a:latin typeface="楷体" panose="02010609060101010101" pitchFamily="1" charset="-122"/>
              <a:ea typeface="楷体" panose="02010609060101010101" pitchFamily="1" charset="-122"/>
              <a:cs typeface="+mn-cs"/>
            </a:endParaRPr>
          </a:p>
          <a:p>
            <a:pPr marR="0" lvl="0" algn="l" defTabSz="914400" rtl="0" eaLnBrk="0" fontAlgn="base" latinLnBrk="0" hangingPunct="0">
              <a:lnSpc>
                <a:spcPct val="110000"/>
              </a:lnSpc>
              <a:spcBef>
                <a:spcPts val="400"/>
              </a:spcBef>
              <a:spcAft>
                <a:spcPts val="0"/>
              </a:spcAft>
              <a:buClr>
                <a:srgbClr val="0033CC"/>
              </a:buClr>
              <a:buSzPct val="80000"/>
              <a:buFont typeface="Wingdings" panose="05000000000000000000" charset="0"/>
              <a:buChar char="u"/>
              <a:defRPr/>
            </a:pPr>
            <a:r>
              <a:rPr kumimoji="0" lang="zh-CN" altLang="en-US" sz="2200" b="1" i="0" u="none" strike="noStrike" kern="0" cap="none" spc="0" normalizeH="0" baseline="0" noProof="0" dirty="0">
                <a:ln>
                  <a:noFill/>
                </a:ln>
                <a:solidFill>
                  <a:schemeClr val="tx1"/>
                </a:solidFill>
                <a:effectLst/>
                <a:uLnTx/>
                <a:uFillTx/>
                <a:latin typeface="楷体" panose="02010609060101010101" pitchFamily="1" charset="-122"/>
                <a:ea typeface="楷体" panose="02010609060101010101" pitchFamily="1" charset="-122"/>
                <a:cs typeface="+mn-cs"/>
              </a:rPr>
              <a:t>共享锁（</a:t>
            </a:r>
            <a:r>
              <a:rPr kumimoji="0" lang="en-US" altLang="zh-CN" sz="2200" b="1" i="0" u="none" strike="noStrike" kern="0" cap="none" spc="0" normalizeH="0" baseline="0" noProof="0" dirty="0">
                <a:ln>
                  <a:noFill/>
                </a:ln>
                <a:solidFill>
                  <a:schemeClr val="tx1"/>
                </a:solidFill>
                <a:effectLst/>
                <a:uLnTx/>
                <a:uFillTx/>
                <a:latin typeface="楷体" panose="02010609060101010101" pitchFamily="1" charset="-122"/>
                <a:ea typeface="楷体" panose="02010609060101010101" pitchFamily="1" charset="-122"/>
                <a:cs typeface="+mn-cs"/>
              </a:rPr>
              <a:t>Share lock</a:t>
            </a:r>
            <a:r>
              <a:rPr kumimoji="0" lang="zh-CN" altLang="en-US" sz="2200" b="1" i="0" u="none" strike="noStrike" kern="0" cap="none" spc="0" normalizeH="0" baseline="0" noProof="0" dirty="0">
                <a:ln>
                  <a:noFill/>
                </a:ln>
                <a:solidFill>
                  <a:schemeClr val="tx1"/>
                </a:solidFill>
                <a:effectLst/>
                <a:uLnTx/>
                <a:uFillTx/>
                <a:latin typeface="楷体" panose="02010609060101010101" pitchFamily="1" charset="-122"/>
                <a:ea typeface="楷体" panose="02010609060101010101" pitchFamily="1" charset="-122"/>
                <a:cs typeface="+mn-cs"/>
              </a:rPr>
              <a:t>，简记为</a:t>
            </a:r>
            <a:r>
              <a:rPr kumimoji="0" lang="en-US" altLang="zh-CN" sz="2200" b="1" i="0" u="none" strike="noStrike" kern="0" cap="none" spc="0" normalizeH="0" baseline="0" noProof="0" dirty="0">
                <a:ln>
                  <a:noFill/>
                </a:ln>
                <a:solidFill>
                  <a:schemeClr val="tx1"/>
                </a:solidFill>
                <a:effectLst/>
                <a:uLnTx/>
                <a:uFillTx/>
                <a:latin typeface="楷体" panose="02010609060101010101" pitchFamily="1" charset="-122"/>
                <a:ea typeface="楷体" panose="02010609060101010101" pitchFamily="1" charset="-122"/>
                <a:cs typeface="+mn-cs"/>
              </a:rPr>
              <a:t>S</a:t>
            </a:r>
            <a:r>
              <a:rPr kumimoji="0" lang="zh-CN" altLang="en-US" sz="2200" b="1" i="0" u="none" strike="noStrike" kern="0" cap="none" spc="0" normalizeH="0" baseline="0" noProof="0" dirty="0">
                <a:ln>
                  <a:noFill/>
                </a:ln>
                <a:solidFill>
                  <a:schemeClr val="tx1"/>
                </a:solidFill>
                <a:effectLst/>
                <a:uLnTx/>
                <a:uFillTx/>
                <a:latin typeface="楷体" panose="02010609060101010101" pitchFamily="1" charset="-122"/>
                <a:ea typeface="楷体" panose="02010609060101010101" pitchFamily="1" charset="-122"/>
                <a:cs typeface="+mn-cs"/>
              </a:rPr>
              <a:t>锁）</a:t>
            </a:r>
            <a:endParaRPr kumimoji="0" lang="zh-CN" altLang="en-US" sz="2200" b="1" i="0" u="none" strike="noStrike" kern="0" cap="none" spc="0" normalizeH="0" baseline="0" noProof="0" dirty="0">
              <a:ln>
                <a:noFill/>
              </a:ln>
              <a:solidFill>
                <a:schemeClr val="tx1"/>
              </a:solidFill>
              <a:effectLst/>
              <a:uLnTx/>
              <a:uFillTx/>
              <a:latin typeface="楷体" panose="02010609060101010101" pitchFamily="1" charset="-122"/>
              <a:ea typeface="楷体" panose="02010609060101010101" pitchFamily="1" charset="-122"/>
              <a:cs typeface="+mn-cs"/>
            </a:endParaRPr>
          </a:p>
        </p:txBody>
      </p:sp>
      <p:sp>
        <p:nvSpPr>
          <p:cNvPr id="7" name="Rectangle 3"/>
          <p:cNvSpPr txBox="1"/>
          <p:nvPr/>
        </p:nvSpPr>
        <p:spPr>
          <a:xfrm>
            <a:off x="517525" y="861378"/>
            <a:ext cx="7178675" cy="706437"/>
          </a:xfrm>
          <a:prstGeom prst="rect">
            <a:avLst/>
          </a:prstGeom>
          <a:noFill/>
          <a:ln w="9525">
            <a:noFill/>
          </a:ln>
        </p:spPr>
        <p:txBody>
          <a:bodyPr anchor="t"/>
          <a:lstStyle/>
          <a:p>
            <a:pPr lvl="0" indent="0" eaLnBrk="0" hangingPunct="0"/>
            <a:r>
              <a:rPr lang="en-US" altLang="x-none" sz="2800" dirty="0">
                <a:solidFill>
                  <a:srgbClr val="FF0000"/>
                </a:solidFill>
                <a:latin typeface="黑体" panose="02010609060101010101" pitchFamily="1" charset="-122"/>
                <a:ea typeface="黑体" panose="02010609060101010101" pitchFamily="1" charset="-122"/>
              </a:rPr>
              <a:t>1</a:t>
            </a:r>
            <a:r>
              <a:rPr lang="zh-CN" altLang="en-US" sz="2800" dirty="0">
                <a:solidFill>
                  <a:srgbClr val="FF0000"/>
                </a:solidFill>
                <a:latin typeface="黑体" panose="02010609060101010101" pitchFamily="1" charset="-122"/>
                <a:ea typeface="黑体" panose="02010609060101010101" pitchFamily="1" charset="-122"/>
              </a:rPr>
              <a:t>、加锁协议的提出</a:t>
            </a:r>
            <a:endParaRPr lang="en-US" altLang="x-none" sz="2800" dirty="0">
              <a:solidFill>
                <a:srgbClr val="FF0000"/>
              </a:solidFill>
              <a:latin typeface="黑体" panose="02010609060101010101" pitchFamily="1" charset="-122"/>
              <a:ea typeface="黑体" panose="02010609060101010101" pitchFamily="1" charset="-122"/>
            </a:endParaRPr>
          </a:p>
        </p:txBody>
      </p:sp>
      <p:sp>
        <p:nvSpPr>
          <p:cNvPr id="10" name="Rectangle 2"/>
          <p:cNvSpPr/>
          <p:nvPr/>
        </p:nvSpPr>
        <p:spPr>
          <a:xfrm>
            <a:off x="417513" y="42228"/>
            <a:ext cx="8229600" cy="692150"/>
          </a:xfrm>
          <a:prstGeom prst="rect">
            <a:avLst/>
          </a:prstGeom>
          <a:noFill/>
          <a:ln w="9525">
            <a:noFill/>
          </a:ln>
        </p:spPr>
        <p:txBody>
          <a:bodyPr anchor="ctr"/>
          <a:lstStyle/>
          <a:p>
            <a:pPr lvl="0" indent="0">
              <a:buFont typeface="Wingdings" panose="05000000000000000000" pitchFamily="2" charset="2"/>
              <a:buNone/>
            </a:pPr>
            <a:r>
              <a:rPr lang="zh-CN" altLang="en-US" sz="3200" dirty="0" smtClean="0">
                <a:solidFill>
                  <a:srgbClr val="0033CC"/>
                </a:solidFill>
                <a:latin typeface="Arial" panose="020B0604020202020204" pitchFamily="34" charset="0"/>
                <a:ea typeface="黑体" panose="02010609060101010101" pitchFamily="1" charset="-122"/>
              </a:rPr>
              <a:t>三、基于锁的并发控制协议</a:t>
            </a:r>
            <a:endParaRPr lang="zh-CN" altLang="en-US" sz="3200" dirty="0">
              <a:solidFill>
                <a:srgbClr val="0033CC"/>
              </a:solidFill>
              <a:latin typeface="Arial" panose="020B0604020202020204" pitchFamily="34" charset="0"/>
              <a:ea typeface="黑体" panose="02010609060101010101" pitchFamily="1"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5"/>
                                        </p:tgtEl>
                                        <p:attrNameLst>
                                          <p:attrName>style.visibility</p:attrName>
                                        </p:attrNameLst>
                                      </p:cBhvr>
                                      <p:to>
                                        <p:strVal val="visible"/>
                                      </p:to>
                                    </p:set>
                                    <p:anim calcmode="lin" valueType="num">
                                      <p:cBhvr additive="base">
                                        <p:cTn id="11" dur="500" fill="hold"/>
                                        <p:tgtEl>
                                          <p:spTgt spid="5"/>
                                        </p:tgtEl>
                                        <p:attrNameLst>
                                          <p:attrName>ppt_x</p:attrName>
                                        </p:attrNameLst>
                                      </p:cBhvr>
                                      <p:tavLst>
                                        <p:tav tm="0">
                                          <p:val>
                                            <p:strVal val="#ppt_x"/>
                                          </p:val>
                                        </p:tav>
                                        <p:tav tm="100000">
                                          <p:val>
                                            <p:strVal val="#ppt_x"/>
                                          </p:val>
                                        </p:tav>
                                      </p:tavLst>
                                    </p:anim>
                                    <p:anim calcmode="lin" valueType="num">
                                      <p:cBhvr additive="base">
                                        <p:cTn id="12"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5"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3"/>
          <p:cNvSpPr txBox="1"/>
          <p:nvPr/>
        </p:nvSpPr>
        <p:spPr>
          <a:xfrm>
            <a:off x="517525" y="850900"/>
            <a:ext cx="7178675" cy="706438"/>
          </a:xfrm>
          <a:prstGeom prst="rect">
            <a:avLst/>
          </a:prstGeom>
          <a:noFill/>
          <a:ln w="9525">
            <a:noFill/>
          </a:ln>
        </p:spPr>
        <p:txBody>
          <a:bodyPr anchor="t"/>
          <a:lstStyle/>
          <a:p>
            <a:pPr lvl="0" indent="0" eaLnBrk="0" hangingPunct="0"/>
            <a:r>
              <a:rPr lang="en-US" altLang="x-none" sz="2800" dirty="0">
                <a:solidFill>
                  <a:srgbClr val="FF0000"/>
                </a:solidFill>
                <a:latin typeface="黑体" panose="02010609060101010101" pitchFamily="1" charset="-122"/>
                <a:ea typeface="黑体" panose="02010609060101010101" pitchFamily="1" charset="-122"/>
              </a:rPr>
              <a:t>2</a:t>
            </a:r>
            <a:r>
              <a:rPr lang="zh-CN" altLang="en-US" sz="2800" dirty="0">
                <a:solidFill>
                  <a:srgbClr val="FF0000"/>
                </a:solidFill>
                <a:latin typeface="黑体" panose="02010609060101010101" pitchFamily="1" charset="-122"/>
                <a:ea typeface="黑体" panose="02010609060101010101" pitchFamily="1" charset="-122"/>
              </a:rPr>
              <a:t>、</a:t>
            </a:r>
            <a:r>
              <a:rPr lang="en-US" altLang="zh-CN" sz="2800" dirty="0">
                <a:solidFill>
                  <a:srgbClr val="FF0000"/>
                </a:solidFill>
                <a:latin typeface="黑体" panose="02010609060101010101" pitchFamily="1" charset="-122"/>
                <a:ea typeface="黑体" panose="02010609060101010101" pitchFamily="1" charset="-122"/>
              </a:rPr>
              <a:t>X</a:t>
            </a:r>
            <a:r>
              <a:rPr lang="zh-CN" altLang="en-US" sz="2800" dirty="0">
                <a:solidFill>
                  <a:srgbClr val="FF0000"/>
                </a:solidFill>
                <a:latin typeface="黑体" panose="02010609060101010101" pitchFamily="1" charset="-122"/>
                <a:ea typeface="黑体" panose="02010609060101010101" pitchFamily="1" charset="-122"/>
              </a:rPr>
              <a:t>锁协议</a:t>
            </a:r>
            <a:endParaRPr lang="zh-CN" altLang="en-US" sz="2800" dirty="0">
              <a:solidFill>
                <a:srgbClr val="FF0000"/>
              </a:solidFill>
              <a:latin typeface="黑体" panose="02010609060101010101" pitchFamily="1" charset="-122"/>
              <a:ea typeface="黑体" panose="02010609060101010101" pitchFamily="1" charset="-122"/>
            </a:endParaRPr>
          </a:p>
        </p:txBody>
      </p:sp>
      <p:sp>
        <p:nvSpPr>
          <p:cNvPr id="112645" name="Rectangle 3"/>
          <p:cNvSpPr txBox="1"/>
          <p:nvPr/>
        </p:nvSpPr>
        <p:spPr>
          <a:xfrm>
            <a:off x="517525" y="1425575"/>
            <a:ext cx="8239125" cy="4219575"/>
          </a:xfrm>
          <a:prstGeom prst="rect">
            <a:avLst/>
          </a:prstGeom>
          <a:noFill/>
          <a:ln w="9525">
            <a:noFill/>
          </a:ln>
        </p:spPr>
        <p:txBody>
          <a:bodyPr anchor="t"/>
          <a:lstStyle/>
          <a:p>
            <a:pPr marL="342900" lvl="0" indent="-342900" eaLnBrk="0" hangingPunct="0">
              <a:lnSpc>
                <a:spcPct val="120000"/>
              </a:lnSpc>
              <a:spcBef>
                <a:spcPts val="50"/>
              </a:spcBef>
              <a:spcAft>
                <a:spcPts val="0"/>
              </a:spcAft>
              <a:buClr>
                <a:srgbClr val="FF0000"/>
              </a:buClr>
              <a:buSzPct val="100000"/>
              <a:buFont typeface="Wingdings" panose="05000000000000000000" charset="0"/>
              <a:buChar char=""/>
            </a:pPr>
            <a:r>
              <a:rPr lang="en-US" altLang="x-none" sz="2400" u="sng" dirty="0">
                <a:solidFill>
                  <a:srgbClr val="FF0000"/>
                </a:solidFill>
                <a:latin typeface="华文中宋" panose="02010600040101010101" charset="-122"/>
                <a:ea typeface="华文中宋" panose="02010600040101010101" charset="-122"/>
              </a:rPr>
              <a:t>X</a:t>
            </a:r>
            <a:r>
              <a:rPr lang="zh-CN" altLang="en-US" sz="2400" u="sng" dirty="0">
                <a:solidFill>
                  <a:srgbClr val="FF0000"/>
                </a:solidFill>
                <a:latin typeface="华文中宋" panose="02010600040101010101" charset="-122"/>
                <a:ea typeface="华文中宋" panose="02010600040101010101" charset="-122"/>
              </a:rPr>
              <a:t>锁协议</a:t>
            </a:r>
            <a:r>
              <a:rPr lang="zh-CN" altLang="en-US" sz="2400" u="sng" dirty="0">
                <a:solidFill>
                  <a:srgbClr val="CC3300"/>
                </a:solidFill>
                <a:latin typeface="华文中宋" panose="02010600040101010101" charset="-122"/>
                <a:ea typeface="华文中宋" panose="02010600040101010101" charset="-122"/>
              </a:rPr>
              <a:t>：</a:t>
            </a:r>
            <a:r>
              <a:rPr lang="zh-CN" altLang="en-US" sz="2400" dirty="0">
                <a:latin typeface="华文楷体" panose="02010600040101010101" pitchFamily="2" charset="-122"/>
                <a:ea typeface="宋体" panose="02010600030101010101" pitchFamily="2" charset="-122"/>
                <a:sym typeface="Wingdings" panose="05000000000000000000" pitchFamily="2" charset="2"/>
              </a:rPr>
              <a:t>该协议中，只有一种锁，即</a:t>
            </a:r>
            <a:r>
              <a:rPr lang="en-US" altLang="x-none" sz="2400" dirty="0">
                <a:latin typeface="华文楷体" panose="02010600040101010101" pitchFamily="2" charset="-122"/>
                <a:ea typeface="宋体" panose="02010600030101010101" pitchFamily="2" charset="-122"/>
                <a:sym typeface="Wingdings" panose="05000000000000000000" pitchFamily="2" charset="2"/>
              </a:rPr>
              <a:t>X</a:t>
            </a:r>
            <a:r>
              <a:rPr lang="zh-CN" altLang="en-US" sz="2400" dirty="0">
                <a:latin typeface="华文楷体" panose="02010600040101010101" pitchFamily="2" charset="-122"/>
                <a:ea typeface="宋体" panose="02010600030101010101" pitchFamily="2" charset="-122"/>
                <a:sym typeface="Wingdings" panose="05000000000000000000" pitchFamily="2" charset="2"/>
              </a:rPr>
              <a:t>（</a:t>
            </a:r>
            <a:r>
              <a:rPr lang="en-US" altLang="x-none" sz="2400" dirty="0">
                <a:latin typeface="华文楷体" panose="02010600040101010101" pitchFamily="2" charset="-122"/>
                <a:ea typeface="宋体" panose="02010600030101010101" pitchFamily="2" charset="-122"/>
                <a:sym typeface="Wingdings" panose="05000000000000000000" pitchFamily="2" charset="2"/>
              </a:rPr>
              <a:t>eXclusive</a:t>
            </a:r>
            <a:r>
              <a:rPr lang="zh-CN" altLang="en-US" sz="2400" dirty="0">
                <a:latin typeface="华文楷体" panose="02010600040101010101" pitchFamily="2" charset="-122"/>
                <a:ea typeface="宋体" panose="02010600030101010101" pitchFamily="2" charset="-122"/>
                <a:sym typeface="Wingdings" panose="05000000000000000000" pitchFamily="2" charset="2"/>
              </a:rPr>
              <a:t>）锁，亦称排他</a:t>
            </a:r>
            <a:r>
              <a:rPr lang="en-US" altLang="x-none" sz="2400" dirty="0">
                <a:latin typeface="华文楷体" panose="02010600040101010101" pitchFamily="2" charset="-122"/>
                <a:ea typeface="宋体" panose="02010600030101010101" pitchFamily="2" charset="-122"/>
                <a:sym typeface="Wingdings" panose="05000000000000000000" pitchFamily="2" charset="2"/>
              </a:rPr>
              <a:t>/</a:t>
            </a:r>
            <a:r>
              <a:rPr lang="zh-CN" altLang="en-US" sz="2400" dirty="0">
                <a:latin typeface="华文楷体" panose="02010600040101010101" pitchFamily="2" charset="-122"/>
                <a:ea typeface="宋体" panose="02010600030101010101" pitchFamily="2" charset="-122"/>
                <a:sym typeface="Wingdings" panose="05000000000000000000" pitchFamily="2" charset="2"/>
              </a:rPr>
              <a:t>独占锁，既可用于读操作，亦可用于写操作。</a:t>
            </a:r>
            <a:r>
              <a:rPr lang="zh-CN" altLang="en-US" sz="2400" u="sng" dirty="0">
                <a:solidFill>
                  <a:srgbClr val="3402C2"/>
                </a:solidFill>
                <a:latin typeface="华文楷体" panose="02010600040101010101" pitchFamily="2" charset="-122"/>
                <a:ea typeface="宋体" panose="02010600030101010101" pitchFamily="2" charset="-122"/>
                <a:sym typeface="Wingdings" panose="05000000000000000000" pitchFamily="2" charset="2"/>
              </a:rPr>
              <a:t>一个事务对某个数据对象加排他锁后，其它事务就不能对该数据对象加锁，必须等到该数据对象上的</a:t>
            </a:r>
            <a:r>
              <a:rPr lang="en-US" altLang="x-none" sz="2400" u="sng" dirty="0">
                <a:solidFill>
                  <a:srgbClr val="3402C2"/>
                </a:solidFill>
                <a:latin typeface="华文楷体" panose="02010600040101010101" pitchFamily="2" charset="-122"/>
                <a:ea typeface="宋体" panose="02010600030101010101" pitchFamily="2" charset="-122"/>
                <a:sym typeface="Wingdings" panose="05000000000000000000" pitchFamily="2" charset="2"/>
              </a:rPr>
              <a:t>X</a:t>
            </a:r>
            <a:r>
              <a:rPr lang="zh-CN" altLang="en-US" sz="2400" u="sng" dirty="0">
                <a:solidFill>
                  <a:srgbClr val="3402C2"/>
                </a:solidFill>
                <a:latin typeface="华文楷体" panose="02010600040101010101" pitchFamily="2" charset="-122"/>
                <a:ea typeface="宋体" panose="02010600030101010101" pitchFamily="2" charset="-122"/>
                <a:sym typeface="Wingdings" panose="05000000000000000000" pitchFamily="2" charset="2"/>
              </a:rPr>
              <a:t>锁被“解锁”（</a:t>
            </a:r>
            <a:r>
              <a:rPr lang="en-US" altLang="x-none" sz="2400" u="sng" dirty="0">
                <a:solidFill>
                  <a:srgbClr val="3402C2"/>
                </a:solidFill>
                <a:latin typeface="华文楷体" panose="02010600040101010101" pitchFamily="2" charset="-122"/>
                <a:ea typeface="宋体" panose="02010600030101010101" pitchFamily="2" charset="-122"/>
                <a:sym typeface="Wingdings" panose="05000000000000000000" pitchFamily="2" charset="2"/>
              </a:rPr>
              <a:t>Unlock</a:t>
            </a:r>
            <a:r>
              <a:rPr lang="zh-CN" altLang="en-US" sz="2400" u="sng" dirty="0">
                <a:solidFill>
                  <a:srgbClr val="3402C2"/>
                </a:solidFill>
                <a:latin typeface="华文楷体" panose="02010600040101010101" pitchFamily="2" charset="-122"/>
                <a:ea typeface="宋体" panose="02010600030101010101" pitchFamily="2" charset="-122"/>
                <a:sym typeface="Wingdings" panose="05000000000000000000" pitchFamily="2" charset="2"/>
              </a:rPr>
              <a:t>），或“释放”后，才可能再加锁。</a:t>
            </a:r>
            <a:endParaRPr lang="zh-CN" altLang="en-US" sz="2400" u="sng" dirty="0">
              <a:solidFill>
                <a:srgbClr val="3402C2"/>
              </a:solidFill>
              <a:latin typeface="华文楷体" panose="02010600040101010101" pitchFamily="2" charset="-122"/>
              <a:ea typeface="宋体" panose="02010600030101010101" pitchFamily="2" charset="-122"/>
              <a:sym typeface="Wingdings" panose="05000000000000000000" pitchFamily="2" charset="2"/>
            </a:endParaRPr>
          </a:p>
          <a:p>
            <a:pPr marL="342900" lvl="0" indent="-342900" eaLnBrk="0" hangingPunct="0">
              <a:lnSpc>
                <a:spcPct val="120000"/>
              </a:lnSpc>
              <a:spcBef>
                <a:spcPct val="50000"/>
              </a:spcBef>
              <a:spcAft>
                <a:spcPts val="0"/>
              </a:spcAft>
              <a:buClr>
                <a:srgbClr val="FF0000"/>
              </a:buClr>
              <a:buSzPct val="100000"/>
              <a:buFont typeface="Wingdings" panose="05000000000000000000" charset="0"/>
              <a:buChar char=""/>
            </a:pPr>
            <a:r>
              <a:rPr lang="en-US" altLang="x-none" sz="2400" u="sng" dirty="0">
                <a:solidFill>
                  <a:srgbClr val="FF0000"/>
                </a:solidFill>
                <a:latin typeface="华文中宋" panose="02010600040101010101" charset="-122"/>
                <a:ea typeface="华文中宋" panose="02010600040101010101" charset="-122"/>
                <a:cs typeface="+mn-ea"/>
                <a:sym typeface="Wingdings" panose="05000000000000000000" pitchFamily="2" charset="2"/>
              </a:rPr>
              <a:t>相容矩阵：</a:t>
            </a:r>
            <a:r>
              <a:rPr lang="zh-CN" altLang="en-US" sz="2400" dirty="0">
                <a:latin typeface="华文楷体" panose="02010600040101010101" pitchFamily="2" charset="-122"/>
                <a:ea typeface="宋体" panose="02010600030101010101" pitchFamily="2" charset="-122"/>
                <a:sym typeface="Wingdings" panose="05000000000000000000" pitchFamily="2" charset="2"/>
              </a:rPr>
              <a:t>加锁协议可用相容矩阵描述。所谓相容矩阵，是说明锁请求在什么情况下可获准或被拒绝。</a:t>
            </a:r>
            <a:endParaRPr lang="zh-CN" altLang="en-US" sz="2400" dirty="0">
              <a:latin typeface="华文楷体" panose="02010600040101010101" pitchFamily="2" charset="-122"/>
              <a:ea typeface="宋体" panose="02010600030101010101" pitchFamily="2" charset="-122"/>
              <a:sym typeface="Wingdings" panose="05000000000000000000" pitchFamily="2" charset="2"/>
            </a:endParaRPr>
          </a:p>
          <a:p>
            <a:pPr marL="742950" lvl="1" indent="-285750" eaLnBrk="0" hangingPunct="0">
              <a:lnSpc>
                <a:spcPct val="120000"/>
              </a:lnSpc>
              <a:spcBef>
                <a:spcPts val="600"/>
              </a:spcBef>
              <a:spcAft>
                <a:spcPts val="0"/>
              </a:spcAft>
              <a:buClr>
                <a:schemeClr val="accent2"/>
              </a:buClr>
              <a:buSzPct val="70000"/>
            </a:pPr>
            <a:r>
              <a:rPr lang="en-US" altLang="x-none" sz="2400" dirty="0">
                <a:latin typeface="华文楷体" panose="02010600040101010101" pitchFamily="2" charset="-122"/>
                <a:ea typeface="宋体" panose="02010600030101010101" pitchFamily="2" charset="-122"/>
              </a:rPr>
              <a:t>--</a:t>
            </a:r>
            <a:r>
              <a:rPr lang="zh-CN" altLang="en-US" sz="2400" dirty="0">
                <a:latin typeface="华文楷体" panose="02010600040101010101" pitchFamily="2" charset="-122"/>
                <a:ea typeface="宋体" panose="02010600030101010101" pitchFamily="2" charset="-122"/>
              </a:rPr>
              <a:t>如果获准，即已有锁与申请锁相容；</a:t>
            </a:r>
            <a:endParaRPr lang="zh-CN" altLang="en-US" sz="2400" dirty="0">
              <a:latin typeface="华文楷体" panose="02010600040101010101" pitchFamily="2" charset="-122"/>
              <a:ea typeface="宋体" panose="02010600030101010101" pitchFamily="2" charset="-122"/>
            </a:endParaRPr>
          </a:p>
          <a:p>
            <a:pPr marL="742950" lvl="1" indent="-285750" eaLnBrk="0" hangingPunct="0">
              <a:lnSpc>
                <a:spcPct val="120000"/>
              </a:lnSpc>
              <a:spcBef>
                <a:spcPts val="600"/>
              </a:spcBef>
              <a:spcAft>
                <a:spcPts val="0"/>
              </a:spcAft>
              <a:buClr>
                <a:schemeClr val="accent2"/>
              </a:buClr>
              <a:buSzPct val="70000"/>
            </a:pPr>
            <a:r>
              <a:rPr lang="en-US" altLang="x-none" sz="2400" dirty="0">
                <a:latin typeface="华文楷体" panose="02010600040101010101" pitchFamily="2" charset="-122"/>
                <a:ea typeface="宋体" panose="02010600030101010101" pitchFamily="2" charset="-122"/>
              </a:rPr>
              <a:t>--</a:t>
            </a:r>
            <a:r>
              <a:rPr lang="zh-CN" altLang="en-US" sz="2400" dirty="0">
                <a:latin typeface="华文楷体" panose="02010600040101010101" pitchFamily="2" charset="-122"/>
                <a:ea typeface="宋体" panose="02010600030101010101" pitchFamily="2" charset="-122"/>
              </a:rPr>
              <a:t>如果被拒绝，即已有锁与申请锁“冲突”或“相斥”。</a:t>
            </a:r>
            <a:endParaRPr lang="zh-CN" altLang="en-US" sz="2400" dirty="0">
              <a:latin typeface="华文楷体" panose="02010600040101010101" pitchFamily="2" charset="-122"/>
              <a:ea typeface="宋体" panose="02010600030101010101" pitchFamily="2" charset="-122"/>
            </a:endParaRPr>
          </a:p>
        </p:txBody>
      </p:sp>
      <p:sp>
        <p:nvSpPr>
          <p:cNvPr id="8" name="Rectangle 2"/>
          <p:cNvSpPr/>
          <p:nvPr/>
        </p:nvSpPr>
        <p:spPr>
          <a:xfrm>
            <a:off x="417513" y="55563"/>
            <a:ext cx="8229600" cy="692150"/>
          </a:xfrm>
          <a:prstGeom prst="rect">
            <a:avLst/>
          </a:prstGeom>
          <a:noFill/>
          <a:ln w="9525">
            <a:noFill/>
          </a:ln>
        </p:spPr>
        <p:txBody>
          <a:bodyPr anchor="ctr"/>
          <a:lstStyle/>
          <a:p>
            <a:pPr lvl="0" indent="0">
              <a:buFont typeface="Wingdings" panose="05000000000000000000" pitchFamily="2" charset="2"/>
              <a:buNone/>
            </a:pPr>
            <a:r>
              <a:rPr lang="zh-CN" altLang="en-US" sz="3200" dirty="0" smtClean="0">
                <a:solidFill>
                  <a:srgbClr val="0033CC"/>
                </a:solidFill>
                <a:latin typeface="Arial" panose="020B0604020202020204" pitchFamily="34" charset="0"/>
                <a:ea typeface="黑体" panose="02010609060101010101" pitchFamily="1" charset="-122"/>
              </a:rPr>
              <a:t>三、基于锁的并发控制协议</a:t>
            </a:r>
            <a:endParaRPr lang="zh-CN" altLang="en-US" sz="3200" dirty="0">
              <a:solidFill>
                <a:srgbClr val="0033CC"/>
              </a:solidFill>
              <a:latin typeface="Arial" panose="020B0604020202020204" pitchFamily="34" charset="0"/>
              <a:ea typeface="黑体" panose="02010609060101010101" pitchFamily="1"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afterEffect">
                                  <p:stCondLst>
                                    <p:cond delay="0"/>
                                  </p:stCondLst>
                                  <p:childTnLst>
                                    <p:set>
                                      <p:cBhvr>
                                        <p:cTn id="6" dur="1" fill="hold">
                                          <p:stCondLst>
                                            <p:cond delay="0"/>
                                          </p:stCondLst>
                                        </p:cTn>
                                        <p:tgtEl>
                                          <p:spTgt spid="112645">
                                            <p:txEl>
                                              <p:pRg st="1" end="1"/>
                                            </p:txEl>
                                          </p:spTgt>
                                        </p:tgtEl>
                                        <p:attrNameLst>
                                          <p:attrName>style.visibility</p:attrName>
                                        </p:attrNameLst>
                                      </p:cBhvr>
                                      <p:to>
                                        <p:strVal val="visible"/>
                                      </p:to>
                                    </p:set>
                                    <p:animEffect transition="in" filter="dissolve">
                                      <p:cBhvr>
                                        <p:cTn id="7" dur="500"/>
                                        <p:tgtEl>
                                          <p:spTgt spid="112645">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12645">
                                            <p:txEl>
                                              <p:pRg st="2" end="2"/>
                                            </p:txEl>
                                          </p:spTgt>
                                        </p:tgtEl>
                                        <p:attrNameLst>
                                          <p:attrName>style.visibility</p:attrName>
                                        </p:attrNameLst>
                                      </p:cBhvr>
                                      <p:to>
                                        <p:strVal val="visible"/>
                                      </p:to>
                                    </p:set>
                                    <p:animEffect transition="in" filter="dissolve">
                                      <p:cBhvr>
                                        <p:cTn id="12" dur="500"/>
                                        <p:tgtEl>
                                          <p:spTgt spid="112645">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112645">
                                            <p:txEl>
                                              <p:pRg st="3" end="3"/>
                                            </p:txEl>
                                          </p:spTgt>
                                        </p:tgtEl>
                                        <p:attrNameLst>
                                          <p:attrName>style.visibility</p:attrName>
                                        </p:attrNameLst>
                                      </p:cBhvr>
                                      <p:to>
                                        <p:strVal val="visible"/>
                                      </p:to>
                                    </p:set>
                                    <p:animEffect transition="in" filter="dissolve">
                                      <p:cBhvr>
                                        <p:cTn id="17" dur="500"/>
                                        <p:tgtEl>
                                          <p:spTgt spid="112645">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645" grpId="0" uiExpand="1"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13668" name="Object 2"/>
          <p:cNvGraphicFramePr>
            <a:graphicFrameLocks noGrp="1" noChangeAspect="1"/>
          </p:cNvGraphicFramePr>
          <p:nvPr/>
        </p:nvGraphicFramePr>
        <p:xfrm>
          <a:off x="1286669" y="3298349"/>
          <a:ext cx="6953250" cy="2942590"/>
        </p:xfrm>
        <a:graphic>
          <a:graphicData uri="http://schemas.openxmlformats.org/presentationml/2006/ole">
            <mc:AlternateContent xmlns:mc="http://schemas.openxmlformats.org/markup-compatibility/2006">
              <mc:Choice xmlns:v="urn:schemas-microsoft-com:vml" Requires="v">
                <p:oleObj spid="_x0000_s3112" name="" r:id="rId1" imgW="1840865" imgH="899160" progId="Word.Picture.8">
                  <p:embed/>
                </p:oleObj>
              </mc:Choice>
              <mc:Fallback>
                <p:oleObj name="" r:id="rId1" imgW="1840865" imgH="899160" progId="Word.Picture.8">
                  <p:embed/>
                  <p:pic>
                    <p:nvPicPr>
                      <p:cNvPr id="0" name="图片 3096"/>
                      <p:cNvPicPr/>
                      <p:nvPr/>
                    </p:nvPicPr>
                    <p:blipFill>
                      <a:blip r:embed="rId2"/>
                      <a:stretch>
                        <a:fillRect/>
                      </a:stretch>
                    </p:blipFill>
                    <p:spPr>
                      <a:xfrm>
                        <a:off x="1286669" y="3298349"/>
                        <a:ext cx="6953250" cy="2942590"/>
                      </a:xfrm>
                      <a:prstGeom prst="rect">
                        <a:avLst/>
                      </a:prstGeom>
                      <a:noFill/>
                      <a:ln w="38100">
                        <a:noFill/>
                        <a:miter/>
                      </a:ln>
                    </p:spPr>
                  </p:pic>
                </p:oleObj>
              </mc:Fallback>
            </mc:AlternateContent>
          </a:graphicData>
        </a:graphic>
      </p:graphicFrame>
      <p:sp>
        <p:nvSpPr>
          <p:cNvPr id="109572" name="Rectangle 3"/>
          <p:cNvSpPr txBox="1"/>
          <p:nvPr/>
        </p:nvSpPr>
        <p:spPr>
          <a:xfrm>
            <a:off x="563563" y="1433513"/>
            <a:ext cx="8229600" cy="706437"/>
          </a:xfrm>
          <a:prstGeom prst="rect">
            <a:avLst/>
          </a:prstGeom>
          <a:noFill/>
          <a:ln w="9525">
            <a:noFill/>
          </a:ln>
        </p:spPr>
        <p:txBody>
          <a:bodyPr anchor="t"/>
          <a:lstStyle/>
          <a:p>
            <a:pPr lvl="0" indent="0" eaLnBrk="0" hangingPunct="0">
              <a:buFont typeface="Wingdings" panose="05000000000000000000" pitchFamily="2" charset="2"/>
              <a:buChar char="p"/>
            </a:pPr>
            <a:r>
              <a:rPr lang="en-US" altLang="x-none" sz="2800" dirty="0">
                <a:solidFill>
                  <a:srgbClr val="3333CC"/>
                </a:solidFill>
                <a:latin typeface="宋体" panose="02010600030101010101" pitchFamily="2" charset="-122"/>
                <a:ea typeface="黑体" panose="02010609060101010101" pitchFamily="1" charset="-122"/>
                <a:sym typeface="Wingdings" panose="05000000000000000000" pitchFamily="2" charset="2"/>
              </a:rPr>
              <a:t> X</a:t>
            </a:r>
            <a:r>
              <a:rPr lang="zh-CN" altLang="en-US" sz="2800" dirty="0">
                <a:solidFill>
                  <a:srgbClr val="3333CC"/>
                </a:solidFill>
                <a:latin typeface="宋体" panose="02010600030101010101" pitchFamily="2" charset="-122"/>
                <a:ea typeface="黑体" panose="02010609060101010101" pitchFamily="1" charset="-122"/>
                <a:sym typeface="Wingdings" panose="05000000000000000000" pitchFamily="2" charset="2"/>
              </a:rPr>
              <a:t>锁协议的相容（或冲突）矩阵</a:t>
            </a:r>
            <a:endParaRPr lang="zh-CN" altLang="en-US" sz="2800" dirty="0">
              <a:solidFill>
                <a:srgbClr val="3333CC"/>
              </a:solidFill>
              <a:latin typeface="宋体" panose="02010600030101010101" pitchFamily="2" charset="-122"/>
              <a:ea typeface="黑体" panose="02010609060101010101" pitchFamily="1" charset="-122"/>
              <a:sym typeface="Wingdings" panose="05000000000000000000" pitchFamily="2" charset="2"/>
            </a:endParaRPr>
          </a:p>
        </p:txBody>
      </p:sp>
      <p:sp>
        <p:nvSpPr>
          <p:cNvPr id="113670" name="Rectangle 4"/>
          <p:cNvSpPr/>
          <p:nvPr/>
        </p:nvSpPr>
        <p:spPr>
          <a:xfrm>
            <a:off x="627063" y="2030413"/>
            <a:ext cx="7923212" cy="1263650"/>
          </a:xfrm>
          <a:prstGeom prst="rect">
            <a:avLst/>
          </a:prstGeom>
          <a:noFill/>
          <a:ln w="9525">
            <a:noFill/>
          </a:ln>
        </p:spPr>
        <p:txBody>
          <a:bodyPr lIns="90000" tIns="46800" rIns="90000" bIns="46800" anchor="t">
            <a:spAutoFit/>
          </a:bodyPr>
          <a:lstStyle/>
          <a:p>
            <a:pPr lvl="0" indent="0">
              <a:spcBef>
                <a:spcPct val="50000"/>
              </a:spcBef>
            </a:pPr>
            <a:r>
              <a:rPr lang="zh-CN" altLang="en-US" sz="2800" dirty="0">
                <a:solidFill>
                  <a:srgbClr val="CC3300"/>
                </a:solidFill>
                <a:latin typeface="华文楷体" panose="02010600040101010101" pitchFamily="2" charset="-122"/>
                <a:ea typeface="华文楷体" panose="02010600040101010101" pitchFamily="2" charset="-122"/>
              </a:rPr>
              <a:t>说明：</a:t>
            </a:r>
            <a:r>
              <a:rPr lang="en-US" altLang="x-none" sz="2400" dirty="0">
                <a:latin typeface="华文楷体" panose="02010600040101010101" pitchFamily="2" charset="-122"/>
                <a:ea typeface="华文楷体" panose="02010600040101010101" pitchFamily="2" charset="-122"/>
              </a:rPr>
              <a:t>1</a:t>
            </a:r>
            <a:r>
              <a:rPr lang="zh-CN" altLang="en-US" sz="2400" dirty="0">
                <a:latin typeface="华文楷体" panose="02010600040101010101" pitchFamily="2" charset="-122"/>
                <a:ea typeface="华文楷体" panose="02010600040101010101" pitchFamily="2" charset="-122"/>
              </a:rPr>
              <a:t>）锁是否相容，实际上就是看对同一数据对象的加锁是否存在有冲突。</a:t>
            </a:r>
            <a:r>
              <a:rPr lang="en-US" altLang="x-none" sz="2400" dirty="0">
                <a:latin typeface="华文楷体" panose="02010600040101010101" pitchFamily="2" charset="-122"/>
                <a:ea typeface="华文楷体" panose="02010600040101010101" pitchFamily="2" charset="-122"/>
              </a:rPr>
              <a:t>Y</a:t>
            </a:r>
            <a:r>
              <a:rPr lang="zh-CN" altLang="en-US" sz="2400" dirty="0">
                <a:latin typeface="华文楷体" panose="02010600040101010101" pitchFamily="2" charset="-122"/>
                <a:ea typeface="华文楷体" panose="02010600040101010101" pitchFamily="2" charset="-122"/>
              </a:rPr>
              <a:t>表示相容，</a:t>
            </a:r>
            <a:r>
              <a:rPr lang="en-US" altLang="x-none" sz="2400" dirty="0">
                <a:latin typeface="华文楷体" panose="02010600040101010101" pitchFamily="2" charset="-122"/>
                <a:ea typeface="华文楷体" panose="02010600040101010101" pitchFamily="2" charset="-122"/>
              </a:rPr>
              <a:t>N</a:t>
            </a:r>
            <a:r>
              <a:rPr lang="zh-CN" altLang="en-US" sz="2400" dirty="0">
                <a:latin typeface="华文楷体" panose="02010600040101010101" pitchFamily="2" charset="-122"/>
                <a:ea typeface="华文楷体" panose="02010600040101010101" pitchFamily="2" charset="-122"/>
              </a:rPr>
              <a:t>表示冲突。</a:t>
            </a:r>
            <a:r>
              <a:rPr lang="en-US" altLang="x-none" sz="2400" dirty="0">
                <a:latin typeface="华文楷体" panose="02010600040101010101" pitchFamily="2" charset="-122"/>
                <a:ea typeface="华文楷体" panose="02010600040101010101" pitchFamily="2" charset="-122"/>
                <a:sym typeface="Wingdings 2" panose="05020102010507070707" pitchFamily="2" charset="2"/>
              </a:rPr>
              <a:t>2</a:t>
            </a:r>
            <a:r>
              <a:rPr lang="zh-CN" altLang="en-US" sz="2400" dirty="0">
                <a:latin typeface="华文楷体" panose="02010600040101010101" pitchFamily="2" charset="-122"/>
                <a:ea typeface="华文楷体" panose="02010600040101010101" pitchFamily="2" charset="-122"/>
                <a:sym typeface="Wingdings 2" panose="05020102010507070707" pitchFamily="2" charset="2"/>
              </a:rPr>
              <a:t>）</a:t>
            </a:r>
            <a:r>
              <a:rPr lang="en-US" altLang="x-none" sz="2400" dirty="0">
                <a:latin typeface="华文楷体" panose="02010600040101010101" pitchFamily="2" charset="-122"/>
                <a:ea typeface="华文楷体" panose="02010600040101010101" pitchFamily="2" charset="-122"/>
                <a:sym typeface="Wingdings 2" panose="05020102010507070707" pitchFamily="2" charset="2"/>
              </a:rPr>
              <a:t>NL</a:t>
            </a:r>
            <a:r>
              <a:rPr lang="zh-CN" altLang="en-US" sz="2400" dirty="0">
                <a:latin typeface="华文楷体" panose="02010600040101010101" pitchFamily="2" charset="-122"/>
                <a:ea typeface="华文楷体" panose="02010600040101010101" pitchFamily="2" charset="-122"/>
                <a:sym typeface="Wingdings 2" panose="05020102010507070707" pitchFamily="2" charset="2"/>
              </a:rPr>
              <a:t>表示未加锁，已加</a:t>
            </a:r>
            <a:r>
              <a:rPr lang="en-US" altLang="x-none" sz="2400" dirty="0">
                <a:latin typeface="华文楷体" panose="02010600040101010101" pitchFamily="2" charset="-122"/>
                <a:ea typeface="华文楷体" panose="02010600040101010101" pitchFamily="2" charset="-122"/>
                <a:sym typeface="Wingdings 2" panose="05020102010507070707" pitchFamily="2" charset="2"/>
              </a:rPr>
              <a:t>X</a:t>
            </a:r>
            <a:r>
              <a:rPr lang="zh-CN" altLang="en-US" sz="2400" dirty="0">
                <a:latin typeface="华文楷体" panose="02010600040101010101" pitchFamily="2" charset="-122"/>
                <a:ea typeface="华文楷体" panose="02010600040101010101" pitchFamily="2" charset="-122"/>
                <a:sym typeface="Wingdings 2" panose="05020102010507070707" pitchFamily="2" charset="2"/>
              </a:rPr>
              <a:t>锁。</a:t>
            </a:r>
            <a:endParaRPr lang="zh-CN" altLang="en-US" sz="2400" dirty="0">
              <a:latin typeface="华文楷体" panose="02010600040101010101" pitchFamily="2" charset="-122"/>
              <a:ea typeface="华文楷体" panose="02010600040101010101" pitchFamily="2" charset="-122"/>
              <a:sym typeface="Wingdings 2" panose="05020102010507070707" pitchFamily="2" charset="2"/>
            </a:endParaRPr>
          </a:p>
        </p:txBody>
      </p:sp>
      <p:sp>
        <p:nvSpPr>
          <p:cNvPr id="108546" name="Rectangle 3"/>
          <p:cNvSpPr txBox="1"/>
          <p:nvPr/>
        </p:nvSpPr>
        <p:spPr>
          <a:xfrm>
            <a:off x="517525" y="850900"/>
            <a:ext cx="7178675" cy="706438"/>
          </a:xfrm>
          <a:prstGeom prst="rect">
            <a:avLst/>
          </a:prstGeom>
          <a:noFill/>
          <a:ln w="9525">
            <a:noFill/>
          </a:ln>
        </p:spPr>
        <p:txBody>
          <a:bodyPr anchor="t"/>
          <a:lstStyle/>
          <a:p>
            <a:pPr lvl="0" indent="0" eaLnBrk="0" hangingPunct="0"/>
            <a:r>
              <a:rPr lang="en-US" altLang="x-none" sz="2800" dirty="0">
                <a:solidFill>
                  <a:srgbClr val="FF0000"/>
                </a:solidFill>
                <a:latin typeface="黑体" panose="02010609060101010101" pitchFamily="1" charset="-122"/>
                <a:ea typeface="黑体" panose="02010609060101010101" pitchFamily="1" charset="-122"/>
              </a:rPr>
              <a:t>2</a:t>
            </a:r>
            <a:r>
              <a:rPr lang="zh-CN" altLang="en-US" sz="2800" dirty="0">
                <a:solidFill>
                  <a:srgbClr val="FF0000"/>
                </a:solidFill>
                <a:latin typeface="黑体" panose="02010609060101010101" pitchFamily="1" charset="-122"/>
                <a:ea typeface="黑体" panose="02010609060101010101" pitchFamily="1" charset="-122"/>
              </a:rPr>
              <a:t>、</a:t>
            </a:r>
            <a:r>
              <a:rPr lang="en-US" altLang="zh-CN" sz="2800" dirty="0">
                <a:solidFill>
                  <a:srgbClr val="FF0000"/>
                </a:solidFill>
                <a:latin typeface="黑体" panose="02010609060101010101" pitchFamily="1" charset="-122"/>
                <a:ea typeface="黑体" panose="02010609060101010101" pitchFamily="1" charset="-122"/>
              </a:rPr>
              <a:t>X</a:t>
            </a:r>
            <a:r>
              <a:rPr lang="zh-CN" altLang="en-US" sz="2800" dirty="0">
                <a:solidFill>
                  <a:srgbClr val="FF0000"/>
                </a:solidFill>
                <a:latin typeface="黑体" panose="02010609060101010101" pitchFamily="1" charset="-122"/>
                <a:ea typeface="黑体" panose="02010609060101010101" pitchFamily="1" charset="-122"/>
              </a:rPr>
              <a:t>锁协议</a:t>
            </a:r>
            <a:endParaRPr lang="zh-CN" altLang="en-US" sz="2800" dirty="0">
              <a:solidFill>
                <a:srgbClr val="FF0000"/>
              </a:solidFill>
              <a:latin typeface="黑体" panose="02010609060101010101" pitchFamily="1" charset="-122"/>
              <a:ea typeface="黑体" panose="02010609060101010101" pitchFamily="1" charset="-122"/>
            </a:endParaRPr>
          </a:p>
        </p:txBody>
      </p:sp>
      <p:sp>
        <p:nvSpPr>
          <p:cNvPr id="8" name="Rectangle 2"/>
          <p:cNvSpPr/>
          <p:nvPr/>
        </p:nvSpPr>
        <p:spPr>
          <a:xfrm>
            <a:off x="417513" y="55563"/>
            <a:ext cx="8229600" cy="692150"/>
          </a:xfrm>
          <a:prstGeom prst="rect">
            <a:avLst/>
          </a:prstGeom>
          <a:noFill/>
          <a:ln w="9525">
            <a:noFill/>
          </a:ln>
        </p:spPr>
        <p:txBody>
          <a:bodyPr anchor="ctr"/>
          <a:lstStyle/>
          <a:p>
            <a:pPr lvl="0" indent="0">
              <a:buFont typeface="Wingdings" panose="05000000000000000000" pitchFamily="2" charset="2"/>
              <a:buNone/>
            </a:pPr>
            <a:r>
              <a:rPr lang="zh-CN" altLang="en-US" sz="3200" dirty="0" smtClean="0">
                <a:solidFill>
                  <a:srgbClr val="0033CC"/>
                </a:solidFill>
                <a:latin typeface="Arial" panose="020B0604020202020204" pitchFamily="34" charset="0"/>
                <a:ea typeface="黑体" panose="02010609060101010101" pitchFamily="1" charset="-122"/>
              </a:rPr>
              <a:t>三、基于锁的并发控制协议</a:t>
            </a:r>
            <a:endParaRPr lang="zh-CN" altLang="en-US" sz="3200" dirty="0">
              <a:solidFill>
                <a:srgbClr val="0033CC"/>
              </a:solidFill>
              <a:latin typeface="Arial" panose="020B0604020202020204" pitchFamily="34" charset="0"/>
              <a:ea typeface="黑体" panose="02010609060101010101" pitchFamily="1"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499"/>
                                          </p:stCondLst>
                                        </p:cTn>
                                        <p:tgtEl>
                                          <p:spTgt spid="11366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2" name="Rectangle 4"/>
          <p:cNvSpPr txBox="1"/>
          <p:nvPr/>
        </p:nvSpPr>
        <p:spPr>
          <a:xfrm>
            <a:off x="455613" y="1935163"/>
            <a:ext cx="4789487" cy="4435475"/>
          </a:xfrm>
          <a:prstGeom prst="rect">
            <a:avLst/>
          </a:prstGeom>
          <a:noFill/>
          <a:ln w="9525">
            <a:noFill/>
          </a:ln>
        </p:spPr>
        <p:txBody>
          <a:bodyPr anchor="t"/>
          <a:lstStyle/>
          <a:p>
            <a:pPr marL="342900" lvl="0" indent="-342900" eaLnBrk="0" hangingPunct="0">
              <a:spcBef>
                <a:spcPct val="20000"/>
              </a:spcBef>
              <a:buClr>
                <a:srgbClr val="0033CC"/>
              </a:buClr>
              <a:buSzPct val="80000"/>
              <a:buFont typeface="Wingdings" panose="05000000000000000000" pitchFamily="2" charset="2"/>
              <a:buChar char="u"/>
            </a:pPr>
            <a:r>
              <a:rPr lang="zh-CN" altLang="en-US" sz="2200" dirty="0">
                <a:latin typeface="华文楷体" panose="02010600040101010101" pitchFamily="2" charset="-122"/>
                <a:ea typeface="宋体" panose="02010600030101010101" pitchFamily="2" charset="-122"/>
              </a:rPr>
              <a:t>能够消除</a:t>
            </a:r>
            <a:r>
              <a:rPr lang="zh-CN" altLang="en-US" sz="2200" dirty="0">
                <a:solidFill>
                  <a:srgbClr val="A50021"/>
                </a:solidFill>
                <a:latin typeface="华文楷体" panose="02010600040101010101" pitchFamily="2" charset="-122"/>
                <a:ea typeface="宋体" panose="02010600030101010101" pitchFamily="2" charset="-122"/>
              </a:rPr>
              <a:t>“写</a:t>
            </a:r>
            <a:r>
              <a:rPr lang="en-US" altLang="x-none" sz="2200" dirty="0">
                <a:solidFill>
                  <a:srgbClr val="A50021"/>
                </a:solidFill>
                <a:latin typeface="华文楷体" panose="02010600040101010101" pitchFamily="2" charset="-122"/>
                <a:ea typeface="宋体" panose="02010600030101010101" pitchFamily="2" charset="-122"/>
              </a:rPr>
              <a:t>-</a:t>
            </a:r>
            <a:r>
              <a:rPr lang="zh-CN" altLang="en-US" sz="2200" dirty="0">
                <a:solidFill>
                  <a:srgbClr val="A50021"/>
                </a:solidFill>
                <a:latin typeface="华文楷体" panose="02010600040101010101" pitchFamily="2" charset="-122"/>
                <a:ea typeface="宋体" panose="02010600030101010101" pitchFamily="2" charset="-122"/>
              </a:rPr>
              <a:t>写”、“写</a:t>
            </a:r>
            <a:r>
              <a:rPr lang="en-US" altLang="x-none" sz="2200" dirty="0">
                <a:solidFill>
                  <a:srgbClr val="A50021"/>
                </a:solidFill>
                <a:latin typeface="华文楷体" panose="02010600040101010101" pitchFamily="2" charset="-122"/>
                <a:ea typeface="宋体" panose="02010600030101010101" pitchFamily="2" charset="-122"/>
              </a:rPr>
              <a:t>-</a:t>
            </a:r>
            <a:r>
              <a:rPr lang="zh-CN" altLang="en-US" sz="2200" dirty="0">
                <a:solidFill>
                  <a:srgbClr val="A50021"/>
                </a:solidFill>
                <a:latin typeface="华文楷体" panose="02010600040101010101" pitchFamily="2" charset="-122"/>
                <a:ea typeface="宋体" panose="02010600030101010101" pitchFamily="2" charset="-122"/>
              </a:rPr>
              <a:t>读”、“读</a:t>
            </a:r>
            <a:r>
              <a:rPr lang="en-US" altLang="x-none" sz="2200" dirty="0">
                <a:solidFill>
                  <a:srgbClr val="A50021"/>
                </a:solidFill>
                <a:latin typeface="华文楷体" panose="02010600040101010101" pitchFamily="2" charset="-122"/>
                <a:ea typeface="宋体" panose="02010600030101010101" pitchFamily="2" charset="-122"/>
              </a:rPr>
              <a:t>-</a:t>
            </a:r>
            <a:r>
              <a:rPr lang="zh-CN" altLang="en-US" sz="2200" dirty="0">
                <a:solidFill>
                  <a:srgbClr val="A50021"/>
                </a:solidFill>
                <a:latin typeface="华文楷体" panose="02010600040101010101" pitchFamily="2" charset="-122"/>
                <a:ea typeface="宋体" panose="02010600030101010101" pitchFamily="2" charset="-122"/>
              </a:rPr>
              <a:t>写”</a:t>
            </a:r>
            <a:r>
              <a:rPr lang="zh-CN" altLang="en-US" sz="2200" dirty="0">
                <a:latin typeface="华文楷体" panose="02010600040101010101" pitchFamily="2" charset="-122"/>
                <a:ea typeface="宋体" panose="02010600030101010101" pitchFamily="2" charset="-122"/>
              </a:rPr>
              <a:t>冲突，因为，不论是“写”或“读”都要加</a:t>
            </a:r>
            <a:r>
              <a:rPr lang="en-US" altLang="x-none" sz="2200" dirty="0">
                <a:latin typeface="华文楷体" panose="02010600040101010101" pitchFamily="2" charset="-122"/>
                <a:ea typeface="宋体" panose="02010600030101010101" pitchFamily="2" charset="-122"/>
              </a:rPr>
              <a:t>X</a:t>
            </a:r>
            <a:r>
              <a:rPr lang="zh-CN" altLang="en-US" sz="2200" dirty="0">
                <a:latin typeface="华文楷体" panose="02010600040101010101" pitchFamily="2" charset="-122"/>
                <a:ea typeface="宋体" panose="02010600030101010101" pitchFamily="2" charset="-122"/>
              </a:rPr>
              <a:t>锁，加了</a:t>
            </a:r>
            <a:r>
              <a:rPr lang="en-US" altLang="x-none" sz="2200" dirty="0">
                <a:latin typeface="华文楷体" panose="02010600040101010101" pitchFamily="2" charset="-122"/>
                <a:ea typeface="宋体" panose="02010600030101010101" pitchFamily="2" charset="-122"/>
              </a:rPr>
              <a:t>X</a:t>
            </a:r>
            <a:r>
              <a:rPr lang="zh-CN" altLang="en-US" sz="2200" dirty="0">
                <a:latin typeface="华文楷体" panose="02010600040101010101" pitchFamily="2" charset="-122"/>
                <a:ea typeface="宋体" panose="02010600030101010101" pitchFamily="2" charset="-122"/>
              </a:rPr>
              <a:t>锁后，就排斥了对同一对象的任何操作，甚至包括</a:t>
            </a:r>
            <a:r>
              <a:rPr lang="zh-CN" altLang="en-US" sz="2200" dirty="0">
                <a:solidFill>
                  <a:srgbClr val="A50021"/>
                </a:solidFill>
                <a:latin typeface="华文楷体" panose="02010600040101010101" pitchFamily="2" charset="-122"/>
                <a:ea typeface="宋体" panose="02010600030101010101" pitchFamily="2" charset="-122"/>
              </a:rPr>
              <a:t>不冲突的“读</a:t>
            </a:r>
            <a:r>
              <a:rPr lang="en-US" altLang="x-none" sz="2200" dirty="0">
                <a:solidFill>
                  <a:srgbClr val="A50021"/>
                </a:solidFill>
                <a:latin typeface="华文楷体" panose="02010600040101010101" pitchFamily="2" charset="-122"/>
                <a:ea typeface="宋体" panose="02010600030101010101" pitchFamily="2" charset="-122"/>
              </a:rPr>
              <a:t>-</a:t>
            </a:r>
            <a:r>
              <a:rPr lang="zh-CN" altLang="en-US" sz="2200" dirty="0">
                <a:solidFill>
                  <a:srgbClr val="A50021"/>
                </a:solidFill>
                <a:latin typeface="华文楷体" panose="02010600040101010101" pitchFamily="2" charset="-122"/>
                <a:ea typeface="宋体" panose="02010600030101010101" pitchFamily="2" charset="-122"/>
              </a:rPr>
              <a:t>读”</a:t>
            </a:r>
            <a:r>
              <a:rPr lang="zh-CN" altLang="en-US" sz="2200" dirty="0">
                <a:latin typeface="华文楷体" panose="02010600040101010101" pitchFamily="2" charset="-122"/>
                <a:ea typeface="宋体" panose="02010600030101010101" pitchFamily="2" charset="-122"/>
              </a:rPr>
              <a:t>操作。</a:t>
            </a:r>
            <a:endParaRPr lang="zh-CN" altLang="en-US" sz="2200" dirty="0">
              <a:latin typeface="华文楷体" panose="02010600040101010101" pitchFamily="2" charset="-122"/>
              <a:ea typeface="宋体" panose="02010600030101010101" pitchFamily="2" charset="-122"/>
            </a:endParaRPr>
          </a:p>
          <a:p>
            <a:pPr marL="342900" lvl="0" indent="-342900" eaLnBrk="0" hangingPunct="0">
              <a:spcBef>
                <a:spcPct val="20000"/>
              </a:spcBef>
              <a:buClr>
                <a:srgbClr val="0033CC"/>
              </a:buClr>
              <a:buSzPct val="80000"/>
              <a:buFont typeface="Wingdings" panose="05000000000000000000" pitchFamily="2" charset="2"/>
              <a:buChar char="u"/>
            </a:pPr>
            <a:r>
              <a:rPr lang="zh-CN" altLang="en-US" sz="2200" dirty="0">
                <a:latin typeface="华文楷体" panose="02010600040101010101" pitchFamily="2" charset="-122"/>
                <a:ea typeface="宋体" panose="02010600030101010101" pitchFamily="2" charset="-122"/>
              </a:rPr>
              <a:t>但</a:t>
            </a:r>
            <a:r>
              <a:rPr lang="en-US" altLang="x-none" sz="2200" dirty="0">
                <a:latin typeface="华文楷体" panose="02010600040101010101" pitchFamily="2" charset="-122"/>
                <a:ea typeface="宋体" panose="02010600030101010101" pitchFamily="2" charset="-122"/>
              </a:rPr>
              <a:t>X</a:t>
            </a:r>
            <a:r>
              <a:rPr lang="zh-CN" altLang="en-US" sz="2200" dirty="0">
                <a:latin typeface="华文楷体" panose="02010600040101010101" pitchFamily="2" charset="-122"/>
                <a:ea typeface="宋体" panose="02010600030101010101" pitchFamily="2" charset="-122"/>
              </a:rPr>
              <a:t>锁协议可能引起</a:t>
            </a:r>
            <a:r>
              <a:rPr lang="zh-CN" altLang="en-US" sz="2200" dirty="0">
                <a:solidFill>
                  <a:srgbClr val="A50021"/>
                </a:solidFill>
                <a:latin typeface="华文楷体" panose="02010600040101010101" pitchFamily="2" charset="-122"/>
                <a:ea typeface="宋体" panose="02010600030101010101" pitchFamily="2" charset="-122"/>
              </a:rPr>
              <a:t>“级联回退</a:t>
            </a:r>
            <a:r>
              <a:rPr lang="zh-CN" altLang="en-US" sz="2200" dirty="0">
                <a:latin typeface="华文楷体" panose="02010600040101010101" pitchFamily="2" charset="-122"/>
                <a:ea typeface="宋体" panose="02010600030101010101" pitchFamily="2" charset="-122"/>
              </a:rPr>
              <a:t>” 现象。即一事物还未结束，就把锁释放了，其中又由于其他原因，该事物需要回退，为了避免其他事物读到“脏”数据，要求读了该事物更新数据的其他事物也要回退。</a:t>
            </a:r>
            <a:endParaRPr lang="zh-CN" altLang="en-US" sz="2200" dirty="0">
              <a:latin typeface="华文楷体" panose="02010600040101010101" pitchFamily="2" charset="-122"/>
              <a:ea typeface="宋体" panose="02010600030101010101" pitchFamily="2" charset="-122"/>
            </a:endParaRPr>
          </a:p>
        </p:txBody>
      </p:sp>
      <p:graphicFrame>
        <p:nvGraphicFramePr>
          <p:cNvPr id="114693" name="Object 2"/>
          <p:cNvGraphicFramePr>
            <a:graphicFrameLocks noChangeAspect="1"/>
          </p:cNvGraphicFramePr>
          <p:nvPr/>
        </p:nvGraphicFramePr>
        <p:xfrm>
          <a:off x="5181600" y="1052513"/>
          <a:ext cx="3962400" cy="5329237"/>
        </p:xfrm>
        <a:graphic>
          <a:graphicData uri="http://schemas.openxmlformats.org/presentationml/2006/ole">
            <mc:AlternateContent xmlns:mc="http://schemas.openxmlformats.org/markup-compatibility/2006">
              <mc:Choice xmlns:v="urn:schemas-microsoft-com:vml" Requires="v">
                <p:oleObj spid="_x0000_s7182" name="" r:id="rId1" imgW="2168525" imgH="2879725" progId="Word.Picture.8">
                  <p:embed/>
                </p:oleObj>
              </mc:Choice>
              <mc:Fallback>
                <p:oleObj name="" r:id="rId1" imgW="2168525" imgH="2879725" progId="Word.Picture.8">
                  <p:embed/>
                  <p:pic>
                    <p:nvPicPr>
                      <p:cNvPr id="0" name="图片 3097"/>
                      <p:cNvPicPr/>
                      <p:nvPr/>
                    </p:nvPicPr>
                    <p:blipFill>
                      <a:blip r:embed="rId2"/>
                      <a:stretch>
                        <a:fillRect/>
                      </a:stretch>
                    </p:blipFill>
                    <p:spPr>
                      <a:xfrm>
                        <a:off x="5181600" y="1052513"/>
                        <a:ext cx="3962400" cy="5329237"/>
                      </a:xfrm>
                      <a:prstGeom prst="rect">
                        <a:avLst/>
                      </a:prstGeom>
                      <a:solidFill>
                        <a:schemeClr val="bg1"/>
                      </a:solidFill>
                      <a:ln w="38100">
                        <a:noFill/>
                        <a:miter/>
                      </a:ln>
                    </p:spPr>
                  </p:pic>
                </p:oleObj>
              </mc:Fallback>
            </mc:AlternateContent>
          </a:graphicData>
        </a:graphic>
      </p:graphicFrame>
      <p:sp>
        <p:nvSpPr>
          <p:cNvPr id="110597" name="Rectangle 3"/>
          <p:cNvSpPr txBox="1"/>
          <p:nvPr/>
        </p:nvSpPr>
        <p:spPr>
          <a:xfrm>
            <a:off x="549275" y="1357313"/>
            <a:ext cx="2909888" cy="706437"/>
          </a:xfrm>
          <a:prstGeom prst="rect">
            <a:avLst/>
          </a:prstGeom>
          <a:noFill/>
          <a:ln w="9525">
            <a:noFill/>
          </a:ln>
        </p:spPr>
        <p:txBody>
          <a:bodyPr anchor="t"/>
          <a:lstStyle/>
          <a:p>
            <a:pPr lvl="0" indent="0" eaLnBrk="0" hangingPunct="0">
              <a:buFont typeface="Wingdings" panose="05000000000000000000" pitchFamily="2" charset="2"/>
              <a:buChar char="p"/>
            </a:pPr>
            <a:r>
              <a:rPr lang="en-US" altLang="x-none" sz="2800" dirty="0">
                <a:solidFill>
                  <a:srgbClr val="3333CC"/>
                </a:solidFill>
                <a:latin typeface="宋体" panose="02010600030101010101" pitchFamily="2" charset="-122"/>
                <a:ea typeface="黑体" panose="02010609060101010101" pitchFamily="1" charset="-122"/>
                <a:sym typeface="Wingdings" panose="05000000000000000000" pitchFamily="2" charset="2"/>
              </a:rPr>
              <a:t> X</a:t>
            </a:r>
            <a:r>
              <a:rPr lang="zh-CN" altLang="en-US" sz="2800" dirty="0">
                <a:solidFill>
                  <a:srgbClr val="3333CC"/>
                </a:solidFill>
                <a:latin typeface="宋体" panose="02010600030101010101" pitchFamily="2" charset="-122"/>
                <a:ea typeface="黑体" panose="02010609060101010101" pitchFamily="1" charset="-122"/>
                <a:sym typeface="Wingdings" panose="05000000000000000000" pitchFamily="2" charset="2"/>
              </a:rPr>
              <a:t>锁的作用</a:t>
            </a:r>
            <a:endParaRPr lang="zh-CN" altLang="en-US" sz="2800" dirty="0">
              <a:solidFill>
                <a:srgbClr val="3333CC"/>
              </a:solidFill>
              <a:latin typeface="宋体" panose="02010600030101010101" pitchFamily="2" charset="-122"/>
              <a:ea typeface="黑体" panose="02010609060101010101" pitchFamily="1" charset="-122"/>
              <a:sym typeface="Wingdings" panose="05000000000000000000" pitchFamily="2" charset="2"/>
            </a:endParaRPr>
          </a:p>
        </p:txBody>
      </p:sp>
      <p:sp>
        <p:nvSpPr>
          <p:cNvPr id="8" name="Rectangle 2"/>
          <p:cNvSpPr/>
          <p:nvPr/>
        </p:nvSpPr>
        <p:spPr>
          <a:xfrm>
            <a:off x="417513" y="55563"/>
            <a:ext cx="8229600" cy="692150"/>
          </a:xfrm>
          <a:prstGeom prst="rect">
            <a:avLst/>
          </a:prstGeom>
          <a:noFill/>
          <a:ln w="9525">
            <a:noFill/>
          </a:ln>
        </p:spPr>
        <p:txBody>
          <a:bodyPr anchor="ctr"/>
          <a:lstStyle/>
          <a:p>
            <a:pPr lvl="0" indent="0">
              <a:buFont typeface="Wingdings" panose="05000000000000000000" pitchFamily="2" charset="2"/>
              <a:buNone/>
            </a:pPr>
            <a:r>
              <a:rPr lang="zh-CN" altLang="en-US" sz="3200" dirty="0" smtClean="0">
                <a:solidFill>
                  <a:srgbClr val="0033CC"/>
                </a:solidFill>
                <a:latin typeface="Arial" panose="020B0604020202020204" pitchFamily="34" charset="0"/>
                <a:ea typeface="黑体" panose="02010609060101010101" pitchFamily="1" charset="-122"/>
              </a:rPr>
              <a:t>三、基于锁的并发控制协议</a:t>
            </a:r>
            <a:endParaRPr lang="zh-CN" altLang="en-US" sz="3200" dirty="0">
              <a:solidFill>
                <a:srgbClr val="0033CC"/>
              </a:solidFill>
              <a:latin typeface="Arial" panose="020B0604020202020204" pitchFamily="34" charset="0"/>
              <a:ea typeface="黑体" panose="02010609060101010101" pitchFamily="1" charset="-122"/>
            </a:endParaRPr>
          </a:p>
        </p:txBody>
      </p:sp>
      <p:sp>
        <p:nvSpPr>
          <p:cNvPr id="108546" name="Rectangle 3"/>
          <p:cNvSpPr txBox="1"/>
          <p:nvPr/>
        </p:nvSpPr>
        <p:spPr>
          <a:xfrm>
            <a:off x="517525" y="850900"/>
            <a:ext cx="7178675" cy="706438"/>
          </a:xfrm>
          <a:prstGeom prst="rect">
            <a:avLst/>
          </a:prstGeom>
          <a:noFill/>
          <a:ln w="9525">
            <a:noFill/>
          </a:ln>
        </p:spPr>
        <p:txBody>
          <a:bodyPr anchor="t"/>
          <a:lstStyle/>
          <a:p>
            <a:pPr lvl="0" indent="0" eaLnBrk="0" hangingPunct="0"/>
            <a:r>
              <a:rPr lang="en-US" altLang="x-none" sz="2800" dirty="0">
                <a:solidFill>
                  <a:srgbClr val="FF0000"/>
                </a:solidFill>
                <a:latin typeface="黑体" panose="02010609060101010101" pitchFamily="1" charset="-122"/>
                <a:ea typeface="黑体" panose="02010609060101010101" pitchFamily="1" charset="-122"/>
              </a:rPr>
              <a:t>2</a:t>
            </a:r>
            <a:r>
              <a:rPr lang="zh-CN" altLang="en-US" sz="2800" dirty="0">
                <a:solidFill>
                  <a:srgbClr val="FF0000"/>
                </a:solidFill>
                <a:latin typeface="黑体" panose="02010609060101010101" pitchFamily="1" charset="-122"/>
                <a:ea typeface="黑体" panose="02010609060101010101" pitchFamily="1" charset="-122"/>
              </a:rPr>
              <a:t>、</a:t>
            </a:r>
            <a:r>
              <a:rPr lang="en-US" altLang="zh-CN" sz="2800" dirty="0">
                <a:solidFill>
                  <a:srgbClr val="FF0000"/>
                </a:solidFill>
                <a:latin typeface="黑体" panose="02010609060101010101" pitchFamily="1" charset="-122"/>
                <a:ea typeface="黑体" panose="02010609060101010101" pitchFamily="1" charset="-122"/>
              </a:rPr>
              <a:t>X</a:t>
            </a:r>
            <a:r>
              <a:rPr lang="zh-CN" altLang="en-US" sz="2800" dirty="0">
                <a:solidFill>
                  <a:srgbClr val="FF0000"/>
                </a:solidFill>
                <a:latin typeface="黑体" panose="02010609060101010101" pitchFamily="1" charset="-122"/>
                <a:ea typeface="黑体" panose="02010609060101010101" pitchFamily="1" charset="-122"/>
              </a:rPr>
              <a:t>锁协议</a:t>
            </a:r>
            <a:endParaRPr lang="zh-CN" altLang="en-US" sz="2800" dirty="0">
              <a:solidFill>
                <a:srgbClr val="FF0000"/>
              </a:solidFill>
              <a:latin typeface="黑体" panose="02010609060101010101" pitchFamily="1" charset="-122"/>
              <a:ea typeface="黑体" panose="02010609060101010101" pitchFamily="1"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14692">
                                            <p:txEl>
                                              <p:pRg st="0" end="0"/>
                                            </p:txEl>
                                          </p:spTgt>
                                        </p:tgtEl>
                                        <p:attrNameLst>
                                          <p:attrName>style.visibility</p:attrName>
                                        </p:attrNameLst>
                                      </p:cBhvr>
                                      <p:to>
                                        <p:strVal val="visible"/>
                                      </p:to>
                                    </p:set>
                                    <p:animEffect transition="in" filter="blinds(horizontal)">
                                      <p:cBhvr>
                                        <p:cTn id="7" dur="500"/>
                                        <p:tgtEl>
                                          <p:spTgt spid="11469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14692">
                                            <p:txEl>
                                              <p:pRg st="1" end="1"/>
                                            </p:txEl>
                                          </p:spTgt>
                                        </p:tgtEl>
                                        <p:attrNameLst>
                                          <p:attrName>style.visibility</p:attrName>
                                        </p:attrNameLst>
                                      </p:cBhvr>
                                      <p:to>
                                        <p:strVal val="visible"/>
                                      </p:to>
                                    </p:set>
                                    <p:animEffect transition="in" filter="blinds(horizontal)">
                                      <p:cBhvr>
                                        <p:cTn id="12" dur="500"/>
                                        <p:tgtEl>
                                          <p:spTgt spid="11469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3" presetClass="entr" presetSubtype="16" fill="hold" nodeType="clickEffect">
                                  <p:stCondLst>
                                    <p:cond delay="0"/>
                                  </p:stCondLst>
                                  <p:childTnLst>
                                    <p:set>
                                      <p:cBhvr>
                                        <p:cTn id="16" dur="1" fill="hold">
                                          <p:stCondLst>
                                            <p:cond delay="0"/>
                                          </p:stCondLst>
                                        </p:cTn>
                                        <p:tgtEl>
                                          <p:spTgt spid="114693"/>
                                        </p:tgtEl>
                                        <p:attrNameLst>
                                          <p:attrName>style.visibility</p:attrName>
                                        </p:attrNameLst>
                                      </p:cBhvr>
                                      <p:to>
                                        <p:strVal val="visible"/>
                                      </p:to>
                                    </p:set>
                                    <p:animEffect transition="in" filter="plus(in)">
                                      <p:cBhvr>
                                        <p:cTn id="17" dur="2000"/>
                                        <p:tgtEl>
                                          <p:spTgt spid="11469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4692" grpId="0" build="p"/>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6" name="Text Box 2"/>
          <p:cNvSpPr txBox="1"/>
          <p:nvPr/>
        </p:nvSpPr>
        <p:spPr>
          <a:xfrm>
            <a:off x="744538" y="2728913"/>
            <a:ext cx="7667625" cy="1449387"/>
          </a:xfrm>
          <a:prstGeom prst="rect">
            <a:avLst/>
          </a:prstGeom>
          <a:noFill/>
          <a:ln w="9525">
            <a:noFill/>
          </a:ln>
        </p:spPr>
        <p:txBody>
          <a:bodyPr anchor="t">
            <a:spAutoFit/>
          </a:bodyPr>
          <a:lstStyle/>
          <a:p>
            <a:pPr lvl="0" indent="0">
              <a:lnSpc>
                <a:spcPct val="105000"/>
              </a:lnSpc>
              <a:spcBef>
                <a:spcPct val="50000"/>
              </a:spcBef>
            </a:pPr>
            <a:r>
              <a:rPr lang="zh-CN" altLang="en-US" sz="2800" dirty="0">
                <a:latin typeface="华文楷体" panose="02010600040101010101" pitchFamily="2" charset="-122"/>
                <a:ea typeface="华文楷体" panose="02010600040101010101" pitchFamily="2" charset="-122"/>
                <a:sym typeface="Wingdings" panose="05000000000000000000" pitchFamily="2" charset="2"/>
              </a:rPr>
              <a:t>为避免级联回退，要求不管是写操作锁还是读操作锁都应保持到事务结束</a:t>
            </a:r>
            <a:r>
              <a:rPr lang="en-US" altLang="x-none" sz="2800" dirty="0">
                <a:latin typeface="华文楷体" panose="02010600040101010101" pitchFamily="2" charset="-122"/>
                <a:ea typeface="华文楷体" panose="02010600040101010101" pitchFamily="2" charset="-122"/>
                <a:sym typeface="Wingdings" panose="05000000000000000000" pitchFamily="2" charset="2"/>
              </a:rPr>
              <a:t>(End of Transaction, EOT)</a:t>
            </a:r>
            <a:r>
              <a:rPr lang="zh-CN" altLang="en-US" sz="2800" dirty="0">
                <a:latin typeface="华文楷体" panose="02010600040101010101" pitchFamily="2" charset="-122"/>
                <a:ea typeface="华文楷体" panose="02010600040101010101" pitchFamily="2" charset="-122"/>
                <a:sym typeface="Wingdings" panose="05000000000000000000" pitchFamily="2" charset="2"/>
              </a:rPr>
              <a:t>才释放。该补丁对其后的加锁协议也适用。</a:t>
            </a:r>
            <a:endParaRPr lang="zh-CN" altLang="en-US" sz="2800" dirty="0">
              <a:latin typeface="华文楷体" panose="02010600040101010101" pitchFamily="2" charset="-122"/>
              <a:ea typeface="华文楷体" panose="02010600040101010101" pitchFamily="2" charset="-122"/>
              <a:sym typeface="Wingdings" panose="05000000000000000000" pitchFamily="2" charset="2"/>
            </a:endParaRPr>
          </a:p>
        </p:txBody>
      </p:sp>
      <p:sp>
        <p:nvSpPr>
          <p:cNvPr id="111620" name="Rectangle 3"/>
          <p:cNvSpPr/>
          <p:nvPr/>
        </p:nvSpPr>
        <p:spPr>
          <a:xfrm>
            <a:off x="1968500" y="1720850"/>
            <a:ext cx="5232400" cy="641350"/>
          </a:xfrm>
          <a:prstGeom prst="rect">
            <a:avLst/>
          </a:prstGeom>
          <a:noFill/>
          <a:ln w="9525">
            <a:noFill/>
          </a:ln>
        </p:spPr>
        <p:txBody>
          <a:bodyPr wrap="none" lIns="90000" tIns="46800" rIns="90000" bIns="46800" anchor="t">
            <a:spAutoFit/>
          </a:bodyPr>
          <a:lstStyle/>
          <a:p>
            <a:pPr lvl="0" indent="0" algn="ctr"/>
            <a:r>
              <a:rPr lang="zh-CN" altLang="en-US" sz="3600" dirty="0">
                <a:solidFill>
                  <a:srgbClr val="A50021"/>
                </a:solidFill>
                <a:latin typeface="宋体" panose="02010600030101010101" pitchFamily="2" charset="-122"/>
                <a:ea typeface="宋体" panose="02010600030101010101" pitchFamily="2" charset="-122"/>
                <a:sym typeface="Wingdings" panose="05000000000000000000" pitchFamily="2" charset="2"/>
              </a:rPr>
              <a:t>加锁协议补丁</a:t>
            </a:r>
            <a:r>
              <a:rPr lang="en-US" altLang="x-none" sz="3600" dirty="0">
                <a:solidFill>
                  <a:srgbClr val="A50021"/>
                </a:solidFill>
                <a:latin typeface="宋体" panose="02010600030101010101" pitchFamily="2" charset="-122"/>
                <a:ea typeface="宋体" panose="02010600030101010101" pitchFamily="2" charset="-122"/>
                <a:sym typeface="Wingdings" panose="05000000000000000000" pitchFamily="2" charset="2"/>
              </a:rPr>
              <a:t>1</a:t>
            </a:r>
            <a:r>
              <a:rPr lang="zh-CN" altLang="en-US" sz="3600" dirty="0">
                <a:solidFill>
                  <a:srgbClr val="A50021"/>
                </a:solidFill>
                <a:latin typeface="宋体" panose="02010600030101010101" pitchFamily="2" charset="-122"/>
                <a:ea typeface="宋体" panose="02010600030101010101" pitchFamily="2" charset="-122"/>
                <a:sym typeface="Wingdings" panose="05000000000000000000" pitchFamily="2" charset="2"/>
              </a:rPr>
              <a:t>（</a:t>
            </a:r>
            <a:r>
              <a:rPr lang="en-US" altLang="x-none" sz="3600" dirty="0">
                <a:solidFill>
                  <a:srgbClr val="A50021"/>
                </a:solidFill>
                <a:latin typeface="宋体" panose="02010600030101010101" pitchFamily="2" charset="-122"/>
                <a:ea typeface="宋体" panose="02010600030101010101" pitchFamily="2" charset="-122"/>
                <a:sym typeface="Wingdings" panose="05000000000000000000" pitchFamily="2" charset="2"/>
              </a:rPr>
              <a:t>Patch</a:t>
            </a:r>
            <a:r>
              <a:rPr lang="zh-CN" altLang="en-US" sz="3600" dirty="0">
                <a:solidFill>
                  <a:srgbClr val="A50021"/>
                </a:solidFill>
                <a:latin typeface="宋体" panose="02010600030101010101" pitchFamily="2" charset="-122"/>
                <a:ea typeface="宋体" panose="02010600030101010101" pitchFamily="2" charset="-122"/>
                <a:sym typeface="Wingdings" panose="05000000000000000000" pitchFamily="2" charset="2"/>
              </a:rPr>
              <a:t>）</a:t>
            </a:r>
            <a:endParaRPr lang="zh-CN" altLang="en-US" sz="3600" dirty="0">
              <a:solidFill>
                <a:srgbClr val="A50021"/>
              </a:solidFill>
              <a:latin typeface="宋体" panose="02010600030101010101" pitchFamily="2" charset="-122"/>
              <a:ea typeface="宋体" panose="02010600030101010101" pitchFamily="2" charset="-122"/>
              <a:sym typeface="Wingdings" panose="05000000000000000000" pitchFamily="2" charset="2"/>
            </a:endParaRPr>
          </a:p>
        </p:txBody>
      </p:sp>
      <p:sp>
        <p:nvSpPr>
          <p:cNvPr id="108546" name="Rectangle 3"/>
          <p:cNvSpPr txBox="1"/>
          <p:nvPr/>
        </p:nvSpPr>
        <p:spPr>
          <a:xfrm>
            <a:off x="517525" y="850900"/>
            <a:ext cx="7178675" cy="706438"/>
          </a:xfrm>
          <a:prstGeom prst="rect">
            <a:avLst/>
          </a:prstGeom>
          <a:noFill/>
          <a:ln w="9525">
            <a:noFill/>
          </a:ln>
        </p:spPr>
        <p:txBody>
          <a:bodyPr anchor="t"/>
          <a:lstStyle/>
          <a:p>
            <a:pPr lvl="0" indent="0" eaLnBrk="0" hangingPunct="0"/>
            <a:r>
              <a:rPr lang="en-US" altLang="x-none" sz="2800" dirty="0">
                <a:solidFill>
                  <a:srgbClr val="FF0000"/>
                </a:solidFill>
                <a:latin typeface="黑体" panose="02010609060101010101" pitchFamily="1" charset="-122"/>
                <a:ea typeface="黑体" panose="02010609060101010101" pitchFamily="1" charset="-122"/>
              </a:rPr>
              <a:t>2</a:t>
            </a:r>
            <a:r>
              <a:rPr lang="zh-CN" altLang="en-US" sz="2800" dirty="0">
                <a:solidFill>
                  <a:srgbClr val="FF0000"/>
                </a:solidFill>
                <a:latin typeface="黑体" panose="02010609060101010101" pitchFamily="1" charset="-122"/>
                <a:ea typeface="黑体" panose="02010609060101010101" pitchFamily="1" charset="-122"/>
              </a:rPr>
              <a:t>、</a:t>
            </a:r>
            <a:r>
              <a:rPr lang="en-US" altLang="zh-CN" sz="2800" dirty="0">
                <a:solidFill>
                  <a:srgbClr val="FF0000"/>
                </a:solidFill>
                <a:latin typeface="黑体" panose="02010609060101010101" pitchFamily="1" charset="-122"/>
                <a:ea typeface="黑体" panose="02010609060101010101" pitchFamily="1" charset="-122"/>
              </a:rPr>
              <a:t>X</a:t>
            </a:r>
            <a:r>
              <a:rPr lang="zh-CN" altLang="en-US" sz="2800" dirty="0">
                <a:solidFill>
                  <a:srgbClr val="FF0000"/>
                </a:solidFill>
                <a:latin typeface="黑体" panose="02010609060101010101" pitchFamily="1" charset="-122"/>
                <a:ea typeface="黑体" panose="02010609060101010101" pitchFamily="1" charset="-122"/>
              </a:rPr>
              <a:t>锁协议</a:t>
            </a:r>
            <a:endParaRPr lang="zh-CN" altLang="en-US" sz="2800" dirty="0">
              <a:solidFill>
                <a:srgbClr val="FF0000"/>
              </a:solidFill>
              <a:latin typeface="黑体" panose="02010609060101010101" pitchFamily="1" charset="-122"/>
              <a:ea typeface="黑体" panose="02010609060101010101" pitchFamily="1" charset="-122"/>
            </a:endParaRPr>
          </a:p>
        </p:txBody>
      </p:sp>
      <p:sp>
        <p:nvSpPr>
          <p:cNvPr id="8" name="Rectangle 2"/>
          <p:cNvSpPr/>
          <p:nvPr/>
        </p:nvSpPr>
        <p:spPr>
          <a:xfrm>
            <a:off x="417513" y="55563"/>
            <a:ext cx="8229600" cy="692150"/>
          </a:xfrm>
          <a:prstGeom prst="rect">
            <a:avLst/>
          </a:prstGeom>
          <a:noFill/>
          <a:ln w="9525">
            <a:noFill/>
          </a:ln>
        </p:spPr>
        <p:txBody>
          <a:bodyPr anchor="ctr"/>
          <a:lstStyle/>
          <a:p>
            <a:pPr lvl="0" indent="0">
              <a:buFont typeface="Wingdings" panose="05000000000000000000" pitchFamily="2" charset="2"/>
              <a:buNone/>
            </a:pPr>
            <a:r>
              <a:rPr lang="zh-CN" altLang="en-US" sz="3200" dirty="0" smtClean="0">
                <a:solidFill>
                  <a:srgbClr val="0033CC"/>
                </a:solidFill>
                <a:latin typeface="Arial" panose="020B0604020202020204" pitchFamily="34" charset="0"/>
                <a:ea typeface="黑体" panose="02010609060101010101" pitchFamily="1" charset="-122"/>
              </a:rPr>
              <a:t>三、基于锁的并发控制协议</a:t>
            </a:r>
            <a:endParaRPr lang="zh-CN" altLang="en-US" sz="3200" dirty="0">
              <a:solidFill>
                <a:srgbClr val="0033CC"/>
              </a:solidFill>
              <a:latin typeface="Arial" panose="020B0604020202020204" pitchFamily="34" charset="0"/>
              <a:ea typeface="黑体" panose="02010609060101010101" pitchFamily="1"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 presetClass="entr" presetSubtype="10" fill="hold" grpId="0" nodeType="clickPar">
                                  <p:stCondLst>
                                    <p:cond delay="0"/>
                                  </p:stCondLst>
                                  <p:childTnLst>
                                    <p:set>
                                      <p:cBhvr>
                                        <p:cTn id="6" dur="1" fill="hold">
                                          <p:stCondLst>
                                            <p:cond delay="0"/>
                                          </p:stCondLst>
                                        </p:cTn>
                                        <p:tgtEl>
                                          <p:spTgt spid="115716"/>
                                        </p:tgtEl>
                                        <p:attrNameLst>
                                          <p:attrName>style.visibility</p:attrName>
                                        </p:attrNameLst>
                                      </p:cBhvr>
                                      <p:to>
                                        <p:strVal val="visible"/>
                                      </p:to>
                                    </p:set>
                                    <p:animEffect transition="in" filter="checkerboard(across)">
                                      <p:cBhvr>
                                        <p:cTn id="7" dur="500"/>
                                        <p:tgtEl>
                                          <p:spTgt spid="1157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5716" grpId="0" uiExpand="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41" name="Rectangle 4"/>
          <p:cNvSpPr txBox="1"/>
          <p:nvPr/>
        </p:nvSpPr>
        <p:spPr>
          <a:xfrm>
            <a:off x="517525" y="1438275"/>
            <a:ext cx="8289925" cy="2750185"/>
          </a:xfrm>
          <a:prstGeom prst="rect">
            <a:avLst/>
          </a:prstGeom>
          <a:noFill/>
          <a:ln w="9525">
            <a:noFill/>
          </a:ln>
        </p:spPr>
        <p:txBody>
          <a:bodyPr anchor="t"/>
          <a:lstStyle/>
          <a:p>
            <a:pPr marL="186055" lvl="0" indent="-186055" eaLnBrk="0" hangingPunct="0">
              <a:lnSpc>
                <a:spcPct val="110000"/>
              </a:lnSpc>
              <a:spcBef>
                <a:spcPts val="800"/>
              </a:spcBef>
              <a:spcAft>
                <a:spcPts val="0"/>
              </a:spcAft>
              <a:buClr>
                <a:srgbClr val="0033CC"/>
              </a:buClr>
              <a:buSzPct val="80000"/>
              <a:buFont typeface="Wingdings" panose="05000000000000000000" pitchFamily="2" charset="2"/>
              <a:buChar char="u"/>
            </a:pPr>
            <a:r>
              <a:rPr lang="zh-CN" altLang="en-US" sz="2400" u="sng" dirty="0">
                <a:solidFill>
                  <a:srgbClr val="CC3300"/>
                </a:solidFill>
                <a:latin typeface="华文楷体" panose="02010600040101010101" pitchFamily="2" charset="-122"/>
                <a:ea typeface="宋体" panose="02010600030101010101" pitchFamily="2" charset="-122"/>
                <a:sym typeface="Wingdings" panose="05000000000000000000" pitchFamily="2" charset="2"/>
              </a:rPr>
              <a:t>两阶段事务：</a:t>
            </a:r>
            <a:r>
              <a:rPr lang="zh-CN" altLang="en-US" sz="2400" dirty="0">
                <a:latin typeface="华文楷体" panose="02010600040101010101" pitchFamily="2" charset="-122"/>
                <a:ea typeface="宋体" panose="02010600030101010101" pitchFamily="2" charset="-122"/>
                <a:sym typeface="Wingdings" panose="05000000000000000000" pitchFamily="2" charset="2"/>
              </a:rPr>
              <a:t>在一个事务中，如加锁都在所有释放锁之前，则此事务为两阶段事务。其中的加锁限制称为两阶段加锁协议</a:t>
            </a:r>
            <a:r>
              <a:rPr lang="en-US" altLang="x-none" sz="2400" dirty="0">
                <a:latin typeface="华文楷体" panose="02010600040101010101" pitchFamily="2" charset="-122"/>
                <a:ea typeface="宋体" panose="02010600030101010101" pitchFamily="2" charset="-122"/>
                <a:sym typeface="Wingdings" panose="05000000000000000000" pitchFamily="2" charset="2"/>
              </a:rPr>
              <a:t>( Two-Phase Locking protocol, </a:t>
            </a:r>
            <a:r>
              <a:rPr lang="en-US" altLang="x-none" sz="2400" dirty="0">
                <a:solidFill>
                  <a:srgbClr val="CC0000"/>
                </a:solidFill>
                <a:latin typeface="华文楷体" panose="02010600040101010101" pitchFamily="2" charset="-122"/>
                <a:ea typeface="宋体" panose="02010600030101010101" pitchFamily="2" charset="-122"/>
                <a:sym typeface="Wingdings" panose="05000000000000000000" pitchFamily="2" charset="2"/>
              </a:rPr>
              <a:t>2PL</a:t>
            </a:r>
            <a:r>
              <a:rPr lang="zh-CN" altLang="en-US" sz="2400" dirty="0">
                <a:solidFill>
                  <a:srgbClr val="CC0000"/>
                </a:solidFill>
                <a:latin typeface="华文楷体" panose="02010600040101010101" pitchFamily="2" charset="-122"/>
                <a:ea typeface="宋体" panose="02010600030101010101" pitchFamily="2" charset="-122"/>
                <a:sym typeface="Wingdings" panose="05000000000000000000" pitchFamily="2" charset="2"/>
              </a:rPr>
              <a:t>协议</a:t>
            </a:r>
            <a:r>
              <a:rPr lang="en-US" altLang="x-none" sz="2400" dirty="0">
                <a:latin typeface="华文楷体" panose="02010600040101010101" pitchFamily="2" charset="-122"/>
                <a:ea typeface="宋体" panose="02010600030101010101" pitchFamily="2" charset="-122"/>
                <a:sym typeface="Wingdings" panose="05000000000000000000" pitchFamily="2" charset="2"/>
              </a:rPr>
              <a:t>) </a:t>
            </a:r>
            <a:endParaRPr lang="en-US" altLang="x-none" sz="2400" dirty="0">
              <a:latin typeface="华文楷体" panose="02010600040101010101" pitchFamily="2" charset="-122"/>
              <a:ea typeface="宋体" panose="02010600030101010101" pitchFamily="2" charset="-122"/>
              <a:sym typeface="Wingdings" panose="05000000000000000000" pitchFamily="2" charset="2"/>
            </a:endParaRPr>
          </a:p>
          <a:p>
            <a:pPr marL="186055" lvl="0" indent="-186055" eaLnBrk="0" hangingPunct="0">
              <a:lnSpc>
                <a:spcPct val="110000"/>
              </a:lnSpc>
              <a:spcBef>
                <a:spcPts val="800"/>
              </a:spcBef>
              <a:spcAft>
                <a:spcPts val="0"/>
              </a:spcAft>
              <a:buClr>
                <a:srgbClr val="0033CC"/>
              </a:buClr>
              <a:buSzPct val="80000"/>
              <a:buFont typeface="Wingdings" panose="05000000000000000000" pitchFamily="2" charset="2"/>
              <a:buChar char="u"/>
            </a:pPr>
            <a:r>
              <a:rPr lang="zh-CN" altLang="en-US" sz="2400" u="sng" dirty="0">
                <a:solidFill>
                  <a:srgbClr val="C00000"/>
                </a:solidFill>
                <a:latin typeface="华文楷体" panose="02010600040101010101" pitchFamily="2" charset="-122"/>
                <a:ea typeface="宋体" panose="02010600030101010101" pitchFamily="2" charset="-122"/>
                <a:sym typeface="Wingdings" panose="05000000000000000000" pitchFamily="2" charset="2"/>
              </a:rPr>
              <a:t>说明：</a:t>
            </a:r>
            <a:r>
              <a:rPr lang="en-US" altLang="x-none" sz="2400" dirty="0">
                <a:latin typeface="华文楷体" panose="02010600040101010101" pitchFamily="2" charset="-122"/>
                <a:ea typeface="宋体" panose="02010600030101010101" pitchFamily="2" charset="-122"/>
                <a:sym typeface="Wingdings" panose="05000000000000000000" pitchFamily="2" charset="2"/>
              </a:rPr>
              <a:t>(1)</a:t>
            </a:r>
            <a:r>
              <a:rPr lang="zh-CN" altLang="en-US" sz="2400" dirty="0">
                <a:latin typeface="华文楷体" panose="02010600040101010101" pitchFamily="2" charset="-122"/>
                <a:ea typeface="宋体" panose="02010600030101010101" pitchFamily="2" charset="-122"/>
                <a:sym typeface="Wingdings" panose="05000000000000000000" pitchFamily="2" charset="2"/>
              </a:rPr>
              <a:t>每个事务分为两阶段，前阶段加锁而不解锁（扩展阶段），后阶段解锁而不加锁（收缩阶段）。</a:t>
            </a:r>
            <a:r>
              <a:rPr lang="en-US" altLang="x-none" sz="2400" dirty="0">
                <a:latin typeface="华文楷体" panose="02010600040101010101" pitchFamily="2" charset="-122"/>
                <a:ea typeface="宋体" panose="02010600030101010101" pitchFamily="2" charset="-122"/>
                <a:sym typeface="Wingdings" panose="05000000000000000000" pitchFamily="2" charset="2"/>
              </a:rPr>
              <a:t>(2) </a:t>
            </a:r>
            <a:r>
              <a:rPr lang="zh-CN" altLang="en-US" sz="2400" dirty="0">
                <a:latin typeface="华文楷体" panose="02010600040101010101" pitchFamily="2" charset="-122"/>
                <a:ea typeface="宋体" panose="02010600030101010101" pitchFamily="2" charset="-122"/>
                <a:sym typeface="Wingdings" panose="05000000000000000000" pitchFamily="2" charset="2"/>
              </a:rPr>
              <a:t>两阶段事务中，一旦开始解锁，就不能再对任何数据对象加锁。</a:t>
            </a:r>
            <a:endParaRPr lang="zh-CN" altLang="en-US" sz="2400" dirty="0">
              <a:solidFill>
                <a:srgbClr val="CC0000"/>
              </a:solidFill>
              <a:latin typeface="华文楷体" panose="02010600040101010101" pitchFamily="2" charset="-122"/>
              <a:ea typeface="宋体" panose="02010600030101010101" pitchFamily="2" charset="-122"/>
            </a:endParaRPr>
          </a:p>
        </p:txBody>
      </p:sp>
      <p:sp>
        <p:nvSpPr>
          <p:cNvPr id="108546" name="Rectangle 3"/>
          <p:cNvSpPr txBox="1"/>
          <p:nvPr/>
        </p:nvSpPr>
        <p:spPr>
          <a:xfrm>
            <a:off x="517525" y="850900"/>
            <a:ext cx="7178675" cy="706438"/>
          </a:xfrm>
          <a:prstGeom prst="rect">
            <a:avLst/>
          </a:prstGeom>
          <a:noFill/>
          <a:ln w="9525">
            <a:noFill/>
          </a:ln>
        </p:spPr>
        <p:txBody>
          <a:bodyPr anchor="t"/>
          <a:lstStyle/>
          <a:p>
            <a:pPr lvl="0" indent="0" eaLnBrk="0" hangingPunct="0"/>
            <a:r>
              <a:rPr lang="en-US" altLang="x-none" sz="2800" dirty="0">
                <a:solidFill>
                  <a:srgbClr val="FF0000"/>
                </a:solidFill>
                <a:latin typeface="黑体" panose="02010609060101010101" pitchFamily="1" charset="-122"/>
                <a:ea typeface="黑体" panose="02010609060101010101" pitchFamily="1" charset="-122"/>
              </a:rPr>
              <a:t>3</a:t>
            </a:r>
            <a:r>
              <a:rPr lang="zh-CN" altLang="en-US" sz="2800" dirty="0">
                <a:solidFill>
                  <a:srgbClr val="FF0000"/>
                </a:solidFill>
                <a:latin typeface="黑体" panose="02010609060101010101" pitchFamily="1" charset="-122"/>
                <a:ea typeface="黑体" panose="02010609060101010101" pitchFamily="1" charset="-122"/>
              </a:rPr>
              <a:t>、两阶段加锁协议</a:t>
            </a:r>
            <a:endParaRPr lang="zh-CN" altLang="en-US" sz="2800" dirty="0">
              <a:solidFill>
                <a:srgbClr val="FF0000"/>
              </a:solidFill>
              <a:latin typeface="黑体" panose="02010609060101010101" pitchFamily="1" charset="-122"/>
              <a:ea typeface="黑体" panose="02010609060101010101" pitchFamily="1" charset="-122"/>
            </a:endParaRPr>
          </a:p>
        </p:txBody>
      </p:sp>
      <p:sp>
        <p:nvSpPr>
          <p:cNvPr id="8" name="Rectangle 2"/>
          <p:cNvSpPr/>
          <p:nvPr/>
        </p:nvSpPr>
        <p:spPr>
          <a:xfrm>
            <a:off x="417513" y="55563"/>
            <a:ext cx="8229600" cy="692150"/>
          </a:xfrm>
          <a:prstGeom prst="rect">
            <a:avLst/>
          </a:prstGeom>
          <a:noFill/>
          <a:ln w="9525">
            <a:noFill/>
          </a:ln>
        </p:spPr>
        <p:txBody>
          <a:bodyPr anchor="ctr"/>
          <a:lstStyle/>
          <a:p>
            <a:pPr lvl="0" indent="0">
              <a:buFont typeface="Wingdings" panose="05000000000000000000" pitchFamily="2" charset="2"/>
              <a:buNone/>
            </a:pPr>
            <a:r>
              <a:rPr lang="zh-CN" altLang="en-US" sz="3200" dirty="0" smtClean="0">
                <a:solidFill>
                  <a:srgbClr val="0033CC"/>
                </a:solidFill>
                <a:latin typeface="Arial" panose="020B0604020202020204" pitchFamily="34" charset="0"/>
                <a:ea typeface="黑体" panose="02010609060101010101" pitchFamily="1" charset="-122"/>
              </a:rPr>
              <a:t>三、基于锁的并发控制协议</a:t>
            </a:r>
            <a:endParaRPr lang="zh-CN" altLang="en-US" sz="3200" dirty="0">
              <a:solidFill>
                <a:srgbClr val="0033CC"/>
              </a:solidFill>
              <a:latin typeface="Arial" panose="020B0604020202020204" pitchFamily="34" charset="0"/>
              <a:ea typeface="黑体" panose="02010609060101010101" pitchFamily="1" charset="-122"/>
            </a:endParaRPr>
          </a:p>
        </p:txBody>
      </p:sp>
      <p:sp>
        <p:nvSpPr>
          <p:cNvPr id="13" name="Rectangle 4"/>
          <p:cNvSpPr txBox="1"/>
          <p:nvPr/>
        </p:nvSpPr>
        <p:spPr>
          <a:xfrm>
            <a:off x="517525" y="4084320"/>
            <a:ext cx="8289925" cy="934720"/>
          </a:xfrm>
          <a:prstGeom prst="rect">
            <a:avLst/>
          </a:prstGeom>
          <a:noFill/>
          <a:ln w="9525">
            <a:noFill/>
          </a:ln>
        </p:spPr>
        <p:txBody>
          <a:bodyPr anchor="t"/>
          <a:lstStyle/>
          <a:p>
            <a:pPr marL="186055" lvl="0" indent="-186055" eaLnBrk="0" hangingPunct="0">
              <a:lnSpc>
                <a:spcPct val="115000"/>
              </a:lnSpc>
              <a:spcBef>
                <a:spcPts val="800"/>
              </a:spcBef>
              <a:spcAft>
                <a:spcPts val="0"/>
              </a:spcAft>
              <a:buClr>
                <a:srgbClr val="0033CC"/>
              </a:buClr>
              <a:buSzPct val="80000"/>
              <a:buFont typeface="Wingdings" panose="05000000000000000000" pitchFamily="2" charset="2"/>
              <a:buChar char="u"/>
            </a:pPr>
            <a:r>
              <a:rPr lang="zh-CN" altLang="en-US" sz="2400" u="sng" dirty="0">
                <a:solidFill>
                  <a:srgbClr val="C00000"/>
                </a:solidFill>
                <a:latin typeface="华文楷体" panose="02010600040101010101" pitchFamily="2" charset="-122"/>
                <a:ea typeface="宋体" panose="02010600030101010101" pitchFamily="2" charset="-122"/>
                <a:sym typeface="Wingdings" panose="05000000000000000000" pitchFamily="2" charset="2"/>
              </a:rPr>
              <a:t>合式</a:t>
            </a:r>
            <a:r>
              <a:rPr lang="en-US" altLang="x-none" sz="2400" u="sng" dirty="0">
                <a:solidFill>
                  <a:srgbClr val="C00000"/>
                </a:solidFill>
                <a:latin typeface="华文楷体" panose="02010600040101010101" pitchFamily="2" charset="-122"/>
                <a:ea typeface="宋体" panose="02010600030101010101" pitchFamily="2" charset="-122"/>
                <a:sym typeface="Wingdings" panose="05000000000000000000" pitchFamily="2" charset="2"/>
              </a:rPr>
              <a:t>(Well Formed)</a:t>
            </a:r>
            <a:r>
              <a:rPr lang="zh-CN" altLang="en-US" sz="2400" u="sng" dirty="0">
                <a:solidFill>
                  <a:srgbClr val="C00000"/>
                </a:solidFill>
                <a:latin typeface="华文楷体" panose="02010600040101010101" pitchFamily="2" charset="-122"/>
                <a:ea typeface="宋体" panose="02010600030101010101" pitchFamily="2" charset="-122"/>
                <a:sym typeface="Wingdings" panose="05000000000000000000" pitchFamily="2" charset="2"/>
              </a:rPr>
              <a:t>事务：</a:t>
            </a:r>
            <a:r>
              <a:rPr lang="zh-CN" altLang="en-US" sz="2400" dirty="0">
                <a:latin typeface="华文楷体" panose="02010600040101010101" pitchFamily="2" charset="-122"/>
                <a:ea typeface="宋体" panose="02010600030101010101" pitchFamily="2" charset="-122"/>
                <a:sym typeface="Wingdings" panose="05000000000000000000" pitchFamily="2" charset="2"/>
              </a:rPr>
              <a:t>一个事务如遵守先加锁，后操作原则，此事务即为合式事务。</a:t>
            </a:r>
            <a:endParaRPr lang="zh-CN" altLang="en-US" sz="2400" dirty="0">
              <a:solidFill>
                <a:srgbClr val="CC0000"/>
              </a:solidFill>
              <a:latin typeface="华文楷体" panose="02010600040101010101" pitchFamily="2" charset="-122"/>
              <a:ea typeface="宋体" panose="02010600030101010101" pitchFamily="2" charset="-122"/>
            </a:endParaRPr>
          </a:p>
        </p:txBody>
      </p:sp>
      <p:sp>
        <p:nvSpPr>
          <p:cNvPr id="2" name="Rectangle 4"/>
          <p:cNvSpPr txBox="1"/>
          <p:nvPr/>
        </p:nvSpPr>
        <p:spPr>
          <a:xfrm>
            <a:off x="595630" y="5019040"/>
            <a:ext cx="8051800" cy="921385"/>
          </a:xfrm>
          <a:prstGeom prst="rect">
            <a:avLst/>
          </a:prstGeom>
          <a:noFill/>
          <a:ln w="9525">
            <a:solidFill>
              <a:srgbClr val="000099"/>
            </a:solidFill>
            <a:prstDash val="dash"/>
          </a:ln>
        </p:spPr>
        <p:txBody>
          <a:bodyPr anchor="t"/>
          <a:lstStyle/>
          <a:p>
            <a:pPr marL="342900" lvl="0" indent="-342900" eaLnBrk="0" hangingPunct="0">
              <a:lnSpc>
                <a:spcPct val="115000"/>
              </a:lnSpc>
              <a:spcBef>
                <a:spcPts val="800"/>
              </a:spcBef>
              <a:spcAft>
                <a:spcPts val="0"/>
              </a:spcAft>
              <a:buClr>
                <a:srgbClr val="FF0000"/>
              </a:buClr>
              <a:buSzPct val="100000"/>
              <a:buFont typeface="Wingdings" panose="05000000000000000000" charset="0"/>
              <a:buChar char=""/>
            </a:pPr>
            <a:r>
              <a:rPr lang="zh-CN" altLang="en-US" sz="2400" u="sng" dirty="0">
                <a:solidFill>
                  <a:srgbClr val="CC0000"/>
                </a:solidFill>
                <a:latin typeface="华文中宋" panose="02010600040101010101" charset="-122"/>
                <a:ea typeface="华文中宋" panose="02010600040101010101" charset="-122"/>
                <a:sym typeface="Wingdings" panose="05000000000000000000" pitchFamily="2" charset="2"/>
              </a:rPr>
              <a:t>定理：</a:t>
            </a:r>
            <a:r>
              <a:rPr lang="zh-CN" altLang="en-US" sz="2400" dirty="0">
                <a:solidFill>
                  <a:schemeClr val="tx1"/>
                </a:solidFill>
                <a:latin typeface="楷体" panose="02010609060101010101" pitchFamily="1" charset="-122"/>
                <a:ea typeface="楷体" panose="02010609060101010101" pitchFamily="1" charset="-122"/>
                <a:sym typeface="Wingdings" panose="05000000000000000000" pitchFamily="2" charset="2"/>
              </a:rPr>
              <a:t>如所有事务都是合式、两阶段事务，则它们的任何调度都是可串行化的。</a:t>
            </a:r>
            <a:endParaRPr lang="zh-CN" altLang="en-US" sz="2400" dirty="0">
              <a:solidFill>
                <a:schemeClr val="tx1"/>
              </a:solidFill>
              <a:latin typeface="楷体" panose="02010609060101010101" pitchFamily="1" charset="-122"/>
              <a:ea typeface="楷体" panose="02010609060101010101" pitchFamily="1" charset="-122"/>
              <a:sym typeface="Wingdings" panose="05000000000000000000" pitchFamily="2" charset="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ldLvl="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8" name="Rectangle 3"/>
          <p:cNvSpPr txBox="1"/>
          <p:nvPr/>
        </p:nvSpPr>
        <p:spPr>
          <a:xfrm>
            <a:off x="517525" y="1481455"/>
            <a:ext cx="4462145" cy="4144645"/>
          </a:xfrm>
          <a:prstGeom prst="rect">
            <a:avLst/>
          </a:prstGeom>
          <a:noFill/>
          <a:ln w="9525">
            <a:noFill/>
          </a:ln>
        </p:spPr>
        <p:txBody>
          <a:bodyPr anchor="t"/>
          <a:lstStyle/>
          <a:p>
            <a:pPr marL="342900" lvl="0" indent="-342900" eaLnBrk="0" hangingPunct="0">
              <a:lnSpc>
                <a:spcPct val="115000"/>
              </a:lnSpc>
              <a:spcAft>
                <a:spcPts val="0"/>
              </a:spcAft>
              <a:buClr>
                <a:srgbClr val="0033CC"/>
              </a:buClr>
              <a:buSzPct val="80000"/>
              <a:buFont typeface="Wingdings" panose="05000000000000000000" pitchFamily="2" charset="2"/>
              <a:buChar char="u"/>
            </a:pPr>
            <a:r>
              <a:rPr lang="zh-CN" altLang="en-US" sz="2300" u="sng" dirty="0">
                <a:solidFill>
                  <a:srgbClr val="A50021"/>
                </a:solidFill>
                <a:latin typeface="华文楷体" panose="02010600040101010101" pitchFamily="2" charset="-122"/>
                <a:ea typeface="宋体" panose="02010600030101010101" pitchFamily="2" charset="-122"/>
              </a:rPr>
              <a:t>（</a:t>
            </a:r>
            <a:r>
              <a:rPr lang="en-US" altLang="x-none" sz="2300" u="sng" dirty="0">
                <a:solidFill>
                  <a:srgbClr val="A50021"/>
                </a:solidFill>
                <a:latin typeface="华文楷体" panose="02010600040101010101" pitchFamily="2" charset="-122"/>
                <a:ea typeface="宋体" panose="02010600030101010101" pitchFamily="2" charset="-122"/>
              </a:rPr>
              <a:t>S</a:t>
            </a:r>
            <a:r>
              <a:rPr lang="zh-CN" altLang="en-US" sz="2300" u="sng" dirty="0">
                <a:solidFill>
                  <a:srgbClr val="A50021"/>
                </a:solidFill>
                <a:latin typeface="华文楷体" panose="02010600040101010101" pitchFamily="2" charset="-122"/>
                <a:ea typeface="宋体" panose="02010600030101010101" pitchFamily="2" charset="-122"/>
              </a:rPr>
              <a:t>，</a:t>
            </a:r>
            <a:r>
              <a:rPr lang="en-US" altLang="x-none" sz="2300" u="sng" dirty="0">
                <a:solidFill>
                  <a:srgbClr val="A50021"/>
                </a:solidFill>
                <a:latin typeface="华文楷体" panose="02010600040101010101" pitchFamily="2" charset="-122"/>
                <a:ea typeface="宋体" panose="02010600030101010101" pitchFamily="2" charset="-122"/>
              </a:rPr>
              <a:t>X</a:t>
            </a:r>
            <a:r>
              <a:rPr lang="zh-CN" altLang="en-US" sz="2300" u="sng" dirty="0">
                <a:solidFill>
                  <a:srgbClr val="A50021"/>
                </a:solidFill>
                <a:latin typeface="华文楷体" panose="02010600040101010101" pitchFamily="2" charset="-122"/>
                <a:ea typeface="宋体" panose="02010600030101010101" pitchFamily="2" charset="-122"/>
              </a:rPr>
              <a:t>）协议</a:t>
            </a:r>
            <a:r>
              <a:rPr lang="zh-CN" altLang="en-US" sz="2300" u="sng" dirty="0">
                <a:solidFill>
                  <a:srgbClr val="CC3300"/>
                </a:solidFill>
                <a:latin typeface="华文楷体" panose="02010600040101010101" pitchFamily="2" charset="-122"/>
                <a:ea typeface="宋体" panose="02010600030101010101" pitchFamily="2" charset="-122"/>
              </a:rPr>
              <a:t>：</a:t>
            </a:r>
            <a:r>
              <a:rPr lang="zh-CN" altLang="en-US" sz="2300" dirty="0">
                <a:latin typeface="华文楷体" panose="02010600040101010101" pitchFamily="2" charset="-122"/>
                <a:ea typeface="宋体" panose="02010600030101010101" pitchFamily="2" charset="-122"/>
                <a:sym typeface="Wingdings" panose="05000000000000000000" pitchFamily="2" charset="2"/>
              </a:rPr>
              <a:t>该加锁协议中，有两把锁，即：① </a:t>
            </a:r>
            <a:r>
              <a:rPr lang="en-US" altLang="x-none" sz="2300" dirty="0">
                <a:latin typeface="华文楷体" panose="02010600040101010101" pitchFamily="2" charset="-122"/>
                <a:ea typeface="宋体" panose="02010600030101010101" pitchFamily="2" charset="-122"/>
                <a:sym typeface="Wingdings" panose="05000000000000000000" pitchFamily="2" charset="2"/>
              </a:rPr>
              <a:t>S</a:t>
            </a:r>
            <a:r>
              <a:rPr lang="zh-CN" altLang="en-US" sz="2300" dirty="0">
                <a:latin typeface="华文楷体" panose="02010600040101010101" pitchFamily="2" charset="-122"/>
                <a:ea typeface="宋体" panose="02010600030101010101" pitchFamily="2" charset="-122"/>
                <a:sym typeface="Wingdings" panose="05000000000000000000" pitchFamily="2" charset="2"/>
              </a:rPr>
              <a:t>锁</a:t>
            </a:r>
            <a:r>
              <a:rPr lang="en-US" altLang="x-none" sz="2300" dirty="0">
                <a:latin typeface="华文楷体" panose="02010600040101010101" pitchFamily="2" charset="-122"/>
                <a:ea typeface="宋体" panose="02010600030101010101" pitchFamily="2" charset="-122"/>
                <a:sym typeface="Wingdings" panose="05000000000000000000" pitchFamily="2" charset="2"/>
              </a:rPr>
              <a:t>(Sharing locks)</a:t>
            </a:r>
            <a:r>
              <a:rPr lang="zh-CN" altLang="en-US" sz="2300" dirty="0">
                <a:latin typeface="华文楷体" panose="02010600040101010101" pitchFamily="2" charset="-122"/>
                <a:ea typeface="宋体" panose="02010600030101010101" pitchFamily="2" charset="-122"/>
                <a:sym typeface="Wingdings" panose="05000000000000000000" pitchFamily="2" charset="2"/>
              </a:rPr>
              <a:t>：用于读操作； ② </a:t>
            </a:r>
            <a:r>
              <a:rPr lang="en-US" altLang="x-none" sz="2300" dirty="0">
                <a:latin typeface="华文楷体" panose="02010600040101010101" pitchFamily="2" charset="-122"/>
                <a:ea typeface="宋体" panose="02010600030101010101" pitchFamily="2" charset="-122"/>
                <a:sym typeface="Wingdings" panose="05000000000000000000" pitchFamily="2" charset="2"/>
              </a:rPr>
              <a:t>X</a:t>
            </a:r>
            <a:r>
              <a:rPr lang="zh-CN" altLang="en-US" sz="2300" dirty="0">
                <a:latin typeface="华文楷体" panose="02010600040101010101" pitchFamily="2" charset="-122"/>
                <a:ea typeface="宋体" panose="02010600030101010101" pitchFamily="2" charset="-122"/>
                <a:sym typeface="Wingdings" panose="05000000000000000000" pitchFamily="2" charset="2"/>
              </a:rPr>
              <a:t>锁</a:t>
            </a:r>
            <a:r>
              <a:rPr lang="en-US" altLang="x-none" sz="2300" dirty="0">
                <a:latin typeface="华文楷体" panose="02010600040101010101" pitchFamily="2" charset="-122"/>
                <a:ea typeface="宋体" panose="02010600030101010101" pitchFamily="2" charset="-122"/>
                <a:sym typeface="Wingdings" panose="05000000000000000000" pitchFamily="2" charset="2"/>
              </a:rPr>
              <a:t>(eXcusive locks)</a:t>
            </a:r>
            <a:r>
              <a:rPr lang="zh-CN" altLang="en-US" sz="2300" dirty="0">
                <a:latin typeface="华文楷体" panose="02010600040101010101" pitchFamily="2" charset="-122"/>
                <a:ea typeface="宋体" panose="02010600030101010101" pitchFamily="2" charset="-122"/>
                <a:sym typeface="Wingdings" panose="05000000000000000000" pitchFamily="2" charset="2"/>
              </a:rPr>
              <a:t>：用于写操作。</a:t>
            </a:r>
            <a:endParaRPr lang="zh-CN" altLang="en-US" sz="2300" dirty="0">
              <a:latin typeface="华文楷体" panose="02010600040101010101" pitchFamily="2" charset="-122"/>
              <a:ea typeface="宋体" panose="02010600030101010101" pitchFamily="2" charset="-122"/>
              <a:sym typeface="Wingdings" panose="05000000000000000000" pitchFamily="2" charset="2"/>
            </a:endParaRPr>
          </a:p>
          <a:p>
            <a:pPr marL="342900" lvl="0" indent="-342900" eaLnBrk="0" hangingPunct="0">
              <a:lnSpc>
                <a:spcPct val="115000"/>
              </a:lnSpc>
              <a:spcBef>
                <a:spcPct val="50000"/>
              </a:spcBef>
              <a:spcAft>
                <a:spcPts val="0"/>
              </a:spcAft>
              <a:buClr>
                <a:srgbClr val="0033CC"/>
              </a:buClr>
              <a:buSzPct val="80000"/>
              <a:buFont typeface="Wingdings" panose="05000000000000000000" pitchFamily="2" charset="2"/>
              <a:buChar char="u"/>
            </a:pPr>
            <a:r>
              <a:rPr lang="zh-CN" altLang="en-US" sz="2300" u="sng" dirty="0">
                <a:solidFill>
                  <a:srgbClr val="A50021"/>
                </a:solidFill>
                <a:latin typeface="华文楷体" panose="02010600040101010101" pitchFamily="2" charset="-122"/>
                <a:ea typeface="宋体" panose="02010600030101010101" pitchFamily="2" charset="-122"/>
                <a:sym typeface="Wingdings" panose="05000000000000000000" pitchFamily="2" charset="2"/>
              </a:rPr>
              <a:t>（</a:t>
            </a:r>
            <a:r>
              <a:rPr lang="en-US" altLang="x-none" sz="2300" u="sng" dirty="0">
                <a:solidFill>
                  <a:srgbClr val="A50021"/>
                </a:solidFill>
                <a:latin typeface="华文楷体" panose="02010600040101010101" pitchFamily="2" charset="-122"/>
                <a:ea typeface="宋体" panose="02010600030101010101" pitchFamily="2" charset="-122"/>
                <a:sym typeface="Wingdings" panose="05000000000000000000" pitchFamily="2" charset="2"/>
              </a:rPr>
              <a:t>S</a:t>
            </a:r>
            <a:r>
              <a:rPr lang="zh-CN" altLang="en-US" sz="2300" u="sng" dirty="0">
                <a:solidFill>
                  <a:srgbClr val="A50021"/>
                </a:solidFill>
                <a:latin typeface="华文楷体" panose="02010600040101010101" pitchFamily="2" charset="-122"/>
                <a:ea typeface="宋体" panose="02010600030101010101" pitchFamily="2" charset="-122"/>
                <a:sym typeface="Wingdings" panose="05000000000000000000" pitchFamily="2" charset="2"/>
              </a:rPr>
              <a:t>，</a:t>
            </a:r>
            <a:r>
              <a:rPr lang="en-US" altLang="x-none" sz="2300" u="sng" dirty="0">
                <a:solidFill>
                  <a:srgbClr val="A50021"/>
                </a:solidFill>
                <a:latin typeface="华文楷体" panose="02010600040101010101" pitchFamily="2" charset="-122"/>
                <a:ea typeface="宋体" panose="02010600030101010101" pitchFamily="2" charset="-122"/>
                <a:sym typeface="Wingdings" panose="05000000000000000000" pitchFamily="2" charset="2"/>
              </a:rPr>
              <a:t>X</a:t>
            </a:r>
            <a:r>
              <a:rPr lang="zh-CN" altLang="en-US" sz="2300" u="sng" dirty="0">
                <a:solidFill>
                  <a:srgbClr val="A50021"/>
                </a:solidFill>
                <a:latin typeface="华文楷体" panose="02010600040101010101" pitchFamily="2" charset="-122"/>
                <a:ea typeface="宋体" panose="02010600030101010101" pitchFamily="2" charset="-122"/>
                <a:sym typeface="Wingdings" panose="05000000000000000000" pitchFamily="2" charset="2"/>
              </a:rPr>
              <a:t>）协议的相容矩阵</a:t>
            </a:r>
            <a:r>
              <a:rPr lang="zh-CN" altLang="en-US" sz="2300" u="sng" dirty="0">
                <a:solidFill>
                  <a:srgbClr val="CC3300"/>
                </a:solidFill>
                <a:latin typeface="华文楷体" panose="02010600040101010101" pitchFamily="2" charset="-122"/>
                <a:ea typeface="宋体" panose="02010600030101010101" pitchFamily="2" charset="-122"/>
                <a:sym typeface="Wingdings" panose="05000000000000000000" pitchFamily="2" charset="2"/>
              </a:rPr>
              <a:t>：</a:t>
            </a:r>
            <a:r>
              <a:rPr lang="zh-CN" altLang="en-US" sz="2300" dirty="0">
                <a:latin typeface="华文楷体" panose="02010600040101010101" pitchFamily="2" charset="-122"/>
                <a:ea typeface="宋体" panose="02010600030101010101" pitchFamily="2" charset="-122"/>
                <a:sym typeface="Wingdings" panose="05000000000000000000" pitchFamily="2" charset="2"/>
              </a:rPr>
              <a:t>与</a:t>
            </a:r>
            <a:r>
              <a:rPr lang="en-US" altLang="x-none" sz="2300" dirty="0">
                <a:latin typeface="华文楷体" panose="02010600040101010101" pitchFamily="2" charset="-122"/>
                <a:ea typeface="宋体" panose="02010600030101010101" pitchFamily="2" charset="-122"/>
                <a:sym typeface="Wingdings" panose="05000000000000000000" pitchFamily="2" charset="2"/>
              </a:rPr>
              <a:t>X</a:t>
            </a:r>
            <a:r>
              <a:rPr lang="zh-CN" altLang="en-US" sz="2300" dirty="0">
                <a:latin typeface="华文楷体" panose="02010600040101010101" pitchFamily="2" charset="-122"/>
                <a:ea typeface="宋体" panose="02010600030101010101" pitchFamily="2" charset="-122"/>
                <a:sym typeface="Wingdings" panose="05000000000000000000" pitchFamily="2" charset="2"/>
              </a:rPr>
              <a:t>锁协议比较，由于这里的</a:t>
            </a:r>
            <a:r>
              <a:rPr lang="en-US" altLang="x-none" sz="2300" dirty="0">
                <a:latin typeface="华文楷体" panose="02010600040101010101" pitchFamily="2" charset="-122"/>
                <a:ea typeface="宋体" panose="02010600030101010101" pitchFamily="2" charset="-122"/>
                <a:sym typeface="Wingdings" panose="05000000000000000000" pitchFamily="2" charset="2"/>
              </a:rPr>
              <a:t>S</a:t>
            </a:r>
            <a:r>
              <a:rPr lang="zh-CN" altLang="en-US" sz="2300" dirty="0">
                <a:latin typeface="华文楷体" panose="02010600040101010101" pitchFamily="2" charset="-122"/>
                <a:ea typeface="宋体" panose="02010600030101010101" pitchFamily="2" charset="-122"/>
                <a:sym typeface="Wingdings" panose="05000000000000000000" pitchFamily="2" charset="2"/>
              </a:rPr>
              <a:t>锁只用于读，故</a:t>
            </a:r>
            <a:r>
              <a:rPr lang="en-US" altLang="x-none" sz="2300" dirty="0">
                <a:latin typeface="华文楷体" panose="02010600040101010101" pitchFamily="2" charset="-122"/>
                <a:ea typeface="宋体" panose="02010600030101010101" pitchFamily="2" charset="-122"/>
                <a:sym typeface="Wingdings" panose="05000000000000000000" pitchFamily="2" charset="2"/>
              </a:rPr>
              <a:t>S</a:t>
            </a:r>
            <a:r>
              <a:rPr lang="zh-CN" altLang="en-US" sz="2300" dirty="0">
                <a:latin typeface="华文楷体" panose="02010600040101010101" pitchFamily="2" charset="-122"/>
                <a:ea typeface="宋体" panose="02010600030101010101" pitchFamily="2" charset="-122"/>
                <a:sym typeface="Wingdings" panose="05000000000000000000" pitchFamily="2" charset="2"/>
              </a:rPr>
              <a:t>锁与</a:t>
            </a:r>
            <a:r>
              <a:rPr lang="en-US" altLang="x-none" sz="2300" dirty="0">
                <a:latin typeface="华文楷体" panose="02010600040101010101" pitchFamily="2" charset="-122"/>
                <a:ea typeface="宋体" panose="02010600030101010101" pitchFamily="2" charset="-122"/>
                <a:sym typeface="Wingdings" panose="05000000000000000000" pitchFamily="2" charset="2"/>
              </a:rPr>
              <a:t>S</a:t>
            </a:r>
            <a:r>
              <a:rPr lang="zh-CN" altLang="en-US" sz="2300" dirty="0">
                <a:latin typeface="华文楷体" panose="02010600040101010101" pitchFamily="2" charset="-122"/>
                <a:ea typeface="宋体" panose="02010600030101010101" pitchFamily="2" charset="-122"/>
                <a:sym typeface="Wingdings" panose="05000000000000000000" pitchFamily="2" charset="2"/>
              </a:rPr>
              <a:t>锁是相容的。即：同一数据对象可允许多个事务并发读，这样比单一的</a:t>
            </a:r>
            <a:r>
              <a:rPr lang="en-US" altLang="x-none" sz="2300" dirty="0">
                <a:latin typeface="华文楷体" panose="02010600040101010101" pitchFamily="2" charset="-122"/>
                <a:ea typeface="宋体" panose="02010600030101010101" pitchFamily="2" charset="-122"/>
                <a:sym typeface="Wingdings" panose="05000000000000000000" pitchFamily="2" charset="2"/>
              </a:rPr>
              <a:t>X</a:t>
            </a:r>
            <a:r>
              <a:rPr lang="zh-CN" altLang="en-US" sz="2300" dirty="0">
                <a:latin typeface="华文楷体" panose="02010600040101010101" pitchFamily="2" charset="-122"/>
                <a:ea typeface="宋体" panose="02010600030101010101" pitchFamily="2" charset="-122"/>
                <a:sym typeface="Wingdings" panose="05000000000000000000" pitchFamily="2" charset="2"/>
              </a:rPr>
              <a:t>锁提高了并发度。</a:t>
            </a:r>
            <a:endParaRPr lang="zh-CN" altLang="en-US" sz="2300" dirty="0">
              <a:latin typeface="华文楷体" panose="02010600040101010101" pitchFamily="2" charset="-122"/>
              <a:ea typeface="宋体" panose="02010600030101010101" pitchFamily="2" charset="-122"/>
            </a:endParaRPr>
          </a:p>
        </p:txBody>
      </p:sp>
      <p:graphicFrame>
        <p:nvGraphicFramePr>
          <p:cNvPr id="117766" name="Object 2"/>
          <p:cNvGraphicFramePr>
            <a:graphicFrameLocks noChangeAspect="1"/>
          </p:cNvGraphicFramePr>
          <p:nvPr/>
        </p:nvGraphicFramePr>
        <p:xfrm>
          <a:off x="4979353" y="1995170"/>
          <a:ext cx="4176712" cy="3116263"/>
        </p:xfrm>
        <a:graphic>
          <a:graphicData uri="http://schemas.openxmlformats.org/presentationml/2006/ole">
            <mc:AlternateContent xmlns:mc="http://schemas.openxmlformats.org/markup-compatibility/2006">
              <mc:Choice xmlns:v="urn:schemas-microsoft-com:vml" Requires="v">
                <p:oleObj spid="_x0000_s8206" name="" r:id="rId1" imgW="2162175" imgH="1285875" progId="Word.Picture.8">
                  <p:embed/>
                </p:oleObj>
              </mc:Choice>
              <mc:Fallback>
                <p:oleObj name="" r:id="rId1" imgW="2162175" imgH="1285875" progId="Word.Picture.8">
                  <p:embed/>
                  <p:pic>
                    <p:nvPicPr>
                      <p:cNvPr id="0" name="图片 3098"/>
                      <p:cNvPicPr/>
                      <p:nvPr/>
                    </p:nvPicPr>
                    <p:blipFill>
                      <a:blip r:embed="rId2"/>
                      <a:stretch>
                        <a:fillRect/>
                      </a:stretch>
                    </p:blipFill>
                    <p:spPr>
                      <a:xfrm>
                        <a:off x="4979353" y="1995170"/>
                        <a:ext cx="4176712" cy="3116263"/>
                      </a:xfrm>
                      <a:prstGeom prst="rect">
                        <a:avLst/>
                      </a:prstGeom>
                      <a:noFill/>
                      <a:ln w="38100">
                        <a:noFill/>
                        <a:miter/>
                      </a:ln>
                    </p:spPr>
                  </p:pic>
                </p:oleObj>
              </mc:Fallback>
            </mc:AlternateContent>
          </a:graphicData>
        </a:graphic>
      </p:graphicFrame>
      <p:sp>
        <p:nvSpPr>
          <p:cNvPr id="108546" name="Rectangle 3"/>
          <p:cNvSpPr txBox="1"/>
          <p:nvPr/>
        </p:nvSpPr>
        <p:spPr>
          <a:xfrm>
            <a:off x="517525" y="850900"/>
            <a:ext cx="7178675" cy="706438"/>
          </a:xfrm>
          <a:prstGeom prst="rect">
            <a:avLst/>
          </a:prstGeom>
          <a:noFill/>
          <a:ln w="9525">
            <a:noFill/>
          </a:ln>
        </p:spPr>
        <p:txBody>
          <a:bodyPr anchor="t"/>
          <a:lstStyle/>
          <a:p>
            <a:pPr lvl="0" indent="0" eaLnBrk="0" hangingPunct="0"/>
            <a:r>
              <a:rPr lang="en-US" altLang="x-none" sz="2800" dirty="0">
                <a:solidFill>
                  <a:srgbClr val="FF0000"/>
                </a:solidFill>
                <a:latin typeface="黑体" panose="02010609060101010101" pitchFamily="1" charset="-122"/>
                <a:ea typeface="黑体" panose="02010609060101010101" pitchFamily="1" charset="-122"/>
              </a:rPr>
              <a:t>4</a:t>
            </a:r>
            <a:r>
              <a:rPr lang="zh-CN" altLang="en-US" sz="2800" dirty="0">
                <a:solidFill>
                  <a:srgbClr val="FF0000"/>
                </a:solidFill>
                <a:latin typeface="黑体" panose="02010609060101010101" pitchFamily="1" charset="-122"/>
                <a:ea typeface="黑体" panose="02010609060101010101" pitchFamily="1" charset="-122"/>
              </a:rPr>
              <a:t>、</a:t>
            </a:r>
            <a:r>
              <a:rPr lang="en-US" altLang="zh-CN" sz="2800" dirty="0">
                <a:solidFill>
                  <a:srgbClr val="FF0000"/>
                </a:solidFill>
                <a:latin typeface="黑体" panose="02010609060101010101" pitchFamily="1" charset="-122"/>
                <a:ea typeface="黑体" panose="02010609060101010101" pitchFamily="1" charset="-122"/>
              </a:rPr>
              <a:t>(S,X)</a:t>
            </a:r>
            <a:r>
              <a:rPr lang="zh-CN" altLang="en-US" sz="2800" dirty="0">
                <a:solidFill>
                  <a:srgbClr val="FF0000"/>
                </a:solidFill>
                <a:latin typeface="黑体" panose="02010609060101010101" pitchFamily="1" charset="-122"/>
                <a:ea typeface="黑体" panose="02010609060101010101" pitchFamily="1" charset="-122"/>
              </a:rPr>
              <a:t>锁协议</a:t>
            </a:r>
            <a:endParaRPr lang="zh-CN" altLang="en-US" sz="2800" dirty="0">
              <a:solidFill>
                <a:srgbClr val="FF0000"/>
              </a:solidFill>
              <a:latin typeface="黑体" panose="02010609060101010101" pitchFamily="1" charset="-122"/>
              <a:ea typeface="黑体" panose="02010609060101010101" pitchFamily="1" charset="-122"/>
            </a:endParaRPr>
          </a:p>
        </p:txBody>
      </p:sp>
      <p:sp>
        <p:nvSpPr>
          <p:cNvPr id="8" name="Rectangle 2"/>
          <p:cNvSpPr/>
          <p:nvPr/>
        </p:nvSpPr>
        <p:spPr>
          <a:xfrm>
            <a:off x="417513" y="55563"/>
            <a:ext cx="8229600" cy="692150"/>
          </a:xfrm>
          <a:prstGeom prst="rect">
            <a:avLst/>
          </a:prstGeom>
          <a:noFill/>
          <a:ln w="9525">
            <a:noFill/>
          </a:ln>
        </p:spPr>
        <p:txBody>
          <a:bodyPr anchor="ctr"/>
          <a:lstStyle/>
          <a:p>
            <a:pPr lvl="0" indent="0">
              <a:buFont typeface="Wingdings" panose="05000000000000000000" pitchFamily="2" charset="2"/>
              <a:buNone/>
            </a:pPr>
            <a:r>
              <a:rPr lang="zh-CN" altLang="en-US" sz="3200" dirty="0" smtClean="0">
                <a:solidFill>
                  <a:srgbClr val="0033CC"/>
                </a:solidFill>
                <a:latin typeface="Arial" panose="020B0604020202020204" pitchFamily="34" charset="0"/>
                <a:ea typeface="黑体" panose="02010609060101010101" pitchFamily="1" charset="-122"/>
              </a:rPr>
              <a:t>三、基于锁的并发控制协议</a:t>
            </a:r>
            <a:endParaRPr lang="zh-CN" altLang="en-US" sz="3200" dirty="0">
              <a:solidFill>
                <a:srgbClr val="0033CC"/>
              </a:solidFill>
              <a:latin typeface="Arial" panose="020B0604020202020204" pitchFamily="34" charset="0"/>
              <a:ea typeface="黑体" panose="02010609060101010101" pitchFamily="1"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499"/>
                                          </p:stCondLst>
                                        </p:cTn>
                                        <p:tgtEl>
                                          <p:spTgt spid="11776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8" name="Text Box 2"/>
          <p:cNvSpPr txBox="1"/>
          <p:nvPr/>
        </p:nvSpPr>
        <p:spPr>
          <a:xfrm>
            <a:off x="641350" y="1441450"/>
            <a:ext cx="7993063" cy="1476375"/>
          </a:xfrm>
          <a:prstGeom prst="rect">
            <a:avLst/>
          </a:prstGeom>
          <a:noFill/>
          <a:ln w="9525">
            <a:noFill/>
          </a:ln>
        </p:spPr>
        <p:txBody>
          <a:bodyPr anchor="t">
            <a:spAutoFit/>
          </a:bodyPr>
          <a:lstStyle/>
          <a:p>
            <a:pPr lvl="0" indent="0">
              <a:spcBef>
                <a:spcPct val="50000"/>
              </a:spcBef>
              <a:buFont typeface="Wingdings" panose="05000000000000000000" pitchFamily="2" charset="2"/>
              <a:buChar char="p"/>
            </a:pPr>
            <a:r>
              <a:rPr lang="zh-CN" altLang="en-US" sz="2400" u="sng" dirty="0">
                <a:solidFill>
                  <a:srgbClr val="A50021"/>
                </a:solidFill>
                <a:latin typeface="宋体" panose="02010600030101010101" pitchFamily="2" charset="-122"/>
                <a:ea typeface="宋体" panose="02010600030101010101" pitchFamily="2" charset="-122"/>
                <a:sym typeface="Wingdings" panose="05000000000000000000" pitchFamily="2" charset="2"/>
              </a:rPr>
              <a:t>活锁：</a:t>
            </a:r>
            <a:r>
              <a:rPr lang="zh-CN" altLang="en-US" sz="2200" dirty="0">
                <a:latin typeface="华文楷体" panose="02010600040101010101" pitchFamily="2" charset="-122"/>
                <a:ea typeface="华文楷体" panose="02010600040101010101" pitchFamily="2" charset="-122"/>
                <a:sym typeface="Wingdings" panose="05000000000000000000" pitchFamily="2" charset="2"/>
              </a:rPr>
              <a:t>如一数据对象已被加</a:t>
            </a:r>
            <a:r>
              <a:rPr lang="en-US" altLang="x-none" sz="2200" dirty="0">
                <a:latin typeface="华文楷体" panose="02010600040101010101" pitchFamily="2" charset="-122"/>
                <a:ea typeface="华文楷体" panose="02010600040101010101" pitchFamily="2" charset="-122"/>
                <a:sym typeface="Wingdings" panose="05000000000000000000" pitchFamily="2" charset="2"/>
              </a:rPr>
              <a:t>S</a:t>
            </a:r>
            <a:r>
              <a:rPr lang="zh-CN" altLang="en-US" sz="2200" dirty="0">
                <a:latin typeface="华文楷体" panose="02010600040101010101" pitchFamily="2" charset="-122"/>
                <a:ea typeface="华文楷体" panose="02010600040101010101" pitchFamily="2" charset="-122"/>
                <a:sym typeface="Wingdings" panose="05000000000000000000" pitchFamily="2" charset="2"/>
              </a:rPr>
              <a:t>锁，其他事务要申请对它的</a:t>
            </a:r>
            <a:r>
              <a:rPr lang="en-US" altLang="x-none" sz="2200" dirty="0">
                <a:latin typeface="华文楷体" panose="02010600040101010101" pitchFamily="2" charset="-122"/>
                <a:ea typeface="华文楷体" panose="02010600040101010101" pitchFamily="2" charset="-122"/>
                <a:sym typeface="Wingdings" panose="05000000000000000000" pitchFamily="2" charset="2"/>
              </a:rPr>
              <a:t>X</a:t>
            </a:r>
            <a:r>
              <a:rPr lang="zh-CN" altLang="en-US" sz="2200" dirty="0">
                <a:latin typeface="华文楷体" panose="02010600040101010101" pitchFamily="2" charset="-122"/>
                <a:ea typeface="华文楷体" panose="02010600040101010101" pitchFamily="2" charset="-122"/>
                <a:sym typeface="Wingdings" panose="05000000000000000000" pitchFamily="2" charset="2"/>
              </a:rPr>
              <a:t>锁，需等待。若此时有其他事务申请对它的</a:t>
            </a:r>
            <a:r>
              <a:rPr lang="en-US" altLang="x-none" sz="2200" dirty="0">
                <a:latin typeface="华文楷体" panose="02010600040101010101" pitchFamily="2" charset="-122"/>
                <a:ea typeface="华文楷体" panose="02010600040101010101" pitchFamily="2" charset="-122"/>
                <a:sym typeface="Wingdings" panose="05000000000000000000" pitchFamily="2" charset="2"/>
              </a:rPr>
              <a:t>S</a:t>
            </a:r>
            <a:r>
              <a:rPr lang="zh-CN" altLang="en-US" sz="2200" dirty="0">
                <a:latin typeface="华文楷体" panose="02010600040101010101" pitchFamily="2" charset="-122"/>
                <a:ea typeface="华文楷体" panose="02010600040101010101" pitchFamily="2" charset="-122"/>
                <a:sym typeface="Wingdings" panose="05000000000000000000" pitchFamily="2" charset="2"/>
              </a:rPr>
              <a:t>锁，按相容矩阵，应可获准。如不断有事务对它申请</a:t>
            </a:r>
            <a:r>
              <a:rPr lang="en-US" altLang="x-none" sz="2200" dirty="0">
                <a:latin typeface="华文楷体" panose="02010600040101010101" pitchFamily="2" charset="-122"/>
                <a:ea typeface="华文楷体" panose="02010600040101010101" pitchFamily="2" charset="-122"/>
                <a:sym typeface="Wingdings" panose="05000000000000000000" pitchFamily="2" charset="2"/>
              </a:rPr>
              <a:t>S</a:t>
            </a:r>
            <a:r>
              <a:rPr lang="zh-CN" altLang="en-US" sz="2200" dirty="0">
                <a:latin typeface="华文楷体" panose="02010600040101010101" pitchFamily="2" charset="-122"/>
                <a:ea typeface="华文楷体" panose="02010600040101010101" pitchFamily="2" charset="-122"/>
                <a:sym typeface="Wingdings" panose="05000000000000000000" pitchFamily="2" charset="2"/>
              </a:rPr>
              <a:t>锁，以致该数据对象一直被</a:t>
            </a:r>
            <a:r>
              <a:rPr lang="en-US" altLang="x-none" sz="2200" dirty="0">
                <a:latin typeface="华文楷体" panose="02010600040101010101" pitchFamily="2" charset="-122"/>
                <a:ea typeface="华文楷体" panose="02010600040101010101" pitchFamily="2" charset="-122"/>
                <a:sym typeface="Wingdings" panose="05000000000000000000" pitchFamily="2" charset="2"/>
              </a:rPr>
              <a:t>S</a:t>
            </a:r>
            <a:r>
              <a:rPr lang="zh-CN" altLang="en-US" sz="2200" dirty="0">
                <a:latin typeface="华文楷体" panose="02010600040101010101" pitchFamily="2" charset="-122"/>
                <a:ea typeface="华文楷体" panose="02010600040101010101" pitchFamily="2" charset="-122"/>
                <a:sym typeface="Wingdings" panose="05000000000000000000" pitchFamily="2" charset="2"/>
              </a:rPr>
              <a:t>锁占据，而</a:t>
            </a:r>
            <a:r>
              <a:rPr lang="en-US" altLang="x-none" sz="2200" dirty="0">
                <a:latin typeface="华文楷体" panose="02010600040101010101" pitchFamily="2" charset="-122"/>
                <a:ea typeface="华文楷体" panose="02010600040101010101" pitchFamily="2" charset="-122"/>
                <a:sym typeface="Wingdings" panose="05000000000000000000" pitchFamily="2" charset="2"/>
              </a:rPr>
              <a:t>X</a:t>
            </a:r>
            <a:r>
              <a:rPr lang="zh-CN" altLang="en-US" sz="2200" dirty="0">
                <a:latin typeface="华文楷体" panose="02010600040101010101" pitchFamily="2" charset="-122"/>
                <a:ea typeface="华文楷体" panose="02010600040101010101" pitchFamily="2" charset="-122"/>
                <a:sym typeface="Wingdings" panose="05000000000000000000" pitchFamily="2" charset="2"/>
              </a:rPr>
              <a:t>锁的申请迟迟得不到获准，此现象称作活锁。</a:t>
            </a:r>
            <a:endParaRPr lang="zh-CN" altLang="en-US" sz="2200" dirty="0">
              <a:latin typeface="华文楷体" panose="02010600040101010101" pitchFamily="2" charset="-122"/>
              <a:ea typeface="华文楷体" panose="02010600040101010101" pitchFamily="2" charset="-122"/>
              <a:sym typeface="Wingdings" panose="05000000000000000000" pitchFamily="2" charset="2"/>
            </a:endParaRPr>
          </a:p>
        </p:txBody>
      </p:sp>
      <p:graphicFrame>
        <p:nvGraphicFramePr>
          <p:cNvPr id="118789" name="Object 2"/>
          <p:cNvGraphicFramePr>
            <a:graphicFrameLocks noGrp="1" noChangeAspect="1"/>
          </p:cNvGraphicFramePr>
          <p:nvPr/>
        </p:nvGraphicFramePr>
        <p:xfrm>
          <a:off x="357188" y="2636838"/>
          <a:ext cx="5221287" cy="3641725"/>
        </p:xfrm>
        <a:graphic>
          <a:graphicData uri="http://schemas.openxmlformats.org/presentationml/2006/ole">
            <mc:AlternateContent xmlns:mc="http://schemas.openxmlformats.org/markup-compatibility/2006">
              <mc:Choice xmlns:v="urn:schemas-microsoft-com:vml" Requires="v">
                <p:oleObj spid="_x0000_s9243" name="" r:id="rId1" imgW="2632710" imgH="1685925" progId="Word.Picture.8">
                  <p:embed/>
                </p:oleObj>
              </mc:Choice>
              <mc:Fallback>
                <p:oleObj name="" r:id="rId1" imgW="2632710" imgH="1685925" progId="Word.Picture.8">
                  <p:embed/>
                  <p:pic>
                    <p:nvPicPr>
                      <p:cNvPr id="0" name="图片 3099"/>
                      <p:cNvPicPr/>
                      <p:nvPr/>
                    </p:nvPicPr>
                    <p:blipFill>
                      <a:blip r:embed="rId2"/>
                      <a:stretch>
                        <a:fillRect/>
                      </a:stretch>
                    </p:blipFill>
                    <p:spPr>
                      <a:xfrm>
                        <a:off x="357188" y="2636838"/>
                        <a:ext cx="5221287" cy="3641725"/>
                      </a:xfrm>
                      <a:prstGeom prst="rect">
                        <a:avLst/>
                      </a:prstGeom>
                      <a:noFill/>
                      <a:ln w="38100">
                        <a:noFill/>
                        <a:miter/>
                      </a:ln>
                    </p:spPr>
                  </p:pic>
                </p:oleObj>
              </mc:Fallback>
            </mc:AlternateContent>
          </a:graphicData>
        </a:graphic>
      </p:graphicFrame>
      <p:graphicFrame>
        <p:nvGraphicFramePr>
          <p:cNvPr id="118790" name="Object 3"/>
          <p:cNvGraphicFramePr>
            <a:graphicFrameLocks noGrp="1" noChangeAspect="1"/>
          </p:cNvGraphicFramePr>
          <p:nvPr/>
        </p:nvGraphicFramePr>
        <p:xfrm>
          <a:off x="5651500" y="2852738"/>
          <a:ext cx="3084513" cy="3105150"/>
        </p:xfrm>
        <a:graphic>
          <a:graphicData uri="http://schemas.openxmlformats.org/presentationml/2006/ole">
            <mc:AlternateContent xmlns:mc="http://schemas.openxmlformats.org/markup-compatibility/2006">
              <mc:Choice xmlns:v="urn:schemas-microsoft-com:vml" Requires="v">
                <p:oleObj spid="_x0000_s9244" name="" r:id="rId3" imgW="1464310" imgH="1476375" progId="Word.Picture.8">
                  <p:embed/>
                </p:oleObj>
              </mc:Choice>
              <mc:Fallback>
                <p:oleObj name="" r:id="rId3" imgW="1464310" imgH="1476375" progId="Word.Picture.8">
                  <p:embed/>
                  <p:pic>
                    <p:nvPicPr>
                      <p:cNvPr id="0" name="图片 3100"/>
                      <p:cNvPicPr/>
                      <p:nvPr/>
                    </p:nvPicPr>
                    <p:blipFill>
                      <a:blip r:embed="rId4"/>
                      <a:stretch>
                        <a:fillRect/>
                      </a:stretch>
                    </p:blipFill>
                    <p:spPr>
                      <a:xfrm>
                        <a:off x="5651500" y="2852738"/>
                        <a:ext cx="3084513" cy="3105150"/>
                      </a:xfrm>
                      <a:prstGeom prst="rect">
                        <a:avLst/>
                      </a:prstGeom>
                      <a:noFill/>
                      <a:ln w="38100">
                        <a:noFill/>
                        <a:miter/>
                      </a:ln>
                    </p:spPr>
                  </p:pic>
                </p:oleObj>
              </mc:Fallback>
            </mc:AlternateContent>
          </a:graphicData>
        </a:graphic>
      </p:graphicFrame>
      <p:sp>
        <p:nvSpPr>
          <p:cNvPr id="108546" name="Rectangle 3"/>
          <p:cNvSpPr txBox="1"/>
          <p:nvPr/>
        </p:nvSpPr>
        <p:spPr>
          <a:xfrm>
            <a:off x="517525" y="850900"/>
            <a:ext cx="7178675" cy="706438"/>
          </a:xfrm>
          <a:prstGeom prst="rect">
            <a:avLst/>
          </a:prstGeom>
          <a:noFill/>
          <a:ln w="9525">
            <a:noFill/>
          </a:ln>
        </p:spPr>
        <p:txBody>
          <a:bodyPr anchor="t"/>
          <a:lstStyle/>
          <a:p>
            <a:pPr lvl="0" indent="0" eaLnBrk="0" hangingPunct="0"/>
            <a:r>
              <a:rPr lang="en-US" altLang="x-none" sz="2800" dirty="0">
                <a:solidFill>
                  <a:srgbClr val="FF0000"/>
                </a:solidFill>
                <a:latin typeface="黑体" panose="02010609060101010101" pitchFamily="1" charset="-122"/>
                <a:ea typeface="黑体" panose="02010609060101010101" pitchFamily="1" charset="-122"/>
              </a:rPr>
              <a:t>4</a:t>
            </a:r>
            <a:r>
              <a:rPr lang="zh-CN" altLang="en-US" sz="2800" dirty="0">
                <a:solidFill>
                  <a:srgbClr val="FF0000"/>
                </a:solidFill>
                <a:latin typeface="黑体" panose="02010609060101010101" pitchFamily="1" charset="-122"/>
                <a:ea typeface="黑体" panose="02010609060101010101" pitchFamily="1" charset="-122"/>
              </a:rPr>
              <a:t>、</a:t>
            </a:r>
            <a:r>
              <a:rPr lang="en-US" altLang="zh-CN" sz="2800" dirty="0">
                <a:solidFill>
                  <a:srgbClr val="FF0000"/>
                </a:solidFill>
                <a:latin typeface="黑体" panose="02010609060101010101" pitchFamily="1" charset="-122"/>
                <a:ea typeface="黑体" panose="02010609060101010101" pitchFamily="1" charset="-122"/>
              </a:rPr>
              <a:t>(S,X)</a:t>
            </a:r>
            <a:r>
              <a:rPr lang="zh-CN" altLang="en-US" sz="2800" dirty="0">
                <a:solidFill>
                  <a:srgbClr val="FF0000"/>
                </a:solidFill>
                <a:latin typeface="黑体" panose="02010609060101010101" pitchFamily="1" charset="-122"/>
                <a:ea typeface="黑体" panose="02010609060101010101" pitchFamily="1" charset="-122"/>
              </a:rPr>
              <a:t>锁协议</a:t>
            </a:r>
            <a:endParaRPr lang="zh-CN" altLang="en-US" sz="2800" dirty="0">
              <a:solidFill>
                <a:srgbClr val="FF0000"/>
              </a:solidFill>
              <a:latin typeface="黑体" panose="02010609060101010101" pitchFamily="1" charset="-122"/>
              <a:ea typeface="黑体" panose="02010609060101010101" pitchFamily="1" charset="-122"/>
            </a:endParaRPr>
          </a:p>
        </p:txBody>
      </p:sp>
      <p:sp>
        <p:nvSpPr>
          <p:cNvPr id="8" name="Rectangle 2"/>
          <p:cNvSpPr/>
          <p:nvPr/>
        </p:nvSpPr>
        <p:spPr>
          <a:xfrm>
            <a:off x="417513" y="55563"/>
            <a:ext cx="8229600" cy="692150"/>
          </a:xfrm>
          <a:prstGeom prst="rect">
            <a:avLst/>
          </a:prstGeom>
          <a:noFill/>
          <a:ln w="9525">
            <a:noFill/>
          </a:ln>
        </p:spPr>
        <p:txBody>
          <a:bodyPr anchor="ctr"/>
          <a:lstStyle/>
          <a:p>
            <a:pPr lvl="0" indent="0">
              <a:buFont typeface="Wingdings" panose="05000000000000000000" pitchFamily="2" charset="2"/>
              <a:buNone/>
            </a:pPr>
            <a:r>
              <a:rPr lang="zh-CN" altLang="en-US" sz="3200" dirty="0" smtClean="0">
                <a:solidFill>
                  <a:srgbClr val="0033CC"/>
                </a:solidFill>
                <a:latin typeface="Arial" panose="020B0604020202020204" pitchFamily="34" charset="0"/>
                <a:ea typeface="黑体" panose="02010609060101010101" pitchFamily="1" charset="-122"/>
              </a:rPr>
              <a:t>三、基于锁的并发控制协议</a:t>
            </a:r>
            <a:endParaRPr lang="zh-CN" altLang="en-US" sz="3200" dirty="0">
              <a:solidFill>
                <a:srgbClr val="0033CC"/>
              </a:solidFill>
              <a:latin typeface="Arial" panose="020B0604020202020204" pitchFamily="34" charset="0"/>
              <a:ea typeface="黑体" panose="02010609060101010101" pitchFamily="1"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 presetClass="entr" presetSubtype="10" fill="hold" grpId="0" nodeType="afterEffect">
                                  <p:stCondLst>
                                    <p:cond delay="0"/>
                                  </p:stCondLst>
                                  <p:childTnLst>
                                    <p:set>
                                      <p:cBhvr>
                                        <p:cTn id="6" dur="1" fill="hold">
                                          <p:stCondLst>
                                            <p:cond delay="0"/>
                                          </p:stCondLst>
                                        </p:cTn>
                                        <p:tgtEl>
                                          <p:spTgt spid="118788"/>
                                        </p:tgtEl>
                                        <p:attrNameLst>
                                          <p:attrName>style.visibility</p:attrName>
                                        </p:attrNameLst>
                                      </p:cBhvr>
                                      <p:to>
                                        <p:strVal val="visible"/>
                                      </p:to>
                                    </p:set>
                                    <p:animEffect transition="in" filter="checkerboard(across)">
                                      <p:cBhvr>
                                        <p:cTn id="7" dur="500"/>
                                        <p:tgtEl>
                                          <p:spTgt spid="118788"/>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18789"/>
                                        </p:tgtEl>
                                        <p:attrNameLst>
                                          <p:attrName>style.visibility</p:attrName>
                                        </p:attrNameLst>
                                      </p:cBhvr>
                                      <p:to>
                                        <p:strVal val="visible"/>
                                      </p:to>
                                    </p:set>
                                    <p:animEffect transition="in" filter="blinds(horizontal)">
                                      <p:cBhvr>
                                        <p:cTn id="12" dur="500"/>
                                        <p:tgtEl>
                                          <p:spTgt spid="118789"/>
                                        </p:tgtEl>
                                      </p:cBhvr>
                                    </p:animEffect>
                                  </p:childTnLst>
                                </p:cTn>
                              </p:par>
                            </p:childTnLst>
                          </p:cTn>
                        </p:par>
                      </p:childTnLst>
                    </p:cTn>
                  </p:par>
                  <p:par>
                    <p:cTn id="13" fill="hold">
                      <p:stCondLst>
                        <p:cond delay="indefinite"/>
                      </p:stCondLst>
                      <p:childTnLst>
                        <p:par>
                          <p:cTn id="14" fill="hold">
                            <p:stCondLst>
                              <p:cond delay="0"/>
                            </p:stCondLst>
                            <p:childTnLst>
                              <p:par>
                                <p:cTn id="15" presetID="20" presetClass="entr" presetSubtype="0" fill="hold" nodeType="clickEffect">
                                  <p:stCondLst>
                                    <p:cond delay="0"/>
                                  </p:stCondLst>
                                  <p:childTnLst>
                                    <p:set>
                                      <p:cBhvr>
                                        <p:cTn id="16" dur="1" fill="hold">
                                          <p:stCondLst>
                                            <p:cond delay="0"/>
                                          </p:stCondLst>
                                        </p:cTn>
                                        <p:tgtEl>
                                          <p:spTgt spid="118790"/>
                                        </p:tgtEl>
                                        <p:attrNameLst>
                                          <p:attrName>style.visibility</p:attrName>
                                        </p:attrNameLst>
                                      </p:cBhvr>
                                      <p:to>
                                        <p:strVal val="visible"/>
                                      </p:to>
                                    </p:set>
                                    <p:animEffect transition="in" filter="wedge">
                                      <p:cBhvr>
                                        <p:cTn id="17" dur="500"/>
                                        <p:tgtEl>
                                          <p:spTgt spid="11879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8788"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2" name="Text Box 3"/>
          <p:cNvSpPr txBox="1"/>
          <p:nvPr/>
        </p:nvSpPr>
        <p:spPr>
          <a:xfrm>
            <a:off x="641350" y="2398713"/>
            <a:ext cx="7993063" cy="3022600"/>
          </a:xfrm>
          <a:prstGeom prst="rect">
            <a:avLst/>
          </a:prstGeom>
          <a:noFill/>
          <a:ln w="9525">
            <a:noFill/>
          </a:ln>
        </p:spPr>
        <p:txBody>
          <a:bodyPr anchor="t">
            <a:spAutoFit/>
          </a:bodyPr>
          <a:lstStyle/>
          <a:p>
            <a:pPr lvl="0" indent="0">
              <a:lnSpc>
                <a:spcPct val="105000"/>
              </a:lnSpc>
              <a:spcBef>
                <a:spcPct val="50000"/>
              </a:spcBef>
            </a:pPr>
            <a:r>
              <a:rPr lang="en-US" altLang="x-none" sz="2800" dirty="0">
                <a:latin typeface="华文楷体" panose="02010600040101010101" pitchFamily="2" charset="-122"/>
                <a:ea typeface="华文楷体" panose="02010600040101010101" pitchFamily="2" charset="-122"/>
                <a:sym typeface="Wingdings" panose="05000000000000000000" pitchFamily="2" charset="2"/>
              </a:rPr>
              <a:t>--</a:t>
            </a:r>
            <a:r>
              <a:rPr lang="zh-CN" altLang="en-US" sz="2800" dirty="0">
                <a:latin typeface="华文楷体" panose="02010600040101010101" pitchFamily="2" charset="-122"/>
                <a:ea typeface="华文楷体" panose="02010600040101010101" pitchFamily="2" charset="-122"/>
                <a:sym typeface="Wingdings" panose="05000000000000000000" pitchFamily="2" charset="2"/>
              </a:rPr>
              <a:t>活锁虽不会导致“死等”，但对系统性能有不良影响。为避免活锁，在加锁协议中应规定“先申请先服务（</a:t>
            </a:r>
            <a:r>
              <a:rPr lang="en-US" altLang="x-none" sz="2800" dirty="0">
                <a:latin typeface="华文楷体" panose="02010600040101010101" pitchFamily="2" charset="-122"/>
                <a:ea typeface="华文楷体" panose="02010600040101010101" pitchFamily="2" charset="-122"/>
                <a:sym typeface="Wingdings" panose="05000000000000000000" pitchFamily="2" charset="2"/>
              </a:rPr>
              <a:t>First Come, First Served</a:t>
            </a:r>
            <a:r>
              <a:rPr lang="zh-CN" altLang="en-US" sz="2800" dirty="0">
                <a:latin typeface="华文楷体" panose="02010600040101010101" pitchFamily="2" charset="-122"/>
                <a:ea typeface="华文楷体" panose="02010600040101010101" pitchFamily="2" charset="-122"/>
                <a:sym typeface="Wingdings" panose="05000000000000000000" pitchFamily="2" charset="2"/>
              </a:rPr>
              <a:t>）”原则。</a:t>
            </a:r>
            <a:endParaRPr lang="zh-CN" altLang="en-US" sz="2800" dirty="0">
              <a:latin typeface="华文楷体" panose="02010600040101010101" pitchFamily="2" charset="-122"/>
              <a:ea typeface="华文楷体" panose="02010600040101010101" pitchFamily="2" charset="-122"/>
              <a:sym typeface="Wingdings" panose="05000000000000000000" pitchFamily="2" charset="2"/>
            </a:endParaRPr>
          </a:p>
          <a:p>
            <a:pPr lvl="0" indent="0">
              <a:lnSpc>
                <a:spcPct val="105000"/>
              </a:lnSpc>
              <a:spcBef>
                <a:spcPct val="50000"/>
              </a:spcBef>
            </a:pPr>
            <a:r>
              <a:rPr lang="en-US" altLang="x-none" sz="2800" dirty="0">
                <a:latin typeface="华文楷体" panose="02010600040101010101" pitchFamily="2" charset="-122"/>
                <a:ea typeface="华文楷体" panose="02010600040101010101" pitchFamily="2" charset="-122"/>
                <a:sym typeface="Wingdings" panose="05000000000000000000" pitchFamily="2" charset="2"/>
              </a:rPr>
              <a:t>--</a:t>
            </a:r>
            <a:r>
              <a:rPr lang="zh-CN" altLang="en-US" sz="2800" dirty="0">
                <a:latin typeface="华文楷体" panose="02010600040101010101" pitchFamily="2" charset="-122"/>
                <a:ea typeface="华文楷体" panose="02010600040101010101" pitchFamily="2" charset="-122"/>
                <a:sym typeface="Wingdings" panose="05000000000000000000" pitchFamily="2" charset="2"/>
              </a:rPr>
              <a:t>说明：为保证可串行化和避免级联回退现象，（</a:t>
            </a:r>
            <a:r>
              <a:rPr lang="en-US" altLang="x-none" sz="2800" dirty="0">
                <a:latin typeface="华文楷体" panose="02010600040101010101" pitchFamily="2" charset="-122"/>
                <a:ea typeface="华文楷体" panose="02010600040101010101" pitchFamily="2" charset="-122"/>
                <a:sym typeface="Wingdings" panose="05000000000000000000" pitchFamily="2" charset="2"/>
              </a:rPr>
              <a:t>S</a:t>
            </a:r>
            <a:r>
              <a:rPr lang="zh-CN" altLang="en-US" sz="2800" dirty="0">
                <a:latin typeface="华文楷体" panose="02010600040101010101" pitchFamily="2" charset="-122"/>
                <a:ea typeface="华文楷体" panose="02010600040101010101" pitchFamily="2" charset="-122"/>
                <a:sym typeface="Wingdings" panose="05000000000000000000" pitchFamily="2" charset="2"/>
              </a:rPr>
              <a:t>，</a:t>
            </a:r>
            <a:r>
              <a:rPr lang="en-US" altLang="x-none" sz="2800" dirty="0">
                <a:latin typeface="华文楷体" panose="02010600040101010101" pitchFamily="2" charset="-122"/>
                <a:ea typeface="华文楷体" panose="02010600040101010101" pitchFamily="2" charset="-122"/>
                <a:sym typeface="Wingdings" panose="05000000000000000000" pitchFamily="2" charset="2"/>
              </a:rPr>
              <a:t>X</a:t>
            </a:r>
            <a:r>
              <a:rPr lang="zh-CN" altLang="en-US" sz="2800" dirty="0">
                <a:latin typeface="华文楷体" panose="02010600040101010101" pitchFamily="2" charset="-122"/>
                <a:ea typeface="华文楷体" panose="02010600040101010101" pitchFamily="2" charset="-122"/>
                <a:sym typeface="Wingdings" panose="05000000000000000000" pitchFamily="2" charset="2"/>
              </a:rPr>
              <a:t>）锁一般应保持到</a:t>
            </a:r>
            <a:r>
              <a:rPr lang="en-US" altLang="x-none" sz="2800" dirty="0">
                <a:latin typeface="华文楷体" panose="02010600040101010101" pitchFamily="2" charset="-122"/>
                <a:ea typeface="华文楷体" panose="02010600040101010101" pitchFamily="2" charset="-122"/>
                <a:sym typeface="Wingdings" panose="05000000000000000000" pitchFamily="2" charset="2"/>
              </a:rPr>
              <a:t>EOT</a:t>
            </a:r>
            <a:r>
              <a:rPr lang="zh-CN" altLang="en-US" sz="2800" dirty="0">
                <a:latin typeface="华文楷体" panose="02010600040101010101" pitchFamily="2" charset="-122"/>
                <a:ea typeface="华文楷体" panose="02010600040101010101" pitchFamily="2" charset="-122"/>
                <a:sym typeface="Wingdings" panose="05000000000000000000" pitchFamily="2" charset="2"/>
              </a:rPr>
              <a:t>才释放。该加锁协议繁简适当，有相当多的</a:t>
            </a:r>
            <a:r>
              <a:rPr lang="en-US" altLang="x-none" sz="2800" dirty="0">
                <a:latin typeface="华文楷体" panose="02010600040101010101" pitchFamily="2" charset="-122"/>
                <a:ea typeface="华文楷体" panose="02010600040101010101" pitchFamily="2" charset="-122"/>
                <a:sym typeface="Wingdings" panose="05000000000000000000" pitchFamily="2" charset="2"/>
              </a:rPr>
              <a:t>DBMS</a:t>
            </a:r>
            <a:r>
              <a:rPr lang="zh-CN" altLang="en-US" sz="2800" dirty="0">
                <a:latin typeface="华文楷体" panose="02010600040101010101" pitchFamily="2" charset="-122"/>
                <a:ea typeface="华文楷体" panose="02010600040101010101" pitchFamily="2" charset="-122"/>
                <a:sym typeface="Wingdings" panose="05000000000000000000" pitchFamily="2" charset="2"/>
              </a:rPr>
              <a:t>采用此协议。</a:t>
            </a:r>
            <a:endParaRPr lang="zh-CN" altLang="en-US" sz="2800" dirty="0">
              <a:latin typeface="华文楷体" panose="02010600040101010101" pitchFamily="2" charset="-122"/>
              <a:ea typeface="华文楷体" panose="02010600040101010101" pitchFamily="2" charset="-122"/>
              <a:sym typeface="Wingdings" panose="05000000000000000000" pitchFamily="2" charset="2"/>
            </a:endParaRPr>
          </a:p>
        </p:txBody>
      </p:sp>
      <p:sp>
        <p:nvSpPr>
          <p:cNvPr id="115716" name="Rectangle 4"/>
          <p:cNvSpPr/>
          <p:nvPr/>
        </p:nvSpPr>
        <p:spPr>
          <a:xfrm>
            <a:off x="1784350" y="1536700"/>
            <a:ext cx="5692775" cy="641350"/>
          </a:xfrm>
          <a:prstGeom prst="rect">
            <a:avLst/>
          </a:prstGeom>
          <a:noFill/>
          <a:ln w="9525">
            <a:noFill/>
          </a:ln>
        </p:spPr>
        <p:txBody>
          <a:bodyPr wrap="none" lIns="90000" tIns="46800" rIns="90000" bIns="46800" anchor="t">
            <a:spAutoFit/>
          </a:bodyPr>
          <a:lstStyle/>
          <a:p>
            <a:pPr lvl="0" indent="0"/>
            <a:r>
              <a:rPr lang="zh-CN" altLang="en-US" sz="3600" dirty="0">
                <a:solidFill>
                  <a:srgbClr val="A50021"/>
                </a:solidFill>
                <a:latin typeface="宋体" panose="02010600030101010101" pitchFamily="2" charset="-122"/>
                <a:ea typeface="宋体" panose="02010600030101010101" pitchFamily="2" charset="-122"/>
                <a:sym typeface="Wingdings" panose="05000000000000000000" pitchFamily="2" charset="2"/>
              </a:rPr>
              <a:t>加锁协议补丁</a:t>
            </a:r>
            <a:r>
              <a:rPr lang="en-US" altLang="x-none" sz="3600" dirty="0">
                <a:solidFill>
                  <a:srgbClr val="A50021"/>
                </a:solidFill>
                <a:latin typeface="宋体" panose="02010600030101010101" pitchFamily="2" charset="-122"/>
                <a:ea typeface="宋体" panose="02010600030101010101" pitchFamily="2" charset="-122"/>
                <a:sym typeface="Wingdings" panose="05000000000000000000" pitchFamily="2" charset="2"/>
              </a:rPr>
              <a:t>2</a:t>
            </a:r>
            <a:r>
              <a:rPr lang="zh-CN" altLang="en-US" sz="3600" dirty="0">
                <a:solidFill>
                  <a:srgbClr val="A50021"/>
                </a:solidFill>
                <a:latin typeface="宋体" panose="02010600030101010101" pitchFamily="2" charset="-122"/>
                <a:ea typeface="宋体" panose="02010600030101010101" pitchFamily="2" charset="-122"/>
                <a:sym typeface="Wingdings" panose="05000000000000000000" pitchFamily="2" charset="2"/>
              </a:rPr>
              <a:t>（</a:t>
            </a:r>
            <a:r>
              <a:rPr lang="en-US" altLang="x-none" sz="3600" dirty="0">
                <a:solidFill>
                  <a:srgbClr val="A50021"/>
                </a:solidFill>
                <a:latin typeface="宋体" panose="02010600030101010101" pitchFamily="2" charset="-122"/>
                <a:ea typeface="宋体" panose="02010600030101010101" pitchFamily="2" charset="-122"/>
                <a:sym typeface="Wingdings" panose="05000000000000000000" pitchFamily="2" charset="2"/>
              </a:rPr>
              <a:t>Patch 2</a:t>
            </a:r>
            <a:r>
              <a:rPr lang="zh-CN" altLang="en-US" sz="3600" dirty="0">
                <a:solidFill>
                  <a:srgbClr val="A50021"/>
                </a:solidFill>
                <a:latin typeface="宋体" panose="02010600030101010101" pitchFamily="2" charset="-122"/>
                <a:ea typeface="宋体" panose="02010600030101010101" pitchFamily="2" charset="-122"/>
                <a:sym typeface="Wingdings" panose="05000000000000000000" pitchFamily="2" charset="2"/>
              </a:rPr>
              <a:t>）</a:t>
            </a:r>
            <a:endParaRPr lang="zh-CN" altLang="en-US" sz="3600" dirty="0">
              <a:solidFill>
                <a:srgbClr val="A50021"/>
              </a:solidFill>
              <a:latin typeface="宋体" panose="02010600030101010101" pitchFamily="2" charset="-122"/>
              <a:ea typeface="宋体" panose="02010600030101010101" pitchFamily="2" charset="-122"/>
              <a:sym typeface="Wingdings" panose="05000000000000000000" pitchFamily="2" charset="2"/>
            </a:endParaRPr>
          </a:p>
        </p:txBody>
      </p:sp>
      <p:sp>
        <p:nvSpPr>
          <p:cNvPr id="108546" name="Rectangle 3"/>
          <p:cNvSpPr txBox="1"/>
          <p:nvPr/>
        </p:nvSpPr>
        <p:spPr>
          <a:xfrm>
            <a:off x="517525" y="850900"/>
            <a:ext cx="7178675" cy="706438"/>
          </a:xfrm>
          <a:prstGeom prst="rect">
            <a:avLst/>
          </a:prstGeom>
          <a:noFill/>
          <a:ln w="9525">
            <a:noFill/>
          </a:ln>
        </p:spPr>
        <p:txBody>
          <a:bodyPr anchor="t"/>
          <a:lstStyle/>
          <a:p>
            <a:pPr lvl="0" indent="0" eaLnBrk="0" hangingPunct="0"/>
            <a:r>
              <a:rPr lang="en-US" altLang="x-none" sz="2800" dirty="0">
                <a:solidFill>
                  <a:srgbClr val="FF0000"/>
                </a:solidFill>
                <a:latin typeface="黑体" panose="02010609060101010101" pitchFamily="1" charset="-122"/>
                <a:ea typeface="黑体" panose="02010609060101010101" pitchFamily="1" charset="-122"/>
              </a:rPr>
              <a:t>4</a:t>
            </a:r>
            <a:r>
              <a:rPr lang="zh-CN" altLang="en-US" sz="2800" dirty="0">
                <a:solidFill>
                  <a:srgbClr val="FF0000"/>
                </a:solidFill>
                <a:latin typeface="黑体" panose="02010609060101010101" pitchFamily="1" charset="-122"/>
                <a:ea typeface="黑体" panose="02010609060101010101" pitchFamily="1" charset="-122"/>
              </a:rPr>
              <a:t>、</a:t>
            </a:r>
            <a:r>
              <a:rPr lang="en-US" altLang="zh-CN" sz="2800" dirty="0">
                <a:solidFill>
                  <a:srgbClr val="FF0000"/>
                </a:solidFill>
                <a:latin typeface="黑体" panose="02010609060101010101" pitchFamily="1" charset="-122"/>
                <a:ea typeface="黑体" panose="02010609060101010101" pitchFamily="1" charset="-122"/>
              </a:rPr>
              <a:t>(S,X)</a:t>
            </a:r>
            <a:r>
              <a:rPr lang="zh-CN" altLang="en-US" sz="2800" dirty="0">
                <a:solidFill>
                  <a:srgbClr val="FF0000"/>
                </a:solidFill>
                <a:latin typeface="黑体" panose="02010609060101010101" pitchFamily="1" charset="-122"/>
                <a:ea typeface="黑体" panose="02010609060101010101" pitchFamily="1" charset="-122"/>
              </a:rPr>
              <a:t>锁协议</a:t>
            </a:r>
            <a:endParaRPr lang="zh-CN" altLang="en-US" sz="2800" dirty="0">
              <a:solidFill>
                <a:srgbClr val="FF0000"/>
              </a:solidFill>
              <a:latin typeface="黑体" panose="02010609060101010101" pitchFamily="1" charset="-122"/>
              <a:ea typeface="黑体" panose="02010609060101010101" pitchFamily="1" charset="-122"/>
            </a:endParaRPr>
          </a:p>
        </p:txBody>
      </p:sp>
      <p:sp>
        <p:nvSpPr>
          <p:cNvPr id="8" name="Rectangle 2"/>
          <p:cNvSpPr/>
          <p:nvPr/>
        </p:nvSpPr>
        <p:spPr>
          <a:xfrm>
            <a:off x="417513" y="55563"/>
            <a:ext cx="8229600" cy="692150"/>
          </a:xfrm>
          <a:prstGeom prst="rect">
            <a:avLst/>
          </a:prstGeom>
          <a:noFill/>
          <a:ln w="9525">
            <a:noFill/>
          </a:ln>
        </p:spPr>
        <p:txBody>
          <a:bodyPr anchor="ctr"/>
          <a:lstStyle/>
          <a:p>
            <a:pPr lvl="0" indent="0">
              <a:buFont typeface="Wingdings" panose="05000000000000000000" pitchFamily="2" charset="2"/>
              <a:buNone/>
            </a:pPr>
            <a:r>
              <a:rPr lang="zh-CN" altLang="en-US" sz="3200" dirty="0" smtClean="0">
                <a:solidFill>
                  <a:srgbClr val="0033CC"/>
                </a:solidFill>
                <a:latin typeface="Arial" panose="020B0604020202020204" pitchFamily="34" charset="0"/>
                <a:ea typeface="黑体" panose="02010609060101010101" pitchFamily="1" charset="-122"/>
              </a:rPr>
              <a:t>三、基于锁的并发控制协议</a:t>
            </a:r>
            <a:endParaRPr lang="zh-CN" altLang="en-US" sz="3200" dirty="0">
              <a:solidFill>
                <a:srgbClr val="0033CC"/>
              </a:solidFill>
              <a:latin typeface="Arial" panose="020B0604020202020204" pitchFamily="34" charset="0"/>
              <a:ea typeface="黑体" panose="02010609060101010101" pitchFamily="1"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 presetClass="entr" presetSubtype="10" fill="hold" grpId="0" nodeType="afterEffect">
                                  <p:stCondLst>
                                    <p:cond delay="0"/>
                                  </p:stCondLst>
                                  <p:childTnLst>
                                    <p:set>
                                      <p:cBhvr>
                                        <p:cTn id="6" dur="1" fill="hold">
                                          <p:stCondLst>
                                            <p:cond delay="0"/>
                                          </p:stCondLst>
                                        </p:cTn>
                                        <p:tgtEl>
                                          <p:spTgt spid="119812"/>
                                        </p:tgtEl>
                                        <p:attrNameLst>
                                          <p:attrName>style.visibility</p:attrName>
                                        </p:attrNameLst>
                                      </p:cBhvr>
                                      <p:to>
                                        <p:strVal val="visible"/>
                                      </p:to>
                                    </p:set>
                                    <p:animEffect transition="in" filter="checkerboard(across)">
                                      <p:cBhvr>
                                        <p:cTn id="7" dur="500"/>
                                        <p:tgtEl>
                                          <p:spTgt spid="1198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9812"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548005" y="1504315"/>
            <a:ext cx="8047990" cy="1294130"/>
          </a:xfrm>
          <a:prstGeom prst="rect">
            <a:avLst/>
          </a:prstGeom>
          <a:noFill/>
          <a:ln>
            <a:solidFill>
              <a:schemeClr val="accent1"/>
            </a:solidFill>
          </a:ln>
        </p:spPr>
        <p:txBody>
          <a:bodyPr wrap="square" rtlCol="0" anchor="t">
            <a:spAutoFit/>
          </a:bodyPr>
          <a:lstStyle/>
          <a:p>
            <a:pPr>
              <a:lnSpc>
                <a:spcPct val="115000"/>
              </a:lnSpc>
              <a:spcBef>
                <a:spcPts val="0"/>
              </a:spcBef>
              <a:spcAft>
                <a:spcPts val="0"/>
              </a:spcAft>
              <a:buFont typeface="Wingdings" panose="05000000000000000000" charset="0"/>
              <a:buChar char="Ø"/>
            </a:pPr>
            <a:r>
              <a:rPr lang="en-US" altLang="zh-CN" sz="2400">
                <a:solidFill>
                  <a:srgbClr val="0033CC"/>
                </a:solidFill>
                <a:latin typeface="+mj-ea"/>
                <a:ea typeface="+mj-ea"/>
                <a:sym typeface="+mn-ea"/>
              </a:rPr>
              <a:t>1</a:t>
            </a:r>
            <a:r>
              <a:rPr lang="zh-CN" altLang="en-US" sz="2400">
                <a:solidFill>
                  <a:srgbClr val="0033CC"/>
                </a:solidFill>
                <a:latin typeface="+mj-ea"/>
                <a:ea typeface="+mj-ea"/>
                <a:sym typeface="+mn-ea"/>
              </a:rPr>
              <a:t>级加锁协议：</a:t>
            </a:r>
            <a:r>
              <a:rPr lang="zh-CN" altLang="en-US" sz="2200">
                <a:solidFill>
                  <a:schemeClr val="tx1"/>
                </a:solidFill>
                <a:latin typeface="楷体" panose="02010609060101010101" pitchFamily="1" charset="-122"/>
                <a:ea typeface="楷体" panose="02010609060101010101" pitchFamily="1" charset="-122"/>
                <a:cs typeface="楷体" panose="02010609060101010101" pitchFamily="1" charset="-122"/>
                <a:sym typeface="+mn-ea"/>
              </a:rPr>
              <a:t>事务</a:t>
            </a:r>
            <a:r>
              <a:rPr lang="en-US" altLang="zh-CN" sz="2200">
                <a:solidFill>
                  <a:schemeClr val="tx1"/>
                </a:solidFill>
                <a:latin typeface="楷体" panose="02010609060101010101" pitchFamily="1" charset="-122"/>
                <a:ea typeface="楷体" panose="02010609060101010101" pitchFamily="1" charset="-122"/>
                <a:cs typeface="楷体" panose="02010609060101010101" pitchFamily="1" charset="-122"/>
                <a:sym typeface="+mn-ea"/>
              </a:rPr>
              <a:t>T</a:t>
            </a:r>
            <a:r>
              <a:rPr lang="zh-CN" altLang="en-US" sz="2200">
                <a:solidFill>
                  <a:schemeClr val="tx1"/>
                </a:solidFill>
                <a:latin typeface="楷体" panose="02010609060101010101" pitchFamily="1" charset="-122"/>
                <a:ea typeface="楷体" panose="02010609060101010101" pitchFamily="1" charset="-122"/>
                <a:cs typeface="楷体" panose="02010609060101010101" pitchFamily="1" charset="-122"/>
                <a:sym typeface="+mn-ea"/>
              </a:rPr>
              <a:t>在修改数据</a:t>
            </a:r>
            <a:r>
              <a:rPr lang="en-US" altLang="zh-CN" sz="2200">
                <a:solidFill>
                  <a:schemeClr val="tx1"/>
                </a:solidFill>
                <a:latin typeface="楷体" panose="02010609060101010101" pitchFamily="1" charset="-122"/>
                <a:ea typeface="楷体" panose="02010609060101010101" pitchFamily="1" charset="-122"/>
                <a:cs typeface="楷体" panose="02010609060101010101" pitchFamily="1" charset="-122"/>
                <a:sym typeface="+mn-ea"/>
              </a:rPr>
              <a:t>R</a:t>
            </a:r>
            <a:r>
              <a:rPr lang="zh-CN" altLang="en-US" sz="2200">
                <a:solidFill>
                  <a:schemeClr val="tx1"/>
                </a:solidFill>
                <a:latin typeface="楷体" panose="02010609060101010101" pitchFamily="1" charset="-122"/>
                <a:ea typeface="楷体" panose="02010609060101010101" pitchFamily="1" charset="-122"/>
                <a:cs typeface="楷体" panose="02010609060101010101" pitchFamily="1" charset="-122"/>
                <a:sym typeface="+mn-ea"/>
              </a:rPr>
              <a:t>之前必须先对其加</a:t>
            </a:r>
            <a:r>
              <a:rPr lang="en-US" altLang="zh-CN" sz="2200">
                <a:solidFill>
                  <a:schemeClr val="tx1"/>
                </a:solidFill>
                <a:latin typeface="楷体" panose="02010609060101010101" pitchFamily="1" charset="-122"/>
                <a:ea typeface="楷体" panose="02010609060101010101" pitchFamily="1" charset="-122"/>
                <a:cs typeface="楷体" panose="02010609060101010101" pitchFamily="1" charset="-122"/>
                <a:sym typeface="+mn-ea"/>
              </a:rPr>
              <a:t>X</a:t>
            </a:r>
            <a:r>
              <a:rPr lang="zh-CN" altLang="en-US" sz="2200">
                <a:solidFill>
                  <a:schemeClr val="tx1"/>
                </a:solidFill>
                <a:latin typeface="楷体" panose="02010609060101010101" pitchFamily="1" charset="-122"/>
                <a:ea typeface="楷体" panose="02010609060101010101" pitchFamily="1" charset="-122"/>
                <a:cs typeface="楷体" panose="02010609060101010101" pitchFamily="1" charset="-122"/>
                <a:sym typeface="+mn-ea"/>
              </a:rPr>
              <a:t>锁，</a:t>
            </a:r>
            <a:r>
              <a:rPr lang="zh-CN" altLang="en-US" sz="2200">
                <a:solidFill>
                  <a:srgbClr val="C00000"/>
                </a:solidFill>
                <a:latin typeface="楷体" panose="02010609060101010101" pitchFamily="1" charset="-122"/>
                <a:ea typeface="楷体" panose="02010609060101010101" pitchFamily="1" charset="-122"/>
                <a:cs typeface="楷体" panose="02010609060101010101" pitchFamily="1" charset="-122"/>
                <a:sym typeface="+mn-ea"/>
              </a:rPr>
              <a:t>直到事务结束才释放</a:t>
            </a:r>
            <a:r>
              <a:rPr lang="zh-CN" altLang="en-US" sz="2200">
                <a:solidFill>
                  <a:schemeClr val="tx1"/>
                </a:solidFill>
                <a:latin typeface="楷体" panose="02010609060101010101" pitchFamily="1" charset="-122"/>
                <a:ea typeface="楷体" panose="02010609060101010101" pitchFamily="1" charset="-122"/>
                <a:cs typeface="楷体" panose="02010609060101010101" pitchFamily="1" charset="-122"/>
                <a:sym typeface="+mn-ea"/>
              </a:rPr>
              <a:t>。</a:t>
            </a:r>
            <a:r>
              <a:rPr lang="zh-CN" altLang="en-US" sz="2200">
                <a:solidFill>
                  <a:srgbClr val="0033CC"/>
                </a:solidFill>
                <a:latin typeface="楷体" panose="02010609060101010101" pitchFamily="1" charset="-122"/>
                <a:ea typeface="楷体" panose="02010609060101010101" pitchFamily="1" charset="-122"/>
                <a:cs typeface="楷体" panose="02010609060101010101" pitchFamily="1" charset="-122"/>
                <a:sym typeface="+mn-ea"/>
              </a:rPr>
              <a:t>                     </a:t>
            </a:r>
            <a:endParaRPr lang="zh-CN" altLang="en-US" sz="2200">
              <a:solidFill>
                <a:srgbClr val="0033CC"/>
              </a:solidFill>
              <a:latin typeface="楷体" panose="02010609060101010101" pitchFamily="1" charset="-122"/>
              <a:ea typeface="楷体" panose="02010609060101010101" pitchFamily="1" charset="-122"/>
              <a:cs typeface="楷体" panose="02010609060101010101" pitchFamily="1" charset="-122"/>
              <a:sym typeface="+mn-ea"/>
            </a:endParaRPr>
          </a:p>
          <a:p>
            <a:pPr>
              <a:lnSpc>
                <a:spcPct val="115000"/>
              </a:lnSpc>
              <a:spcBef>
                <a:spcPts val="0"/>
              </a:spcBef>
              <a:spcAft>
                <a:spcPts val="0"/>
              </a:spcAft>
              <a:buFont typeface="Wingdings" panose="05000000000000000000" charset="0"/>
              <a:buNone/>
            </a:pPr>
            <a:r>
              <a:rPr lang="en-US" altLang="zh-CN" sz="2200">
                <a:solidFill>
                  <a:srgbClr val="C00000"/>
                </a:solidFill>
                <a:latin typeface="楷体" panose="02010609060101010101" pitchFamily="1" charset="-122"/>
                <a:ea typeface="楷体" panose="02010609060101010101" pitchFamily="1" charset="-122"/>
                <a:cs typeface="楷体" panose="02010609060101010101" pitchFamily="1" charset="-122"/>
                <a:sym typeface="+mn-ea"/>
              </a:rPr>
              <a:t>                                       --</a:t>
            </a:r>
            <a:r>
              <a:rPr lang="zh-CN" altLang="en-US" sz="2200">
                <a:solidFill>
                  <a:srgbClr val="C00000"/>
                </a:solidFill>
                <a:latin typeface="楷体" panose="02010609060101010101" pitchFamily="1" charset="-122"/>
                <a:ea typeface="楷体" panose="02010609060101010101" pitchFamily="1" charset="-122"/>
                <a:cs typeface="楷体" panose="02010609060101010101" pitchFamily="1" charset="-122"/>
                <a:sym typeface="+mn-ea"/>
              </a:rPr>
              <a:t>可防止丢失更新</a:t>
            </a:r>
            <a:endParaRPr lang="zh-CN" altLang="en-US" sz="2200">
              <a:solidFill>
                <a:srgbClr val="C00000"/>
              </a:solidFill>
              <a:latin typeface="楷体" panose="02010609060101010101" pitchFamily="1" charset="-122"/>
              <a:ea typeface="楷体" panose="02010609060101010101" pitchFamily="1" charset="-122"/>
              <a:cs typeface="楷体" panose="02010609060101010101" pitchFamily="1" charset="-122"/>
              <a:sym typeface="+mn-ea"/>
            </a:endParaRPr>
          </a:p>
        </p:txBody>
      </p:sp>
      <p:sp>
        <p:nvSpPr>
          <p:cNvPr id="3" name="文本框 2"/>
          <p:cNvSpPr txBox="1"/>
          <p:nvPr/>
        </p:nvSpPr>
        <p:spPr>
          <a:xfrm>
            <a:off x="548005" y="2924810"/>
            <a:ext cx="8047990" cy="1294130"/>
          </a:xfrm>
          <a:prstGeom prst="rect">
            <a:avLst/>
          </a:prstGeom>
          <a:noFill/>
          <a:ln>
            <a:solidFill>
              <a:schemeClr val="accent1"/>
            </a:solidFill>
          </a:ln>
        </p:spPr>
        <p:txBody>
          <a:bodyPr wrap="square" rtlCol="0" anchor="t">
            <a:spAutoFit/>
          </a:bodyPr>
          <a:lstStyle/>
          <a:p>
            <a:pPr>
              <a:lnSpc>
                <a:spcPct val="115000"/>
              </a:lnSpc>
              <a:spcBef>
                <a:spcPts val="0"/>
              </a:spcBef>
              <a:spcAft>
                <a:spcPts val="0"/>
              </a:spcAft>
              <a:buFont typeface="Wingdings" panose="05000000000000000000" charset="0"/>
              <a:buChar char="Ø"/>
            </a:pPr>
            <a:r>
              <a:rPr lang="en-US" altLang="zh-CN" sz="2400">
                <a:solidFill>
                  <a:srgbClr val="0033CC"/>
                </a:solidFill>
                <a:latin typeface="+mj-ea"/>
                <a:ea typeface="+mj-ea"/>
                <a:sym typeface="+mn-ea"/>
              </a:rPr>
              <a:t>2</a:t>
            </a:r>
            <a:r>
              <a:rPr lang="zh-CN" altLang="en-US" sz="2400">
                <a:solidFill>
                  <a:srgbClr val="0033CC"/>
                </a:solidFill>
                <a:latin typeface="+mj-ea"/>
                <a:ea typeface="+mj-ea"/>
                <a:sym typeface="+mn-ea"/>
              </a:rPr>
              <a:t>级加锁协议：</a:t>
            </a:r>
            <a:r>
              <a:rPr lang="en-US" altLang="zh-CN" sz="2400">
                <a:solidFill>
                  <a:srgbClr val="0033CC"/>
                </a:solidFill>
                <a:latin typeface="+mj-ea"/>
                <a:ea typeface="+mj-ea"/>
                <a:sym typeface="+mn-ea"/>
              </a:rPr>
              <a:t>1</a:t>
            </a:r>
            <a:r>
              <a:rPr lang="zh-CN" altLang="en-US" sz="2400">
                <a:solidFill>
                  <a:srgbClr val="0033CC"/>
                </a:solidFill>
                <a:latin typeface="+mj-ea"/>
                <a:ea typeface="+mj-ea"/>
                <a:sym typeface="+mn-ea"/>
              </a:rPr>
              <a:t>级加锁协议</a:t>
            </a:r>
            <a:r>
              <a:rPr lang="en-US" altLang="zh-CN" sz="2400">
                <a:solidFill>
                  <a:srgbClr val="0033CC"/>
                </a:solidFill>
                <a:latin typeface="+mj-ea"/>
                <a:ea typeface="+mj-ea"/>
                <a:sym typeface="+mn-ea"/>
              </a:rPr>
              <a:t>+</a:t>
            </a:r>
            <a:r>
              <a:rPr lang="zh-CN" altLang="en-US" sz="2200">
                <a:solidFill>
                  <a:srgbClr val="0033CC"/>
                </a:solidFill>
                <a:latin typeface="楷体" panose="02010609060101010101" pitchFamily="1" charset="-122"/>
                <a:ea typeface="楷体" panose="02010609060101010101" pitchFamily="1" charset="-122"/>
                <a:cs typeface="楷体" panose="02010609060101010101" pitchFamily="1" charset="-122"/>
                <a:sym typeface="+mn-ea"/>
              </a:rPr>
              <a:t>事务</a:t>
            </a:r>
            <a:r>
              <a:rPr lang="en-US" altLang="zh-CN" sz="2200">
                <a:solidFill>
                  <a:srgbClr val="0033CC"/>
                </a:solidFill>
                <a:latin typeface="楷体" panose="02010609060101010101" pitchFamily="1" charset="-122"/>
                <a:ea typeface="楷体" panose="02010609060101010101" pitchFamily="1" charset="-122"/>
                <a:cs typeface="楷体" panose="02010609060101010101" pitchFamily="1" charset="-122"/>
                <a:sym typeface="+mn-ea"/>
              </a:rPr>
              <a:t>T</a:t>
            </a:r>
            <a:r>
              <a:rPr lang="zh-CN" altLang="en-US" sz="2200">
                <a:solidFill>
                  <a:srgbClr val="0033CC"/>
                </a:solidFill>
                <a:latin typeface="楷体" panose="02010609060101010101" pitchFamily="1" charset="-122"/>
                <a:ea typeface="楷体" panose="02010609060101010101" pitchFamily="1" charset="-122"/>
                <a:cs typeface="楷体" panose="02010609060101010101" pitchFamily="1" charset="-122"/>
                <a:sym typeface="+mn-ea"/>
              </a:rPr>
              <a:t>在读取数据</a:t>
            </a:r>
            <a:r>
              <a:rPr lang="en-US" altLang="zh-CN" sz="2200">
                <a:solidFill>
                  <a:srgbClr val="0033CC"/>
                </a:solidFill>
                <a:latin typeface="楷体" panose="02010609060101010101" pitchFamily="1" charset="-122"/>
                <a:ea typeface="楷体" panose="02010609060101010101" pitchFamily="1" charset="-122"/>
                <a:cs typeface="楷体" panose="02010609060101010101" pitchFamily="1" charset="-122"/>
                <a:sym typeface="+mn-ea"/>
              </a:rPr>
              <a:t>R</a:t>
            </a:r>
            <a:r>
              <a:rPr lang="zh-CN" altLang="en-US" sz="2200">
                <a:solidFill>
                  <a:srgbClr val="0033CC"/>
                </a:solidFill>
                <a:latin typeface="楷体" panose="02010609060101010101" pitchFamily="1" charset="-122"/>
                <a:ea typeface="楷体" panose="02010609060101010101" pitchFamily="1" charset="-122"/>
                <a:cs typeface="楷体" panose="02010609060101010101" pitchFamily="1" charset="-122"/>
                <a:sym typeface="+mn-ea"/>
              </a:rPr>
              <a:t>之前必须先对其加</a:t>
            </a:r>
            <a:r>
              <a:rPr lang="en-US" altLang="zh-CN" sz="2200">
                <a:solidFill>
                  <a:srgbClr val="0033CC"/>
                </a:solidFill>
                <a:latin typeface="楷体" panose="02010609060101010101" pitchFamily="1" charset="-122"/>
                <a:ea typeface="楷体" panose="02010609060101010101" pitchFamily="1" charset="-122"/>
                <a:cs typeface="楷体" panose="02010609060101010101" pitchFamily="1" charset="-122"/>
                <a:sym typeface="+mn-ea"/>
              </a:rPr>
              <a:t>S</a:t>
            </a:r>
            <a:r>
              <a:rPr lang="zh-CN" altLang="en-US" sz="2200">
                <a:solidFill>
                  <a:srgbClr val="0033CC"/>
                </a:solidFill>
                <a:latin typeface="楷体" panose="02010609060101010101" pitchFamily="1" charset="-122"/>
                <a:ea typeface="楷体" panose="02010609060101010101" pitchFamily="1" charset="-122"/>
                <a:cs typeface="楷体" panose="02010609060101010101" pitchFamily="1" charset="-122"/>
                <a:sym typeface="+mn-ea"/>
              </a:rPr>
              <a:t>锁，</a:t>
            </a:r>
            <a:r>
              <a:rPr lang="zh-CN" altLang="en-US" sz="2200">
                <a:solidFill>
                  <a:srgbClr val="C00000"/>
                </a:solidFill>
                <a:latin typeface="楷体" panose="02010609060101010101" pitchFamily="1" charset="-122"/>
                <a:ea typeface="楷体" panose="02010609060101010101" pitchFamily="1" charset="-122"/>
                <a:cs typeface="楷体" panose="02010609060101010101" pitchFamily="1" charset="-122"/>
                <a:sym typeface="+mn-ea"/>
              </a:rPr>
              <a:t>读完后可立即释放</a:t>
            </a:r>
            <a:r>
              <a:rPr lang="en-US" altLang="zh-CN" sz="2200">
                <a:solidFill>
                  <a:srgbClr val="C00000"/>
                </a:solidFill>
                <a:latin typeface="楷体" panose="02010609060101010101" pitchFamily="1" charset="-122"/>
                <a:ea typeface="楷体" panose="02010609060101010101" pitchFamily="1" charset="-122"/>
                <a:cs typeface="楷体" panose="02010609060101010101" pitchFamily="1" charset="-122"/>
                <a:sym typeface="+mn-ea"/>
              </a:rPr>
              <a:t>S</a:t>
            </a:r>
            <a:r>
              <a:rPr lang="zh-CN" altLang="en-US" sz="2200">
                <a:solidFill>
                  <a:srgbClr val="C00000"/>
                </a:solidFill>
                <a:latin typeface="楷体" panose="02010609060101010101" pitchFamily="1" charset="-122"/>
                <a:ea typeface="楷体" panose="02010609060101010101" pitchFamily="1" charset="-122"/>
                <a:cs typeface="楷体" panose="02010609060101010101" pitchFamily="1" charset="-122"/>
                <a:sym typeface="+mn-ea"/>
              </a:rPr>
              <a:t>锁</a:t>
            </a:r>
            <a:r>
              <a:rPr lang="zh-CN" altLang="en-US" sz="2200">
                <a:solidFill>
                  <a:srgbClr val="0033CC"/>
                </a:solidFill>
                <a:latin typeface="楷体" panose="02010609060101010101" pitchFamily="1" charset="-122"/>
                <a:ea typeface="楷体" panose="02010609060101010101" pitchFamily="1" charset="-122"/>
                <a:cs typeface="楷体" panose="02010609060101010101" pitchFamily="1" charset="-122"/>
                <a:sym typeface="+mn-ea"/>
              </a:rPr>
              <a:t>。     </a:t>
            </a:r>
            <a:endParaRPr lang="zh-CN" altLang="en-US" sz="2200">
              <a:solidFill>
                <a:srgbClr val="0033CC"/>
              </a:solidFill>
              <a:latin typeface="楷体" panose="02010609060101010101" pitchFamily="1" charset="-122"/>
              <a:ea typeface="楷体" panose="02010609060101010101" pitchFamily="1" charset="-122"/>
              <a:cs typeface="楷体" panose="02010609060101010101" pitchFamily="1" charset="-122"/>
              <a:sym typeface="+mn-ea"/>
            </a:endParaRPr>
          </a:p>
          <a:p>
            <a:pPr>
              <a:lnSpc>
                <a:spcPct val="115000"/>
              </a:lnSpc>
              <a:spcBef>
                <a:spcPts val="0"/>
              </a:spcBef>
              <a:spcAft>
                <a:spcPts val="0"/>
              </a:spcAft>
              <a:buFont typeface="Wingdings" panose="05000000000000000000" charset="0"/>
              <a:buNone/>
            </a:pPr>
            <a:r>
              <a:rPr lang="zh-CN" altLang="en-US" sz="2200">
                <a:solidFill>
                  <a:srgbClr val="0033CC"/>
                </a:solidFill>
                <a:latin typeface="楷体" panose="02010609060101010101" pitchFamily="1" charset="-122"/>
                <a:ea typeface="楷体" panose="02010609060101010101" pitchFamily="1" charset="-122"/>
                <a:cs typeface="楷体" panose="02010609060101010101" pitchFamily="1" charset="-122"/>
                <a:sym typeface="+mn-ea"/>
              </a:rPr>
              <a:t>                          </a:t>
            </a:r>
            <a:r>
              <a:rPr lang="en-US" altLang="zh-CN" sz="2200">
                <a:solidFill>
                  <a:srgbClr val="C00000"/>
                </a:solidFill>
                <a:latin typeface="楷体" panose="02010609060101010101" pitchFamily="1" charset="-122"/>
                <a:ea typeface="楷体" panose="02010609060101010101" pitchFamily="1" charset="-122"/>
                <a:cs typeface="楷体" panose="02010609060101010101" pitchFamily="1" charset="-122"/>
                <a:sym typeface="+mn-ea"/>
              </a:rPr>
              <a:t>--</a:t>
            </a:r>
            <a:r>
              <a:rPr lang="zh-CN" altLang="en-US" sz="2200">
                <a:solidFill>
                  <a:srgbClr val="C00000"/>
                </a:solidFill>
                <a:latin typeface="楷体" panose="02010609060101010101" pitchFamily="1" charset="-122"/>
                <a:ea typeface="楷体" panose="02010609060101010101" pitchFamily="1" charset="-122"/>
                <a:cs typeface="楷体" panose="02010609060101010101" pitchFamily="1" charset="-122"/>
                <a:sym typeface="+mn-ea"/>
              </a:rPr>
              <a:t>可防止丢失更新和读</a:t>
            </a:r>
            <a:r>
              <a:rPr lang="en-US" altLang="zh-CN" sz="2200">
                <a:solidFill>
                  <a:srgbClr val="C00000"/>
                </a:solidFill>
                <a:latin typeface="楷体" panose="02010609060101010101" pitchFamily="1" charset="-122"/>
                <a:ea typeface="楷体" panose="02010609060101010101" pitchFamily="1" charset="-122"/>
                <a:cs typeface="楷体" panose="02010609060101010101" pitchFamily="1" charset="-122"/>
                <a:sym typeface="+mn-ea"/>
              </a:rPr>
              <a:t>“</a:t>
            </a:r>
            <a:r>
              <a:rPr lang="zh-CN" altLang="en-US" sz="2200">
                <a:solidFill>
                  <a:srgbClr val="C00000"/>
                </a:solidFill>
                <a:latin typeface="楷体" panose="02010609060101010101" pitchFamily="1" charset="-122"/>
                <a:ea typeface="楷体" panose="02010609060101010101" pitchFamily="1" charset="-122"/>
                <a:cs typeface="楷体" panose="02010609060101010101" pitchFamily="1" charset="-122"/>
                <a:sym typeface="+mn-ea"/>
              </a:rPr>
              <a:t>脏数据</a:t>
            </a:r>
            <a:r>
              <a:rPr lang="en-US" altLang="zh-CN" sz="2200">
                <a:solidFill>
                  <a:srgbClr val="C00000"/>
                </a:solidFill>
                <a:latin typeface="楷体" panose="02010609060101010101" pitchFamily="1" charset="-122"/>
                <a:ea typeface="楷体" panose="02010609060101010101" pitchFamily="1" charset="-122"/>
                <a:cs typeface="楷体" panose="02010609060101010101" pitchFamily="1" charset="-122"/>
                <a:sym typeface="+mn-ea"/>
              </a:rPr>
              <a:t>”</a:t>
            </a:r>
            <a:endParaRPr lang="en-US" altLang="zh-CN" sz="2200">
              <a:solidFill>
                <a:srgbClr val="C00000"/>
              </a:solidFill>
              <a:latin typeface="楷体" panose="02010609060101010101" pitchFamily="1" charset="-122"/>
              <a:ea typeface="楷体" panose="02010609060101010101" pitchFamily="1" charset="-122"/>
              <a:cs typeface="楷体" panose="02010609060101010101" pitchFamily="1" charset="-122"/>
              <a:sym typeface="+mn-ea"/>
            </a:endParaRPr>
          </a:p>
        </p:txBody>
      </p:sp>
      <p:sp>
        <p:nvSpPr>
          <p:cNvPr id="5" name="文本框 4"/>
          <p:cNvSpPr txBox="1"/>
          <p:nvPr/>
        </p:nvSpPr>
        <p:spPr>
          <a:xfrm>
            <a:off x="548005" y="4425950"/>
            <a:ext cx="8047990" cy="1294130"/>
          </a:xfrm>
          <a:prstGeom prst="rect">
            <a:avLst/>
          </a:prstGeom>
          <a:noFill/>
          <a:ln>
            <a:solidFill>
              <a:schemeClr val="accent1"/>
            </a:solidFill>
          </a:ln>
        </p:spPr>
        <p:txBody>
          <a:bodyPr wrap="square" rtlCol="0" anchor="t">
            <a:spAutoFit/>
          </a:bodyPr>
          <a:lstStyle/>
          <a:p>
            <a:pPr>
              <a:lnSpc>
                <a:spcPct val="115000"/>
              </a:lnSpc>
              <a:spcBef>
                <a:spcPts val="0"/>
              </a:spcBef>
              <a:spcAft>
                <a:spcPts val="0"/>
              </a:spcAft>
              <a:buFont typeface="Wingdings" panose="05000000000000000000" charset="0"/>
              <a:buChar char="Ø"/>
            </a:pPr>
            <a:r>
              <a:rPr lang="en-US" altLang="zh-CN" sz="2400">
                <a:solidFill>
                  <a:srgbClr val="0033CC"/>
                </a:solidFill>
                <a:latin typeface="+mj-ea"/>
                <a:ea typeface="+mj-ea"/>
                <a:sym typeface="+mn-ea"/>
              </a:rPr>
              <a:t>3</a:t>
            </a:r>
            <a:r>
              <a:rPr lang="zh-CN" altLang="en-US" sz="2400">
                <a:solidFill>
                  <a:srgbClr val="0033CC"/>
                </a:solidFill>
                <a:latin typeface="+mj-ea"/>
                <a:ea typeface="+mj-ea"/>
                <a:sym typeface="+mn-ea"/>
              </a:rPr>
              <a:t>级加锁协议：</a:t>
            </a:r>
            <a:r>
              <a:rPr lang="en-US" altLang="zh-CN" sz="2400">
                <a:solidFill>
                  <a:srgbClr val="0033CC"/>
                </a:solidFill>
                <a:latin typeface="+mj-ea"/>
                <a:ea typeface="+mj-ea"/>
                <a:sym typeface="+mn-ea"/>
              </a:rPr>
              <a:t>1</a:t>
            </a:r>
            <a:r>
              <a:rPr lang="zh-CN" altLang="en-US" sz="2400">
                <a:solidFill>
                  <a:srgbClr val="0033CC"/>
                </a:solidFill>
                <a:latin typeface="+mj-ea"/>
                <a:ea typeface="+mj-ea"/>
                <a:sym typeface="+mn-ea"/>
              </a:rPr>
              <a:t>级加锁协议</a:t>
            </a:r>
            <a:r>
              <a:rPr lang="en-US" altLang="zh-CN" sz="2400">
                <a:solidFill>
                  <a:srgbClr val="0033CC"/>
                </a:solidFill>
                <a:latin typeface="+mj-ea"/>
                <a:ea typeface="+mj-ea"/>
                <a:sym typeface="+mn-ea"/>
              </a:rPr>
              <a:t>+</a:t>
            </a:r>
            <a:r>
              <a:rPr lang="zh-CN" altLang="en-US" sz="2200">
                <a:solidFill>
                  <a:srgbClr val="0033CC"/>
                </a:solidFill>
                <a:latin typeface="楷体" panose="02010609060101010101" pitchFamily="1" charset="-122"/>
                <a:ea typeface="楷体" panose="02010609060101010101" pitchFamily="1" charset="-122"/>
                <a:cs typeface="楷体" panose="02010609060101010101" pitchFamily="1" charset="-122"/>
                <a:sym typeface="+mn-ea"/>
              </a:rPr>
              <a:t>事务</a:t>
            </a:r>
            <a:r>
              <a:rPr lang="en-US" altLang="zh-CN" sz="2200">
                <a:solidFill>
                  <a:srgbClr val="0033CC"/>
                </a:solidFill>
                <a:latin typeface="楷体" panose="02010609060101010101" pitchFamily="1" charset="-122"/>
                <a:ea typeface="楷体" panose="02010609060101010101" pitchFamily="1" charset="-122"/>
                <a:cs typeface="楷体" panose="02010609060101010101" pitchFamily="1" charset="-122"/>
                <a:sym typeface="+mn-ea"/>
              </a:rPr>
              <a:t>T</a:t>
            </a:r>
            <a:r>
              <a:rPr lang="zh-CN" altLang="en-US" sz="2200">
                <a:solidFill>
                  <a:srgbClr val="0033CC"/>
                </a:solidFill>
                <a:latin typeface="楷体" panose="02010609060101010101" pitchFamily="1" charset="-122"/>
                <a:ea typeface="楷体" panose="02010609060101010101" pitchFamily="1" charset="-122"/>
                <a:cs typeface="楷体" panose="02010609060101010101" pitchFamily="1" charset="-122"/>
                <a:sym typeface="+mn-ea"/>
              </a:rPr>
              <a:t>在读取数据</a:t>
            </a:r>
            <a:r>
              <a:rPr lang="en-US" altLang="zh-CN" sz="2200">
                <a:solidFill>
                  <a:srgbClr val="0033CC"/>
                </a:solidFill>
                <a:latin typeface="楷体" panose="02010609060101010101" pitchFamily="1" charset="-122"/>
                <a:ea typeface="楷体" panose="02010609060101010101" pitchFamily="1" charset="-122"/>
                <a:cs typeface="楷体" panose="02010609060101010101" pitchFamily="1" charset="-122"/>
                <a:sym typeface="+mn-ea"/>
              </a:rPr>
              <a:t>R</a:t>
            </a:r>
            <a:r>
              <a:rPr lang="zh-CN" altLang="en-US" sz="2200">
                <a:solidFill>
                  <a:srgbClr val="0033CC"/>
                </a:solidFill>
                <a:latin typeface="楷体" panose="02010609060101010101" pitchFamily="1" charset="-122"/>
                <a:ea typeface="楷体" panose="02010609060101010101" pitchFamily="1" charset="-122"/>
                <a:cs typeface="楷体" panose="02010609060101010101" pitchFamily="1" charset="-122"/>
                <a:sym typeface="+mn-ea"/>
              </a:rPr>
              <a:t>之前必须先对其加</a:t>
            </a:r>
            <a:r>
              <a:rPr lang="en-US" altLang="zh-CN" sz="2200">
                <a:solidFill>
                  <a:srgbClr val="0033CC"/>
                </a:solidFill>
                <a:latin typeface="楷体" panose="02010609060101010101" pitchFamily="1" charset="-122"/>
                <a:ea typeface="楷体" panose="02010609060101010101" pitchFamily="1" charset="-122"/>
                <a:cs typeface="楷体" panose="02010609060101010101" pitchFamily="1" charset="-122"/>
                <a:sym typeface="+mn-ea"/>
              </a:rPr>
              <a:t>S</a:t>
            </a:r>
            <a:r>
              <a:rPr lang="zh-CN" altLang="en-US" sz="2200">
                <a:solidFill>
                  <a:srgbClr val="0033CC"/>
                </a:solidFill>
                <a:latin typeface="楷体" panose="02010609060101010101" pitchFamily="1" charset="-122"/>
                <a:ea typeface="楷体" panose="02010609060101010101" pitchFamily="1" charset="-122"/>
                <a:cs typeface="楷体" panose="02010609060101010101" pitchFamily="1" charset="-122"/>
                <a:sym typeface="+mn-ea"/>
              </a:rPr>
              <a:t>锁，</a:t>
            </a:r>
            <a:r>
              <a:rPr lang="zh-CN" altLang="en-US" sz="2200">
                <a:solidFill>
                  <a:srgbClr val="C00000"/>
                </a:solidFill>
                <a:latin typeface="楷体" panose="02010609060101010101" pitchFamily="1" charset="-122"/>
                <a:ea typeface="楷体" panose="02010609060101010101" pitchFamily="1" charset="-122"/>
                <a:cs typeface="楷体" panose="02010609060101010101" pitchFamily="1" charset="-122"/>
                <a:sym typeface="+mn-ea"/>
              </a:rPr>
              <a:t>直到事务结束才释放。  </a:t>
            </a:r>
            <a:r>
              <a:rPr lang="zh-CN" altLang="en-US" sz="2200">
                <a:solidFill>
                  <a:srgbClr val="0033CC"/>
                </a:solidFill>
                <a:latin typeface="楷体" panose="02010609060101010101" pitchFamily="1" charset="-122"/>
                <a:ea typeface="楷体" panose="02010609060101010101" pitchFamily="1" charset="-122"/>
                <a:cs typeface="楷体" panose="02010609060101010101" pitchFamily="1" charset="-122"/>
                <a:sym typeface="+mn-ea"/>
              </a:rPr>
              <a:t>   </a:t>
            </a:r>
            <a:endParaRPr lang="zh-CN" altLang="en-US" sz="2200">
              <a:solidFill>
                <a:srgbClr val="0033CC"/>
              </a:solidFill>
              <a:latin typeface="楷体" panose="02010609060101010101" pitchFamily="1" charset="-122"/>
              <a:ea typeface="楷体" panose="02010609060101010101" pitchFamily="1" charset="-122"/>
              <a:cs typeface="楷体" panose="02010609060101010101" pitchFamily="1" charset="-122"/>
              <a:sym typeface="+mn-ea"/>
            </a:endParaRPr>
          </a:p>
          <a:p>
            <a:pPr>
              <a:lnSpc>
                <a:spcPct val="115000"/>
              </a:lnSpc>
              <a:spcBef>
                <a:spcPts val="0"/>
              </a:spcBef>
              <a:spcAft>
                <a:spcPts val="0"/>
              </a:spcAft>
              <a:buFont typeface="Wingdings" panose="05000000000000000000" charset="0"/>
              <a:buNone/>
            </a:pPr>
            <a:r>
              <a:rPr lang="zh-CN" altLang="en-US" sz="2200">
                <a:solidFill>
                  <a:srgbClr val="0033CC"/>
                </a:solidFill>
                <a:latin typeface="楷体" panose="02010609060101010101" pitchFamily="1" charset="-122"/>
                <a:ea typeface="楷体" panose="02010609060101010101" pitchFamily="1" charset="-122"/>
                <a:cs typeface="楷体" panose="02010609060101010101" pitchFamily="1" charset="-122"/>
                <a:sym typeface="+mn-ea"/>
              </a:rPr>
              <a:t>           </a:t>
            </a:r>
            <a:r>
              <a:rPr lang="en-US" altLang="zh-CN" sz="2200">
                <a:solidFill>
                  <a:srgbClr val="C00000"/>
                </a:solidFill>
                <a:latin typeface="楷体" panose="02010609060101010101" pitchFamily="1" charset="-122"/>
                <a:ea typeface="楷体" panose="02010609060101010101" pitchFamily="1" charset="-122"/>
                <a:cs typeface="楷体" panose="02010609060101010101" pitchFamily="1" charset="-122"/>
                <a:sym typeface="+mn-ea"/>
              </a:rPr>
              <a:t>--</a:t>
            </a:r>
            <a:r>
              <a:rPr lang="zh-CN" altLang="en-US" sz="2200">
                <a:solidFill>
                  <a:srgbClr val="C00000"/>
                </a:solidFill>
                <a:latin typeface="楷体" panose="02010609060101010101" pitchFamily="1" charset="-122"/>
                <a:ea typeface="楷体" panose="02010609060101010101" pitchFamily="1" charset="-122"/>
                <a:cs typeface="楷体" panose="02010609060101010101" pitchFamily="1" charset="-122"/>
                <a:sym typeface="+mn-ea"/>
              </a:rPr>
              <a:t>可防止丢失更新、读</a:t>
            </a:r>
            <a:r>
              <a:rPr lang="en-US" altLang="zh-CN" sz="2200">
                <a:solidFill>
                  <a:srgbClr val="C00000"/>
                </a:solidFill>
                <a:latin typeface="楷体" panose="02010609060101010101" pitchFamily="1" charset="-122"/>
                <a:ea typeface="楷体" panose="02010609060101010101" pitchFamily="1" charset="-122"/>
                <a:cs typeface="楷体" panose="02010609060101010101" pitchFamily="1" charset="-122"/>
                <a:sym typeface="+mn-ea"/>
              </a:rPr>
              <a:t>“</a:t>
            </a:r>
            <a:r>
              <a:rPr lang="zh-CN" altLang="en-US" sz="2200">
                <a:solidFill>
                  <a:srgbClr val="C00000"/>
                </a:solidFill>
                <a:latin typeface="楷体" panose="02010609060101010101" pitchFamily="1" charset="-122"/>
                <a:ea typeface="楷体" panose="02010609060101010101" pitchFamily="1" charset="-122"/>
                <a:cs typeface="楷体" panose="02010609060101010101" pitchFamily="1" charset="-122"/>
                <a:sym typeface="+mn-ea"/>
              </a:rPr>
              <a:t>脏数据</a:t>
            </a:r>
            <a:r>
              <a:rPr lang="en-US" altLang="zh-CN" sz="2200">
                <a:solidFill>
                  <a:srgbClr val="C00000"/>
                </a:solidFill>
                <a:latin typeface="楷体" panose="02010609060101010101" pitchFamily="1" charset="-122"/>
                <a:ea typeface="楷体" panose="02010609060101010101" pitchFamily="1" charset="-122"/>
                <a:cs typeface="楷体" panose="02010609060101010101" pitchFamily="1" charset="-122"/>
                <a:sym typeface="+mn-ea"/>
              </a:rPr>
              <a:t>”</a:t>
            </a:r>
            <a:r>
              <a:rPr lang="zh-CN" altLang="en-US" sz="2200">
                <a:solidFill>
                  <a:srgbClr val="C00000"/>
                </a:solidFill>
                <a:latin typeface="楷体" panose="02010609060101010101" pitchFamily="1" charset="-122"/>
                <a:ea typeface="楷体" panose="02010609060101010101" pitchFamily="1" charset="-122"/>
                <a:cs typeface="楷体" panose="02010609060101010101" pitchFamily="1" charset="-122"/>
                <a:sym typeface="+mn-ea"/>
              </a:rPr>
              <a:t>和读值不可复现</a:t>
            </a:r>
            <a:endParaRPr lang="zh-CN" altLang="en-US" sz="2200">
              <a:solidFill>
                <a:srgbClr val="C00000"/>
              </a:solidFill>
              <a:latin typeface="楷体" panose="02010609060101010101" pitchFamily="1" charset="-122"/>
              <a:ea typeface="楷体" panose="02010609060101010101" pitchFamily="1" charset="-122"/>
              <a:cs typeface="楷体" panose="02010609060101010101" pitchFamily="1" charset="-122"/>
              <a:sym typeface="+mn-ea"/>
            </a:endParaRPr>
          </a:p>
        </p:txBody>
      </p:sp>
      <p:sp>
        <p:nvSpPr>
          <p:cNvPr id="6" name="Rectangle 3"/>
          <p:cNvSpPr txBox="1"/>
          <p:nvPr/>
        </p:nvSpPr>
        <p:spPr>
          <a:xfrm>
            <a:off x="517525" y="861378"/>
            <a:ext cx="7178675" cy="706437"/>
          </a:xfrm>
          <a:prstGeom prst="rect">
            <a:avLst/>
          </a:prstGeom>
          <a:noFill/>
          <a:ln w="9525">
            <a:noFill/>
          </a:ln>
        </p:spPr>
        <p:txBody>
          <a:bodyPr anchor="t"/>
          <a:lstStyle/>
          <a:p>
            <a:pPr marL="457200" lvl="0" indent="-457200" eaLnBrk="0" hangingPunct="0">
              <a:buFont typeface="Wingdings" panose="05000000000000000000" pitchFamily="2" charset="2"/>
              <a:buChar char="p"/>
            </a:pPr>
            <a:r>
              <a:rPr lang="zh-CN" altLang="en-US" sz="2800" dirty="0" smtClean="0">
                <a:solidFill>
                  <a:srgbClr val="FF0000"/>
                </a:solidFill>
                <a:latin typeface="黑体" panose="02010609060101010101" pitchFamily="1" charset="-122"/>
                <a:ea typeface="黑体" panose="02010609060101010101" pitchFamily="1" charset="-122"/>
              </a:rPr>
              <a:t>加锁协议的级别</a:t>
            </a:r>
            <a:endParaRPr lang="en-US" altLang="x-none" sz="2800" dirty="0">
              <a:solidFill>
                <a:srgbClr val="FF0000"/>
              </a:solidFill>
              <a:latin typeface="黑体" panose="02010609060101010101" pitchFamily="1" charset="-122"/>
              <a:ea typeface="黑体" panose="02010609060101010101" pitchFamily="1" charset="-122"/>
            </a:endParaRPr>
          </a:p>
        </p:txBody>
      </p:sp>
      <p:sp>
        <p:nvSpPr>
          <p:cNvPr id="7" name="Rectangle 2"/>
          <p:cNvSpPr/>
          <p:nvPr/>
        </p:nvSpPr>
        <p:spPr>
          <a:xfrm>
            <a:off x="417513" y="42228"/>
            <a:ext cx="8229600" cy="692150"/>
          </a:xfrm>
          <a:prstGeom prst="rect">
            <a:avLst/>
          </a:prstGeom>
          <a:noFill/>
          <a:ln w="9525">
            <a:noFill/>
          </a:ln>
        </p:spPr>
        <p:txBody>
          <a:bodyPr anchor="ctr"/>
          <a:lstStyle/>
          <a:p>
            <a:pPr lvl="0" indent="0">
              <a:buFont typeface="Wingdings" panose="05000000000000000000" pitchFamily="2" charset="2"/>
              <a:buNone/>
            </a:pPr>
            <a:r>
              <a:rPr lang="zh-CN" altLang="en-US" sz="3200" dirty="0" smtClean="0">
                <a:solidFill>
                  <a:srgbClr val="0033CC"/>
                </a:solidFill>
                <a:latin typeface="Arial" panose="020B0604020202020204" pitchFamily="34" charset="0"/>
                <a:ea typeface="黑体" panose="02010609060101010101" pitchFamily="1" charset="-122"/>
              </a:rPr>
              <a:t>三、基于锁的并发控制协议</a:t>
            </a:r>
            <a:endParaRPr lang="zh-CN" altLang="en-US" sz="3200" dirty="0">
              <a:solidFill>
                <a:srgbClr val="0033CC"/>
              </a:solidFill>
              <a:latin typeface="Arial" panose="020B0604020202020204" pitchFamily="34" charset="0"/>
              <a:ea typeface="黑体" panose="02010609060101010101" pitchFamily="1"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500" fill="hold"/>
                                        <p:tgtEl>
                                          <p:spTgt spid="5"/>
                                        </p:tgtEl>
                                        <p:attrNameLst>
                                          <p:attrName>ppt_x</p:attrName>
                                        </p:attrNameLst>
                                      </p:cBhvr>
                                      <p:tavLst>
                                        <p:tav tm="0">
                                          <p:val>
                                            <p:strVal val="#ppt_x"/>
                                          </p:val>
                                        </p:tav>
                                        <p:tav tm="100000">
                                          <p:val>
                                            <p:strVal val="#ppt_x"/>
                                          </p:val>
                                        </p:tav>
                                      </p:tavLst>
                                    </p:anim>
                                    <p:anim calcmode="lin" valueType="num">
                                      <p:cBhvr additive="base">
                                        <p:cTn id="14"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ldLvl="0" animBg="1"/>
      <p:bldP spid="5"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5" name="Rectangle 4"/>
          <p:cNvSpPr txBox="1"/>
          <p:nvPr/>
        </p:nvSpPr>
        <p:spPr>
          <a:xfrm>
            <a:off x="615950" y="1452563"/>
            <a:ext cx="7912100" cy="4275137"/>
          </a:xfrm>
          <a:prstGeom prst="rect">
            <a:avLst/>
          </a:prstGeom>
          <a:noFill/>
          <a:ln w="9525">
            <a:noFill/>
          </a:ln>
        </p:spPr>
        <p:txBody>
          <a:bodyPr anchor="t"/>
          <a:lstStyle/>
          <a:p>
            <a:pPr marL="342900" lvl="0" indent="-342900" eaLnBrk="0" hangingPunct="0">
              <a:lnSpc>
                <a:spcPct val="125000"/>
              </a:lnSpc>
              <a:spcBef>
                <a:spcPts val="600"/>
              </a:spcBef>
              <a:spcAft>
                <a:spcPts val="0"/>
              </a:spcAft>
              <a:buClr>
                <a:srgbClr val="0033CC"/>
              </a:buClr>
              <a:buSzPct val="80000"/>
              <a:buFont typeface="Wingdings" panose="05000000000000000000" pitchFamily="2" charset="2"/>
              <a:buChar char="u"/>
            </a:pPr>
            <a:r>
              <a:rPr lang="zh-CN" altLang="en-US" sz="2400" u="sng" dirty="0">
                <a:solidFill>
                  <a:srgbClr val="A50021"/>
                </a:solidFill>
                <a:latin typeface="华文楷体" panose="02010600040101010101" pitchFamily="2" charset="-122"/>
                <a:ea typeface="宋体" panose="02010600030101010101" pitchFamily="2" charset="-122"/>
              </a:rPr>
              <a:t>（</a:t>
            </a:r>
            <a:r>
              <a:rPr lang="en-US" altLang="x-none" sz="2400" u="sng" dirty="0">
                <a:solidFill>
                  <a:srgbClr val="A50021"/>
                </a:solidFill>
                <a:latin typeface="华文楷体" panose="02010600040101010101" pitchFamily="2" charset="-122"/>
                <a:ea typeface="宋体" panose="02010600030101010101" pitchFamily="2" charset="-122"/>
              </a:rPr>
              <a:t>S</a:t>
            </a:r>
            <a:r>
              <a:rPr lang="zh-CN" altLang="en-US" sz="2400" u="sng" dirty="0">
                <a:solidFill>
                  <a:srgbClr val="A50021"/>
                </a:solidFill>
                <a:latin typeface="华文楷体" panose="02010600040101010101" pitchFamily="2" charset="-122"/>
                <a:ea typeface="宋体" panose="02010600030101010101" pitchFamily="2" charset="-122"/>
              </a:rPr>
              <a:t>，</a:t>
            </a:r>
            <a:r>
              <a:rPr lang="en-US" altLang="x-none" sz="2400" u="sng" dirty="0">
                <a:solidFill>
                  <a:srgbClr val="A50021"/>
                </a:solidFill>
                <a:latin typeface="华文楷体" panose="02010600040101010101" pitchFamily="2" charset="-122"/>
                <a:ea typeface="宋体" panose="02010600030101010101" pitchFamily="2" charset="-122"/>
              </a:rPr>
              <a:t>U</a:t>
            </a:r>
            <a:r>
              <a:rPr lang="zh-CN" altLang="en-US" sz="2400" u="sng" dirty="0">
                <a:solidFill>
                  <a:srgbClr val="A50021"/>
                </a:solidFill>
                <a:latin typeface="华文楷体" panose="02010600040101010101" pitchFamily="2" charset="-122"/>
                <a:ea typeface="宋体" panose="02010600030101010101" pitchFamily="2" charset="-122"/>
              </a:rPr>
              <a:t>，</a:t>
            </a:r>
            <a:r>
              <a:rPr lang="en-US" altLang="x-none" sz="2400" u="sng" dirty="0">
                <a:solidFill>
                  <a:srgbClr val="A50021"/>
                </a:solidFill>
                <a:latin typeface="华文楷体" panose="02010600040101010101" pitchFamily="2" charset="-122"/>
                <a:ea typeface="宋体" panose="02010600030101010101" pitchFamily="2" charset="-122"/>
              </a:rPr>
              <a:t>X</a:t>
            </a:r>
            <a:r>
              <a:rPr lang="zh-CN" altLang="en-US" sz="2400" u="sng" dirty="0">
                <a:solidFill>
                  <a:srgbClr val="A50021"/>
                </a:solidFill>
                <a:latin typeface="华文楷体" panose="02010600040101010101" pitchFamily="2" charset="-122"/>
                <a:ea typeface="宋体" panose="02010600030101010101" pitchFamily="2" charset="-122"/>
              </a:rPr>
              <a:t>）协议：</a:t>
            </a:r>
            <a:r>
              <a:rPr lang="zh-CN" altLang="en-US" sz="2200" dirty="0">
                <a:latin typeface="华文楷体" panose="02010600040101010101" pitchFamily="2" charset="-122"/>
                <a:ea typeface="宋体" panose="02010600030101010101" pitchFamily="2" charset="-122"/>
                <a:sym typeface="Wingdings" panose="05000000000000000000" pitchFamily="2" charset="2"/>
              </a:rPr>
              <a:t>该加锁协议中，除</a:t>
            </a:r>
            <a:r>
              <a:rPr lang="en-US" altLang="x-none" sz="2200" dirty="0">
                <a:latin typeface="华文楷体" panose="02010600040101010101" pitchFamily="2" charset="-122"/>
                <a:ea typeface="宋体" panose="02010600030101010101" pitchFamily="2" charset="-122"/>
                <a:sym typeface="Wingdings" panose="05000000000000000000" pitchFamily="2" charset="2"/>
              </a:rPr>
              <a:t>S</a:t>
            </a:r>
            <a:r>
              <a:rPr lang="zh-CN" altLang="en-US" sz="2200" dirty="0">
                <a:latin typeface="华文楷体" panose="02010600040101010101" pitchFamily="2" charset="-122"/>
                <a:ea typeface="宋体" panose="02010600030101010101" pitchFamily="2" charset="-122"/>
                <a:sym typeface="Wingdings" panose="05000000000000000000" pitchFamily="2" charset="2"/>
              </a:rPr>
              <a:t>，</a:t>
            </a:r>
            <a:r>
              <a:rPr lang="en-US" altLang="x-none" sz="2200" dirty="0">
                <a:latin typeface="华文楷体" panose="02010600040101010101" pitchFamily="2" charset="-122"/>
                <a:ea typeface="宋体" panose="02010600030101010101" pitchFamily="2" charset="-122"/>
                <a:sym typeface="Wingdings" panose="05000000000000000000" pitchFamily="2" charset="2"/>
              </a:rPr>
              <a:t>X</a:t>
            </a:r>
            <a:r>
              <a:rPr lang="zh-CN" altLang="en-US" sz="2200" dirty="0">
                <a:latin typeface="华文楷体" panose="02010600040101010101" pitchFamily="2" charset="-122"/>
                <a:ea typeface="宋体" panose="02010600030101010101" pitchFamily="2" charset="-122"/>
                <a:sym typeface="Wingdings" panose="05000000000000000000" pitchFamily="2" charset="2"/>
              </a:rPr>
              <a:t>两种锁外，又增加了</a:t>
            </a:r>
            <a:r>
              <a:rPr lang="en-US" altLang="x-none" sz="2200" dirty="0">
                <a:latin typeface="华文楷体" panose="02010600040101010101" pitchFamily="2" charset="-122"/>
                <a:ea typeface="宋体" panose="02010600030101010101" pitchFamily="2" charset="-122"/>
                <a:sym typeface="Wingdings" panose="05000000000000000000" pitchFamily="2" charset="2"/>
              </a:rPr>
              <a:t>U</a:t>
            </a:r>
            <a:r>
              <a:rPr lang="zh-CN" altLang="en-US" sz="2200" dirty="0">
                <a:latin typeface="华文楷体" panose="02010600040101010101" pitchFamily="2" charset="-122"/>
                <a:ea typeface="宋体" panose="02010600030101010101" pitchFamily="2" charset="-122"/>
                <a:sym typeface="Wingdings" panose="05000000000000000000" pitchFamily="2" charset="2"/>
              </a:rPr>
              <a:t>锁（</a:t>
            </a:r>
            <a:r>
              <a:rPr lang="en-US" altLang="x-none" sz="2200" dirty="0">
                <a:latin typeface="华文楷体" panose="02010600040101010101" pitchFamily="2" charset="-122"/>
                <a:ea typeface="宋体" panose="02010600030101010101" pitchFamily="2" charset="-122"/>
                <a:sym typeface="Wingdings" panose="05000000000000000000" pitchFamily="2" charset="2"/>
              </a:rPr>
              <a:t>Update lock</a:t>
            </a:r>
            <a:r>
              <a:rPr lang="zh-CN" altLang="en-US" sz="2200" dirty="0">
                <a:latin typeface="华文楷体" panose="02010600040101010101" pitchFamily="2" charset="-122"/>
                <a:ea typeface="宋体" panose="02010600030101010101" pitchFamily="2" charset="-122"/>
                <a:sym typeface="Wingdings" panose="05000000000000000000" pitchFamily="2" charset="2"/>
              </a:rPr>
              <a:t>）。</a:t>
            </a:r>
            <a:endParaRPr lang="zh-CN" altLang="en-US" sz="2200" dirty="0">
              <a:latin typeface="华文楷体" panose="02010600040101010101" pitchFamily="2" charset="-122"/>
              <a:ea typeface="宋体" panose="02010600030101010101" pitchFamily="2" charset="-122"/>
              <a:sym typeface="Wingdings" panose="05000000000000000000" pitchFamily="2" charset="2"/>
            </a:endParaRPr>
          </a:p>
          <a:p>
            <a:pPr marL="342900" lvl="0" indent="-342900" eaLnBrk="0" hangingPunct="0">
              <a:lnSpc>
                <a:spcPct val="125000"/>
              </a:lnSpc>
              <a:spcBef>
                <a:spcPts val="600"/>
              </a:spcBef>
              <a:spcAft>
                <a:spcPts val="0"/>
              </a:spcAft>
              <a:buClr>
                <a:srgbClr val="0033CC"/>
              </a:buClr>
              <a:buSzPct val="80000"/>
              <a:buFont typeface="Wingdings" panose="05000000000000000000" pitchFamily="2" charset="2"/>
              <a:buChar char="u"/>
            </a:pPr>
            <a:r>
              <a:rPr lang="zh-CN" altLang="en-US" sz="2400" u="sng" dirty="0">
                <a:solidFill>
                  <a:srgbClr val="A50021"/>
                </a:solidFill>
                <a:latin typeface="华文楷体" panose="02010600040101010101" pitchFamily="2" charset="-122"/>
                <a:ea typeface="宋体" panose="02010600030101010101" pitchFamily="2" charset="-122"/>
                <a:sym typeface="Wingdings" panose="05000000000000000000" pitchFamily="2" charset="2"/>
              </a:rPr>
              <a:t>增设</a:t>
            </a:r>
            <a:r>
              <a:rPr lang="en-US" altLang="x-none" sz="2400" u="sng" dirty="0">
                <a:solidFill>
                  <a:srgbClr val="A50021"/>
                </a:solidFill>
                <a:latin typeface="华文楷体" panose="02010600040101010101" pitchFamily="2" charset="-122"/>
                <a:ea typeface="宋体" panose="02010600030101010101" pitchFamily="2" charset="-122"/>
                <a:sym typeface="Wingdings" panose="05000000000000000000" pitchFamily="2" charset="2"/>
              </a:rPr>
              <a:t>U</a:t>
            </a:r>
            <a:r>
              <a:rPr lang="zh-CN" altLang="en-US" sz="2400" u="sng" dirty="0">
                <a:solidFill>
                  <a:srgbClr val="A50021"/>
                </a:solidFill>
                <a:latin typeface="华文楷体" panose="02010600040101010101" pitchFamily="2" charset="-122"/>
                <a:ea typeface="宋体" panose="02010600030101010101" pitchFamily="2" charset="-122"/>
                <a:sym typeface="Wingdings" panose="05000000000000000000" pitchFamily="2" charset="2"/>
              </a:rPr>
              <a:t>锁原因：</a:t>
            </a:r>
            <a:r>
              <a:rPr lang="zh-CN" altLang="en-US" sz="2200" dirty="0">
                <a:latin typeface="华文楷体" panose="02010600040101010101" pitchFamily="2" charset="-122"/>
                <a:ea typeface="宋体" panose="02010600030101010101" pitchFamily="2" charset="-122"/>
                <a:sym typeface="Wingdings" panose="05000000000000000000" pitchFamily="2" charset="2"/>
              </a:rPr>
              <a:t>事务在做更新时，一般分两个步骤：先读后写。即先读老内容，在内存中修改后；然后再写入修改后的内容。此过程中，除最后的写入阶段外，为保证需更新的数据对象仍可被其它事务访问，而新增此更新锁。</a:t>
            </a:r>
            <a:endParaRPr lang="zh-CN" altLang="en-US" sz="2200" dirty="0">
              <a:latin typeface="华文楷体" panose="02010600040101010101" pitchFamily="2" charset="-122"/>
              <a:ea typeface="宋体" panose="02010600030101010101" pitchFamily="2" charset="-122"/>
              <a:sym typeface="Wingdings" panose="05000000000000000000" pitchFamily="2" charset="2"/>
            </a:endParaRPr>
          </a:p>
          <a:p>
            <a:pPr marL="342900" lvl="0" indent="-342900" eaLnBrk="0" hangingPunct="0">
              <a:lnSpc>
                <a:spcPct val="125000"/>
              </a:lnSpc>
              <a:spcBef>
                <a:spcPts val="600"/>
              </a:spcBef>
              <a:spcAft>
                <a:spcPts val="0"/>
              </a:spcAft>
              <a:buClr>
                <a:srgbClr val="0033CC"/>
              </a:buClr>
              <a:buSzPct val="80000"/>
              <a:buFont typeface="Wingdings" panose="05000000000000000000" pitchFamily="2" charset="2"/>
              <a:buChar char="u"/>
            </a:pPr>
            <a:r>
              <a:rPr lang="en-US" altLang="x-none" sz="2400" u="sng" dirty="0">
                <a:solidFill>
                  <a:srgbClr val="A50021"/>
                </a:solidFill>
                <a:latin typeface="华文楷体" panose="02010600040101010101" pitchFamily="2" charset="-122"/>
                <a:ea typeface="宋体" panose="02010600030101010101" pitchFamily="2" charset="-122"/>
                <a:sym typeface="Wingdings" panose="05000000000000000000" pitchFamily="2" charset="2"/>
              </a:rPr>
              <a:t>U</a:t>
            </a:r>
            <a:r>
              <a:rPr lang="zh-CN" altLang="en-US" sz="2400" u="sng" dirty="0">
                <a:solidFill>
                  <a:srgbClr val="A50021"/>
                </a:solidFill>
                <a:latin typeface="华文楷体" panose="02010600040101010101" pitchFamily="2" charset="-122"/>
                <a:ea typeface="宋体" panose="02010600030101010101" pitchFamily="2" charset="-122"/>
                <a:sym typeface="Wingdings" panose="05000000000000000000" pitchFamily="2" charset="2"/>
              </a:rPr>
              <a:t>锁的使用及作用：</a:t>
            </a:r>
            <a:r>
              <a:rPr lang="zh-CN" altLang="en-US" sz="2200" dirty="0">
                <a:latin typeface="华文楷体" panose="02010600040101010101" pitchFamily="2" charset="-122"/>
                <a:ea typeface="宋体" panose="02010600030101010101" pitchFamily="2" charset="-122"/>
                <a:sym typeface="Wingdings" panose="05000000000000000000" pitchFamily="2" charset="2"/>
              </a:rPr>
              <a:t>事务要更新数据对象时，先申请该对象的</a:t>
            </a:r>
            <a:r>
              <a:rPr lang="en-US" altLang="x-none" sz="2200" dirty="0">
                <a:latin typeface="华文楷体" panose="02010600040101010101" pitchFamily="2" charset="-122"/>
                <a:ea typeface="宋体" panose="02010600030101010101" pitchFamily="2" charset="-122"/>
                <a:sym typeface="Wingdings" panose="05000000000000000000" pitchFamily="2" charset="2"/>
              </a:rPr>
              <a:t>U</a:t>
            </a:r>
            <a:r>
              <a:rPr lang="zh-CN" altLang="en-US" sz="2200" dirty="0">
                <a:latin typeface="华文楷体" panose="02010600040101010101" pitchFamily="2" charset="-122"/>
                <a:ea typeface="宋体" panose="02010600030101010101" pitchFamily="2" charset="-122"/>
                <a:sym typeface="Wingdings" panose="05000000000000000000" pitchFamily="2" charset="2"/>
              </a:rPr>
              <a:t>锁。数据对象加了</a:t>
            </a:r>
            <a:r>
              <a:rPr lang="en-US" altLang="x-none" sz="2200" dirty="0">
                <a:latin typeface="华文楷体" panose="02010600040101010101" pitchFamily="2" charset="-122"/>
                <a:ea typeface="宋体" panose="02010600030101010101" pitchFamily="2" charset="-122"/>
                <a:sym typeface="Wingdings" panose="05000000000000000000" pitchFamily="2" charset="2"/>
              </a:rPr>
              <a:t>U</a:t>
            </a:r>
            <a:r>
              <a:rPr lang="zh-CN" altLang="en-US" sz="2200" dirty="0">
                <a:latin typeface="华文楷体" panose="02010600040101010101" pitchFamily="2" charset="-122"/>
                <a:ea typeface="宋体" panose="02010600030101010101" pitchFamily="2" charset="-122"/>
                <a:sym typeface="Wingdings" panose="05000000000000000000" pitchFamily="2" charset="2"/>
              </a:rPr>
              <a:t>锁后，仍允许其他事务对它加</a:t>
            </a:r>
            <a:r>
              <a:rPr lang="en-US" altLang="x-none" sz="2200" dirty="0">
                <a:latin typeface="华文楷体" panose="02010600040101010101" pitchFamily="2" charset="-122"/>
                <a:ea typeface="宋体" panose="02010600030101010101" pitchFamily="2" charset="-122"/>
                <a:sym typeface="Wingdings" panose="05000000000000000000" pitchFamily="2" charset="2"/>
              </a:rPr>
              <a:t>S</a:t>
            </a:r>
            <a:r>
              <a:rPr lang="zh-CN" altLang="en-US" sz="2200" dirty="0">
                <a:latin typeface="华文楷体" panose="02010600040101010101" pitchFamily="2" charset="-122"/>
                <a:ea typeface="宋体" panose="02010600030101010101" pitchFamily="2" charset="-122"/>
                <a:sym typeface="Wingdings" panose="05000000000000000000" pitchFamily="2" charset="2"/>
              </a:rPr>
              <a:t>锁。在最后写入时，事务再申请将</a:t>
            </a:r>
            <a:r>
              <a:rPr lang="en-US" altLang="x-none" sz="2200" dirty="0">
                <a:latin typeface="华文楷体" panose="02010600040101010101" pitchFamily="2" charset="-122"/>
                <a:ea typeface="宋体" panose="02010600030101010101" pitchFamily="2" charset="-122"/>
                <a:sym typeface="Wingdings" panose="05000000000000000000" pitchFamily="2" charset="2"/>
              </a:rPr>
              <a:t>U</a:t>
            </a:r>
            <a:r>
              <a:rPr lang="zh-CN" altLang="en-US" sz="2200" dirty="0">
                <a:latin typeface="华文楷体" panose="02010600040101010101" pitchFamily="2" charset="-122"/>
                <a:ea typeface="宋体" panose="02010600030101010101" pitchFamily="2" charset="-122"/>
                <a:sym typeface="Wingdings" panose="05000000000000000000" pitchFamily="2" charset="2"/>
              </a:rPr>
              <a:t>锁升级为</a:t>
            </a:r>
            <a:r>
              <a:rPr lang="en-US" altLang="x-none" sz="2200" dirty="0">
                <a:latin typeface="华文楷体" panose="02010600040101010101" pitchFamily="2" charset="-122"/>
                <a:ea typeface="宋体" panose="02010600030101010101" pitchFamily="2" charset="-122"/>
                <a:sym typeface="Wingdings" panose="05000000000000000000" pitchFamily="2" charset="2"/>
              </a:rPr>
              <a:t>X</a:t>
            </a:r>
            <a:r>
              <a:rPr lang="zh-CN" altLang="en-US" sz="2200" dirty="0">
                <a:latin typeface="华文楷体" panose="02010600040101010101" pitchFamily="2" charset="-122"/>
                <a:ea typeface="宋体" panose="02010600030101010101" pitchFamily="2" charset="-122"/>
                <a:sym typeface="Wingdings" panose="05000000000000000000" pitchFamily="2" charset="2"/>
              </a:rPr>
              <a:t>锁。由于不必在事务执行的全过程中加</a:t>
            </a:r>
            <a:r>
              <a:rPr lang="en-US" altLang="x-none" sz="2200" dirty="0">
                <a:latin typeface="华文楷体" panose="02010600040101010101" pitchFamily="2" charset="-122"/>
                <a:ea typeface="宋体" panose="02010600030101010101" pitchFamily="2" charset="-122"/>
                <a:sym typeface="Wingdings" panose="05000000000000000000" pitchFamily="2" charset="2"/>
              </a:rPr>
              <a:t>X</a:t>
            </a:r>
            <a:r>
              <a:rPr lang="zh-CN" altLang="en-US" sz="2200" dirty="0">
                <a:latin typeface="华文楷体" panose="02010600040101010101" pitchFamily="2" charset="-122"/>
                <a:ea typeface="宋体" panose="02010600030101010101" pitchFamily="2" charset="-122"/>
                <a:sym typeface="Wingdings" panose="05000000000000000000" pitchFamily="2" charset="2"/>
              </a:rPr>
              <a:t>锁，可进一步提高并发度。</a:t>
            </a:r>
            <a:endParaRPr lang="zh-CN" altLang="en-US" sz="2200" dirty="0">
              <a:latin typeface="华文楷体" panose="02010600040101010101" pitchFamily="2" charset="-122"/>
              <a:ea typeface="宋体" panose="02010600030101010101" pitchFamily="2" charset="-122"/>
              <a:sym typeface="Wingdings" panose="05000000000000000000" pitchFamily="2" charset="2"/>
            </a:endParaRPr>
          </a:p>
        </p:txBody>
      </p:sp>
      <p:sp>
        <p:nvSpPr>
          <p:cNvPr id="108546" name="Rectangle 3"/>
          <p:cNvSpPr txBox="1"/>
          <p:nvPr/>
        </p:nvSpPr>
        <p:spPr>
          <a:xfrm>
            <a:off x="517525" y="850900"/>
            <a:ext cx="7178675" cy="706438"/>
          </a:xfrm>
          <a:prstGeom prst="rect">
            <a:avLst/>
          </a:prstGeom>
          <a:noFill/>
          <a:ln w="9525">
            <a:noFill/>
          </a:ln>
        </p:spPr>
        <p:txBody>
          <a:bodyPr anchor="t"/>
          <a:lstStyle/>
          <a:p>
            <a:pPr lvl="0" indent="0" eaLnBrk="0" hangingPunct="0"/>
            <a:r>
              <a:rPr lang="en-US" altLang="x-none" sz="2800" dirty="0">
                <a:solidFill>
                  <a:srgbClr val="FF0000"/>
                </a:solidFill>
                <a:latin typeface="黑体" panose="02010609060101010101" pitchFamily="1" charset="-122"/>
                <a:ea typeface="黑体" panose="02010609060101010101" pitchFamily="1" charset="-122"/>
              </a:rPr>
              <a:t>5</a:t>
            </a:r>
            <a:r>
              <a:rPr lang="zh-CN" altLang="en-US" sz="2800" dirty="0">
                <a:solidFill>
                  <a:srgbClr val="FF0000"/>
                </a:solidFill>
                <a:latin typeface="黑体" panose="02010609060101010101" pitchFamily="1" charset="-122"/>
                <a:ea typeface="黑体" panose="02010609060101010101" pitchFamily="1" charset="-122"/>
              </a:rPr>
              <a:t>、</a:t>
            </a:r>
            <a:r>
              <a:rPr lang="en-US" altLang="zh-CN" sz="2800" dirty="0">
                <a:solidFill>
                  <a:srgbClr val="FF0000"/>
                </a:solidFill>
                <a:latin typeface="黑体" panose="02010609060101010101" pitchFamily="1" charset="-122"/>
                <a:ea typeface="黑体" panose="02010609060101010101" pitchFamily="1" charset="-122"/>
              </a:rPr>
              <a:t>(S,U,X)</a:t>
            </a:r>
            <a:r>
              <a:rPr lang="zh-CN" altLang="en-US" sz="2800" dirty="0">
                <a:solidFill>
                  <a:srgbClr val="FF0000"/>
                </a:solidFill>
                <a:latin typeface="黑体" panose="02010609060101010101" pitchFamily="1" charset="-122"/>
                <a:ea typeface="黑体" panose="02010609060101010101" pitchFamily="1" charset="-122"/>
              </a:rPr>
              <a:t>锁协议</a:t>
            </a:r>
            <a:endParaRPr lang="zh-CN" altLang="en-US" sz="2800" dirty="0">
              <a:solidFill>
                <a:srgbClr val="FF0000"/>
              </a:solidFill>
              <a:latin typeface="黑体" panose="02010609060101010101" pitchFamily="1" charset="-122"/>
              <a:ea typeface="黑体" panose="02010609060101010101" pitchFamily="1" charset="-122"/>
            </a:endParaRPr>
          </a:p>
        </p:txBody>
      </p:sp>
      <p:sp>
        <p:nvSpPr>
          <p:cNvPr id="8" name="Rectangle 2"/>
          <p:cNvSpPr/>
          <p:nvPr/>
        </p:nvSpPr>
        <p:spPr>
          <a:xfrm>
            <a:off x="417513" y="55563"/>
            <a:ext cx="8229600" cy="692150"/>
          </a:xfrm>
          <a:prstGeom prst="rect">
            <a:avLst/>
          </a:prstGeom>
          <a:noFill/>
          <a:ln w="9525">
            <a:noFill/>
          </a:ln>
        </p:spPr>
        <p:txBody>
          <a:bodyPr anchor="ctr"/>
          <a:lstStyle/>
          <a:p>
            <a:pPr lvl="0" indent="0">
              <a:buFont typeface="Wingdings" panose="05000000000000000000" pitchFamily="2" charset="2"/>
              <a:buNone/>
            </a:pPr>
            <a:r>
              <a:rPr lang="zh-CN" altLang="en-US" sz="3200" dirty="0" smtClean="0">
                <a:solidFill>
                  <a:srgbClr val="0033CC"/>
                </a:solidFill>
                <a:latin typeface="Arial" panose="020B0604020202020204" pitchFamily="34" charset="0"/>
                <a:ea typeface="黑体" panose="02010609060101010101" pitchFamily="1" charset="-122"/>
              </a:rPr>
              <a:t>三、基于锁的并发控制协议</a:t>
            </a:r>
            <a:endParaRPr lang="zh-CN" altLang="en-US" sz="3200" dirty="0">
              <a:solidFill>
                <a:srgbClr val="0033CC"/>
              </a:solidFill>
              <a:latin typeface="Arial" panose="020B0604020202020204" pitchFamily="34" charset="0"/>
              <a:ea typeface="黑体" panose="02010609060101010101" pitchFamily="1"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20835">
                                            <p:txEl>
                                              <p:pRg st="0" end="0"/>
                                            </p:txEl>
                                          </p:spTgt>
                                        </p:tgtEl>
                                        <p:attrNameLst>
                                          <p:attrName>style.visibility</p:attrName>
                                        </p:attrNameLst>
                                      </p:cBhvr>
                                      <p:to>
                                        <p:strVal val="visible"/>
                                      </p:to>
                                    </p:set>
                                    <p:animEffect transition="in" filter="dissolve">
                                      <p:cBhvr>
                                        <p:cTn id="7" dur="500"/>
                                        <p:tgtEl>
                                          <p:spTgt spid="12083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20835">
                                            <p:txEl>
                                              <p:pRg st="1" end="1"/>
                                            </p:txEl>
                                          </p:spTgt>
                                        </p:tgtEl>
                                        <p:attrNameLst>
                                          <p:attrName>style.visibility</p:attrName>
                                        </p:attrNameLst>
                                      </p:cBhvr>
                                      <p:to>
                                        <p:strVal val="visible"/>
                                      </p:to>
                                    </p:set>
                                    <p:animEffect transition="in" filter="dissolve">
                                      <p:cBhvr>
                                        <p:cTn id="12" dur="500"/>
                                        <p:tgtEl>
                                          <p:spTgt spid="12083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120835">
                                            <p:txEl>
                                              <p:pRg st="2" end="2"/>
                                            </p:txEl>
                                          </p:spTgt>
                                        </p:tgtEl>
                                        <p:attrNameLst>
                                          <p:attrName>style.visibility</p:attrName>
                                        </p:attrNameLst>
                                      </p:cBhvr>
                                      <p:to>
                                        <p:strVal val="visible"/>
                                      </p:to>
                                    </p:set>
                                    <p:animEffect transition="in" filter="dissolve">
                                      <p:cBhvr>
                                        <p:cTn id="17" dur="500"/>
                                        <p:tgtEl>
                                          <p:spTgt spid="12083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0835" grpId="0" build="p"/>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3" name="Text Box 3"/>
          <p:cNvSpPr txBox="1"/>
          <p:nvPr/>
        </p:nvSpPr>
        <p:spPr>
          <a:xfrm>
            <a:off x="887413" y="1509713"/>
            <a:ext cx="7345362" cy="585787"/>
          </a:xfrm>
          <a:prstGeom prst="rect">
            <a:avLst/>
          </a:prstGeom>
          <a:noFill/>
          <a:ln w="9525">
            <a:noFill/>
          </a:ln>
        </p:spPr>
        <p:txBody>
          <a:bodyPr anchor="t">
            <a:spAutoFit/>
          </a:bodyPr>
          <a:lstStyle/>
          <a:p>
            <a:pPr lvl="0" indent="0" algn="ctr">
              <a:spcBef>
                <a:spcPct val="50000"/>
              </a:spcBef>
            </a:pPr>
            <a:r>
              <a:rPr lang="zh-CN" altLang="en-US" sz="3200" dirty="0">
                <a:solidFill>
                  <a:srgbClr val="A50021"/>
                </a:solidFill>
                <a:latin typeface="宋体" panose="02010600030101010101" pitchFamily="2" charset="-122"/>
                <a:ea typeface="宋体" panose="02010600030101010101" pitchFamily="2" charset="-122"/>
                <a:sym typeface="Wingdings" panose="05000000000000000000" pitchFamily="2" charset="2"/>
              </a:rPr>
              <a:t>（</a:t>
            </a:r>
            <a:r>
              <a:rPr lang="en-US" altLang="x-none" sz="3200" dirty="0">
                <a:solidFill>
                  <a:srgbClr val="A50021"/>
                </a:solidFill>
                <a:latin typeface="宋体" panose="02010600030101010101" pitchFamily="2" charset="-122"/>
                <a:ea typeface="宋体" panose="02010600030101010101" pitchFamily="2" charset="-122"/>
                <a:sym typeface="Wingdings" panose="05000000000000000000" pitchFamily="2" charset="2"/>
              </a:rPr>
              <a:t>S</a:t>
            </a:r>
            <a:r>
              <a:rPr lang="zh-CN" altLang="en-US" sz="3200" dirty="0">
                <a:solidFill>
                  <a:srgbClr val="A50021"/>
                </a:solidFill>
                <a:latin typeface="宋体" panose="02010600030101010101" pitchFamily="2" charset="-122"/>
                <a:ea typeface="宋体" panose="02010600030101010101" pitchFamily="2" charset="-122"/>
                <a:sym typeface="Wingdings" panose="05000000000000000000" pitchFamily="2" charset="2"/>
              </a:rPr>
              <a:t>，</a:t>
            </a:r>
            <a:r>
              <a:rPr lang="en-US" altLang="x-none" sz="3200" dirty="0">
                <a:solidFill>
                  <a:srgbClr val="A50021"/>
                </a:solidFill>
                <a:latin typeface="宋体" panose="02010600030101010101" pitchFamily="2" charset="-122"/>
                <a:ea typeface="宋体" panose="02010600030101010101" pitchFamily="2" charset="-122"/>
                <a:sym typeface="Wingdings" panose="05000000000000000000" pitchFamily="2" charset="2"/>
              </a:rPr>
              <a:t>U</a:t>
            </a:r>
            <a:r>
              <a:rPr lang="zh-CN" altLang="en-US" sz="3200" dirty="0">
                <a:solidFill>
                  <a:srgbClr val="A50021"/>
                </a:solidFill>
                <a:latin typeface="宋体" panose="02010600030101010101" pitchFamily="2" charset="-122"/>
                <a:ea typeface="宋体" panose="02010600030101010101" pitchFamily="2" charset="-122"/>
                <a:sym typeface="Wingdings" panose="05000000000000000000" pitchFamily="2" charset="2"/>
              </a:rPr>
              <a:t>，</a:t>
            </a:r>
            <a:r>
              <a:rPr lang="en-US" altLang="x-none" sz="3200" dirty="0">
                <a:solidFill>
                  <a:srgbClr val="A50021"/>
                </a:solidFill>
                <a:latin typeface="宋体" panose="02010600030101010101" pitchFamily="2" charset="-122"/>
                <a:ea typeface="宋体" panose="02010600030101010101" pitchFamily="2" charset="-122"/>
                <a:sym typeface="Wingdings" panose="05000000000000000000" pitchFamily="2" charset="2"/>
              </a:rPr>
              <a:t>X</a:t>
            </a:r>
            <a:r>
              <a:rPr lang="zh-CN" altLang="en-US" sz="3200" dirty="0">
                <a:solidFill>
                  <a:srgbClr val="A50021"/>
                </a:solidFill>
                <a:latin typeface="宋体" panose="02010600030101010101" pitchFamily="2" charset="-122"/>
                <a:ea typeface="宋体" panose="02010600030101010101" pitchFamily="2" charset="-122"/>
                <a:sym typeface="Wingdings" panose="05000000000000000000" pitchFamily="2" charset="2"/>
              </a:rPr>
              <a:t>）协议的相容矩阵</a:t>
            </a:r>
            <a:endParaRPr lang="zh-CN" altLang="en-US" sz="3200" dirty="0">
              <a:solidFill>
                <a:srgbClr val="A50021"/>
              </a:solidFill>
              <a:latin typeface="宋体" panose="02010600030101010101" pitchFamily="2" charset="-122"/>
              <a:ea typeface="宋体" panose="02010600030101010101" pitchFamily="2" charset="-122"/>
              <a:sym typeface="Wingdings" panose="05000000000000000000" pitchFamily="2" charset="2"/>
            </a:endParaRPr>
          </a:p>
        </p:txBody>
      </p:sp>
      <p:graphicFrame>
        <p:nvGraphicFramePr>
          <p:cNvPr id="121861" name="Object 2"/>
          <p:cNvGraphicFramePr>
            <a:graphicFrameLocks noGrp="1" noChangeAspect="1"/>
          </p:cNvGraphicFramePr>
          <p:nvPr/>
        </p:nvGraphicFramePr>
        <p:xfrm>
          <a:off x="384175" y="2232025"/>
          <a:ext cx="8208963" cy="3816350"/>
        </p:xfrm>
        <a:graphic>
          <a:graphicData uri="http://schemas.openxmlformats.org/presentationml/2006/ole">
            <mc:AlternateContent xmlns:mc="http://schemas.openxmlformats.org/markup-compatibility/2006">
              <mc:Choice xmlns:v="urn:schemas-microsoft-com:vml" Requires="v">
                <p:oleObj spid="_x0000_s10254" name="" r:id="rId1" imgW="2503170" imgH="1485265" progId="Word.Picture.8">
                  <p:embed/>
                </p:oleObj>
              </mc:Choice>
              <mc:Fallback>
                <p:oleObj name="" r:id="rId1" imgW="2503170" imgH="1485265" progId="Word.Picture.8">
                  <p:embed/>
                  <p:pic>
                    <p:nvPicPr>
                      <p:cNvPr id="0" name="图片 3101"/>
                      <p:cNvPicPr/>
                      <p:nvPr/>
                    </p:nvPicPr>
                    <p:blipFill>
                      <a:blip r:embed="rId2"/>
                      <a:stretch>
                        <a:fillRect/>
                      </a:stretch>
                    </p:blipFill>
                    <p:spPr>
                      <a:xfrm>
                        <a:off x="384175" y="2232025"/>
                        <a:ext cx="8208963" cy="3816350"/>
                      </a:xfrm>
                      <a:prstGeom prst="rect">
                        <a:avLst/>
                      </a:prstGeom>
                      <a:noFill/>
                      <a:ln w="38100">
                        <a:noFill/>
                        <a:miter/>
                      </a:ln>
                    </p:spPr>
                  </p:pic>
                </p:oleObj>
              </mc:Fallback>
            </mc:AlternateContent>
          </a:graphicData>
        </a:graphic>
      </p:graphicFrame>
      <p:sp>
        <p:nvSpPr>
          <p:cNvPr id="108546" name="Rectangle 3"/>
          <p:cNvSpPr txBox="1"/>
          <p:nvPr/>
        </p:nvSpPr>
        <p:spPr>
          <a:xfrm>
            <a:off x="517525" y="850900"/>
            <a:ext cx="7178675" cy="706438"/>
          </a:xfrm>
          <a:prstGeom prst="rect">
            <a:avLst/>
          </a:prstGeom>
          <a:noFill/>
          <a:ln w="9525">
            <a:noFill/>
          </a:ln>
        </p:spPr>
        <p:txBody>
          <a:bodyPr anchor="t"/>
          <a:lstStyle/>
          <a:p>
            <a:pPr lvl="0" indent="0" eaLnBrk="0" hangingPunct="0"/>
            <a:r>
              <a:rPr lang="en-US" altLang="x-none" sz="2800" dirty="0">
                <a:solidFill>
                  <a:srgbClr val="FF0000"/>
                </a:solidFill>
                <a:latin typeface="黑体" panose="02010609060101010101" pitchFamily="1" charset="-122"/>
                <a:ea typeface="黑体" panose="02010609060101010101" pitchFamily="1" charset="-122"/>
              </a:rPr>
              <a:t>5</a:t>
            </a:r>
            <a:r>
              <a:rPr lang="zh-CN" altLang="en-US" sz="2800" dirty="0">
                <a:solidFill>
                  <a:srgbClr val="FF0000"/>
                </a:solidFill>
                <a:latin typeface="黑体" panose="02010609060101010101" pitchFamily="1" charset="-122"/>
                <a:ea typeface="黑体" panose="02010609060101010101" pitchFamily="1" charset="-122"/>
              </a:rPr>
              <a:t>、</a:t>
            </a:r>
            <a:r>
              <a:rPr lang="en-US" altLang="zh-CN" sz="2800" dirty="0">
                <a:solidFill>
                  <a:srgbClr val="FF0000"/>
                </a:solidFill>
                <a:latin typeface="黑体" panose="02010609060101010101" pitchFamily="1" charset="-122"/>
                <a:ea typeface="黑体" panose="02010609060101010101" pitchFamily="1" charset="-122"/>
              </a:rPr>
              <a:t>(S,U,X)</a:t>
            </a:r>
            <a:r>
              <a:rPr lang="zh-CN" altLang="en-US" sz="2800" dirty="0">
                <a:solidFill>
                  <a:srgbClr val="FF0000"/>
                </a:solidFill>
                <a:latin typeface="黑体" panose="02010609060101010101" pitchFamily="1" charset="-122"/>
                <a:ea typeface="黑体" panose="02010609060101010101" pitchFamily="1" charset="-122"/>
              </a:rPr>
              <a:t>锁协议</a:t>
            </a:r>
            <a:endParaRPr lang="zh-CN" altLang="en-US" sz="2800" dirty="0">
              <a:solidFill>
                <a:srgbClr val="FF0000"/>
              </a:solidFill>
              <a:latin typeface="黑体" panose="02010609060101010101" pitchFamily="1" charset="-122"/>
              <a:ea typeface="黑体" panose="02010609060101010101" pitchFamily="1" charset="-122"/>
            </a:endParaRPr>
          </a:p>
        </p:txBody>
      </p:sp>
      <p:sp>
        <p:nvSpPr>
          <p:cNvPr id="8" name="Rectangle 2"/>
          <p:cNvSpPr/>
          <p:nvPr/>
        </p:nvSpPr>
        <p:spPr>
          <a:xfrm>
            <a:off x="417513" y="55563"/>
            <a:ext cx="8229600" cy="692150"/>
          </a:xfrm>
          <a:prstGeom prst="rect">
            <a:avLst/>
          </a:prstGeom>
          <a:noFill/>
          <a:ln w="9525">
            <a:noFill/>
          </a:ln>
        </p:spPr>
        <p:txBody>
          <a:bodyPr anchor="ctr"/>
          <a:lstStyle/>
          <a:p>
            <a:pPr lvl="0" indent="0">
              <a:buFont typeface="Wingdings" panose="05000000000000000000" pitchFamily="2" charset="2"/>
              <a:buNone/>
            </a:pPr>
            <a:r>
              <a:rPr lang="zh-CN" altLang="en-US" sz="3200" dirty="0" smtClean="0">
                <a:solidFill>
                  <a:srgbClr val="0033CC"/>
                </a:solidFill>
                <a:latin typeface="Arial" panose="020B0604020202020204" pitchFamily="34" charset="0"/>
                <a:ea typeface="黑体" panose="02010609060101010101" pitchFamily="1" charset="-122"/>
              </a:rPr>
              <a:t>三、基于锁的并发控制协议</a:t>
            </a:r>
            <a:endParaRPr lang="zh-CN" altLang="en-US" sz="3200" dirty="0">
              <a:solidFill>
                <a:srgbClr val="0033CC"/>
              </a:solidFill>
              <a:latin typeface="Arial" panose="020B0604020202020204" pitchFamily="34" charset="0"/>
              <a:ea typeface="黑体" panose="02010609060101010101" pitchFamily="1"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499"/>
                                          </p:stCondLst>
                                        </p:cTn>
                                        <p:tgtEl>
                                          <p:spTgt spid="12186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7" name="Rectangle 2"/>
          <p:cNvSpPr txBox="1"/>
          <p:nvPr/>
        </p:nvSpPr>
        <p:spPr>
          <a:xfrm>
            <a:off x="487363" y="1371600"/>
            <a:ext cx="6049962" cy="706438"/>
          </a:xfrm>
          <a:prstGeom prst="rect">
            <a:avLst/>
          </a:prstGeom>
          <a:noFill/>
          <a:ln w="9525">
            <a:noFill/>
          </a:ln>
        </p:spPr>
        <p:txBody>
          <a:bodyPr anchor="t"/>
          <a:lstStyle/>
          <a:p>
            <a:pPr lvl="0" indent="0" eaLnBrk="0" hangingPunct="0">
              <a:buFont typeface="Wingdings" panose="05000000000000000000" pitchFamily="2" charset="2"/>
              <a:buChar char="p"/>
            </a:pPr>
            <a:r>
              <a:rPr lang="zh-CN" altLang="en-US" sz="2800" dirty="0">
                <a:solidFill>
                  <a:srgbClr val="3333CC"/>
                </a:solidFill>
                <a:latin typeface="宋体" panose="02010600030101010101" pitchFamily="2" charset="-122"/>
                <a:ea typeface="黑体" panose="02010609060101010101" pitchFamily="1" charset="-122"/>
                <a:sym typeface="Wingdings" panose="05000000000000000000" pitchFamily="2" charset="2"/>
              </a:rPr>
              <a:t>（</a:t>
            </a:r>
            <a:r>
              <a:rPr lang="en-US" altLang="x-none" sz="2800" dirty="0">
                <a:solidFill>
                  <a:srgbClr val="3333CC"/>
                </a:solidFill>
                <a:latin typeface="宋体" panose="02010600030101010101" pitchFamily="2" charset="-122"/>
                <a:ea typeface="黑体" panose="02010609060101010101" pitchFamily="1" charset="-122"/>
                <a:sym typeface="Wingdings" panose="05000000000000000000" pitchFamily="2" charset="2"/>
              </a:rPr>
              <a:t>S</a:t>
            </a:r>
            <a:r>
              <a:rPr lang="zh-CN" altLang="en-US" sz="2800" dirty="0">
                <a:solidFill>
                  <a:srgbClr val="3333CC"/>
                </a:solidFill>
                <a:latin typeface="宋体" panose="02010600030101010101" pitchFamily="2" charset="-122"/>
                <a:ea typeface="黑体" panose="02010609060101010101" pitchFamily="1" charset="-122"/>
                <a:sym typeface="Wingdings" panose="05000000000000000000" pitchFamily="2" charset="2"/>
              </a:rPr>
              <a:t>，</a:t>
            </a:r>
            <a:r>
              <a:rPr lang="en-US" altLang="x-none" sz="2800" dirty="0">
                <a:solidFill>
                  <a:srgbClr val="3333CC"/>
                </a:solidFill>
                <a:latin typeface="宋体" panose="02010600030101010101" pitchFamily="2" charset="-122"/>
                <a:ea typeface="黑体" panose="02010609060101010101" pitchFamily="1" charset="-122"/>
                <a:sym typeface="Wingdings" panose="05000000000000000000" pitchFamily="2" charset="2"/>
              </a:rPr>
              <a:t>U</a:t>
            </a:r>
            <a:r>
              <a:rPr lang="zh-CN" altLang="en-US" sz="2800" dirty="0">
                <a:solidFill>
                  <a:srgbClr val="3333CC"/>
                </a:solidFill>
                <a:latin typeface="宋体" panose="02010600030101010101" pitchFamily="2" charset="-122"/>
                <a:ea typeface="黑体" panose="02010609060101010101" pitchFamily="1" charset="-122"/>
                <a:sym typeface="Wingdings" panose="05000000000000000000" pitchFamily="2" charset="2"/>
              </a:rPr>
              <a:t>，</a:t>
            </a:r>
            <a:r>
              <a:rPr lang="en-US" altLang="x-none" sz="2800" dirty="0">
                <a:solidFill>
                  <a:srgbClr val="3333CC"/>
                </a:solidFill>
                <a:latin typeface="宋体" panose="02010600030101010101" pitchFamily="2" charset="-122"/>
                <a:ea typeface="黑体" panose="02010609060101010101" pitchFamily="1" charset="-122"/>
                <a:sym typeface="Wingdings" panose="05000000000000000000" pitchFamily="2" charset="2"/>
              </a:rPr>
              <a:t>X</a:t>
            </a:r>
            <a:r>
              <a:rPr lang="zh-CN" altLang="en-US" sz="2800" dirty="0">
                <a:solidFill>
                  <a:srgbClr val="3333CC"/>
                </a:solidFill>
                <a:latin typeface="宋体" panose="02010600030101010101" pitchFamily="2" charset="-122"/>
                <a:ea typeface="黑体" panose="02010609060101010101" pitchFamily="1" charset="-122"/>
                <a:sym typeface="Wingdings" panose="05000000000000000000" pitchFamily="2" charset="2"/>
              </a:rPr>
              <a:t>）协议遵守补丁</a:t>
            </a:r>
            <a:r>
              <a:rPr lang="en-US" altLang="x-none" sz="2800" dirty="0">
                <a:solidFill>
                  <a:srgbClr val="3333CC"/>
                </a:solidFill>
                <a:latin typeface="宋体" panose="02010600030101010101" pitchFamily="2" charset="-122"/>
                <a:ea typeface="黑体" panose="02010609060101010101" pitchFamily="1" charset="-122"/>
                <a:sym typeface="Wingdings" panose="05000000000000000000" pitchFamily="2" charset="2"/>
              </a:rPr>
              <a:t>1</a:t>
            </a:r>
            <a:r>
              <a:rPr lang="zh-CN" altLang="en-US" sz="2800" dirty="0">
                <a:solidFill>
                  <a:srgbClr val="3333CC"/>
                </a:solidFill>
                <a:latin typeface="宋体" panose="02010600030101010101" pitchFamily="2" charset="-122"/>
                <a:ea typeface="黑体" panose="02010609060101010101" pitchFamily="1" charset="-122"/>
                <a:sym typeface="Wingdings" panose="05000000000000000000" pitchFamily="2" charset="2"/>
              </a:rPr>
              <a:t>，</a:t>
            </a:r>
            <a:r>
              <a:rPr lang="en-US" altLang="x-none" sz="2800" dirty="0">
                <a:solidFill>
                  <a:srgbClr val="3333CC"/>
                </a:solidFill>
                <a:latin typeface="宋体" panose="02010600030101010101" pitchFamily="2" charset="-122"/>
                <a:ea typeface="黑体" panose="02010609060101010101" pitchFamily="1" charset="-122"/>
                <a:sym typeface="Wingdings" panose="05000000000000000000" pitchFamily="2" charset="2"/>
              </a:rPr>
              <a:t>2</a:t>
            </a:r>
            <a:endParaRPr lang="en-US" altLang="x-none" sz="2800" dirty="0">
              <a:solidFill>
                <a:srgbClr val="3333CC"/>
              </a:solidFill>
              <a:latin typeface="宋体" panose="02010600030101010101" pitchFamily="2" charset="-122"/>
              <a:ea typeface="黑体" panose="02010609060101010101" pitchFamily="1" charset="-122"/>
              <a:sym typeface="Wingdings" panose="05000000000000000000" pitchFamily="2" charset="2"/>
            </a:endParaRPr>
          </a:p>
        </p:txBody>
      </p:sp>
      <p:sp>
        <p:nvSpPr>
          <p:cNvPr id="118788" name="Rectangle 3"/>
          <p:cNvSpPr txBox="1"/>
          <p:nvPr/>
        </p:nvSpPr>
        <p:spPr>
          <a:xfrm>
            <a:off x="615950" y="1906588"/>
            <a:ext cx="8137525" cy="4067175"/>
          </a:xfrm>
          <a:prstGeom prst="rect">
            <a:avLst/>
          </a:prstGeom>
          <a:noFill/>
          <a:ln w="9525">
            <a:noFill/>
          </a:ln>
        </p:spPr>
        <p:txBody>
          <a:bodyPr anchor="t"/>
          <a:lstStyle/>
          <a:p>
            <a:pPr marL="342900" lvl="0" indent="-342900" eaLnBrk="0" hangingPunct="0">
              <a:lnSpc>
                <a:spcPct val="120000"/>
              </a:lnSpc>
              <a:spcBef>
                <a:spcPct val="20000"/>
              </a:spcBef>
              <a:buClr>
                <a:srgbClr val="0033CC"/>
              </a:buClr>
              <a:buSzPct val="80000"/>
            </a:pPr>
            <a:r>
              <a:rPr lang="en-US" altLang="x-none" sz="2400" dirty="0">
                <a:latin typeface="Arial" panose="020B0604020202020204" pitchFamily="34" charset="0"/>
                <a:ea typeface="宋体" panose="02010600030101010101" pitchFamily="2" charset="-122"/>
                <a:sym typeface="Wingdings" panose="05000000000000000000" pitchFamily="2" charset="2"/>
              </a:rPr>
              <a:t>① </a:t>
            </a:r>
            <a:r>
              <a:rPr lang="zh-CN" altLang="en-US" sz="2400" dirty="0">
                <a:latin typeface="华文楷体" panose="02010600040101010101" pitchFamily="2" charset="-122"/>
                <a:ea typeface="宋体" panose="02010600030101010101" pitchFamily="2" charset="-122"/>
                <a:sym typeface="Wingdings" panose="05000000000000000000" pitchFamily="2" charset="2"/>
              </a:rPr>
              <a:t>为保证可串行化和避免级联回退等现象，除</a:t>
            </a:r>
            <a:r>
              <a:rPr lang="en-US" altLang="x-none" sz="2400" dirty="0">
                <a:latin typeface="华文楷体" panose="02010600040101010101" pitchFamily="2" charset="-122"/>
                <a:ea typeface="宋体" panose="02010600030101010101" pitchFamily="2" charset="-122"/>
                <a:sym typeface="Wingdings" panose="05000000000000000000" pitchFamily="2" charset="2"/>
              </a:rPr>
              <a:t>U</a:t>
            </a:r>
            <a:r>
              <a:rPr lang="zh-CN" altLang="en-US" sz="2400" dirty="0">
                <a:latin typeface="华文楷体" panose="02010600040101010101" pitchFamily="2" charset="-122"/>
                <a:ea typeface="宋体" panose="02010600030101010101" pitchFamily="2" charset="-122"/>
                <a:sym typeface="Wingdings" panose="05000000000000000000" pitchFamily="2" charset="2"/>
              </a:rPr>
              <a:t>锁后来升级为</a:t>
            </a:r>
            <a:r>
              <a:rPr lang="en-US" altLang="x-none" sz="2400" dirty="0">
                <a:latin typeface="华文楷体" panose="02010600040101010101" pitchFamily="2" charset="-122"/>
                <a:ea typeface="宋体" panose="02010600030101010101" pitchFamily="2" charset="-122"/>
                <a:sym typeface="Wingdings" panose="05000000000000000000" pitchFamily="2" charset="2"/>
              </a:rPr>
              <a:t>X</a:t>
            </a:r>
            <a:r>
              <a:rPr lang="zh-CN" altLang="en-US" sz="2400" dirty="0">
                <a:latin typeface="华文楷体" panose="02010600040101010101" pitchFamily="2" charset="-122"/>
                <a:ea typeface="宋体" panose="02010600030101010101" pitchFamily="2" charset="-122"/>
                <a:sym typeface="Wingdings" panose="05000000000000000000" pitchFamily="2" charset="2"/>
              </a:rPr>
              <a:t>锁外，</a:t>
            </a:r>
            <a:r>
              <a:rPr lang="en-US" altLang="x-none" sz="2400" dirty="0">
                <a:latin typeface="华文楷体" panose="02010600040101010101" pitchFamily="2" charset="-122"/>
                <a:ea typeface="宋体" panose="02010600030101010101" pitchFamily="2" charset="-122"/>
                <a:sym typeface="Wingdings" panose="05000000000000000000" pitchFamily="2" charset="2"/>
              </a:rPr>
              <a:t>S</a:t>
            </a:r>
            <a:r>
              <a:rPr lang="zh-CN" altLang="en-US" sz="2400" dirty="0">
                <a:latin typeface="华文楷体" panose="02010600040101010101" pitchFamily="2" charset="-122"/>
                <a:ea typeface="宋体" panose="02010600030101010101" pitchFamily="2" charset="-122"/>
                <a:sym typeface="Wingdings" panose="05000000000000000000" pitchFamily="2" charset="2"/>
              </a:rPr>
              <a:t>、</a:t>
            </a:r>
            <a:r>
              <a:rPr lang="en-US" altLang="x-none" sz="2400" dirty="0">
                <a:latin typeface="华文楷体" panose="02010600040101010101" pitchFamily="2" charset="-122"/>
                <a:ea typeface="宋体" panose="02010600030101010101" pitchFamily="2" charset="-122"/>
                <a:sym typeface="Wingdings" panose="05000000000000000000" pitchFamily="2" charset="2"/>
              </a:rPr>
              <a:t>X</a:t>
            </a:r>
            <a:r>
              <a:rPr lang="zh-CN" altLang="en-US" sz="2400" dirty="0">
                <a:latin typeface="华文楷体" panose="02010600040101010101" pitchFamily="2" charset="-122"/>
                <a:ea typeface="宋体" panose="02010600030101010101" pitchFamily="2" charset="-122"/>
                <a:sym typeface="Wingdings" panose="05000000000000000000" pitchFamily="2" charset="2"/>
              </a:rPr>
              <a:t>锁一般应保持到</a:t>
            </a:r>
            <a:r>
              <a:rPr lang="en-US" altLang="x-none" sz="2400" dirty="0">
                <a:latin typeface="华文楷体" panose="02010600040101010101" pitchFamily="2" charset="-122"/>
                <a:ea typeface="宋体" panose="02010600030101010101" pitchFamily="2" charset="-122"/>
                <a:sym typeface="Wingdings" panose="05000000000000000000" pitchFamily="2" charset="2"/>
              </a:rPr>
              <a:t>EOT</a:t>
            </a:r>
            <a:r>
              <a:rPr lang="zh-CN" altLang="en-US" sz="2400" dirty="0">
                <a:latin typeface="华文楷体" panose="02010600040101010101" pitchFamily="2" charset="-122"/>
                <a:ea typeface="宋体" panose="02010600030101010101" pitchFamily="2" charset="-122"/>
                <a:sym typeface="Wingdings" panose="05000000000000000000" pitchFamily="2" charset="2"/>
              </a:rPr>
              <a:t>才释放。</a:t>
            </a:r>
            <a:endParaRPr lang="en-US" altLang="x-none" sz="2400" dirty="0">
              <a:latin typeface="华文楷体" panose="02010600040101010101" pitchFamily="2" charset="-122"/>
              <a:ea typeface="宋体" panose="02010600030101010101" pitchFamily="2" charset="-122"/>
              <a:sym typeface="Wingdings" panose="05000000000000000000" pitchFamily="2" charset="2"/>
            </a:endParaRPr>
          </a:p>
          <a:p>
            <a:pPr marL="342900" lvl="0" indent="-342900" eaLnBrk="0" hangingPunct="0">
              <a:lnSpc>
                <a:spcPct val="120000"/>
              </a:lnSpc>
              <a:spcBef>
                <a:spcPct val="20000"/>
              </a:spcBef>
              <a:buClr>
                <a:srgbClr val="0033CC"/>
              </a:buClr>
              <a:buSzPct val="80000"/>
            </a:pPr>
            <a:r>
              <a:rPr lang="en-US" altLang="x-none" sz="2400" dirty="0">
                <a:latin typeface="华文楷体" panose="02010600040101010101" pitchFamily="2" charset="-122"/>
                <a:ea typeface="宋体" panose="02010600030101010101" pitchFamily="2" charset="-122"/>
                <a:sym typeface="Wingdings" panose="05000000000000000000" pitchFamily="2" charset="2"/>
              </a:rPr>
              <a:t>   --</a:t>
            </a:r>
            <a:r>
              <a:rPr lang="zh-CN" altLang="en-US" sz="2400" dirty="0">
                <a:latin typeface="华文楷体" panose="02010600040101010101" pitchFamily="2" charset="-122"/>
                <a:ea typeface="宋体" panose="02010600030101010101" pitchFamily="2" charset="-122"/>
                <a:sym typeface="Wingdings" panose="05000000000000000000" pitchFamily="2" charset="2"/>
              </a:rPr>
              <a:t>在（</a:t>
            </a:r>
            <a:r>
              <a:rPr lang="en-US" altLang="x-none" sz="2400" dirty="0">
                <a:latin typeface="华文楷体" panose="02010600040101010101" pitchFamily="2" charset="-122"/>
                <a:ea typeface="宋体" panose="02010600030101010101" pitchFamily="2" charset="-122"/>
                <a:sym typeface="Wingdings" panose="05000000000000000000" pitchFamily="2" charset="2"/>
              </a:rPr>
              <a:t>S, U, X</a:t>
            </a:r>
            <a:r>
              <a:rPr lang="zh-CN" altLang="en-US" sz="2400" dirty="0">
                <a:latin typeface="华文楷体" panose="02010600040101010101" pitchFamily="2" charset="-122"/>
                <a:ea typeface="宋体" panose="02010600030101010101" pitchFamily="2" charset="-122"/>
                <a:sym typeface="Wingdings" panose="05000000000000000000" pitchFamily="2" charset="2"/>
              </a:rPr>
              <a:t>）加锁协议中，为防止级联回退，</a:t>
            </a:r>
            <a:r>
              <a:rPr lang="en-US" altLang="x-none" sz="2400" dirty="0">
                <a:latin typeface="华文楷体" panose="02010600040101010101" pitchFamily="2" charset="-122"/>
                <a:ea typeface="宋体" panose="02010600030101010101" pitchFamily="2" charset="-122"/>
                <a:sym typeface="Wingdings" panose="05000000000000000000" pitchFamily="2" charset="2"/>
              </a:rPr>
              <a:t>S</a:t>
            </a:r>
            <a:r>
              <a:rPr lang="zh-CN" altLang="en-US" sz="2400" dirty="0">
                <a:latin typeface="华文楷体" panose="02010600040101010101" pitchFamily="2" charset="-122"/>
                <a:ea typeface="宋体" panose="02010600030101010101" pitchFamily="2" charset="-122"/>
                <a:sym typeface="Wingdings" panose="05000000000000000000" pitchFamily="2" charset="2"/>
              </a:rPr>
              <a:t>、</a:t>
            </a:r>
            <a:r>
              <a:rPr lang="en-US" altLang="x-none" sz="2400" dirty="0">
                <a:latin typeface="华文楷体" panose="02010600040101010101" pitchFamily="2" charset="-122"/>
                <a:ea typeface="宋体" panose="02010600030101010101" pitchFamily="2" charset="-122"/>
                <a:sym typeface="Wingdings" panose="05000000000000000000" pitchFamily="2" charset="2"/>
              </a:rPr>
              <a:t>U</a:t>
            </a:r>
            <a:r>
              <a:rPr lang="zh-CN" altLang="en-US" sz="2400" dirty="0">
                <a:latin typeface="华文楷体" panose="02010600040101010101" pitchFamily="2" charset="-122"/>
                <a:ea typeface="宋体" panose="02010600030101010101" pitchFamily="2" charset="-122"/>
                <a:sym typeface="Wingdings" panose="05000000000000000000" pitchFamily="2" charset="2"/>
              </a:rPr>
              <a:t>和</a:t>
            </a:r>
            <a:r>
              <a:rPr lang="en-US" altLang="x-none" sz="2400" dirty="0">
                <a:latin typeface="华文楷体" panose="02010600040101010101" pitchFamily="2" charset="-122"/>
                <a:ea typeface="宋体" panose="02010600030101010101" pitchFamily="2" charset="-122"/>
                <a:sym typeface="Wingdings" panose="05000000000000000000" pitchFamily="2" charset="2"/>
              </a:rPr>
              <a:t>X</a:t>
            </a:r>
            <a:r>
              <a:rPr lang="zh-CN" altLang="en-US" sz="2400" dirty="0">
                <a:latin typeface="华文楷体" panose="02010600040101010101" pitchFamily="2" charset="-122"/>
                <a:ea typeface="宋体" panose="02010600030101010101" pitchFamily="2" charset="-122"/>
                <a:sym typeface="Wingdings" panose="05000000000000000000" pitchFamily="2" charset="2"/>
              </a:rPr>
              <a:t>这三种锁是否都应保持到事务结束时才释放？为什么？</a:t>
            </a:r>
            <a:endParaRPr lang="zh-CN" altLang="en-US" sz="2400" dirty="0">
              <a:latin typeface="华文楷体" panose="02010600040101010101" pitchFamily="2" charset="-122"/>
              <a:ea typeface="宋体" panose="02010600030101010101" pitchFamily="2" charset="-122"/>
              <a:sym typeface="Wingdings" panose="05000000000000000000" pitchFamily="2" charset="2"/>
            </a:endParaRPr>
          </a:p>
          <a:p>
            <a:pPr marL="342900" lvl="0" indent="-342900" eaLnBrk="0" hangingPunct="0">
              <a:lnSpc>
                <a:spcPct val="120000"/>
              </a:lnSpc>
              <a:spcBef>
                <a:spcPct val="20000"/>
              </a:spcBef>
              <a:buClr>
                <a:srgbClr val="0033CC"/>
              </a:buClr>
              <a:buSzPct val="80000"/>
            </a:pPr>
            <a:r>
              <a:rPr lang="en-US" altLang="x-none" sz="2400" dirty="0">
                <a:solidFill>
                  <a:srgbClr val="A50021"/>
                </a:solidFill>
                <a:latin typeface="华文楷体" panose="02010600040101010101" pitchFamily="2" charset="-122"/>
                <a:ea typeface="宋体" panose="02010600030101010101" pitchFamily="2" charset="-122"/>
                <a:sym typeface="Wingdings" panose="05000000000000000000" pitchFamily="2" charset="2"/>
              </a:rPr>
              <a:t>    --S</a:t>
            </a:r>
            <a:r>
              <a:rPr lang="zh-CN" altLang="en-US" sz="2400" dirty="0">
                <a:solidFill>
                  <a:srgbClr val="A50021"/>
                </a:solidFill>
                <a:latin typeface="华文楷体" panose="02010600040101010101" pitchFamily="2" charset="-122"/>
                <a:ea typeface="宋体" panose="02010600030101010101" pitchFamily="2" charset="-122"/>
                <a:sym typeface="Wingdings" panose="05000000000000000000" pitchFamily="2" charset="2"/>
              </a:rPr>
              <a:t>和</a:t>
            </a:r>
            <a:r>
              <a:rPr lang="en-US" altLang="x-none" sz="2400" dirty="0">
                <a:solidFill>
                  <a:srgbClr val="A50021"/>
                </a:solidFill>
                <a:latin typeface="华文楷体" panose="02010600040101010101" pitchFamily="2" charset="-122"/>
                <a:ea typeface="宋体" panose="02010600030101010101" pitchFamily="2" charset="-122"/>
                <a:sym typeface="Wingdings" panose="05000000000000000000" pitchFamily="2" charset="2"/>
              </a:rPr>
              <a:t>X</a:t>
            </a:r>
            <a:r>
              <a:rPr lang="zh-CN" altLang="en-US" sz="2400" dirty="0">
                <a:solidFill>
                  <a:srgbClr val="A50021"/>
                </a:solidFill>
                <a:latin typeface="华文楷体" panose="02010600040101010101" pitchFamily="2" charset="-122"/>
                <a:ea typeface="宋体" panose="02010600030101010101" pitchFamily="2" charset="-122"/>
                <a:sym typeface="Wingdings" panose="05000000000000000000" pitchFamily="2" charset="2"/>
              </a:rPr>
              <a:t>锁应保持到事务结束时才释放，但</a:t>
            </a:r>
            <a:r>
              <a:rPr lang="en-US" altLang="x-none" sz="2400" dirty="0">
                <a:solidFill>
                  <a:srgbClr val="A50021"/>
                </a:solidFill>
                <a:latin typeface="华文楷体" panose="02010600040101010101" pitchFamily="2" charset="-122"/>
                <a:ea typeface="宋体" panose="02010600030101010101" pitchFamily="2" charset="-122"/>
                <a:sym typeface="Wingdings" panose="05000000000000000000" pitchFamily="2" charset="2"/>
              </a:rPr>
              <a:t>U</a:t>
            </a:r>
            <a:r>
              <a:rPr lang="zh-CN" altLang="en-US" sz="2400" dirty="0">
                <a:solidFill>
                  <a:srgbClr val="A50021"/>
                </a:solidFill>
                <a:latin typeface="华文楷体" panose="02010600040101010101" pitchFamily="2" charset="-122"/>
                <a:ea typeface="宋体" panose="02010600030101010101" pitchFamily="2" charset="-122"/>
                <a:sym typeface="Wingdings" panose="05000000000000000000" pitchFamily="2" charset="2"/>
              </a:rPr>
              <a:t>锁则不必。因为</a:t>
            </a:r>
            <a:r>
              <a:rPr lang="en-US" altLang="x-none" sz="2400" dirty="0">
                <a:solidFill>
                  <a:srgbClr val="A50021"/>
                </a:solidFill>
                <a:latin typeface="华文楷体" panose="02010600040101010101" pitchFamily="2" charset="-122"/>
                <a:ea typeface="宋体" panose="02010600030101010101" pitchFamily="2" charset="-122"/>
                <a:sym typeface="Wingdings" panose="05000000000000000000" pitchFamily="2" charset="2"/>
              </a:rPr>
              <a:t>U</a:t>
            </a:r>
            <a:r>
              <a:rPr lang="zh-CN" altLang="en-US" sz="2400" dirty="0">
                <a:solidFill>
                  <a:srgbClr val="A50021"/>
                </a:solidFill>
                <a:latin typeface="华文楷体" panose="02010600040101010101" pitchFamily="2" charset="-122"/>
                <a:ea typeface="宋体" panose="02010600030101010101" pitchFamily="2" charset="-122"/>
                <a:sym typeface="Wingdings" panose="05000000000000000000" pitchFamily="2" charset="2"/>
              </a:rPr>
              <a:t>锁需要在事务内升级为</a:t>
            </a:r>
            <a:r>
              <a:rPr lang="en-US" altLang="x-none" sz="2400" dirty="0">
                <a:solidFill>
                  <a:srgbClr val="A50021"/>
                </a:solidFill>
                <a:latin typeface="华文楷体" panose="02010600040101010101" pitchFamily="2" charset="-122"/>
                <a:ea typeface="宋体" panose="02010600030101010101" pitchFamily="2" charset="-122"/>
                <a:sym typeface="Wingdings" panose="05000000000000000000" pitchFamily="2" charset="2"/>
              </a:rPr>
              <a:t>X</a:t>
            </a:r>
            <a:r>
              <a:rPr lang="zh-CN" altLang="en-US" sz="2400" dirty="0">
                <a:solidFill>
                  <a:srgbClr val="A50021"/>
                </a:solidFill>
                <a:latin typeface="华文楷体" panose="02010600040101010101" pitchFamily="2" charset="-122"/>
                <a:ea typeface="宋体" panose="02010600030101010101" pitchFamily="2" charset="-122"/>
                <a:sym typeface="Wingdings" panose="05000000000000000000" pitchFamily="2" charset="2"/>
              </a:rPr>
              <a:t>锁。</a:t>
            </a:r>
            <a:endParaRPr lang="zh-CN" altLang="en-US" sz="2400" dirty="0">
              <a:solidFill>
                <a:srgbClr val="A50021"/>
              </a:solidFill>
              <a:latin typeface="华文楷体" panose="02010600040101010101" pitchFamily="2" charset="-122"/>
              <a:ea typeface="宋体" panose="02010600030101010101" pitchFamily="2" charset="-122"/>
              <a:sym typeface="Wingdings" panose="05000000000000000000" pitchFamily="2" charset="2"/>
            </a:endParaRPr>
          </a:p>
          <a:p>
            <a:pPr marL="342900" lvl="0" indent="-342900" eaLnBrk="0" hangingPunct="0">
              <a:lnSpc>
                <a:spcPct val="120000"/>
              </a:lnSpc>
              <a:spcBef>
                <a:spcPct val="20000"/>
              </a:spcBef>
              <a:buClr>
                <a:srgbClr val="0033CC"/>
              </a:buClr>
              <a:buSzPct val="80000"/>
            </a:pPr>
            <a:r>
              <a:rPr lang="zh-CN" altLang="en-US" sz="2400" dirty="0">
                <a:latin typeface="华文楷体" panose="02010600040101010101" pitchFamily="2" charset="-122"/>
                <a:ea typeface="宋体" panose="02010600030101010101" pitchFamily="2" charset="-122"/>
                <a:sym typeface="Wingdings" panose="05000000000000000000" pitchFamily="2" charset="2"/>
              </a:rPr>
              <a:t>② 数据对象加了</a:t>
            </a:r>
            <a:r>
              <a:rPr lang="en-US" altLang="x-none" sz="2400" dirty="0">
                <a:latin typeface="华文楷体" panose="02010600040101010101" pitchFamily="2" charset="-122"/>
                <a:ea typeface="宋体" panose="02010600030101010101" pitchFamily="2" charset="-122"/>
                <a:sym typeface="Wingdings" panose="05000000000000000000" pitchFamily="2" charset="2"/>
              </a:rPr>
              <a:t>U</a:t>
            </a:r>
            <a:r>
              <a:rPr lang="zh-CN" altLang="en-US" sz="2400" dirty="0">
                <a:latin typeface="华文楷体" panose="02010600040101010101" pitchFamily="2" charset="-122"/>
                <a:ea typeface="宋体" panose="02010600030101010101" pitchFamily="2" charset="-122"/>
                <a:sym typeface="Wingdings" panose="05000000000000000000" pitchFamily="2" charset="2"/>
              </a:rPr>
              <a:t>锁后，其他事务可能连续不断地对它加</a:t>
            </a:r>
            <a:r>
              <a:rPr lang="en-US" altLang="x-none" sz="2400" dirty="0">
                <a:latin typeface="华文楷体" panose="02010600040101010101" pitchFamily="2" charset="-122"/>
                <a:ea typeface="宋体" panose="02010600030101010101" pitchFamily="2" charset="-122"/>
                <a:sym typeface="Wingdings" panose="05000000000000000000" pitchFamily="2" charset="2"/>
              </a:rPr>
              <a:t>S</a:t>
            </a:r>
            <a:r>
              <a:rPr lang="zh-CN" altLang="en-US" sz="2400" dirty="0">
                <a:latin typeface="华文楷体" panose="02010600040101010101" pitchFamily="2" charset="-122"/>
                <a:ea typeface="宋体" panose="02010600030101010101" pitchFamily="2" charset="-122"/>
                <a:sym typeface="Wingdings" panose="05000000000000000000" pitchFamily="2" charset="2"/>
              </a:rPr>
              <a:t>锁，使</a:t>
            </a:r>
            <a:r>
              <a:rPr lang="en-US" altLang="x-none" sz="2400" dirty="0">
                <a:latin typeface="华文楷体" panose="02010600040101010101" pitchFamily="2" charset="-122"/>
                <a:ea typeface="宋体" panose="02010600030101010101" pitchFamily="2" charset="-122"/>
                <a:sym typeface="Wingdings" panose="05000000000000000000" pitchFamily="2" charset="2"/>
              </a:rPr>
              <a:t>U</a:t>
            </a:r>
            <a:r>
              <a:rPr lang="zh-CN" altLang="en-US" sz="2400" dirty="0">
                <a:latin typeface="华文楷体" panose="02010600040101010101" pitchFamily="2" charset="-122"/>
                <a:ea typeface="宋体" panose="02010600030101010101" pitchFamily="2" charset="-122"/>
                <a:sym typeface="Wingdings" panose="05000000000000000000" pitchFamily="2" charset="2"/>
              </a:rPr>
              <a:t>锁迟迟不能升级为</a:t>
            </a:r>
            <a:r>
              <a:rPr lang="en-US" altLang="x-none" sz="2400" dirty="0">
                <a:latin typeface="华文楷体" panose="02010600040101010101" pitchFamily="2" charset="-122"/>
                <a:ea typeface="宋体" panose="02010600030101010101" pitchFamily="2" charset="-122"/>
                <a:sym typeface="Wingdings" panose="05000000000000000000" pitchFamily="2" charset="2"/>
              </a:rPr>
              <a:t>X</a:t>
            </a:r>
            <a:r>
              <a:rPr lang="zh-CN" altLang="en-US" sz="2400" dirty="0">
                <a:latin typeface="华文楷体" panose="02010600040101010101" pitchFamily="2" charset="-122"/>
                <a:ea typeface="宋体" panose="02010600030101010101" pitchFamily="2" charset="-122"/>
                <a:sym typeface="Wingdings" panose="05000000000000000000" pitchFamily="2" charset="2"/>
              </a:rPr>
              <a:t>锁。为避免这种活锁，同样也要求遵守“先申请先服务”原则。</a:t>
            </a:r>
            <a:endParaRPr lang="zh-CN" altLang="en-US" sz="2400" dirty="0">
              <a:latin typeface="华文楷体" panose="02010600040101010101" pitchFamily="2" charset="-122"/>
              <a:ea typeface="宋体" panose="02010600030101010101" pitchFamily="2" charset="-122"/>
              <a:sym typeface="Wingdings" panose="05000000000000000000" pitchFamily="2" charset="2"/>
            </a:endParaRPr>
          </a:p>
        </p:txBody>
      </p:sp>
      <p:sp>
        <p:nvSpPr>
          <p:cNvPr id="108546" name="Rectangle 3"/>
          <p:cNvSpPr txBox="1"/>
          <p:nvPr/>
        </p:nvSpPr>
        <p:spPr>
          <a:xfrm>
            <a:off x="517525" y="850900"/>
            <a:ext cx="7178675" cy="706438"/>
          </a:xfrm>
          <a:prstGeom prst="rect">
            <a:avLst/>
          </a:prstGeom>
          <a:noFill/>
          <a:ln w="9525">
            <a:noFill/>
          </a:ln>
        </p:spPr>
        <p:txBody>
          <a:bodyPr anchor="t"/>
          <a:lstStyle/>
          <a:p>
            <a:pPr lvl="0" indent="0" eaLnBrk="0" hangingPunct="0"/>
            <a:r>
              <a:rPr lang="en-US" altLang="x-none" sz="2800" dirty="0">
                <a:solidFill>
                  <a:srgbClr val="FF0000"/>
                </a:solidFill>
                <a:latin typeface="黑体" panose="02010609060101010101" pitchFamily="1" charset="-122"/>
                <a:ea typeface="黑体" panose="02010609060101010101" pitchFamily="1" charset="-122"/>
              </a:rPr>
              <a:t>5</a:t>
            </a:r>
            <a:r>
              <a:rPr lang="zh-CN" altLang="en-US" sz="2800" dirty="0">
                <a:solidFill>
                  <a:srgbClr val="FF0000"/>
                </a:solidFill>
                <a:latin typeface="黑体" panose="02010609060101010101" pitchFamily="1" charset="-122"/>
                <a:ea typeface="黑体" panose="02010609060101010101" pitchFamily="1" charset="-122"/>
              </a:rPr>
              <a:t>、</a:t>
            </a:r>
            <a:r>
              <a:rPr lang="en-US" altLang="zh-CN" sz="2800" dirty="0">
                <a:solidFill>
                  <a:srgbClr val="FF0000"/>
                </a:solidFill>
                <a:latin typeface="黑体" panose="02010609060101010101" pitchFamily="1" charset="-122"/>
                <a:ea typeface="黑体" panose="02010609060101010101" pitchFamily="1" charset="-122"/>
              </a:rPr>
              <a:t>(S,U,X)</a:t>
            </a:r>
            <a:r>
              <a:rPr lang="zh-CN" altLang="en-US" sz="2800" dirty="0">
                <a:solidFill>
                  <a:srgbClr val="FF0000"/>
                </a:solidFill>
                <a:latin typeface="黑体" panose="02010609060101010101" pitchFamily="1" charset="-122"/>
                <a:ea typeface="黑体" panose="02010609060101010101" pitchFamily="1" charset="-122"/>
              </a:rPr>
              <a:t>锁协议</a:t>
            </a:r>
            <a:endParaRPr lang="zh-CN" altLang="en-US" sz="2800" dirty="0">
              <a:solidFill>
                <a:srgbClr val="FF0000"/>
              </a:solidFill>
              <a:latin typeface="黑体" panose="02010609060101010101" pitchFamily="1" charset="-122"/>
              <a:ea typeface="黑体" panose="02010609060101010101" pitchFamily="1" charset="-122"/>
            </a:endParaRPr>
          </a:p>
        </p:txBody>
      </p:sp>
      <p:sp>
        <p:nvSpPr>
          <p:cNvPr id="8" name="Rectangle 2"/>
          <p:cNvSpPr/>
          <p:nvPr/>
        </p:nvSpPr>
        <p:spPr>
          <a:xfrm>
            <a:off x="417513" y="55563"/>
            <a:ext cx="8229600" cy="692150"/>
          </a:xfrm>
          <a:prstGeom prst="rect">
            <a:avLst/>
          </a:prstGeom>
          <a:noFill/>
          <a:ln w="9525">
            <a:noFill/>
          </a:ln>
        </p:spPr>
        <p:txBody>
          <a:bodyPr anchor="ctr"/>
          <a:lstStyle/>
          <a:p>
            <a:pPr lvl="0" indent="0">
              <a:buFont typeface="Wingdings" panose="05000000000000000000" pitchFamily="2" charset="2"/>
              <a:buNone/>
            </a:pPr>
            <a:r>
              <a:rPr lang="zh-CN" altLang="en-US" sz="3200" dirty="0" smtClean="0">
                <a:solidFill>
                  <a:srgbClr val="0033CC"/>
                </a:solidFill>
                <a:latin typeface="Arial" panose="020B0604020202020204" pitchFamily="34" charset="0"/>
                <a:ea typeface="黑体" panose="02010609060101010101" pitchFamily="1" charset="-122"/>
              </a:rPr>
              <a:t>三、基于锁的并发控制协议</a:t>
            </a:r>
            <a:endParaRPr lang="zh-CN" altLang="en-US" sz="3200" dirty="0">
              <a:solidFill>
                <a:srgbClr val="0033CC"/>
              </a:solidFill>
              <a:latin typeface="Arial" panose="020B0604020202020204" pitchFamily="34" charset="0"/>
              <a:ea typeface="黑体" panose="02010609060101010101" pitchFamily="1" charset="-122"/>
            </a:endParaRPr>
          </a:p>
        </p:txBody>
      </p:sp>
    </p:spTree>
  </p:cSld>
  <p:clrMapOvr>
    <a:masterClrMapping/>
  </p:clrMapOvr>
  <p:transition/>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文本框 44"/>
          <p:cNvSpPr txBox="1"/>
          <p:nvPr/>
        </p:nvSpPr>
        <p:spPr>
          <a:xfrm>
            <a:off x="421668" y="-8690"/>
            <a:ext cx="2681605" cy="829945"/>
          </a:xfrm>
          <a:prstGeom prst="rect">
            <a:avLst/>
          </a:prstGeom>
          <a:noFill/>
        </p:spPr>
        <p:txBody>
          <a:bodyPr wrap="none" rtlCol="0" anchor="t">
            <a:spAutoFit/>
          </a:bodyPr>
          <a:lstStyle/>
          <a:p>
            <a:pPr marL="457200" indent="-457200" algn="just">
              <a:lnSpc>
                <a:spcPct val="150000"/>
              </a:lnSpc>
              <a:spcAft>
                <a:spcPts val="0"/>
              </a:spcAft>
              <a:buFont typeface="Wingdings" panose="05000000000000000000" pitchFamily="2" charset="2"/>
              <a:buChar char="p"/>
            </a:pPr>
            <a:r>
              <a:rPr lang="zh-CN" altLang="zh-CN" sz="3200" kern="100" dirty="0" smtClean="0">
                <a:solidFill>
                  <a:srgbClr val="FF0000"/>
                </a:solidFill>
                <a:latin typeface="Calibri" panose="020F0502020204030204" pitchFamily="34" charset="0"/>
                <a:cs typeface="Times New Roman" panose="02020603050405020304" pitchFamily="2" charset="0"/>
                <a:sym typeface="+mn-ea"/>
              </a:rPr>
              <a:t>问题研讨：</a:t>
            </a:r>
            <a:endParaRPr lang="zh-CN" altLang="en-US" sz="3200" dirty="0"/>
          </a:p>
        </p:txBody>
      </p:sp>
      <p:sp>
        <p:nvSpPr>
          <p:cNvPr id="7" name="文本框 6"/>
          <p:cNvSpPr txBox="1"/>
          <p:nvPr/>
        </p:nvSpPr>
        <p:spPr>
          <a:xfrm>
            <a:off x="551180" y="983139"/>
            <a:ext cx="8294370" cy="1106805"/>
          </a:xfrm>
          <a:prstGeom prst="rect">
            <a:avLst/>
          </a:prstGeom>
          <a:noFill/>
        </p:spPr>
        <p:txBody>
          <a:bodyPr wrap="square" rtlCol="0" anchor="t">
            <a:spAutoFit/>
          </a:bodyPr>
          <a:lstStyle/>
          <a:p>
            <a:pPr>
              <a:lnSpc>
                <a:spcPct val="100000"/>
              </a:lnSpc>
              <a:buNone/>
            </a:pPr>
            <a:r>
              <a:rPr lang="en-US" altLang="zh-CN" sz="2200"/>
              <a:t>1</a:t>
            </a:r>
            <a:r>
              <a:rPr lang="zh-CN" altLang="en-US" sz="2200"/>
              <a:t>、为解决</a:t>
            </a:r>
            <a:r>
              <a:rPr lang="en-US" altLang="zh-CN" sz="2200"/>
              <a:t>“</a:t>
            </a:r>
            <a:r>
              <a:rPr lang="zh-CN" altLang="en-US" sz="2200"/>
              <a:t>丢失更新</a:t>
            </a:r>
            <a:r>
              <a:rPr lang="en-US" altLang="zh-CN" sz="2200"/>
              <a:t>”</a:t>
            </a:r>
            <a:r>
              <a:rPr lang="zh-CN" altLang="en-US" sz="2200"/>
              <a:t>问题，事务在更新一个数据集合前，必须获得对它的（      ）</a:t>
            </a:r>
            <a:endParaRPr lang="zh-CN" altLang="en-US" sz="2200"/>
          </a:p>
          <a:p>
            <a:pPr>
              <a:lnSpc>
                <a:spcPct val="100000"/>
              </a:lnSpc>
              <a:buNone/>
            </a:pPr>
            <a:r>
              <a:rPr lang="en-US" altLang="zh-CN" sz="2200"/>
              <a:t>   A</a:t>
            </a:r>
            <a:r>
              <a:rPr lang="zh-CN" altLang="en-US" sz="2200"/>
              <a:t>、</a:t>
            </a:r>
            <a:r>
              <a:rPr lang="en-US" altLang="zh-CN" sz="2200"/>
              <a:t>S</a:t>
            </a:r>
            <a:r>
              <a:rPr lang="zh-CN" altLang="en-US" sz="2200"/>
              <a:t>锁        </a:t>
            </a:r>
            <a:r>
              <a:rPr lang="en-US" altLang="zh-CN" sz="2200"/>
              <a:t>B</a:t>
            </a:r>
            <a:r>
              <a:rPr lang="zh-CN" altLang="en-US" sz="2200"/>
              <a:t>、</a:t>
            </a:r>
            <a:r>
              <a:rPr lang="en-US" altLang="zh-CN" sz="2200"/>
              <a:t>X</a:t>
            </a:r>
            <a:r>
              <a:rPr lang="zh-CN" altLang="en-US" sz="2200"/>
              <a:t>锁         </a:t>
            </a:r>
            <a:r>
              <a:rPr lang="en-US" altLang="zh-CN" sz="2200"/>
              <a:t>C</a:t>
            </a:r>
            <a:r>
              <a:rPr lang="zh-CN" altLang="en-US" sz="2200"/>
              <a:t>、</a:t>
            </a:r>
            <a:r>
              <a:rPr lang="en-US" altLang="zh-CN" sz="2200"/>
              <a:t>S</a:t>
            </a:r>
            <a:r>
              <a:rPr lang="zh-CN" altLang="en-US" sz="2200"/>
              <a:t>和</a:t>
            </a:r>
            <a:r>
              <a:rPr lang="en-US" altLang="zh-CN" sz="2200"/>
              <a:t>X</a:t>
            </a:r>
            <a:r>
              <a:rPr lang="zh-CN" altLang="en-US" sz="2200"/>
              <a:t>锁        </a:t>
            </a:r>
            <a:r>
              <a:rPr lang="en-US" altLang="zh-CN" sz="2200"/>
              <a:t>D</a:t>
            </a:r>
            <a:r>
              <a:rPr lang="zh-CN" altLang="en-US" sz="2200"/>
              <a:t>、</a:t>
            </a:r>
            <a:r>
              <a:rPr lang="en-US" altLang="zh-CN" sz="2200"/>
              <a:t>S</a:t>
            </a:r>
            <a:r>
              <a:rPr lang="zh-CN" altLang="en-US" sz="2200"/>
              <a:t>或</a:t>
            </a:r>
            <a:r>
              <a:rPr lang="en-US" altLang="zh-CN" sz="2200"/>
              <a:t>X</a:t>
            </a:r>
            <a:r>
              <a:rPr lang="zh-CN" altLang="en-US" sz="2200"/>
              <a:t>锁</a:t>
            </a:r>
            <a:endParaRPr lang="zh-CN" altLang="en-US" sz="2200"/>
          </a:p>
        </p:txBody>
      </p:sp>
      <p:sp>
        <p:nvSpPr>
          <p:cNvPr id="3" name="文本框 2"/>
          <p:cNvSpPr txBox="1"/>
          <p:nvPr/>
        </p:nvSpPr>
        <p:spPr>
          <a:xfrm>
            <a:off x="559435" y="2203675"/>
            <a:ext cx="8294370" cy="2091690"/>
          </a:xfrm>
          <a:prstGeom prst="rect">
            <a:avLst/>
          </a:prstGeom>
          <a:noFill/>
        </p:spPr>
        <p:txBody>
          <a:bodyPr wrap="square" rtlCol="0" anchor="t">
            <a:spAutoFit/>
          </a:bodyPr>
          <a:lstStyle/>
          <a:p>
            <a:pPr>
              <a:lnSpc>
                <a:spcPct val="100000"/>
              </a:lnSpc>
              <a:buNone/>
            </a:pPr>
            <a:r>
              <a:rPr lang="en-US" altLang="zh-CN" sz="2200" dirty="0"/>
              <a:t>2</a:t>
            </a:r>
            <a:r>
              <a:rPr lang="zh-CN" altLang="en-US" sz="2200" dirty="0"/>
              <a:t>、若事务</a:t>
            </a:r>
            <a:r>
              <a:rPr lang="en-US" altLang="zh-CN" sz="2200" dirty="0"/>
              <a:t>T</a:t>
            </a:r>
            <a:r>
              <a:rPr lang="zh-CN" altLang="en-US" sz="2200" dirty="0"/>
              <a:t>对数据对象</a:t>
            </a:r>
            <a:r>
              <a:rPr lang="en-US" altLang="zh-CN" sz="2200" dirty="0"/>
              <a:t>A</a:t>
            </a:r>
            <a:r>
              <a:rPr lang="zh-CN" altLang="en-US" sz="2200" dirty="0"/>
              <a:t>上了</a:t>
            </a:r>
            <a:r>
              <a:rPr lang="en-US" altLang="zh-CN" sz="2200" dirty="0"/>
              <a:t>X</a:t>
            </a:r>
            <a:r>
              <a:rPr lang="zh-CN" altLang="en-US" sz="2200" dirty="0"/>
              <a:t>锁，则（      ）</a:t>
            </a:r>
            <a:endParaRPr lang="zh-CN" altLang="en-US" sz="2200" dirty="0"/>
          </a:p>
          <a:p>
            <a:pPr>
              <a:lnSpc>
                <a:spcPct val="100000"/>
              </a:lnSpc>
              <a:buNone/>
            </a:pPr>
            <a:r>
              <a:rPr lang="en-US" altLang="zh-CN" sz="2200" dirty="0"/>
              <a:t>   </a:t>
            </a:r>
            <a:r>
              <a:rPr lang="en-US" altLang="zh-CN" sz="2000" dirty="0"/>
              <a:t>A</a:t>
            </a:r>
            <a:r>
              <a:rPr lang="zh-CN" altLang="en-US" sz="2000" dirty="0"/>
              <a:t>、只允许</a:t>
            </a:r>
            <a:r>
              <a:rPr lang="en-US" altLang="zh-CN" sz="2000" dirty="0"/>
              <a:t>T</a:t>
            </a:r>
            <a:r>
              <a:rPr lang="zh-CN" altLang="en-US" sz="2000" dirty="0"/>
              <a:t>修改</a:t>
            </a:r>
            <a:r>
              <a:rPr lang="en-US" altLang="zh-CN" sz="2000" dirty="0"/>
              <a:t>A</a:t>
            </a:r>
            <a:r>
              <a:rPr lang="zh-CN" altLang="en-US" sz="2000" dirty="0"/>
              <a:t>，其他任何事务不能再对</a:t>
            </a:r>
            <a:r>
              <a:rPr lang="en-US" altLang="zh-CN" sz="2000" dirty="0"/>
              <a:t>A</a:t>
            </a:r>
            <a:r>
              <a:rPr lang="zh-CN" altLang="en-US" sz="2000" dirty="0"/>
              <a:t>加任何类型的锁</a:t>
            </a:r>
            <a:endParaRPr lang="zh-CN" altLang="en-US" sz="2000" dirty="0"/>
          </a:p>
          <a:p>
            <a:pPr>
              <a:lnSpc>
                <a:spcPct val="100000"/>
              </a:lnSpc>
              <a:buNone/>
            </a:pPr>
            <a:r>
              <a:rPr lang="zh-CN" altLang="en-US" sz="2000" dirty="0"/>
              <a:t>   </a:t>
            </a:r>
            <a:r>
              <a:rPr lang="en-US" altLang="zh-CN" sz="2000" dirty="0"/>
              <a:t>B</a:t>
            </a:r>
            <a:r>
              <a:rPr lang="zh-CN" altLang="en-US" sz="2000" dirty="0"/>
              <a:t>、</a:t>
            </a:r>
            <a:r>
              <a:rPr lang="zh-CN" altLang="en-US" sz="2000" dirty="0">
                <a:sym typeface="+mn-ea"/>
              </a:rPr>
              <a:t>只允许</a:t>
            </a:r>
            <a:r>
              <a:rPr lang="en-US" altLang="zh-CN" sz="2000" dirty="0">
                <a:sym typeface="+mn-ea"/>
              </a:rPr>
              <a:t>T</a:t>
            </a:r>
            <a:r>
              <a:rPr lang="zh-CN" altLang="en-US" sz="2000" dirty="0">
                <a:sym typeface="+mn-ea"/>
              </a:rPr>
              <a:t>读取和修改</a:t>
            </a:r>
            <a:r>
              <a:rPr lang="en-US" altLang="zh-CN" sz="2000" dirty="0">
                <a:sym typeface="+mn-ea"/>
              </a:rPr>
              <a:t>A</a:t>
            </a:r>
            <a:r>
              <a:rPr lang="zh-CN" altLang="en-US" sz="2000" dirty="0">
                <a:sym typeface="+mn-ea"/>
              </a:rPr>
              <a:t>，其他任何事务不能再对</a:t>
            </a:r>
            <a:r>
              <a:rPr lang="en-US" altLang="zh-CN" sz="2000" dirty="0">
                <a:sym typeface="+mn-ea"/>
              </a:rPr>
              <a:t>A</a:t>
            </a:r>
            <a:r>
              <a:rPr lang="zh-CN" altLang="en-US" sz="2000" dirty="0">
                <a:sym typeface="+mn-ea"/>
              </a:rPr>
              <a:t>加任何类型的锁</a:t>
            </a:r>
            <a:endParaRPr lang="zh-CN" altLang="en-US" sz="2000" dirty="0">
              <a:sym typeface="+mn-ea"/>
            </a:endParaRPr>
          </a:p>
          <a:p>
            <a:pPr>
              <a:lnSpc>
                <a:spcPct val="100000"/>
              </a:lnSpc>
              <a:buNone/>
            </a:pPr>
            <a:r>
              <a:rPr lang="en-US" altLang="zh-CN" sz="2200" dirty="0"/>
              <a:t>   C</a:t>
            </a:r>
            <a:r>
              <a:rPr lang="zh-CN" altLang="en-US" sz="2200" dirty="0"/>
              <a:t>、</a:t>
            </a:r>
            <a:r>
              <a:rPr lang="zh-CN" altLang="en-US" sz="2200" dirty="0">
                <a:sym typeface="+mn-ea"/>
              </a:rPr>
              <a:t>只允许</a:t>
            </a:r>
            <a:r>
              <a:rPr lang="en-US" altLang="zh-CN" sz="2200" dirty="0">
                <a:sym typeface="+mn-ea"/>
              </a:rPr>
              <a:t>T</a:t>
            </a:r>
            <a:r>
              <a:rPr lang="zh-CN" altLang="en-US" sz="2200" dirty="0">
                <a:sym typeface="+mn-ea"/>
              </a:rPr>
              <a:t>读取</a:t>
            </a:r>
            <a:r>
              <a:rPr lang="en-US" altLang="zh-CN" sz="2200" dirty="0">
                <a:sym typeface="+mn-ea"/>
              </a:rPr>
              <a:t>A</a:t>
            </a:r>
            <a:r>
              <a:rPr lang="zh-CN" altLang="en-US" sz="2200" dirty="0">
                <a:sym typeface="+mn-ea"/>
              </a:rPr>
              <a:t>，其他任何事务不能再对</a:t>
            </a:r>
            <a:r>
              <a:rPr lang="en-US" altLang="zh-CN" sz="2200" dirty="0">
                <a:sym typeface="+mn-ea"/>
              </a:rPr>
              <a:t>A</a:t>
            </a:r>
            <a:r>
              <a:rPr lang="zh-CN" altLang="en-US" sz="2200" dirty="0">
                <a:sym typeface="+mn-ea"/>
              </a:rPr>
              <a:t>加任何类型的锁</a:t>
            </a:r>
            <a:endParaRPr lang="zh-CN" altLang="en-US" sz="2200" dirty="0"/>
          </a:p>
          <a:p>
            <a:pPr>
              <a:lnSpc>
                <a:spcPct val="100000"/>
              </a:lnSpc>
              <a:buNone/>
            </a:pPr>
            <a:r>
              <a:rPr lang="zh-CN" altLang="en-US" sz="2200" dirty="0"/>
              <a:t>   </a:t>
            </a:r>
            <a:r>
              <a:rPr lang="en-US" altLang="zh-CN" sz="2200" dirty="0"/>
              <a:t>D</a:t>
            </a:r>
            <a:r>
              <a:rPr lang="zh-CN" altLang="en-US" sz="2200" dirty="0"/>
              <a:t>、</a:t>
            </a:r>
            <a:r>
              <a:rPr lang="zh-CN" altLang="en-US" sz="2200" dirty="0">
                <a:sym typeface="+mn-ea"/>
              </a:rPr>
              <a:t>只允许</a:t>
            </a:r>
            <a:r>
              <a:rPr lang="en-US" altLang="zh-CN" sz="2200" dirty="0">
                <a:sym typeface="+mn-ea"/>
              </a:rPr>
              <a:t>T</a:t>
            </a:r>
            <a:r>
              <a:rPr lang="zh-CN" altLang="en-US" sz="2200" dirty="0">
                <a:sym typeface="+mn-ea"/>
              </a:rPr>
              <a:t>修改</a:t>
            </a:r>
            <a:r>
              <a:rPr lang="en-US" altLang="zh-CN" sz="2200" dirty="0">
                <a:sym typeface="+mn-ea"/>
              </a:rPr>
              <a:t>A</a:t>
            </a:r>
            <a:r>
              <a:rPr lang="zh-CN" altLang="en-US" sz="2200" dirty="0">
                <a:sym typeface="+mn-ea"/>
              </a:rPr>
              <a:t>，其他任何事务不能再对</a:t>
            </a:r>
            <a:r>
              <a:rPr lang="en-US" altLang="zh-CN" sz="2200" dirty="0">
                <a:sym typeface="+mn-ea"/>
              </a:rPr>
              <a:t>A</a:t>
            </a:r>
            <a:r>
              <a:rPr lang="zh-CN" altLang="en-US" sz="2200" dirty="0">
                <a:sym typeface="+mn-ea"/>
              </a:rPr>
              <a:t>加</a:t>
            </a:r>
            <a:r>
              <a:rPr lang="en-US" altLang="zh-CN" sz="2200" dirty="0">
                <a:sym typeface="+mn-ea"/>
              </a:rPr>
              <a:t>X</a:t>
            </a:r>
            <a:r>
              <a:rPr lang="zh-CN" altLang="en-US" sz="2200" dirty="0">
                <a:sym typeface="+mn-ea"/>
              </a:rPr>
              <a:t>锁</a:t>
            </a:r>
            <a:endParaRPr lang="zh-CN" altLang="en-US" sz="2200" dirty="0"/>
          </a:p>
          <a:p>
            <a:pPr>
              <a:lnSpc>
                <a:spcPct val="100000"/>
              </a:lnSpc>
              <a:buNone/>
            </a:pPr>
            <a:endParaRPr lang="zh-CN" altLang="en-US" sz="2200" dirty="0"/>
          </a:p>
        </p:txBody>
      </p:sp>
      <p:sp>
        <p:nvSpPr>
          <p:cNvPr id="13" name="文本框 12"/>
          <p:cNvSpPr txBox="1"/>
          <p:nvPr/>
        </p:nvSpPr>
        <p:spPr>
          <a:xfrm>
            <a:off x="2055495" y="1298767"/>
            <a:ext cx="403225" cy="589280"/>
          </a:xfrm>
          <a:prstGeom prst="rect">
            <a:avLst/>
          </a:prstGeom>
          <a:noFill/>
        </p:spPr>
        <p:txBody>
          <a:bodyPr wrap="none" rtlCol="0" anchor="t">
            <a:spAutoFit/>
          </a:bodyPr>
          <a:lstStyle/>
          <a:p>
            <a:pPr>
              <a:buNone/>
            </a:pPr>
            <a:r>
              <a:rPr lang="en-US" altLang="zh-CN" sz="2400" dirty="0">
                <a:solidFill>
                  <a:srgbClr val="C00000"/>
                </a:solidFill>
              </a:rPr>
              <a:t>B</a:t>
            </a:r>
            <a:endParaRPr lang="en-US" altLang="zh-CN" sz="2400" dirty="0">
              <a:solidFill>
                <a:srgbClr val="C00000"/>
              </a:solidFill>
            </a:endParaRPr>
          </a:p>
        </p:txBody>
      </p:sp>
      <p:sp>
        <p:nvSpPr>
          <p:cNvPr id="6" name="文本框 5"/>
          <p:cNvSpPr txBox="1"/>
          <p:nvPr/>
        </p:nvSpPr>
        <p:spPr>
          <a:xfrm>
            <a:off x="5601335" y="2136709"/>
            <a:ext cx="403225" cy="589280"/>
          </a:xfrm>
          <a:prstGeom prst="rect">
            <a:avLst/>
          </a:prstGeom>
          <a:noFill/>
        </p:spPr>
        <p:txBody>
          <a:bodyPr wrap="none" rtlCol="0" anchor="t">
            <a:spAutoFit/>
          </a:bodyPr>
          <a:lstStyle/>
          <a:p>
            <a:pPr>
              <a:buNone/>
            </a:pPr>
            <a:r>
              <a:rPr lang="en-US" altLang="zh-CN" sz="2400" dirty="0">
                <a:solidFill>
                  <a:srgbClr val="C00000"/>
                </a:solidFill>
              </a:rPr>
              <a:t>B</a:t>
            </a:r>
            <a:endParaRPr lang="en-US" altLang="zh-CN" sz="2400" dirty="0">
              <a:solidFill>
                <a:srgbClr val="C00000"/>
              </a:solidFill>
            </a:endParaRPr>
          </a:p>
        </p:txBody>
      </p:sp>
      <p:sp>
        <p:nvSpPr>
          <p:cNvPr id="10" name="文本框 9"/>
          <p:cNvSpPr txBox="1"/>
          <p:nvPr/>
        </p:nvSpPr>
        <p:spPr>
          <a:xfrm>
            <a:off x="544195" y="4007705"/>
            <a:ext cx="8293735" cy="547370"/>
          </a:xfrm>
          <a:prstGeom prst="rect">
            <a:avLst/>
          </a:prstGeom>
          <a:noFill/>
        </p:spPr>
        <p:txBody>
          <a:bodyPr wrap="square" rtlCol="0" anchor="t">
            <a:spAutoFit/>
          </a:bodyPr>
          <a:lstStyle/>
          <a:p>
            <a:pPr>
              <a:buNone/>
            </a:pPr>
            <a:r>
              <a:rPr lang="en-US" altLang="zh-CN" sz="2200"/>
              <a:t>3</a:t>
            </a:r>
            <a:r>
              <a:rPr lang="zh-CN" altLang="en-US" sz="2200"/>
              <a:t>、解决并发操作带来的数据不一致问题普遍采用（   ）技术。</a:t>
            </a:r>
            <a:endParaRPr lang="zh-CN" altLang="en-US" sz="2200"/>
          </a:p>
        </p:txBody>
      </p:sp>
      <p:sp>
        <p:nvSpPr>
          <p:cNvPr id="12" name="文本框 11"/>
          <p:cNvSpPr txBox="1"/>
          <p:nvPr/>
        </p:nvSpPr>
        <p:spPr>
          <a:xfrm>
            <a:off x="748030" y="4453475"/>
            <a:ext cx="7524115" cy="506730"/>
          </a:xfrm>
          <a:prstGeom prst="rect">
            <a:avLst/>
          </a:prstGeom>
          <a:noFill/>
        </p:spPr>
        <p:txBody>
          <a:bodyPr wrap="square" rtlCol="0" anchor="t">
            <a:spAutoFit/>
          </a:bodyPr>
          <a:lstStyle/>
          <a:p>
            <a:pPr>
              <a:buNone/>
            </a:pPr>
            <a:r>
              <a:rPr lang="en-US" altLang="zh-CN" sz="2000"/>
              <a:t>A</a:t>
            </a:r>
            <a:r>
              <a:rPr lang="zh-CN" altLang="en-US" sz="2000"/>
              <a:t>、加锁        </a:t>
            </a:r>
            <a:r>
              <a:rPr lang="en-US" altLang="zh-CN" sz="2000"/>
              <a:t>B</a:t>
            </a:r>
            <a:r>
              <a:rPr lang="zh-CN" altLang="en-US" sz="2000"/>
              <a:t>、存取控制         </a:t>
            </a:r>
            <a:r>
              <a:rPr lang="en-US" altLang="zh-CN" sz="2000"/>
              <a:t>C</a:t>
            </a:r>
            <a:r>
              <a:rPr lang="zh-CN" altLang="en-US" sz="2000"/>
              <a:t>、恢复         </a:t>
            </a:r>
            <a:r>
              <a:rPr lang="en-US" altLang="zh-CN" sz="2000"/>
              <a:t>D</a:t>
            </a:r>
            <a:r>
              <a:rPr lang="zh-CN" altLang="en-US" sz="2000"/>
              <a:t>、协商</a:t>
            </a:r>
            <a:endParaRPr lang="zh-CN" altLang="en-US" sz="2000"/>
          </a:p>
        </p:txBody>
      </p:sp>
      <p:sp>
        <p:nvSpPr>
          <p:cNvPr id="14" name="文本框 13"/>
          <p:cNvSpPr txBox="1"/>
          <p:nvPr/>
        </p:nvSpPr>
        <p:spPr>
          <a:xfrm>
            <a:off x="6903085" y="3965795"/>
            <a:ext cx="403225" cy="589280"/>
          </a:xfrm>
          <a:prstGeom prst="rect">
            <a:avLst/>
          </a:prstGeom>
          <a:noFill/>
        </p:spPr>
        <p:txBody>
          <a:bodyPr wrap="none" rtlCol="0" anchor="t">
            <a:spAutoFit/>
          </a:bodyPr>
          <a:lstStyle/>
          <a:p>
            <a:pPr>
              <a:buNone/>
            </a:pPr>
            <a:r>
              <a:rPr lang="en-US" altLang="zh-CN" sz="2400">
                <a:solidFill>
                  <a:srgbClr val="C00000"/>
                </a:solidFill>
              </a:rPr>
              <a:t>A</a:t>
            </a:r>
            <a:endParaRPr lang="en-US" altLang="zh-CN" sz="2400">
              <a:solidFill>
                <a:srgbClr val="C00000"/>
              </a:solidFill>
            </a:endParaRPr>
          </a:p>
        </p:txBody>
      </p:sp>
      <p:sp>
        <p:nvSpPr>
          <p:cNvPr id="16" name="文本框 15"/>
          <p:cNvSpPr txBox="1"/>
          <p:nvPr/>
        </p:nvSpPr>
        <p:spPr>
          <a:xfrm>
            <a:off x="559435" y="5020945"/>
            <a:ext cx="8293735" cy="547370"/>
          </a:xfrm>
          <a:prstGeom prst="rect">
            <a:avLst/>
          </a:prstGeom>
          <a:noFill/>
        </p:spPr>
        <p:txBody>
          <a:bodyPr wrap="square" rtlCol="0" anchor="t">
            <a:spAutoFit/>
          </a:bodyPr>
          <a:lstStyle/>
          <a:p>
            <a:pPr>
              <a:buNone/>
            </a:pPr>
            <a:r>
              <a:rPr lang="en-US" altLang="zh-CN" sz="2200"/>
              <a:t>4</a:t>
            </a:r>
            <a:r>
              <a:rPr lang="zh-CN" altLang="en-US" sz="2200"/>
              <a:t>、如果事务</a:t>
            </a:r>
            <a:r>
              <a:rPr lang="en-US" altLang="zh-CN" sz="2200"/>
              <a:t>T</a:t>
            </a:r>
            <a:r>
              <a:rPr lang="zh-CN" altLang="en-US" sz="2200"/>
              <a:t>获得了数据项</a:t>
            </a:r>
            <a:r>
              <a:rPr lang="en-US" altLang="zh-CN" sz="2200"/>
              <a:t>Q</a:t>
            </a:r>
            <a:r>
              <a:rPr lang="zh-CN" altLang="en-US" sz="2200"/>
              <a:t>上的排它锁，则</a:t>
            </a:r>
            <a:r>
              <a:rPr lang="en-US" altLang="zh-CN" sz="2200"/>
              <a:t>T</a:t>
            </a:r>
            <a:r>
              <a:rPr lang="zh-CN" altLang="en-US" sz="2200"/>
              <a:t>对</a:t>
            </a:r>
            <a:r>
              <a:rPr lang="en-US" altLang="zh-CN" sz="2200"/>
              <a:t>Q</a:t>
            </a:r>
            <a:r>
              <a:rPr lang="zh-CN" altLang="en-US" sz="2200"/>
              <a:t>（   ）技术。</a:t>
            </a:r>
            <a:endParaRPr lang="zh-CN" altLang="en-US" sz="2200"/>
          </a:p>
        </p:txBody>
      </p:sp>
      <p:sp>
        <p:nvSpPr>
          <p:cNvPr id="17" name="文本框 16"/>
          <p:cNvSpPr txBox="1"/>
          <p:nvPr/>
        </p:nvSpPr>
        <p:spPr>
          <a:xfrm>
            <a:off x="763270" y="5466715"/>
            <a:ext cx="7524115" cy="706755"/>
          </a:xfrm>
          <a:prstGeom prst="rect">
            <a:avLst/>
          </a:prstGeom>
          <a:noFill/>
        </p:spPr>
        <p:txBody>
          <a:bodyPr wrap="square" rtlCol="0" anchor="t">
            <a:spAutoFit/>
          </a:bodyPr>
          <a:lstStyle/>
          <a:p>
            <a:pPr>
              <a:lnSpc>
                <a:spcPct val="100000"/>
              </a:lnSpc>
              <a:buNone/>
            </a:pPr>
            <a:r>
              <a:rPr lang="en-US" altLang="zh-CN" sz="2000"/>
              <a:t>A</a:t>
            </a:r>
            <a:r>
              <a:rPr lang="zh-CN" altLang="en-US" sz="2000"/>
              <a:t>、只能读不能写         </a:t>
            </a:r>
            <a:r>
              <a:rPr lang="en-US" altLang="zh-CN" sz="2000"/>
              <a:t>B</a:t>
            </a:r>
            <a:r>
              <a:rPr lang="zh-CN" altLang="en-US" sz="2000"/>
              <a:t>、只能写不能读        </a:t>
            </a:r>
            <a:endParaRPr lang="zh-CN" altLang="en-US" sz="2000"/>
          </a:p>
          <a:p>
            <a:pPr>
              <a:lnSpc>
                <a:spcPct val="100000"/>
              </a:lnSpc>
              <a:buNone/>
            </a:pPr>
            <a:r>
              <a:rPr lang="en-US" altLang="zh-CN" sz="2000"/>
              <a:t>C</a:t>
            </a:r>
            <a:r>
              <a:rPr lang="zh-CN" altLang="en-US" sz="2000"/>
              <a:t>、即可读又可写         </a:t>
            </a:r>
            <a:r>
              <a:rPr lang="en-US" altLang="zh-CN" sz="2000"/>
              <a:t>D</a:t>
            </a:r>
            <a:r>
              <a:rPr lang="zh-CN" altLang="en-US" sz="2000"/>
              <a:t>、不能读也不能写</a:t>
            </a:r>
            <a:endParaRPr lang="zh-CN" altLang="en-US" sz="2000"/>
          </a:p>
        </p:txBody>
      </p:sp>
      <p:sp>
        <p:nvSpPr>
          <p:cNvPr id="18" name="文本框 17"/>
          <p:cNvSpPr txBox="1"/>
          <p:nvPr/>
        </p:nvSpPr>
        <p:spPr>
          <a:xfrm>
            <a:off x="7182485" y="4979035"/>
            <a:ext cx="403225" cy="589280"/>
          </a:xfrm>
          <a:prstGeom prst="rect">
            <a:avLst/>
          </a:prstGeom>
          <a:noFill/>
        </p:spPr>
        <p:txBody>
          <a:bodyPr wrap="none" rtlCol="0" anchor="t">
            <a:spAutoFit/>
          </a:bodyPr>
          <a:lstStyle/>
          <a:p>
            <a:pPr>
              <a:buNone/>
            </a:pPr>
            <a:r>
              <a:rPr lang="en-US" altLang="zh-CN" sz="2400">
                <a:solidFill>
                  <a:srgbClr val="C00000"/>
                </a:solidFill>
              </a:rPr>
              <a:t>C</a:t>
            </a:r>
            <a:endParaRPr lang="en-US" altLang="zh-CN" sz="2400">
              <a:solidFill>
                <a:srgbClr val="C00000"/>
              </a:solidFill>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 calcmode="lin" valueType="num">
                                      <p:cBhvr additive="base">
                                        <p:cTn id="7" dur="500" fill="hold"/>
                                        <p:tgtEl>
                                          <p:spTgt spid="13"/>
                                        </p:tgtEl>
                                        <p:attrNameLst>
                                          <p:attrName>ppt_x</p:attrName>
                                        </p:attrNameLst>
                                      </p:cBhvr>
                                      <p:tavLst>
                                        <p:tav tm="0">
                                          <p:val>
                                            <p:strVal val="#ppt_x"/>
                                          </p:val>
                                        </p:tav>
                                        <p:tav tm="100000">
                                          <p:val>
                                            <p:strVal val="#ppt_x"/>
                                          </p:val>
                                        </p:tav>
                                      </p:tavLst>
                                    </p:anim>
                                    <p:anim calcmode="lin" valueType="num">
                                      <p:cBhvr additive="base">
                                        <p:cTn id="8"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additive="base">
                                        <p:cTn id="13" dur="500" fill="hold"/>
                                        <p:tgtEl>
                                          <p:spTgt spid="6"/>
                                        </p:tgtEl>
                                        <p:attrNameLst>
                                          <p:attrName>ppt_x</p:attrName>
                                        </p:attrNameLst>
                                      </p:cBhvr>
                                      <p:tavLst>
                                        <p:tav tm="0">
                                          <p:val>
                                            <p:strVal val="#ppt_x"/>
                                          </p:val>
                                        </p:tav>
                                        <p:tav tm="100000">
                                          <p:val>
                                            <p:strVal val="#ppt_x"/>
                                          </p:val>
                                        </p:tav>
                                      </p:tavLst>
                                    </p:anim>
                                    <p:anim calcmode="lin" valueType="num">
                                      <p:cBhvr additive="base">
                                        <p:cTn id="14"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4"/>
                                        </p:tgtEl>
                                        <p:attrNameLst>
                                          <p:attrName>style.visibility</p:attrName>
                                        </p:attrNameLst>
                                      </p:cBhvr>
                                      <p:to>
                                        <p:strVal val="visible"/>
                                      </p:to>
                                    </p:set>
                                    <p:anim calcmode="lin" valueType="num">
                                      <p:cBhvr additive="base">
                                        <p:cTn id="19" dur="500" fill="hold"/>
                                        <p:tgtEl>
                                          <p:spTgt spid="14"/>
                                        </p:tgtEl>
                                        <p:attrNameLst>
                                          <p:attrName>ppt_x</p:attrName>
                                        </p:attrNameLst>
                                      </p:cBhvr>
                                      <p:tavLst>
                                        <p:tav tm="0">
                                          <p:val>
                                            <p:strVal val="#ppt_x"/>
                                          </p:val>
                                        </p:tav>
                                        <p:tav tm="100000">
                                          <p:val>
                                            <p:strVal val="#ppt_x"/>
                                          </p:val>
                                        </p:tav>
                                      </p:tavLst>
                                    </p:anim>
                                    <p:anim calcmode="lin" valueType="num">
                                      <p:cBhvr additive="base">
                                        <p:cTn id="20"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8"/>
                                        </p:tgtEl>
                                        <p:attrNameLst>
                                          <p:attrName>style.visibility</p:attrName>
                                        </p:attrNameLst>
                                      </p:cBhvr>
                                      <p:to>
                                        <p:strVal val="visible"/>
                                      </p:to>
                                    </p:set>
                                    <p:anim calcmode="lin" valueType="num">
                                      <p:cBhvr additive="base">
                                        <p:cTn id="25" dur="500" fill="hold"/>
                                        <p:tgtEl>
                                          <p:spTgt spid="18"/>
                                        </p:tgtEl>
                                        <p:attrNameLst>
                                          <p:attrName>ppt_x</p:attrName>
                                        </p:attrNameLst>
                                      </p:cBhvr>
                                      <p:tavLst>
                                        <p:tav tm="0">
                                          <p:val>
                                            <p:strVal val="#ppt_x"/>
                                          </p:val>
                                        </p:tav>
                                        <p:tav tm="100000">
                                          <p:val>
                                            <p:strVal val="#ppt_x"/>
                                          </p:val>
                                        </p:tav>
                                      </p:tavLst>
                                    </p:anim>
                                    <p:anim calcmode="lin" valueType="num">
                                      <p:cBhvr additive="base">
                                        <p:cTn id="26" dur="500" fill="hold"/>
                                        <p:tgtEl>
                                          <p:spTgt spid="1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6" grpId="0"/>
      <p:bldP spid="14" grpId="0"/>
      <p:bldP spid="18"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551180" y="1041012"/>
            <a:ext cx="8294370" cy="1445260"/>
          </a:xfrm>
          <a:prstGeom prst="rect">
            <a:avLst/>
          </a:prstGeom>
          <a:noFill/>
        </p:spPr>
        <p:txBody>
          <a:bodyPr wrap="square" rtlCol="0" anchor="t">
            <a:spAutoFit/>
          </a:bodyPr>
          <a:lstStyle/>
          <a:p>
            <a:pPr>
              <a:lnSpc>
                <a:spcPct val="100000"/>
              </a:lnSpc>
              <a:buNone/>
            </a:pPr>
            <a:r>
              <a:rPr lang="en-US" altLang="zh-CN" sz="2200"/>
              <a:t>5</a:t>
            </a:r>
            <a:r>
              <a:rPr lang="zh-CN" altLang="en-US" sz="2200"/>
              <a:t>、如果有两个事务，同时对数据库中同一数据进行操作，不会引起冲突的操作是（      ）</a:t>
            </a:r>
            <a:endParaRPr lang="zh-CN" altLang="en-US" sz="2200"/>
          </a:p>
          <a:p>
            <a:pPr>
              <a:lnSpc>
                <a:spcPct val="100000"/>
              </a:lnSpc>
              <a:buNone/>
            </a:pPr>
            <a:r>
              <a:rPr lang="en-US" altLang="zh-CN" sz="2200"/>
              <a:t>   </a:t>
            </a:r>
            <a:r>
              <a:rPr lang="en-US" altLang="zh-CN" sz="2000"/>
              <a:t>A</a:t>
            </a:r>
            <a:r>
              <a:rPr lang="zh-CN" altLang="en-US" sz="2000"/>
              <a:t>、一个是</a:t>
            </a:r>
            <a:r>
              <a:rPr lang="en-US" altLang="zh-CN" sz="2000"/>
              <a:t>DELETE</a:t>
            </a:r>
            <a:r>
              <a:rPr lang="zh-CN" altLang="en-US" sz="2000"/>
              <a:t>，一个是</a:t>
            </a:r>
            <a:r>
              <a:rPr lang="en-US" altLang="zh-CN" sz="2000"/>
              <a:t>SELECT</a:t>
            </a:r>
            <a:r>
              <a:rPr lang="zh-CN" altLang="en-US" sz="2000"/>
              <a:t>        </a:t>
            </a:r>
            <a:r>
              <a:rPr lang="en-US" altLang="zh-CN" sz="2000"/>
              <a:t>B</a:t>
            </a:r>
            <a:r>
              <a:rPr lang="zh-CN" altLang="en-US" sz="2000"/>
              <a:t>、两个都是</a:t>
            </a:r>
            <a:r>
              <a:rPr lang="en-US" altLang="zh-CN" sz="2000"/>
              <a:t>UPDATE</a:t>
            </a:r>
            <a:r>
              <a:rPr lang="zh-CN" altLang="en-US" sz="2200"/>
              <a:t>  </a:t>
            </a:r>
            <a:endParaRPr lang="zh-CN" altLang="en-US" sz="2200"/>
          </a:p>
          <a:p>
            <a:pPr>
              <a:lnSpc>
                <a:spcPct val="100000"/>
              </a:lnSpc>
              <a:buNone/>
            </a:pPr>
            <a:r>
              <a:rPr lang="zh-CN" altLang="en-US" sz="2200"/>
              <a:t>   </a:t>
            </a:r>
            <a:r>
              <a:rPr lang="en-US" altLang="zh-CN" sz="2000"/>
              <a:t>C</a:t>
            </a:r>
            <a:r>
              <a:rPr lang="zh-CN" altLang="en-US" sz="2000"/>
              <a:t>、一个是</a:t>
            </a:r>
            <a:r>
              <a:rPr lang="en-US" altLang="zh-CN" sz="2000"/>
              <a:t>SELECT</a:t>
            </a:r>
            <a:r>
              <a:rPr lang="zh-CN" altLang="en-US" sz="2000"/>
              <a:t>，一个是</a:t>
            </a:r>
            <a:r>
              <a:rPr lang="en-US" altLang="zh-CN" sz="2000"/>
              <a:t>DELETE</a:t>
            </a:r>
            <a:r>
              <a:rPr lang="zh-CN" altLang="en-US" sz="2000"/>
              <a:t>        </a:t>
            </a:r>
            <a:r>
              <a:rPr lang="en-US" altLang="zh-CN" sz="2000"/>
              <a:t>D</a:t>
            </a:r>
            <a:r>
              <a:rPr lang="zh-CN" altLang="en-US" sz="2000"/>
              <a:t>、两个都是</a:t>
            </a:r>
            <a:r>
              <a:rPr lang="en-US" altLang="zh-CN" sz="2000"/>
              <a:t>SELECT</a:t>
            </a:r>
            <a:endParaRPr lang="en-US" altLang="zh-CN" sz="2000"/>
          </a:p>
        </p:txBody>
      </p:sp>
      <p:sp>
        <p:nvSpPr>
          <p:cNvPr id="45" name="文本框 44"/>
          <p:cNvSpPr txBox="1"/>
          <p:nvPr/>
        </p:nvSpPr>
        <p:spPr>
          <a:xfrm>
            <a:off x="432752" y="21908"/>
            <a:ext cx="2681605" cy="829945"/>
          </a:xfrm>
          <a:prstGeom prst="rect">
            <a:avLst/>
          </a:prstGeom>
          <a:noFill/>
        </p:spPr>
        <p:txBody>
          <a:bodyPr wrap="none" rtlCol="0" anchor="t">
            <a:spAutoFit/>
          </a:bodyPr>
          <a:lstStyle/>
          <a:p>
            <a:pPr marL="457200" indent="-457200" algn="just">
              <a:lnSpc>
                <a:spcPct val="150000"/>
              </a:lnSpc>
              <a:spcAft>
                <a:spcPts val="0"/>
              </a:spcAft>
              <a:buFont typeface="Wingdings" panose="05000000000000000000" pitchFamily="2" charset="2"/>
              <a:buChar char="p"/>
            </a:pPr>
            <a:r>
              <a:rPr lang="zh-CN" altLang="zh-CN" sz="3200" kern="100" dirty="0" smtClean="0">
                <a:solidFill>
                  <a:srgbClr val="FF0000"/>
                </a:solidFill>
                <a:latin typeface="Calibri" panose="020F0502020204030204" pitchFamily="34" charset="0"/>
                <a:cs typeface="Times New Roman" panose="02020603050405020304" pitchFamily="2" charset="0"/>
                <a:sym typeface="+mn-ea"/>
              </a:rPr>
              <a:t>问题研讨：</a:t>
            </a:r>
            <a:endParaRPr lang="zh-CN" altLang="en-US" sz="3200" dirty="0"/>
          </a:p>
        </p:txBody>
      </p:sp>
      <p:sp>
        <p:nvSpPr>
          <p:cNvPr id="13" name="文本框 12"/>
          <p:cNvSpPr txBox="1"/>
          <p:nvPr/>
        </p:nvSpPr>
        <p:spPr>
          <a:xfrm>
            <a:off x="2912745" y="1364897"/>
            <a:ext cx="403225" cy="589280"/>
          </a:xfrm>
          <a:prstGeom prst="rect">
            <a:avLst/>
          </a:prstGeom>
          <a:noFill/>
        </p:spPr>
        <p:txBody>
          <a:bodyPr wrap="none" rtlCol="0" anchor="t">
            <a:spAutoFit/>
          </a:bodyPr>
          <a:lstStyle/>
          <a:p>
            <a:pPr>
              <a:buNone/>
            </a:pPr>
            <a:r>
              <a:rPr lang="en-US" altLang="zh-CN" sz="2400">
                <a:solidFill>
                  <a:srgbClr val="C00000"/>
                </a:solidFill>
              </a:rPr>
              <a:t>D</a:t>
            </a:r>
            <a:endParaRPr lang="en-US" altLang="zh-CN" sz="2400">
              <a:solidFill>
                <a:srgbClr val="C00000"/>
              </a:solidFill>
            </a:endParaRPr>
          </a:p>
        </p:txBody>
      </p:sp>
      <p:sp>
        <p:nvSpPr>
          <p:cNvPr id="5" name="文本框 4"/>
          <p:cNvSpPr txBox="1"/>
          <p:nvPr/>
        </p:nvSpPr>
        <p:spPr>
          <a:xfrm>
            <a:off x="551180" y="2691990"/>
            <a:ext cx="8294370" cy="429895"/>
          </a:xfrm>
          <a:prstGeom prst="rect">
            <a:avLst/>
          </a:prstGeom>
          <a:noFill/>
        </p:spPr>
        <p:txBody>
          <a:bodyPr wrap="square" rtlCol="0" anchor="t">
            <a:spAutoFit/>
          </a:bodyPr>
          <a:lstStyle/>
          <a:p>
            <a:pPr>
              <a:lnSpc>
                <a:spcPct val="100000"/>
              </a:lnSpc>
              <a:buNone/>
            </a:pPr>
            <a:r>
              <a:rPr lang="en-US" altLang="zh-CN" sz="2200"/>
              <a:t>6</a:t>
            </a:r>
            <a:r>
              <a:rPr lang="zh-CN" altLang="en-US" sz="2200"/>
              <a:t>、基本的锁类型有两种分别是</a:t>
            </a:r>
            <a:r>
              <a:rPr lang="zh-CN" altLang="en-US" sz="2200" u="sng"/>
              <a:t>                   </a:t>
            </a:r>
            <a:r>
              <a:rPr lang="zh-CN" altLang="en-US" sz="2200"/>
              <a:t>和</a:t>
            </a:r>
            <a:r>
              <a:rPr lang="zh-CN" altLang="en-US" sz="2200" u="sng"/>
              <a:t>                  </a:t>
            </a:r>
            <a:r>
              <a:rPr lang="zh-CN" altLang="en-US" sz="2200"/>
              <a:t>。</a:t>
            </a:r>
            <a:endParaRPr lang="zh-CN" altLang="en-US" sz="2200"/>
          </a:p>
        </p:txBody>
      </p:sp>
      <p:sp>
        <p:nvSpPr>
          <p:cNvPr id="6" name="文本框 5"/>
          <p:cNvSpPr txBox="1"/>
          <p:nvPr/>
        </p:nvSpPr>
        <p:spPr>
          <a:xfrm>
            <a:off x="4672330" y="2542765"/>
            <a:ext cx="1101090" cy="589280"/>
          </a:xfrm>
          <a:prstGeom prst="rect">
            <a:avLst/>
          </a:prstGeom>
          <a:noFill/>
        </p:spPr>
        <p:txBody>
          <a:bodyPr wrap="none" rtlCol="0" anchor="t">
            <a:spAutoFit/>
          </a:bodyPr>
          <a:lstStyle/>
          <a:p>
            <a:pPr>
              <a:buNone/>
            </a:pPr>
            <a:r>
              <a:rPr lang="zh-CN" altLang="en-US" sz="2400">
                <a:solidFill>
                  <a:srgbClr val="C00000"/>
                </a:solidFill>
              </a:rPr>
              <a:t>共享锁</a:t>
            </a:r>
            <a:endParaRPr lang="zh-CN" altLang="en-US" sz="2400">
              <a:solidFill>
                <a:srgbClr val="C00000"/>
              </a:solidFill>
            </a:endParaRPr>
          </a:p>
        </p:txBody>
      </p:sp>
      <p:sp>
        <p:nvSpPr>
          <p:cNvPr id="8" name="文本框 7"/>
          <p:cNvSpPr txBox="1"/>
          <p:nvPr/>
        </p:nvSpPr>
        <p:spPr>
          <a:xfrm>
            <a:off x="6207125" y="2542765"/>
            <a:ext cx="1101090" cy="589280"/>
          </a:xfrm>
          <a:prstGeom prst="rect">
            <a:avLst/>
          </a:prstGeom>
          <a:noFill/>
        </p:spPr>
        <p:txBody>
          <a:bodyPr wrap="none" rtlCol="0" anchor="t">
            <a:spAutoFit/>
          </a:bodyPr>
          <a:lstStyle/>
          <a:p>
            <a:pPr>
              <a:buNone/>
            </a:pPr>
            <a:r>
              <a:rPr lang="zh-CN" altLang="en-US" sz="2400">
                <a:solidFill>
                  <a:srgbClr val="C00000"/>
                </a:solidFill>
              </a:rPr>
              <a:t>排它锁</a:t>
            </a:r>
            <a:endParaRPr lang="zh-CN" altLang="en-US" sz="2400">
              <a:solidFill>
                <a:srgbClr val="C00000"/>
              </a:solidFill>
            </a:endParaRPr>
          </a:p>
        </p:txBody>
      </p:sp>
      <p:sp>
        <p:nvSpPr>
          <p:cNvPr id="10" name="文本框 9"/>
          <p:cNvSpPr txBox="1"/>
          <p:nvPr/>
        </p:nvSpPr>
        <p:spPr>
          <a:xfrm>
            <a:off x="546735" y="3222215"/>
            <a:ext cx="8294370" cy="429895"/>
          </a:xfrm>
          <a:prstGeom prst="rect">
            <a:avLst/>
          </a:prstGeom>
          <a:noFill/>
        </p:spPr>
        <p:txBody>
          <a:bodyPr wrap="square" rtlCol="0" anchor="t">
            <a:spAutoFit/>
          </a:bodyPr>
          <a:lstStyle/>
          <a:p>
            <a:pPr>
              <a:lnSpc>
                <a:spcPct val="100000"/>
              </a:lnSpc>
              <a:buNone/>
            </a:pPr>
            <a:r>
              <a:rPr lang="en-US" altLang="zh-CN" sz="2200"/>
              <a:t>7</a:t>
            </a:r>
            <a:r>
              <a:rPr lang="zh-CN" altLang="en-US" sz="2200"/>
              <a:t>、并发操作有可能导致</a:t>
            </a:r>
            <a:r>
              <a:rPr lang="zh-CN" altLang="en-US" sz="2200" u="sng"/>
              <a:t>                   </a:t>
            </a:r>
            <a:r>
              <a:rPr lang="zh-CN" altLang="en-US" sz="2200"/>
              <a:t>、</a:t>
            </a:r>
            <a:r>
              <a:rPr lang="zh-CN" altLang="en-US" sz="2200" u="sng"/>
              <a:t>                  </a:t>
            </a:r>
            <a:r>
              <a:rPr lang="zh-CN" altLang="en-US" sz="2200"/>
              <a:t>和</a:t>
            </a:r>
            <a:r>
              <a:rPr lang="zh-CN" altLang="en-US" sz="2200" u="sng"/>
              <a:t>                    </a:t>
            </a:r>
            <a:r>
              <a:rPr lang="zh-CN" altLang="en-US" sz="2200"/>
              <a:t>。</a:t>
            </a:r>
            <a:endParaRPr lang="zh-CN" altLang="en-US" sz="2200"/>
          </a:p>
        </p:txBody>
      </p:sp>
      <p:sp>
        <p:nvSpPr>
          <p:cNvPr id="11" name="文本框 10"/>
          <p:cNvSpPr txBox="1"/>
          <p:nvPr/>
        </p:nvSpPr>
        <p:spPr>
          <a:xfrm>
            <a:off x="3719830" y="3064100"/>
            <a:ext cx="1305560" cy="547370"/>
          </a:xfrm>
          <a:prstGeom prst="rect">
            <a:avLst/>
          </a:prstGeom>
          <a:noFill/>
        </p:spPr>
        <p:txBody>
          <a:bodyPr wrap="none" rtlCol="0" anchor="t">
            <a:spAutoFit/>
          </a:bodyPr>
          <a:lstStyle/>
          <a:p>
            <a:pPr>
              <a:buNone/>
            </a:pPr>
            <a:r>
              <a:rPr lang="zh-CN" altLang="en-US" sz="2200">
                <a:solidFill>
                  <a:srgbClr val="C00000"/>
                </a:solidFill>
              </a:rPr>
              <a:t>丢失更新</a:t>
            </a:r>
            <a:endParaRPr lang="zh-CN" altLang="en-US" sz="2200">
              <a:solidFill>
                <a:srgbClr val="C00000"/>
              </a:solidFill>
            </a:endParaRPr>
          </a:p>
        </p:txBody>
      </p:sp>
      <p:sp>
        <p:nvSpPr>
          <p:cNvPr id="12" name="文本框 11"/>
          <p:cNvSpPr txBox="1"/>
          <p:nvPr/>
        </p:nvSpPr>
        <p:spPr>
          <a:xfrm>
            <a:off x="5214620" y="3084420"/>
            <a:ext cx="1584960" cy="547370"/>
          </a:xfrm>
          <a:prstGeom prst="rect">
            <a:avLst/>
          </a:prstGeom>
          <a:noFill/>
        </p:spPr>
        <p:txBody>
          <a:bodyPr wrap="none" rtlCol="0" anchor="t">
            <a:spAutoFit/>
          </a:bodyPr>
          <a:lstStyle/>
          <a:p>
            <a:pPr>
              <a:buNone/>
            </a:pPr>
            <a:r>
              <a:rPr lang="zh-CN" altLang="en-US" sz="2200">
                <a:solidFill>
                  <a:srgbClr val="C00000"/>
                </a:solidFill>
              </a:rPr>
              <a:t>读</a:t>
            </a:r>
            <a:r>
              <a:rPr lang="en-US" altLang="zh-CN" sz="2200">
                <a:solidFill>
                  <a:srgbClr val="C00000"/>
                </a:solidFill>
              </a:rPr>
              <a:t>“</a:t>
            </a:r>
            <a:r>
              <a:rPr lang="zh-CN" altLang="en-US" sz="2200">
                <a:solidFill>
                  <a:srgbClr val="C00000"/>
                </a:solidFill>
              </a:rPr>
              <a:t>脏数据</a:t>
            </a:r>
            <a:r>
              <a:rPr lang="en-US" altLang="zh-CN" sz="2200">
                <a:solidFill>
                  <a:srgbClr val="C00000"/>
                </a:solidFill>
              </a:rPr>
              <a:t>”</a:t>
            </a:r>
            <a:endParaRPr lang="en-US" altLang="zh-CN" sz="2200">
              <a:solidFill>
                <a:srgbClr val="C00000"/>
              </a:solidFill>
            </a:endParaRPr>
          </a:p>
        </p:txBody>
      </p:sp>
      <p:sp>
        <p:nvSpPr>
          <p:cNvPr id="14" name="文本框 13"/>
          <p:cNvSpPr txBox="1"/>
          <p:nvPr/>
        </p:nvSpPr>
        <p:spPr>
          <a:xfrm>
            <a:off x="6989445" y="3064100"/>
            <a:ext cx="1866900" cy="547370"/>
          </a:xfrm>
          <a:prstGeom prst="rect">
            <a:avLst/>
          </a:prstGeom>
          <a:noFill/>
        </p:spPr>
        <p:txBody>
          <a:bodyPr wrap="none" rtlCol="0" anchor="t">
            <a:spAutoFit/>
          </a:bodyPr>
          <a:lstStyle/>
          <a:p>
            <a:pPr>
              <a:buNone/>
            </a:pPr>
            <a:r>
              <a:rPr lang="zh-CN" altLang="en-US" sz="2200">
                <a:solidFill>
                  <a:srgbClr val="C00000"/>
                </a:solidFill>
              </a:rPr>
              <a:t>读值不可复现</a:t>
            </a:r>
            <a:endParaRPr lang="zh-CN" altLang="en-US" sz="2200">
              <a:solidFill>
                <a:srgbClr val="C00000"/>
              </a:solidFill>
            </a:endParaRPr>
          </a:p>
        </p:txBody>
      </p:sp>
      <p:sp>
        <p:nvSpPr>
          <p:cNvPr id="16" name="文本框 15"/>
          <p:cNvSpPr txBox="1"/>
          <p:nvPr/>
        </p:nvSpPr>
        <p:spPr>
          <a:xfrm>
            <a:off x="551180" y="3697195"/>
            <a:ext cx="8294370" cy="429895"/>
          </a:xfrm>
          <a:prstGeom prst="rect">
            <a:avLst/>
          </a:prstGeom>
          <a:noFill/>
        </p:spPr>
        <p:txBody>
          <a:bodyPr wrap="square" rtlCol="0" anchor="t">
            <a:spAutoFit/>
          </a:bodyPr>
          <a:lstStyle/>
          <a:p>
            <a:pPr>
              <a:lnSpc>
                <a:spcPct val="100000"/>
              </a:lnSpc>
              <a:buNone/>
            </a:pPr>
            <a:r>
              <a:rPr lang="en-US" altLang="zh-CN" sz="2200"/>
              <a:t>8</a:t>
            </a:r>
            <a:r>
              <a:rPr lang="zh-CN" altLang="en-US" sz="2200"/>
              <a:t>、在数据库中为什么要进行并发控制？</a:t>
            </a:r>
            <a:endParaRPr lang="zh-CN" altLang="en-US" sz="2200"/>
          </a:p>
        </p:txBody>
      </p:sp>
      <p:sp>
        <p:nvSpPr>
          <p:cNvPr id="17" name="文本框 16"/>
          <p:cNvSpPr txBox="1"/>
          <p:nvPr/>
        </p:nvSpPr>
        <p:spPr>
          <a:xfrm>
            <a:off x="635000" y="4127090"/>
            <a:ext cx="8114665" cy="1751965"/>
          </a:xfrm>
          <a:prstGeom prst="rect">
            <a:avLst/>
          </a:prstGeom>
          <a:solidFill>
            <a:schemeClr val="bg1"/>
          </a:solidFill>
        </p:spPr>
        <p:txBody>
          <a:bodyPr wrap="square" rtlCol="0" anchor="t">
            <a:spAutoFit/>
          </a:bodyPr>
          <a:lstStyle/>
          <a:p>
            <a:pPr>
              <a:lnSpc>
                <a:spcPct val="120000"/>
              </a:lnSpc>
              <a:spcBef>
                <a:spcPts val="0"/>
              </a:spcBef>
              <a:spcAft>
                <a:spcPts val="0"/>
              </a:spcAft>
              <a:buNone/>
            </a:pPr>
            <a:r>
              <a:rPr lang="zh-CN" altLang="en-US">
                <a:solidFill>
                  <a:srgbClr val="0033CC"/>
                </a:solidFill>
                <a:latin typeface="+mj-ea"/>
                <a:ea typeface="+mj-ea"/>
                <a:sym typeface="+mn-ea"/>
              </a:rPr>
              <a:t>答：</a:t>
            </a:r>
            <a:r>
              <a:rPr lang="zh-CN" altLang="en-US">
                <a:solidFill>
                  <a:srgbClr val="0033CC"/>
                </a:solidFill>
                <a:latin typeface="楷体" panose="02010609060101010101" pitchFamily="1" charset="-122"/>
                <a:ea typeface="楷体" panose="02010609060101010101" pitchFamily="1" charset="-122"/>
                <a:cs typeface="楷体" panose="02010609060101010101" pitchFamily="1" charset="-122"/>
                <a:sym typeface="+mn-ea"/>
              </a:rPr>
              <a:t>数据库是共享资源，为了提高资源的利用率，改善短事务的响应时间，需要允许多个事务同时执行。</a:t>
            </a:r>
            <a:endParaRPr lang="zh-CN" altLang="en-US">
              <a:solidFill>
                <a:srgbClr val="0033CC"/>
              </a:solidFill>
              <a:latin typeface="楷体" panose="02010609060101010101" pitchFamily="1" charset="-122"/>
              <a:ea typeface="楷体" panose="02010609060101010101" pitchFamily="1" charset="-122"/>
              <a:cs typeface="楷体" panose="02010609060101010101" pitchFamily="1" charset="-122"/>
              <a:sym typeface="+mn-ea"/>
            </a:endParaRPr>
          </a:p>
          <a:p>
            <a:pPr>
              <a:lnSpc>
                <a:spcPct val="120000"/>
              </a:lnSpc>
              <a:spcBef>
                <a:spcPts val="0"/>
              </a:spcBef>
              <a:spcAft>
                <a:spcPts val="0"/>
              </a:spcAft>
              <a:buNone/>
            </a:pPr>
            <a:r>
              <a:rPr lang="zh-CN" altLang="en-US">
                <a:solidFill>
                  <a:srgbClr val="0033CC"/>
                </a:solidFill>
                <a:latin typeface="楷体" panose="02010609060101010101" pitchFamily="1" charset="-122"/>
                <a:ea typeface="楷体" panose="02010609060101010101" pitchFamily="1" charset="-122"/>
                <a:cs typeface="楷体" panose="02010609060101010101" pitchFamily="1" charset="-122"/>
                <a:sym typeface="+mn-ea"/>
              </a:rPr>
              <a:t>    当多个事务并发地对同一数据对象进行存取时，如果不加以控制就会造成丢失更新、读脏数据和读值不可复现的问题，破坏数据库的完整性和一致性，所以</a:t>
            </a:r>
            <a:r>
              <a:rPr lang="en-US" altLang="zh-CN">
                <a:solidFill>
                  <a:srgbClr val="0033CC"/>
                </a:solidFill>
                <a:latin typeface="楷体" panose="02010609060101010101" pitchFamily="1" charset="-122"/>
                <a:ea typeface="楷体" panose="02010609060101010101" pitchFamily="1" charset="-122"/>
                <a:cs typeface="楷体" panose="02010609060101010101" pitchFamily="1" charset="-122"/>
                <a:sym typeface="+mn-ea"/>
              </a:rPr>
              <a:t>DBMS</a:t>
            </a:r>
            <a:r>
              <a:rPr lang="zh-CN" altLang="en-US">
                <a:solidFill>
                  <a:srgbClr val="0033CC"/>
                </a:solidFill>
                <a:latin typeface="楷体" panose="02010609060101010101" pitchFamily="1" charset="-122"/>
                <a:ea typeface="楷体" panose="02010609060101010101" pitchFamily="1" charset="-122"/>
                <a:cs typeface="楷体" panose="02010609060101010101" pitchFamily="1" charset="-122"/>
                <a:sym typeface="+mn-ea"/>
              </a:rPr>
              <a:t>必须提供并发机制。</a:t>
            </a:r>
            <a:endParaRPr lang="zh-CN" altLang="en-US">
              <a:solidFill>
                <a:srgbClr val="0033CC"/>
              </a:solidFill>
              <a:latin typeface="楷体" panose="02010609060101010101" pitchFamily="1" charset="-122"/>
              <a:ea typeface="楷体" panose="02010609060101010101" pitchFamily="1" charset="-122"/>
              <a:cs typeface="楷体" panose="02010609060101010101" pitchFamily="1" charset="-122"/>
              <a:sym typeface="+mn-ea"/>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 calcmode="lin" valueType="num">
                                      <p:cBhvr additive="base">
                                        <p:cTn id="7" dur="500" fill="hold"/>
                                        <p:tgtEl>
                                          <p:spTgt spid="13"/>
                                        </p:tgtEl>
                                        <p:attrNameLst>
                                          <p:attrName>ppt_x</p:attrName>
                                        </p:attrNameLst>
                                      </p:cBhvr>
                                      <p:tavLst>
                                        <p:tav tm="0">
                                          <p:val>
                                            <p:strVal val="#ppt_x"/>
                                          </p:val>
                                        </p:tav>
                                        <p:tav tm="100000">
                                          <p:val>
                                            <p:strVal val="#ppt_x"/>
                                          </p:val>
                                        </p:tav>
                                      </p:tavLst>
                                    </p:anim>
                                    <p:anim calcmode="lin" valueType="num">
                                      <p:cBhvr additive="base">
                                        <p:cTn id="8"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additive="base">
                                        <p:cTn id="13" dur="500" fill="hold"/>
                                        <p:tgtEl>
                                          <p:spTgt spid="6"/>
                                        </p:tgtEl>
                                        <p:attrNameLst>
                                          <p:attrName>ppt_x</p:attrName>
                                        </p:attrNameLst>
                                      </p:cBhvr>
                                      <p:tavLst>
                                        <p:tav tm="0">
                                          <p:val>
                                            <p:strVal val="#ppt_x"/>
                                          </p:val>
                                        </p:tav>
                                        <p:tav tm="100000">
                                          <p:val>
                                            <p:strVal val="#ppt_x"/>
                                          </p:val>
                                        </p:tav>
                                      </p:tavLst>
                                    </p:anim>
                                    <p:anim calcmode="lin" valueType="num">
                                      <p:cBhvr additive="base">
                                        <p:cTn id="14" dur="500" fill="hold"/>
                                        <p:tgtEl>
                                          <p:spTgt spid="6"/>
                                        </p:tgtEl>
                                        <p:attrNameLst>
                                          <p:attrName>ppt_y</p:attrName>
                                        </p:attrNameLst>
                                      </p:cBhvr>
                                      <p:tavLst>
                                        <p:tav tm="0">
                                          <p:val>
                                            <p:strVal val="1+#ppt_h/2"/>
                                          </p:val>
                                        </p:tav>
                                        <p:tav tm="100000">
                                          <p:val>
                                            <p:strVal val="#ppt_y"/>
                                          </p:val>
                                        </p:tav>
                                      </p:tavLst>
                                    </p:anim>
                                  </p:childTnLst>
                                </p:cTn>
                              </p:par>
                              <p:par>
                                <p:cTn id="15" presetID="2" presetClass="entr" presetSubtype="4" fill="hold" grpId="0" nodeType="withEffect">
                                  <p:stCondLst>
                                    <p:cond delay="0"/>
                                  </p:stCondLst>
                                  <p:childTnLst>
                                    <p:set>
                                      <p:cBhvr>
                                        <p:cTn id="16" dur="1" fill="hold">
                                          <p:stCondLst>
                                            <p:cond delay="0"/>
                                          </p:stCondLst>
                                        </p:cTn>
                                        <p:tgtEl>
                                          <p:spTgt spid="8"/>
                                        </p:tgtEl>
                                        <p:attrNameLst>
                                          <p:attrName>style.visibility</p:attrName>
                                        </p:attrNameLst>
                                      </p:cBhvr>
                                      <p:to>
                                        <p:strVal val="visible"/>
                                      </p:to>
                                    </p:set>
                                    <p:anim calcmode="lin" valueType="num">
                                      <p:cBhvr additive="base">
                                        <p:cTn id="17" dur="500" fill="hold"/>
                                        <p:tgtEl>
                                          <p:spTgt spid="8"/>
                                        </p:tgtEl>
                                        <p:attrNameLst>
                                          <p:attrName>ppt_x</p:attrName>
                                        </p:attrNameLst>
                                      </p:cBhvr>
                                      <p:tavLst>
                                        <p:tav tm="0">
                                          <p:val>
                                            <p:strVal val="#ppt_x"/>
                                          </p:val>
                                        </p:tav>
                                        <p:tav tm="100000">
                                          <p:val>
                                            <p:strVal val="#ppt_x"/>
                                          </p:val>
                                        </p:tav>
                                      </p:tavLst>
                                    </p:anim>
                                    <p:anim calcmode="lin" valueType="num">
                                      <p:cBhvr additive="base">
                                        <p:cTn id="1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11"/>
                                        </p:tgtEl>
                                        <p:attrNameLst>
                                          <p:attrName>style.visibility</p:attrName>
                                        </p:attrNameLst>
                                      </p:cBhvr>
                                      <p:to>
                                        <p:strVal val="visible"/>
                                      </p:to>
                                    </p:set>
                                    <p:anim calcmode="lin" valueType="num">
                                      <p:cBhvr additive="base">
                                        <p:cTn id="23" dur="500" fill="hold"/>
                                        <p:tgtEl>
                                          <p:spTgt spid="11"/>
                                        </p:tgtEl>
                                        <p:attrNameLst>
                                          <p:attrName>ppt_x</p:attrName>
                                        </p:attrNameLst>
                                      </p:cBhvr>
                                      <p:tavLst>
                                        <p:tav tm="0">
                                          <p:val>
                                            <p:strVal val="#ppt_x"/>
                                          </p:val>
                                        </p:tav>
                                        <p:tav tm="100000">
                                          <p:val>
                                            <p:strVal val="#ppt_x"/>
                                          </p:val>
                                        </p:tav>
                                      </p:tavLst>
                                    </p:anim>
                                    <p:anim calcmode="lin" valueType="num">
                                      <p:cBhvr additive="base">
                                        <p:cTn id="24"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grpId="0" nodeType="clickEffect">
                                  <p:stCondLst>
                                    <p:cond delay="0"/>
                                  </p:stCondLst>
                                  <p:childTnLst>
                                    <p:set>
                                      <p:cBhvr>
                                        <p:cTn id="28" dur="1" fill="hold">
                                          <p:stCondLst>
                                            <p:cond delay="0"/>
                                          </p:stCondLst>
                                        </p:cTn>
                                        <p:tgtEl>
                                          <p:spTgt spid="12"/>
                                        </p:tgtEl>
                                        <p:attrNameLst>
                                          <p:attrName>style.visibility</p:attrName>
                                        </p:attrNameLst>
                                      </p:cBhvr>
                                      <p:to>
                                        <p:strVal val="visible"/>
                                      </p:to>
                                    </p:set>
                                    <p:anim calcmode="lin" valueType="num">
                                      <p:cBhvr additive="base">
                                        <p:cTn id="29" dur="500" fill="hold"/>
                                        <p:tgtEl>
                                          <p:spTgt spid="12"/>
                                        </p:tgtEl>
                                        <p:attrNameLst>
                                          <p:attrName>ppt_x</p:attrName>
                                        </p:attrNameLst>
                                      </p:cBhvr>
                                      <p:tavLst>
                                        <p:tav tm="0">
                                          <p:val>
                                            <p:strVal val="#ppt_x"/>
                                          </p:val>
                                        </p:tav>
                                        <p:tav tm="100000">
                                          <p:val>
                                            <p:strVal val="#ppt_x"/>
                                          </p:val>
                                        </p:tav>
                                      </p:tavLst>
                                    </p:anim>
                                    <p:anim calcmode="lin" valueType="num">
                                      <p:cBhvr additive="base">
                                        <p:cTn id="30"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grpId="0" nodeType="clickEffect">
                                  <p:stCondLst>
                                    <p:cond delay="0"/>
                                  </p:stCondLst>
                                  <p:childTnLst>
                                    <p:set>
                                      <p:cBhvr>
                                        <p:cTn id="34" dur="1" fill="hold">
                                          <p:stCondLst>
                                            <p:cond delay="0"/>
                                          </p:stCondLst>
                                        </p:cTn>
                                        <p:tgtEl>
                                          <p:spTgt spid="14"/>
                                        </p:tgtEl>
                                        <p:attrNameLst>
                                          <p:attrName>style.visibility</p:attrName>
                                        </p:attrNameLst>
                                      </p:cBhvr>
                                      <p:to>
                                        <p:strVal val="visible"/>
                                      </p:to>
                                    </p:set>
                                    <p:anim calcmode="lin" valueType="num">
                                      <p:cBhvr additive="base">
                                        <p:cTn id="35" dur="500" fill="hold"/>
                                        <p:tgtEl>
                                          <p:spTgt spid="14"/>
                                        </p:tgtEl>
                                        <p:attrNameLst>
                                          <p:attrName>ppt_x</p:attrName>
                                        </p:attrNameLst>
                                      </p:cBhvr>
                                      <p:tavLst>
                                        <p:tav tm="0">
                                          <p:val>
                                            <p:strVal val="#ppt_x"/>
                                          </p:val>
                                        </p:tav>
                                        <p:tav tm="100000">
                                          <p:val>
                                            <p:strVal val="#ppt_x"/>
                                          </p:val>
                                        </p:tav>
                                      </p:tavLst>
                                    </p:anim>
                                    <p:anim calcmode="lin" valueType="num">
                                      <p:cBhvr additive="base">
                                        <p:cTn id="36"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 presetClass="entr" presetSubtype="4" fill="hold" grpId="0" nodeType="clickEffect">
                                  <p:stCondLst>
                                    <p:cond delay="0"/>
                                  </p:stCondLst>
                                  <p:childTnLst>
                                    <p:set>
                                      <p:cBhvr>
                                        <p:cTn id="40" dur="1" fill="hold">
                                          <p:stCondLst>
                                            <p:cond delay="0"/>
                                          </p:stCondLst>
                                        </p:cTn>
                                        <p:tgtEl>
                                          <p:spTgt spid="17"/>
                                        </p:tgtEl>
                                        <p:attrNameLst>
                                          <p:attrName>style.visibility</p:attrName>
                                        </p:attrNameLst>
                                      </p:cBhvr>
                                      <p:to>
                                        <p:strVal val="visible"/>
                                      </p:to>
                                    </p:set>
                                    <p:anim calcmode="lin" valueType="num">
                                      <p:cBhvr additive="base">
                                        <p:cTn id="41" dur="500" fill="hold"/>
                                        <p:tgtEl>
                                          <p:spTgt spid="17"/>
                                        </p:tgtEl>
                                        <p:attrNameLst>
                                          <p:attrName>ppt_x</p:attrName>
                                        </p:attrNameLst>
                                      </p:cBhvr>
                                      <p:tavLst>
                                        <p:tav tm="0">
                                          <p:val>
                                            <p:strVal val="#ppt_x"/>
                                          </p:val>
                                        </p:tav>
                                        <p:tav tm="100000">
                                          <p:val>
                                            <p:strVal val="#ppt_x"/>
                                          </p:val>
                                        </p:tav>
                                      </p:tavLst>
                                    </p:anim>
                                    <p:anim calcmode="lin" valueType="num">
                                      <p:cBhvr additive="base">
                                        <p:cTn id="42"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6" grpId="0"/>
      <p:bldP spid="8" grpId="0"/>
      <p:bldP spid="11" grpId="0"/>
      <p:bldP spid="12" grpId="0"/>
      <p:bldP spid="14" grpId="0"/>
      <p:bldP spid="17"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Rectangle 3"/>
          <p:cNvSpPr txBox="1"/>
          <p:nvPr/>
        </p:nvSpPr>
        <p:spPr>
          <a:xfrm>
            <a:off x="517525" y="838200"/>
            <a:ext cx="7178675" cy="706438"/>
          </a:xfrm>
          <a:prstGeom prst="rect">
            <a:avLst/>
          </a:prstGeom>
          <a:noFill/>
          <a:ln w="9525">
            <a:noFill/>
          </a:ln>
        </p:spPr>
        <p:txBody>
          <a:bodyPr anchor="t"/>
          <a:lstStyle/>
          <a:p>
            <a:pPr lvl="0" indent="0" eaLnBrk="0" hangingPunct="0"/>
            <a:r>
              <a:rPr lang="en-US" altLang="x-none" sz="2800" dirty="0">
                <a:solidFill>
                  <a:srgbClr val="FF0000"/>
                </a:solidFill>
                <a:latin typeface="黑体" panose="02010609060101010101" pitchFamily="1" charset="-122"/>
                <a:ea typeface="黑体" panose="02010609060101010101" pitchFamily="1" charset="-122"/>
              </a:rPr>
              <a:t>1</a:t>
            </a:r>
            <a:r>
              <a:rPr lang="zh-CN" altLang="en-US" sz="2800" dirty="0">
                <a:solidFill>
                  <a:srgbClr val="FF0000"/>
                </a:solidFill>
                <a:latin typeface="黑体" panose="02010609060101010101" pitchFamily="1" charset="-122"/>
                <a:ea typeface="黑体" panose="02010609060101010101" pitchFamily="1" charset="-122"/>
              </a:rPr>
              <a:t>、多粒度加锁的概念</a:t>
            </a:r>
            <a:endParaRPr lang="en-US" altLang="x-none" sz="2800" dirty="0">
              <a:solidFill>
                <a:srgbClr val="FF0000"/>
              </a:solidFill>
              <a:latin typeface="黑体" panose="02010609060101010101" pitchFamily="1" charset="-122"/>
              <a:ea typeface="黑体" panose="02010609060101010101" pitchFamily="1" charset="-122"/>
            </a:endParaRPr>
          </a:p>
        </p:txBody>
      </p:sp>
      <p:sp>
        <p:nvSpPr>
          <p:cNvPr id="123908" name="Rectangle 3"/>
          <p:cNvSpPr txBox="1"/>
          <p:nvPr/>
        </p:nvSpPr>
        <p:spPr>
          <a:xfrm>
            <a:off x="517208" y="1412240"/>
            <a:ext cx="8364537" cy="4503738"/>
          </a:xfrm>
          <a:prstGeom prst="rect">
            <a:avLst/>
          </a:prstGeom>
          <a:noFill/>
          <a:ln w="9525">
            <a:noFill/>
          </a:ln>
        </p:spPr>
        <p:txBody>
          <a:bodyPr anchor="t"/>
          <a:lstStyle/>
          <a:p>
            <a:pPr lvl="0" eaLnBrk="0" hangingPunct="0">
              <a:lnSpc>
                <a:spcPct val="100000"/>
              </a:lnSpc>
              <a:spcBef>
                <a:spcPts val="300"/>
              </a:spcBef>
              <a:spcAft>
                <a:spcPts val="300"/>
              </a:spcAft>
              <a:buClr>
                <a:srgbClr val="0033CC"/>
              </a:buClr>
              <a:buSzPct val="80000"/>
              <a:buFont typeface="Wingdings" panose="05000000000000000000" pitchFamily="2" charset="2"/>
            </a:pPr>
            <a:r>
              <a:rPr lang="en-US" altLang="zh-CN" sz="2400" dirty="0">
                <a:latin typeface="华文楷体" panose="02010600040101010101" pitchFamily="2" charset="-122"/>
                <a:ea typeface="宋体" panose="02010600030101010101" pitchFamily="2" charset="-122"/>
                <a:sym typeface="Wingdings" panose="05000000000000000000" pitchFamily="2" charset="2"/>
              </a:rPr>
              <a:t>        </a:t>
            </a:r>
            <a:r>
              <a:rPr lang="zh-CN" altLang="en-US" sz="2400" dirty="0">
                <a:latin typeface="华文楷体" panose="02010600040101010101" pitchFamily="2" charset="-122"/>
                <a:ea typeface="宋体" panose="02010600030101010101" pitchFamily="2" charset="-122"/>
                <a:sym typeface="Wingdings" panose="05000000000000000000" pitchFamily="2" charset="2"/>
              </a:rPr>
              <a:t>在数据库中，一个数据对象的大小可以大到整个数据库、一页、一个表，也可以小到一行</a:t>
            </a:r>
            <a:r>
              <a:rPr lang="en-US" altLang="x-none" sz="2400" dirty="0">
                <a:latin typeface="华文楷体" panose="02010600040101010101" pitchFamily="2" charset="-122"/>
                <a:ea typeface="宋体" panose="02010600030101010101" pitchFamily="2" charset="-122"/>
                <a:sym typeface="Wingdings" panose="05000000000000000000" pitchFamily="2" charset="2"/>
              </a:rPr>
              <a:t>(</a:t>
            </a:r>
            <a:r>
              <a:rPr lang="zh-CN" altLang="en-US" sz="2400" dirty="0">
                <a:latin typeface="华文楷体" panose="02010600040101010101" pitchFamily="2" charset="-122"/>
                <a:ea typeface="宋体" panose="02010600030101010101" pitchFamily="2" charset="-122"/>
                <a:sym typeface="Wingdings" panose="05000000000000000000" pitchFamily="2" charset="2"/>
              </a:rPr>
              <a:t>即元组</a:t>
            </a:r>
            <a:r>
              <a:rPr lang="en-US" altLang="x-none" sz="2400" dirty="0">
                <a:latin typeface="华文楷体" panose="02010600040101010101" pitchFamily="2" charset="-122"/>
                <a:ea typeface="宋体" panose="02010600030101010101" pitchFamily="2" charset="-122"/>
                <a:sym typeface="Wingdings" panose="05000000000000000000" pitchFamily="2" charset="2"/>
              </a:rPr>
              <a:t>)</a:t>
            </a:r>
            <a:r>
              <a:rPr lang="zh-CN" altLang="en-US" sz="2400" dirty="0">
                <a:latin typeface="华文楷体" panose="02010600040101010101" pitchFamily="2" charset="-122"/>
                <a:ea typeface="宋体" panose="02010600030101010101" pitchFamily="2" charset="-122"/>
                <a:sym typeface="Wingdings" panose="05000000000000000000" pitchFamily="2" charset="2"/>
              </a:rPr>
              <a:t>。 对加锁来说，数据对象的大小即是加锁的粒度。</a:t>
            </a:r>
            <a:endParaRPr lang="zh-CN" altLang="en-US" sz="2400" dirty="0">
              <a:latin typeface="华文楷体" panose="02010600040101010101" pitchFamily="2" charset="-122"/>
              <a:ea typeface="宋体" panose="02010600030101010101" pitchFamily="2" charset="-122"/>
              <a:sym typeface="Wingdings" panose="05000000000000000000" pitchFamily="2" charset="2"/>
            </a:endParaRPr>
          </a:p>
          <a:p>
            <a:pPr marL="342900" lvl="0" indent="-342900" eaLnBrk="0" hangingPunct="0">
              <a:lnSpc>
                <a:spcPct val="100000"/>
              </a:lnSpc>
              <a:spcBef>
                <a:spcPts val="600"/>
              </a:spcBef>
              <a:spcAft>
                <a:spcPts val="0"/>
              </a:spcAft>
              <a:buClr>
                <a:srgbClr val="0000CC"/>
              </a:buClr>
              <a:buSzPct val="80000"/>
              <a:buFont typeface="Wingdings" panose="05000000000000000000" pitchFamily="2" charset="2"/>
              <a:buChar char="u"/>
            </a:pPr>
            <a:r>
              <a:rPr lang="zh-CN" altLang="en-US" sz="2400" u="sng" dirty="0">
                <a:solidFill>
                  <a:srgbClr val="C00000"/>
                </a:solidFill>
                <a:latin typeface="华文楷体" panose="02010600040101010101" pitchFamily="2" charset="-122"/>
                <a:ea typeface="宋体" panose="02010600030101010101" pitchFamily="2" charset="-122"/>
                <a:sym typeface="Wingdings" panose="05000000000000000000" pitchFamily="2" charset="2"/>
              </a:rPr>
              <a:t>粒度、控制及并发度间关系：</a:t>
            </a:r>
            <a:r>
              <a:rPr lang="zh-CN" altLang="en-US" sz="2300" dirty="0">
                <a:latin typeface="楷体" panose="02010609060101010101" pitchFamily="1" charset="-122"/>
                <a:ea typeface="楷体" panose="02010609060101010101" pitchFamily="1" charset="-122"/>
                <a:sym typeface="Wingdings" panose="05000000000000000000" pitchFamily="2" charset="2"/>
              </a:rPr>
              <a:t>加锁单位愈大，加锁愈简单，但同时会降低并发度。反之，加锁单位越小，往往需要加很多的锁，所需的控制越复杂，不过并发度可提高。</a:t>
            </a:r>
            <a:endParaRPr lang="zh-CN" altLang="en-US" sz="2300" dirty="0">
              <a:latin typeface="楷体" panose="02010609060101010101" pitchFamily="1" charset="-122"/>
              <a:ea typeface="楷体" panose="02010609060101010101" pitchFamily="1" charset="-122"/>
              <a:sym typeface="Wingdings" panose="05000000000000000000" pitchFamily="2" charset="2"/>
            </a:endParaRPr>
          </a:p>
          <a:p>
            <a:pPr marL="342900" lvl="0" indent="-342900" eaLnBrk="0" hangingPunct="0">
              <a:lnSpc>
                <a:spcPct val="100000"/>
              </a:lnSpc>
              <a:spcBef>
                <a:spcPts val="600"/>
              </a:spcBef>
              <a:spcAft>
                <a:spcPts val="0"/>
              </a:spcAft>
              <a:buClr>
                <a:srgbClr val="0000CC"/>
              </a:buClr>
              <a:buSzPct val="80000"/>
              <a:buFont typeface="Wingdings" panose="05000000000000000000" pitchFamily="2" charset="2"/>
              <a:buChar char="u"/>
            </a:pPr>
            <a:r>
              <a:rPr lang="zh-CN" altLang="en-US" sz="2400" u="sng" dirty="0">
                <a:solidFill>
                  <a:srgbClr val="A50021"/>
                </a:solidFill>
                <a:latin typeface="华文楷体" panose="02010600040101010101" pitchFamily="2" charset="-122"/>
                <a:ea typeface="宋体" panose="02010600030101010101" pitchFamily="2" charset="-122"/>
                <a:sym typeface="Wingdings" panose="05000000000000000000" pitchFamily="2" charset="2"/>
              </a:rPr>
              <a:t>实际需要：</a:t>
            </a:r>
            <a:r>
              <a:rPr lang="zh-CN" altLang="en-US" sz="2300" dirty="0">
                <a:latin typeface="楷体" panose="02010609060101010101" pitchFamily="1" charset="-122"/>
                <a:ea typeface="楷体" panose="02010609060101010101" pitchFamily="1" charset="-122"/>
                <a:sym typeface="Wingdings" panose="05000000000000000000" pitchFamily="2" charset="2"/>
              </a:rPr>
              <a:t>实际应用中，有时要访问大片数据，而有时只访问个别数据，为此，可提供多级加锁单位，根据应用需要加以选用。</a:t>
            </a:r>
            <a:endParaRPr lang="zh-CN" altLang="en-US" sz="2300" dirty="0">
              <a:latin typeface="楷体" panose="02010609060101010101" pitchFamily="1" charset="-122"/>
              <a:ea typeface="楷体" panose="02010609060101010101" pitchFamily="1" charset="-122"/>
              <a:sym typeface="Wingdings" panose="05000000000000000000" pitchFamily="2" charset="2"/>
            </a:endParaRPr>
          </a:p>
          <a:p>
            <a:pPr marL="342900" lvl="0" indent="-342900" eaLnBrk="0" hangingPunct="0">
              <a:lnSpc>
                <a:spcPct val="100000"/>
              </a:lnSpc>
              <a:spcBef>
                <a:spcPts val="600"/>
              </a:spcBef>
              <a:spcAft>
                <a:spcPts val="0"/>
              </a:spcAft>
              <a:buClr>
                <a:srgbClr val="0000CC"/>
              </a:buClr>
              <a:buSzPct val="80000"/>
              <a:buFont typeface="Wingdings" panose="05000000000000000000" pitchFamily="2" charset="2"/>
              <a:buChar char="u"/>
            </a:pPr>
            <a:r>
              <a:rPr lang="zh-CN" altLang="en-US" sz="2400" u="sng" dirty="0">
                <a:solidFill>
                  <a:srgbClr val="A50021"/>
                </a:solidFill>
                <a:latin typeface="华文楷体" panose="02010600040101010101" pitchFamily="2" charset="-122"/>
                <a:ea typeface="宋体" panose="02010600030101010101" pitchFamily="2" charset="-122"/>
                <a:sym typeface="Wingdings" panose="05000000000000000000" pitchFamily="2" charset="2"/>
              </a:rPr>
              <a:t>实际</a:t>
            </a:r>
            <a:r>
              <a:rPr lang="en-US" altLang="x-none" sz="2400" u="sng" dirty="0">
                <a:solidFill>
                  <a:srgbClr val="A50021"/>
                </a:solidFill>
                <a:latin typeface="华文楷体" panose="02010600040101010101" pitchFamily="2" charset="-122"/>
                <a:ea typeface="宋体" panose="02010600030101010101" pitchFamily="2" charset="-122"/>
                <a:sym typeface="Wingdings" panose="05000000000000000000" pitchFamily="2" charset="2"/>
              </a:rPr>
              <a:t>RDBMS</a:t>
            </a:r>
            <a:r>
              <a:rPr lang="zh-CN" altLang="en-US" sz="2400" u="sng" dirty="0">
                <a:solidFill>
                  <a:srgbClr val="A50021"/>
                </a:solidFill>
                <a:latin typeface="华文楷体" panose="02010600040101010101" pitchFamily="2" charset="-122"/>
                <a:ea typeface="宋体" panose="02010600030101010101" pitchFamily="2" charset="-122"/>
                <a:sym typeface="Wingdings" panose="05000000000000000000" pitchFamily="2" charset="2"/>
              </a:rPr>
              <a:t>做法：</a:t>
            </a:r>
            <a:r>
              <a:rPr lang="zh-CN" altLang="en-US" sz="2300" dirty="0">
                <a:latin typeface="楷体" panose="02010609060101010101" pitchFamily="1" charset="-122"/>
                <a:ea typeface="楷体" panose="02010609060101010101" pitchFamily="1" charset="-122"/>
                <a:sym typeface="Wingdings" panose="05000000000000000000" pitchFamily="2" charset="2"/>
              </a:rPr>
              <a:t>现代大型</a:t>
            </a:r>
            <a:r>
              <a:rPr lang="en-US" altLang="x-none" sz="2300" dirty="0">
                <a:latin typeface="楷体" panose="02010609060101010101" pitchFamily="1" charset="-122"/>
                <a:ea typeface="楷体" panose="02010609060101010101" pitchFamily="1" charset="-122"/>
                <a:sym typeface="Wingdings" panose="05000000000000000000" pitchFamily="2" charset="2"/>
              </a:rPr>
              <a:t>DBMS</a:t>
            </a:r>
            <a:r>
              <a:rPr lang="zh-CN" altLang="en-US" sz="2300" dirty="0">
                <a:latin typeface="楷体" panose="02010609060101010101" pitchFamily="1" charset="-122"/>
                <a:ea typeface="楷体" panose="02010609060101010101" pitchFamily="1" charset="-122"/>
                <a:sym typeface="Wingdings" panose="05000000000000000000" pitchFamily="2" charset="2"/>
              </a:rPr>
              <a:t>一般均支持多粒度加锁，而在微机</a:t>
            </a:r>
            <a:r>
              <a:rPr lang="en-US" altLang="x-none" sz="2300" dirty="0">
                <a:latin typeface="楷体" panose="02010609060101010101" pitchFamily="1" charset="-122"/>
                <a:ea typeface="楷体" panose="02010609060101010101" pitchFamily="1" charset="-122"/>
                <a:sym typeface="Wingdings" panose="05000000000000000000" pitchFamily="2" charset="2"/>
              </a:rPr>
              <a:t>DBMS</a:t>
            </a:r>
            <a:r>
              <a:rPr lang="zh-CN" altLang="en-US" sz="2300" dirty="0">
                <a:latin typeface="楷体" panose="02010609060101010101" pitchFamily="1" charset="-122"/>
                <a:ea typeface="楷体" panose="02010609060101010101" pitchFamily="1" charset="-122"/>
                <a:sym typeface="Wingdings" panose="05000000000000000000" pitchFamily="2" charset="2"/>
              </a:rPr>
              <a:t>中，并发度要求不高，一般以表作为加锁单位，此即：单粒度加锁。</a:t>
            </a:r>
            <a:endParaRPr lang="zh-CN" altLang="en-US" sz="2300" dirty="0">
              <a:latin typeface="楷体" panose="02010609060101010101" pitchFamily="1" charset="-122"/>
              <a:ea typeface="楷体" panose="02010609060101010101" pitchFamily="1" charset="-122"/>
              <a:sym typeface="Wingdings" panose="05000000000000000000" pitchFamily="2" charset="2"/>
            </a:endParaRPr>
          </a:p>
        </p:txBody>
      </p:sp>
      <p:sp>
        <p:nvSpPr>
          <p:cNvPr id="8" name="Rectangle 2"/>
          <p:cNvSpPr/>
          <p:nvPr/>
        </p:nvSpPr>
        <p:spPr>
          <a:xfrm>
            <a:off x="508000" y="80645"/>
            <a:ext cx="7924165" cy="692150"/>
          </a:xfrm>
          <a:prstGeom prst="rect">
            <a:avLst/>
          </a:prstGeom>
          <a:noFill/>
          <a:ln w="9525">
            <a:noFill/>
          </a:ln>
        </p:spPr>
        <p:txBody>
          <a:bodyPr anchor="ctr"/>
          <a:lstStyle/>
          <a:p>
            <a:pPr lvl="0" indent="0">
              <a:buFont typeface="Wingdings" panose="05000000000000000000" pitchFamily="2" charset="2"/>
              <a:buNone/>
            </a:pPr>
            <a:r>
              <a:rPr lang="zh-CN" altLang="en-US" sz="3200" dirty="0" smtClean="0">
                <a:solidFill>
                  <a:srgbClr val="0033CC"/>
                </a:solidFill>
                <a:latin typeface="Arial" panose="020B0604020202020204" pitchFamily="34" charset="0"/>
                <a:ea typeface="黑体" panose="02010609060101010101" pitchFamily="1" charset="-122"/>
              </a:rPr>
              <a:t>四、多粒度加锁协议</a:t>
            </a:r>
            <a:endParaRPr lang="zh-CN" altLang="en-US" sz="3200" dirty="0">
              <a:solidFill>
                <a:srgbClr val="0033CC"/>
              </a:solidFill>
              <a:latin typeface="Arial" panose="020B0604020202020204" pitchFamily="34" charset="0"/>
              <a:ea typeface="黑体" panose="02010609060101010101" pitchFamily="1" charset="-122"/>
            </a:endParaRPr>
          </a:p>
        </p:txBody>
      </p:sp>
    </p:spTree>
  </p:cSld>
  <p:clrMapOvr>
    <a:masterClrMapping/>
  </p:clrMapOvr>
  <p:transition/>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3" name="Text Box 3"/>
          <p:cNvSpPr txBox="1"/>
          <p:nvPr/>
        </p:nvSpPr>
        <p:spPr>
          <a:xfrm>
            <a:off x="575310" y="1355725"/>
            <a:ext cx="8488045" cy="3343275"/>
          </a:xfrm>
          <a:prstGeom prst="rect">
            <a:avLst/>
          </a:prstGeom>
          <a:noFill/>
          <a:ln w="9525">
            <a:noFill/>
          </a:ln>
        </p:spPr>
        <p:txBody>
          <a:bodyPr wrap="square" anchor="t">
            <a:spAutoFit/>
          </a:bodyPr>
          <a:lstStyle/>
          <a:p>
            <a:pPr lvl="0" indent="0">
              <a:lnSpc>
                <a:spcPct val="120000"/>
              </a:lnSpc>
              <a:spcBef>
                <a:spcPts val="1200"/>
              </a:spcBef>
            </a:pPr>
            <a:r>
              <a:rPr lang="en-US" altLang="x-none" sz="2100" dirty="0">
                <a:solidFill>
                  <a:srgbClr val="CC0000"/>
                </a:solidFill>
                <a:latin typeface="宋体" panose="02010600030101010101" pitchFamily="2" charset="-122"/>
                <a:ea typeface="宋体" panose="02010600030101010101" pitchFamily="2" charset="-122"/>
              </a:rPr>
              <a:t>UPDATE </a:t>
            </a:r>
            <a:r>
              <a:rPr lang="en-US" altLang="x-none" sz="2100" dirty="0">
                <a:latin typeface="宋体" panose="02010600030101010101" pitchFamily="2" charset="-122"/>
                <a:ea typeface="宋体" panose="02010600030101010101" pitchFamily="2" charset="-122"/>
              </a:rPr>
              <a:t>{</a:t>
            </a:r>
            <a:r>
              <a:rPr lang="zh-CN" altLang="en-US" sz="2100" dirty="0">
                <a:latin typeface="宋体" panose="02010600030101010101" pitchFamily="2" charset="-122"/>
                <a:ea typeface="宋体" panose="02010600030101010101" pitchFamily="2" charset="-122"/>
              </a:rPr>
              <a:t>表名 </a:t>
            </a:r>
            <a:r>
              <a:rPr lang="en-US" altLang="x-none" sz="2100" dirty="0">
                <a:latin typeface="宋体" panose="02010600030101010101" pitchFamily="2" charset="-122"/>
                <a:ea typeface="宋体" panose="02010600030101010101" pitchFamily="2" charset="-122"/>
              </a:rPr>
              <a:t>[ WITH ( &lt; </a:t>
            </a:r>
            <a:r>
              <a:rPr lang="zh-CN" altLang="en-US" sz="2100" dirty="0">
                <a:latin typeface="宋体" panose="02010600030101010101" pitchFamily="2" charset="-122"/>
                <a:ea typeface="宋体" panose="02010600030101010101" pitchFamily="2" charset="-122"/>
              </a:rPr>
              <a:t>表更新选项 </a:t>
            </a:r>
            <a:r>
              <a:rPr lang="en-US" altLang="x-none" sz="2100" dirty="0">
                <a:latin typeface="宋体" panose="02010600030101010101" pitchFamily="2" charset="-122"/>
                <a:ea typeface="宋体" panose="02010600030101010101" pitchFamily="2" charset="-122"/>
              </a:rPr>
              <a:t>&gt; [ ...n ])] |</a:t>
            </a:r>
            <a:r>
              <a:rPr lang="zh-CN" altLang="en-US" sz="2100" dirty="0">
                <a:latin typeface="宋体" panose="02010600030101010101" pitchFamily="2" charset="-122"/>
                <a:ea typeface="宋体" panose="02010600030101010101" pitchFamily="2" charset="-122"/>
              </a:rPr>
              <a:t>视图名</a:t>
            </a:r>
            <a:r>
              <a:rPr lang="en-US" altLang="x-none" sz="2100" dirty="0">
                <a:latin typeface="宋体" panose="02010600030101010101" pitchFamily="2" charset="-122"/>
                <a:ea typeface="宋体" panose="02010600030101010101" pitchFamily="2" charset="-122"/>
              </a:rPr>
              <a:t>}</a:t>
            </a:r>
            <a:r>
              <a:rPr lang="en-US" altLang="x-none" sz="2100" dirty="0">
                <a:solidFill>
                  <a:srgbClr val="000099"/>
                </a:solidFill>
                <a:latin typeface="宋体" panose="02010600030101010101" pitchFamily="2" charset="-122"/>
                <a:ea typeface="宋体" panose="02010600030101010101" pitchFamily="2" charset="-122"/>
              </a:rPr>
              <a:t> </a:t>
            </a:r>
            <a:br>
              <a:rPr lang="en-US" altLang="x-none" sz="2100" dirty="0">
                <a:solidFill>
                  <a:srgbClr val="000099"/>
                </a:solidFill>
                <a:latin typeface="宋体" panose="02010600030101010101" pitchFamily="2" charset="-122"/>
                <a:ea typeface="宋体" panose="02010600030101010101" pitchFamily="2" charset="-122"/>
              </a:rPr>
            </a:br>
            <a:r>
              <a:rPr lang="en-US" altLang="x-none" sz="2100" dirty="0">
                <a:solidFill>
                  <a:srgbClr val="CC0000"/>
                </a:solidFill>
                <a:latin typeface="宋体" panose="02010600030101010101" pitchFamily="2" charset="-122"/>
                <a:ea typeface="宋体" panose="02010600030101010101" pitchFamily="2" charset="-122"/>
              </a:rPr>
              <a:t>SET </a:t>
            </a:r>
            <a:r>
              <a:rPr lang="en-US" altLang="x-none" sz="2100" dirty="0">
                <a:solidFill>
                  <a:srgbClr val="000099"/>
                </a:solidFill>
                <a:latin typeface="宋体" panose="02010600030101010101" pitchFamily="2" charset="-122"/>
                <a:ea typeface="宋体" panose="02010600030101010101" pitchFamily="2" charset="-122"/>
              </a:rPr>
              <a:t> </a:t>
            </a:r>
            <a:r>
              <a:rPr lang="en-US" altLang="x-none" sz="2100" dirty="0">
                <a:latin typeface="宋体" panose="02010600030101010101" pitchFamily="2" charset="-122"/>
                <a:ea typeface="宋体" panose="02010600030101010101" pitchFamily="2" charset="-122"/>
              </a:rPr>
              <a:t>{</a:t>
            </a:r>
            <a:r>
              <a:rPr lang="zh-CN" altLang="en-US" sz="2100" dirty="0">
                <a:latin typeface="宋体" panose="02010600030101010101" pitchFamily="2" charset="-122"/>
                <a:ea typeface="宋体" panose="02010600030101010101" pitchFamily="2" charset="-122"/>
              </a:rPr>
              <a:t>列名 </a:t>
            </a:r>
            <a:r>
              <a:rPr lang="en-US" altLang="x-none" sz="2100" dirty="0">
                <a:latin typeface="宋体" panose="02010600030101010101" pitchFamily="2" charset="-122"/>
                <a:ea typeface="宋体" panose="02010600030101010101" pitchFamily="2" charset="-122"/>
              </a:rPr>
              <a:t>= {</a:t>
            </a:r>
            <a:r>
              <a:rPr lang="zh-CN" altLang="en-US" sz="2100" dirty="0">
                <a:latin typeface="宋体" panose="02010600030101010101" pitchFamily="2" charset="-122"/>
                <a:ea typeface="宋体" panose="02010600030101010101" pitchFamily="2" charset="-122"/>
              </a:rPr>
              <a:t>表达式</a:t>
            </a:r>
            <a:r>
              <a:rPr lang="en-US" altLang="x-none" sz="2100" dirty="0">
                <a:latin typeface="宋体" panose="02010600030101010101" pitchFamily="2" charset="-122"/>
                <a:ea typeface="宋体" panose="02010600030101010101" pitchFamily="2" charset="-122"/>
              </a:rPr>
              <a:t>|DEFAULT|NULL}}[ ,...n ]} </a:t>
            </a:r>
            <a:br>
              <a:rPr lang="en-US" altLang="x-none" sz="2100" dirty="0">
                <a:latin typeface="宋体" panose="02010600030101010101" pitchFamily="2" charset="-122"/>
                <a:ea typeface="宋体" panose="02010600030101010101" pitchFamily="2" charset="-122"/>
              </a:rPr>
            </a:br>
            <a:r>
              <a:rPr lang="en-US" altLang="x-none" sz="2100" dirty="0">
                <a:solidFill>
                  <a:srgbClr val="000099"/>
                </a:solidFill>
                <a:latin typeface="宋体" panose="02010600030101010101" pitchFamily="2" charset="-122"/>
                <a:ea typeface="宋体" panose="02010600030101010101" pitchFamily="2" charset="-122"/>
              </a:rPr>
              <a:t>[</a:t>
            </a:r>
            <a:r>
              <a:rPr lang="en-US" altLang="x-none" sz="2100" dirty="0">
                <a:solidFill>
                  <a:srgbClr val="CC0000"/>
                </a:solidFill>
                <a:latin typeface="宋体" panose="02010600030101010101" pitchFamily="2" charset="-122"/>
                <a:ea typeface="宋体" panose="02010600030101010101" pitchFamily="2" charset="-122"/>
              </a:rPr>
              <a:t>FROM</a:t>
            </a:r>
            <a:r>
              <a:rPr lang="en-US" altLang="x-none" sz="2100" dirty="0">
                <a:solidFill>
                  <a:srgbClr val="000099"/>
                </a:solidFill>
                <a:latin typeface="宋体" panose="02010600030101010101" pitchFamily="2" charset="-122"/>
                <a:ea typeface="宋体" panose="02010600030101010101" pitchFamily="2" charset="-122"/>
              </a:rPr>
              <a:t> </a:t>
            </a:r>
            <a:r>
              <a:rPr lang="en-US" altLang="x-none" sz="2100" dirty="0">
                <a:latin typeface="宋体" panose="02010600030101010101" pitchFamily="2" charset="-122"/>
                <a:ea typeface="宋体" panose="02010600030101010101" pitchFamily="2" charset="-122"/>
              </a:rPr>
              <a:t>{ &lt; </a:t>
            </a:r>
            <a:r>
              <a:rPr lang="zh-CN" altLang="en-US" sz="2100" dirty="0">
                <a:latin typeface="宋体" panose="02010600030101010101" pitchFamily="2" charset="-122"/>
                <a:ea typeface="宋体" panose="02010600030101010101" pitchFamily="2" charset="-122"/>
              </a:rPr>
              <a:t>源表</a:t>
            </a:r>
            <a:r>
              <a:rPr lang="en-US" altLang="x-none" sz="2100" dirty="0">
                <a:latin typeface="宋体" panose="02010600030101010101" pitchFamily="2" charset="-122"/>
                <a:ea typeface="宋体" panose="02010600030101010101" pitchFamily="2" charset="-122"/>
              </a:rPr>
              <a:t>&gt; }[ ,...n ]] </a:t>
            </a:r>
            <a:endParaRPr lang="en-US" altLang="x-none" sz="2100" dirty="0">
              <a:latin typeface="宋体" panose="02010600030101010101" pitchFamily="2" charset="-122"/>
              <a:ea typeface="宋体" panose="02010600030101010101" pitchFamily="2" charset="-122"/>
            </a:endParaRPr>
          </a:p>
          <a:p>
            <a:pPr lvl="0" indent="0">
              <a:lnSpc>
                <a:spcPct val="120000"/>
              </a:lnSpc>
              <a:spcBef>
                <a:spcPts val="300"/>
              </a:spcBef>
            </a:pPr>
            <a:r>
              <a:rPr lang="en-US" altLang="x-none" sz="2100" dirty="0">
                <a:solidFill>
                  <a:srgbClr val="000099"/>
                </a:solidFill>
                <a:latin typeface="宋体" panose="02010600030101010101" pitchFamily="2" charset="-122"/>
                <a:ea typeface="宋体" panose="02010600030101010101" pitchFamily="2" charset="-122"/>
              </a:rPr>
              <a:t>[</a:t>
            </a:r>
            <a:r>
              <a:rPr lang="en-US" altLang="x-none" sz="2100" dirty="0">
                <a:solidFill>
                  <a:srgbClr val="CC0000"/>
                </a:solidFill>
                <a:latin typeface="宋体" panose="02010600030101010101" pitchFamily="2" charset="-122"/>
                <a:ea typeface="宋体" panose="02010600030101010101" pitchFamily="2" charset="-122"/>
              </a:rPr>
              <a:t>WHERE</a:t>
            </a:r>
            <a:r>
              <a:rPr lang="en-US" altLang="x-none" sz="2100" dirty="0">
                <a:solidFill>
                  <a:srgbClr val="000099"/>
                </a:solidFill>
                <a:latin typeface="宋体" panose="02010600030101010101" pitchFamily="2" charset="-122"/>
                <a:ea typeface="宋体" panose="02010600030101010101" pitchFamily="2" charset="-122"/>
              </a:rPr>
              <a:t> </a:t>
            </a:r>
            <a:r>
              <a:rPr lang="en-US" altLang="x-none" sz="2100" dirty="0">
                <a:latin typeface="宋体" panose="02010600030101010101" pitchFamily="2" charset="-122"/>
                <a:ea typeface="宋体" panose="02010600030101010101" pitchFamily="2" charset="-122"/>
              </a:rPr>
              <a:t>&lt; </a:t>
            </a:r>
            <a:r>
              <a:rPr lang="zh-CN" altLang="en-US" sz="2100" dirty="0">
                <a:latin typeface="宋体" panose="02010600030101010101" pitchFamily="2" charset="-122"/>
                <a:ea typeface="宋体" panose="02010600030101010101" pitchFamily="2" charset="-122"/>
              </a:rPr>
              <a:t>条件表达式 </a:t>
            </a:r>
            <a:r>
              <a:rPr lang="en-US" altLang="x-none" sz="2100" dirty="0">
                <a:latin typeface="宋体" panose="02010600030101010101" pitchFamily="2" charset="-122"/>
                <a:ea typeface="宋体" panose="02010600030101010101" pitchFamily="2" charset="-122"/>
              </a:rPr>
              <a:t>&gt; ] </a:t>
            </a:r>
            <a:br>
              <a:rPr lang="en-US" altLang="x-none" sz="2100" dirty="0">
                <a:latin typeface="华文楷体" panose="02010600040101010101" pitchFamily="2" charset="-122"/>
                <a:ea typeface="华文楷体" panose="02010600040101010101" pitchFamily="2" charset="-122"/>
              </a:rPr>
            </a:br>
            <a:r>
              <a:rPr lang="en-US" altLang="x-none" sz="2100" dirty="0">
                <a:solidFill>
                  <a:srgbClr val="000099"/>
                </a:solidFill>
                <a:latin typeface="华文楷体" panose="02010600040101010101" pitchFamily="2" charset="-122"/>
                <a:ea typeface="华文楷体" panose="02010600040101010101" pitchFamily="2" charset="-122"/>
              </a:rPr>
              <a:t> </a:t>
            </a:r>
            <a:r>
              <a:rPr lang="en-US" altLang="x-none" sz="2100" dirty="0">
                <a:latin typeface="华文楷体" panose="02010600040101010101" pitchFamily="2" charset="-122"/>
                <a:ea typeface="华文楷体" panose="02010600040101010101" pitchFamily="2" charset="-122"/>
              </a:rPr>
              <a:t>&lt; </a:t>
            </a:r>
            <a:r>
              <a:rPr lang="zh-CN" altLang="en-US" sz="2100" dirty="0">
                <a:latin typeface="华文楷体" panose="02010600040101010101" pitchFamily="2" charset="-122"/>
                <a:ea typeface="华文楷体" panose="02010600040101010101" pitchFamily="2" charset="-122"/>
              </a:rPr>
              <a:t>表更新选项 </a:t>
            </a:r>
            <a:r>
              <a:rPr lang="en-US" altLang="x-none" sz="2100" dirty="0">
                <a:latin typeface="华文楷体" panose="02010600040101010101" pitchFamily="2" charset="-122"/>
                <a:ea typeface="华文楷体" panose="02010600040101010101" pitchFamily="2" charset="-122"/>
              </a:rPr>
              <a:t>&gt;::={</a:t>
            </a:r>
            <a:r>
              <a:rPr lang="en-US" altLang="zh-CN" sz="2100" dirty="0">
                <a:latin typeface="华文楷体" panose="02010600040101010101" pitchFamily="2" charset="-122"/>
                <a:ea typeface="华文楷体" panose="02010600040101010101" pitchFamily="2" charset="-122"/>
              </a:rPr>
              <a:t>PAGLOCK|ROWLOCK|TABLELOCK|UPDLOCK}</a:t>
            </a:r>
            <a:endParaRPr lang="en-US" altLang="zh-CN" sz="2100" dirty="0">
              <a:latin typeface="华文楷体" panose="02010600040101010101" pitchFamily="2" charset="-122"/>
              <a:ea typeface="华文楷体" panose="02010600040101010101" pitchFamily="2" charset="-122"/>
            </a:endParaRPr>
          </a:p>
          <a:p>
            <a:pPr lvl="0" indent="0">
              <a:lnSpc>
                <a:spcPct val="120000"/>
              </a:lnSpc>
              <a:spcBef>
                <a:spcPts val="300"/>
              </a:spcBef>
            </a:pPr>
            <a:r>
              <a:rPr lang="en-US" altLang="x-none" sz="2100" dirty="0">
                <a:latin typeface="华文楷体" panose="02010600040101010101" pitchFamily="2" charset="-122"/>
                <a:ea typeface="华文楷体" panose="02010600040101010101" pitchFamily="2" charset="-122"/>
              </a:rPr>
              <a:t> &lt; </a:t>
            </a:r>
            <a:r>
              <a:rPr lang="zh-CN" altLang="en-US" sz="2100" dirty="0">
                <a:latin typeface="华文楷体" panose="02010600040101010101" pitchFamily="2" charset="-122"/>
                <a:ea typeface="华文楷体" panose="02010600040101010101" pitchFamily="2" charset="-122"/>
              </a:rPr>
              <a:t>源表</a:t>
            </a:r>
            <a:r>
              <a:rPr lang="en-US" altLang="x-none" sz="2100" dirty="0">
                <a:latin typeface="华文楷体" panose="02010600040101010101" pitchFamily="2" charset="-122"/>
                <a:ea typeface="华文楷体" panose="02010600040101010101" pitchFamily="2" charset="-122"/>
              </a:rPr>
              <a:t>&gt;::=</a:t>
            </a:r>
            <a:r>
              <a:rPr lang="zh-CN" altLang="x-none" sz="2100" dirty="0">
                <a:latin typeface="华文楷体" panose="02010600040101010101" pitchFamily="2" charset="-122"/>
                <a:ea typeface="华文楷体" panose="02010600040101010101" pitchFamily="2" charset="-122"/>
              </a:rPr>
              <a:t>表名</a:t>
            </a:r>
            <a:r>
              <a:rPr lang="en-US" altLang="zh-CN" sz="2100" dirty="0">
                <a:latin typeface="华文楷体" panose="02010600040101010101" pitchFamily="2" charset="-122"/>
                <a:ea typeface="华文楷体" panose="02010600040101010101" pitchFamily="2" charset="-122"/>
              </a:rPr>
              <a:t>[ [ AS] </a:t>
            </a:r>
            <a:r>
              <a:rPr lang="zh-CN" altLang="zh-CN" sz="2100" dirty="0">
                <a:latin typeface="华文楷体" panose="02010600040101010101" pitchFamily="2" charset="-122"/>
                <a:ea typeface="华文楷体" panose="02010600040101010101" pitchFamily="2" charset="-122"/>
              </a:rPr>
              <a:t>别名</a:t>
            </a:r>
            <a:r>
              <a:rPr lang="en-US" altLang="zh-CN" sz="2100" dirty="0">
                <a:latin typeface="华文楷体" panose="02010600040101010101" pitchFamily="2" charset="-122"/>
                <a:ea typeface="华文楷体" panose="02010600040101010101" pitchFamily="2" charset="-122"/>
              </a:rPr>
              <a:t>] [ WITH (&lt;</a:t>
            </a:r>
            <a:r>
              <a:rPr lang="zh-CN" altLang="en-US" sz="2100" dirty="0">
                <a:latin typeface="华文楷体" panose="02010600040101010101" pitchFamily="2" charset="-122"/>
                <a:ea typeface="华文楷体" panose="02010600040101010101" pitchFamily="2" charset="-122"/>
              </a:rPr>
              <a:t>表更新项</a:t>
            </a:r>
            <a:r>
              <a:rPr lang="en-US" altLang="zh-CN" sz="2100" dirty="0">
                <a:latin typeface="华文楷体" panose="02010600040101010101" pitchFamily="2" charset="-122"/>
                <a:ea typeface="华文楷体" panose="02010600040101010101" pitchFamily="2" charset="-122"/>
              </a:rPr>
              <a:t>&gt;[,…n])}</a:t>
            </a:r>
            <a:endParaRPr lang="en-US" altLang="zh-CN" sz="2100" dirty="0">
              <a:latin typeface="华文楷体" panose="02010600040101010101" pitchFamily="2" charset="-122"/>
              <a:ea typeface="华文楷体" panose="02010600040101010101" pitchFamily="2" charset="-122"/>
            </a:endParaRPr>
          </a:p>
          <a:p>
            <a:pPr lvl="0" indent="0">
              <a:lnSpc>
                <a:spcPct val="120000"/>
              </a:lnSpc>
              <a:spcBef>
                <a:spcPts val="300"/>
              </a:spcBef>
            </a:pPr>
            <a:r>
              <a:rPr lang="en-US" altLang="zh-CN" sz="2100" dirty="0">
                <a:latin typeface="华文楷体" panose="02010600040101010101" pitchFamily="2" charset="-122"/>
                <a:ea typeface="华文楷体" panose="02010600040101010101" pitchFamily="2" charset="-122"/>
              </a:rPr>
              <a:t>                  |  </a:t>
            </a:r>
            <a:r>
              <a:rPr lang="zh-CN" altLang="zh-CN" sz="2100" dirty="0">
                <a:latin typeface="华文楷体" panose="02010600040101010101" pitchFamily="2" charset="-122"/>
                <a:ea typeface="华文楷体" panose="02010600040101010101" pitchFamily="2" charset="-122"/>
              </a:rPr>
              <a:t>视图名 </a:t>
            </a:r>
            <a:r>
              <a:rPr lang="en-US" altLang="zh-CN" sz="2100" dirty="0">
                <a:latin typeface="华文楷体" panose="02010600040101010101" pitchFamily="2" charset="-122"/>
                <a:ea typeface="华文楷体" panose="02010600040101010101" pitchFamily="2" charset="-122"/>
              </a:rPr>
              <a:t>[ [ AS] </a:t>
            </a:r>
            <a:r>
              <a:rPr lang="zh-CN" altLang="zh-CN" sz="2100" dirty="0">
                <a:latin typeface="华文楷体" panose="02010600040101010101" pitchFamily="2" charset="-122"/>
                <a:ea typeface="华文楷体" panose="02010600040101010101" pitchFamily="2" charset="-122"/>
              </a:rPr>
              <a:t>别名 </a:t>
            </a:r>
            <a:r>
              <a:rPr lang="en-US" altLang="zh-CN" sz="2100" dirty="0">
                <a:latin typeface="华文楷体" panose="02010600040101010101" pitchFamily="2" charset="-122"/>
                <a:ea typeface="华文楷体" panose="02010600040101010101" pitchFamily="2" charset="-122"/>
              </a:rPr>
              <a:t>]  | &lt;</a:t>
            </a:r>
            <a:r>
              <a:rPr lang="zh-CN" altLang="zh-CN" sz="2100" dirty="0">
                <a:latin typeface="华文楷体" panose="02010600040101010101" pitchFamily="2" charset="-122"/>
                <a:ea typeface="华文楷体" panose="02010600040101010101" pitchFamily="2" charset="-122"/>
              </a:rPr>
              <a:t>表联结</a:t>
            </a:r>
            <a:r>
              <a:rPr lang="en-US" altLang="zh-CN" sz="2100" dirty="0">
                <a:latin typeface="华文楷体" panose="02010600040101010101" pitchFamily="2" charset="-122"/>
                <a:ea typeface="华文楷体" panose="02010600040101010101" pitchFamily="2" charset="-122"/>
              </a:rPr>
              <a:t>&gt;</a:t>
            </a:r>
            <a:r>
              <a:rPr lang="en-US" altLang="x-none" sz="2100" dirty="0">
                <a:latin typeface="华文楷体" panose="02010600040101010101" pitchFamily="2" charset="-122"/>
                <a:ea typeface="华文楷体" panose="02010600040101010101" pitchFamily="2" charset="-122"/>
              </a:rPr>
              <a:t> </a:t>
            </a:r>
            <a:endParaRPr lang="en-US" altLang="x-none" sz="2100" dirty="0">
              <a:latin typeface="华文楷体" panose="02010600040101010101" pitchFamily="2" charset="-122"/>
              <a:ea typeface="华文楷体" panose="02010600040101010101" pitchFamily="2" charset="-122"/>
            </a:endParaRPr>
          </a:p>
          <a:p>
            <a:pPr lvl="0" indent="0">
              <a:lnSpc>
                <a:spcPct val="120000"/>
              </a:lnSpc>
              <a:spcBef>
                <a:spcPts val="300"/>
              </a:spcBef>
            </a:pPr>
            <a:r>
              <a:rPr lang="en-US" altLang="zh-CN" sz="2100" dirty="0">
                <a:latin typeface="华文楷体" panose="02010600040101010101" pitchFamily="2" charset="-122"/>
                <a:ea typeface="华文楷体" panose="02010600040101010101" pitchFamily="2" charset="-122"/>
              </a:rPr>
              <a:t>&lt;</a:t>
            </a:r>
            <a:r>
              <a:rPr lang="zh-CN" altLang="en-US" sz="2100" dirty="0">
                <a:latin typeface="华文楷体" panose="02010600040101010101" pitchFamily="2" charset="-122"/>
                <a:ea typeface="华文楷体" panose="02010600040101010101" pitchFamily="2" charset="-122"/>
              </a:rPr>
              <a:t>联结类型</a:t>
            </a:r>
            <a:r>
              <a:rPr lang="en-US" altLang="zh-CN" sz="2100" dirty="0">
                <a:latin typeface="华文楷体" panose="02010600040101010101" pitchFamily="2" charset="-122"/>
                <a:ea typeface="华文楷体" panose="02010600040101010101" pitchFamily="2" charset="-122"/>
              </a:rPr>
              <a:t>&gt;</a:t>
            </a:r>
            <a:r>
              <a:rPr lang="en-US" altLang="x-none" sz="2100" dirty="0">
                <a:latin typeface="华文楷体" panose="02010600040101010101" pitchFamily="2" charset="-122"/>
                <a:ea typeface="华文楷体" panose="02010600040101010101" pitchFamily="2" charset="-122"/>
              </a:rPr>
              <a:t>::=</a:t>
            </a:r>
            <a:r>
              <a:rPr lang="en-US" altLang="zh-CN" sz="2100" dirty="0">
                <a:latin typeface="华文楷体" panose="02010600040101010101" pitchFamily="2" charset="-122"/>
                <a:ea typeface="华文楷体" panose="02010600040101010101" pitchFamily="2" charset="-122"/>
              </a:rPr>
              <a:t>[INSERT | { { LEFT|RIGHT|FULL } [OUTER]}]JOIN</a:t>
            </a:r>
            <a:endParaRPr lang="en-US" altLang="zh-CN" sz="2100" dirty="0">
              <a:latin typeface="华文楷体" panose="02010600040101010101" pitchFamily="2" charset="-122"/>
              <a:ea typeface="华文楷体" panose="02010600040101010101" pitchFamily="2" charset="-122"/>
            </a:endParaRPr>
          </a:p>
        </p:txBody>
      </p:sp>
      <p:sp>
        <p:nvSpPr>
          <p:cNvPr id="120836" name="矩形 4"/>
          <p:cNvSpPr/>
          <p:nvPr/>
        </p:nvSpPr>
        <p:spPr>
          <a:xfrm>
            <a:off x="641350" y="4659630"/>
            <a:ext cx="8186738" cy="1408113"/>
          </a:xfrm>
          <a:prstGeom prst="rect">
            <a:avLst/>
          </a:prstGeom>
          <a:noFill/>
          <a:ln w="9525">
            <a:noFill/>
          </a:ln>
        </p:spPr>
        <p:txBody>
          <a:bodyPr wrap="square" anchor="t">
            <a:spAutoFit/>
          </a:bodyPr>
          <a:lstStyle/>
          <a:p>
            <a:pPr marL="457200" lvl="0" indent="-457200">
              <a:lnSpc>
                <a:spcPct val="120000"/>
              </a:lnSpc>
            </a:pPr>
            <a:r>
              <a:rPr lang="zh-CN" altLang="en-US" sz="2400" u="sng" dirty="0">
                <a:solidFill>
                  <a:srgbClr val="FF0000"/>
                </a:solidFill>
                <a:latin typeface="华文楷体" panose="02010600040101010101" pitchFamily="2" charset="-122"/>
                <a:ea typeface="宋体" panose="02010600030101010101" pitchFamily="2" charset="-122"/>
              </a:rPr>
              <a:t>例</a:t>
            </a:r>
            <a:r>
              <a:rPr lang="en-US" altLang="x-none" sz="2400" u="sng" dirty="0">
                <a:solidFill>
                  <a:srgbClr val="FF0000"/>
                </a:solidFill>
                <a:latin typeface="华文楷体" panose="02010600040101010101" pitchFamily="2" charset="-122"/>
                <a:ea typeface="宋体" panose="02010600030101010101" pitchFamily="2" charset="-122"/>
              </a:rPr>
              <a:t>1</a:t>
            </a:r>
            <a:r>
              <a:rPr lang="zh-CN" altLang="en-US" sz="2400" u="sng" dirty="0">
                <a:solidFill>
                  <a:srgbClr val="FF0000"/>
                </a:solidFill>
                <a:latin typeface="华文楷体" panose="02010600040101010101" pitchFamily="2" charset="-122"/>
                <a:ea typeface="宋体" panose="02010600030101010101" pitchFamily="2" charset="-122"/>
              </a:rPr>
              <a:t>：数据更新</a:t>
            </a:r>
            <a:endParaRPr lang="zh-CN" altLang="en-US" sz="2400" u="sng" dirty="0">
              <a:solidFill>
                <a:srgbClr val="FF0000"/>
              </a:solidFill>
              <a:latin typeface="华文楷体" panose="02010600040101010101" pitchFamily="2" charset="-122"/>
              <a:ea typeface="宋体" panose="02010600030101010101" pitchFamily="2" charset="-122"/>
            </a:endParaRPr>
          </a:p>
          <a:p>
            <a:pPr marL="457200" lvl="0" indent="-457200">
              <a:lnSpc>
                <a:spcPct val="120000"/>
              </a:lnSpc>
            </a:pPr>
            <a:r>
              <a:rPr lang="en-US" altLang="x-none" sz="2400" dirty="0">
                <a:solidFill>
                  <a:srgbClr val="006600"/>
                </a:solidFill>
                <a:latin typeface="华文楷体" panose="02010600040101010101" pitchFamily="2" charset="-122"/>
                <a:ea typeface="宋体" panose="02010600030101010101" pitchFamily="2" charset="-122"/>
              </a:rPr>
              <a:t>UPDATE</a:t>
            </a:r>
            <a:r>
              <a:rPr lang="en-US" altLang="x-none" sz="2400" dirty="0">
                <a:solidFill>
                  <a:srgbClr val="000099"/>
                </a:solidFill>
                <a:latin typeface="华文楷体" panose="02010600040101010101" pitchFamily="2" charset="-122"/>
                <a:ea typeface="宋体" panose="02010600030101010101" pitchFamily="2" charset="-122"/>
              </a:rPr>
              <a:t>  </a:t>
            </a:r>
            <a:r>
              <a:rPr lang="en-US" altLang="x-none" sz="2400" dirty="0">
                <a:latin typeface="华文楷体" panose="02010600040101010101" pitchFamily="2" charset="-122"/>
                <a:ea typeface="宋体" panose="02010600030101010101" pitchFamily="2" charset="-122"/>
              </a:rPr>
              <a:t>publishers </a:t>
            </a:r>
            <a:r>
              <a:rPr lang="zh-CN" altLang="en-US" sz="2400" dirty="0">
                <a:latin typeface="华文楷体" panose="02010600040101010101" pitchFamily="2" charset="-122"/>
                <a:ea typeface="宋体" panose="02010600030101010101" pitchFamily="2" charset="-122"/>
              </a:rPr>
              <a:t>  </a:t>
            </a:r>
            <a:r>
              <a:rPr lang="en-US" altLang="zh-CN" sz="2400" dirty="0">
                <a:latin typeface="华文楷体" panose="02010600040101010101" pitchFamily="2" charset="-122"/>
                <a:ea typeface="宋体" panose="02010600030101010101" pitchFamily="2" charset="-122"/>
              </a:rPr>
              <a:t>with PAGLOCK </a:t>
            </a:r>
            <a:r>
              <a:rPr lang="en-US" altLang="x-none" sz="2400" dirty="0">
                <a:solidFill>
                  <a:srgbClr val="006600"/>
                </a:solidFill>
                <a:latin typeface="华文楷体" panose="02010600040101010101" pitchFamily="2" charset="-122"/>
                <a:ea typeface="宋体" panose="02010600030101010101" pitchFamily="2" charset="-122"/>
              </a:rPr>
              <a:t>SET </a:t>
            </a:r>
            <a:r>
              <a:rPr lang="en-US" altLang="x-none" sz="2400" dirty="0">
                <a:solidFill>
                  <a:srgbClr val="000099"/>
                </a:solidFill>
                <a:latin typeface="华文楷体" panose="02010600040101010101" pitchFamily="2" charset="-122"/>
                <a:ea typeface="宋体" panose="02010600030101010101" pitchFamily="2" charset="-122"/>
              </a:rPr>
              <a:t>  </a:t>
            </a:r>
            <a:r>
              <a:rPr lang="en-US" altLang="x-none" sz="2400" dirty="0">
                <a:latin typeface="华文楷体" panose="02010600040101010101" pitchFamily="2" charset="-122"/>
                <a:ea typeface="宋体" panose="02010600030101010101" pitchFamily="2" charset="-122"/>
              </a:rPr>
              <a:t>city = 'Atlanta', state ='GA' </a:t>
            </a:r>
            <a:r>
              <a:rPr lang="en-US" altLang="x-none" sz="2400" dirty="0">
                <a:solidFill>
                  <a:srgbClr val="006600"/>
                </a:solidFill>
                <a:latin typeface="华文楷体" panose="02010600040101010101" pitchFamily="2" charset="-122"/>
                <a:ea typeface="宋体" panose="02010600030101010101" pitchFamily="2" charset="-122"/>
              </a:rPr>
              <a:t>UPDATE</a:t>
            </a:r>
            <a:r>
              <a:rPr lang="en-US" altLang="x-none" sz="2400" dirty="0">
                <a:solidFill>
                  <a:srgbClr val="000099"/>
                </a:solidFill>
                <a:latin typeface="华文楷体" panose="02010600040101010101" pitchFamily="2" charset="-122"/>
                <a:ea typeface="宋体" panose="02010600030101010101" pitchFamily="2" charset="-122"/>
              </a:rPr>
              <a:t>  SC </a:t>
            </a:r>
            <a:r>
              <a:rPr lang="zh-CN" altLang="en-US" sz="2400" dirty="0">
                <a:solidFill>
                  <a:srgbClr val="000099"/>
                </a:solidFill>
                <a:latin typeface="华文楷体" panose="02010600040101010101" pitchFamily="2" charset="-122"/>
                <a:ea typeface="宋体" panose="02010600030101010101" pitchFamily="2" charset="-122"/>
              </a:rPr>
              <a:t>   </a:t>
            </a:r>
            <a:r>
              <a:rPr lang="en-US" altLang="x-none" sz="2400" dirty="0">
                <a:solidFill>
                  <a:srgbClr val="006600"/>
                </a:solidFill>
                <a:latin typeface="华文楷体" panose="02010600040101010101" pitchFamily="2" charset="-122"/>
                <a:ea typeface="宋体" panose="02010600030101010101" pitchFamily="2" charset="-122"/>
              </a:rPr>
              <a:t>SET</a:t>
            </a:r>
            <a:r>
              <a:rPr lang="en-US" altLang="x-none" sz="2400" dirty="0">
                <a:solidFill>
                  <a:srgbClr val="000099"/>
                </a:solidFill>
                <a:latin typeface="华文楷体" panose="02010600040101010101" pitchFamily="2" charset="-122"/>
                <a:ea typeface="宋体" panose="02010600030101010101" pitchFamily="2" charset="-122"/>
              </a:rPr>
              <a:t> </a:t>
            </a:r>
            <a:r>
              <a:rPr lang="en-US" altLang="x-none" sz="2400" dirty="0">
                <a:latin typeface="华文楷体" panose="02010600040101010101" pitchFamily="2" charset="-122"/>
                <a:ea typeface="宋体" panose="02010600030101010101" pitchFamily="2" charset="-122"/>
              </a:rPr>
              <a:t>Score = Score + 10 </a:t>
            </a:r>
            <a:endParaRPr lang="en-US" altLang="x-none" sz="2400" dirty="0">
              <a:latin typeface="华文楷体" panose="02010600040101010101" pitchFamily="2" charset="-122"/>
              <a:ea typeface="宋体" panose="02010600030101010101" pitchFamily="2" charset="-122"/>
            </a:endParaRPr>
          </a:p>
        </p:txBody>
      </p:sp>
      <p:sp>
        <p:nvSpPr>
          <p:cNvPr id="2" name="Rectangle 3"/>
          <p:cNvSpPr txBox="1"/>
          <p:nvPr/>
        </p:nvSpPr>
        <p:spPr>
          <a:xfrm>
            <a:off x="517525" y="838200"/>
            <a:ext cx="7178675" cy="706438"/>
          </a:xfrm>
          <a:prstGeom prst="rect">
            <a:avLst/>
          </a:prstGeom>
          <a:noFill/>
          <a:ln w="9525">
            <a:noFill/>
          </a:ln>
        </p:spPr>
        <p:txBody>
          <a:bodyPr anchor="t"/>
          <a:lstStyle/>
          <a:p>
            <a:pPr lvl="0" indent="0" eaLnBrk="0" hangingPunct="0"/>
            <a:r>
              <a:rPr lang="en-US" altLang="x-none" sz="2800" dirty="0">
                <a:solidFill>
                  <a:srgbClr val="FF0000"/>
                </a:solidFill>
                <a:latin typeface="黑体" panose="02010609060101010101" pitchFamily="1" charset="-122"/>
                <a:ea typeface="黑体" panose="02010609060101010101" pitchFamily="1" charset="-122"/>
              </a:rPr>
              <a:t>1</a:t>
            </a:r>
            <a:r>
              <a:rPr lang="zh-CN" altLang="en-US" sz="2800" dirty="0">
                <a:solidFill>
                  <a:srgbClr val="FF0000"/>
                </a:solidFill>
                <a:latin typeface="黑体" panose="02010609060101010101" pitchFamily="1" charset="-122"/>
                <a:ea typeface="黑体" panose="02010609060101010101" pitchFamily="1" charset="-122"/>
              </a:rPr>
              <a:t>、多粒度加锁的概念</a:t>
            </a:r>
            <a:endParaRPr lang="en-US" altLang="x-none" sz="2800" dirty="0">
              <a:solidFill>
                <a:srgbClr val="FF0000"/>
              </a:solidFill>
              <a:latin typeface="黑体" panose="02010609060101010101" pitchFamily="1" charset="-122"/>
              <a:ea typeface="黑体" panose="02010609060101010101" pitchFamily="1" charset="-122"/>
            </a:endParaRPr>
          </a:p>
        </p:txBody>
      </p:sp>
      <p:sp>
        <p:nvSpPr>
          <p:cNvPr id="3" name="Rectangle 2"/>
          <p:cNvSpPr/>
          <p:nvPr/>
        </p:nvSpPr>
        <p:spPr>
          <a:xfrm>
            <a:off x="517525" y="146050"/>
            <a:ext cx="7924165" cy="692150"/>
          </a:xfrm>
          <a:prstGeom prst="rect">
            <a:avLst/>
          </a:prstGeom>
          <a:noFill/>
          <a:ln w="9525">
            <a:noFill/>
          </a:ln>
        </p:spPr>
        <p:txBody>
          <a:bodyPr anchor="ctr"/>
          <a:lstStyle/>
          <a:p>
            <a:pPr lvl="0" indent="0">
              <a:buFont typeface="Wingdings" panose="05000000000000000000" pitchFamily="2" charset="2"/>
              <a:buNone/>
            </a:pPr>
            <a:r>
              <a:rPr lang="zh-CN" altLang="en-US" sz="3200" dirty="0" smtClean="0">
                <a:solidFill>
                  <a:srgbClr val="0033CC"/>
                </a:solidFill>
                <a:latin typeface="Arial" panose="020B0604020202020204" pitchFamily="34" charset="0"/>
                <a:ea typeface="黑体" panose="02010609060101010101" pitchFamily="1" charset="-122"/>
              </a:rPr>
              <a:t>四、多粒度加锁协议</a:t>
            </a:r>
            <a:endParaRPr lang="zh-CN" altLang="en-US" sz="3200" dirty="0">
              <a:solidFill>
                <a:srgbClr val="0033CC"/>
              </a:solidFill>
              <a:latin typeface="Arial" panose="020B0604020202020204" pitchFamily="34" charset="0"/>
              <a:ea typeface="黑体" panose="02010609060101010101" pitchFamily="1" charset="-122"/>
            </a:endParaRPr>
          </a:p>
        </p:txBody>
      </p:sp>
    </p:spTree>
  </p:cSld>
  <p:clrMapOvr>
    <a:masterClrMapping/>
  </p:clrMapOv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Rectangle 3"/>
          <p:cNvSpPr txBox="1"/>
          <p:nvPr/>
        </p:nvSpPr>
        <p:spPr>
          <a:xfrm>
            <a:off x="517525" y="838200"/>
            <a:ext cx="7178675" cy="706438"/>
          </a:xfrm>
          <a:prstGeom prst="rect">
            <a:avLst/>
          </a:prstGeom>
          <a:noFill/>
          <a:ln w="9525">
            <a:noFill/>
          </a:ln>
        </p:spPr>
        <p:txBody>
          <a:bodyPr anchor="t"/>
          <a:lstStyle/>
          <a:p>
            <a:pPr lvl="0" indent="0" eaLnBrk="0" hangingPunct="0"/>
            <a:r>
              <a:rPr lang="en-US" altLang="x-none" sz="2800" dirty="0">
                <a:solidFill>
                  <a:srgbClr val="FF0000"/>
                </a:solidFill>
                <a:latin typeface="黑体" panose="02010609060101010101" pitchFamily="1" charset="-122"/>
                <a:ea typeface="黑体" panose="02010609060101010101" pitchFamily="1" charset="-122"/>
              </a:rPr>
              <a:t>2</a:t>
            </a:r>
            <a:r>
              <a:rPr lang="zh-CN" altLang="en-US" sz="2800" dirty="0">
                <a:solidFill>
                  <a:srgbClr val="FF0000"/>
                </a:solidFill>
                <a:latin typeface="黑体" panose="02010609060101010101" pitchFamily="1" charset="-122"/>
                <a:ea typeface="黑体" panose="02010609060101010101" pitchFamily="1" charset="-122"/>
              </a:rPr>
              <a:t>、多粒度加锁的实现</a:t>
            </a:r>
            <a:endParaRPr lang="en-US" altLang="x-none" sz="2800" dirty="0">
              <a:solidFill>
                <a:srgbClr val="FF0000"/>
              </a:solidFill>
              <a:latin typeface="黑体" panose="02010609060101010101" pitchFamily="1" charset="-122"/>
              <a:ea typeface="黑体" panose="02010609060101010101" pitchFamily="1" charset="-122"/>
            </a:endParaRPr>
          </a:p>
        </p:txBody>
      </p:sp>
      <p:sp>
        <p:nvSpPr>
          <p:cNvPr id="121859" name="Rectangle 2"/>
          <p:cNvSpPr txBox="1"/>
          <p:nvPr/>
        </p:nvSpPr>
        <p:spPr>
          <a:xfrm>
            <a:off x="561975" y="1349375"/>
            <a:ext cx="7343775" cy="533400"/>
          </a:xfrm>
          <a:prstGeom prst="rect">
            <a:avLst/>
          </a:prstGeom>
          <a:noFill/>
          <a:ln w="9525">
            <a:noFill/>
          </a:ln>
        </p:spPr>
        <p:txBody>
          <a:bodyPr anchor="t"/>
          <a:lstStyle/>
          <a:p>
            <a:pPr lvl="0" indent="0" eaLnBrk="0" hangingPunct="0">
              <a:buFont typeface="Wingdings" panose="05000000000000000000" pitchFamily="2" charset="2"/>
              <a:buChar char="p"/>
            </a:pPr>
            <a:r>
              <a:rPr lang="zh-CN" altLang="en-US" sz="2800" dirty="0">
                <a:solidFill>
                  <a:srgbClr val="3333CC"/>
                </a:solidFill>
                <a:latin typeface="宋体" panose="02010600030101010101" pitchFamily="2" charset="-122"/>
                <a:ea typeface="黑体" panose="02010609060101010101" pitchFamily="1" charset="-122"/>
              </a:rPr>
              <a:t>锁冲突检测问题</a:t>
            </a:r>
            <a:endParaRPr lang="zh-CN" altLang="en-US" sz="2800" dirty="0">
              <a:solidFill>
                <a:srgbClr val="3333CC"/>
              </a:solidFill>
              <a:latin typeface="宋体" panose="02010600030101010101" pitchFamily="2" charset="-122"/>
              <a:ea typeface="黑体" panose="02010609060101010101" pitchFamily="1" charset="-122"/>
            </a:endParaRPr>
          </a:p>
        </p:txBody>
      </p:sp>
      <p:sp>
        <p:nvSpPr>
          <p:cNvPr id="124933" name="Rectangle 3"/>
          <p:cNvSpPr txBox="1"/>
          <p:nvPr/>
        </p:nvSpPr>
        <p:spPr>
          <a:xfrm>
            <a:off x="561975" y="1844675"/>
            <a:ext cx="8137525" cy="4310063"/>
          </a:xfrm>
          <a:prstGeom prst="rect">
            <a:avLst/>
          </a:prstGeom>
          <a:noFill/>
          <a:ln w="9525">
            <a:noFill/>
          </a:ln>
        </p:spPr>
        <p:txBody>
          <a:bodyPr anchor="t"/>
          <a:lstStyle/>
          <a:p>
            <a:pPr lvl="0" indent="0" eaLnBrk="0" hangingPunct="0">
              <a:lnSpc>
                <a:spcPct val="110000"/>
              </a:lnSpc>
              <a:spcBef>
                <a:spcPts val="0"/>
              </a:spcBef>
              <a:buClr>
                <a:srgbClr val="0033CC"/>
              </a:buClr>
              <a:buSzPct val="80000"/>
            </a:pPr>
            <a:r>
              <a:rPr lang="en-US" altLang="x-none" sz="2400" dirty="0">
                <a:latin typeface="Arial" panose="020B0604020202020204" pitchFamily="34" charset="0"/>
                <a:ea typeface="宋体" panose="02010600030101010101" pitchFamily="2" charset="-122"/>
                <a:sym typeface="Wingdings" panose="05000000000000000000" pitchFamily="2" charset="2"/>
              </a:rPr>
              <a:t>      </a:t>
            </a:r>
            <a:r>
              <a:rPr lang="en-US" altLang="x-none" sz="2300" dirty="0">
                <a:latin typeface="Arial" panose="020B0604020202020204" pitchFamily="34" charset="0"/>
                <a:ea typeface="宋体" panose="02010600030101010101" pitchFamily="2" charset="-122"/>
                <a:sym typeface="Wingdings" panose="05000000000000000000" pitchFamily="2" charset="2"/>
              </a:rPr>
              <a:t>RDBMS</a:t>
            </a:r>
            <a:r>
              <a:rPr lang="zh-CN" altLang="en-US" sz="2300" dirty="0">
                <a:latin typeface="Arial" panose="020B0604020202020204" pitchFamily="34" charset="0"/>
                <a:ea typeface="宋体" panose="02010600030101010101" pitchFamily="2" charset="-122"/>
                <a:sym typeface="Wingdings" panose="05000000000000000000" pitchFamily="2" charset="2"/>
              </a:rPr>
              <a:t>提供的多粒度锁（从小到大排列）：① 行级锁，或称行锁；② 页级锁，或称页锁；③ 表级锁，或称表锁。</a:t>
            </a:r>
            <a:endParaRPr lang="zh-CN" altLang="en-US" sz="2300" dirty="0">
              <a:latin typeface="Arial" panose="020B0604020202020204" pitchFamily="34" charset="0"/>
              <a:ea typeface="宋体" panose="02010600030101010101" pitchFamily="2" charset="-122"/>
              <a:sym typeface="Wingdings" panose="05000000000000000000" pitchFamily="2" charset="2"/>
            </a:endParaRPr>
          </a:p>
          <a:p>
            <a:pPr lvl="0" indent="0" eaLnBrk="0" hangingPunct="0">
              <a:lnSpc>
                <a:spcPct val="90000"/>
              </a:lnSpc>
              <a:spcBef>
                <a:spcPct val="50000"/>
              </a:spcBef>
              <a:buClr>
                <a:srgbClr val="0033CC"/>
              </a:buClr>
              <a:buSzPct val="80000"/>
            </a:pPr>
            <a:r>
              <a:rPr lang="zh-CN" altLang="en-US" sz="2300" dirty="0">
                <a:latin typeface="Arial" panose="020B0604020202020204" pitchFamily="34" charset="0"/>
                <a:ea typeface="宋体" panose="02010600030101010101" pitchFamily="2" charset="-122"/>
              </a:rPr>
              <a:t>（</a:t>
            </a:r>
            <a:r>
              <a:rPr lang="en-US" altLang="x-none" sz="2300" dirty="0">
                <a:latin typeface="Arial" panose="020B0604020202020204" pitchFamily="34" charset="0"/>
                <a:ea typeface="宋体" panose="02010600030101010101" pitchFamily="2" charset="-122"/>
              </a:rPr>
              <a:t>1</a:t>
            </a:r>
            <a:r>
              <a:rPr lang="zh-CN" altLang="en-US" sz="2300" dirty="0">
                <a:latin typeface="Arial" panose="020B0604020202020204" pitchFamily="34" charset="0"/>
                <a:ea typeface="宋体" panose="02010600030101010101" pitchFamily="2" charset="-122"/>
              </a:rPr>
              <a:t>）</a:t>
            </a:r>
            <a:r>
              <a:rPr lang="zh-CN" altLang="en-US" sz="2300" dirty="0">
                <a:latin typeface="Arial" panose="020B0604020202020204" pitchFamily="34" charset="0"/>
                <a:ea typeface="宋体" panose="02010600030101010101" pitchFamily="2" charset="-122"/>
                <a:sym typeface="Wingdings" panose="05000000000000000000" pitchFamily="2" charset="2"/>
              </a:rPr>
              <a:t>多粒度加锁下，一个数据对象可能有两种加锁方式：</a:t>
            </a:r>
            <a:endParaRPr lang="zh-CN" altLang="en-US" sz="2300" dirty="0">
              <a:latin typeface="Arial" panose="020B0604020202020204" pitchFamily="34" charset="0"/>
              <a:ea typeface="宋体" panose="02010600030101010101" pitchFamily="2" charset="-122"/>
              <a:sym typeface="Wingdings" panose="05000000000000000000" pitchFamily="2" charset="2"/>
            </a:endParaRPr>
          </a:p>
          <a:p>
            <a:pPr marL="742950" lvl="1" indent="-285750" eaLnBrk="0" hangingPunct="0">
              <a:spcBef>
                <a:spcPts val="600"/>
              </a:spcBef>
              <a:buClr>
                <a:schemeClr val="accent2"/>
              </a:buClr>
              <a:buSzPct val="70000"/>
            </a:pPr>
            <a:r>
              <a:rPr lang="zh-CN" altLang="en-US" sz="2300" dirty="0">
                <a:solidFill>
                  <a:srgbClr val="FF0000"/>
                </a:solidFill>
                <a:latin typeface="Arial" panose="020B0604020202020204" pitchFamily="34" charset="0"/>
                <a:ea typeface="宋体" panose="02010600030101010101" pitchFamily="2" charset="-122"/>
                <a:sym typeface="Wingdings" panose="05000000000000000000" pitchFamily="2" charset="2"/>
              </a:rPr>
              <a:t>① </a:t>
            </a:r>
            <a:r>
              <a:rPr lang="zh-CN" altLang="en-US" sz="2300" u="sng" dirty="0">
                <a:solidFill>
                  <a:srgbClr val="FF0000"/>
                </a:solidFill>
                <a:latin typeface="华文中宋" panose="02010600040101010101" charset="-122"/>
                <a:ea typeface="华文中宋" panose="02010600040101010101" charset="-122"/>
                <a:sym typeface="Wingdings" panose="05000000000000000000" pitchFamily="2" charset="2"/>
              </a:rPr>
              <a:t>显式加锁</a:t>
            </a:r>
            <a:r>
              <a:rPr lang="en-US" altLang="x-none" sz="2300" u="sng" dirty="0">
                <a:solidFill>
                  <a:srgbClr val="FF0000"/>
                </a:solidFill>
                <a:latin typeface="华文中宋" panose="02010600040101010101" charset="-122"/>
                <a:ea typeface="华文中宋" panose="02010600040101010101" charset="-122"/>
                <a:sym typeface="Wingdings" panose="05000000000000000000" pitchFamily="2" charset="2"/>
              </a:rPr>
              <a:t>(Explicit Locking)</a:t>
            </a:r>
            <a:r>
              <a:rPr lang="zh-CN" altLang="en-US" sz="2300" u="sng" dirty="0">
                <a:solidFill>
                  <a:srgbClr val="FF0000"/>
                </a:solidFill>
                <a:latin typeface="华文中宋" panose="02010600040101010101" charset="-122"/>
                <a:ea typeface="华文中宋" panose="02010600040101010101" charset="-122"/>
                <a:sym typeface="Wingdings" panose="05000000000000000000" pitchFamily="2" charset="2"/>
              </a:rPr>
              <a:t>：</a:t>
            </a:r>
            <a:r>
              <a:rPr lang="zh-CN" altLang="en-US" sz="2300" dirty="0">
                <a:latin typeface="Arial" panose="020B0604020202020204" pitchFamily="34" charset="0"/>
                <a:ea typeface="宋体" panose="02010600030101010101" pitchFamily="2" charset="-122"/>
                <a:sym typeface="Wingdings" panose="05000000000000000000" pitchFamily="2" charset="2"/>
              </a:rPr>
              <a:t>系统应事务的要求，直接对该数据对象加锁。</a:t>
            </a:r>
            <a:endParaRPr lang="zh-CN" altLang="en-US" sz="2300" dirty="0">
              <a:latin typeface="Arial" panose="020B0604020202020204" pitchFamily="34" charset="0"/>
              <a:ea typeface="宋体" panose="02010600030101010101" pitchFamily="2" charset="-122"/>
              <a:sym typeface="Wingdings" panose="05000000000000000000" pitchFamily="2" charset="2"/>
            </a:endParaRPr>
          </a:p>
          <a:p>
            <a:pPr marL="742950" lvl="1" indent="-285750" eaLnBrk="0" hangingPunct="0">
              <a:spcBef>
                <a:spcPts val="600"/>
              </a:spcBef>
              <a:buClr>
                <a:schemeClr val="accent2"/>
              </a:buClr>
              <a:buSzPct val="70000"/>
            </a:pPr>
            <a:r>
              <a:rPr lang="zh-CN" altLang="en-US" sz="2300" dirty="0">
                <a:solidFill>
                  <a:srgbClr val="FF0000"/>
                </a:solidFill>
                <a:latin typeface="Arial" panose="020B0604020202020204" pitchFamily="34" charset="0"/>
                <a:ea typeface="宋体" panose="02010600030101010101" pitchFamily="2" charset="-122"/>
                <a:sym typeface="Wingdings" panose="05000000000000000000" pitchFamily="2" charset="2"/>
              </a:rPr>
              <a:t>② </a:t>
            </a:r>
            <a:r>
              <a:rPr lang="zh-CN" altLang="en-US" sz="2300" u="sng" dirty="0">
                <a:solidFill>
                  <a:srgbClr val="FF0000"/>
                </a:solidFill>
                <a:latin typeface="华文中宋" panose="02010600040101010101" charset="-122"/>
                <a:ea typeface="华文中宋" panose="02010600040101010101" charset="-122"/>
                <a:sym typeface="Wingdings" panose="05000000000000000000" pitchFamily="2" charset="2"/>
              </a:rPr>
              <a:t>隐式加锁</a:t>
            </a:r>
            <a:r>
              <a:rPr lang="en-US" altLang="x-none" sz="2300" u="sng" dirty="0">
                <a:solidFill>
                  <a:srgbClr val="FF0000"/>
                </a:solidFill>
                <a:latin typeface="华文中宋" panose="02010600040101010101" charset="-122"/>
                <a:ea typeface="华文中宋" panose="02010600040101010101" charset="-122"/>
                <a:sym typeface="Wingdings" panose="05000000000000000000" pitchFamily="2" charset="2"/>
              </a:rPr>
              <a:t>(Implicit Locking)</a:t>
            </a:r>
            <a:r>
              <a:rPr lang="zh-CN" altLang="en-US" sz="2300" u="sng" dirty="0">
                <a:solidFill>
                  <a:srgbClr val="FF0000"/>
                </a:solidFill>
                <a:latin typeface="华文中宋" panose="02010600040101010101" charset="-122"/>
                <a:ea typeface="华文中宋" panose="02010600040101010101" charset="-122"/>
                <a:sym typeface="Wingdings" panose="05000000000000000000" pitchFamily="2" charset="2"/>
              </a:rPr>
              <a:t>：</a:t>
            </a:r>
            <a:r>
              <a:rPr lang="zh-CN" altLang="en-US" sz="2300" dirty="0">
                <a:latin typeface="Arial" panose="020B0604020202020204" pitchFamily="34" charset="0"/>
                <a:ea typeface="宋体" panose="02010600030101010101" pitchFamily="2" charset="-122"/>
                <a:sym typeface="Wingdings" panose="05000000000000000000" pitchFamily="2" charset="2"/>
              </a:rPr>
              <a:t>该数据对象本身并未被显式加锁，但由于其上级被加锁，故这个数据对象被隐含加锁了。例如，一个表被加锁，则其所有元组和列均隐式被加锁。</a:t>
            </a:r>
            <a:endParaRPr lang="zh-CN" altLang="en-US" sz="2300" dirty="0">
              <a:latin typeface="Arial" panose="020B0604020202020204" pitchFamily="34" charset="0"/>
              <a:ea typeface="宋体" panose="02010600030101010101" pitchFamily="2" charset="-122"/>
              <a:sym typeface="Wingdings" panose="05000000000000000000" pitchFamily="2" charset="2"/>
            </a:endParaRPr>
          </a:p>
          <a:p>
            <a:pPr lvl="0" indent="0" eaLnBrk="0" hangingPunct="0">
              <a:lnSpc>
                <a:spcPct val="90000"/>
              </a:lnSpc>
              <a:buClr>
                <a:srgbClr val="0033CC"/>
              </a:buClr>
              <a:buSzPct val="80000"/>
            </a:pPr>
            <a:r>
              <a:rPr lang="zh-CN" altLang="en-US" sz="2300" dirty="0">
                <a:latin typeface="Arial" panose="020B0604020202020204" pitchFamily="34" charset="0"/>
                <a:ea typeface="宋体" panose="02010600030101010101" pitchFamily="2" charset="-122"/>
                <a:sym typeface="Wingdings" panose="05000000000000000000" pitchFamily="2" charset="2"/>
              </a:rPr>
              <a:t>说明：尽管区分了显式和隐式加锁，但显式加锁和隐式加锁的效果是一样的。</a:t>
            </a:r>
            <a:endParaRPr lang="zh-CN" altLang="en-US" sz="2300" dirty="0">
              <a:latin typeface="Arial" panose="020B0604020202020204" pitchFamily="34" charset="0"/>
              <a:ea typeface="宋体" panose="02010600030101010101" pitchFamily="2" charset="-122"/>
            </a:endParaRPr>
          </a:p>
        </p:txBody>
      </p:sp>
      <p:sp>
        <p:nvSpPr>
          <p:cNvPr id="3" name="Rectangle 2"/>
          <p:cNvSpPr/>
          <p:nvPr/>
        </p:nvSpPr>
        <p:spPr>
          <a:xfrm>
            <a:off x="517525" y="95250"/>
            <a:ext cx="7924165" cy="692150"/>
          </a:xfrm>
          <a:prstGeom prst="rect">
            <a:avLst/>
          </a:prstGeom>
          <a:noFill/>
          <a:ln w="9525">
            <a:noFill/>
          </a:ln>
        </p:spPr>
        <p:txBody>
          <a:bodyPr anchor="ctr"/>
          <a:lstStyle/>
          <a:p>
            <a:pPr lvl="0" indent="0">
              <a:buFont typeface="Wingdings" panose="05000000000000000000" pitchFamily="2" charset="2"/>
              <a:buNone/>
            </a:pPr>
            <a:r>
              <a:rPr lang="zh-CN" altLang="en-US" sz="3200" dirty="0" smtClean="0">
                <a:solidFill>
                  <a:srgbClr val="0033CC"/>
                </a:solidFill>
                <a:latin typeface="Arial" panose="020B0604020202020204" pitchFamily="34" charset="0"/>
                <a:ea typeface="黑体" panose="02010609060101010101" pitchFamily="1" charset="-122"/>
              </a:rPr>
              <a:t>四、多粒度加锁协议</a:t>
            </a:r>
            <a:endParaRPr lang="zh-CN" altLang="en-US" sz="3200" dirty="0">
              <a:solidFill>
                <a:srgbClr val="0033CC"/>
              </a:solidFill>
              <a:latin typeface="Arial" panose="020B0604020202020204" pitchFamily="34" charset="0"/>
              <a:ea typeface="黑体" panose="02010609060101010101" pitchFamily="1"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124933">
                                            <p:txEl>
                                              <p:pRg st="0" end="0"/>
                                            </p:txEl>
                                          </p:spTgt>
                                        </p:tgtEl>
                                        <p:attrNameLst>
                                          <p:attrName>style.visibility</p:attrName>
                                        </p:attrNameLst>
                                      </p:cBhvr>
                                      <p:to>
                                        <p:strVal val="visible"/>
                                      </p:to>
                                    </p:set>
                                    <p:animEffect transition="in" filter="box(in)">
                                      <p:cBhvr>
                                        <p:cTn id="7" dur="500"/>
                                        <p:tgtEl>
                                          <p:spTgt spid="12493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124933">
                                            <p:txEl>
                                              <p:pRg st="1" end="1"/>
                                            </p:txEl>
                                          </p:spTgt>
                                        </p:tgtEl>
                                        <p:attrNameLst>
                                          <p:attrName>style.visibility</p:attrName>
                                        </p:attrNameLst>
                                      </p:cBhvr>
                                      <p:to>
                                        <p:strVal val="visible"/>
                                      </p:to>
                                    </p:set>
                                    <p:animEffect transition="in" filter="box(in)">
                                      <p:cBhvr>
                                        <p:cTn id="12" dur="500"/>
                                        <p:tgtEl>
                                          <p:spTgt spid="124933">
                                            <p:txEl>
                                              <p:pRg st="1" end="1"/>
                                            </p:txEl>
                                          </p:spTgt>
                                        </p:tgtEl>
                                      </p:cBhvr>
                                    </p:animEffect>
                                  </p:childTnLst>
                                </p:cTn>
                              </p:par>
                              <p:par>
                                <p:cTn id="13" presetID="4" presetClass="entr" presetSubtype="16" fill="hold" grpId="0" nodeType="withEffect">
                                  <p:stCondLst>
                                    <p:cond delay="0"/>
                                  </p:stCondLst>
                                  <p:childTnLst>
                                    <p:set>
                                      <p:cBhvr>
                                        <p:cTn id="14" dur="1" fill="hold">
                                          <p:stCondLst>
                                            <p:cond delay="0"/>
                                          </p:stCondLst>
                                        </p:cTn>
                                        <p:tgtEl>
                                          <p:spTgt spid="124933">
                                            <p:txEl>
                                              <p:pRg st="2" end="2"/>
                                            </p:txEl>
                                          </p:spTgt>
                                        </p:tgtEl>
                                        <p:attrNameLst>
                                          <p:attrName>style.visibility</p:attrName>
                                        </p:attrNameLst>
                                      </p:cBhvr>
                                      <p:to>
                                        <p:strVal val="visible"/>
                                      </p:to>
                                    </p:set>
                                    <p:animEffect transition="in" filter="box(in)">
                                      <p:cBhvr>
                                        <p:cTn id="15" dur="500"/>
                                        <p:tgtEl>
                                          <p:spTgt spid="124933">
                                            <p:txEl>
                                              <p:pRg st="2" end="2"/>
                                            </p:txEl>
                                          </p:spTgt>
                                        </p:tgtEl>
                                      </p:cBhvr>
                                    </p:animEffect>
                                  </p:childTnLst>
                                </p:cTn>
                              </p:par>
                              <p:par>
                                <p:cTn id="16" presetID="4" presetClass="entr" presetSubtype="16" fill="hold" grpId="0" nodeType="withEffect">
                                  <p:stCondLst>
                                    <p:cond delay="0"/>
                                  </p:stCondLst>
                                  <p:childTnLst>
                                    <p:set>
                                      <p:cBhvr>
                                        <p:cTn id="17" dur="1" fill="hold">
                                          <p:stCondLst>
                                            <p:cond delay="0"/>
                                          </p:stCondLst>
                                        </p:cTn>
                                        <p:tgtEl>
                                          <p:spTgt spid="124933">
                                            <p:txEl>
                                              <p:pRg st="3" end="3"/>
                                            </p:txEl>
                                          </p:spTgt>
                                        </p:tgtEl>
                                        <p:attrNameLst>
                                          <p:attrName>style.visibility</p:attrName>
                                        </p:attrNameLst>
                                      </p:cBhvr>
                                      <p:to>
                                        <p:strVal val="visible"/>
                                      </p:to>
                                    </p:set>
                                    <p:animEffect transition="in" filter="box(in)">
                                      <p:cBhvr>
                                        <p:cTn id="18" dur="500"/>
                                        <p:tgtEl>
                                          <p:spTgt spid="124933">
                                            <p:txEl>
                                              <p:pRg st="3" end="3"/>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4" presetClass="entr" presetSubtype="16" fill="hold" grpId="0" nodeType="clickEffect">
                                  <p:stCondLst>
                                    <p:cond delay="0"/>
                                  </p:stCondLst>
                                  <p:childTnLst>
                                    <p:set>
                                      <p:cBhvr>
                                        <p:cTn id="22" dur="1" fill="hold">
                                          <p:stCondLst>
                                            <p:cond delay="0"/>
                                          </p:stCondLst>
                                        </p:cTn>
                                        <p:tgtEl>
                                          <p:spTgt spid="124933">
                                            <p:txEl>
                                              <p:pRg st="4" end="4"/>
                                            </p:txEl>
                                          </p:spTgt>
                                        </p:tgtEl>
                                        <p:attrNameLst>
                                          <p:attrName>style.visibility</p:attrName>
                                        </p:attrNameLst>
                                      </p:cBhvr>
                                      <p:to>
                                        <p:strVal val="visible"/>
                                      </p:to>
                                    </p:set>
                                    <p:animEffect transition="in" filter="box(in)">
                                      <p:cBhvr>
                                        <p:cTn id="23" dur="500"/>
                                        <p:tgtEl>
                                          <p:spTgt spid="12493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4933" grpId="0" build="p"/>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3" name="Rectangle 2"/>
          <p:cNvSpPr txBox="1"/>
          <p:nvPr/>
        </p:nvSpPr>
        <p:spPr>
          <a:xfrm>
            <a:off x="625475" y="1350963"/>
            <a:ext cx="8229600" cy="617537"/>
          </a:xfrm>
          <a:prstGeom prst="rect">
            <a:avLst/>
          </a:prstGeom>
          <a:noFill/>
          <a:ln w="9525">
            <a:noFill/>
          </a:ln>
        </p:spPr>
        <p:txBody>
          <a:bodyPr anchor="t"/>
          <a:lstStyle/>
          <a:p>
            <a:pPr lvl="0" indent="0" eaLnBrk="0" hangingPunct="0">
              <a:buFont typeface="Wingdings" panose="05000000000000000000" pitchFamily="2" charset="2"/>
              <a:buChar char="p"/>
            </a:pPr>
            <a:r>
              <a:rPr lang="zh-CN" altLang="en-US" sz="2800" dirty="0">
                <a:solidFill>
                  <a:srgbClr val="3333CC"/>
                </a:solidFill>
                <a:latin typeface="宋体" panose="02010600030101010101" pitchFamily="2" charset="-122"/>
                <a:ea typeface="黑体" panose="02010609060101010101" pitchFamily="1" charset="-122"/>
              </a:rPr>
              <a:t>锁冲突检测问题</a:t>
            </a:r>
            <a:endParaRPr lang="zh-CN" altLang="en-US" sz="2800" dirty="0">
              <a:solidFill>
                <a:srgbClr val="3333CC"/>
              </a:solidFill>
              <a:latin typeface="宋体" panose="02010600030101010101" pitchFamily="2" charset="-122"/>
              <a:ea typeface="黑体" panose="02010609060101010101" pitchFamily="1" charset="-122"/>
            </a:endParaRPr>
          </a:p>
        </p:txBody>
      </p:sp>
      <p:sp>
        <p:nvSpPr>
          <p:cNvPr id="125957" name="Rectangle 3"/>
          <p:cNvSpPr txBox="1"/>
          <p:nvPr/>
        </p:nvSpPr>
        <p:spPr>
          <a:xfrm>
            <a:off x="708025" y="1876425"/>
            <a:ext cx="8137525" cy="1506855"/>
          </a:xfrm>
          <a:prstGeom prst="rect">
            <a:avLst/>
          </a:prstGeom>
          <a:noFill/>
          <a:ln w="9525">
            <a:noFill/>
          </a:ln>
        </p:spPr>
        <p:txBody>
          <a:bodyPr anchor="t"/>
          <a:lstStyle/>
          <a:p>
            <a:pPr lvl="0" indent="0" eaLnBrk="0" hangingPunct="0">
              <a:spcBef>
                <a:spcPct val="50000"/>
              </a:spcBef>
              <a:buClr>
                <a:srgbClr val="0033CC"/>
              </a:buClr>
              <a:buSzPct val="80000"/>
            </a:pPr>
            <a:r>
              <a:rPr lang="zh-CN" altLang="en-US" sz="2400" dirty="0">
                <a:latin typeface="Arial" panose="020B0604020202020204" pitchFamily="34" charset="0"/>
                <a:ea typeface="宋体" panose="02010600030101010101" pitchFamily="2" charset="-122"/>
                <a:sym typeface="Wingdings" panose="05000000000000000000" pitchFamily="2" charset="2"/>
              </a:rPr>
              <a:t>      </a:t>
            </a:r>
            <a:r>
              <a:rPr lang="zh-CN" altLang="en-US" sz="2300" dirty="0">
                <a:latin typeface="Arial" panose="020B0604020202020204" pitchFamily="34" charset="0"/>
                <a:ea typeface="宋体" panose="02010600030101010101" pitchFamily="2" charset="-122"/>
                <a:sym typeface="Wingdings" panose="05000000000000000000" pitchFamily="2" charset="2"/>
              </a:rPr>
              <a:t>如只有显式锁，锁的冲突较易发现；若有隐式锁，则检查冲突较复杂。</a:t>
            </a:r>
            <a:endParaRPr lang="zh-CN" altLang="en-US" sz="2300" dirty="0">
              <a:latin typeface="Arial" panose="020B0604020202020204" pitchFamily="34" charset="0"/>
              <a:ea typeface="宋体" panose="02010600030101010101" pitchFamily="2" charset="-122"/>
              <a:sym typeface="Wingdings" panose="05000000000000000000" pitchFamily="2" charset="2"/>
            </a:endParaRPr>
          </a:p>
          <a:p>
            <a:pPr lvl="0" indent="0" eaLnBrk="0" hangingPunct="0">
              <a:lnSpc>
                <a:spcPct val="110000"/>
              </a:lnSpc>
              <a:spcBef>
                <a:spcPts val="600"/>
              </a:spcBef>
              <a:spcAft>
                <a:spcPts val="0"/>
              </a:spcAft>
              <a:buClr>
                <a:srgbClr val="0033CC"/>
              </a:buClr>
              <a:buSzPct val="80000"/>
            </a:pPr>
            <a:r>
              <a:rPr lang="zh-CN" altLang="en-US" sz="2400" dirty="0">
                <a:solidFill>
                  <a:srgbClr val="CC3300"/>
                </a:solidFill>
                <a:latin typeface="Arial" panose="020B0604020202020204" pitchFamily="34" charset="0"/>
                <a:ea typeface="宋体" panose="02010600030101010101" pitchFamily="2" charset="-122"/>
                <a:sym typeface="Wingdings" panose="05000000000000000000" pitchFamily="2" charset="2"/>
              </a:rPr>
              <a:t>    </a:t>
            </a:r>
            <a:r>
              <a:rPr lang="zh-CN" altLang="en-US" sz="2400" dirty="0">
                <a:solidFill>
                  <a:srgbClr val="FF0000"/>
                </a:solidFill>
                <a:latin typeface="Arial" panose="020B0604020202020204" pitchFamily="34" charset="0"/>
                <a:ea typeface="宋体" panose="02010600030101010101" pitchFamily="2" charset="-122"/>
                <a:sym typeface="Wingdings" panose="05000000000000000000" pitchFamily="2" charset="2"/>
              </a:rPr>
              <a:t> 多粒度加锁下，要对某数据对象加锁时的锁冲突检测：</a:t>
            </a:r>
            <a:endParaRPr lang="zh-CN" altLang="en-US" sz="2400" dirty="0">
              <a:solidFill>
                <a:srgbClr val="FF0000"/>
              </a:solidFill>
              <a:latin typeface="Arial" panose="020B0604020202020204" pitchFamily="34" charset="0"/>
              <a:ea typeface="宋体" panose="02010600030101010101" pitchFamily="2" charset="-122"/>
              <a:sym typeface="Wingdings" panose="05000000000000000000" pitchFamily="2" charset="2"/>
            </a:endParaRPr>
          </a:p>
          <a:p>
            <a:pPr lvl="0" indent="0" eaLnBrk="0" hangingPunct="0">
              <a:spcBef>
                <a:spcPct val="50000"/>
              </a:spcBef>
              <a:buClr>
                <a:srgbClr val="0033CC"/>
              </a:buClr>
              <a:buSzPct val="80000"/>
            </a:pPr>
            <a:r>
              <a:rPr lang="zh-CN" altLang="en-US" sz="2400" dirty="0">
                <a:latin typeface="Arial" panose="020B0604020202020204" pitchFamily="34" charset="0"/>
                <a:ea typeface="宋体" panose="02010600030101010101" pitchFamily="2" charset="-122"/>
                <a:sym typeface="Wingdings" panose="05000000000000000000" pitchFamily="2" charset="2"/>
              </a:rPr>
              <a:t>    </a:t>
            </a:r>
            <a:endParaRPr lang="zh-CN" altLang="en-US" sz="2400" dirty="0">
              <a:latin typeface="Arial" panose="020B0604020202020204" pitchFamily="34" charset="0"/>
              <a:ea typeface="宋体" panose="02010600030101010101" pitchFamily="2" charset="-122"/>
            </a:endParaRPr>
          </a:p>
        </p:txBody>
      </p:sp>
      <p:sp>
        <p:nvSpPr>
          <p:cNvPr id="4" name="Rectangle 3"/>
          <p:cNvSpPr txBox="1"/>
          <p:nvPr/>
        </p:nvSpPr>
        <p:spPr>
          <a:xfrm>
            <a:off x="561975" y="812165"/>
            <a:ext cx="7178675" cy="706438"/>
          </a:xfrm>
          <a:prstGeom prst="rect">
            <a:avLst/>
          </a:prstGeom>
          <a:noFill/>
          <a:ln w="9525">
            <a:noFill/>
          </a:ln>
        </p:spPr>
        <p:txBody>
          <a:bodyPr anchor="t"/>
          <a:lstStyle/>
          <a:p>
            <a:pPr lvl="0" indent="0" eaLnBrk="0" hangingPunct="0"/>
            <a:r>
              <a:rPr lang="en-US" altLang="x-none" sz="2800" dirty="0">
                <a:solidFill>
                  <a:srgbClr val="FF0000"/>
                </a:solidFill>
                <a:latin typeface="黑体" panose="02010609060101010101" pitchFamily="1" charset="-122"/>
                <a:ea typeface="黑体" panose="02010609060101010101" pitchFamily="1" charset="-122"/>
              </a:rPr>
              <a:t>2</a:t>
            </a:r>
            <a:r>
              <a:rPr lang="zh-CN" altLang="en-US" sz="2800" dirty="0">
                <a:solidFill>
                  <a:srgbClr val="FF0000"/>
                </a:solidFill>
                <a:latin typeface="黑体" panose="02010609060101010101" pitchFamily="1" charset="-122"/>
                <a:ea typeface="黑体" panose="02010609060101010101" pitchFamily="1" charset="-122"/>
              </a:rPr>
              <a:t>、多粒度加锁的实现</a:t>
            </a:r>
            <a:endParaRPr lang="en-US" altLang="x-none" sz="2800" dirty="0">
              <a:solidFill>
                <a:srgbClr val="FF0000"/>
              </a:solidFill>
              <a:latin typeface="黑体" panose="02010609060101010101" pitchFamily="1" charset="-122"/>
              <a:ea typeface="黑体" panose="02010609060101010101" pitchFamily="1" charset="-122"/>
            </a:endParaRPr>
          </a:p>
        </p:txBody>
      </p:sp>
      <p:sp>
        <p:nvSpPr>
          <p:cNvPr id="5" name="Rectangle 2"/>
          <p:cNvSpPr/>
          <p:nvPr/>
        </p:nvSpPr>
        <p:spPr>
          <a:xfrm>
            <a:off x="561975" y="69215"/>
            <a:ext cx="7924165" cy="692150"/>
          </a:xfrm>
          <a:prstGeom prst="rect">
            <a:avLst/>
          </a:prstGeom>
          <a:noFill/>
          <a:ln w="9525">
            <a:noFill/>
          </a:ln>
        </p:spPr>
        <p:txBody>
          <a:bodyPr anchor="ctr"/>
          <a:lstStyle/>
          <a:p>
            <a:pPr lvl="0" indent="0">
              <a:buFont typeface="Wingdings" panose="05000000000000000000" pitchFamily="2" charset="2"/>
              <a:buNone/>
            </a:pPr>
            <a:r>
              <a:rPr lang="zh-CN" altLang="en-US" sz="3200" dirty="0" smtClean="0">
                <a:solidFill>
                  <a:srgbClr val="0033CC"/>
                </a:solidFill>
                <a:latin typeface="Arial" panose="020B0604020202020204" pitchFamily="34" charset="0"/>
                <a:ea typeface="黑体" panose="02010609060101010101" pitchFamily="1" charset="-122"/>
              </a:rPr>
              <a:t>四、多粒度加锁协议</a:t>
            </a:r>
            <a:endParaRPr lang="zh-CN" altLang="en-US" sz="3200" dirty="0">
              <a:solidFill>
                <a:srgbClr val="0033CC"/>
              </a:solidFill>
              <a:latin typeface="Arial" panose="020B0604020202020204" pitchFamily="34" charset="0"/>
              <a:ea typeface="黑体" panose="02010609060101010101" pitchFamily="1" charset="-122"/>
            </a:endParaRPr>
          </a:p>
        </p:txBody>
      </p:sp>
      <p:sp>
        <p:nvSpPr>
          <p:cNvPr id="6" name="Rectangle 3"/>
          <p:cNvSpPr txBox="1"/>
          <p:nvPr/>
        </p:nvSpPr>
        <p:spPr>
          <a:xfrm>
            <a:off x="772160" y="3176270"/>
            <a:ext cx="7809230" cy="2842260"/>
          </a:xfrm>
          <a:prstGeom prst="rect">
            <a:avLst/>
          </a:prstGeom>
          <a:noFill/>
          <a:ln w="9525">
            <a:solidFill>
              <a:srgbClr val="0033CC"/>
            </a:solidFill>
            <a:prstDash val="dash"/>
          </a:ln>
        </p:spPr>
        <p:txBody>
          <a:bodyPr anchor="t"/>
          <a:lstStyle/>
          <a:p>
            <a:pPr lvl="0" indent="0" eaLnBrk="0" hangingPunct="0">
              <a:lnSpc>
                <a:spcPct val="110000"/>
              </a:lnSpc>
              <a:spcBef>
                <a:spcPts val="300"/>
              </a:spcBef>
              <a:spcAft>
                <a:spcPts val="0"/>
              </a:spcAft>
              <a:buClr>
                <a:srgbClr val="0033CC"/>
              </a:buClr>
              <a:buSzPct val="80000"/>
            </a:pPr>
            <a:r>
              <a:rPr lang="zh-CN" altLang="en-US" sz="2400" dirty="0">
                <a:latin typeface="Arial" panose="020B0604020202020204" pitchFamily="34" charset="0"/>
                <a:ea typeface="宋体" panose="02010600030101010101" pitchFamily="2" charset="-122"/>
                <a:sym typeface="Wingdings" panose="05000000000000000000" pitchFamily="2" charset="2"/>
              </a:rPr>
              <a:t>        </a:t>
            </a:r>
            <a:r>
              <a:rPr lang="zh-CN" altLang="en-US" sz="2300" dirty="0">
                <a:latin typeface="Arial" panose="020B0604020202020204" pitchFamily="34" charset="0"/>
                <a:ea typeface="宋体" panose="02010600030101010101" pitchFamily="2" charset="-122"/>
                <a:sym typeface="Wingdings" panose="05000000000000000000" pitchFamily="2" charset="2"/>
              </a:rPr>
              <a:t>首先，按数据对象大小（或上下级）关系，区分为祖先（</a:t>
            </a:r>
            <a:r>
              <a:rPr lang="en-US" altLang="x-none" sz="2300" dirty="0">
                <a:latin typeface="Arial" panose="020B0604020202020204" pitchFamily="34" charset="0"/>
                <a:ea typeface="宋体" panose="02010600030101010101" pitchFamily="2" charset="-122"/>
                <a:sym typeface="Wingdings" panose="05000000000000000000" pitchFamily="2" charset="2"/>
              </a:rPr>
              <a:t>Ancestor</a:t>
            </a:r>
            <a:r>
              <a:rPr lang="zh-CN" altLang="en-US" sz="2300" dirty="0">
                <a:latin typeface="Arial" panose="020B0604020202020204" pitchFamily="34" charset="0"/>
                <a:ea typeface="宋体" panose="02010600030101010101" pitchFamily="2" charset="-122"/>
                <a:sym typeface="Wingdings" panose="05000000000000000000" pitchFamily="2" charset="2"/>
              </a:rPr>
              <a:t>）与子孙（</a:t>
            </a:r>
            <a:r>
              <a:rPr lang="en-US" altLang="x-none" sz="2300" dirty="0">
                <a:latin typeface="Arial" panose="020B0604020202020204" pitchFamily="34" charset="0"/>
                <a:ea typeface="宋体" panose="02010600030101010101" pitchFamily="2" charset="-122"/>
                <a:sym typeface="Wingdings" panose="05000000000000000000" pitchFamily="2" charset="2"/>
              </a:rPr>
              <a:t>Offspring</a:t>
            </a:r>
            <a:r>
              <a:rPr lang="zh-CN" altLang="en-US" sz="2300" dirty="0">
                <a:latin typeface="Arial" panose="020B0604020202020204" pitchFamily="34" charset="0"/>
                <a:ea typeface="宋体" panose="02010600030101010101" pitchFamily="2" charset="-122"/>
                <a:sym typeface="Wingdings" panose="05000000000000000000" pitchFamily="2" charset="2"/>
              </a:rPr>
              <a:t>）。</a:t>
            </a:r>
            <a:endParaRPr lang="zh-CN" altLang="en-US" sz="2300" dirty="0">
              <a:latin typeface="Arial" panose="020B0604020202020204" pitchFamily="34" charset="0"/>
              <a:ea typeface="宋体" panose="02010600030101010101" pitchFamily="2" charset="-122"/>
              <a:sym typeface="Wingdings" panose="05000000000000000000" pitchFamily="2" charset="2"/>
            </a:endParaRPr>
          </a:p>
          <a:p>
            <a:pPr lvl="0" indent="0" eaLnBrk="0" hangingPunct="0">
              <a:lnSpc>
                <a:spcPct val="110000"/>
              </a:lnSpc>
              <a:spcBef>
                <a:spcPts val="300"/>
              </a:spcBef>
              <a:spcAft>
                <a:spcPts val="0"/>
              </a:spcAft>
              <a:buClr>
                <a:srgbClr val="0033CC"/>
              </a:buClr>
              <a:buSzPct val="80000"/>
            </a:pPr>
            <a:r>
              <a:rPr lang="zh-CN" altLang="en-US" sz="2300" dirty="0">
                <a:latin typeface="Arial" panose="020B0604020202020204" pitchFamily="34" charset="0"/>
                <a:ea typeface="宋体" panose="02010600030101010101" pitchFamily="2" charset="-122"/>
                <a:sym typeface="Wingdings" panose="05000000000000000000" pitchFamily="2" charset="2"/>
              </a:rPr>
              <a:t>① 检查其本身，有无显式锁与本事务显式锁冲突；</a:t>
            </a:r>
            <a:endParaRPr lang="zh-CN" altLang="en-US" sz="2300" dirty="0">
              <a:latin typeface="Arial" panose="020B0604020202020204" pitchFamily="34" charset="0"/>
              <a:ea typeface="宋体" panose="02010600030101010101" pitchFamily="2" charset="-122"/>
              <a:sym typeface="Wingdings" panose="05000000000000000000" pitchFamily="2" charset="2"/>
            </a:endParaRPr>
          </a:p>
          <a:p>
            <a:pPr lvl="0" indent="0" eaLnBrk="0" hangingPunct="0">
              <a:lnSpc>
                <a:spcPct val="110000"/>
              </a:lnSpc>
              <a:spcBef>
                <a:spcPts val="300"/>
              </a:spcBef>
              <a:spcAft>
                <a:spcPts val="0"/>
              </a:spcAft>
              <a:buClr>
                <a:srgbClr val="0033CC"/>
              </a:buClr>
              <a:buSzPct val="80000"/>
            </a:pPr>
            <a:r>
              <a:rPr lang="zh-CN" altLang="en-US" sz="2300" dirty="0">
                <a:latin typeface="Arial" panose="020B0604020202020204" pitchFamily="34" charset="0"/>
                <a:ea typeface="宋体" panose="02010600030101010101" pitchFamily="2" charset="-122"/>
                <a:sym typeface="Wingdings" panose="05000000000000000000" pitchFamily="2" charset="2"/>
              </a:rPr>
              <a:t>② 检查其所有祖先，以防本事务的显式锁与其他事务的隐式锁冲突；</a:t>
            </a:r>
            <a:endParaRPr lang="zh-CN" altLang="en-US" sz="2300" dirty="0">
              <a:latin typeface="Arial" panose="020B0604020202020204" pitchFamily="34" charset="0"/>
              <a:ea typeface="宋体" panose="02010600030101010101" pitchFamily="2" charset="-122"/>
              <a:sym typeface="Wingdings" panose="05000000000000000000" pitchFamily="2" charset="2"/>
            </a:endParaRPr>
          </a:p>
          <a:p>
            <a:pPr lvl="0" indent="0" eaLnBrk="0" hangingPunct="0">
              <a:lnSpc>
                <a:spcPct val="110000"/>
              </a:lnSpc>
              <a:spcBef>
                <a:spcPts val="300"/>
              </a:spcBef>
              <a:spcAft>
                <a:spcPts val="0"/>
              </a:spcAft>
              <a:buClr>
                <a:srgbClr val="0033CC"/>
              </a:buClr>
              <a:buSzPct val="80000"/>
            </a:pPr>
            <a:r>
              <a:rPr lang="zh-CN" altLang="en-US" sz="2300" dirty="0">
                <a:latin typeface="Arial" panose="020B0604020202020204" pitchFamily="34" charset="0"/>
                <a:ea typeface="宋体" panose="02010600030101010101" pitchFamily="2" charset="-122"/>
                <a:sym typeface="Wingdings" panose="05000000000000000000" pitchFamily="2" charset="2"/>
              </a:rPr>
              <a:t>③ 检查其所有子孙，以防本事务的隐式锁与其它事务的显式锁相冲突。</a:t>
            </a:r>
            <a:endParaRPr lang="zh-CN" altLang="en-US" sz="2300" dirty="0">
              <a:latin typeface="Arial" panose="020B0604020202020204" pitchFamily="34" charset="0"/>
              <a:ea typeface="宋体" panose="0201060003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125957">
                                            <p:txEl>
                                              <p:pRg st="0" end="0"/>
                                            </p:txEl>
                                          </p:spTgt>
                                        </p:tgtEl>
                                        <p:attrNameLst>
                                          <p:attrName>style.visibility</p:attrName>
                                        </p:attrNameLst>
                                      </p:cBhvr>
                                      <p:to>
                                        <p:strVal val="visible"/>
                                      </p:to>
                                    </p:set>
                                    <p:animEffect transition="in" filter="box(in)">
                                      <p:cBhvr>
                                        <p:cTn id="7" dur="500"/>
                                        <p:tgtEl>
                                          <p:spTgt spid="12595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125957">
                                            <p:txEl>
                                              <p:pRg st="1" end="1"/>
                                            </p:txEl>
                                          </p:spTgt>
                                        </p:tgtEl>
                                        <p:attrNameLst>
                                          <p:attrName>style.visibility</p:attrName>
                                        </p:attrNameLst>
                                      </p:cBhvr>
                                      <p:to>
                                        <p:strVal val="visible"/>
                                      </p:to>
                                    </p:set>
                                    <p:animEffect transition="in" filter="box(in)">
                                      <p:cBhvr>
                                        <p:cTn id="12" dur="500"/>
                                        <p:tgtEl>
                                          <p:spTgt spid="12595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grpId="0" nodeType="clickEffect">
                                  <p:stCondLst>
                                    <p:cond delay="0"/>
                                  </p:stCondLst>
                                  <p:childTnLst>
                                    <p:set>
                                      <p:cBhvr>
                                        <p:cTn id="16" dur="1" fill="hold">
                                          <p:stCondLst>
                                            <p:cond delay="0"/>
                                          </p:stCondLst>
                                        </p:cTn>
                                        <p:tgtEl>
                                          <p:spTgt spid="125957">
                                            <p:txEl>
                                              <p:pRg st="2" end="2"/>
                                            </p:txEl>
                                          </p:spTgt>
                                        </p:tgtEl>
                                        <p:attrNameLst>
                                          <p:attrName>style.visibility</p:attrName>
                                        </p:attrNameLst>
                                      </p:cBhvr>
                                      <p:to>
                                        <p:strVal val="visible"/>
                                      </p:to>
                                    </p:set>
                                    <p:animEffect transition="in" filter="box(in)">
                                      <p:cBhvr>
                                        <p:cTn id="17" dur="500"/>
                                        <p:tgtEl>
                                          <p:spTgt spid="125957">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16" fill="hold" grpId="0" nodeType="clickEffect">
                                  <p:stCondLst>
                                    <p:cond delay="0"/>
                                  </p:stCondLst>
                                  <p:childTnLst>
                                    <p:set>
                                      <p:cBhvr>
                                        <p:cTn id="21" dur="1" fill="hold">
                                          <p:stCondLst>
                                            <p:cond delay="0"/>
                                          </p:stCondLst>
                                        </p:cTn>
                                        <p:tgtEl>
                                          <p:spTgt spid="6">
                                            <p:txEl>
                                              <p:pRg st="0" end="0"/>
                                            </p:txEl>
                                          </p:spTgt>
                                        </p:tgtEl>
                                        <p:attrNameLst>
                                          <p:attrName>style.visibility</p:attrName>
                                        </p:attrNameLst>
                                      </p:cBhvr>
                                      <p:to>
                                        <p:strVal val="visible"/>
                                      </p:to>
                                    </p:set>
                                    <p:animEffect transition="in" filter="box(in)">
                                      <p:cBhvr>
                                        <p:cTn id="22" dur="500"/>
                                        <p:tgtEl>
                                          <p:spTgt spid="6">
                                            <p:txEl>
                                              <p:pRg st="0" end="0"/>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4" presetClass="entr" presetSubtype="16" fill="hold" grpId="0" nodeType="clickEffect">
                                  <p:stCondLst>
                                    <p:cond delay="0"/>
                                  </p:stCondLst>
                                  <p:childTnLst>
                                    <p:set>
                                      <p:cBhvr>
                                        <p:cTn id="26" dur="1" fill="hold">
                                          <p:stCondLst>
                                            <p:cond delay="0"/>
                                          </p:stCondLst>
                                        </p:cTn>
                                        <p:tgtEl>
                                          <p:spTgt spid="6">
                                            <p:txEl>
                                              <p:pRg st="1" end="1"/>
                                            </p:txEl>
                                          </p:spTgt>
                                        </p:tgtEl>
                                        <p:attrNameLst>
                                          <p:attrName>style.visibility</p:attrName>
                                        </p:attrNameLst>
                                      </p:cBhvr>
                                      <p:to>
                                        <p:strVal val="visible"/>
                                      </p:to>
                                    </p:set>
                                    <p:animEffect transition="in" filter="box(in)">
                                      <p:cBhvr>
                                        <p:cTn id="27" dur="500"/>
                                        <p:tgtEl>
                                          <p:spTgt spid="6">
                                            <p:txEl>
                                              <p:pRg st="1" end="1"/>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4" presetClass="entr" presetSubtype="16" fill="hold" grpId="0" nodeType="clickEffect">
                                  <p:stCondLst>
                                    <p:cond delay="0"/>
                                  </p:stCondLst>
                                  <p:childTnLst>
                                    <p:set>
                                      <p:cBhvr>
                                        <p:cTn id="31" dur="1" fill="hold">
                                          <p:stCondLst>
                                            <p:cond delay="0"/>
                                          </p:stCondLst>
                                        </p:cTn>
                                        <p:tgtEl>
                                          <p:spTgt spid="6">
                                            <p:txEl>
                                              <p:pRg st="2" end="2"/>
                                            </p:txEl>
                                          </p:spTgt>
                                        </p:tgtEl>
                                        <p:attrNameLst>
                                          <p:attrName>style.visibility</p:attrName>
                                        </p:attrNameLst>
                                      </p:cBhvr>
                                      <p:to>
                                        <p:strVal val="visible"/>
                                      </p:to>
                                    </p:set>
                                    <p:animEffect transition="in" filter="box(in)">
                                      <p:cBhvr>
                                        <p:cTn id="32" dur="500"/>
                                        <p:tgtEl>
                                          <p:spTgt spid="6">
                                            <p:txEl>
                                              <p:pRg st="2" end="2"/>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4" presetClass="entr" presetSubtype="16" fill="hold" grpId="0" nodeType="clickEffect">
                                  <p:stCondLst>
                                    <p:cond delay="0"/>
                                  </p:stCondLst>
                                  <p:childTnLst>
                                    <p:set>
                                      <p:cBhvr>
                                        <p:cTn id="36" dur="1" fill="hold">
                                          <p:stCondLst>
                                            <p:cond delay="0"/>
                                          </p:stCondLst>
                                        </p:cTn>
                                        <p:tgtEl>
                                          <p:spTgt spid="6">
                                            <p:txEl>
                                              <p:pRg st="3" end="3"/>
                                            </p:txEl>
                                          </p:spTgt>
                                        </p:tgtEl>
                                        <p:attrNameLst>
                                          <p:attrName>style.visibility</p:attrName>
                                        </p:attrNameLst>
                                      </p:cBhvr>
                                      <p:to>
                                        <p:strVal val="visible"/>
                                      </p:to>
                                    </p:set>
                                    <p:animEffect transition="in" filter="box(in)">
                                      <p:cBhvr>
                                        <p:cTn id="37" dur="500"/>
                                        <p:tgtEl>
                                          <p:spTgt spid="6">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5957" grpId="0" build="p"/>
      <p:bldP spid="6" grpId="0" build="p"/>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Text Box 3"/>
          <p:cNvSpPr txBox="1"/>
          <p:nvPr/>
        </p:nvSpPr>
        <p:spPr>
          <a:xfrm>
            <a:off x="3563938" y="5229225"/>
            <a:ext cx="1079500" cy="396875"/>
          </a:xfrm>
          <a:prstGeom prst="rect">
            <a:avLst/>
          </a:prstGeom>
          <a:solidFill>
            <a:srgbClr val="FFDFFF"/>
          </a:solidFill>
          <a:ln w="9525">
            <a:noFill/>
          </a:ln>
        </p:spPr>
        <p:txBody>
          <a:bodyPr lIns="90000" tIns="46800" rIns="90000" bIns="46800" anchor="t">
            <a:spAutoFit/>
          </a:bodyPr>
          <a:lstStyle/>
          <a:p>
            <a:pPr lvl="0" indent="0" algn="ctr">
              <a:spcBef>
                <a:spcPct val="50000"/>
              </a:spcBef>
            </a:pPr>
            <a:r>
              <a:rPr lang="zh-CN" altLang="en-US" sz="2000" dirty="0">
                <a:solidFill>
                  <a:srgbClr val="CC0000"/>
                </a:solidFill>
                <a:latin typeface="宋体" panose="02010600030101010101" pitchFamily="2" charset="-122"/>
                <a:ea typeface="宋体" panose="02010600030101010101" pitchFamily="2" charset="-122"/>
              </a:rPr>
              <a:t>隐式锁</a:t>
            </a:r>
            <a:endParaRPr lang="zh-CN" altLang="en-US" sz="2000" dirty="0">
              <a:solidFill>
                <a:srgbClr val="CC0000"/>
              </a:solidFill>
              <a:latin typeface="宋体" panose="02010600030101010101" pitchFamily="2" charset="-122"/>
              <a:ea typeface="宋体" panose="02010600030101010101" pitchFamily="2" charset="-122"/>
            </a:endParaRPr>
          </a:p>
        </p:txBody>
      </p:sp>
      <p:sp>
        <p:nvSpPr>
          <p:cNvPr id="126979" name="Text Box 4"/>
          <p:cNvSpPr txBox="1"/>
          <p:nvPr/>
        </p:nvSpPr>
        <p:spPr>
          <a:xfrm>
            <a:off x="4572000" y="4292600"/>
            <a:ext cx="1079500" cy="406400"/>
          </a:xfrm>
          <a:prstGeom prst="rect">
            <a:avLst/>
          </a:prstGeom>
          <a:solidFill>
            <a:srgbClr val="FFDFFF"/>
          </a:solidFill>
          <a:ln w="9525" cap="flat" cmpd="sng">
            <a:solidFill>
              <a:srgbClr val="FFCCFF"/>
            </a:solidFill>
            <a:prstDash val="solid"/>
            <a:miter/>
            <a:headEnd type="none" w="med" len="med"/>
            <a:tailEnd type="none" w="med" len="med"/>
          </a:ln>
        </p:spPr>
        <p:txBody>
          <a:bodyPr lIns="90000" tIns="46800" rIns="90000" bIns="46800" anchor="t">
            <a:spAutoFit/>
          </a:bodyPr>
          <a:lstStyle/>
          <a:p>
            <a:pPr lvl="0" indent="0" algn="ctr">
              <a:spcBef>
                <a:spcPct val="50000"/>
              </a:spcBef>
            </a:pPr>
            <a:r>
              <a:rPr lang="zh-CN" altLang="en-US" sz="2000" dirty="0">
                <a:solidFill>
                  <a:srgbClr val="CC0000"/>
                </a:solidFill>
                <a:latin typeface="宋体" panose="02010600030101010101" pitchFamily="2" charset="-122"/>
                <a:ea typeface="宋体" panose="02010600030101010101" pitchFamily="2" charset="-122"/>
              </a:rPr>
              <a:t>隐式锁</a:t>
            </a:r>
            <a:endParaRPr lang="zh-CN" altLang="en-US" sz="2000" dirty="0">
              <a:solidFill>
                <a:srgbClr val="CC0000"/>
              </a:solidFill>
              <a:latin typeface="宋体" panose="02010600030101010101" pitchFamily="2" charset="-122"/>
              <a:ea typeface="宋体" panose="02010600030101010101" pitchFamily="2" charset="-122"/>
            </a:endParaRPr>
          </a:p>
        </p:txBody>
      </p:sp>
      <p:sp>
        <p:nvSpPr>
          <p:cNvPr id="123907" name="Rectangle 5"/>
          <p:cNvSpPr txBox="1"/>
          <p:nvPr/>
        </p:nvSpPr>
        <p:spPr>
          <a:xfrm>
            <a:off x="620713" y="1373188"/>
            <a:ext cx="7086600" cy="720725"/>
          </a:xfrm>
          <a:prstGeom prst="rect">
            <a:avLst/>
          </a:prstGeom>
          <a:noFill/>
          <a:ln w="9525">
            <a:noFill/>
          </a:ln>
        </p:spPr>
        <p:txBody>
          <a:bodyPr anchor="t"/>
          <a:lstStyle/>
          <a:p>
            <a:pPr lvl="0" indent="0" eaLnBrk="0" hangingPunct="0">
              <a:buFont typeface="Wingdings" panose="05000000000000000000" pitchFamily="2" charset="2"/>
              <a:buChar char="p"/>
            </a:pPr>
            <a:r>
              <a:rPr lang="zh-CN" altLang="en-US" sz="2800" dirty="0">
                <a:solidFill>
                  <a:srgbClr val="3333CC"/>
                </a:solidFill>
                <a:latin typeface="Arial" panose="020B0604020202020204" pitchFamily="34" charset="0"/>
                <a:ea typeface="黑体" panose="02010609060101010101" pitchFamily="1" charset="-122"/>
              </a:rPr>
              <a:t>锁冲突检测  </a:t>
            </a:r>
            <a:endParaRPr lang="zh-CN" altLang="en-US" sz="2800" dirty="0">
              <a:solidFill>
                <a:srgbClr val="3333CC"/>
              </a:solidFill>
              <a:latin typeface="Arial" panose="020B0604020202020204" pitchFamily="34" charset="0"/>
              <a:ea typeface="黑体" panose="02010609060101010101" pitchFamily="1" charset="-122"/>
            </a:endParaRPr>
          </a:p>
        </p:txBody>
      </p:sp>
      <p:grpSp>
        <p:nvGrpSpPr>
          <p:cNvPr id="126981" name="Group 6"/>
          <p:cNvGrpSpPr/>
          <p:nvPr/>
        </p:nvGrpSpPr>
        <p:grpSpPr>
          <a:xfrm>
            <a:off x="4572000" y="3500438"/>
            <a:ext cx="2808288" cy="2447925"/>
            <a:chOff x="0" y="0"/>
            <a:chExt cx="1769" cy="1542"/>
          </a:xfrm>
        </p:grpSpPr>
        <p:sp>
          <p:nvSpPr>
            <p:cNvPr id="123909" name="Oval 7"/>
            <p:cNvSpPr/>
            <p:nvPr/>
          </p:nvSpPr>
          <p:spPr>
            <a:xfrm>
              <a:off x="1043" y="0"/>
              <a:ext cx="363" cy="317"/>
            </a:xfrm>
            <a:prstGeom prst="ellipse">
              <a:avLst/>
            </a:prstGeom>
            <a:solidFill>
              <a:srgbClr val="CCFFFF"/>
            </a:solidFill>
            <a:ln w="9525" cap="flat" cmpd="sng">
              <a:solidFill>
                <a:schemeClr val="tx1"/>
              </a:solidFill>
              <a:prstDash val="solid"/>
              <a:round/>
              <a:headEnd type="none" w="med" len="med"/>
              <a:tailEnd type="none" w="med" len="med"/>
            </a:ln>
          </p:spPr>
          <p:txBody>
            <a:bodyPr wrap="none" lIns="90000" tIns="46800" rIns="90000" bIns="46800" anchor="ctr"/>
            <a:lstStyle/>
            <a:p>
              <a:pPr lvl="0" indent="0" algn="ctr"/>
              <a:r>
                <a:rPr lang="en-US" altLang="x-none" sz="2400" dirty="0">
                  <a:latin typeface="宋体" panose="02010600030101010101" pitchFamily="2" charset="-122"/>
                  <a:ea typeface="宋体" panose="02010600030101010101" pitchFamily="2" charset="-122"/>
                </a:rPr>
                <a:t>DB</a:t>
              </a:r>
              <a:endParaRPr lang="en-US" altLang="x-none" sz="2400" dirty="0">
                <a:latin typeface="宋体" panose="02010600030101010101" pitchFamily="2" charset="-122"/>
                <a:ea typeface="宋体" panose="02010600030101010101" pitchFamily="2" charset="-122"/>
              </a:endParaRPr>
            </a:p>
          </p:txBody>
        </p:sp>
        <p:sp>
          <p:nvSpPr>
            <p:cNvPr id="123910" name="Oval 8"/>
            <p:cNvSpPr/>
            <p:nvPr/>
          </p:nvSpPr>
          <p:spPr>
            <a:xfrm>
              <a:off x="635" y="635"/>
              <a:ext cx="272" cy="317"/>
            </a:xfrm>
            <a:prstGeom prst="ellipse">
              <a:avLst/>
            </a:prstGeom>
            <a:solidFill>
              <a:srgbClr val="CCFFFF"/>
            </a:solidFill>
            <a:ln w="9525" cap="flat" cmpd="sng">
              <a:solidFill>
                <a:schemeClr val="tx1"/>
              </a:solidFill>
              <a:prstDash val="solid"/>
              <a:round/>
              <a:headEnd type="none" w="med" len="med"/>
              <a:tailEnd type="none" w="med" len="med"/>
            </a:ln>
          </p:spPr>
          <p:txBody>
            <a:bodyPr wrap="none" lIns="90000" tIns="46800" rIns="90000" bIns="46800" anchor="ctr"/>
            <a:lstStyle/>
            <a:p>
              <a:pPr lvl="0" indent="0" algn="ctr"/>
              <a:r>
                <a:rPr lang="zh-CN" altLang="en-US" sz="2400" dirty="0">
                  <a:latin typeface="宋体" panose="02010600030101010101" pitchFamily="2" charset="-122"/>
                  <a:ea typeface="宋体" panose="02010600030101010101" pitchFamily="2" charset="-122"/>
                </a:rPr>
                <a:t>表</a:t>
              </a:r>
              <a:endParaRPr lang="zh-CN" altLang="en-US" sz="2400" dirty="0">
                <a:latin typeface="宋体" panose="02010600030101010101" pitchFamily="2" charset="-122"/>
                <a:ea typeface="宋体" panose="02010600030101010101" pitchFamily="2" charset="-122"/>
              </a:endParaRPr>
            </a:p>
          </p:txBody>
        </p:sp>
        <p:sp>
          <p:nvSpPr>
            <p:cNvPr id="123911" name="Oval 9"/>
            <p:cNvSpPr/>
            <p:nvPr/>
          </p:nvSpPr>
          <p:spPr>
            <a:xfrm>
              <a:off x="1452" y="635"/>
              <a:ext cx="317" cy="318"/>
            </a:xfrm>
            <a:prstGeom prst="ellipse">
              <a:avLst/>
            </a:prstGeom>
            <a:solidFill>
              <a:srgbClr val="CCFFFF"/>
            </a:solidFill>
            <a:ln w="9525" cap="flat" cmpd="sng">
              <a:solidFill>
                <a:schemeClr val="tx1"/>
              </a:solidFill>
              <a:prstDash val="solid"/>
              <a:round/>
              <a:headEnd type="none" w="med" len="med"/>
              <a:tailEnd type="none" w="med" len="med"/>
            </a:ln>
          </p:spPr>
          <p:txBody>
            <a:bodyPr wrap="none" lIns="90000" tIns="46800" rIns="90000" bIns="46800" anchor="ctr"/>
            <a:lstStyle/>
            <a:p>
              <a:pPr lvl="0" indent="0" algn="ctr"/>
              <a:r>
                <a:rPr lang="zh-CN" altLang="en-US" sz="2400" dirty="0">
                  <a:latin typeface="宋体" panose="02010600030101010101" pitchFamily="2" charset="-122"/>
                  <a:ea typeface="宋体" panose="02010600030101010101" pitchFamily="2" charset="-122"/>
                </a:rPr>
                <a:t>表</a:t>
              </a:r>
              <a:endParaRPr lang="zh-CN" altLang="en-US" sz="2400" dirty="0">
                <a:latin typeface="宋体" panose="02010600030101010101" pitchFamily="2" charset="-122"/>
                <a:ea typeface="宋体" panose="02010600030101010101" pitchFamily="2" charset="-122"/>
              </a:endParaRPr>
            </a:p>
          </p:txBody>
        </p:sp>
        <p:sp>
          <p:nvSpPr>
            <p:cNvPr id="123912" name="Oval 10"/>
            <p:cNvSpPr/>
            <p:nvPr/>
          </p:nvSpPr>
          <p:spPr>
            <a:xfrm>
              <a:off x="0" y="1179"/>
              <a:ext cx="272" cy="317"/>
            </a:xfrm>
            <a:prstGeom prst="ellipse">
              <a:avLst/>
            </a:prstGeom>
            <a:solidFill>
              <a:srgbClr val="CCFFFF"/>
            </a:solidFill>
            <a:ln w="9525" cap="flat" cmpd="sng">
              <a:solidFill>
                <a:schemeClr val="tx1"/>
              </a:solidFill>
              <a:prstDash val="solid"/>
              <a:round/>
              <a:headEnd type="none" w="med" len="med"/>
              <a:tailEnd type="none" w="med" len="med"/>
            </a:ln>
          </p:spPr>
          <p:txBody>
            <a:bodyPr wrap="none" lIns="90000" tIns="46800" rIns="90000" bIns="46800" anchor="ctr"/>
            <a:lstStyle/>
            <a:p>
              <a:pPr lvl="0" indent="0" algn="ctr"/>
              <a:r>
                <a:rPr lang="zh-CN" altLang="en-US" sz="2400" dirty="0">
                  <a:latin typeface="宋体" panose="02010600030101010101" pitchFamily="2" charset="-122"/>
                  <a:ea typeface="宋体" panose="02010600030101010101" pitchFamily="2" charset="-122"/>
                </a:rPr>
                <a:t>行</a:t>
              </a:r>
              <a:endParaRPr lang="zh-CN" altLang="en-US" sz="2400" dirty="0">
                <a:latin typeface="宋体" panose="02010600030101010101" pitchFamily="2" charset="-122"/>
                <a:ea typeface="宋体" panose="02010600030101010101" pitchFamily="2" charset="-122"/>
              </a:endParaRPr>
            </a:p>
          </p:txBody>
        </p:sp>
        <p:sp>
          <p:nvSpPr>
            <p:cNvPr id="123913" name="Oval 11"/>
            <p:cNvSpPr/>
            <p:nvPr/>
          </p:nvSpPr>
          <p:spPr>
            <a:xfrm>
              <a:off x="590" y="1225"/>
              <a:ext cx="272" cy="317"/>
            </a:xfrm>
            <a:prstGeom prst="ellipse">
              <a:avLst/>
            </a:prstGeom>
            <a:solidFill>
              <a:srgbClr val="CCFFFF"/>
            </a:solidFill>
            <a:ln w="9525" cap="flat" cmpd="sng">
              <a:solidFill>
                <a:schemeClr val="tx1"/>
              </a:solidFill>
              <a:prstDash val="solid"/>
              <a:round/>
              <a:headEnd type="none" w="med" len="med"/>
              <a:tailEnd type="none" w="med" len="med"/>
            </a:ln>
          </p:spPr>
          <p:txBody>
            <a:bodyPr wrap="none" lIns="90000" tIns="46800" rIns="90000" bIns="46800" anchor="ctr"/>
            <a:lstStyle/>
            <a:p>
              <a:pPr lvl="0" indent="0"/>
              <a:endParaRPr lang="zh-CN" altLang="en-US" dirty="0">
                <a:latin typeface="Arial" panose="020B0604020202020204" pitchFamily="34" charset="0"/>
                <a:ea typeface="宋体" panose="02010600030101010101" pitchFamily="2" charset="-122"/>
              </a:endParaRPr>
            </a:p>
          </p:txBody>
        </p:sp>
        <p:sp>
          <p:nvSpPr>
            <p:cNvPr id="123914" name="Oval 12"/>
            <p:cNvSpPr/>
            <p:nvPr/>
          </p:nvSpPr>
          <p:spPr>
            <a:xfrm>
              <a:off x="1179" y="1225"/>
              <a:ext cx="272" cy="317"/>
            </a:xfrm>
            <a:prstGeom prst="ellipse">
              <a:avLst/>
            </a:prstGeom>
            <a:solidFill>
              <a:srgbClr val="CCFFFF"/>
            </a:solidFill>
            <a:ln w="9525" cap="flat" cmpd="sng">
              <a:solidFill>
                <a:schemeClr val="tx1"/>
              </a:solidFill>
              <a:prstDash val="solid"/>
              <a:round/>
              <a:headEnd type="none" w="med" len="med"/>
              <a:tailEnd type="none" w="med" len="med"/>
            </a:ln>
          </p:spPr>
          <p:txBody>
            <a:bodyPr wrap="none" lIns="90000" tIns="46800" rIns="90000" bIns="46800" anchor="ctr"/>
            <a:lstStyle/>
            <a:p>
              <a:pPr lvl="0" indent="0"/>
              <a:endParaRPr lang="zh-CN" altLang="en-US" dirty="0">
                <a:latin typeface="Arial" panose="020B0604020202020204" pitchFamily="34" charset="0"/>
                <a:ea typeface="宋体" panose="02010600030101010101" pitchFamily="2" charset="-122"/>
              </a:endParaRPr>
            </a:p>
          </p:txBody>
        </p:sp>
        <p:sp>
          <p:nvSpPr>
            <p:cNvPr id="123915" name="Line 13"/>
            <p:cNvSpPr/>
            <p:nvPr/>
          </p:nvSpPr>
          <p:spPr>
            <a:xfrm flipH="1">
              <a:off x="816" y="318"/>
              <a:ext cx="363" cy="317"/>
            </a:xfrm>
            <a:prstGeom prst="line">
              <a:avLst/>
            </a:prstGeom>
            <a:ln w="28575" cap="flat" cmpd="sng">
              <a:solidFill>
                <a:schemeClr val="tx1"/>
              </a:solidFill>
              <a:prstDash val="solid"/>
              <a:round/>
              <a:headEnd type="none" w="med" len="med"/>
              <a:tailEnd type="none" w="med" len="med"/>
            </a:ln>
          </p:spPr>
        </p:sp>
        <p:sp>
          <p:nvSpPr>
            <p:cNvPr id="123916" name="Line 14"/>
            <p:cNvSpPr/>
            <p:nvPr/>
          </p:nvSpPr>
          <p:spPr>
            <a:xfrm flipH="1">
              <a:off x="726" y="952"/>
              <a:ext cx="45" cy="273"/>
            </a:xfrm>
            <a:prstGeom prst="line">
              <a:avLst/>
            </a:prstGeom>
            <a:ln w="28575" cap="flat" cmpd="sng">
              <a:solidFill>
                <a:schemeClr val="tx1"/>
              </a:solidFill>
              <a:prstDash val="solid"/>
              <a:round/>
              <a:headEnd type="none" w="med" len="med"/>
              <a:tailEnd type="none" w="med" len="med"/>
            </a:ln>
          </p:spPr>
        </p:sp>
        <p:sp>
          <p:nvSpPr>
            <p:cNvPr id="123917" name="Line 15"/>
            <p:cNvSpPr/>
            <p:nvPr/>
          </p:nvSpPr>
          <p:spPr>
            <a:xfrm flipH="1">
              <a:off x="136" y="907"/>
              <a:ext cx="545" cy="273"/>
            </a:xfrm>
            <a:prstGeom prst="line">
              <a:avLst/>
            </a:prstGeom>
            <a:ln w="28575" cap="flat" cmpd="sng">
              <a:solidFill>
                <a:schemeClr val="tx1"/>
              </a:solidFill>
              <a:prstDash val="solid"/>
              <a:round/>
              <a:headEnd type="none" w="med" len="med"/>
              <a:tailEnd type="none" w="med" len="med"/>
            </a:ln>
          </p:spPr>
        </p:sp>
        <p:sp>
          <p:nvSpPr>
            <p:cNvPr id="123918" name="Line 16"/>
            <p:cNvSpPr/>
            <p:nvPr/>
          </p:nvSpPr>
          <p:spPr>
            <a:xfrm>
              <a:off x="862" y="907"/>
              <a:ext cx="454" cy="318"/>
            </a:xfrm>
            <a:prstGeom prst="line">
              <a:avLst/>
            </a:prstGeom>
            <a:ln w="28575" cap="flat" cmpd="sng">
              <a:solidFill>
                <a:schemeClr val="tx1"/>
              </a:solidFill>
              <a:prstDash val="solid"/>
              <a:round/>
              <a:headEnd type="none" w="med" len="med"/>
              <a:tailEnd type="none" w="med" len="med"/>
            </a:ln>
          </p:spPr>
        </p:sp>
        <p:sp>
          <p:nvSpPr>
            <p:cNvPr id="123919" name="Line 17"/>
            <p:cNvSpPr/>
            <p:nvPr/>
          </p:nvSpPr>
          <p:spPr>
            <a:xfrm>
              <a:off x="1225" y="317"/>
              <a:ext cx="363" cy="318"/>
            </a:xfrm>
            <a:prstGeom prst="line">
              <a:avLst/>
            </a:prstGeom>
            <a:ln w="28575" cap="flat" cmpd="sng">
              <a:solidFill>
                <a:schemeClr val="tx1"/>
              </a:solidFill>
              <a:prstDash val="solid"/>
              <a:round/>
              <a:headEnd type="none" w="med" len="med"/>
              <a:tailEnd type="none" w="med" len="med"/>
            </a:ln>
          </p:spPr>
        </p:sp>
      </p:grpSp>
      <p:sp>
        <p:nvSpPr>
          <p:cNvPr id="126993" name="Text Box 18"/>
          <p:cNvSpPr txBox="1"/>
          <p:nvPr/>
        </p:nvSpPr>
        <p:spPr>
          <a:xfrm>
            <a:off x="1258888" y="4508500"/>
            <a:ext cx="1873250" cy="466725"/>
          </a:xfrm>
          <a:prstGeom prst="rect">
            <a:avLst/>
          </a:prstGeom>
          <a:noFill/>
          <a:ln w="9525" cap="flat" cmpd="sng">
            <a:solidFill>
              <a:srgbClr val="0000CC"/>
            </a:solidFill>
            <a:prstDash val="solid"/>
            <a:miter/>
            <a:headEnd type="none" w="med" len="med"/>
            <a:tailEnd type="none" w="med" len="med"/>
          </a:ln>
        </p:spPr>
        <p:txBody>
          <a:bodyPr lIns="90000" tIns="46800" rIns="90000" bIns="46800" anchor="t">
            <a:spAutoFit/>
          </a:bodyPr>
          <a:lstStyle/>
          <a:p>
            <a:pPr lvl="0" indent="0" algn="ctr">
              <a:spcBef>
                <a:spcPct val="50000"/>
              </a:spcBef>
            </a:pPr>
            <a:r>
              <a:rPr lang="zh-CN" altLang="en-US" sz="2400" dirty="0">
                <a:solidFill>
                  <a:srgbClr val="0000CC"/>
                </a:solidFill>
                <a:latin typeface="宋体" panose="02010600030101010101" pitchFamily="2" charset="-122"/>
                <a:ea typeface="宋体" panose="02010600030101010101" pitchFamily="2" charset="-122"/>
              </a:rPr>
              <a:t>请求显示锁</a:t>
            </a:r>
            <a:endParaRPr lang="zh-CN" altLang="en-US" sz="2400" dirty="0">
              <a:solidFill>
                <a:srgbClr val="0000CC"/>
              </a:solidFill>
              <a:latin typeface="宋体" panose="02010600030101010101" pitchFamily="2" charset="-122"/>
              <a:ea typeface="宋体" panose="02010600030101010101" pitchFamily="2" charset="-122"/>
            </a:endParaRPr>
          </a:p>
        </p:txBody>
      </p:sp>
      <p:sp>
        <p:nvSpPr>
          <p:cNvPr id="126994" name="Line 19"/>
          <p:cNvSpPr/>
          <p:nvPr/>
        </p:nvSpPr>
        <p:spPr>
          <a:xfrm>
            <a:off x="3132138" y="4797425"/>
            <a:ext cx="1295400" cy="0"/>
          </a:xfrm>
          <a:prstGeom prst="line">
            <a:avLst/>
          </a:prstGeom>
          <a:ln w="38100" cap="flat" cmpd="sng">
            <a:solidFill>
              <a:srgbClr val="CC0000"/>
            </a:solidFill>
            <a:prstDash val="solid"/>
            <a:round/>
            <a:headEnd type="triangle" w="med" len="med"/>
            <a:tailEnd type="triangle" w="med" len="med"/>
          </a:ln>
        </p:spPr>
      </p:sp>
      <p:sp>
        <p:nvSpPr>
          <p:cNvPr id="126995" name="Line 20"/>
          <p:cNvSpPr/>
          <p:nvPr/>
        </p:nvSpPr>
        <p:spPr>
          <a:xfrm flipV="1">
            <a:off x="2339975" y="3716338"/>
            <a:ext cx="2519363" cy="792162"/>
          </a:xfrm>
          <a:prstGeom prst="line">
            <a:avLst/>
          </a:prstGeom>
          <a:ln w="38100" cap="flat" cmpd="sng">
            <a:solidFill>
              <a:srgbClr val="006600"/>
            </a:solidFill>
            <a:prstDash val="dash"/>
            <a:round/>
            <a:headEnd type="none" w="med" len="med"/>
            <a:tailEnd type="triangle" w="med" len="med"/>
          </a:ln>
        </p:spPr>
      </p:sp>
      <p:sp>
        <p:nvSpPr>
          <p:cNvPr id="126996" name="Text Box 21"/>
          <p:cNvSpPr txBox="1"/>
          <p:nvPr/>
        </p:nvSpPr>
        <p:spPr>
          <a:xfrm>
            <a:off x="4427538" y="4581525"/>
            <a:ext cx="1009650" cy="406400"/>
          </a:xfrm>
          <a:prstGeom prst="rect">
            <a:avLst/>
          </a:prstGeom>
          <a:noFill/>
          <a:ln w="9525" cap="flat" cmpd="sng">
            <a:solidFill>
              <a:srgbClr val="006600"/>
            </a:solidFill>
            <a:prstDash val="solid"/>
            <a:miter/>
            <a:headEnd type="none" w="med" len="med"/>
            <a:tailEnd type="none" w="med" len="med"/>
          </a:ln>
        </p:spPr>
        <p:txBody>
          <a:bodyPr lIns="90000" tIns="46800" rIns="90000" bIns="46800" anchor="t">
            <a:spAutoFit/>
          </a:bodyPr>
          <a:lstStyle/>
          <a:p>
            <a:pPr lvl="0" indent="0" algn="ctr">
              <a:spcBef>
                <a:spcPct val="50000"/>
              </a:spcBef>
            </a:pPr>
            <a:r>
              <a:rPr lang="zh-CN" altLang="en-US" sz="2000" dirty="0">
                <a:solidFill>
                  <a:srgbClr val="006600"/>
                </a:solidFill>
                <a:latin typeface="宋体" panose="02010600030101010101" pitchFamily="2" charset="-122"/>
                <a:ea typeface="宋体" panose="02010600030101010101" pitchFamily="2" charset="-122"/>
              </a:rPr>
              <a:t>显示锁</a:t>
            </a:r>
            <a:endParaRPr lang="zh-CN" altLang="en-US" sz="2000" dirty="0">
              <a:solidFill>
                <a:srgbClr val="006600"/>
              </a:solidFill>
              <a:latin typeface="宋体" panose="02010600030101010101" pitchFamily="2" charset="-122"/>
              <a:ea typeface="宋体" panose="02010600030101010101" pitchFamily="2" charset="-122"/>
            </a:endParaRPr>
          </a:p>
        </p:txBody>
      </p:sp>
      <p:sp>
        <p:nvSpPr>
          <p:cNvPr id="126997" name="Text Box 22"/>
          <p:cNvSpPr txBox="1"/>
          <p:nvPr/>
        </p:nvSpPr>
        <p:spPr>
          <a:xfrm>
            <a:off x="4932363" y="3573463"/>
            <a:ext cx="1152525" cy="406400"/>
          </a:xfrm>
          <a:prstGeom prst="rect">
            <a:avLst/>
          </a:prstGeom>
          <a:noFill/>
          <a:ln w="9525" cap="flat" cmpd="sng">
            <a:solidFill>
              <a:srgbClr val="006600"/>
            </a:solidFill>
            <a:prstDash val="solid"/>
            <a:miter/>
            <a:headEnd type="none" w="med" len="med"/>
            <a:tailEnd type="none" w="med" len="med"/>
          </a:ln>
        </p:spPr>
        <p:txBody>
          <a:bodyPr lIns="90000" tIns="46800" rIns="90000" bIns="46800" anchor="t">
            <a:spAutoFit/>
          </a:bodyPr>
          <a:lstStyle/>
          <a:p>
            <a:pPr lvl="0" indent="0" algn="ctr">
              <a:spcBef>
                <a:spcPct val="50000"/>
              </a:spcBef>
            </a:pPr>
            <a:r>
              <a:rPr lang="zh-CN" altLang="en-US" sz="2000" dirty="0">
                <a:solidFill>
                  <a:srgbClr val="006600"/>
                </a:solidFill>
                <a:latin typeface="宋体" panose="02010600030101010101" pitchFamily="2" charset="-122"/>
                <a:ea typeface="宋体" panose="02010600030101010101" pitchFamily="2" charset="-122"/>
              </a:rPr>
              <a:t>显示锁</a:t>
            </a:r>
            <a:endParaRPr lang="zh-CN" altLang="en-US" sz="2000" dirty="0">
              <a:solidFill>
                <a:srgbClr val="006600"/>
              </a:solidFill>
              <a:latin typeface="宋体" panose="02010600030101010101" pitchFamily="2" charset="-122"/>
              <a:ea typeface="宋体" panose="02010600030101010101" pitchFamily="2" charset="-122"/>
            </a:endParaRPr>
          </a:p>
        </p:txBody>
      </p:sp>
      <p:sp>
        <p:nvSpPr>
          <p:cNvPr id="126998" name="Line 23"/>
          <p:cNvSpPr/>
          <p:nvPr/>
        </p:nvSpPr>
        <p:spPr>
          <a:xfrm flipH="1">
            <a:off x="5148263" y="4005263"/>
            <a:ext cx="215900" cy="287337"/>
          </a:xfrm>
          <a:prstGeom prst="line">
            <a:avLst/>
          </a:prstGeom>
          <a:ln w="28575" cap="rnd" cmpd="sng">
            <a:solidFill>
              <a:srgbClr val="CC00CC"/>
            </a:solidFill>
            <a:prstDash val="sysDot"/>
            <a:round/>
            <a:headEnd type="none" w="med" len="med"/>
            <a:tailEnd type="triangle" w="med" len="med"/>
          </a:ln>
        </p:spPr>
      </p:sp>
      <p:sp>
        <p:nvSpPr>
          <p:cNvPr id="126999" name="Text Box 24"/>
          <p:cNvSpPr txBox="1"/>
          <p:nvPr/>
        </p:nvSpPr>
        <p:spPr>
          <a:xfrm>
            <a:off x="3275013" y="5516563"/>
            <a:ext cx="1152525" cy="406400"/>
          </a:xfrm>
          <a:prstGeom prst="rect">
            <a:avLst/>
          </a:prstGeom>
          <a:noFill/>
          <a:ln w="9525" cap="flat" cmpd="sng">
            <a:solidFill>
              <a:srgbClr val="006600"/>
            </a:solidFill>
            <a:prstDash val="solid"/>
            <a:miter/>
            <a:headEnd type="none" w="med" len="med"/>
            <a:tailEnd type="none" w="med" len="med"/>
          </a:ln>
        </p:spPr>
        <p:txBody>
          <a:bodyPr lIns="90000" tIns="46800" rIns="90000" bIns="46800" anchor="t">
            <a:spAutoFit/>
          </a:bodyPr>
          <a:lstStyle/>
          <a:p>
            <a:pPr lvl="0" indent="0" algn="ctr">
              <a:spcBef>
                <a:spcPct val="50000"/>
              </a:spcBef>
            </a:pPr>
            <a:r>
              <a:rPr lang="zh-CN" altLang="en-US" sz="2000" dirty="0">
                <a:solidFill>
                  <a:srgbClr val="006600"/>
                </a:solidFill>
                <a:latin typeface="宋体" panose="02010600030101010101" pitchFamily="2" charset="-122"/>
                <a:ea typeface="宋体" panose="02010600030101010101" pitchFamily="2" charset="-122"/>
              </a:rPr>
              <a:t>显示锁</a:t>
            </a:r>
            <a:endParaRPr lang="zh-CN" altLang="en-US" sz="2000" dirty="0">
              <a:solidFill>
                <a:srgbClr val="006600"/>
              </a:solidFill>
              <a:latin typeface="宋体" panose="02010600030101010101" pitchFamily="2" charset="-122"/>
              <a:ea typeface="宋体" panose="02010600030101010101" pitchFamily="2" charset="-122"/>
            </a:endParaRPr>
          </a:p>
        </p:txBody>
      </p:sp>
      <p:grpSp>
        <p:nvGrpSpPr>
          <p:cNvPr id="127000" name="Group 25"/>
          <p:cNvGrpSpPr/>
          <p:nvPr/>
        </p:nvGrpSpPr>
        <p:grpSpPr>
          <a:xfrm>
            <a:off x="2266950" y="5013325"/>
            <a:ext cx="936625" cy="806450"/>
            <a:chOff x="0" y="0"/>
            <a:chExt cx="590" cy="508"/>
          </a:xfrm>
        </p:grpSpPr>
        <p:sp>
          <p:nvSpPr>
            <p:cNvPr id="123928" name="Line 26"/>
            <p:cNvSpPr/>
            <p:nvPr/>
          </p:nvSpPr>
          <p:spPr>
            <a:xfrm>
              <a:off x="0" y="0"/>
              <a:ext cx="590" cy="408"/>
            </a:xfrm>
            <a:prstGeom prst="line">
              <a:avLst/>
            </a:prstGeom>
            <a:ln w="38100" cap="flat" cmpd="sng">
              <a:solidFill>
                <a:srgbClr val="006600"/>
              </a:solidFill>
              <a:prstDash val="dash"/>
              <a:round/>
              <a:headEnd type="none" w="med" len="med"/>
              <a:tailEnd type="triangle" w="med" len="med"/>
            </a:ln>
          </p:spPr>
        </p:sp>
        <p:sp>
          <p:nvSpPr>
            <p:cNvPr id="123929" name="Text Box 27"/>
            <p:cNvSpPr txBox="1"/>
            <p:nvPr/>
          </p:nvSpPr>
          <p:spPr>
            <a:xfrm>
              <a:off x="0" y="181"/>
              <a:ext cx="318" cy="327"/>
            </a:xfrm>
            <a:prstGeom prst="rect">
              <a:avLst/>
            </a:prstGeom>
            <a:noFill/>
            <a:ln w="9525">
              <a:noFill/>
            </a:ln>
          </p:spPr>
          <p:txBody>
            <a:bodyPr lIns="90000" tIns="46800" rIns="90000" bIns="46800" anchor="t">
              <a:spAutoFit/>
            </a:bodyPr>
            <a:lstStyle/>
            <a:p>
              <a:pPr lvl="0" indent="0" algn="ctr">
                <a:spcBef>
                  <a:spcPct val="50000"/>
                </a:spcBef>
              </a:pPr>
              <a:r>
                <a:rPr lang="en-US" altLang="x-none" sz="2800" dirty="0">
                  <a:solidFill>
                    <a:srgbClr val="CC0000"/>
                  </a:solidFill>
                  <a:latin typeface="宋体" panose="02010600030101010101" pitchFamily="2" charset="-122"/>
                  <a:ea typeface="宋体" panose="02010600030101010101" pitchFamily="2" charset="-122"/>
                  <a:sym typeface="Wingdings 2" panose="05020102010507070707" pitchFamily="2" charset="2"/>
                </a:rPr>
                <a:t></a:t>
              </a:r>
              <a:endParaRPr lang="en-US" altLang="x-none" sz="2800" dirty="0">
                <a:solidFill>
                  <a:srgbClr val="CC0000"/>
                </a:solidFill>
                <a:latin typeface="宋体" panose="02010600030101010101" pitchFamily="2" charset="-122"/>
                <a:ea typeface="宋体" panose="02010600030101010101" pitchFamily="2" charset="-122"/>
                <a:sym typeface="Wingdings 2" panose="05020102010507070707" pitchFamily="2" charset="2"/>
              </a:endParaRPr>
            </a:p>
          </p:txBody>
        </p:sp>
      </p:grpSp>
      <p:sp>
        <p:nvSpPr>
          <p:cNvPr id="127003" name="Rectangle 28"/>
          <p:cNvSpPr/>
          <p:nvPr/>
        </p:nvSpPr>
        <p:spPr>
          <a:xfrm>
            <a:off x="3492500" y="4365625"/>
            <a:ext cx="498475" cy="519113"/>
          </a:xfrm>
          <a:prstGeom prst="rect">
            <a:avLst/>
          </a:prstGeom>
          <a:noFill/>
          <a:ln w="9525">
            <a:noFill/>
          </a:ln>
        </p:spPr>
        <p:txBody>
          <a:bodyPr wrap="none" lIns="90000" tIns="46800" rIns="90000" bIns="46800" anchor="t">
            <a:spAutoFit/>
          </a:bodyPr>
          <a:lstStyle/>
          <a:p>
            <a:pPr lvl="0" indent="0"/>
            <a:r>
              <a:rPr lang="en-US" altLang="x-none" sz="2800" dirty="0">
                <a:solidFill>
                  <a:srgbClr val="CC0000"/>
                </a:solidFill>
                <a:latin typeface="宋体" panose="02010600030101010101" pitchFamily="2" charset="-122"/>
                <a:ea typeface="宋体" panose="02010600030101010101" pitchFamily="2" charset="-122"/>
                <a:sym typeface="Wingdings 2" panose="05020102010507070707" pitchFamily="2" charset="2"/>
              </a:rPr>
              <a:t></a:t>
            </a:r>
            <a:endParaRPr lang="en-US" altLang="x-none" sz="2800" dirty="0">
              <a:solidFill>
                <a:srgbClr val="CC0000"/>
              </a:solidFill>
              <a:latin typeface="宋体" panose="02010600030101010101" pitchFamily="2" charset="-122"/>
              <a:ea typeface="宋体" panose="02010600030101010101" pitchFamily="2" charset="-122"/>
              <a:sym typeface="Wingdings 2" panose="05020102010507070707" pitchFamily="2" charset="2"/>
            </a:endParaRPr>
          </a:p>
        </p:txBody>
      </p:sp>
      <p:sp>
        <p:nvSpPr>
          <p:cNvPr id="127004" name="Rectangle 29"/>
          <p:cNvSpPr/>
          <p:nvPr/>
        </p:nvSpPr>
        <p:spPr>
          <a:xfrm>
            <a:off x="2916238" y="3716338"/>
            <a:ext cx="498475" cy="519112"/>
          </a:xfrm>
          <a:prstGeom prst="rect">
            <a:avLst/>
          </a:prstGeom>
          <a:noFill/>
          <a:ln w="9525">
            <a:noFill/>
          </a:ln>
        </p:spPr>
        <p:txBody>
          <a:bodyPr wrap="none" lIns="90000" tIns="46800" rIns="90000" bIns="46800" anchor="t">
            <a:spAutoFit/>
          </a:bodyPr>
          <a:lstStyle/>
          <a:p>
            <a:pPr lvl="0" indent="0"/>
            <a:r>
              <a:rPr lang="en-US" altLang="x-none" sz="2800" dirty="0">
                <a:solidFill>
                  <a:srgbClr val="CC0000"/>
                </a:solidFill>
                <a:latin typeface="宋体" panose="02010600030101010101" pitchFamily="2" charset="-122"/>
                <a:ea typeface="宋体" panose="02010600030101010101" pitchFamily="2" charset="-122"/>
                <a:sym typeface="Wingdings 2" panose="05020102010507070707" pitchFamily="2" charset="2"/>
              </a:rPr>
              <a:t></a:t>
            </a:r>
            <a:endParaRPr lang="en-US" altLang="x-none" sz="2800" dirty="0">
              <a:solidFill>
                <a:srgbClr val="CC0000"/>
              </a:solidFill>
              <a:latin typeface="宋体" panose="02010600030101010101" pitchFamily="2" charset="-122"/>
              <a:ea typeface="宋体" panose="02010600030101010101" pitchFamily="2" charset="-122"/>
              <a:sym typeface="Wingdings 2" panose="05020102010507070707" pitchFamily="2" charset="2"/>
            </a:endParaRPr>
          </a:p>
        </p:txBody>
      </p:sp>
      <p:sp>
        <p:nvSpPr>
          <p:cNvPr id="127005" name="Line 30"/>
          <p:cNvSpPr/>
          <p:nvPr/>
        </p:nvSpPr>
        <p:spPr>
          <a:xfrm flipH="1">
            <a:off x="4284663" y="4941888"/>
            <a:ext cx="431800" cy="287337"/>
          </a:xfrm>
          <a:prstGeom prst="line">
            <a:avLst/>
          </a:prstGeom>
          <a:ln w="28575" cap="rnd" cmpd="sng">
            <a:solidFill>
              <a:srgbClr val="CC00CC"/>
            </a:solidFill>
            <a:prstDash val="sysDot"/>
            <a:round/>
            <a:headEnd type="none" w="med" len="med"/>
            <a:tailEnd type="triangle" w="med" len="med"/>
          </a:ln>
        </p:spPr>
      </p:sp>
      <p:sp>
        <p:nvSpPr>
          <p:cNvPr id="127006" name="Line 31"/>
          <p:cNvSpPr/>
          <p:nvPr/>
        </p:nvSpPr>
        <p:spPr>
          <a:xfrm flipV="1">
            <a:off x="2987675" y="4365625"/>
            <a:ext cx="1584325" cy="142875"/>
          </a:xfrm>
          <a:prstGeom prst="line">
            <a:avLst/>
          </a:prstGeom>
          <a:ln w="38100" cap="flat" cmpd="sng">
            <a:solidFill>
              <a:srgbClr val="CC0000"/>
            </a:solidFill>
            <a:prstDash val="solid"/>
            <a:round/>
            <a:headEnd type="triangle" w="med" len="med"/>
            <a:tailEnd type="triangle" w="med" len="med"/>
          </a:ln>
        </p:spPr>
      </p:sp>
      <p:sp>
        <p:nvSpPr>
          <p:cNvPr id="127007" name="Line 32"/>
          <p:cNvSpPr/>
          <p:nvPr/>
        </p:nvSpPr>
        <p:spPr>
          <a:xfrm flipH="1">
            <a:off x="3348038" y="5300663"/>
            <a:ext cx="215900" cy="215900"/>
          </a:xfrm>
          <a:prstGeom prst="line">
            <a:avLst/>
          </a:prstGeom>
          <a:ln w="38100" cap="flat" cmpd="sng">
            <a:solidFill>
              <a:srgbClr val="CC0000"/>
            </a:solidFill>
            <a:prstDash val="solid"/>
            <a:round/>
            <a:headEnd type="triangle" w="med" len="med"/>
            <a:tailEnd type="triangle" w="med" len="med"/>
          </a:ln>
        </p:spPr>
      </p:sp>
      <p:sp>
        <p:nvSpPr>
          <p:cNvPr id="127008" name="Rectangle 33"/>
          <p:cNvSpPr/>
          <p:nvPr/>
        </p:nvSpPr>
        <p:spPr>
          <a:xfrm>
            <a:off x="608013" y="1900238"/>
            <a:ext cx="8135937" cy="1263650"/>
          </a:xfrm>
          <a:prstGeom prst="rect">
            <a:avLst/>
          </a:prstGeom>
          <a:noFill/>
          <a:ln w="9525">
            <a:noFill/>
          </a:ln>
        </p:spPr>
        <p:txBody>
          <a:bodyPr lIns="90000" tIns="46800" rIns="90000" bIns="46800" anchor="t">
            <a:spAutoFit/>
          </a:bodyPr>
          <a:lstStyle/>
          <a:p>
            <a:pPr lvl="0" indent="0"/>
            <a:r>
              <a:rPr lang="en-US" altLang="x-none" sz="2400" dirty="0">
                <a:solidFill>
                  <a:srgbClr val="0000CC"/>
                </a:solidFill>
                <a:latin typeface="宋体" panose="02010600030101010101" pitchFamily="2" charset="-122"/>
                <a:ea typeface="宋体" panose="02010600030101010101" pitchFamily="2" charset="-122"/>
              </a:rPr>
              <a:t>   * </a:t>
            </a:r>
            <a:r>
              <a:rPr lang="zh-CN" altLang="en-US" sz="2400" dirty="0">
                <a:solidFill>
                  <a:srgbClr val="0000CC"/>
                </a:solidFill>
                <a:latin typeface="宋体" panose="02010600030101010101" pitchFamily="2" charset="-122"/>
                <a:ea typeface="宋体" panose="02010600030101010101" pitchFamily="2" charset="-122"/>
              </a:rPr>
              <a:t>行锁，页锁，表锁</a:t>
            </a:r>
            <a:endParaRPr lang="zh-CN" altLang="en-US" sz="2400" dirty="0">
              <a:solidFill>
                <a:srgbClr val="0000CC"/>
              </a:solidFill>
              <a:latin typeface="宋体" panose="02010600030101010101" pitchFamily="2" charset="-122"/>
              <a:ea typeface="宋体" panose="02010600030101010101" pitchFamily="2" charset="-122"/>
            </a:endParaRPr>
          </a:p>
          <a:p>
            <a:pPr lvl="0" indent="0"/>
            <a:r>
              <a:rPr lang="zh-CN" altLang="en-US" sz="2400" dirty="0">
                <a:solidFill>
                  <a:srgbClr val="0000CC"/>
                </a:solidFill>
                <a:latin typeface="宋体" panose="02010600030101010101" pitchFamily="2" charset="-122"/>
                <a:ea typeface="宋体" panose="02010600030101010101" pitchFamily="2" charset="-122"/>
              </a:rPr>
              <a:t>   * 一个数据对象两种加锁方式：显示加锁；隐式加锁</a:t>
            </a:r>
            <a:endParaRPr lang="zh-CN" altLang="en-US" sz="2400" dirty="0">
              <a:solidFill>
                <a:srgbClr val="0000CC"/>
              </a:solidFill>
              <a:latin typeface="宋体" panose="02010600030101010101" pitchFamily="2" charset="-122"/>
              <a:ea typeface="宋体" panose="02010600030101010101" pitchFamily="2" charset="-122"/>
            </a:endParaRPr>
          </a:p>
          <a:p>
            <a:pPr lvl="0" indent="0"/>
            <a:r>
              <a:rPr lang="zh-CN" altLang="en-US" sz="2800" dirty="0">
                <a:solidFill>
                  <a:srgbClr val="0000CC"/>
                </a:solidFill>
                <a:latin typeface="宋体" panose="02010600030101010101" pitchFamily="2" charset="-122"/>
                <a:ea typeface="宋体" panose="02010600030101010101" pitchFamily="2" charset="-122"/>
              </a:rPr>
              <a:t> 多粒度锁中锁冲突的检测步骤：</a:t>
            </a:r>
            <a:endParaRPr lang="zh-CN" altLang="en-US" sz="2800" dirty="0">
              <a:solidFill>
                <a:srgbClr val="0000CC"/>
              </a:solidFill>
              <a:latin typeface="宋体" panose="02010600030101010101" pitchFamily="2" charset="-122"/>
              <a:ea typeface="宋体" panose="02010600030101010101" pitchFamily="2" charset="-122"/>
            </a:endParaRPr>
          </a:p>
        </p:txBody>
      </p:sp>
      <p:sp>
        <p:nvSpPr>
          <p:cNvPr id="4" name="Rectangle 3"/>
          <p:cNvSpPr txBox="1"/>
          <p:nvPr/>
        </p:nvSpPr>
        <p:spPr>
          <a:xfrm>
            <a:off x="561975" y="812165"/>
            <a:ext cx="7178675" cy="706438"/>
          </a:xfrm>
          <a:prstGeom prst="rect">
            <a:avLst/>
          </a:prstGeom>
          <a:noFill/>
          <a:ln w="9525">
            <a:noFill/>
          </a:ln>
        </p:spPr>
        <p:txBody>
          <a:bodyPr anchor="t"/>
          <a:lstStyle/>
          <a:p>
            <a:pPr lvl="0" indent="0" eaLnBrk="0" hangingPunct="0"/>
            <a:r>
              <a:rPr lang="en-US" altLang="x-none" sz="2800" dirty="0">
                <a:solidFill>
                  <a:srgbClr val="FF0000"/>
                </a:solidFill>
                <a:latin typeface="黑体" panose="02010609060101010101" pitchFamily="1" charset="-122"/>
                <a:ea typeface="黑体" panose="02010609060101010101" pitchFamily="1" charset="-122"/>
              </a:rPr>
              <a:t>2</a:t>
            </a:r>
            <a:r>
              <a:rPr lang="zh-CN" altLang="en-US" sz="2800" dirty="0">
                <a:solidFill>
                  <a:srgbClr val="FF0000"/>
                </a:solidFill>
                <a:latin typeface="黑体" panose="02010609060101010101" pitchFamily="1" charset="-122"/>
                <a:ea typeface="黑体" panose="02010609060101010101" pitchFamily="1" charset="-122"/>
              </a:rPr>
              <a:t>、多粒度加锁的实现</a:t>
            </a:r>
            <a:endParaRPr lang="en-US" altLang="x-none" sz="2800" dirty="0">
              <a:solidFill>
                <a:srgbClr val="FF0000"/>
              </a:solidFill>
              <a:latin typeface="黑体" panose="02010609060101010101" pitchFamily="1" charset="-122"/>
              <a:ea typeface="黑体" panose="02010609060101010101" pitchFamily="1" charset="-122"/>
            </a:endParaRPr>
          </a:p>
        </p:txBody>
      </p:sp>
      <p:sp>
        <p:nvSpPr>
          <p:cNvPr id="5" name="Rectangle 2"/>
          <p:cNvSpPr/>
          <p:nvPr/>
        </p:nvSpPr>
        <p:spPr>
          <a:xfrm>
            <a:off x="561975" y="69215"/>
            <a:ext cx="7924165" cy="692150"/>
          </a:xfrm>
          <a:prstGeom prst="rect">
            <a:avLst/>
          </a:prstGeom>
          <a:noFill/>
          <a:ln w="9525">
            <a:noFill/>
          </a:ln>
        </p:spPr>
        <p:txBody>
          <a:bodyPr anchor="ctr"/>
          <a:lstStyle/>
          <a:p>
            <a:pPr lvl="0" indent="0">
              <a:buFont typeface="Wingdings" panose="05000000000000000000" pitchFamily="2" charset="2"/>
              <a:buNone/>
            </a:pPr>
            <a:r>
              <a:rPr lang="zh-CN" altLang="en-US" sz="3200" dirty="0" smtClean="0">
                <a:solidFill>
                  <a:srgbClr val="0033CC"/>
                </a:solidFill>
                <a:latin typeface="Arial" panose="020B0604020202020204" pitchFamily="34" charset="0"/>
                <a:ea typeface="黑体" panose="02010609060101010101" pitchFamily="1" charset="-122"/>
              </a:rPr>
              <a:t>四、多粒度加锁协议</a:t>
            </a:r>
            <a:endParaRPr lang="zh-CN" altLang="en-US" sz="3200" dirty="0">
              <a:solidFill>
                <a:srgbClr val="0033CC"/>
              </a:solidFill>
              <a:latin typeface="Arial" panose="020B0604020202020204" pitchFamily="34" charset="0"/>
              <a:ea typeface="黑体" panose="02010609060101010101" pitchFamily="1"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27008">
                                            <p:txEl>
                                              <p:pRg st="0" end="0"/>
                                            </p:txEl>
                                          </p:spTgt>
                                        </p:tgtEl>
                                        <p:attrNameLst>
                                          <p:attrName>style.visibility</p:attrName>
                                        </p:attrNameLst>
                                      </p:cBhvr>
                                      <p:to>
                                        <p:strVal val="visible"/>
                                      </p:to>
                                    </p:set>
                                    <p:animEffect transition="in" filter="dissolve">
                                      <p:cBhvr>
                                        <p:cTn id="7" dur="500"/>
                                        <p:tgtEl>
                                          <p:spTgt spid="12700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27008">
                                            <p:txEl>
                                              <p:pRg st="1" end="1"/>
                                            </p:txEl>
                                          </p:spTgt>
                                        </p:tgtEl>
                                        <p:attrNameLst>
                                          <p:attrName>style.visibility</p:attrName>
                                        </p:attrNameLst>
                                      </p:cBhvr>
                                      <p:to>
                                        <p:strVal val="visible"/>
                                      </p:to>
                                    </p:set>
                                    <p:animEffect transition="in" filter="dissolve">
                                      <p:cBhvr>
                                        <p:cTn id="12" dur="500"/>
                                        <p:tgtEl>
                                          <p:spTgt spid="127008">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127008">
                                            <p:txEl>
                                              <p:pRg st="2" end="2"/>
                                            </p:txEl>
                                          </p:spTgt>
                                        </p:tgtEl>
                                        <p:attrNameLst>
                                          <p:attrName>style.visibility</p:attrName>
                                        </p:attrNameLst>
                                      </p:cBhvr>
                                      <p:to>
                                        <p:strVal val="visible"/>
                                      </p:to>
                                    </p:set>
                                    <p:animEffect transition="in" filter="dissolve">
                                      <p:cBhvr>
                                        <p:cTn id="17" dur="500"/>
                                        <p:tgtEl>
                                          <p:spTgt spid="127008">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55" presetClass="entr" presetSubtype="0" fill="hold" nodeType="clickEffect">
                                  <p:stCondLst>
                                    <p:cond delay="0"/>
                                  </p:stCondLst>
                                  <p:childTnLst>
                                    <p:set>
                                      <p:cBhvr>
                                        <p:cTn id="21" dur="1" fill="hold">
                                          <p:stCondLst>
                                            <p:cond delay="0"/>
                                          </p:stCondLst>
                                        </p:cTn>
                                        <p:tgtEl>
                                          <p:spTgt spid="126981"/>
                                        </p:tgtEl>
                                        <p:attrNameLst>
                                          <p:attrName>style.visibility</p:attrName>
                                        </p:attrNameLst>
                                      </p:cBhvr>
                                      <p:to>
                                        <p:strVal val="visible"/>
                                      </p:to>
                                    </p:set>
                                    <p:anim calcmode="lin" valueType="num">
                                      <p:cBhvr>
                                        <p:cTn id="22" dur="1000" fill="hold"/>
                                        <p:tgtEl>
                                          <p:spTgt spid="126981"/>
                                        </p:tgtEl>
                                        <p:attrNameLst>
                                          <p:attrName>ppt_w</p:attrName>
                                        </p:attrNameLst>
                                      </p:cBhvr>
                                      <p:tavLst>
                                        <p:tav tm="0">
                                          <p:val>
                                            <p:strVal val="#ppt_w*0.70"/>
                                          </p:val>
                                        </p:tav>
                                        <p:tav tm="100000">
                                          <p:val>
                                            <p:strVal val="#ppt_w"/>
                                          </p:val>
                                        </p:tav>
                                      </p:tavLst>
                                    </p:anim>
                                    <p:anim calcmode="lin" valueType="num">
                                      <p:cBhvr>
                                        <p:cTn id="23" dur="1000" fill="hold"/>
                                        <p:tgtEl>
                                          <p:spTgt spid="126981"/>
                                        </p:tgtEl>
                                        <p:attrNameLst>
                                          <p:attrName>ppt_h</p:attrName>
                                        </p:attrNameLst>
                                      </p:cBhvr>
                                      <p:tavLst>
                                        <p:tav tm="0">
                                          <p:val>
                                            <p:strVal val="#ppt_h"/>
                                          </p:val>
                                        </p:tav>
                                        <p:tav tm="100000">
                                          <p:val>
                                            <p:strVal val="#ppt_h"/>
                                          </p:val>
                                        </p:tav>
                                      </p:tavLst>
                                    </p:anim>
                                    <p:animEffect transition="in" filter="fade">
                                      <p:cBhvr>
                                        <p:cTn id="24" dur="1000"/>
                                        <p:tgtEl>
                                          <p:spTgt spid="126981"/>
                                        </p:tgtEl>
                                      </p:cBhvr>
                                    </p:animEffect>
                                  </p:childTnLst>
                                </p:cTn>
                              </p:par>
                            </p:childTnLst>
                          </p:cTn>
                        </p:par>
                      </p:childTnLst>
                    </p:cTn>
                  </p:par>
                  <p:par>
                    <p:cTn id="25" fill="hold">
                      <p:stCondLst>
                        <p:cond delay="indefinite"/>
                      </p:stCondLst>
                      <p:childTnLst>
                        <p:par>
                          <p:cTn id="26" fill="hold">
                            <p:stCondLst>
                              <p:cond delay="0"/>
                            </p:stCondLst>
                            <p:childTnLst>
                              <p:par>
                                <p:cTn id="27" presetID="4" presetClass="entr" presetSubtype="16" fill="hold" grpId="0" nodeType="clickEffect">
                                  <p:stCondLst>
                                    <p:cond delay="0"/>
                                  </p:stCondLst>
                                  <p:childTnLst>
                                    <p:set>
                                      <p:cBhvr>
                                        <p:cTn id="28" dur="1" fill="hold">
                                          <p:stCondLst>
                                            <p:cond delay="0"/>
                                          </p:stCondLst>
                                        </p:cTn>
                                        <p:tgtEl>
                                          <p:spTgt spid="126993"/>
                                        </p:tgtEl>
                                        <p:attrNameLst>
                                          <p:attrName>style.visibility</p:attrName>
                                        </p:attrNameLst>
                                      </p:cBhvr>
                                      <p:to>
                                        <p:strVal val="visible"/>
                                      </p:to>
                                    </p:set>
                                    <p:animEffect transition="in" filter="box(in)">
                                      <p:cBhvr>
                                        <p:cTn id="29" dur="500"/>
                                        <p:tgtEl>
                                          <p:spTgt spid="126993"/>
                                        </p:tgtEl>
                                      </p:cBhvr>
                                    </p:animEffect>
                                  </p:childTnLst>
                                </p:cTn>
                              </p:par>
                            </p:childTnLst>
                          </p:cTn>
                        </p:par>
                      </p:childTnLst>
                    </p:cTn>
                  </p:par>
                  <p:par>
                    <p:cTn id="30" fill="hold">
                      <p:stCondLst>
                        <p:cond delay="indefinite"/>
                      </p:stCondLst>
                      <p:childTnLst>
                        <p:par>
                          <p:cTn id="31" fill="hold">
                            <p:stCondLst>
                              <p:cond delay="0"/>
                            </p:stCondLst>
                            <p:childTnLst>
                              <p:par>
                                <p:cTn id="32" presetID="55" presetClass="entr" presetSubtype="0" fill="hold" grpId="0" nodeType="clickEffect">
                                  <p:stCondLst>
                                    <p:cond delay="0"/>
                                  </p:stCondLst>
                                  <p:childTnLst>
                                    <p:set>
                                      <p:cBhvr>
                                        <p:cTn id="33" dur="1" fill="hold">
                                          <p:stCondLst>
                                            <p:cond delay="0"/>
                                          </p:stCondLst>
                                        </p:cTn>
                                        <p:tgtEl>
                                          <p:spTgt spid="127003"/>
                                        </p:tgtEl>
                                        <p:attrNameLst>
                                          <p:attrName>style.visibility</p:attrName>
                                        </p:attrNameLst>
                                      </p:cBhvr>
                                      <p:to>
                                        <p:strVal val="visible"/>
                                      </p:to>
                                    </p:set>
                                    <p:anim calcmode="lin" valueType="num">
                                      <p:cBhvr>
                                        <p:cTn id="34" dur="1000" fill="hold"/>
                                        <p:tgtEl>
                                          <p:spTgt spid="127003"/>
                                        </p:tgtEl>
                                        <p:attrNameLst>
                                          <p:attrName>ppt_w</p:attrName>
                                        </p:attrNameLst>
                                      </p:cBhvr>
                                      <p:tavLst>
                                        <p:tav tm="0">
                                          <p:val>
                                            <p:strVal val="#ppt_w*0.70"/>
                                          </p:val>
                                        </p:tav>
                                        <p:tav tm="100000">
                                          <p:val>
                                            <p:strVal val="#ppt_w"/>
                                          </p:val>
                                        </p:tav>
                                      </p:tavLst>
                                    </p:anim>
                                    <p:anim calcmode="lin" valueType="num">
                                      <p:cBhvr>
                                        <p:cTn id="35" dur="1000" fill="hold"/>
                                        <p:tgtEl>
                                          <p:spTgt spid="127003"/>
                                        </p:tgtEl>
                                        <p:attrNameLst>
                                          <p:attrName>ppt_h</p:attrName>
                                        </p:attrNameLst>
                                      </p:cBhvr>
                                      <p:tavLst>
                                        <p:tav tm="0">
                                          <p:val>
                                            <p:strVal val="#ppt_h"/>
                                          </p:val>
                                        </p:tav>
                                        <p:tav tm="100000">
                                          <p:val>
                                            <p:strVal val="#ppt_h"/>
                                          </p:val>
                                        </p:tav>
                                      </p:tavLst>
                                    </p:anim>
                                    <p:animEffect transition="in" filter="fade">
                                      <p:cBhvr>
                                        <p:cTn id="36" dur="1000"/>
                                        <p:tgtEl>
                                          <p:spTgt spid="127003"/>
                                        </p:tgtEl>
                                      </p:cBhvr>
                                    </p:animEffect>
                                  </p:childTnLst>
                                </p:cTn>
                              </p:par>
                              <p:par>
                                <p:cTn id="37" presetID="55" presetClass="entr" presetSubtype="0" fill="hold" nodeType="withEffect">
                                  <p:stCondLst>
                                    <p:cond delay="0"/>
                                  </p:stCondLst>
                                  <p:childTnLst>
                                    <p:set>
                                      <p:cBhvr>
                                        <p:cTn id="38" dur="1" fill="hold">
                                          <p:stCondLst>
                                            <p:cond delay="0"/>
                                          </p:stCondLst>
                                        </p:cTn>
                                        <p:tgtEl>
                                          <p:spTgt spid="126994"/>
                                        </p:tgtEl>
                                        <p:attrNameLst>
                                          <p:attrName>style.visibility</p:attrName>
                                        </p:attrNameLst>
                                      </p:cBhvr>
                                      <p:to>
                                        <p:strVal val="visible"/>
                                      </p:to>
                                    </p:set>
                                    <p:anim calcmode="lin" valueType="num">
                                      <p:cBhvr>
                                        <p:cTn id="39" dur="1000" fill="hold"/>
                                        <p:tgtEl>
                                          <p:spTgt spid="126994"/>
                                        </p:tgtEl>
                                        <p:attrNameLst>
                                          <p:attrName>ppt_w</p:attrName>
                                        </p:attrNameLst>
                                      </p:cBhvr>
                                      <p:tavLst>
                                        <p:tav tm="0">
                                          <p:val>
                                            <p:strVal val="#ppt_w*0.70"/>
                                          </p:val>
                                        </p:tav>
                                        <p:tav tm="100000">
                                          <p:val>
                                            <p:strVal val="#ppt_w"/>
                                          </p:val>
                                        </p:tav>
                                      </p:tavLst>
                                    </p:anim>
                                    <p:anim calcmode="lin" valueType="num">
                                      <p:cBhvr>
                                        <p:cTn id="40" dur="1000" fill="hold"/>
                                        <p:tgtEl>
                                          <p:spTgt spid="126994"/>
                                        </p:tgtEl>
                                        <p:attrNameLst>
                                          <p:attrName>ppt_h</p:attrName>
                                        </p:attrNameLst>
                                      </p:cBhvr>
                                      <p:tavLst>
                                        <p:tav tm="0">
                                          <p:val>
                                            <p:strVal val="#ppt_h"/>
                                          </p:val>
                                        </p:tav>
                                        <p:tav tm="100000">
                                          <p:val>
                                            <p:strVal val="#ppt_h"/>
                                          </p:val>
                                        </p:tav>
                                      </p:tavLst>
                                    </p:anim>
                                    <p:animEffect transition="in" filter="fade">
                                      <p:cBhvr>
                                        <p:cTn id="41" dur="1000"/>
                                        <p:tgtEl>
                                          <p:spTgt spid="126994"/>
                                        </p:tgtEl>
                                      </p:cBhvr>
                                    </p:animEffect>
                                  </p:childTnLst>
                                </p:cTn>
                              </p:par>
                            </p:childTnLst>
                          </p:cTn>
                        </p:par>
                      </p:childTnLst>
                    </p:cTn>
                  </p:par>
                  <p:par>
                    <p:cTn id="42" fill="hold">
                      <p:stCondLst>
                        <p:cond delay="indefinite"/>
                      </p:stCondLst>
                      <p:childTnLst>
                        <p:par>
                          <p:cTn id="43" fill="hold">
                            <p:stCondLst>
                              <p:cond delay="0"/>
                            </p:stCondLst>
                            <p:childTnLst>
                              <p:par>
                                <p:cTn id="44" presetID="4" presetClass="entr" presetSubtype="16" fill="hold" grpId="0" nodeType="clickEffect">
                                  <p:stCondLst>
                                    <p:cond delay="0"/>
                                  </p:stCondLst>
                                  <p:childTnLst>
                                    <p:set>
                                      <p:cBhvr>
                                        <p:cTn id="45" dur="1" fill="hold">
                                          <p:stCondLst>
                                            <p:cond delay="0"/>
                                          </p:stCondLst>
                                        </p:cTn>
                                        <p:tgtEl>
                                          <p:spTgt spid="126996"/>
                                        </p:tgtEl>
                                        <p:attrNameLst>
                                          <p:attrName>style.visibility</p:attrName>
                                        </p:attrNameLst>
                                      </p:cBhvr>
                                      <p:to>
                                        <p:strVal val="visible"/>
                                      </p:to>
                                    </p:set>
                                    <p:animEffect transition="in" filter="box(in)">
                                      <p:cBhvr>
                                        <p:cTn id="46" dur="500"/>
                                        <p:tgtEl>
                                          <p:spTgt spid="126996"/>
                                        </p:tgtEl>
                                      </p:cBhvr>
                                    </p:animEffect>
                                  </p:childTnLst>
                                </p:cTn>
                              </p:par>
                            </p:childTnLst>
                          </p:cTn>
                        </p:par>
                      </p:childTnLst>
                    </p:cTn>
                  </p:par>
                  <p:par>
                    <p:cTn id="47" fill="hold">
                      <p:stCondLst>
                        <p:cond delay="indefinite"/>
                      </p:stCondLst>
                      <p:childTnLst>
                        <p:par>
                          <p:cTn id="48" fill="hold">
                            <p:stCondLst>
                              <p:cond delay="0"/>
                            </p:stCondLst>
                            <p:childTnLst>
                              <p:par>
                                <p:cTn id="49" presetID="55" presetClass="entr" presetSubtype="0" fill="hold" grpId="0" nodeType="clickEffect">
                                  <p:stCondLst>
                                    <p:cond delay="0"/>
                                  </p:stCondLst>
                                  <p:childTnLst>
                                    <p:set>
                                      <p:cBhvr>
                                        <p:cTn id="50" dur="1" fill="hold">
                                          <p:stCondLst>
                                            <p:cond delay="0"/>
                                          </p:stCondLst>
                                        </p:cTn>
                                        <p:tgtEl>
                                          <p:spTgt spid="127004"/>
                                        </p:tgtEl>
                                        <p:attrNameLst>
                                          <p:attrName>style.visibility</p:attrName>
                                        </p:attrNameLst>
                                      </p:cBhvr>
                                      <p:to>
                                        <p:strVal val="visible"/>
                                      </p:to>
                                    </p:set>
                                    <p:anim calcmode="lin" valueType="num">
                                      <p:cBhvr>
                                        <p:cTn id="51" dur="1000" fill="hold"/>
                                        <p:tgtEl>
                                          <p:spTgt spid="127004"/>
                                        </p:tgtEl>
                                        <p:attrNameLst>
                                          <p:attrName>ppt_w</p:attrName>
                                        </p:attrNameLst>
                                      </p:cBhvr>
                                      <p:tavLst>
                                        <p:tav tm="0">
                                          <p:val>
                                            <p:strVal val="#ppt_w*0.70"/>
                                          </p:val>
                                        </p:tav>
                                        <p:tav tm="100000">
                                          <p:val>
                                            <p:strVal val="#ppt_w"/>
                                          </p:val>
                                        </p:tav>
                                      </p:tavLst>
                                    </p:anim>
                                    <p:anim calcmode="lin" valueType="num">
                                      <p:cBhvr>
                                        <p:cTn id="52" dur="1000" fill="hold"/>
                                        <p:tgtEl>
                                          <p:spTgt spid="127004"/>
                                        </p:tgtEl>
                                        <p:attrNameLst>
                                          <p:attrName>ppt_h</p:attrName>
                                        </p:attrNameLst>
                                      </p:cBhvr>
                                      <p:tavLst>
                                        <p:tav tm="0">
                                          <p:val>
                                            <p:strVal val="#ppt_h"/>
                                          </p:val>
                                        </p:tav>
                                        <p:tav tm="100000">
                                          <p:val>
                                            <p:strVal val="#ppt_h"/>
                                          </p:val>
                                        </p:tav>
                                      </p:tavLst>
                                    </p:anim>
                                    <p:animEffect transition="in" filter="fade">
                                      <p:cBhvr>
                                        <p:cTn id="53" dur="1000"/>
                                        <p:tgtEl>
                                          <p:spTgt spid="127004"/>
                                        </p:tgtEl>
                                      </p:cBhvr>
                                    </p:animEffect>
                                  </p:childTnLst>
                                </p:cTn>
                              </p:par>
                              <p:par>
                                <p:cTn id="54" presetID="55" presetClass="entr" presetSubtype="0" fill="hold" nodeType="withEffect">
                                  <p:stCondLst>
                                    <p:cond delay="0"/>
                                  </p:stCondLst>
                                  <p:childTnLst>
                                    <p:set>
                                      <p:cBhvr>
                                        <p:cTn id="55" dur="1" fill="hold">
                                          <p:stCondLst>
                                            <p:cond delay="0"/>
                                          </p:stCondLst>
                                        </p:cTn>
                                        <p:tgtEl>
                                          <p:spTgt spid="126995"/>
                                        </p:tgtEl>
                                        <p:attrNameLst>
                                          <p:attrName>style.visibility</p:attrName>
                                        </p:attrNameLst>
                                      </p:cBhvr>
                                      <p:to>
                                        <p:strVal val="visible"/>
                                      </p:to>
                                    </p:set>
                                    <p:anim calcmode="lin" valueType="num">
                                      <p:cBhvr>
                                        <p:cTn id="56" dur="1000" fill="hold"/>
                                        <p:tgtEl>
                                          <p:spTgt spid="126995"/>
                                        </p:tgtEl>
                                        <p:attrNameLst>
                                          <p:attrName>ppt_w</p:attrName>
                                        </p:attrNameLst>
                                      </p:cBhvr>
                                      <p:tavLst>
                                        <p:tav tm="0">
                                          <p:val>
                                            <p:strVal val="#ppt_w*0.70"/>
                                          </p:val>
                                        </p:tav>
                                        <p:tav tm="100000">
                                          <p:val>
                                            <p:strVal val="#ppt_w"/>
                                          </p:val>
                                        </p:tav>
                                      </p:tavLst>
                                    </p:anim>
                                    <p:anim calcmode="lin" valueType="num">
                                      <p:cBhvr>
                                        <p:cTn id="57" dur="1000" fill="hold"/>
                                        <p:tgtEl>
                                          <p:spTgt spid="126995"/>
                                        </p:tgtEl>
                                        <p:attrNameLst>
                                          <p:attrName>ppt_h</p:attrName>
                                        </p:attrNameLst>
                                      </p:cBhvr>
                                      <p:tavLst>
                                        <p:tav tm="0">
                                          <p:val>
                                            <p:strVal val="#ppt_h"/>
                                          </p:val>
                                        </p:tav>
                                        <p:tav tm="100000">
                                          <p:val>
                                            <p:strVal val="#ppt_h"/>
                                          </p:val>
                                        </p:tav>
                                      </p:tavLst>
                                    </p:anim>
                                    <p:animEffect transition="in" filter="fade">
                                      <p:cBhvr>
                                        <p:cTn id="58" dur="1000"/>
                                        <p:tgtEl>
                                          <p:spTgt spid="126995"/>
                                        </p:tgtEl>
                                      </p:cBhvr>
                                    </p:animEffect>
                                  </p:childTnLst>
                                </p:cTn>
                              </p:par>
                            </p:childTnLst>
                          </p:cTn>
                        </p:par>
                      </p:childTnLst>
                    </p:cTn>
                  </p:par>
                  <p:par>
                    <p:cTn id="59" fill="hold">
                      <p:stCondLst>
                        <p:cond delay="indefinite"/>
                      </p:stCondLst>
                      <p:childTnLst>
                        <p:par>
                          <p:cTn id="60" fill="hold">
                            <p:stCondLst>
                              <p:cond delay="0"/>
                            </p:stCondLst>
                            <p:childTnLst>
                              <p:par>
                                <p:cTn id="61" presetID="4" presetClass="entr" presetSubtype="16" fill="hold" grpId="0" nodeType="clickEffect">
                                  <p:stCondLst>
                                    <p:cond delay="0"/>
                                  </p:stCondLst>
                                  <p:childTnLst>
                                    <p:set>
                                      <p:cBhvr>
                                        <p:cTn id="62" dur="1" fill="hold">
                                          <p:stCondLst>
                                            <p:cond delay="0"/>
                                          </p:stCondLst>
                                        </p:cTn>
                                        <p:tgtEl>
                                          <p:spTgt spid="126997"/>
                                        </p:tgtEl>
                                        <p:attrNameLst>
                                          <p:attrName>style.visibility</p:attrName>
                                        </p:attrNameLst>
                                      </p:cBhvr>
                                      <p:to>
                                        <p:strVal val="visible"/>
                                      </p:to>
                                    </p:set>
                                    <p:animEffect transition="in" filter="box(in)">
                                      <p:cBhvr>
                                        <p:cTn id="63" dur="500"/>
                                        <p:tgtEl>
                                          <p:spTgt spid="126997"/>
                                        </p:tgtEl>
                                      </p:cBhvr>
                                    </p:animEffect>
                                  </p:childTnLst>
                                </p:cTn>
                              </p:par>
                            </p:childTnLst>
                          </p:cTn>
                        </p:par>
                      </p:childTnLst>
                    </p:cTn>
                  </p:par>
                  <p:par>
                    <p:cTn id="64" fill="hold">
                      <p:stCondLst>
                        <p:cond delay="indefinite"/>
                      </p:stCondLst>
                      <p:childTnLst>
                        <p:par>
                          <p:cTn id="65" fill="hold">
                            <p:stCondLst>
                              <p:cond delay="0"/>
                            </p:stCondLst>
                            <p:childTnLst>
                              <p:par>
                                <p:cTn id="66" presetID="55" presetClass="entr" presetSubtype="0" fill="hold" nodeType="clickEffect">
                                  <p:stCondLst>
                                    <p:cond delay="0"/>
                                  </p:stCondLst>
                                  <p:childTnLst>
                                    <p:set>
                                      <p:cBhvr>
                                        <p:cTn id="67" dur="1" fill="hold">
                                          <p:stCondLst>
                                            <p:cond delay="0"/>
                                          </p:stCondLst>
                                        </p:cTn>
                                        <p:tgtEl>
                                          <p:spTgt spid="126998"/>
                                        </p:tgtEl>
                                        <p:attrNameLst>
                                          <p:attrName>style.visibility</p:attrName>
                                        </p:attrNameLst>
                                      </p:cBhvr>
                                      <p:to>
                                        <p:strVal val="visible"/>
                                      </p:to>
                                    </p:set>
                                    <p:anim calcmode="lin" valueType="num">
                                      <p:cBhvr>
                                        <p:cTn id="68" dur="1000" fill="hold"/>
                                        <p:tgtEl>
                                          <p:spTgt spid="126998"/>
                                        </p:tgtEl>
                                        <p:attrNameLst>
                                          <p:attrName>ppt_w</p:attrName>
                                        </p:attrNameLst>
                                      </p:cBhvr>
                                      <p:tavLst>
                                        <p:tav tm="0">
                                          <p:val>
                                            <p:strVal val="#ppt_w*0.70"/>
                                          </p:val>
                                        </p:tav>
                                        <p:tav tm="100000">
                                          <p:val>
                                            <p:strVal val="#ppt_w"/>
                                          </p:val>
                                        </p:tav>
                                      </p:tavLst>
                                    </p:anim>
                                    <p:anim calcmode="lin" valueType="num">
                                      <p:cBhvr>
                                        <p:cTn id="69" dur="1000" fill="hold"/>
                                        <p:tgtEl>
                                          <p:spTgt spid="126998"/>
                                        </p:tgtEl>
                                        <p:attrNameLst>
                                          <p:attrName>ppt_h</p:attrName>
                                        </p:attrNameLst>
                                      </p:cBhvr>
                                      <p:tavLst>
                                        <p:tav tm="0">
                                          <p:val>
                                            <p:strVal val="#ppt_h"/>
                                          </p:val>
                                        </p:tav>
                                        <p:tav tm="100000">
                                          <p:val>
                                            <p:strVal val="#ppt_h"/>
                                          </p:val>
                                        </p:tav>
                                      </p:tavLst>
                                    </p:anim>
                                    <p:animEffect transition="in" filter="fade">
                                      <p:cBhvr>
                                        <p:cTn id="70" dur="1000"/>
                                        <p:tgtEl>
                                          <p:spTgt spid="126998"/>
                                        </p:tgtEl>
                                      </p:cBhvr>
                                    </p:animEffect>
                                  </p:childTnLst>
                                </p:cTn>
                              </p:par>
                              <p:par>
                                <p:cTn id="71" presetID="55" presetClass="entr" presetSubtype="0" fill="hold" grpId="0" nodeType="withEffect">
                                  <p:stCondLst>
                                    <p:cond delay="0"/>
                                  </p:stCondLst>
                                  <p:childTnLst>
                                    <p:set>
                                      <p:cBhvr>
                                        <p:cTn id="72" dur="1" fill="hold">
                                          <p:stCondLst>
                                            <p:cond delay="0"/>
                                          </p:stCondLst>
                                        </p:cTn>
                                        <p:tgtEl>
                                          <p:spTgt spid="126979"/>
                                        </p:tgtEl>
                                        <p:attrNameLst>
                                          <p:attrName>style.visibility</p:attrName>
                                        </p:attrNameLst>
                                      </p:cBhvr>
                                      <p:to>
                                        <p:strVal val="visible"/>
                                      </p:to>
                                    </p:set>
                                    <p:anim calcmode="lin" valueType="num">
                                      <p:cBhvr>
                                        <p:cTn id="73" dur="1000" fill="hold"/>
                                        <p:tgtEl>
                                          <p:spTgt spid="126979"/>
                                        </p:tgtEl>
                                        <p:attrNameLst>
                                          <p:attrName>ppt_w</p:attrName>
                                        </p:attrNameLst>
                                      </p:cBhvr>
                                      <p:tavLst>
                                        <p:tav tm="0">
                                          <p:val>
                                            <p:strVal val="#ppt_w*0.70"/>
                                          </p:val>
                                        </p:tav>
                                        <p:tav tm="100000">
                                          <p:val>
                                            <p:strVal val="#ppt_w"/>
                                          </p:val>
                                        </p:tav>
                                      </p:tavLst>
                                    </p:anim>
                                    <p:anim calcmode="lin" valueType="num">
                                      <p:cBhvr>
                                        <p:cTn id="74" dur="1000" fill="hold"/>
                                        <p:tgtEl>
                                          <p:spTgt spid="126979"/>
                                        </p:tgtEl>
                                        <p:attrNameLst>
                                          <p:attrName>ppt_h</p:attrName>
                                        </p:attrNameLst>
                                      </p:cBhvr>
                                      <p:tavLst>
                                        <p:tav tm="0">
                                          <p:val>
                                            <p:strVal val="#ppt_h"/>
                                          </p:val>
                                        </p:tav>
                                        <p:tav tm="100000">
                                          <p:val>
                                            <p:strVal val="#ppt_h"/>
                                          </p:val>
                                        </p:tav>
                                      </p:tavLst>
                                    </p:anim>
                                    <p:animEffect transition="in" filter="fade">
                                      <p:cBhvr>
                                        <p:cTn id="75" dur="1000"/>
                                        <p:tgtEl>
                                          <p:spTgt spid="126979"/>
                                        </p:tgtEl>
                                      </p:cBhvr>
                                    </p:animEffect>
                                  </p:childTnLst>
                                </p:cTn>
                              </p:par>
                              <p:par>
                                <p:cTn id="76" presetID="55" presetClass="entr" presetSubtype="0" fill="hold" nodeType="withEffect">
                                  <p:stCondLst>
                                    <p:cond delay="0"/>
                                  </p:stCondLst>
                                  <p:childTnLst>
                                    <p:set>
                                      <p:cBhvr>
                                        <p:cTn id="77" dur="1" fill="hold">
                                          <p:stCondLst>
                                            <p:cond delay="0"/>
                                          </p:stCondLst>
                                        </p:cTn>
                                        <p:tgtEl>
                                          <p:spTgt spid="127006"/>
                                        </p:tgtEl>
                                        <p:attrNameLst>
                                          <p:attrName>style.visibility</p:attrName>
                                        </p:attrNameLst>
                                      </p:cBhvr>
                                      <p:to>
                                        <p:strVal val="visible"/>
                                      </p:to>
                                    </p:set>
                                    <p:anim calcmode="lin" valueType="num">
                                      <p:cBhvr>
                                        <p:cTn id="78" dur="1000" fill="hold"/>
                                        <p:tgtEl>
                                          <p:spTgt spid="127006"/>
                                        </p:tgtEl>
                                        <p:attrNameLst>
                                          <p:attrName>ppt_w</p:attrName>
                                        </p:attrNameLst>
                                      </p:cBhvr>
                                      <p:tavLst>
                                        <p:tav tm="0">
                                          <p:val>
                                            <p:strVal val="#ppt_w*0.70"/>
                                          </p:val>
                                        </p:tav>
                                        <p:tav tm="100000">
                                          <p:val>
                                            <p:strVal val="#ppt_w"/>
                                          </p:val>
                                        </p:tav>
                                      </p:tavLst>
                                    </p:anim>
                                    <p:anim calcmode="lin" valueType="num">
                                      <p:cBhvr>
                                        <p:cTn id="79" dur="1000" fill="hold"/>
                                        <p:tgtEl>
                                          <p:spTgt spid="127006"/>
                                        </p:tgtEl>
                                        <p:attrNameLst>
                                          <p:attrName>ppt_h</p:attrName>
                                        </p:attrNameLst>
                                      </p:cBhvr>
                                      <p:tavLst>
                                        <p:tav tm="0">
                                          <p:val>
                                            <p:strVal val="#ppt_h"/>
                                          </p:val>
                                        </p:tav>
                                        <p:tav tm="100000">
                                          <p:val>
                                            <p:strVal val="#ppt_h"/>
                                          </p:val>
                                        </p:tav>
                                      </p:tavLst>
                                    </p:anim>
                                    <p:animEffect transition="in" filter="fade">
                                      <p:cBhvr>
                                        <p:cTn id="80" dur="1000"/>
                                        <p:tgtEl>
                                          <p:spTgt spid="127006"/>
                                        </p:tgtEl>
                                      </p:cBhvr>
                                    </p:animEffect>
                                  </p:childTnLst>
                                </p:cTn>
                              </p:par>
                            </p:childTnLst>
                          </p:cTn>
                        </p:par>
                      </p:childTnLst>
                    </p:cTn>
                  </p:par>
                  <p:par>
                    <p:cTn id="81" fill="hold">
                      <p:stCondLst>
                        <p:cond delay="indefinite"/>
                      </p:stCondLst>
                      <p:childTnLst>
                        <p:par>
                          <p:cTn id="82" fill="hold">
                            <p:stCondLst>
                              <p:cond delay="0"/>
                            </p:stCondLst>
                            <p:childTnLst>
                              <p:par>
                                <p:cTn id="83" presetID="55" presetClass="entr" presetSubtype="0" fill="hold" nodeType="clickEffect">
                                  <p:stCondLst>
                                    <p:cond delay="0"/>
                                  </p:stCondLst>
                                  <p:childTnLst>
                                    <p:set>
                                      <p:cBhvr>
                                        <p:cTn id="84" dur="1" fill="hold">
                                          <p:stCondLst>
                                            <p:cond delay="0"/>
                                          </p:stCondLst>
                                        </p:cTn>
                                        <p:tgtEl>
                                          <p:spTgt spid="127000"/>
                                        </p:tgtEl>
                                        <p:attrNameLst>
                                          <p:attrName>style.visibility</p:attrName>
                                        </p:attrNameLst>
                                      </p:cBhvr>
                                      <p:to>
                                        <p:strVal val="visible"/>
                                      </p:to>
                                    </p:set>
                                    <p:anim calcmode="lin" valueType="num">
                                      <p:cBhvr>
                                        <p:cTn id="85" dur="1000" fill="hold"/>
                                        <p:tgtEl>
                                          <p:spTgt spid="127000"/>
                                        </p:tgtEl>
                                        <p:attrNameLst>
                                          <p:attrName>ppt_w</p:attrName>
                                        </p:attrNameLst>
                                      </p:cBhvr>
                                      <p:tavLst>
                                        <p:tav tm="0">
                                          <p:val>
                                            <p:strVal val="#ppt_w*0.70"/>
                                          </p:val>
                                        </p:tav>
                                        <p:tav tm="100000">
                                          <p:val>
                                            <p:strVal val="#ppt_w"/>
                                          </p:val>
                                        </p:tav>
                                      </p:tavLst>
                                    </p:anim>
                                    <p:anim calcmode="lin" valueType="num">
                                      <p:cBhvr>
                                        <p:cTn id="86" dur="1000" fill="hold"/>
                                        <p:tgtEl>
                                          <p:spTgt spid="127000"/>
                                        </p:tgtEl>
                                        <p:attrNameLst>
                                          <p:attrName>ppt_h</p:attrName>
                                        </p:attrNameLst>
                                      </p:cBhvr>
                                      <p:tavLst>
                                        <p:tav tm="0">
                                          <p:val>
                                            <p:strVal val="#ppt_h"/>
                                          </p:val>
                                        </p:tav>
                                        <p:tav tm="100000">
                                          <p:val>
                                            <p:strVal val="#ppt_h"/>
                                          </p:val>
                                        </p:tav>
                                      </p:tavLst>
                                    </p:anim>
                                    <p:animEffect transition="in" filter="fade">
                                      <p:cBhvr>
                                        <p:cTn id="87" dur="1000"/>
                                        <p:tgtEl>
                                          <p:spTgt spid="127000"/>
                                        </p:tgtEl>
                                      </p:cBhvr>
                                    </p:animEffect>
                                  </p:childTnLst>
                                </p:cTn>
                              </p:par>
                            </p:childTnLst>
                          </p:cTn>
                        </p:par>
                      </p:childTnLst>
                    </p:cTn>
                  </p:par>
                  <p:par>
                    <p:cTn id="88" fill="hold">
                      <p:stCondLst>
                        <p:cond delay="indefinite"/>
                      </p:stCondLst>
                      <p:childTnLst>
                        <p:par>
                          <p:cTn id="89" fill="hold">
                            <p:stCondLst>
                              <p:cond delay="0"/>
                            </p:stCondLst>
                            <p:childTnLst>
                              <p:par>
                                <p:cTn id="90" presetID="4" presetClass="entr" presetSubtype="16" fill="hold" grpId="0" nodeType="clickEffect">
                                  <p:stCondLst>
                                    <p:cond delay="0"/>
                                  </p:stCondLst>
                                  <p:childTnLst>
                                    <p:set>
                                      <p:cBhvr>
                                        <p:cTn id="91" dur="1" fill="hold">
                                          <p:stCondLst>
                                            <p:cond delay="0"/>
                                          </p:stCondLst>
                                        </p:cTn>
                                        <p:tgtEl>
                                          <p:spTgt spid="126999"/>
                                        </p:tgtEl>
                                        <p:attrNameLst>
                                          <p:attrName>style.visibility</p:attrName>
                                        </p:attrNameLst>
                                      </p:cBhvr>
                                      <p:to>
                                        <p:strVal val="visible"/>
                                      </p:to>
                                    </p:set>
                                    <p:animEffect transition="in" filter="box(in)">
                                      <p:cBhvr>
                                        <p:cTn id="92" dur="500"/>
                                        <p:tgtEl>
                                          <p:spTgt spid="126999"/>
                                        </p:tgtEl>
                                      </p:cBhvr>
                                    </p:animEffect>
                                  </p:childTnLst>
                                </p:cTn>
                              </p:par>
                            </p:childTnLst>
                          </p:cTn>
                        </p:par>
                      </p:childTnLst>
                    </p:cTn>
                  </p:par>
                  <p:par>
                    <p:cTn id="93" fill="hold">
                      <p:stCondLst>
                        <p:cond delay="indefinite"/>
                      </p:stCondLst>
                      <p:childTnLst>
                        <p:par>
                          <p:cTn id="94" fill="hold">
                            <p:stCondLst>
                              <p:cond delay="0"/>
                            </p:stCondLst>
                            <p:childTnLst>
                              <p:par>
                                <p:cTn id="95" presetID="4" presetClass="entr" presetSubtype="16" fill="hold" nodeType="clickEffect">
                                  <p:stCondLst>
                                    <p:cond delay="0"/>
                                  </p:stCondLst>
                                  <p:childTnLst>
                                    <p:set>
                                      <p:cBhvr>
                                        <p:cTn id="96" dur="1" fill="hold">
                                          <p:stCondLst>
                                            <p:cond delay="0"/>
                                          </p:stCondLst>
                                        </p:cTn>
                                        <p:tgtEl>
                                          <p:spTgt spid="127005"/>
                                        </p:tgtEl>
                                        <p:attrNameLst>
                                          <p:attrName>style.visibility</p:attrName>
                                        </p:attrNameLst>
                                      </p:cBhvr>
                                      <p:to>
                                        <p:strVal val="visible"/>
                                      </p:to>
                                    </p:set>
                                    <p:animEffect transition="in" filter="box(in)">
                                      <p:cBhvr>
                                        <p:cTn id="97" dur="500"/>
                                        <p:tgtEl>
                                          <p:spTgt spid="127005"/>
                                        </p:tgtEl>
                                      </p:cBhvr>
                                    </p:animEffect>
                                  </p:childTnLst>
                                </p:cTn>
                              </p:par>
                              <p:par>
                                <p:cTn id="98" presetID="4" presetClass="entr" presetSubtype="16" fill="hold" grpId="0" nodeType="withEffect">
                                  <p:stCondLst>
                                    <p:cond delay="0"/>
                                  </p:stCondLst>
                                  <p:childTnLst>
                                    <p:set>
                                      <p:cBhvr>
                                        <p:cTn id="99" dur="1" fill="hold">
                                          <p:stCondLst>
                                            <p:cond delay="0"/>
                                          </p:stCondLst>
                                        </p:cTn>
                                        <p:tgtEl>
                                          <p:spTgt spid="126978"/>
                                        </p:tgtEl>
                                        <p:attrNameLst>
                                          <p:attrName>style.visibility</p:attrName>
                                        </p:attrNameLst>
                                      </p:cBhvr>
                                      <p:to>
                                        <p:strVal val="visible"/>
                                      </p:to>
                                    </p:set>
                                    <p:animEffect transition="in" filter="box(in)">
                                      <p:cBhvr>
                                        <p:cTn id="100" dur="500"/>
                                        <p:tgtEl>
                                          <p:spTgt spid="126978"/>
                                        </p:tgtEl>
                                      </p:cBhvr>
                                    </p:animEffect>
                                  </p:childTnLst>
                                </p:cTn>
                              </p:par>
                            </p:childTnLst>
                          </p:cTn>
                        </p:par>
                      </p:childTnLst>
                    </p:cTn>
                  </p:par>
                  <p:par>
                    <p:cTn id="101" fill="hold">
                      <p:stCondLst>
                        <p:cond delay="indefinite"/>
                      </p:stCondLst>
                      <p:childTnLst>
                        <p:par>
                          <p:cTn id="102" fill="hold">
                            <p:stCondLst>
                              <p:cond delay="0"/>
                            </p:stCondLst>
                            <p:childTnLst>
                              <p:par>
                                <p:cTn id="103" presetID="55" presetClass="entr" presetSubtype="0" fill="hold" nodeType="clickEffect">
                                  <p:stCondLst>
                                    <p:cond delay="0"/>
                                  </p:stCondLst>
                                  <p:childTnLst>
                                    <p:set>
                                      <p:cBhvr>
                                        <p:cTn id="104" dur="1" fill="hold">
                                          <p:stCondLst>
                                            <p:cond delay="0"/>
                                          </p:stCondLst>
                                        </p:cTn>
                                        <p:tgtEl>
                                          <p:spTgt spid="127007"/>
                                        </p:tgtEl>
                                        <p:attrNameLst>
                                          <p:attrName>style.visibility</p:attrName>
                                        </p:attrNameLst>
                                      </p:cBhvr>
                                      <p:to>
                                        <p:strVal val="visible"/>
                                      </p:to>
                                    </p:set>
                                    <p:anim calcmode="lin" valueType="num">
                                      <p:cBhvr>
                                        <p:cTn id="105" dur="1000" fill="hold"/>
                                        <p:tgtEl>
                                          <p:spTgt spid="127007"/>
                                        </p:tgtEl>
                                        <p:attrNameLst>
                                          <p:attrName>ppt_w</p:attrName>
                                        </p:attrNameLst>
                                      </p:cBhvr>
                                      <p:tavLst>
                                        <p:tav tm="0">
                                          <p:val>
                                            <p:strVal val="#ppt_w*0.70"/>
                                          </p:val>
                                        </p:tav>
                                        <p:tav tm="100000">
                                          <p:val>
                                            <p:strVal val="#ppt_w"/>
                                          </p:val>
                                        </p:tav>
                                      </p:tavLst>
                                    </p:anim>
                                    <p:anim calcmode="lin" valueType="num">
                                      <p:cBhvr>
                                        <p:cTn id="106" dur="1000" fill="hold"/>
                                        <p:tgtEl>
                                          <p:spTgt spid="127007"/>
                                        </p:tgtEl>
                                        <p:attrNameLst>
                                          <p:attrName>ppt_h</p:attrName>
                                        </p:attrNameLst>
                                      </p:cBhvr>
                                      <p:tavLst>
                                        <p:tav tm="0">
                                          <p:val>
                                            <p:strVal val="#ppt_h"/>
                                          </p:val>
                                        </p:tav>
                                        <p:tav tm="100000">
                                          <p:val>
                                            <p:strVal val="#ppt_h"/>
                                          </p:val>
                                        </p:tav>
                                      </p:tavLst>
                                    </p:anim>
                                    <p:animEffect transition="in" filter="fade">
                                      <p:cBhvr>
                                        <p:cTn id="107" dur="1000"/>
                                        <p:tgtEl>
                                          <p:spTgt spid="12700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6978" grpId="0" bldLvl="0" animBg="1"/>
      <p:bldP spid="126979" grpId="0" bldLvl="0" animBg="1"/>
      <p:bldP spid="126993" grpId="0" bldLvl="0" animBg="1"/>
      <p:bldP spid="126996" grpId="0" bldLvl="0" animBg="1"/>
      <p:bldP spid="126997" grpId="0" bldLvl="0" animBg="1"/>
      <p:bldP spid="126999" grpId="0" bldLvl="0" animBg="1"/>
      <p:bldP spid="127003" grpId="0"/>
      <p:bldP spid="127004" grpId="0"/>
      <p:bldP spid="127008" grpId="0" build="p"/>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1" name="Rectangle 2"/>
          <p:cNvSpPr txBox="1"/>
          <p:nvPr/>
        </p:nvSpPr>
        <p:spPr>
          <a:xfrm>
            <a:off x="593725" y="1417638"/>
            <a:ext cx="8229600" cy="715962"/>
          </a:xfrm>
          <a:prstGeom prst="rect">
            <a:avLst/>
          </a:prstGeom>
          <a:noFill/>
          <a:ln w="9525">
            <a:noFill/>
          </a:ln>
        </p:spPr>
        <p:txBody>
          <a:bodyPr anchor="t"/>
          <a:lstStyle/>
          <a:p>
            <a:pPr lvl="0" indent="0" eaLnBrk="0" hangingPunct="0">
              <a:buFont typeface="Wingdings" panose="05000000000000000000" pitchFamily="2" charset="2"/>
              <a:buChar char="p"/>
            </a:pPr>
            <a:r>
              <a:rPr lang="zh-CN" altLang="en-US" sz="2800" dirty="0">
                <a:solidFill>
                  <a:srgbClr val="3333CC"/>
                </a:solidFill>
                <a:latin typeface="Arial" panose="020B0604020202020204" pitchFamily="34" charset="0"/>
                <a:ea typeface="黑体" panose="02010609060101010101" pitchFamily="1" charset="-122"/>
              </a:rPr>
              <a:t>锁冲突检测问题的解决</a:t>
            </a:r>
            <a:endParaRPr lang="zh-CN" altLang="en-US" sz="2800" dirty="0">
              <a:solidFill>
                <a:srgbClr val="3333CC"/>
              </a:solidFill>
              <a:latin typeface="Arial" panose="020B0604020202020204" pitchFamily="34" charset="0"/>
              <a:ea typeface="黑体" panose="02010609060101010101" pitchFamily="1" charset="-122"/>
            </a:endParaRPr>
          </a:p>
        </p:txBody>
      </p:sp>
      <p:sp>
        <p:nvSpPr>
          <p:cNvPr id="124932" name="Rectangle 3"/>
          <p:cNvSpPr txBox="1"/>
          <p:nvPr/>
        </p:nvSpPr>
        <p:spPr>
          <a:xfrm>
            <a:off x="525463" y="2014538"/>
            <a:ext cx="8137525" cy="2359025"/>
          </a:xfrm>
          <a:prstGeom prst="rect">
            <a:avLst/>
          </a:prstGeom>
          <a:noFill/>
          <a:ln w="9525">
            <a:noFill/>
          </a:ln>
        </p:spPr>
        <p:txBody>
          <a:bodyPr anchor="t"/>
          <a:lstStyle/>
          <a:p>
            <a:pPr lvl="0" indent="0" eaLnBrk="0" hangingPunct="0">
              <a:lnSpc>
                <a:spcPct val="150000"/>
              </a:lnSpc>
              <a:spcBef>
                <a:spcPct val="50000"/>
              </a:spcBef>
              <a:buClr>
                <a:srgbClr val="0033CC"/>
              </a:buClr>
              <a:buSzPct val="80000"/>
              <a:buFont typeface="Wingdings" panose="05000000000000000000" pitchFamily="2" charset="2"/>
              <a:buChar char="u"/>
            </a:pPr>
            <a:r>
              <a:rPr lang="zh-CN" altLang="en-US" sz="2600" u="sng" dirty="0">
                <a:solidFill>
                  <a:srgbClr val="C00000"/>
                </a:solidFill>
                <a:latin typeface="Arial" panose="020B0604020202020204" pitchFamily="34" charset="0"/>
                <a:ea typeface="宋体" panose="02010600030101010101" pitchFamily="2" charset="-122"/>
                <a:sym typeface="Wingdings" panose="05000000000000000000" pitchFamily="2" charset="2"/>
              </a:rPr>
              <a:t>意向锁的提出：</a:t>
            </a:r>
            <a:r>
              <a:rPr lang="zh-CN" altLang="en-US" sz="2400" dirty="0">
                <a:latin typeface="Arial" panose="020B0604020202020204" pitchFamily="34" charset="0"/>
                <a:ea typeface="宋体" panose="02010600030101010101" pitchFamily="2" charset="-122"/>
                <a:sym typeface="Wingdings" panose="05000000000000000000" pitchFamily="2" charset="2"/>
              </a:rPr>
              <a:t>为简化锁冲突的检测，多粒度加锁协议中，除</a:t>
            </a:r>
            <a:r>
              <a:rPr lang="en-US" altLang="x-none" sz="2400" dirty="0">
                <a:latin typeface="Arial" panose="020B0604020202020204" pitchFamily="34" charset="0"/>
                <a:ea typeface="宋体" panose="02010600030101010101" pitchFamily="2" charset="-122"/>
                <a:sym typeface="Wingdings" panose="05000000000000000000" pitchFamily="2" charset="2"/>
              </a:rPr>
              <a:t>S</a:t>
            </a:r>
            <a:r>
              <a:rPr lang="zh-CN" altLang="en-US" sz="2400" dirty="0">
                <a:latin typeface="Arial" panose="020B0604020202020204" pitchFamily="34" charset="0"/>
                <a:ea typeface="宋体" panose="02010600030101010101" pitchFamily="2" charset="-122"/>
                <a:sym typeface="Wingdings" panose="05000000000000000000" pitchFamily="2" charset="2"/>
              </a:rPr>
              <a:t>锁和</a:t>
            </a:r>
            <a:r>
              <a:rPr lang="en-US" altLang="x-none" sz="2400" dirty="0">
                <a:latin typeface="Arial" panose="020B0604020202020204" pitchFamily="34" charset="0"/>
                <a:ea typeface="宋体" panose="02010600030101010101" pitchFamily="2" charset="-122"/>
                <a:sym typeface="Wingdings" panose="05000000000000000000" pitchFamily="2" charset="2"/>
              </a:rPr>
              <a:t>X</a:t>
            </a:r>
            <a:r>
              <a:rPr lang="zh-CN" altLang="en-US" sz="2400" dirty="0">
                <a:latin typeface="Arial" panose="020B0604020202020204" pitchFamily="34" charset="0"/>
                <a:ea typeface="宋体" panose="02010600030101010101" pitchFamily="2" charset="-122"/>
                <a:sym typeface="Wingdings" panose="05000000000000000000" pitchFamily="2" charset="2"/>
              </a:rPr>
              <a:t>锁外，另外引入了三种意向锁。</a:t>
            </a:r>
            <a:endParaRPr lang="en-US" altLang="x-none" sz="2400" dirty="0">
              <a:latin typeface="Arial" panose="020B0604020202020204" pitchFamily="34" charset="0"/>
              <a:ea typeface="宋体" panose="02010600030101010101" pitchFamily="2" charset="-122"/>
              <a:sym typeface="Wingdings" panose="05000000000000000000" pitchFamily="2" charset="2"/>
            </a:endParaRPr>
          </a:p>
          <a:p>
            <a:pPr lvl="0" indent="0" eaLnBrk="0" hangingPunct="0">
              <a:lnSpc>
                <a:spcPct val="150000"/>
              </a:lnSpc>
              <a:spcBef>
                <a:spcPct val="50000"/>
              </a:spcBef>
              <a:buClr>
                <a:srgbClr val="0033CC"/>
              </a:buClr>
              <a:buSzPct val="80000"/>
            </a:pPr>
            <a:r>
              <a:rPr lang="zh-CN" altLang="en-US" sz="2400" dirty="0">
                <a:latin typeface="Arial" panose="020B0604020202020204" pitchFamily="34" charset="0"/>
                <a:ea typeface="宋体" panose="02010600030101010101" pitchFamily="2" charset="-122"/>
                <a:sym typeface="Wingdings" panose="05000000000000000000" pitchFamily="2" charset="2"/>
              </a:rPr>
              <a:t> </a:t>
            </a:r>
            <a:r>
              <a:rPr lang="zh-CN" altLang="en-US" sz="2400" dirty="0">
                <a:solidFill>
                  <a:srgbClr val="C00000"/>
                </a:solidFill>
                <a:latin typeface="Arial" panose="020B0604020202020204" pitchFamily="34" charset="0"/>
                <a:ea typeface="宋体" panose="02010600030101010101" pitchFamily="2" charset="-122"/>
                <a:sym typeface="Wingdings" panose="05000000000000000000" pitchFamily="2" charset="2"/>
              </a:rPr>
              <a:t>（</a:t>
            </a:r>
            <a:r>
              <a:rPr lang="en-US" altLang="x-none" sz="2400" dirty="0">
                <a:solidFill>
                  <a:srgbClr val="C00000"/>
                </a:solidFill>
                <a:latin typeface="Arial" panose="020B0604020202020204" pitchFamily="34" charset="0"/>
                <a:ea typeface="宋体" panose="02010600030101010101" pitchFamily="2" charset="-122"/>
                <a:sym typeface="Wingdings" panose="05000000000000000000" pitchFamily="2" charset="2"/>
              </a:rPr>
              <a:t>1</a:t>
            </a:r>
            <a:r>
              <a:rPr lang="zh-CN" altLang="en-US" sz="2400" dirty="0">
                <a:solidFill>
                  <a:srgbClr val="C00000"/>
                </a:solidFill>
                <a:latin typeface="Arial" panose="020B0604020202020204" pitchFamily="34" charset="0"/>
                <a:ea typeface="宋体" panose="02010600030101010101" pitchFamily="2" charset="-122"/>
                <a:sym typeface="Wingdings" panose="05000000000000000000" pitchFamily="2" charset="2"/>
              </a:rPr>
              <a:t>）意向共享</a:t>
            </a:r>
            <a:r>
              <a:rPr lang="en-US" altLang="x-none" sz="2400" dirty="0">
                <a:solidFill>
                  <a:srgbClr val="C00000"/>
                </a:solidFill>
                <a:latin typeface="Arial" panose="020B0604020202020204" pitchFamily="34" charset="0"/>
                <a:ea typeface="宋体" panose="02010600030101010101" pitchFamily="2" charset="-122"/>
                <a:sym typeface="Wingdings" panose="05000000000000000000" pitchFamily="2" charset="2"/>
              </a:rPr>
              <a:t>IS (Intention Share)</a:t>
            </a:r>
            <a:r>
              <a:rPr lang="zh-CN" altLang="en-US" sz="2400" dirty="0">
                <a:solidFill>
                  <a:srgbClr val="C00000"/>
                </a:solidFill>
                <a:latin typeface="Arial" panose="020B0604020202020204" pitchFamily="34" charset="0"/>
                <a:ea typeface="宋体" panose="02010600030101010101" pitchFamily="2" charset="-122"/>
                <a:sym typeface="Wingdings" panose="05000000000000000000" pitchFamily="2" charset="2"/>
              </a:rPr>
              <a:t>锁</a:t>
            </a:r>
            <a:endParaRPr lang="zh-CN" altLang="en-US" sz="2400" dirty="0">
              <a:solidFill>
                <a:srgbClr val="C00000"/>
              </a:solidFill>
              <a:latin typeface="Arial" panose="020B0604020202020204" pitchFamily="34" charset="0"/>
              <a:ea typeface="宋体" panose="02010600030101010101" pitchFamily="2" charset="-122"/>
              <a:sym typeface="Wingdings" panose="05000000000000000000" pitchFamily="2" charset="2"/>
            </a:endParaRPr>
          </a:p>
          <a:p>
            <a:pPr lvl="0" indent="0" eaLnBrk="0" hangingPunct="0">
              <a:lnSpc>
                <a:spcPct val="125000"/>
              </a:lnSpc>
              <a:spcBef>
                <a:spcPct val="50000"/>
              </a:spcBef>
              <a:buClr>
                <a:srgbClr val="0033CC"/>
              </a:buClr>
              <a:buSzPct val="80000"/>
              <a:buFont typeface="Wingdings" panose="05000000000000000000" pitchFamily="2" charset="2"/>
              <a:buChar char="Ø"/>
            </a:pPr>
            <a:r>
              <a:rPr lang="zh-CN" altLang="en-US" sz="2400" u="sng" dirty="0">
                <a:solidFill>
                  <a:srgbClr val="C00000"/>
                </a:solidFill>
                <a:latin typeface="Arial" panose="020B0604020202020204" pitchFamily="34" charset="0"/>
                <a:ea typeface="宋体" panose="02010600030101010101" pitchFamily="2" charset="-122"/>
                <a:sym typeface="Wingdings" panose="05000000000000000000" pitchFamily="2" charset="2"/>
              </a:rPr>
              <a:t>加</a:t>
            </a:r>
            <a:r>
              <a:rPr lang="en-US" altLang="x-none" sz="2400" u="sng" dirty="0">
                <a:solidFill>
                  <a:srgbClr val="C00000"/>
                </a:solidFill>
                <a:latin typeface="Arial" panose="020B0604020202020204" pitchFamily="34" charset="0"/>
                <a:ea typeface="宋体" panose="02010600030101010101" pitchFamily="2" charset="-122"/>
                <a:sym typeface="Wingdings" panose="05000000000000000000" pitchFamily="2" charset="2"/>
              </a:rPr>
              <a:t>IS</a:t>
            </a:r>
            <a:r>
              <a:rPr lang="zh-CN" altLang="en-US" sz="2400" u="sng" dirty="0">
                <a:solidFill>
                  <a:srgbClr val="C00000"/>
                </a:solidFill>
                <a:latin typeface="Arial" panose="020B0604020202020204" pitchFamily="34" charset="0"/>
                <a:ea typeface="宋体" panose="02010600030101010101" pitchFamily="2" charset="-122"/>
                <a:sym typeface="Wingdings" panose="05000000000000000000" pitchFamily="2" charset="2"/>
              </a:rPr>
              <a:t>锁：</a:t>
            </a:r>
            <a:r>
              <a:rPr lang="zh-CN" altLang="en-US" sz="2400" dirty="0">
                <a:latin typeface="Arial" panose="020B0604020202020204" pitchFamily="34" charset="0"/>
                <a:ea typeface="宋体" panose="02010600030101010101" pitchFamily="2" charset="-122"/>
                <a:sym typeface="Wingdings" panose="05000000000000000000" pitchFamily="2" charset="2"/>
              </a:rPr>
              <a:t>一个事务要给一个数据对象加</a:t>
            </a:r>
            <a:r>
              <a:rPr lang="en-US" altLang="x-none" sz="2400" dirty="0">
                <a:latin typeface="Arial" panose="020B0604020202020204" pitchFamily="34" charset="0"/>
                <a:ea typeface="宋体" panose="02010600030101010101" pitchFamily="2" charset="-122"/>
                <a:sym typeface="Wingdings" panose="05000000000000000000" pitchFamily="2" charset="2"/>
              </a:rPr>
              <a:t>S</a:t>
            </a:r>
            <a:r>
              <a:rPr lang="zh-CN" altLang="en-US" sz="2400" dirty="0">
                <a:latin typeface="Arial" panose="020B0604020202020204" pitchFamily="34" charset="0"/>
                <a:ea typeface="宋体" panose="02010600030101010101" pitchFamily="2" charset="-122"/>
                <a:sym typeface="Wingdings" panose="05000000000000000000" pitchFamily="2" charset="2"/>
              </a:rPr>
              <a:t>锁，必须首先将其祖先加</a:t>
            </a:r>
            <a:r>
              <a:rPr lang="en-US" altLang="x-none" sz="2400" dirty="0">
                <a:latin typeface="Arial" panose="020B0604020202020204" pitchFamily="34" charset="0"/>
                <a:ea typeface="宋体" panose="02010600030101010101" pitchFamily="2" charset="-122"/>
                <a:sym typeface="Wingdings" panose="05000000000000000000" pitchFamily="2" charset="2"/>
              </a:rPr>
              <a:t>IS</a:t>
            </a:r>
            <a:r>
              <a:rPr lang="zh-CN" altLang="en-US" sz="2400" dirty="0">
                <a:latin typeface="Arial" panose="020B0604020202020204" pitchFamily="34" charset="0"/>
                <a:ea typeface="宋体" panose="02010600030101010101" pitchFamily="2" charset="-122"/>
                <a:sym typeface="Wingdings" panose="05000000000000000000" pitchFamily="2" charset="2"/>
              </a:rPr>
              <a:t>锁。也就是说，如果一个数据对象被加了</a:t>
            </a:r>
            <a:r>
              <a:rPr lang="en-US" altLang="x-none" sz="2400" dirty="0">
                <a:latin typeface="Arial" panose="020B0604020202020204" pitchFamily="34" charset="0"/>
                <a:ea typeface="宋体" panose="02010600030101010101" pitchFamily="2" charset="-122"/>
                <a:sym typeface="Wingdings" panose="05000000000000000000" pitchFamily="2" charset="2"/>
              </a:rPr>
              <a:t>IS</a:t>
            </a:r>
            <a:r>
              <a:rPr lang="zh-CN" altLang="en-US" sz="2400" dirty="0">
                <a:latin typeface="Arial" panose="020B0604020202020204" pitchFamily="34" charset="0"/>
                <a:ea typeface="宋体" panose="02010600030101010101" pitchFamily="2" charset="-122"/>
                <a:sym typeface="Wingdings" panose="05000000000000000000" pitchFamily="2" charset="2"/>
              </a:rPr>
              <a:t>锁，表示其某些子孙加了或准备加</a:t>
            </a:r>
            <a:r>
              <a:rPr lang="en-US" altLang="x-none" sz="2400" dirty="0">
                <a:latin typeface="Arial" panose="020B0604020202020204" pitchFamily="34" charset="0"/>
                <a:ea typeface="宋体" panose="02010600030101010101" pitchFamily="2" charset="-122"/>
                <a:sym typeface="Wingdings" panose="05000000000000000000" pitchFamily="2" charset="2"/>
              </a:rPr>
              <a:t>S</a:t>
            </a:r>
            <a:r>
              <a:rPr lang="zh-CN" altLang="en-US" sz="2400" dirty="0">
                <a:latin typeface="Arial" panose="020B0604020202020204" pitchFamily="34" charset="0"/>
                <a:ea typeface="宋体" panose="02010600030101010101" pitchFamily="2" charset="-122"/>
                <a:sym typeface="Wingdings" panose="05000000000000000000" pitchFamily="2" charset="2"/>
              </a:rPr>
              <a:t>锁。 </a:t>
            </a:r>
            <a:endParaRPr lang="zh-CN" altLang="en-US" sz="2400" dirty="0">
              <a:latin typeface="Arial" panose="020B0604020202020204" pitchFamily="34" charset="0"/>
              <a:ea typeface="宋体" panose="02010600030101010101" pitchFamily="2" charset="-122"/>
            </a:endParaRPr>
          </a:p>
        </p:txBody>
      </p:sp>
      <p:sp>
        <p:nvSpPr>
          <p:cNvPr id="4" name="Rectangle 3"/>
          <p:cNvSpPr txBox="1"/>
          <p:nvPr/>
        </p:nvSpPr>
        <p:spPr>
          <a:xfrm>
            <a:off x="561975" y="812165"/>
            <a:ext cx="7178675" cy="706438"/>
          </a:xfrm>
          <a:prstGeom prst="rect">
            <a:avLst/>
          </a:prstGeom>
          <a:noFill/>
          <a:ln w="9525">
            <a:noFill/>
          </a:ln>
        </p:spPr>
        <p:txBody>
          <a:bodyPr anchor="t"/>
          <a:lstStyle/>
          <a:p>
            <a:pPr lvl="0" indent="0" eaLnBrk="0" hangingPunct="0"/>
            <a:r>
              <a:rPr lang="en-US" altLang="x-none" sz="2800" dirty="0">
                <a:solidFill>
                  <a:srgbClr val="FF0000"/>
                </a:solidFill>
                <a:latin typeface="黑体" panose="02010609060101010101" pitchFamily="1" charset="-122"/>
                <a:ea typeface="黑体" panose="02010609060101010101" pitchFamily="1" charset="-122"/>
              </a:rPr>
              <a:t>2</a:t>
            </a:r>
            <a:r>
              <a:rPr lang="zh-CN" altLang="en-US" sz="2800" dirty="0">
                <a:solidFill>
                  <a:srgbClr val="FF0000"/>
                </a:solidFill>
                <a:latin typeface="黑体" panose="02010609060101010101" pitchFamily="1" charset="-122"/>
                <a:ea typeface="黑体" panose="02010609060101010101" pitchFamily="1" charset="-122"/>
              </a:rPr>
              <a:t>、多粒度加锁的实现</a:t>
            </a:r>
            <a:endParaRPr lang="en-US" altLang="x-none" sz="2800" dirty="0">
              <a:solidFill>
                <a:srgbClr val="FF0000"/>
              </a:solidFill>
              <a:latin typeface="黑体" panose="02010609060101010101" pitchFamily="1" charset="-122"/>
              <a:ea typeface="黑体" panose="02010609060101010101" pitchFamily="1" charset="-122"/>
            </a:endParaRPr>
          </a:p>
        </p:txBody>
      </p:sp>
      <p:sp>
        <p:nvSpPr>
          <p:cNvPr id="5" name="Rectangle 2"/>
          <p:cNvSpPr/>
          <p:nvPr/>
        </p:nvSpPr>
        <p:spPr>
          <a:xfrm>
            <a:off x="561975" y="69215"/>
            <a:ext cx="7924165" cy="692150"/>
          </a:xfrm>
          <a:prstGeom prst="rect">
            <a:avLst/>
          </a:prstGeom>
          <a:noFill/>
          <a:ln w="9525">
            <a:noFill/>
          </a:ln>
        </p:spPr>
        <p:txBody>
          <a:bodyPr anchor="ctr"/>
          <a:lstStyle/>
          <a:p>
            <a:pPr lvl="0" indent="0">
              <a:buFont typeface="Wingdings" panose="05000000000000000000" pitchFamily="2" charset="2"/>
              <a:buNone/>
            </a:pPr>
            <a:r>
              <a:rPr lang="zh-CN" altLang="en-US" sz="3200" dirty="0" smtClean="0">
                <a:solidFill>
                  <a:srgbClr val="0033CC"/>
                </a:solidFill>
                <a:latin typeface="Arial" panose="020B0604020202020204" pitchFamily="34" charset="0"/>
                <a:ea typeface="黑体" panose="02010609060101010101" pitchFamily="1" charset="-122"/>
              </a:rPr>
              <a:t>四、多粒度加锁协议</a:t>
            </a:r>
            <a:endParaRPr lang="zh-CN" altLang="en-US" sz="3200" dirty="0">
              <a:solidFill>
                <a:srgbClr val="0033CC"/>
              </a:solidFill>
              <a:latin typeface="Arial" panose="020B0604020202020204" pitchFamily="34" charset="0"/>
              <a:ea typeface="黑体" panose="02010609060101010101" pitchFamily="1" charset="-122"/>
            </a:endParaRPr>
          </a:p>
        </p:txBody>
      </p:sp>
    </p:spTree>
  </p:cSld>
  <p:clrMapOvr>
    <a:masterClrMapping/>
  </p:clrMapOv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8" name="Text Box 2"/>
          <p:cNvSpPr txBox="1"/>
          <p:nvPr/>
        </p:nvSpPr>
        <p:spPr>
          <a:xfrm>
            <a:off x="595313" y="2392363"/>
            <a:ext cx="8137525" cy="3509962"/>
          </a:xfrm>
          <a:prstGeom prst="rect">
            <a:avLst/>
          </a:prstGeom>
          <a:noFill/>
          <a:ln w="9525">
            <a:noFill/>
          </a:ln>
        </p:spPr>
        <p:txBody>
          <a:bodyPr anchor="t">
            <a:spAutoFit/>
          </a:bodyPr>
          <a:lstStyle/>
          <a:p>
            <a:pPr lvl="0" indent="0">
              <a:spcBef>
                <a:spcPct val="50000"/>
              </a:spcBef>
            </a:pPr>
            <a:r>
              <a:rPr lang="zh-CN" altLang="en-US" sz="2800" dirty="0">
                <a:solidFill>
                  <a:srgbClr val="CC3300"/>
                </a:solidFill>
                <a:latin typeface="宋体" panose="02010600030101010101" pitchFamily="2" charset="-122"/>
                <a:ea typeface="宋体" panose="02010600030101010101" pitchFamily="2" charset="-122"/>
                <a:sym typeface="Wingdings" panose="05000000000000000000" pitchFamily="2" charset="2"/>
              </a:rPr>
              <a:t>锁冲突关系：</a:t>
            </a:r>
            <a:r>
              <a:rPr lang="en-US" altLang="x-none" sz="2800" dirty="0">
                <a:solidFill>
                  <a:srgbClr val="0000CC"/>
                </a:solidFill>
                <a:latin typeface="宋体" panose="02010600030101010101" pitchFamily="2" charset="-122"/>
                <a:ea typeface="宋体" panose="02010600030101010101" pitchFamily="2" charset="-122"/>
                <a:sym typeface="Wingdings" panose="05000000000000000000" pitchFamily="2" charset="2"/>
              </a:rPr>
              <a:t>IS</a:t>
            </a:r>
            <a:r>
              <a:rPr lang="zh-CN" altLang="en-US" sz="2800" dirty="0">
                <a:solidFill>
                  <a:srgbClr val="0000CC"/>
                </a:solidFill>
                <a:latin typeface="宋体" panose="02010600030101010101" pitchFamily="2" charset="-122"/>
                <a:ea typeface="宋体" panose="02010600030101010101" pitchFamily="2" charset="-122"/>
                <a:sym typeface="Wingdings" panose="05000000000000000000" pitchFamily="2" charset="2"/>
              </a:rPr>
              <a:t>锁与</a:t>
            </a:r>
            <a:r>
              <a:rPr lang="en-US" altLang="x-none" sz="2800" dirty="0">
                <a:solidFill>
                  <a:srgbClr val="0000CC"/>
                </a:solidFill>
                <a:latin typeface="宋体" panose="02010600030101010101" pitchFamily="2" charset="-122"/>
                <a:ea typeface="宋体" panose="02010600030101010101" pitchFamily="2" charset="-122"/>
                <a:sym typeface="Wingdings" panose="05000000000000000000" pitchFamily="2" charset="2"/>
              </a:rPr>
              <a:t>X</a:t>
            </a:r>
            <a:r>
              <a:rPr lang="zh-CN" altLang="en-US" sz="2800" dirty="0">
                <a:solidFill>
                  <a:srgbClr val="0000CC"/>
                </a:solidFill>
                <a:latin typeface="宋体" panose="02010600030101010101" pitchFamily="2" charset="-122"/>
                <a:ea typeface="宋体" panose="02010600030101010101" pitchFamily="2" charset="-122"/>
                <a:sym typeface="Wingdings" panose="05000000000000000000" pitchFamily="2" charset="2"/>
              </a:rPr>
              <a:t>锁冲突。</a:t>
            </a:r>
            <a:endParaRPr lang="zh-CN" altLang="en-US" sz="2800" dirty="0">
              <a:solidFill>
                <a:srgbClr val="0000CC"/>
              </a:solidFill>
              <a:latin typeface="宋体" panose="02010600030101010101" pitchFamily="2" charset="-122"/>
              <a:ea typeface="宋体" panose="02010600030101010101" pitchFamily="2" charset="-122"/>
              <a:sym typeface="Wingdings" panose="05000000000000000000" pitchFamily="2" charset="2"/>
            </a:endParaRPr>
          </a:p>
          <a:p>
            <a:pPr lvl="0" indent="0">
              <a:spcBef>
                <a:spcPct val="50000"/>
              </a:spcBef>
            </a:pPr>
            <a:r>
              <a:rPr lang="zh-CN" altLang="en-US" sz="2800" dirty="0">
                <a:solidFill>
                  <a:srgbClr val="0000CC"/>
                </a:solidFill>
                <a:latin typeface="宋体" panose="02010600030101010101" pitchFamily="2" charset="-122"/>
                <a:ea typeface="宋体" panose="02010600030101010101" pitchFamily="2" charset="-122"/>
                <a:sym typeface="Wingdings" panose="05000000000000000000" pitchFamily="2" charset="2"/>
              </a:rPr>
              <a:t>① 如果一事务对所操作对象的祖先的</a:t>
            </a:r>
            <a:r>
              <a:rPr lang="en-US" altLang="x-none" sz="2800" dirty="0">
                <a:solidFill>
                  <a:srgbClr val="0000CC"/>
                </a:solidFill>
                <a:latin typeface="宋体" panose="02010600030101010101" pitchFamily="2" charset="-122"/>
                <a:ea typeface="宋体" panose="02010600030101010101" pitchFamily="2" charset="-122"/>
                <a:sym typeface="Wingdings" panose="05000000000000000000" pitchFamily="2" charset="2"/>
              </a:rPr>
              <a:t>IS</a:t>
            </a:r>
            <a:r>
              <a:rPr lang="zh-CN" altLang="en-US" sz="2800" dirty="0">
                <a:solidFill>
                  <a:srgbClr val="0000CC"/>
                </a:solidFill>
                <a:latin typeface="宋体" panose="02010600030101010101" pitchFamily="2" charset="-122"/>
                <a:ea typeface="宋体" panose="02010600030101010101" pitchFamily="2" charset="-122"/>
                <a:sym typeface="Wingdings" panose="05000000000000000000" pitchFamily="2" charset="2"/>
              </a:rPr>
              <a:t>锁申请成功，就可保证再给该对象加</a:t>
            </a:r>
            <a:r>
              <a:rPr lang="en-US" altLang="x-none" sz="2800" dirty="0">
                <a:solidFill>
                  <a:srgbClr val="0000CC"/>
                </a:solidFill>
                <a:latin typeface="宋体" panose="02010600030101010101" pitchFamily="2" charset="-122"/>
                <a:ea typeface="宋体" panose="02010600030101010101" pitchFamily="2" charset="-122"/>
                <a:sym typeface="Wingdings" panose="05000000000000000000" pitchFamily="2" charset="2"/>
              </a:rPr>
              <a:t>S</a:t>
            </a:r>
            <a:r>
              <a:rPr lang="zh-CN" altLang="en-US" sz="2800" dirty="0">
                <a:solidFill>
                  <a:srgbClr val="0000CC"/>
                </a:solidFill>
                <a:latin typeface="宋体" panose="02010600030101010101" pitchFamily="2" charset="-122"/>
                <a:ea typeface="宋体" panose="02010600030101010101" pitchFamily="2" charset="-122"/>
                <a:sym typeface="Wingdings" panose="05000000000000000000" pitchFamily="2" charset="2"/>
              </a:rPr>
              <a:t>锁时，不会造成</a:t>
            </a:r>
            <a:r>
              <a:rPr lang="en-US" altLang="x-none" sz="2800" dirty="0">
                <a:solidFill>
                  <a:srgbClr val="0000CC"/>
                </a:solidFill>
                <a:latin typeface="宋体" panose="02010600030101010101" pitchFamily="2" charset="-122"/>
                <a:ea typeface="宋体" panose="02010600030101010101" pitchFamily="2" charset="-122"/>
                <a:sym typeface="Wingdings" panose="05000000000000000000" pitchFamily="2" charset="2"/>
              </a:rPr>
              <a:t>S</a:t>
            </a:r>
            <a:r>
              <a:rPr lang="zh-CN" altLang="en-US" sz="2800" dirty="0">
                <a:solidFill>
                  <a:srgbClr val="0000CC"/>
                </a:solidFill>
                <a:latin typeface="宋体" panose="02010600030101010101" pitchFamily="2" charset="-122"/>
                <a:ea typeface="宋体" panose="02010600030101010101" pitchFamily="2" charset="-122"/>
                <a:sym typeface="Wingdings" panose="05000000000000000000" pitchFamily="2" charset="2"/>
              </a:rPr>
              <a:t>锁与该对象的隐式锁发生冲突。  </a:t>
            </a:r>
            <a:endParaRPr lang="zh-CN" altLang="en-US" sz="2800" dirty="0">
              <a:solidFill>
                <a:srgbClr val="0000CC"/>
              </a:solidFill>
              <a:latin typeface="宋体" panose="02010600030101010101" pitchFamily="2" charset="-122"/>
              <a:ea typeface="宋体" panose="02010600030101010101" pitchFamily="2" charset="-122"/>
              <a:sym typeface="Wingdings" panose="05000000000000000000" pitchFamily="2" charset="2"/>
            </a:endParaRPr>
          </a:p>
          <a:p>
            <a:pPr lvl="0" indent="0">
              <a:spcBef>
                <a:spcPct val="50000"/>
              </a:spcBef>
            </a:pPr>
            <a:r>
              <a:rPr lang="zh-CN" altLang="en-US" sz="2800" dirty="0">
                <a:solidFill>
                  <a:srgbClr val="0000CC"/>
                </a:solidFill>
                <a:latin typeface="宋体" panose="02010600030101010101" pitchFamily="2" charset="-122"/>
                <a:ea typeface="宋体" panose="02010600030101010101" pitchFamily="2" charset="-122"/>
                <a:sym typeface="Wingdings" panose="05000000000000000000" pitchFamily="2" charset="2"/>
              </a:rPr>
              <a:t>② 如事务给数据对象加了</a:t>
            </a:r>
            <a:r>
              <a:rPr lang="en-US" altLang="x-none" sz="2800" dirty="0">
                <a:solidFill>
                  <a:srgbClr val="0000CC"/>
                </a:solidFill>
                <a:latin typeface="宋体" panose="02010600030101010101" pitchFamily="2" charset="-122"/>
                <a:ea typeface="宋体" panose="02010600030101010101" pitchFamily="2" charset="-122"/>
                <a:sym typeface="Wingdings" panose="05000000000000000000" pitchFamily="2" charset="2"/>
              </a:rPr>
              <a:t>S</a:t>
            </a:r>
            <a:r>
              <a:rPr lang="zh-CN" altLang="en-US" sz="2800" dirty="0">
                <a:solidFill>
                  <a:srgbClr val="0000CC"/>
                </a:solidFill>
                <a:latin typeface="宋体" panose="02010600030101010101" pitchFamily="2" charset="-122"/>
                <a:ea typeface="宋体" panose="02010600030101010101" pitchFamily="2" charset="-122"/>
                <a:sym typeface="Wingdings" panose="05000000000000000000" pitchFamily="2" charset="2"/>
              </a:rPr>
              <a:t>锁，那么其它事务就不能给其任何祖先加</a:t>
            </a:r>
            <a:r>
              <a:rPr lang="en-US" altLang="x-none" sz="2800" dirty="0">
                <a:solidFill>
                  <a:srgbClr val="0000CC"/>
                </a:solidFill>
                <a:latin typeface="宋体" panose="02010600030101010101" pitchFamily="2" charset="-122"/>
                <a:ea typeface="宋体" panose="02010600030101010101" pitchFamily="2" charset="-122"/>
                <a:sym typeface="Wingdings" panose="05000000000000000000" pitchFamily="2" charset="2"/>
              </a:rPr>
              <a:t>X</a:t>
            </a:r>
            <a:r>
              <a:rPr lang="zh-CN" altLang="en-US" sz="2800" dirty="0">
                <a:solidFill>
                  <a:srgbClr val="0000CC"/>
                </a:solidFill>
                <a:latin typeface="宋体" panose="02010600030101010101" pitchFamily="2" charset="-122"/>
                <a:ea typeface="宋体" panose="02010600030101010101" pitchFamily="2" charset="-122"/>
                <a:sym typeface="Wingdings" panose="05000000000000000000" pitchFamily="2" charset="2"/>
              </a:rPr>
              <a:t>锁，因为其祖先已被该事务加了</a:t>
            </a:r>
            <a:r>
              <a:rPr lang="en-US" altLang="x-none" sz="2800" dirty="0">
                <a:solidFill>
                  <a:srgbClr val="0000CC"/>
                </a:solidFill>
                <a:latin typeface="宋体" panose="02010600030101010101" pitchFamily="2" charset="-122"/>
                <a:ea typeface="宋体" panose="02010600030101010101" pitchFamily="2" charset="-122"/>
                <a:sym typeface="Wingdings" panose="05000000000000000000" pitchFamily="2" charset="2"/>
              </a:rPr>
              <a:t>IS</a:t>
            </a:r>
            <a:r>
              <a:rPr lang="zh-CN" altLang="en-US" sz="2800" dirty="0">
                <a:solidFill>
                  <a:srgbClr val="0000CC"/>
                </a:solidFill>
                <a:latin typeface="宋体" panose="02010600030101010101" pitchFamily="2" charset="-122"/>
                <a:ea typeface="宋体" panose="02010600030101010101" pitchFamily="2" charset="-122"/>
                <a:sym typeface="Wingdings" panose="05000000000000000000" pitchFamily="2" charset="2"/>
              </a:rPr>
              <a:t>锁。</a:t>
            </a:r>
            <a:endParaRPr lang="zh-CN" altLang="en-US" sz="2800" dirty="0">
              <a:solidFill>
                <a:srgbClr val="0000CC"/>
              </a:solidFill>
              <a:latin typeface="宋体" panose="02010600030101010101" pitchFamily="2" charset="-122"/>
              <a:ea typeface="宋体" panose="02010600030101010101" pitchFamily="2" charset="-122"/>
              <a:sym typeface="Wingdings" panose="05000000000000000000" pitchFamily="2" charset="2"/>
            </a:endParaRPr>
          </a:p>
        </p:txBody>
      </p:sp>
      <p:sp>
        <p:nvSpPr>
          <p:cNvPr id="129029" name="Text Box 3"/>
          <p:cNvSpPr txBox="1"/>
          <p:nvPr/>
        </p:nvSpPr>
        <p:spPr>
          <a:xfrm>
            <a:off x="1835150" y="1479550"/>
            <a:ext cx="5184775" cy="641350"/>
          </a:xfrm>
          <a:prstGeom prst="rect">
            <a:avLst/>
          </a:prstGeom>
          <a:noFill/>
          <a:ln w="9525">
            <a:noFill/>
          </a:ln>
        </p:spPr>
        <p:txBody>
          <a:bodyPr anchor="t">
            <a:spAutoFit/>
          </a:bodyPr>
          <a:lstStyle/>
          <a:p>
            <a:pPr lvl="0" indent="0" algn="ctr">
              <a:spcBef>
                <a:spcPct val="50000"/>
              </a:spcBef>
            </a:pPr>
            <a:r>
              <a:rPr lang="en-US" altLang="x-none" sz="3600" dirty="0">
                <a:solidFill>
                  <a:srgbClr val="A50021"/>
                </a:solidFill>
                <a:latin typeface="宋体" panose="02010600030101010101" pitchFamily="2" charset="-122"/>
                <a:ea typeface="宋体" panose="02010600030101010101" pitchFamily="2" charset="-122"/>
                <a:sym typeface="Wingdings" panose="05000000000000000000" pitchFamily="2" charset="2"/>
              </a:rPr>
              <a:t>IS</a:t>
            </a:r>
            <a:r>
              <a:rPr lang="zh-CN" altLang="en-US" sz="3600" dirty="0">
                <a:solidFill>
                  <a:srgbClr val="A50021"/>
                </a:solidFill>
                <a:latin typeface="宋体" panose="02010600030101010101" pitchFamily="2" charset="-122"/>
                <a:ea typeface="宋体" panose="02010600030101010101" pitchFamily="2" charset="-122"/>
                <a:sym typeface="Wingdings" panose="05000000000000000000" pitchFamily="2" charset="2"/>
              </a:rPr>
              <a:t>锁冲突检测</a:t>
            </a:r>
            <a:endParaRPr lang="zh-CN" altLang="en-US" sz="3600" dirty="0">
              <a:solidFill>
                <a:srgbClr val="A50021"/>
              </a:solidFill>
              <a:latin typeface="宋体" panose="02010600030101010101" pitchFamily="2" charset="-122"/>
              <a:ea typeface="宋体" panose="02010600030101010101" pitchFamily="2" charset="-122"/>
              <a:sym typeface="Wingdings" panose="05000000000000000000" pitchFamily="2" charset="2"/>
            </a:endParaRPr>
          </a:p>
        </p:txBody>
      </p:sp>
      <p:sp>
        <p:nvSpPr>
          <p:cNvPr id="4" name="Rectangle 3"/>
          <p:cNvSpPr txBox="1"/>
          <p:nvPr/>
        </p:nvSpPr>
        <p:spPr>
          <a:xfrm>
            <a:off x="561975" y="812165"/>
            <a:ext cx="7178675" cy="706438"/>
          </a:xfrm>
          <a:prstGeom prst="rect">
            <a:avLst/>
          </a:prstGeom>
          <a:noFill/>
          <a:ln w="9525">
            <a:noFill/>
          </a:ln>
        </p:spPr>
        <p:txBody>
          <a:bodyPr anchor="t"/>
          <a:lstStyle/>
          <a:p>
            <a:pPr lvl="0" indent="0" eaLnBrk="0" hangingPunct="0"/>
            <a:r>
              <a:rPr lang="en-US" altLang="x-none" sz="2800" dirty="0">
                <a:solidFill>
                  <a:srgbClr val="FF0000"/>
                </a:solidFill>
                <a:latin typeface="黑体" panose="02010609060101010101" pitchFamily="1" charset="-122"/>
                <a:ea typeface="黑体" panose="02010609060101010101" pitchFamily="1" charset="-122"/>
              </a:rPr>
              <a:t>2</a:t>
            </a:r>
            <a:r>
              <a:rPr lang="zh-CN" altLang="en-US" sz="2800" dirty="0">
                <a:solidFill>
                  <a:srgbClr val="FF0000"/>
                </a:solidFill>
                <a:latin typeface="黑体" panose="02010609060101010101" pitchFamily="1" charset="-122"/>
                <a:ea typeface="黑体" panose="02010609060101010101" pitchFamily="1" charset="-122"/>
              </a:rPr>
              <a:t>、多粒度加锁的实现</a:t>
            </a:r>
            <a:endParaRPr lang="en-US" altLang="x-none" sz="2800" dirty="0">
              <a:solidFill>
                <a:srgbClr val="FF0000"/>
              </a:solidFill>
              <a:latin typeface="黑体" panose="02010609060101010101" pitchFamily="1" charset="-122"/>
              <a:ea typeface="黑体" panose="02010609060101010101" pitchFamily="1" charset="-122"/>
            </a:endParaRPr>
          </a:p>
        </p:txBody>
      </p:sp>
      <p:sp>
        <p:nvSpPr>
          <p:cNvPr id="5" name="Rectangle 2"/>
          <p:cNvSpPr/>
          <p:nvPr/>
        </p:nvSpPr>
        <p:spPr>
          <a:xfrm>
            <a:off x="561975" y="69215"/>
            <a:ext cx="7924165" cy="692150"/>
          </a:xfrm>
          <a:prstGeom prst="rect">
            <a:avLst/>
          </a:prstGeom>
          <a:noFill/>
          <a:ln w="9525">
            <a:noFill/>
          </a:ln>
        </p:spPr>
        <p:txBody>
          <a:bodyPr anchor="ctr"/>
          <a:lstStyle/>
          <a:p>
            <a:pPr lvl="0" indent="0">
              <a:buFont typeface="Wingdings" panose="05000000000000000000" pitchFamily="2" charset="2"/>
              <a:buNone/>
            </a:pPr>
            <a:r>
              <a:rPr lang="zh-CN" altLang="en-US" sz="3200" dirty="0" smtClean="0">
                <a:solidFill>
                  <a:srgbClr val="0033CC"/>
                </a:solidFill>
                <a:latin typeface="Arial" panose="020B0604020202020204" pitchFamily="34" charset="0"/>
                <a:ea typeface="黑体" panose="02010609060101010101" pitchFamily="1" charset="-122"/>
              </a:rPr>
              <a:t>四、多粒度加锁协议</a:t>
            </a:r>
            <a:endParaRPr lang="zh-CN" altLang="en-US" sz="3200" dirty="0">
              <a:solidFill>
                <a:srgbClr val="0033CC"/>
              </a:solidFill>
              <a:latin typeface="Arial" panose="020B0604020202020204" pitchFamily="34" charset="0"/>
              <a:ea typeface="黑体" panose="02010609060101010101" pitchFamily="1"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 presetClass="entr" presetSubtype="16" fill="hold" grpId="0" nodeType="afterEffect">
                                  <p:stCondLst>
                                    <p:cond delay="0"/>
                                  </p:stCondLst>
                                  <p:childTnLst>
                                    <p:set>
                                      <p:cBhvr>
                                        <p:cTn id="6" dur="1" fill="hold">
                                          <p:stCondLst>
                                            <p:cond delay="0"/>
                                          </p:stCondLst>
                                        </p:cTn>
                                        <p:tgtEl>
                                          <p:spTgt spid="129029"/>
                                        </p:tgtEl>
                                        <p:attrNameLst>
                                          <p:attrName>style.visibility</p:attrName>
                                        </p:attrNameLst>
                                      </p:cBhvr>
                                      <p:to>
                                        <p:strVal val="visible"/>
                                      </p:to>
                                    </p:set>
                                    <p:animEffect transition="in" filter="box(in)">
                                      <p:cBhvr>
                                        <p:cTn id="7" dur="500"/>
                                        <p:tgtEl>
                                          <p:spTgt spid="129029"/>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129028"/>
                                        </p:tgtEl>
                                        <p:attrNameLst>
                                          <p:attrName>style.visibility</p:attrName>
                                        </p:attrNameLst>
                                      </p:cBhvr>
                                      <p:to>
                                        <p:strVal val="visible"/>
                                      </p:to>
                                    </p:set>
                                    <p:animEffect transition="in" filter="box(in)">
                                      <p:cBhvr>
                                        <p:cTn id="12" dur="500"/>
                                        <p:tgtEl>
                                          <p:spTgt spid="1290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9028" grpId="0"/>
      <p:bldP spid="129029"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9" name="Rectangle 2"/>
          <p:cNvSpPr txBox="1"/>
          <p:nvPr/>
        </p:nvSpPr>
        <p:spPr>
          <a:xfrm>
            <a:off x="5318125" y="868363"/>
            <a:ext cx="3825875" cy="706437"/>
          </a:xfrm>
          <a:prstGeom prst="rect">
            <a:avLst/>
          </a:prstGeom>
          <a:noFill/>
          <a:ln w="9525">
            <a:noFill/>
          </a:ln>
        </p:spPr>
        <p:txBody>
          <a:bodyPr anchor="t"/>
          <a:lstStyle/>
          <a:p>
            <a:pPr lvl="0" indent="0" eaLnBrk="0" hangingPunct="0">
              <a:buFont typeface="Wingdings" panose="05000000000000000000" pitchFamily="2" charset="2"/>
              <a:buChar char="p"/>
            </a:pPr>
            <a:r>
              <a:rPr lang="zh-CN" altLang="en-US" sz="2800" dirty="0">
                <a:solidFill>
                  <a:srgbClr val="3333CC"/>
                </a:solidFill>
                <a:latin typeface="Arial" panose="020B0604020202020204" pitchFamily="34" charset="0"/>
                <a:ea typeface="黑体" panose="02010609060101010101" pitchFamily="1" charset="-122"/>
              </a:rPr>
              <a:t>多粒度锁小结</a:t>
            </a:r>
            <a:endParaRPr lang="zh-CN" altLang="en-US" sz="2800" dirty="0">
              <a:solidFill>
                <a:srgbClr val="3333CC"/>
              </a:solidFill>
              <a:latin typeface="Arial" panose="020B0604020202020204" pitchFamily="34" charset="0"/>
              <a:ea typeface="黑体" panose="02010609060101010101" pitchFamily="1" charset="-122"/>
            </a:endParaRPr>
          </a:p>
        </p:txBody>
      </p:sp>
      <p:sp>
        <p:nvSpPr>
          <p:cNvPr id="126980" name="Rectangle 3"/>
          <p:cNvSpPr txBox="1"/>
          <p:nvPr/>
        </p:nvSpPr>
        <p:spPr>
          <a:xfrm>
            <a:off x="517525" y="1409700"/>
            <a:ext cx="8077200" cy="1841500"/>
          </a:xfrm>
          <a:prstGeom prst="rect">
            <a:avLst/>
          </a:prstGeom>
          <a:noFill/>
          <a:ln w="9525" cap="flat" cmpd="sng">
            <a:solidFill>
              <a:srgbClr val="CC0000"/>
            </a:solidFill>
            <a:prstDash val="solid"/>
            <a:miter/>
            <a:headEnd type="none" w="med" len="med"/>
            <a:tailEnd type="none" w="med" len="med"/>
          </a:ln>
        </p:spPr>
        <p:txBody>
          <a:bodyPr anchor="t"/>
          <a:lstStyle/>
          <a:p>
            <a:pPr marL="533400" lvl="0" indent="-533400" eaLnBrk="0" hangingPunct="0">
              <a:lnSpc>
                <a:spcPct val="90000"/>
              </a:lnSpc>
              <a:spcBef>
                <a:spcPct val="20000"/>
              </a:spcBef>
              <a:buClr>
                <a:srgbClr val="0033CC"/>
              </a:buClr>
              <a:buSzPct val="80000"/>
              <a:buFont typeface="Wingdings" panose="05000000000000000000" pitchFamily="2" charset="2"/>
              <a:buChar char="u"/>
            </a:pPr>
            <a:r>
              <a:rPr lang="zh-CN" altLang="en-US" sz="2400" dirty="0">
                <a:latin typeface="Arial" panose="020B0604020202020204" pitchFamily="34" charset="0"/>
                <a:ea typeface="宋体" panose="02010600030101010101" pitchFamily="2" charset="-122"/>
                <a:sym typeface="Wingdings" panose="05000000000000000000" pitchFamily="2" charset="2"/>
              </a:rPr>
              <a:t>意向共享</a:t>
            </a:r>
            <a:r>
              <a:rPr lang="en-US" altLang="x-none" sz="2400" dirty="0">
                <a:latin typeface="Arial" panose="020B0604020202020204" pitchFamily="34" charset="0"/>
                <a:ea typeface="宋体" panose="02010600030101010101" pitchFamily="2" charset="-122"/>
                <a:sym typeface="Wingdings" panose="05000000000000000000" pitchFamily="2" charset="2"/>
              </a:rPr>
              <a:t>IS (Intention Share)</a:t>
            </a:r>
            <a:r>
              <a:rPr lang="zh-CN" altLang="en-US" sz="2400" dirty="0">
                <a:latin typeface="Arial" panose="020B0604020202020204" pitchFamily="34" charset="0"/>
                <a:ea typeface="宋体" panose="02010600030101010101" pitchFamily="2" charset="-122"/>
                <a:sym typeface="Wingdings" panose="05000000000000000000" pitchFamily="2" charset="2"/>
              </a:rPr>
              <a:t>锁</a:t>
            </a:r>
            <a:endParaRPr lang="zh-CN" altLang="en-US" sz="2400" dirty="0">
              <a:latin typeface="Arial" panose="020B0604020202020204" pitchFamily="34" charset="0"/>
              <a:ea typeface="宋体" panose="02010600030101010101" pitchFamily="2" charset="-122"/>
              <a:sym typeface="Wingdings" panose="05000000000000000000" pitchFamily="2" charset="2"/>
            </a:endParaRPr>
          </a:p>
          <a:p>
            <a:pPr marL="533400" lvl="0" indent="-533400" eaLnBrk="0" hangingPunct="0">
              <a:lnSpc>
                <a:spcPct val="90000"/>
              </a:lnSpc>
              <a:spcBef>
                <a:spcPct val="20000"/>
              </a:spcBef>
              <a:buClr>
                <a:srgbClr val="0033CC"/>
              </a:buClr>
              <a:buSzPct val="80000"/>
              <a:buFont typeface="Wingdings" panose="05000000000000000000" pitchFamily="2" charset="2"/>
              <a:buChar char="u"/>
            </a:pPr>
            <a:r>
              <a:rPr lang="zh-CN" altLang="en-US" sz="2400" dirty="0">
                <a:latin typeface="Arial" panose="020B0604020202020204" pitchFamily="34" charset="0"/>
                <a:ea typeface="宋体" panose="02010600030101010101" pitchFamily="2" charset="-122"/>
                <a:sym typeface="Wingdings" panose="05000000000000000000" pitchFamily="2" charset="2"/>
              </a:rPr>
              <a:t>意向排他锁</a:t>
            </a:r>
            <a:r>
              <a:rPr lang="en-US" altLang="x-none" sz="2400" dirty="0">
                <a:latin typeface="Arial" panose="020B0604020202020204" pitchFamily="34" charset="0"/>
                <a:ea typeface="宋体" panose="02010600030101010101" pitchFamily="2" charset="-122"/>
                <a:sym typeface="Wingdings" panose="05000000000000000000" pitchFamily="2" charset="2"/>
              </a:rPr>
              <a:t>IX</a:t>
            </a:r>
            <a:endParaRPr lang="en-US" altLang="x-none" sz="2400" dirty="0">
              <a:latin typeface="Arial" panose="020B0604020202020204" pitchFamily="34" charset="0"/>
              <a:ea typeface="宋体" panose="02010600030101010101" pitchFamily="2" charset="-122"/>
              <a:sym typeface="Wingdings" panose="05000000000000000000" pitchFamily="2" charset="2"/>
            </a:endParaRPr>
          </a:p>
          <a:p>
            <a:pPr marL="533400" lvl="0" indent="-533400" eaLnBrk="0" hangingPunct="0">
              <a:lnSpc>
                <a:spcPct val="90000"/>
              </a:lnSpc>
              <a:spcBef>
                <a:spcPct val="20000"/>
              </a:spcBef>
              <a:buClr>
                <a:srgbClr val="0033CC"/>
              </a:buClr>
              <a:buSzPct val="80000"/>
              <a:buFont typeface="Wingdings" panose="05000000000000000000" pitchFamily="2" charset="2"/>
              <a:buChar char="u"/>
            </a:pPr>
            <a:r>
              <a:rPr lang="zh-CN" altLang="en-US" sz="2400" dirty="0">
                <a:latin typeface="Arial" panose="020B0604020202020204" pitchFamily="34" charset="0"/>
                <a:ea typeface="宋体" panose="02010600030101010101" pitchFamily="2" charset="-122"/>
                <a:sym typeface="Wingdings" panose="05000000000000000000" pitchFamily="2" charset="2"/>
              </a:rPr>
              <a:t>共享意向排他锁 </a:t>
            </a:r>
            <a:r>
              <a:rPr lang="en-US" altLang="x-none" sz="2400" dirty="0">
                <a:latin typeface="Arial" panose="020B0604020202020204" pitchFamily="34" charset="0"/>
                <a:ea typeface="宋体" panose="02010600030101010101" pitchFamily="2" charset="-122"/>
                <a:sym typeface="Wingdings" panose="05000000000000000000" pitchFamily="2" charset="2"/>
              </a:rPr>
              <a:t>SIX</a:t>
            </a:r>
            <a:r>
              <a:rPr lang="zh-CN" altLang="en-US" sz="2400" dirty="0">
                <a:latin typeface="Arial" panose="020B0604020202020204" pitchFamily="34" charset="0"/>
                <a:ea typeface="宋体" panose="02010600030101010101" pitchFamily="2" charset="-122"/>
                <a:sym typeface="Wingdings" panose="05000000000000000000" pitchFamily="2" charset="2"/>
              </a:rPr>
              <a:t>：一个事务要读取整张表并修改其中某个元组，也就是说事务要整张表的</a:t>
            </a:r>
            <a:r>
              <a:rPr lang="en-US" altLang="zh-CN" sz="2400" dirty="0">
                <a:latin typeface="Arial" panose="020B0604020202020204" pitchFamily="34" charset="0"/>
                <a:ea typeface="宋体" panose="02010600030101010101" pitchFamily="2" charset="-122"/>
                <a:sym typeface="Wingdings" panose="05000000000000000000" pitchFamily="2" charset="2"/>
              </a:rPr>
              <a:t>S</a:t>
            </a:r>
            <a:r>
              <a:rPr lang="zh-CN" altLang="en-US" sz="2400" dirty="0">
                <a:latin typeface="Arial" panose="020B0604020202020204" pitchFamily="34" charset="0"/>
                <a:ea typeface="宋体" panose="02010600030101010101" pitchFamily="2" charset="-122"/>
                <a:sym typeface="Wingdings" panose="05000000000000000000" pitchFamily="2" charset="2"/>
              </a:rPr>
              <a:t>锁和</a:t>
            </a:r>
            <a:r>
              <a:rPr lang="en-US" altLang="zh-CN" sz="2400" dirty="0">
                <a:latin typeface="Arial" panose="020B0604020202020204" pitchFamily="34" charset="0"/>
                <a:ea typeface="宋体" panose="02010600030101010101" pitchFamily="2" charset="-122"/>
                <a:sym typeface="Wingdings" panose="05000000000000000000" pitchFamily="2" charset="2"/>
              </a:rPr>
              <a:t>IX</a:t>
            </a:r>
            <a:r>
              <a:rPr lang="zh-CN" altLang="zh-CN" sz="2400" dirty="0">
                <a:latin typeface="Arial" panose="020B0604020202020204" pitchFamily="34" charset="0"/>
                <a:ea typeface="宋体" panose="02010600030101010101" pitchFamily="2" charset="-122"/>
                <a:sym typeface="Wingdings" panose="05000000000000000000" pitchFamily="2" charset="2"/>
              </a:rPr>
              <a:t>锁，这两个锁冲突，为解决这个问题，定义了</a:t>
            </a:r>
            <a:r>
              <a:rPr lang="en-US" altLang="zh-CN" sz="2400" dirty="0">
                <a:latin typeface="Arial" panose="020B0604020202020204" pitchFamily="34" charset="0"/>
                <a:ea typeface="宋体" panose="02010600030101010101" pitchFamily="2" charset="-122"/>
                <a:sym typeface="Wingdings" panose="05000000000000000000" pitchFamily="2" charset="2"/>
              </a:rPr>
              <a:t>SIX</a:t>
            </a:r>
            <a:r>
              <a:rPr lang="zh-CN" altLang="zh-CN" sz="2400" dirty="0">
                <a:latin typeface="Arial" panose="020B0604020202020204" pitchFamily="34" charset="0"/>
                <a:ea typeface="宋体" panose="02010600030101010101" pitchFamily="2" charset="-122"/>
                <a:sym typeface="Wingdings" panose="05000000000000000000" pitchFamily="2" charset="2"/>
              </a:rPr>
              <a:t>锁。</a:t>
            </a:r>
            <a:endParaRPr lang="en-US" altLang="x-none" sz="2000" dirty="0">
              <a:latin typeface="Arial" panose="020B0604020202020204" pitchFamily="34" charset="0"/>
              <a:ea typeface="宋体" panose="02010600030101010101" pitchFamily="2" charset="-122"/>
            </a:endParaRPr>
          </a:p>
          <a:p>
            <a:pPr marL="533400" lvl="0" indent="-533400" eaLnBrk="0" hangingPunct="0">
              <a:lnSpc>
                <a:spcPct val="90000"/>
              </a:lnSpc>
              <a:spcBef>
                <a:spcPct val="20000"/>
              </a:spcBef>
              <a:buClr>
                <a:srgbClr val="0033CC"/>
              </a:buClr>
              <a:buSzPct val="80000"/>
              <a:buFont typeface="Wingdings" panose="05000000000000000000" pitchFamily="2" charset="2"/>
              <a:buChar char="u"/>
            </a:pPr>
            <a:r>
              <a:rPr lang="zh-CN" altLang="en-US" sz="2400" dirty="0">
                <a:latin typeface="Arial" panose="020B0604020202020204" pitchFamily="34" charset="0"/>
                <a:ea typeface="宋体" panose="02010600030101010101" pitchFamily="2" charset="-122"/>
              </a:rPr>
              <a:t>此时，其加锁及其锁冲突检测，分为如下步骤。</a:t>
            </a:r>
            <a:endParaRPr lang="zh-CN" altLang="en-US" sz="2400" dirty="0">
              <a:latin typeface="Arial" panose="020B0604020202020204" pitchFamily="34" charset="0"/>
              <a:ea typeface="宋体" panose="02010600030101010101" pitchFamily="2" charset="-122"/>
            </a:endParaRPr>
          </a:p>
        </p:txBody>
      </p:sp>
      <p:grpSp>
        <p:nvGrpSpPr>
          <p:cNvPr id="130054" name="Group 4"/>
          <p:cNvGrpSpPr/>
          <p:nvPr/>
        </p:nvGrpSpPr>
        <p:grpSpPr>
          <a:xfrm>
            <a:off x="5703888" y="3724275"/>
            <a:ext cx="2808287" cy="2447925"/>
            <a:chOff x="0" y="0"/>
            <a:chExt cx="1769" cy="1542"/>
          </a:xfrm>
        </p:grpSpPr>
        <p:sp>
          <p:nvSpPr>
            <p:cNvPr id="126982" name="Oval 5"/>
            <p:cNvSpPr/>
            <p:nvPr/>
          </p:nvSpPr>
          <p:spPr>
            <a:xfrm>
              <a:off x="1043" y="0"/>
              <a:ext cx="363" cy="317"/>
            </a:xfrm>
            <a:prstGeom prst="ellipse">
              <a:avLst/>
            </a:prstGeom>
            <a:solidFill>
              <a:srgbClr val="CCFFFF"/>
            </a:solidFill>
            <a:ln w="9525" cap="flat" cmpd="sng">
              <a:solidFill>
                <a:schemeClr val="tx1"/>
              </a:solidFill>
              <a:prstDash val="solid"/>
              <a:round/>
              <a:headEnd type="none" w="med" len="med"/>
              <a:tailEnd type="none" w="med" len="med"/>
            </a:ln>
          </p:spPr>
          <p:txBody>
            <a:bodyPr wrap="none" lIns="90000" tIns="46800" rIns="90000" bIns="46800" anchor="ctr"/>
            <a:lstStyle/>
            <a:p>
              <a:pPr lvl="0" indent="0" algn="ctr"/>
              <a:r>
                <a:rPr lang="zh-CN" altLang="en-US" sz="2400" dirty="0">
                  <a:latin typeface="宋体" panose="02010600030101010101" pitchFamily="2" charset="-122"/>
                  <a:ea typeface="宋体" panose="02010600030101010101" pitchFamily="2" charset="-122"/>
                </a:rPr>
                <a:t>表</a:t>
              </a:r>
              <a:endParaRPr lang="zh-CN" altLang="en-US" sz="2400" dirty="0">
                <a:latin typeface="宋体" panose="02010600030101010101" pitchFamily="2" charset="-122"/>
                <a:ea typeface="宋体" panose="02010600030101010101" pitchFamily="2" charset="-122"/>
              </a:endParaRPr>
            </a:p>
          </p:txBody>
        </p:sp>
        <p:sp>
          <p:nvSpPr>
            <p:cNvPr id="126983" name="Oval 6"/>
            <p:cNvSpPr/>
            <p:nvPr/>
          </p:nvSpPr>
          <p:spPr>
            <a:xfrm>
              <a:off x="635" y="635"/>
              <a:ext cx="272" cy="317"/>
            </a:xfrm>
            <a:prstGeom prst="ellipse">
              <a:avLst/>
            </a:prstGeom>
            <a:solidFill>
              <a:srgbClr val="CCFFFF"/>
            </a:solidFill>
            <a:ln w="9525" cap="flat" cmpd="sng">
              <a:solidFill>
                <a:schemeClr val="tx1"/>
              </a:solidFill>
              <a:prstDash val="solid"/>
              <a:round/>
              <a:headEnd type="none" w="med" len="med"/>
              <a:tailEnd type="none" w="med" len="med"/>
            </a:ln>
          </p:spPr>
          <p:txBody>
            <a:bodyPr wrap="none" lIns="90000" tIns="46800" rIns="90000" bIns="46800" anchor="ctr"/>
            <a:lstStyle/>
            <a:p>
              <a:pPr lvl="0" indent="0" algn="ctr"/>
              <a:r>
                <a:rPr lang="zh-CN" altLang="en-US" sz="2400" dirty="0">
                  <a:latin typeface="宋体" panose="02010600030101010101" pitchFamily="2" charset="-122"/>
                  <a:ea typeface="宋体" panose="02010600030101010101" pitchFamily="2" charset="-122"/>
                </a:rPr>
                <a:t>页</a:t>
              </a:r>
              <a:endParaRPr lang="zh-CN" altLang="en-US" sz="2400" dirty="0">
                <a:latin typeface="宋体" panose="02010600030101010101" pitchFamily="2" charset="-122"/>
                <a:ea typeface="宋体" panose="02010600030101010101" pitchFamily="2" charset="-122"/>
              </a:endParaRPr>
            </a:p>
          </p:txBody>
        </p:sp>
        <p:sp>
          <p:nvSpPr>
            <p:cNvPr id="126984" name="Oval 7"/>
            <p:cNvSpPr/>
            <p:nvPr/>
          </p:nvSpPr>
          <p:spPr>
            <a:xfrm>
              <a:off x="1452" y="635"/>
              <a:ext cx="317" cy="318"/>
            </a:xfrm>
            <a:prstGeom prst="ellipse">
              <a:avLst/>
            </a:prstGeom>
            <a:solidFill>
              <a:srgbClr val="CCFFFF"/>
            </a:solidFill>
            <a:ln w="9525" cap="flat" cmpd="sng">
              <a:solidFill>
                <a:schemeClr val="tx1"/>
              </a:solidFill>
              <a:prstDash val="solid"/>
              <a:round/>
              <a:headEnd type="none" w="med" len="med"/>
              <a:tailEnd type="none" w="med" len="med"/>
            </a:ln>
          </p:spPr>
          <p:txBody>
            <a:bodyPr wrap="none" lIns="90000" tIns="46800" rIns="90000" bIns="46800" anchor="ctr"/>
            <a:lstStyle/>
            <a:p>
              <a:pPr lvl="0" indent="0" algn="ctr"/>
              <a:r>
                <a:rPr lang="zh-CN" altLang="en-US" sz="2400" dirty="0">
                  <a:latin typeface="宋体" panose="02010600030101010101" pitchFamily="2" charset="-122"/>
                  <a:ea typeface="宋体" panose="02010600030101010101" pitchFamily="2" charset="-122"/>
                </a:rPr>
                <a:t>页</a:t>
              </a:r>
              <a:endParaRPr lang="zh-CN" altLang="en-US" sz="2400" dirty="0">
                <a:latin typeface="宋体" panose="02010600030101010101" pitchFamily="2" charset="-122"/>
                <a:ea typeface="宋体" panose="02010600030101010101" pitchFamily="2" charset="-122"/>
              </a:endParaRPr>
            </a:p>
          </p:txBody>
        </p:sp>
        <p:sp>
          <p:nvSpPr>
            <p:cNvPr id="126985" name="Oval 8"/>
            <p:cNvSpPr/>
            <p:nvPr/>
          </p:nvSpPr>
          <p:spPr>
            <a:xfrm>
              <a:off x="0" y="1179"/>
              <a:ext cx="272" cy="317"/>
            </a:xfrm>
            <a:prstGeom prst="ellipse">
              <a:avLst/>
            </a:prstGeom>
            <a:solidFill>
              <a:srgbClr val="CCFFFF"/>
            </a:solidFill>
            <a:ln w="9525" cap="flat" cmpd="sng">
              <a:solidFill>
                <a:schemeClr val="tx1"/>
              </a:solidFill>
              <a:prstDash val="solid"/>
              <a:round/>
              <a:headEnd type="none" w="med" len="med"/>
              <a:tailEnd type="none" w="med" len="med"/>
            </a:ln>
          </p:spPr>
          <p:txBody>
            <a:bodyPr wrap="none" lIns="90000" tIns="46800" rIns="90000" bIns="46800" anchor="ctr"/>
            <a:lstStyle/>
            <a:p>
              <a:pPr lvl="0" indent="0" algn="ctr"/>
              <a:r>
                <a:rPr lang="zh-CN" altLang="en-US" sz="2400" dirty="0">
                  <a:latin typeface="宋体" panose="02010600030101010101" pitchFamily="2" charset="-122"/>
                  <a:ea typeface="宋体" panose="02010600030101010101" pitchFamily="2" charset="-122"/>
                </a:rPr>
                <a:t>行</a:t>
              </a:r>
              <a:endParaRPr lang="zh-CN" altLang="en-US" sz="2400" dirty="0">
                <a:latin typeface="宋体" panose="02010600030101010101" pitchFamily="2" charset="-122"/>
                <a:ea typeface="宋体" panose="02010600030101010101" pitchFamily="2" charset="-122"/>
              </a:endParaRPr>
            </a:p>
          </p:txBody>
        </p:sp>
        <p:sp>
          <p:nvSpPr>
            <p:cNvPr id="126986" name="Oval 9"/>
            <p:cNvSpPr/>
            <p:nvPr/>
          </p:nvSpPr>
          <p:spPr>
            <a:xfrm>
              <a:off x="590" y="1225"/>
              <a:ext cx="272" cy="317"/>
            </a:xfrm>
            <a:prstGeom prst="ellipse">
              <a:avLst/>
            </a:prstGeom>
            <a:solidFill>
              <a:srgbClr val="CCFFFF"/>
            </a:solidFill>
            <a:ln w="9525" cap="flat" cmpd="sng">
              <a:solidFill>
                <a:schemeClr val="tx1"/>
              </a:solidFill>
              <a:prstDash val="solid"/>
              <a:round/>
              <a:headEnd type="none" w="med" len="med"/>
              <a:tailEnd type="none" w="med" len="med"/>
            </a:ln>
          </p:spPr>
          <p:txBody>
            <a:bodyPr wrap="none" lIns="90000" tIns="46800" rIns="90000" bIns="46800" anchor="ctr"/>
            <a:lstStyle/>
            <a:p>
              <a:pPr lvl="0" indent="0"/>
              <a:endParaRPr lang="zh-CN" altLang="en-US" dirty="0">
                <a:latin typeface="Arial" panose="020B0604020202020204" pitchFamily="34" charset="0"/>
                <a:ea typeface="宋体" panose="02010600030101010101" pitchFamily="2" charset="-122"/>
              </a:endParaRPr>
            </a:p>
          </p:txBody>
        </p:sp>
        <p:sp>
          <p:nvSpPr>
            <p:cNvPr id="126987" name="Oval 10"/>
            <p:cNvSpPr/>
            <p:nvPr/>
          </p:nvSpPr>
          <p:spPr>
            <a:xfrm>
              <a:off x="1179" y="1225"/>
              <a:ext cx="272" cy="317"/>
            </a:xfrm>
            <a:prstGeom prst="ellipse">
              <a:avLst/>
            </a:prstGeom>
            <a:solidFill>
              <a:srgbClr val="CCFFFF"/>
            </a:solidFill>
            <a:ln w="9525" cap="flat" cmpd="sng">
              <a:solidFill>
                <a:schemeClr val="tx1"/>
              </a:solidFill>
              <a:prstDash val="solid"/>
              <a:round/>
              <a:headEnd type="none" w="med" len="med"/>
              <a:tailEnd type="none" w="med" len="med"/>
            </a:ln>
          </p:spPr>
          <p:txBody>
            <a:bodyPr wrap="none" lIns="90000" tIns="46800" rIns="90000" bIns="46800" anchor="ctr"/>
            <a:lstStyle/>
            <a:p>
              <a:pPr lvl="0" indent="0"/>
              <a:endParaRPr lang="zh-CN" altLang="en-US" dirty="0">
                <a:latin typeface="Arial" panose="020B0604020202020204" pitchFamily="34" charset="0"/>
                <a:ea typeface="宋体" panose="02010600030101010101" pitchFamily="2" charset="-122"/>
              </a:endParaRPr>
            </a:p>
          </p:txBody>
        </p:sp>
        <p:sp>
          <p:nvSpPr>
            <p:cNvPr id="126988" name="Line 11"/>
            <p:cNvSpPr/>
            <p:nvPr/>
          </p:nvSpPr>
          <p:spPr>
            <a:xfrm flipH="1">
              <a:off x="816" y="318"/>
              <a:ext cx="363" cy="317"/>
            </a:xfrm>
            <a:prstGeom prst="line">
              <a:avLst/>
            </a:prstGeom>
            <a:ln w="28575" cap="flat" cmpd="sng">
              <a:solidFill>
                <a:schemeClr val="tx1"/>
              </a:solidFill>
              <a:prstDash val="solid"/>
              <a:round/>
              <a:headEnd type="none" w="med" len="med"/>
              <a:tailEnd type="none" w="med" len="med"/>
            </a:ln>
          </p:spPr>
        </p:sp>
        <p:sp>
          <p:nvSpPr>
            <p:cNvPr id="126989" name="Line 12"/>
            <p:cNvSpPr/>
            <p:nvPr/>
          </p:nvSpPr>
          <p:spPr>
            <a:xfrm flipH="1">
              <a:off x="726" y="952"/>
              <a:ext cx="45" cy="273"/>
            </a:xfrm>
            <a:prstGeom prst="line">
              <a:avLst/>
            </a:prstGeom>
            <a:ln w="28575" cap="flat" cmpd="sng">
              <a:solidFill>
                <a:schemeClr val="tx1"/>
              </a:solidFill>
              <a:prstDash val="solid"/>
              <a:round/>
              <a:headEnd type="none" w="med" len="med"/>
              <a:tailEnd type="none" w="med" len="med"/>
            </a:ln>
          </p:spPr>
        </p:sp>
        <p:sp>
          <p:nvSpPr>
            <p:cNvPr id="126990" name="Line 13"/>
            <p:cNvSpPr/>
            <p:nvPr/>
          </p:nvSpPr>
          <p:spPr>
            <a:xfrm flipH="1">
              <a:off x="136" y="907"/>
              <a:ext cx="545" cy="273"/>
            </a:xfrm>
            <a:prstGeom prst="line">
              <a:avLst/>
            </a:prstGeom>
            <a:ln w="28575" cap="flat" cmpd="sng">
              <a:solidFill>
                <a:schemeClr val="tx1"/>
              </a:solidFill>
              <a:prstDash val="solid"/>
              <a:round/>
              <a:headEnd type="none" w="med" len="med"/>
              <a:tailEnd type="none" w="med" len="med"/>
            </a:ln>
          </p:spPr>
        </p:sp>
        <p:sp>
          <p:nvSpPr>
            <p:cNvPr id="126991" name="Line 14"/>
            <p:cNvSpPr/>
            <p:nvPr/>
          </p:nvSpPr>
          <p:spPr>
            <a:xfrm>
              <a:off x="862" y="907"/>
              <a:ext cx="454" cy="318"/>
            </a:xfrm>
            <a:prstGeom prst="line">
              <a:avLst/>
            </a:prstGeom>
            <a:ln w="28575" cap="flat" cmpd="sng">
              <a:solidFill>
                <a:schemeClr val="tx1"/>
              </a:solidFill>
              <a:prstDash val="solid"/>
              <a:round/>
              <a:headEnd type="none" w="med" len="med"/>
              <a:tailEnd type="none" w="med" len="med"/>
            </a:ln>
          </p:spPr>
        </p:sp>
        <p:sp>
          <p:nvSpPr>
            <p:cNvPr id="126992" name="Line 15"/>
            <p:cNvSpPr/>
            <p:nvPr/>
          </p:nvSpPr>
          <p:spPr>
            <a:xfrm>
              <a:off x="1225" y="317"/>
              <a:ext cx="363" cy="318"/>
            </a:xfrm>
            <a:prstGeom prst="line">
              <a:avLst/>
            </a:prstGeom>
            <a:ln w="28575" cap="flat" cmpd="sng">
              <a:solidFill>
                <a:schemeClr val="tx1"/>
              </a:solidFill>
              <a:prstDash val="solid"/>
              <a:round/>
              <a:headEnd type="none" w="med" len="med"/>
              <a:tailEnd type="none" w="med" len="med"/>
            </a:ln>
          </p:spPr>
        </p:sp>
      </p:grpSp>
      <p:sp>
        <p:nvSpPr>
          <p:cNvPr id="130066" name="Text Box 16"/>
          <p:cNvSpPr txBox="1"/>
          <p:nvPr/>
        </p:nvSpPr>
        <p:spPr>
          <a:xfrm>
            <a:off x="1960563" y="4733925"/>
            <a:ext cx="1584325" cy="466725"/>
          </a:xfrm>
          <a:prstGeom prst="rect">
            <a:avLst/>
          </a:prstGeom>
          <a:noFill/>
          <a:ln w="9525" cap="flat" cmpd="sng">
            <a:solidFill>
              <a:srgbClr val="0000CC"/>
            </a:solidFill>
            <a:prstDash val="solid"/>
            <a:miter/>
            <a:headEnd type="none" w="med" len="med"/>
            <a:tailEnd type="none" w="med" len="med"/>
          </a:ln>
        </p:spPr>
        <p:txBody>
          <a:bodyPr lIns="90000" tIns="46800" rIns="90000" bIns="46800" anchor="t">
            <a:spAutoFit/>
          </a:bodyPr>
          <a:lstStyle/>
          <a:p>
            <a:pPr lvl="0" indent="0" algn="ctr">
              <a:spcBef>
                <a:spcPct val="50000"/>
              </a:spcBef>
            </a:pPr>
            <a:r>
              <a:rPr lang="zh-CN" altLang="en-US" sz="2400" dirty="0">
                <a:solidFill>
                  <a:srgbClr val="0000CC"/>
                </a:solidFill>
                <a:latin typeface="宋体" panose="02010600030101010101" pitchFamily="2" charset="-122"/>
                <a:ea typeface="宋体" panose="02010600030101010101" pitchFamily="2" charset="-122"/>
              </a:rPr>
              <a:t>请求加锁</a:t>
            </a:r>
            <a:endParaRPr lang="zh-CN" altLang="en-US" sz="2400" dirty="0">
              <a:solidFill>
                <a:srgbClr val="0000CC"/>
              </a:solidFill>
              <a:latin typeface="宋体" panose="02010600030101010101" pitchFamily="2" charset="-122"/>
              <a:ea typeface="宋体" panose="02010600030101010101" pitchFamily="2" charset="-122"/>
            </a:endParaRPr>
          </a:p>
        </p:txBody>
      </p:sp>
      <p:grpSp>
        <p:nvGrpSpPr>
          <p:cNvPr id="130067" name="Group 17"/>
          <p:cNvGrpSpPr/>
          <p:nvPr/>
        </p:nvGrpSpPr>
        <p:grpSpPr>
          <a:xfrm>
            <a:off x="1887538" y="3797300"/>
            <a:ext cx="1873250" cy="936625"/>
            <a:chOff x="0" y="0"/>
            <a:chExt cx="1180" cy="590"/>
          </a:xfrm>
        </p:grpSpPr>
        <p:sp>
          <p:nvSpPr>
            <p:cNvPr id="126995" name="Line 18"/>
            <p:cNvSpPr/>
            <p:nvPr/>
          </p:nvSpPr>
          <p:spPr>
            <a:xfrm flipV="1">
              <a:off x="499" y="272"/>
              <a:ext cx="0" cy="318"/>
            </a:xfrm>
            <a:prstGeom prst="line">
              <a:avLst/>
            </a:prstGeom>
            <a:ln w="38100" cap="flat" cmpd="sng">
              <a:solidFill>
                <a:srgbClr val="006600"/>
              </a:solidFill>
              <a:prstDash val="dash"/>
              <a:round/>
              <a:headEnd type="triangle" w="med" len="med"/>
              <a:tailEnd type="triangle" w="med" len="med"/>
            </a:ln>
          </p:spPr>
        </p:sp>
        <p:sp>
          <p:nvSpPr>
            <p:cNvPr id="126996" name="Text Box 19"/>
            <p:cNvSpPr txBox="1"/>
            <p:nvPr/>
          </p:nvSpPr>
          <p:spPr>
            <a:xfrm>
              <a:off x="0" y="0"/>
              <a:ext cx="1180" cy="294"/>
            </a:xfrm>
            <a:prstGeom prst="rect">
              <a:avLst/>
            </a:prstGeom>
            <a:noFill/>
            <a:ln w="9525" cap="flat" cmpd="sng">
              <a:solidFill>
                <a:srgbClr val="0000CC"/>
              </a:solidFill>
              <a:prstDash val="solid"/>
              <a:miter/>
              <a:headEnd type="none" w="med" len="med"/>
              <a:tailEnd type="none" w="med" len="med"/>
            </a:ln>
          </p:spPr>
          <p:txBody>
            <a:bodyPr lIns="90000" tIns="46800" rIns="90000" bIns="46800" anchor="t">
              <a:spAutoFit/>
            </a:bodyPr>
            <a:lstStyle/>
            <a:p>
              <a:pPr lvl="0" indent="0" algn="ctr">
                <a:spcBef>
                  <a:spcPct val="50000"/>
                </a:spcBef>
              </a:pPr>
              <a:r>
                <a:rPr lang="zh-CN" altLang="en-US" sz="2400" dirty="0">
                  <a:solidFill>
                    <a:srgbClr val="0000CC"/>
                  </a:solidFill>
                  <a:latin typeface="宋体" panose="02010600030101010101" pitchFamily="2" charset="-122"/>
                  <a:ea typeface="宋体" panose="02010600030101010101" pitchFamily="2" charset="-122"/>
                </a:rPr>
                <a:t>加意向锁</a:t>
              </a:r>
              <a:endParaRPr lang="zh-CN" altLang="en-US" sz="2400" dirty="0">
                <a:solidFill>
                  <a:srgbClr val="0000CC"/>
                </a:solidFill>
                <a:latin typeface="宋体" panose="02010600030101010101" pitchFamily="2" charset="-122"/>
                <a:ea typeface="宋体" panose="02010600030101010101" pitchFamily="2" charset="-122"/>
              </a:endParaRPr>
            </a:p>
          </p:txBody>
        </p:sp>
      </p:grpSp>
      <p:grpSp>
        <p:nvGrpSpPr>
          <p:cNvPr id="130070" name="Group 20"/>
          <p:cNvGrpSpPr/>
          <p:nvPr/>
        </p:nvGrpSpPr>
        <p:grpSpPr>
          <a:xfrm>
            <a:off x="3760788" y="3797300"/>
            <a:ext cx="3455987" cy="425450"/>
            <a:chOff x="0" y="0"/>
            <a:chExt cx="2177" cy="268"/>
          </a:xfrm>
        </p:grpSpPr>
        <p:sp>
          <p:nvSpPr>
            <p:cNvPr id="126998" name="Text Box 21"/>
            <p:cNvSpPr txBox="1"/>
            <p:nvPr/>
          </p:nvSpPr>
          <p:spPr>
            <a:xfrm>
              <a:off x="1361" y="0"/>
              <a:ext cx="816" cy="268"/>
            </a:xfrm>
            <a:prstGeom prst="rect">
              <a:avLst/>
            </a:prstGeom>
            <a:noFill/>
            <a:ln w="28575" cap="flat" cmpd="sng">
              <a:solidFill>
                <a:srgbClr val="006600"/>
              </a:solidFill>
              <a:prstDash val="dash"/>
              <a:miter/>
              <a:headEnd type="none" w="med" len="med"/>
              <a:tailEnd type="none" w="med" len="med"/>
            </a:ln>
          </p:spPr>
          <p:txBody>
            <a:bodyPr lIns="90000" tIns="46800" rIns="90000" bIns="46800" anchor="t">
              <a:spAutoFit/>
            </a:bodyPr>
            <a:lstStyle/>
            <a:p>
              <a:pPr lvl="0" indent="0" algn="ctr">
                <a:spcBef>
                  <a:spcPct val="50000"/>
                </a:spcBef>
              </a:pPr>
              <a:r>
                <a:rPr lang="zh-CN" altLang="en-US" sz="2000" dirty="0">
                  <a:solidFill>
                    <a:srgbClr val="006600"/>
                  </a:solidFill>
                  <a:latin typeface="宋体" panose="02010600030101010101" pitchFamily="2" charset="-122"/>
                  <a:ea typeface="宋体" panose="02010600030101010101" pitchFamily="2" charset="-122"/>
                </a:rPr>
                <a:t>已有的锁</a:t>
              </a:r>
              <a:endParaRPr lang="zh-CN" altLang="en-US" sz="2000" dirty="0">
                <a:solidFill>
                  <a:srgbClr val="006600"/>
                </a:solidFill>
                <a:latin typeface="宋体" panose="02010600030101010101" pitchFamily="2" charset="-122"/>
                <a:ea typeface="宋体" panose="02010600030101010101" pitchFamily="2" charset="-122"/>
              </a:endParaRPr>
            </a:p>
          </p:txBody>
        </p:sp>
        <p:sp>
          <p:nvSpPr>
            <p:cNvPr id="126999" name="Line 22"/>
            <p:cNvSpPr/>
            <p:nvPr/>
          </p:nvSpPr>
          <p:spPr>
            <a:xfrm>
              <a:off x="0" y="136"/>
              <a:ext cx="1361" cy="0"/>
            </a:xfrm>
            <a:prstGeom prst="line">
              <a:avLst/>
            </a:prstGeom>
            <a:ln w="38100" cap="flat" cmpd="sng">
              <a:solidFill>
                <a:srgbClr val="CC0000"/>
              </a:solidFill>
              <a:prstDash val="solid"/>
              <a:round/>
              <a:headEnd type="triangle" w="med" len="med"/>
              <a:tailEnd type="triangle" w="med" len="med"/>
            </a:ln>
          </p:spPr>
        </p:sp>
      </p:grpSp>
      <p:sp>
        <p:nvSpPr>
          <p:cNvPr id="130073" name="Rectangle 23"/>
          <p:cNvSpPr/>
          <p:nvPr/>
        </p:nvSpPr>
        <p:spPr>
          <a:xfrm>
            <a:off x="4408488" y="3581400"/>
            <a:ext cx="498475" cy="519113"/>
          </a:xfrm>
          <a:prstGeom prst="rect">
            <a:avLst/>
          </a:prstGeom>
          <a:noFill/>
          <a:ln w="9525">
            <a:noFill/>
          </a:ln>
        </p:spPr>
        <p:txBody>
          <a:bodyPr wrap="none" lIns="90000" tIns="46800" rIns="90000" bIns="46800" anchor="t">
            <a:spAutoFit/>
          </a:bodyPr>
          <a:lstStyle/>
          <a:p>
            <a:pPr lvl="0" indent="0"/>
            <a:r>
              <a:rPr lang="en-US" altLang="x-none" sz="2800" dirty="0">
                <a:solidFill>
                  <a:srgbClr val="CC0000"/>
                </a:solidFill>
                <a:latin typeface="宋体" panose="02010600030101010101" pitchFamily="2" charset="-122"/>
                <a:ea typeface="宋体" panose="02010600030101010101" pitchFamily="2" charset="-122"/>
                <a:sym typeface="Wingdings 2" panose="05020102010507070707" pitchFamily="2" charset="2"/>
              </a:rPr>
              <a:t></a:t>
            </a:r>
            <a:endParaRPr lang="en-US" altLang="x-none" sz="2800" dirty="0">
              <a:solidFill>
                <a:srgbClr val="CC0000"/>
              </a:solidFill>
              <a:latin typeface="宋体" panose="02010600030101010101" pitchFamily="2" charset="-122"/>
              <a:ea typeface="宋体" panose="02010600030101010101" pitchFamily="2" charset="-122"/>
              <a:sym typeface="Wingdings 2" panose="05020102010507070707" pitchFamily="2" charset="2"/>
            </a:endParaRPr>
          </a:p>
        </p:txBody>
      </p:sp>
      <p:grpSp>
        <p:nvGrpSpPr>
          <p:cNvPr id="130074" name="Group 24"/>
          <p:cNvGrpSpPr/>
          <p:nvPr/>
        </p:nvGrpSpPr>
        <p:grpSpPr>
          <a:xfrm>
            <a:off x="3543300" y="4949825"/>
            <a:ext cx="3024188" cy="808038"/>
            <a:chOff x="0" y="0"/>
            <a:chExt cx="1905" cy="509"/>
          </a:xfrm>
        </p:grpSpPr>
        <p:grpSp>
          <p:nvGrpSpPr>
            <p:cNvPr id="127002" name="Group 25"/>
            <p:cNvGrpSpPr/>
            <p:nvPr/>
          </p:nvGrpSpPr>
          <p:grpSpPr>
            <a:xfrm>
              <a:off x="0" y="0"/>
              <a:ext cx="1905" cy="268"/>
              <a:chOff x="0" y="0"/>
              <a:chExt cx="1905" cy="268"/>
            </a:xfrm>
          </p:grpSpPr>
          <p:sp>
            <p:nvSpPr>
              <p:cNvPr id="127003" name="Line 26"/>
              <p:cNvSpPr/>
              <p:nvPr/>
            </p:nvSpPr>
            <p:spPr>
              <a:xfrm>
                <a:off x="0" y="136"/>
                <a:ext cx="1134" cy="0"/>
              </a:xfrm>
              <a:prstGeom prst="line">
                <a:avLst/>
              </a:prstGeom>
              <a:ln w="38100" cap="flat" cmpd="sng">
                <a:solidFill>
                  <a:srgbClr val="CC0000"/>
                </a:solidFill>
                <a:prstDash val="solid"/>
                <a:round/>
                <a:headEnd type="triangle" w="med" len="med"/>
                <a:tailEnd type="triangle" w="med" len="med"/>
              </a:ln>
            </p:spPr>
          </p:sp>
          <p:sp>
            <p:nvSpPr>
              <p:cNvPr id="127004" name="Text Box 27"/>
              <p:cNvSpPr txBox="1"/>
              <p:nvPr/>
            </p:nvSpPr>
            <p:spPr>
              <a:xfrm>
                <a:off x="1134" y="0"/>
                <a:ext cx="771" cy="268"/>
              </a:xfrm>
              <a:prstGeom prst="rect">
                <a:avLst/>
              </a:prstGeom>
              <a:noFill/>
              <a:ln w="28575" cap="flat" cmpd="sng">
                <a:solidFill>
                  <a:srgbClr val="006600"/>
                </a:solidFill>
                <a:prstDash val="dash"/>
                <a:miter/>
                <a:headEnd type="none" w="med" len="med"/>
                <a:tailEnd type="none" w="med" len="med"/>
              </a:ln>
            </p:spPr>
            <p:txBody>
              <a:bodyPr lIns="90000" tIns="46800" rIns="90000" bIns="46800" anchor="t">
                <a:spAutoFit/>
              </a:bodyPr>
              <a:lstStyle/>
              <a:p>
                <a:pPr lvl="0" indent="0" algn="ctr">
                  <a:spcBef>
                    <a:spcPct val="50000"/>
                  </a:spcBef>
                </a:pPr>
                <a:r>
                  <a:rPr lang="zh-CN" altLang="en-US" sz="2000" dirty="0">
                    <a:solidFill>
                      <a:srgbClr val="006600"/>
                    </a:solidFill>
                    <a:latin typeface="宋体" panose="02010600030101010101" pitchFamily="2" charset="-122"/>
                    <a:ea typeface="宋体" panose="02010600030101010101" pitchFamily="2" charset="-122"/>
                  </a:rPr>
                  <a:t>意向锁</a:t>
                </a:r>
                <a:endParaRPr lang="zh-CN" altLang="en-US" sz="2000" dirty="0">
                  <a:solidFill>
                    <a:srgbClr val="006600"/>
                  </a:solidFill>
                  <a:latin typeface="宋体" panose="02010600030101010101" pitchFamily="2" charset="-122"/>
                  <a:ea typeface="宋体" panose="02010600030101010101" pitchFamily="2" charset="-122"/>
                </a:endParaRPr>
              </a:p>
            </p:txBody>
          </p:sp>
        </p:grpSp>
        <p:sp>
          <p:nvSpPr>
            <p:cNvPr id="127005" name="Rectangle 28"/>
            <p:cNvSpPr/>
            <p:nvPr/>
          </p:nvSpPr>
          <p:spPr>
            <a:xfrm>
              <a:off x="182" y="182"/>
              <a:ext cx="314" cy="327"/>
            </a:xfrm>
            <a:prstGeom prst="rect">
              <a:avLst/>
            </a:prstGeom>
            <a:noFill/>
            <a:ln w="9525">
              <a:noFill/>
            </a:ln>
          </p:spPr>
          <p:txBody>
            <a:bodyPr wrap="none" lIns="90000" tIns="46800" rIns="90000" bIns="46800" anchor="t">
              <a:spAutoFit/>
            </a:bodyPr>
            <a:lstStyle/>
            <a:p>
              <a:pPr lvl="0" indent="0"/>
              <a:r>
                <a:rPr lang="en-US" altLang="x-none" sz="2800" dirty="0">
                  <a:solidFill>
                    <a:srgbClr val="CC0000"/>
                  </a:solidFill>
                  <a:latin typeface="宋体" panose="02010600030101010101" pitchFamily="2" charset="-122"/>
                  <a:ea typeface="宋体" panose="02010600030101010101" pitchFamily="2" charset="-122"/>
                  <a:sym typeface="Wingdings 2" panose="05020102010507070707" pitchFamily="2" charset="2"/>
                </a:rPr>
                <a:t></a:t>
              </a:r>
              <a:endParaRPr lang="en-US" altLang="x-none" sz="2800" dirty="0">
                <a:solidFill>
                  <a:srgbClr val="CC0000"/>
                </a:solidFill>
                <a:latin typeface="宋体" panose="02010600030101010101" pitchFamily="2" charset="-122"/>
                <a:ea typeface="宋体" panose="02010600030101010101" pitchFamily="2" charset="-122"/>
                <a:sym typeface="Wingdings 2" panose="05020102010507070707" pitchFamily="2" charset="2"/>
              </a:endParaRPr>
            </a:p>
          </p:txBody>
        </p:sp>
      </p:grpSp>
      <p:grpSp>
        <p:nvGrpSpPr>
          <p:cNvPr id="130079" name="Group 29"/>
          <p:cNvGrpSpPr/>
          <p:nvPr/>
        </p:nvGrpSpPr>
        <p:grpSpPr>
          <a:xfrm>
            <a:off x="4479925" y="5310188"/>
            <a:ext cx="1295400" cy="838200"/>
            <a:chOff x="0" y="0"/>
            <a:chExt cx="816" cy="528"/>
          </a:xfrm>
        </p:grpSpPr>
        <p:sp>
          <p:nvSpPr>
            <p:cNvPr id="127007" name="Text Box 30"/>
            <p:cNvSpPr txBox="1"/>
            <p:nvPr/>
          </p:nvSpPr>
          <p:spPr>
            <a:xfrm>
              <a:off x="0" y="272"/>
              <a:ext cx="726" cy="256"/>
            </a:xfrm>
            <a:prstGeom prst="rect">
              <a:avLst/>
            </a:prstGeom>
            <a:noFill/>
            <a:ln w="9525" cap="flat" cmpd="sng">
              <a:solidFill>
                <a:srgbClr val="006600"/>
              </a:solidFill>
              <a:prstDash val="solid"/>
              <a:miter/>
              <a:headEnd type="none" w="med" len="med"/>
              <a:tailEnd type="none" w="med" len="med"/>
            </a:ln>
          </p:spPr>
          <p:txBody>
            <a:bodyPr lIns="90000" tIns="46800" rIns="90000" bIns="46800" anchor="t">
              <a:spAutoFit/>
            </a:bodyPr>
            <a:lstStyle/>
            <a:p>
              <a:pPr lvl="0" indent="0" algn="ctr">
                <a:spcBef>
                  <a:spcPct val="50000"/>
                </a:spcBef>
              </a:pPr>
              <a:r>
                <a:rPr lang="zh-CN" altLang="en-US" sz="2000" dirty="0">
                  <a:solidFill>
                    <a:srgbClr val="006600"/>
                  </a:solidFill>
                  <a:latin typeface="宋体" panose="02010600030101010101" pitchFamily="2" charset="-122"/>
                  <a:ea typeface="宋体" panose="02010600030101010101" pitchFamily="2" charset="-122"/>
                </a:rPr>
                <a:t>显示锁</a:t>
              </a:r>
              <a:endParaRPr lang="zh-CN" altLang="en-US" sz="2000" dirty="0">
                <a:solidFill>
                  <a:srgbClr val="006600"/>
                </a:solidFill>
                <a:latin typeface="宋体" panose="02010600030101010101" pitchFamily="2" charset="-122"/>
                <a:ea typeface="宋体" panose="02010600030101010101" pitchFamily="2" charset="-122"/>
              </a:endParaRPr>
            </a:p>
          </p:txBody>
        </p:sp>
        <p:sp>
          <p:nvSpPr>
            <p:cNvPr id="127008" name="Line 31"/>
            <p:cNvSpPr/>
            <p:nvPr/>
          </p:nvSpPr>
          <p:spPr>
            <a:xfrm flipH="1">
              <a:off x="544" y="0"/>
              <a:ext cx="272" cy="272"/>
            </a:xfrm>
            <a:prstGeom prst="line">
              <a:avLst/>
            </a:prstGeom>
            <a:ln w="28575" cap="flat" cmpd="sng">
              <a:solidFill>
                <a:schemeClr val="tx1"/>
              </a:solidFill>
              <a:prstDash val="dash"/>
              <a:round/>
              <a:headEnd type="triangle" w="med" len="med"/>
              <a:tailEnd type="triangle" w="med" len="med"/>
            </a:ln>
          </p:spPr>
        </p:sp>
      </p:grpSp>
      <p:grpSp>
        <p:nvGrpSpPr>
          <p:cNvPr id="130082" name="Group 32"/>
          <p:cNvGrpSpPr/>
          <p:nvPr/>
        </p:nvGrpSpPr>
        <p:grpSpPr>
          <a:xfrm>
            <a:off x="1325563" y="5459413"/>
            <a:ext cx="3168650" cy="519112"/>
            <a:chOff x="0" y="0"/>
            <a:chExt cx="1996" cy="327"/>
          </a:xfrm>
        </p:grpSpPr>
        <p:sp>
          <p:nvSpPr>
            <p:cNvPr id="127010" name="Line 33"/>
            <p:cNvSpPr/>
            <p:nvPr/>
          </p:nvSpPr>
          <p:spPr>
            <a:xfrm>
              <a:off x="0" y="272"/>
              <a:ext cx="1996" cy="0"/>
            </a:xfrm>
            <a:prstGeom prst="line">
              <a:avLst/>
            </a:prstGeom>
            <a:ln w="38100" cap="flat" cmpd="sng">
              <a:solidFill>
                <a:srgbClr val="006600"/>
              </a:solidFill>
              <a:prstDash val="solid"/>
              <a:round/>
              <a:headEnd type="none" w="med" len="med"/>
              <a:tailEnd type="triangle" w="med" len="med"/>
            </a:ln>
          </p:spPr>
        </p:sp>
        <p:sp>
          <p:nvSpPr>
            <p:cNvPr id="127011" name="Rectangle 34"/>
            <p:cNvSpPr/>
            <p:nvPr/>
          </p:nvSpPr>
          <p:spPr>
            <a:xfrm>
              <a:off x="226" y="0"/>
              <a:ext cx="1633" cy="327"/>
            </a:xfrm>
            <a:prstGeom prst="rect">
              <a:avLst/>
            </a:prstGeom>
            <a:noFill/>
            <a:ln w="9525">
              <a:noFill/>
            </a:ln>
          </p:spPr>
          <p:txBody>
            <a:bodyPr lIns="90000" tIns="46800" rIns="90000" bIns="46800" anchor="t">
              <a:spAutoFit/>
            </a:bodyPr>
            <a:lstStyle/>
            <a:p>
              <a:pPr lvl="0" indent="0"/>
              <a:r>
                <a:rPr lang="en-US" altLang="x-none" sz="2800" dirty="0">
                  <a:solidFill>
                    <a:srgbClr val="006600"/>
                  </a:solidFill>
                  <a:latin typeface="宋体" panose="02010600030101010101" pitchFamily="2" charset="-122"/>
                  <a:ea typeface="宋体" panose="02010600030101010101" pitchFamily="2" charset="-122"/>
                  <a:sym typeface="Wingdings 2" panose="05020102010507070707" pitchFamily="2" charset="2"/>
                </a:rPr>
                <a:t> </a:t>
              </a:r>
              <a:r>
                <a:rPr lang="zh-CN" altLang="en-US" sz="2400" dirty="0">
                  <a:solidFill>
                    <a:srgbClr val="006600"/>
                  </a:solidFill>
                  <a:latin typeface="宋体" panose="02010600030101010101" pitchFamily="2" charset="-122"/>
                  <a:ea typeface="宋体" panose="02010600030101010101" pitchFamily="2" charset="-122"/>
                  <a:sym typeface="Wingdings 2" panose="05020102010507070707" pitchFamily="2" charset="2"/>
                </a:rPr>
                <a:t>加锁成功</a:t>
              </a:r>
              <a:endParaRPr lang="zh-CN" altLang="en-US" sz="2400" dirty="0">
                <a:solidFill>
                  <a:srgbClr val="006600"/>
                </a:solidFill>
                <a:latin typeface="宋体" panose="02010600030101010101" pitchFamily="2" charset="-122"/>
                <a:ea typeface="宋体" panose="02010600030101010101" pitchFamily="2" charset="-122"/>
                <a:sym typeface="Wingdings 2" panose="05020102010507070707" pitchFamily="2" charset="2"/>
              </a:endParaRPr>
            </a:p>
          </p:txBody>
        </p:sp>
      </p:grpSp>
      <p:sp>
        <p:nvSpPr>
          <p:cNvPr id="4" name="Rectangle 3"/>
          <p:cNvSpPr txBox="1"/>
          <p:nvPr/>
        </p:nvSpPr>
        <p:spPr>
          <a:xfrm>
            <a:off x="561975" y="812165"/>
            <a:ext cx="7178675" cy="706438"/>
          </a:xfrm>
          <a:prstGeom prst="rect">
            <a:avLst/>
          </a:prstGeom>
          <a:noFill/>
          <a:ln w="9525">
            <a:noFill/>
          </a:ln>
        </p:spPr>
        <p:txBody>
          <a:bodyPr anchor="t"/>
          <a:lstStyle/>
          <a:p>
            <a:pPr lvl="0" indent="0" eaLnBrk="0" hangingPunct="0"/>
            <a:r>
              <a:rPr lang="en-US" altLang="x-none" sz="2800" dirty="0">
                <a:solidFill>
                  <a:srgbClr val="FF0000"/>
                </a:solidFill>
                <a:latin typeface="黑体" panose="02010609060101010101" pitchFamily="1" charset="-122"/>
                <a:ea typeface="黑体" panose="02010609060101010101" pitchFamily="1" charset="-122"/>
              </a:rPr>
              <a:t>2</a:t>
            </a:r>
            <a:r>
              <a:rPr lang="zh-CN" altLang="en-US" sz="2800" dirty="0">
                <a:solidFill>
                  <a:srgbClr val="FF0000"/>
                </a:solidFill>
                <a:latin typeface="黑体" panose="02010609060101010101" pitchFamily="1" charset="-122"/>
                <a:ea typeface="黑体" panose="02010609060101010101" pitchFamily="1" charset="-122"/>
              </a:rPr>
              <a:t>、多粒度加锁的实现</a:t>
            </a:r>
            <a:endParaRPr lang="en-US" altLang="x-none" sz="2800" dirty="0">
              <a:solidFill>
                <a:srgbClr val="FF0000"/>
              </a:solidFill>
              <a:latin typeface="黑体" panose="02010609060101010101" pitchFamily="1" charset="-122"/>
              <a:ea typeface="黑体" panose="02010609060101010101" pitchFamily="1" charset="-122"/>
            </a:endParaRPr>
          </a:p>
        </p:txBody>
      </p:sp>
      <p:sp>
        <p:nvSpPr>
          <p:cNvPr id="5" name="Rectangle 2"/>
          <p:cNvSpPr/>
          <p:nvPr/>
        </p:nvSpPr>
        <p:spPr>
          <a:xfrm>
            <a:off x="561975" y="69215"/>
            <a:ext cx="7924165" cy="692150"/>
          </a:xfrm>
          <a:prstGeom prst="rect">
            <a:avLst/>
          </a:prstGeom>
          <a:noFill/>
          <a:ln w="9525">
            <a:noFill/>
          </a:ln>
        </p:spPr>
        <p:txBody>
          <a:bodyPr anchor="ctr"/>
          <a:lstStyle/>
          <a:p>
            <a:pPr lvl="0" indent="0">
              <a:buFont typeface="Wingdings" panose="05000000000000000000" pitchFamily="2" charset="2"/>
              <a:buNone/>
            </a:pPr>
            <a:r>
              <a:rPr lang="zh-CN" altLang="en-US" sz="3200" dirty="0" smtClean="0">
                <a:solidFill>
                  <a:srgbClr val="0033CC"/>
                </a:solidFill>
                <a:latin typeface="Arial" panose="020B0604020202020204" pitchFamily="34" charset="0"/>
                <a:ea typeface="黑体" panose="02010609060101010101" pitchFamily="1" charset="-122"/>
              </a:rPr>
              <a:t>四、多粒度加锁协议</a:t>
            </a:r>
            <a:endParaRPr lang="zh-CN" altLang="en-US" sz="3200" dirty="0">
              <a:solidFill>
                <a:srgbClr val="0033CC"/>
              </a:solidFill>
              <a:latin typeface="Arial" panose="020B0604020202020204" pitchFamily="34" charset="0"/>
              <a:ea typeface="黑体" panose="02010609060101010101" pitchFamily="1"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130054"/>
                                        </p:tgtEl>
                                        <p:attrNameLst>
                                          <p:attrName>style.visibility</p:attrName>
                                        </p:attrNameLst>
                                      </p:cBhvr>
                                      <p:to>
                                        <p:strVal val="visible"/>
                                      </p:to>
                                    </p:set>
                                    <p:animEffect transition="in" filter="dissolve">
                                      <p:cBhvr>
                                        <p:cTn id="7" dur="500"/>
                                        <p:tgtEl>
                                          <p:spTgt spid="130054"/>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30066"/>
                                        </p:tgtEl>
                                        <p:attrNameLst>
                                          <p:attrName>style.visibility</p:attrName>
                                        </p:attrNameLst>
                                      </p:cBhvr>
                                      <p:to>
                                        <p:strVal val="visible"/>
                                      </p:to>
                                    </p:set>
                                    <p:animEffect transition="in" filter="dissolve">
                                      <p:cBhvr>
                                        <p:cTn id="12" dur="500"/>
                                        <p:tgtEl>
                                          <p:spTgt spid="130066"/>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130067"/>
                                        </p:tgtEl>
                                        <p:attrNameLst>
                                          <p:attrName>style.visibility</p:attrName>
                                        </p:attrNameLst>
                                      </p:cBhvr>
                                      <p:to>
                                        <p:strVal val="visible"/>
                                      </p:to>
                                    </p:set>
                                    <p:animEffect transition="in" filter="dissolve">
                                      <p:cBhvr>
                                        <p:cTn id="17" dur="500"/>
                                        <p:tgtEl>
                                          <p:spTgt spid="130067"/>
                                        </p:tgtEl>
                                      </p:cBhvr>
                                    </p:animEffect>
                                  </p:childTnLst>
                                </p:cTn>
                              </p:par>
                              <p:par>
                                <p:cTn id="18" presetID="9" presetClass="entr" presetSubtype="0" fill="hold" grpId="0" nodeType="withEffect">
                                  <p:stCondLst>
                                    <p:cond delay="0"/>
                                  </p:stCondLst>
                                  <p:childTnLst>
                                    <p:set>
                                      <p:cBhvr>
                                        <p:cTn id="19" dur="1" fill="hold">
                                          <p:stCondLst>
                                            <p:cond delay="0"/>
                                          </p:stCondLst>
                                        </p:cTn>
                                        <p:tgtEl>
                                          <p:spTgt spid="130073"/>
                                        </p:tgtEl>
                                        <p:attrNameLst>
                                          <p:attrName>style.visibility</p:attrName>
                                        </p:attrNameLst>
                                      </p:cBhvr>
                                      <p:to>
                                        <p:strVal val="visible"/>
                                      </p:to>
                                    </p:set>
                                    <p:animEffect transition="in" filter="dissolve">
                                      <p:cBhvr>
                                        <p:cTn id="20" dur="500"/>
                                        <p:tgtEl>
                                          <p:spTgt spid="130073"/>
                                        </p:tgtEl>
                                      </p:cBhvr>
                                    </p:animEffect>
                                  </p:childTnLst>
                                </p:cTn>
                              </p:par>
                            </p:childTnLst>
                          </p:cTn>
                        </p:par>
                      </p:childTnLst>
                    </p:cTn>
                  </p:par>
                  <p:par>
                    <p:cTn id="21" fill="hold">
                      <p:stCondLst>
                        <p:cond delay="indefinite"/>
                      </p:stCondLst>
                      <p:childTnLst>
                        <p:par>
                          <p:cTn id="22" fill="hold">
                            <p:stCondLst>
                              <p:cond delay="0"/>
                            </p:stCondLst>
                            <p:childTnLst>
                              <p:par>
                                <p:cTn id="23" presetID="55" presetClass="entr" presetSubtype="0" fill="hold" nodeType="clickEffect">
                                  <p:stCondLst>
                                    <p:cond delay="0"/>
                                  </p:stCondLst>
                                  <p:childTnLst>
                                    <p:set>
                                      <p:cBhvr>
                                        <p:cTn id="24" dur="1" fill="hold">
                                          <p:stCondLst>
                                            <p:cond delay="0"/>
                                          </p:stCondLst>
                                        </p:cTn>
                                        <p:tgtEl>
                                          <p:spTgt spid="130070"/>
                                        </p:tgtEl>
                                        <p:attrNameLst>
                                          <p:attrName>style.visibility</p:attrName>
                                        </p:attrNameLst>
                                      </p:cBhvr>
                                      <p:to>
                                        <p:strVal val="visible"/>
                                      </p:to>
                                    </p:set>
                                    <p:anim calcmode="lin" valueType="num">
                                      <p:cBhvr>
                                        <p:cTn id="25" dur="1000" fill="hold"/>
                                        <p:tgtEl>
                                          <p:spTgt spid="130070"/>
                                        </p:tgtEl>
                                        <p:attrNameLst>
                                          <p:attrName>ppt_w</p:attrName>
                                        </p:attrNameLst>
                                      </p:cBhvr>
                                      <p:tavLst>
                                        <p:tav tm="0">
                                          <p:val>
                                            <p:strVal val="#ppt_w*0.70"/>
                                          </p:val>
                                        </p:tav>
                                        <p:tav tm="100000">
                                          <p:val>
                                            <p:strVal val="#ppt_w"/>
                                          </p:val>
                                        </p:tav>
                                      </p:tavLst>
                                    </p:anim>
                                    <p:anim calcmode="lin" valueType="num">
                                      <p:cBhvr>
                                        <p:cTn id="26" dur="1000" fill="hold"/>
                                        <p:tgtEl>
                                          <p:spTgt spid="130070"/>
                                        </p:tgtEl>
                                        <p:attrNameLst>
                                          <p:attrName>ppt_h</p:attrName>
                                        </p:attrNameLst>
                                      </p:cBhvr>
                                      <p:tavLst>
                                        <p:tav tm="0">
                                          <p:val>
                                            <p:strVal val="#ppt_h"/>
                                          </p:val>
                                        </p:tav>
                                        <p:tav tm="100000">
                                          <p:val>
                                            <p:strVal val="#ppt_h"/>
                                          </p:val>
                                        </p:tav>
                                      </p:tavLst>
                                    </p:anim>
                                    <p:animEffect transition="in" filter="fade">
                                      <p:cBhvr>
                                        <p:cTn id="27" dur="1000"/>
                                        <p:tgtEl>
                                          <p:spTgt spid="130070"/>
                                        </p:tgtEl>
                                      </p:cBhvr>
                                    </p:animEffect>
                                  </p:childTnLst>
                                </p:cTn>
                              </p:par>
                            </p:childTnLst>
                          </p:cTn>
                        </p:par>
                      </p:childTnLst>
                    </p:cTn>
                  </p:par>
                  <p:par>
                    <p:cTn id="28" fill="hold">
                      <p:stCondLst>
                        <p:cond delay="indefinite"/>
                      </p:stCondLst>
                      <p:childTnLst>
                        <p:par>
                          <p:cTn id="29" fill="hold">
                            <p:stCondLst>
                              <p:cond delay="0"/>
                            </p:stCondLst>
                            <p:childTnLst>
                              <p:par>
                                <p:cTn id="30" presetID="53" presetClass="entr" presetSubtype="16" fill="hold" nodeType="clickEffect">
                                  <p:stCondLst>
                                    <p:cond delay="0"/>
                                  </p:stCondLst>
                                  <p:childTnLst>
                                    <p:set>
                                      <p:cBhvr>
                                        <p:cTn id="31" dur="1" fill="hold">
                                          <p:stCondLst>
                                            <p:cond delay="0"/>
                                          </p:stCondLst>
                                        </p:cTn>
                                        <p:tgtEl>
                                          <p:spTgt spid="130074"/>
                                        </p:tgtEl>
                                        <p:attrNameLst>
                                          <p:attrName>style.visibility</p:attrName>
                                        </p:attrNameLst>
                                      </p:cBhvr>
                                      <p:to>
                                        <p:strVal val="visible"/>
                                      </p:to>
                                    </p:set>
                                    <p:anim calcmode="lin" valueType="num">
                                      <p:cBhvr>
                                        <p:cTn id="32" dur="500" fill="hold"/>
                                        <p:tgtEl>
                                          <p:spTgt spid="130074"/>
                                        </p:tgtEl>
                                        <p:attrNameLst>
                                          <p:attrName>ppt_w</p:attrName>
                                        </p:attrNameLst>
                                      </p:cBhvr>
                                      <p:tavLst>
                                        <p:tav tm="0">
                                          <p:val>
                                            <p:fltVal val="0"/>
                                          </p:val>
                                        </p:tav>
                                        <p:tav tm="100000">
                                          <p:val>
                                            <p:strVal val="#ppt_w"/>
                                          </p:val>
                                        </p:tav>
                                      </p:tavLst>
                                    </p:anim>
                                    <p:anim calcmode="lin" valueType="num">
                                      <p:cBhvr>
                                        <p:cTn id="33" dur="500" fill="hold"/>
                                        <p:tgtEl>
                                          <p:spTgt spid="130074"/>
                                        </p:tgtEl>
                                        <p:attrNameLst>
                                          <p:attrName>ppt_h</p:attrName>
                                        </p:attrNameLst>
                                      </p:cBhvr>
                                      <p:tavLst>
                                        <p:tav tm="0">
                                          <p:val>
                                            <p:fltVal val="0"/>
                                          </p:val>
                                        </p:tav>
                                        <p:tav tm="100000">
                                          <p:val>
                                            <p:strVal val="#ppt_h"/>
                                          </p:val>
                                        </p:tav>
                                      </p:tavLst>
                                    </p:anim>
                                    <p:animEffect transition="in" filter="fade">
                                      <p:cBhvr>
                                        <p:cTn id="34" dur="500"/>
                                        <p:tgtEl>
                                          <p:spTgt spid="130074"/>
                                        </p:tgtEl>
                                      </p:cBhvr>
                                    </p:animEffect>
                                  </p:childTnLst>
                                </p:cTn>
                              </p:par>
                            </p:childTnLst>
                          </p:cTn>
                        </p:par>
                      </p:childTnLst>
                    </p:cTn>
                  </p:par>
                  <p:par>
                    <p:cTn id="35" fill="hold">
                      <p:stCondLst>
                        <p:cond delay="indefinite"/>
                      </p:stCondLst>
                      <p:childTnLst>
                        <p:par>
                          <p:cTn id="36" fill="hold">
                            <p:stCondLst>
                              <p:cond delay="0"/>
                            </p:stCondLst>
                            <p:childTnLst>
                              <p:par>
                                <p:cTn id="37" presetID="13" presetClass="entr" presetSubtype="16" fill="hold" nodeType="clickEffect">
                                  <p:stCondLst>
                                    <p:cond delay="0"/>
                                  </p:stCondLst>
                                  <p:childTnLst>
                                    <p:set>
                                      <p:cBhvr>
                                        <p:cTn id="38" dur="1" fill="hold">
                                          <p:stCondLst>
                                            <p:cond delay="0"/>
                                          </p:stCondLst>
                                        </p:cTn>
                                        <p:tgtEl>
                                          <p:spTgt spid="130079"/>
                                        </p:tgtEl>
                                        <p:attrNameLst>
                                          <p:attrName>style.visibility</p:attrName>
                                        </p:attrNameLst>
                                      </p:cBhvr>
                                      <p:to>
                                        <p:strVal val="visible"/>
                                      </p:to>
                                    </p:set>
                                    <p:animEffect transition="in" filter="plus(in)">
                                      <p:cBhvr>
                                        <p:cTn id="39" dur="1000"/>
                                        <p:tgtEl>
                                          <p:spTgt spid="130079"/>
                                        </p:tgtEl>
                                      </p:cBhvr>
                                    </p:animEffect>
                                  </p:childTnLst>
                                </p:cTn>
                              </p:par>
                            </p:childTnLst>
                          </p:cTn>
                        </p:par>
                      </p:childTnLst>
                    </p:cTn>
                  </p:par>
                  <p:par>
                    <p:cTn id="40" fill="hold">
                      <p:stCondLst>
                        <p:cond delay="indefinite"/>
                      </p:stCondLst>
                      <p:childTnLst>
                        <p:par>
                          <p:cTn id="41" fill="hold">
                            <p:stCondLst>
                              <p:cond delay="0"/>
                            </p:stCondLst>
                            <p:childTnLst>
                              <p:par>
                                <p:cTn id="42" presetID="17" presetClass="entr" presetSubtype="10" fill="hold" nodeType="clickEffect">
                                  <p:stCondLst>
                                    <p:cond delay="0"/>
                                  </p:stCondLst>
                                  <p:childTnLst>
                                    <p:set>
                                      <p:cBhvr>
                                        <p:cTn id="43" dur="1" fill="hold">
                                          <p:stCondLst>
                                            <p:cond delay="0"/>
                                          </p:stCondLst>
                                        </p:cTn>
                                        <p:tgtEl>
                                          <p:spTgt spid="130082"/>
                                        </p:tgtEl>
                                        <p:attrNameLst>
                                          <p:attrName>style.visibility</p:attrName>
                                        </p:attrNameLst>
                                      </p:cBhvr>
                                      <p:to>
                                        <p:strVal val="visible"/>
                                      </p:to>
                                    </p:set>
                                    <p:anim calcmode="lin" valueType="num">
                                      <p:cBhvr>
                                        <p:cTn id="44" dur="500" fill="hold"/>
                                        <p:tgtEl>
                                          <p:spTgt spid="130082"/>
                                        </p:tgtEl>
                                        <p:attrNameLst>
                                          <p:attrName>ppt_w</p:attrName>
                                        </p:attrNameLst>
                                      </p:cBhvr>
                                      <p:tavLst>
                                        <p:tav tm="0">
                                          <p:val>
                                            <p:fltVal val="0"/>
                                          </p:val>
                                        </p:tav>
                                        <p:tav tm="100000">
                                          <p:val>
                                            <p:strVal val="#ppt_w"/>
                                          </p:val>
                                        </p:tav>
                                      </p:tavLst>
                                    </p:anim>
                                    <p:anim calcmode="lin" valueType="num">
                                      <p:cBhvr>
                                        <p:cTn id="45" dur="500" fill="hold"/>
                                        <p:tgtEl>
                                          <p:spTgt spid="130082"/>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0066" grpId="0" bldLvl="0" animBg="1"/>
      <p:bldP spid="130073"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Text Box 3"/>
          <p:cNvSpPr txBox="1"/>
          <p:nvPr/>
        </p:nvSpPr>
        <p:spPr>
          <a:xfrm>
            <a:off x="747713" y="1616075"/>
            <a:ext cx="7921625" cy="641350"/>
          </a:xfrm>
          <a:prstGeom prst="rect">
            <a:avLst/>
          </a:prstGeom>
          <a:noFill/>
          <a:ln w="9525">
            <a:noFill/>
          </a:ln>
        </p:spPr>
        <p:txBody>
          <a:bodyPr anchor="t">
            <a:spAutoFit/>
          </a:bodyPr>
          <a:lstStyle/>
          <a:p>
            <a:pPr lvl="0" indent="0" algn="ctr">
              <a:spcBef>
                <a:spcPct val="50000"/>
              </a:spcBef>
            </a:pPr>
            <a:r>
              <a:rPr lang="zh-CN" altLang="en-US" sz="3600" dirty="0">
                <a:solidFill>
                  <a:srgbClr val="A50021"/>
                </a:solidFill>
                <a:latin typeface="宋体" panose="02010600030101010101" pitchFamily="2" charset="-122"/>
                <a:ea typeface="宋体" panose="02010600030101010101" pitchFamily="2" charset="-122"/>
              </a:rPr>
              <a:t>多粒度加锁</a:t>
            </a:r>
            <a:r>
              <a:rPr lang="en-US" altLang="x-none" sz="3600" dirty="0">
                <a:solidFill>
                  <a:srgbClr val="A50021"/>
                </a:solidFill>
                <a:latin typeface="宋体" panose="02010600030101010101" pitchFamily="2" charset="-122"/>
                <a:ea typeface="宋体" panose="02010600030101010101" pitchFamily="2" charset="-122"/>
              </a:rPr>
              <a:t>/</a:t>
            </a:r>
            <a:r>
              <a:rPr lang="zh-CN" altLang="en-US" sz="3600" dirty="0">
                <a:solidFill>
                  <a:srgbClr val="A50021"/>
                </a:solidFill>
                <a:latin typeface="宋体" panose="02010600030101010101" pitchFamily="2" charset="-122"/>
                <a:ea typeface="宋体" panose="02010600030101010101" pitchFamily="2" charset="-122"/>
              </a:rPr>
              <a:t>解锁顺序</a:t>
            </a:r>
            <a:endParaRPr lang="zh-CN" altLang="en-US" sz="3600" dirty="0">
              <a:solidFill>
                <a:srgbClr val="A50021"/>
              </a:solidFill>
              <a:latin typeface="宋体" panose="02010600030101010101" pitchFamily="2" charset="-122"/>
              <a:ea typeface="宋体" panose="02010600030101010101" pitchFamily="2" charset="-122"/>
            </a:endParaRPr>
          </a:p>
        </p:txBody>
      </p:sp>
      <p:sp>
        <p:nvSpPr>
          <p:cNvPr id="131075" name="Text Box 4"/>
          <p:cNvSpPr txBox="1"/>
          <p:nvPr/>
        </p:nvSpPr>
        <p:spPr>
          <a:xfrm>
            <a:off x="733425" y="2544763"/>
            <a:ext cx="8064500" cy="3509962"/>
          </a:xfrm>
          <a:prstGeom prst="rect">
            <a:avLst/>
          </a:prstGeom>
          <a:noFill/>
          <a:ln w="9525">
            <a:noFill/>
          </a:ln>
        </p:spPr>
        <p:txBody>
          <a:bodyPr anchor="t">
            <a:spAutoFit/>
          </a:bodyPr>
          <a:lstStyle/>
          <a:p>
            <a:pPr lvl="0" indent="0">
              <a:spcBef>
                <a:spcPct val="50000"/>
              </a:spcBef>
            </a:pPr>
            <a:r>
              <a:rPr lang="en-US" altLang="x-none" sz="2800" dirty="0">
                <a:solidFill>
                  <a:srgbClr val="0000CC"/>
                </a:solidFill>
                <a:latin typeface="宋体" panose="02010600030101010101" pitchFamily="2" charset="-122"/>
                <a:ea typeface="宋体" panose="02010600030101010101" pitchFamily="2" charset="-122"/>
                <a:sym typeface="Wingdings" panose="05000000000000000000" pitchFamily="2" charset="2"/>
              </a:rPr>
              <a:t>① </a:t>
            </a:r>
            <a:r>
              <a:rPr lang="zh-CN" altLang="en-US" sz="2800" dirty="0">
                <a:solidFill>
                  <a:srgbClr val="0000CC"/>
                </a:solidFill>
                <a:latin typeface="宋体" panose="02010600030101010101" pitchFamily="2" charset="-122"/>
                <a:ea typeface="宋体" panose="02010600030101010101" pitchFamily="2" charset="-122"/>
                <a:sym typeface="Wingdings" panose="05000000000000000000" pitchFamily="2" charset="2"/>
              </a:rPr>
              <a:t>要对一个数据对象加锁，必须对这个数据对象的所有祖先加相应的意向锁，即：申请锁时，应按自上而下（从根到叶）的次序申请，以便及时发现冲突；</a:t>
            </a:r>
            <a:endParaRPr lang="zh-CN" altLang="en-US" sz="2800" dirty="0">
              <a:solidFill>
                <a:srgbClr val="0000CC"/>
              </a:solidFill>
              <a:latin typeface="宋体" panose="02010600030101010101" pitchFamily="2" charset="-122"/>
              <a:ea typeface="宋体" panose="02010600030101010101" pitchFamily="2" charset="-122"/>
              <a:sym typeface="Wingdings" panose="05000000000000000000" pitchFamily="2" charset="2"/>
            </a:endParaRPr>
          </a:p>
          <a:p>
            <a:pPr lvl="0" indent="0">
              <a:spcBef>
                <a:spcPct val="50000"/>
              </a:spcBef>
            </a:pPr>
            <a:r>
              <a:rPr lang="zh-CN" altLang="en-US" sz="2800" dirty="0">
                <a:solidFill>
                  <a:srgbClr val="0000CC"/>
                </a:solidFill>
                <a:latin typeface="宋体" panose="02010600030101010101" pitchFamily="2" charset="-122"/>
                <a:ea typeface="宋体" panose="02010600030101010101" pitchFamily="2" charset="-122"/>
                <a:sym typeface="Wingdings" panose="05000000000000000000" pitchFamily="2" charset="2"/>
              </a:rPr>
              <a:t>② 解锁时，应按自下而上（从叶到根）的次序进行，以免出现锁冲突。</a:t>
            </a:r>
            <a:endParaRPr lang="zh-CN" altLang="en-US" sz="2800" dirty="0">
              <a:solidFill>
                <a:srgbClr val="0000CC"/>
              </a:solidFill>
              <a:latin typeface="宋体" panose="02010600030101010101" pitchFamily="2" charset="-122"/>
              <a:ea typeface="宋体" panose="02010600030101010101" pitchFamily="2" charset="-122"/>
              <a:sym typeface="Wingdings" panose="05000000000000000000" pitchFamily="2" charset="2"/>
            </a:endParaRPr>
          </a:p>
          <a:p>
            <a:pPr lvl="0" indent="0">
              <a:spcBef>
                <a:spcPct val="50000"/>
              </a:spcBef>
            </a:pPr>
            <a:endParaRPr lang="en-US" altLang="x-none" sz="2800" dirty="0">
              <a:solidFill>
                <a:srgbClr val="0000CC"/>
              </a:solidFill>
              <a:latin typeface="宋体" panose="02010600030101010101" pitchFamily="2" charset="-122"/>
              <a:ea typeface="宋体" panose="02010600030101010101" pitchFamily="2" charset="-122"/>
              <a:sym typeface="Wingdings" panose="05000000000000000000" pitchFamily="2" charset="2"/>
            </a:endParaRPr>
          </a:p>
        </p:txBody>
      </p:sp>
      <p:sp>
        <p:nvSpPr>
          <p:cNvPr id="4" name="Rectangle 3"/>
          <p:cNvSpPr txBox="1"/>
          <p:nvPr/>
        </p:nvSpPr>
        <p:spPr>
          <a:xfrm>
            <a:off x="561975" y="812165"/>
            <a:ext cx="7178675" cy="706438"/>
          </a:xfrm>
          <a:prstGeom prst="rect">
            <a:avLst/>
          </a:prstGeom>
          <a:noFill/>
          <a:ln w="9525">
            <a:noFill/>
          </a:ln>
        </p:spPr>
        <p:txBody>
          <a:bodyPr anchor="t"/>
          <a:lstStyle/>
          <a:p>
            <a:pPr lvl="0" indent="0" eaLnBrk="0" hangingPunct="0"/>
            <a:r>
              <a:rPr lang="en-US" altLang="x-none" sz="2800" dirty="0">
                <a:solidFill>
                  <a:srgbClr val="FF0000"/>
                </a:solidFill>
                <a:latin typeface="黑体" panose="02010609060101010101" pitchFamily="1" charset="-122"/>
                <a:ea typeface="黑体" panose="02010609060101010101" pitchFamily="1" charset="-122"/>
              </a:rPr>
              <a:t>2</a:t>
            </a:r>
            <a:r>
              <a:rPr lang="zh-CN" altLang="en-US" sz="2800" dirty="0">
                <a:solidFill>
                  <a:srgbClr val="FF0000"/>
                </a:solidFill>
                <a:latin typeface="黑体" panose="02010609060101010101" pitchFamily="1" charset="-122"/>
                <a:ea typeface="黑体" panose="02010609060101010101" pitchFamily="1" charset="-122"/>
              </a:rPr>
              <a:t>、多粒度加锁的实现</a:t>
            </a:r>
            <a:endParaRPr lang="en-US" altLang="x-none" sz="2800" dirty="0">
              <a:solidFill>
                <a:srgbClr val="FF0000"/>
              </a:solidFill>
              <a:latin typeface="黑体" panose="02010609060101010101" pitchFamily="1" charset="-122"/>
              <a:ea typeface="黑体" panose="02010609060101010101" pitchFamily="1" charset="-122"/>
            </a:endParaRPr>
          </a:p>
        </p:txBody>
      </p:sp>
      <p:sp>
        <p:nvSpPr>
          <p:cNvPr id="5" name="Rectangle 2"/>
          <p:cNvSpPr/>
          <p:nvPr/>
        </p:nvSpPr>
        <p:spPr>
          <a:xfrm>
            <a:off x="561975" y="69215"/>
            <a:ext cx="7924165" cy="692150"/>
          </a:xfrm>
          <a:prstGeom prst="rect">
            <a:avLst/>
          </a:prstGeom>
          <a:noFill/>
          <a:ln w="9525">
            <a:noFill/>
          </a:ln>
        </p:spPr>
        <p:txBody>
          <a:bodyPr anchor="ctr"/>
          <a:lstStyle/>
          <a:p>
            <a:pPr lvl="0" indent="0">
              <a:buFont typeface="Wingdings" panose="05000000000000000000" pitchFamily="2" charset="2"/>
              <a:buNone/>
            </a:pPr>
            <a:r>
              <a:rPr lang="zh-CN" altLang="en-US" sz="3200" dirty="0" smtClean="0">
                <a:solidFill>
                  <a:srgbClr val="0033CC"/>
                </a:solidFill>
                <a:latin typeface="Arial" panose="020B0604020202020204" pitchFamily="34" charset="0"/>
                <a:ea typeface="黑体" panose="02010609060101010101" pitchFamily="1" charset="-122"/>
              </a:rPr>
              <a:t>四、多粒度加锁协议</a:t>
            </a:r>
            <a:endParaRPr lang="zh-CN" altLang="en-US" sz="3200" dirty="0">
              <a:solidFill>
                <a:srgbClr val="0033CC"/>
              </a:solidFill>
              <a:latin typeface="Arial" panose="020B0604020202020204" pitchFamily="34" charset="0"/>
              <a:ea typeface="黑体" panose="02010609060101010101" pitchFamily="1"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131074"/>
                                        </p:tgtEl>
                                        <p:attrNameLst>
                                          <p:attrName>style.visibility</p:attrName>
                                        </p:attrNameLst>
                                      </p:cBhvr>
                                      <p:to>
                                        <p:strVal val="visible"/>
                                      </p:to>
                                    </p:set>
                                    <p:animEffect transition="in" filter="box(in)">
                                      <p:cBhvr>
                                        <p:cTn id="7" dur="500"/>
                                        <p:tgtEl>
                                          <p:spTgt spid="131074"/>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131075"/>
                                        </p:tgtEl>
                                        <p:attrNameLst>
                                          <p:attrName>style.visibility</p:attrName>
                                        </p:attrNameLst>
                                      </p:cBhvr>
                                      <p:to>
                                        <p:strVal val="visible"/>
                                      </p:to>
                                    </p:set>
                                    <p:animEffect transition="in" filter="box(in)">
                                      <p:cBhvr>
                                        <p:cTn id="12" dur="500"/>
                                        <p:tgtEl>
                                          <p:spTgt spid="13107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1074" grpId="0"/>
      <p:bldP spid="131075"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Rectangle 3"/>
          <p:cNvSpPr txBox="1"/>
          <p:nvPr/>
        </p:nvSpPr>
        <p:spPr>
          <a:xfrm>
            <a:off x="517525" y="838200"/>
            <a:ext cx="7178675" cy="706438"/>
          </a:xfrm>
          <a:prstGeom prst="rect">
            <a:avLst/>
          </a:prstGeom>
          <a:noFill/>
          <a:ln w="9525">
            <a:noFill/>
          </a:ln>
        </p:spPr>
        <p:txBody>
          <a:bodyPr anchor="t"/>
          <a:lstStyle/>
          <a:p>
            <a:pPr lvl="0" indent="0" eaLnBrk="0" hangingPunct="0"/>
            <a:r>
              <a:rPr lang="en-US" altLang="x-none" sz="2800" dirty="0">
                <a:solidFill>
                  <a:srgbClr val="FF0000"/>
                </a:solidFill>
                <a:latin typeface="黑体" panose="02010609060101010101" pitchFamily="1" charset="-122"/>
                <a:ea typeface="黑体" panose="02010609060101010101" pitchFamily="1" charset="-122"/>
              </a:rPr>
              <a:t>1</a:t>
            </a:r>
            <a:r>
              <a:rPr lang="zh-CN" altLang="en-US" sz="2800" dirty="0">
                <a:solidFill>
                  <a:srgbClr val="FF0000"/>
                </a:solidFill>
                <a:latin typeface="黑体" panose="02010609060101010101" pitchFamily="1" charset="-122"/>
                <a:ea typeface="黑体" panose="02010609060101010101" pitchFamily="1" charset="-122"/>
              </a:rPr>
              <a:t>、死锁的概念</a:t>
            </a:r>
            <a:endParaRPr lang="en-US" altLang="x-none" sz="2800" dirty="0">
              <a:solidFill>
                <a:srgbClr val="FF0000"/>
              </a:solidFill>
              <a:latin typeface="黑体" panose="02010609060101010101" pitchFamily="1" charset="-122"/>
              <a:ea typeface="黑体" panose="02010609060101010101" pitchFamily="1" charset="-122"/>
            </a:endParaRPr>
          </a:p>
        </p:txBody>
      </p:sp>
      <p:sp>
        <p:nvSpPr>
          <p:cNvPr id="129027" name="Rectangle 3"/>
          <p:cNvSpPr txBox="1"/>
          <p:nvPr/>
        </p:nvSpPr>
        <p:spPr>
          <a:xfrm>
            <a:off x="428625" y="1460500"/>
            <a:ext cx="4189413" cy="4757738"/>
          </a:xfrm>
          <a:prstGeom prst="rect">
            <a:avLst/>
          </a:prstGeom>
          <a:noFill/>
          <a:ln w="9525">
            <a:noFill/>
          </a:ln>
        </p:spPr>
        <p:txBody>
          <a:bodyPr anchor="t"/>
          <a:lstStyle/>
          <a:p>
            <a:pPr marL="342900" lvl="0" indent="-342900" eaLnBrk="0" hangingPunct="0">
              <a:spcBef>
                <a:spcPts val="600"/>
              </a:spcBef>
              <a:buClr>
                <a:srgbClr val="0033CC"/>
              </a:buClr>
              <a:buSzPct val="80000"/>
              <a:buFont typeface="Wingdings" panose="05000000000000000000" pitchFamily="2" charset="2"/>
              <a:buChar char="u"/>
            </a:pPr>
            <a:r>
              <a:rPr lang="zh-CN" altLang="en-US" sz="2400" dirty="0">
                <a:latin typeface="华文楷体" panose="02010600040101010101" pitchFamily="2" charset="-122"/>
                <a:ea typeface="宋体" panose="02010600030101010101" pitchFamily="2" charset="-122"/>
                <a:sym typeface="Wingdings" panose="05000000000000000000" pitchFamily="2" charset="2"/>
              </a:rPr>
              <a:t>一个事务如申请锁而未获准，则需等待其他事务释放锁，从而形成事务间的等待关系。</a:t>
            </a:r>
            <a:endParaRPr lang="zh-CN" altLang="en-US" sz="2400" dirty="0">
              <a:latin typeface="华文楷体" panose="02010600040101010101" pitchFamily="2" charset="-122"/>
              <a:ea typeface="宋体" panose="02010600030101010101" pitchFamily="2" charset="-122"/>
              <a:sym typeface="Wingdings" panose="05000000000000000000" pitchFamily="2" charset="2"/>
            </a:endParaRPr>
          </a:p>
          <a:p>
            <a:pPr marL="342900" lvl="0" indent="-342900" eaLnBrk="0" hangingPunct="0">
              <a:spcBef>
                <a:spcPts val="600"/>
              </a:spcBef>
              <a:buClr>
                <a:srgbClr val="0033CC"/>
              </a:buClr>
              <a:buSzPct val="80000"/>
              <a:buFont typeface="Wingdings" panose="05000000000000000000" pitchFamily="2" charset="2"/>
              <a:buChar char="u"/>
            </a:pPr>
            <a:r>
              <a:rPr lang="zh-CN" altLang="en-US" sz="2400" dirty="0">
                <a:solidFill>
                  <a:srgbClr val="CC3300"/>
                </a:solidFill>
                <a:latin typeface="华文楷体" panose="02010600040101010101" pitchFamily="2" charset="-122"/>
                <a:ea typeface="宋体" panose="02010600030101010101" pitchFamily="2" charset="-122"/>
                <a:sym typeface="Wingdings" panose="05000000000000000000" pitchFamily="2" charset="2"/>
              </a:rPr>
              <a:t>死锁：</a:t>
            </a:r>
            <a:r>
              <a:rPr lang="zh-CN" altLang="en-US" sz="2400" dirty="0">
                <a:latin typeface="华文楷体" panose="02010600040101010101" pitchFamily="2" charset="-122"/>
                <a:ea typeface="宋体" panose="02010600030101010101" pitchFamily="2" charset="-122"/>
                <a:sym typeface="Wingdings" panose="05000000000000000000" pitchFamily="2" charset="2"/>
              </a:rPr>
              <a:t>当事务出现循环等待时，如不加干预，则会一直等待下去，形成死锁</a:t>
            </a:r>
            <a:r>
              <a:rPr lang="en-US" altLang="x-none" sz="2400" dirty="0">
                <a:latin typeface="华文楷体" panose="02010600040101010101" pitchFamily="2" charset="-122"/>
                <a:ea typeface="宋体" panose="02010600030101010101" pitchFamily="2" charset="-122"/>
                <a:sym typeface="Wingdings" panose="05000000000000000000" pitchFamily="2" charset="2"/>
              </a:rPr>
              <a:t>(dead lock)</a:t>
            </a:r>
            <a:r>
              <a:rPr lang="zh-CN" altLang="en-US" sz="2400" dirty="0">
                <a:latin typeface="华文楷体" panose="02010600040101010101" pitchFamily="2" charset="-122"/>
                <a:ea typeface="宋体" panose="02010600030101010101" pitchFamily="2" charset="-122"/>
                <a:sym typeface="Wingdings" panose="05000000000000000000" pitchFamily="2" charset="2"/>
              </a:rPr>
              <a:t>。如图示。</a:t>
            </a:r>
            <a:endParaRPr lang="zh-CN" altLang="en-US" sz="2400" dirty="0">
              <a:latin typeface="华文楷体" panose="02010600040101010101" pitchFamily="2" charset="-122"/>
              <a:ea typeface="宋体" panose="02010600030101010101" pitchFamily="2" charset="-122"/>
              <a:sym typeface="Wingdings" panose="05000000000000000000" pitchFamily="2" charset="2"/>
            </a:endParaRPr>
          </a:p>
          <a:p>
            <a:pPr marL="342900" lvl="0" indent="-342900" eaLnBrk="0" hangingPunct="0">
              <a:spcBef>
                <a:spcPts val="600"/>
              </a:spcBef>
              <a:buClr>
                <a:srgbClr val="0033CC"/>
              </a:buClr>
              <a:buSzPct val="80000"/>
              <a:buFont typeface="Wingdings" panose="05000000000000000000" pitchFamily="2" charset="2"/>
              <a:buChar char="u"/>
            </a:pPr>
            <a:r>
              <a:rPr lang="zh-CN" altLang="en-US" sz="2400" dirty="0">
                <a:solidFill>
                  <a:srgbClr val="CC3300"/>
                </a:solidFill>
                <a:latin typeface="华文楷体" panose="02010600040101010101" pitchFamily="2" charset="-122"/>
                <a:ea typeface="宋体" panose="02010600030101010101" pitchFamily="2" charset="-122"/>
                <a:sym typeface="Wingdings" panose="05000000000000000000" pitchFamily="2" charset="2"/>
              </a:rPr>
              <a:t>对付死锁的二个方法：</a:t>
            </a:r>
            <a:endParaRPr lang="zh-CN" altLang="en-US" sz="2400" dirty="0">
              <a:solidFill>
                <a:srgbClr val="CC3300"/>
              </a:solidFill>
              <a:latin typeface="华文楷体" panose="02010600040101010101" pitchFamily="2" charset="-122"/>
              <a:ea typeface="宋体" panose="02010600030101010101" pitchFamily="2" charset="-122"/>
              <a:sym typeface="Wingdings" panose="05000000000000000000" pitchFamily="2" charset="2"/>
            </a:endParaRPr>
          </a:p>
          <a:p>
            <a:pPr marL="342900" lvl="0" indent="-342900" eaLnBrk="0" hangingPunct="0">
              <a:spcBef>
                <a:spcPts val="600"/>
              </a:spcBef>
              <a:buClr>
                <a:srgbClr val="0033CC"/>
              </a:buClr>
              <a:buSzPct val="80000"/>
            </a:pPr>
            <a:r>
              <a:rPr lang="zh-CN" altLang="en-US" sz="2400" dirty="0">
                <a:latin typeface="华文楷体" panose="02010600040101010101" pitchFamily="2" charset="-122"/>
                <a:ea typeface="宋体" panose="02010600030101010101" pitchFamily="2" charset="-122"/>
                <a:sym typeface="Wingdings" panose="05000000000000000000" pitchFamily="2" charset="2"/>
              </a:rPr>
              <a:t>① 防止死锁；</a:t>
            </a:r>
            <a:endParaRPr lang="zh-CN" altLang="en-US" sz="2400" dirty="0">
              <a:latin typeface="华文楷体" panose="02010600040101010101" pitchFamily="2" charset="-122"/>
              <a:ea typeface="宋体" panose="02010600030101010101" pitchFamily="2" charset="-122"/>
              <a:sym typeface="Wingdings" panose="05000000000000000000" pitchFamily="2" charset="2"/>
            </a:endParaRPr>
          </a:p>
          <a:p>
            <a:pPr marL="342900" lvl="0" indent="-342900" eaLnBrk="0" hangingPunct="0">
              <a:spcBef>
                <a:spcPts val="600"/>
              </a:spcBef>
              <a:buClr>
                <a:srgbClr val="0033CC"/>
              </a:buClr>
              <a:buSzPct val="80000"/>
            </a:pPr>
            <a:r>
              <a:rPr lang="zh-CN" altLang="en-US" sz="2400" dirty="0">
                <a:latin typeface="华文楷体" panose="02010600040101010101" pitchFamily="2" charset="-122"/>
                <a:ea typeface="宋体" panose="02010600030101010101" pitchFamily="2" charset="-122"/>
                <a:sym typeface="Wingdings" panose="05000000000000000000" pitchFamily="2" charset="2"/>
              </a:rPr>
              <a:t>② 检测死锁，发现死锁后处理死锁。</a:t>
            </a:r>
            <a:endParaRPr lang="zh-CN" altLang="en-US" sz="2400" dirty="0">
              <a:latin typeface="华文楷体" panose="02010600040101010101" pitchFamily="2" charset="-122"/>
              <a:ea typeface="宋体" panose="02010600030101010101" pitchFamily="2" charset="-122"/>
            </a:endParaRPr>
          </a:p>
        </p:txBody>
      </p:sp>
      <p:graphicFrame>
        <p:nvGraphicFramePr>
          <p:cNvPr id="132101" name="表格 132100"/>
          <p:cNvGraphicFramePr/>
          <p:nvPr/>
        </p:nvGraphicFramePr>
        <p:xfrm>
          <a:off x="4594225" y="1593850"/>
          <a:ext cx="4176713" cy="4498975"/>
        </p:xfrm>
        <a:graphic>
          <a:graphicData uri="http://schemas.openxmlformats.org/drawingml/2006/table">
            <a:tbl>
              <a:tblPr/>
              <a:tblGrid>
                <a:gridCol w="863600"/>
                <a:gridCol w="1655763"/>
                <a:gridCol w="1657350"/>
              </a:tblGrid>
              <a:tr h="679450">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400"/>
                        <a:t>时间</a:t>
                      </a:r>
                      <a:endParaRPr lang="zh-CN" altLang="en-US" sz="2400"/>
                    </a:p>
                  </a:txBody>
                  <a:tcPr marL="90000" marR="90000" marT="46800" marB="46800">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400" dirty="0"/>
                        <a:t>事务</a:t>
                      </a:r>
                      <a:r>
                        <a:rPr lang="en-US" altLang="x-none" sz="2400" dirty="0"/>
                        <a:t>T1</a:t>
                      </a:r>
                      <a:endParaRPr lang="en-US" altLang="x-none" sz="2400" dirty="0"/>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400" dirty="0"/>
                        <a:t>事物</a:t>
                      </a:r>
                      <a:r>
                        <a:rPr lang="en-US" altLang="x-none" sz="2400" dirty="0"/>
                        <a:t>T2</a:t>
                      </a:r>
                      <a:endParaRPr lang="en-US" altLang="x-none" sz="2400" dirty="0"/>
                    </a:p>
                  </a:txBody>
                  <a:tcPr marL="90000" marR="90000" marT="46800" marB="46800">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r>
              <a:tr h="717550">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en-US" altLang="x-none" sz="2400" dirty="0"/>
                        <a:t>t</a:t>
                      </a:r>
                      <a:r>
                        <a:rPr lang="en-US" altLang="x-none" sz="2400" baseline="-25000" dirty="0"/>
                        <a:t>0</a:t>
                      </a:r>
                      <a:endParaRPr lang="en-US" altLang="x-none" sz="2400" baseline="-25000" dirty="0"/>
                    </a:p>
                  </a:txBody>
                  <a:tcPr marL="90000" marR="90000" marT="46800" marB="46800">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0000"/>
                        </a:buClr>
                        <a:buFont typeface="Arial" panose="020B0604020202020204" pitchFamily="34" charset="0"/>
                        <a:buNone/>
                      </a:pPr>
                      <a:r>
                        <a:rPr lang="zh-CN" altLang="en-US" sz="2400" dirty="0"/>
                        <a:t>对</a:t>
                      </a:r>
                      <a:r>
                        <a:rPr lang="en-US" altLang="x-none" sz="2400" dirty="0"/>
                        <a:t>A</a:t>
                      </a:r>
                      <a:r>
                        <a:rPr lang="zh-CN" altLang="en-US" sz="2400" dirty="0"/>
                        <a:t>加</a:t>
                      </a:r>
                      <a:r>
                        <a:rPr lang="en-US" altLang="x-none" sz="2400" dirty="0"/>
                        <a:t>X</a:t>
                      </a:r>
                      <a:r>
                        <a:rPr lang="zh-CN" altLang="en-US" sz="2400" dirty="0"/>
                        <a:t>锁</a:t>
                      </a:r>
                      <a:endParaRPr lang="zh-CN" altLang="en-US" sz="2400" dirty="0"/>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0000"/>
                        </a:buClr>
                        <a:buFont typeface="Arial" panose="020B0604020202020204" pitchFamily="34" charset="0"/>
                        <a:buNone/>
                      </a:pPr>
                      <a:endParaRPr lang="zh-CN" altLang="en-US" sz="2400"/>
                    </a:p>
                  </a:txBody>
                  <a:tcPr marL="90000" marR="90000" marT="46800" marB="46800">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r>
              <a:tr h="715963">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en-US" altLang="x-none" sz="2400" dirty="0"/>
                        <a:t>t</a:t>
                      </a:r>
                      <a:r>
                        <a:rPr lang="en-US" altLang="x-none" sz="2400" baseline="-25000" dirty="0"/>
                        <a:t>1</a:t>
                      </a:r>
                      <a:endParaRPr lang="en-US" altLang="x-none" sz="2400" dirty="0"/>
                    </a:p>
                  </a:txBody>
                  <a:tcPr marL="90000" marR="90000" marT="46800" marB="46800">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0000"/>
                        </a:buClr>
                        <a:buFont typeface="Arial" panose="020B0604020202020204" pitchFamily="34" charset="0"/>
                        <a:buNone/>
                      </a:pPr>
                      <a:endParaRPr lang="zh-CN" altLang="en-US" sz="2400"/>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0000"/>
                        </a:buClr>
                        <a:buFont typeface="Arial" panose="020B0604020202020204" pitchFamily="34" charset="0"/>
                        <a:buNone/>
                      </a:pPr>
                      <a:r>
                        <a:rPr lang="zh-CN" altLang="en-US" sz="2400" dirty="0"/>
                        <a:t>对</a:t>
                      </a:r>
                      <a:r>
                        <a:rPr lang="en-US" altLang="x-none" sz="2400" dirty="0"/>
                        <a:t>B</a:t>
                      </a:r>
                      <a:r>
                        <a:rPr lang="zh-CN" altLang="en-US" sz="2400" dirty="0"/>
                        <a:t>加</a:t>
                      </a:r>
                      <a:r>
                        <a:rPr lang="en-US" altLang="x-none" sz="2400" dirty="0"/>
                        <a:t>X</a:t>
                      </a:r>
                      <a:r>
                        <a:rPr lang="zh-CN" altLang="en-US" sz="2400" dirty="0"/>
                        <a:t>锁</a:t>
                      </a:r>
                      <a:endParaRPr lang="zh-CN" altLang="en-US" sz="2400" dirty="0"/>
                    </a:p>
                  </a:txBody>
                  <a:tcPr marL="90000" marR="90000" marT="46800" marB="46800">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r>
              <a:tr h="825500">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en-US" altLang="x-none" sz="2400" dirty="0"/>
                        <a:t>t</a:t>
                      </a:r>
                      <a:r>
                        <a:rPr lang="en-US" altLang="x-none" sz="2400" baseline="-25000" dirty="0"/>
                        <a:t>2</a:t>
                      </a:r>
                      <a:endParaRPr lang="en-US" altLang="x-none" sz="2400" dirty="0"/>
                    </a:p>
                  </a:txBody>
                  <a:tcPr marL="90000" marR="90000" marT="46800" marB="46800">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0000"/>
                        </a:buClr>
                        <a:buFont typeface="Arial" panose="020B0604020202020204" pitchFamily="34" charset="0"/>
                        <a:buNone/>
                      </a:pPr>
                      <a:r>
                        <a:rPr lang="zh-CN" altLang="en-US" sz="2400" dirty="0"/>
                        <a:t>欲对</a:t>
                      </a:r>
                      <a:r>
                        <a:rPr lang="en-US" altLang="x-none" sz="2400" dirty="0"/>
                        <a:t>B</a:t>
                      </a:r>
                      <a:r>
                        <a:rPr lang="zh-CN" altLang="en-US" sz="2400" dirty="0"/>
                        <a:t>申请</a:t>
                      </a:r>
                      <a:r>
                        <a:rPr lang="en-US" altLang="x-none" sz="2400" dirty="0"/>
                        <a:t>S</a:t>
                      </a:r>
                      <a:r>
                        <a:rPr lang="zh-CN" altLang="en-US" sz="2400" dirty="0"/>
                        <a:t>锁</a:t>
                      </a:r>
                      <a:endParaRPr lang="zh-CN" altLang="en-US" sz="2400" dirty="0"/>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0000"/>
                        </a:buClr>
                        <a:buFont typeface="Arial" panose="020B0604020202020204" pitchFamily="34" charset="0"/>
                        <a:buNone/>
                      </a:pPr>
                      <a:endParaRPr lang="zh-CN" altLang="en-US" sz="2400"/>
                    </a:p>
                  </a:txBody>
                  <a:tcPr marL="90000" marR="90000" marT="46800" marB="46800">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r>
              <a:tr h="844550">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en-US" altLang="x-none" sz="2400" dirty="0"/>
                        <a:t>t</a:t>
                      </a:r>
                      <a:r>
                        <a:rPr lang="en-US" altLang="x-none" sz="2400" baseline="-25000" dirty="0"/>
                        <a:t>3</a:t>
                      </a:r>
                      <a:endParaRPr lang="en-US" altLang="x-none" sz="2400" dirty="0"/>
                    </a:p>
                  </a:txBody>
                  <a:tcPr marL="90000" marR="90000" marT="46800" marB="46800">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400"/>
                        <a:t>等待</a:t>
                      </a:r>
                      <a:endParaRPr lang="zh-CN" altLang="en-US" sz="2400"/>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0000"/>
                        </a:buClr>
                        <a:buFont typeface="Arial" panose="020B0604020202020204" pitchFamily="34" charset="0"/>
                        <a:buNone/>
                      </a:pPr>
                      <a:r>
                        <a:rPr lang="zh-CN" altLang="en-US" sz="2400" dirty="0"/>
                        <a:t>欲对</a:t>
                      </a:r>
                      <a:r>
                        <a:rPr lang="en-US" altLang="x-none" sz="2400" dirty="0"/>
                        <a:t>A</a:t>
                      </a:r>
                      <a:r>
                        <a:rPr lang="zh-CN" altLang="en-US" sz="2400" dirty="0"/>
                        <a:t>申请</a:t>
                      </a:r>
                      <a:r>
                        <a:rPr lang="en-US" altLang="x-none" sz="2400" dirty="0"/>
                        <a:t>X</a:t>
                      </a:r>
                      <a:r>
                        <a:rPr lang="zh-CN" altLang="en-US" sz="2400" dirty="0"/>
                        <a:t>锁</a:t>
                      </a:r>
                      <a:endParaRPr lang="zh-CN" altLang="en-US" sz="2400" dirty="0"/>
                    </a:p>
                  </a:txBody>
                  <a:tcPr marL="90000" marR="90000" marT="46800" marB="46800">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r>
              <a:tr h="715962">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en-US" altLang="x-none" sz="2400" dirty="0"/>
                        <a:t>t</a:t>
                      </a:r>
                      <a:r>
                        <a:rPr lang="en-US" altLang="x-none" sz="2400" baseline="-25000" dirty="0"/>
                        <a:t>4</a:t>
                      </a:r>
                      <a:endParaRPr lang="en-US" altLang="x-none" sz="2400" dirty="0"/>
                    </a:p>
                  </a:txBody>
                  <a:tcPr marL="90000" marR="90000" marT="46800" marB="46800">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0000"/>
                        </a:buClr>
                        <a:buFont typeface="Arial" panose="020B0604020202020204" pitchFamily="34" charset="0"/>
                        <a:buNone/>
                      </a:pPr>
                      <a:endParaRPr lang="zh-CN" altLang="en-US" sz="2400"/>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400"/>
                        <a:t>等待</a:t>
                      </a:r>
                      <a:endParaRPr lang="zh-CN" altLang="en-US" sz="2400"/>
                    </a:p>
                  </a:txBody>
                  <a:tcPr marL="90000" marR="90000" marT="46800" marB="46800">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chemeClr val="bg1">
                        <a:alpha val="100000"/>
                      </a:schemeClr>
                    </a:solidFill>
                  </a:tcPr>
                </a:tc>
              </a:tr>
            </a:tbl>
          </a:graphicData>
        </a:graphic>
      </p:graphicFrame>
      <p:sp>
        <p:nvSpPr>
          <p:cNvPr id="5" name="Rectangle 2"/>
          <p:cNvSpPr/>
          <p:nvPr/>
        </p:nvSpPr>
        <p:spPr>
          <a:xfrm>
            <a:off x="561975" y="69215"/>
            <a:ext cx="7924165" cy="692150"/>
          </a:xfrm>
          <a:prstGeom prst="rect">
            <a:avLst/>
          </a:prstGeom>
          <a:noFill/>
          <a:ln w="9525">
            <a:noFill/>
          </a:ln>
        </p:spPr>
        <p:txBody>
          <a:bodyPr anchor="ctr"/>
          <a:lstStyle/>
          <a:p>
            <a:pPr lvl="0" indent="0">
              <a:buFont typeface="Wingdings" panose="05000000000000000000" pitchFamily="2" charset="2"/>
              <a:buNone/>
            </a:pPr>
            <a:r>
              <a:rPr lang="zh-CN" altLang="en-US" sz="3200" dirty="0" smtClean="0">
                <a:solidFill>
                  <a:srgbClr val="0033CC"/>
                </a:solidFill>
                <a:latin typeface="Arial" panose="020B0604020202020204" pitchFamily="34" charset="0"/>
                <a:ea typeface="黑体" panose="02010609060101010101" pitchFamily="1" charset="-122"/>
              </a:rPr>
              <a:t>五、死锁及其预防、检测和处理</a:t>
            </a:r>
            <a:endParaRPr lang="zh-CN" altLang="en-US" sz="3200" dirty="0">
              <a:solidFill>
                <a:srgbClr val="0033CC"/>
              </a:solidFill>
              <a:latin typeface="Arial" panose="020B0604020202020204" pitchFamily="34" charset="0"/>
              <a:ea typeface="黑体" panose="02010609060101010101" pitchFamily="1" charset="-122"/>
            </a:endParaRPr>
          </a:p>
        </p:txBody>
      </p:sp>
    </p:spTree>
  </p:cSld>
  <p:clrMapOvr>
    <a:masterClrMapping/>
  </p:clrMapOvr>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4" name="Text Box 2"/>
          <p:cNvSpPr txBox="1"/>
          <p:nvPr/>
        </p:nvSpPr>
        <p:spPr>
          <a:xfrm>
            <a:off x="561658" y="1391285"/>
            <a:ext cx="8316912" cy="4194810"/>
          </a:xfrm>
          <a:prstGeom prst="rect">
            <a:avLst/>
          </a:prstGeom>
          <a:noFill/>
          <a:ln w="9525">
            <a:noFill/>
          </a:ln>
        </p:spPr>
        <p:txBody>
          <a:bodyPr anchor="t">
            <a:spAutoFit/>
          </a:bodyPr>
          <a:lstStyle/>
          <a:p>
            <a:pPr lvl="0" indent="0">
              <a:lnSpc>
                <a:spcPct val="125000"/>
              </a:lnSpc>
              <a:spcBef>
                <a:spcPts val="800"/>
              </a:spcBef>
              <a:buFont typeface="Wingdings" panose="05000000000000000000" pitchFamily="2" charset="2"/>
              <a:buChar char="u"/>
            </a:pPr>
            <a:r>
              <a:rPr lang="zh-CN" altLang="en-US" sz="2400" u="sng" dirty="0">
                <a:solidFill>
                  <a:srgbClr val="C00000"/>
                </a:solidFill>
                <a:latin typeface="华文楷体" panose="02010600040101010101" pitchFamily="2" charset="-122"/>
                <a:ea typeface="华文楷体" panose="02010600040101010101" pitchFamily="2" charset="-122"/>
                <a:sym typeface="Wingdings" panose="05000000000000000000" pitchFamily="2" charset="2"/>
              </a:rPr>
              <a:t>方法：</a:t>
            </a:r>
            <a:r>
              <a:rPr lang="zh-CN" altLang="en-US" sz="2400" dirty="0">
                <a:solidFill>
                  <a:srgbClr val="A50021"/>
                </a:solidFill>
                <a:latin typeface="华文楷体" panose="02010600040101010101" pitchFamily="2" charset="-122"/>
                <a:ea typeface="华文楷体" panose="02010600040101010101" pitchFamily="2" charset="-122"/>
                <a:sym typeface="Wingdings" panose="05000000000000000000" pitchFamily="2" charset="2"/>
              </a:rPr>
              <a:t>给每个事务一个优先级</a:t>
            </a:r>
            <a:r>
              <a:rPr lang="zh-CN" altLang="en-US" sz="2400" dirty="0">
                <a:latin typeface="华文楷体" panose="02010600040101010101" pitchFamily="2" charset="-122"/>
                <a:ea typeface="华文楷体" panose="02010600040101010101" pitchFamily="2" charset="-122"/>
                <a:sym typeface="Wingdings" panose="05000000000000000000" pitchFamily="2" charset="2"/>
              </a:rPr>
              <a:t>，并禁止低优先级的事务等待高优先级事务，或反之。而事务优先级的设定，是当事务开始执行时，给事务一个时间戳</a:t>
            </a:r>
            <a:r>
              <a:rPr lang="en-US" altLang="x-none" sz="2400" dirty="0">
                <a:latin typeface="华文楷体" panose="02010600040101010101" pitchFamily="2" charset="-122"/>
                <a:ea typeface="华文楷体" panose="02010600040101010101" pitchFamily="2" charset="-122"/>
                <a:sym typeface="Wingdings" panose="05000000000000000000" pitchFamily="2" charset="2"/>
              </a:rPr>
              <a:t>ts</a:t>
            </a:r>
            <a:r>
              <a:rPr lang="zh-CN" altLang="en-US" sz="2400" dirty="0">
                <a:latin typeface="华文楷体" panose="02010600040101010101" pitchFamily="2" charset="-122"/>
                <a:ea typeface="华文楷体" panose="02010600040101010101" pitchFamily="2" charset="-122"/>
                <a:sym typeface="Wingdings" panose="05000000000000000000" pitchFamily="2" charset="2"/>
              </a:rPr>
              <a:t>（</a:t>
            </a:r>
            <a:r>
              <a:rPr lang="en-US" altLang="x-none" sz="2400" dirty="0">
                <a:latin typeface="华文楷体" panose="02010600040101010101" pitchFamily="2" charset="-122"/>
                <a:ea typeface="华文楷体" panose="02010600040101010101" pitchFamily="2" charset="-122"/>
                <a:sym typeface="Wingdings" panose="05000000000000000000" pitchFamily="2" charset="2"/>
              </a:rPr>
              <a:t>Time Stamp</a:t>
            </a:r>
            <a:r>
              <a:rPr lang="zh-CN" altLang="en-US" sz="2400" dirty="0">
                <a:latin typeface="华文楷体" panose="02010600040101010101" pitchFamily="2" charset="-122"/>
                <a:ea typeface="华文楷体" panose="02010600040101010101" pitchFamily="2" charset="-122"/>
                <a:sym typeface="Wingdings" panose="05000000000000000000" pitchFamily="2" charset="2"/>
              </a:rPr>
              <a:t>）来完成。</a:t>
            </a:r>
            <a:endParaRPr lang="zh-CN" altLang="en-US" sz="2400" dirty="0">
              <a:latin typeface="华文楷体" panose="02010600040101010101" pitchFamily="2" charset="-122"/>
              <a:ea typeface="华文楷体" panose="02010600040101010101" pitchFamily="2" charset="-122"/>
              <a:sym typeface="Wingdings" panose="05000000000000000000" pitchFamily="2" charset="2"/>
            </a:endParaRPr>
          </a:p>
          <a:p>
            <a:pPr lvl="0" indent="0">
              <a:lnSpc>
                <a:spcPct val="125000"/>
              </a:lnSpc>
              <a:spcBef>
                <a:spcPts val="800"/>
              </a:spcBef>
              <a:buFont typeface="Wingdings" panose="05000000000000000000" pitchFamily="2" charset="2"/>
              <a:buChar char="u"/>
            </a:pPr>
            <a:r>
              <a:rPr lang="zh-CN" altLang="en-US" sz="2400" u="sng" dirty="0">
                <a:solidFill>
                  <a:srgbClr val="A50021"/>
                </a:solidFill>
                <a:latin typeface="华文楷体" panose="02010600040101010101" pitchFamily="2" charset="-122"/>
                <a:ea typeface="华文楷体" panose="02010600040101010101" pitchFamily="2" charset="-122"/>
                <a:sym typeface="Wingdings" panose="05000000000000000000" pitchFamily="2" charset="2"/>
              </a:rPr>
              <a:t>时间戳：</a:t>
            </a:r>
            <a:r>
              <a:rPr lang="zh-CN" altLang="en-US" sz="2400" dirty="0">
                <a:latin typeface="华文楷体" panose="02010600040101010101" pitchFamily="2" charset="-122"/>
                <a:ea typeface="华文楷体" panose="02010600040101010101" pitchFamily="2" charset="-122"/>
                <a:sym typeface="Wingdings" panose="05000000000000000000" pitchFamily="2" charset="2"/>
              </a:rPr>
              <a:t>是一个惟一的、随时间增长的整数。</a:t>
            </a:r>
            <a:endParaRPr lang="zh-CN" altLang="en-US" sz="2400" dirty="0">
              <a:latin typeface="华文楷体" panose="02010600040101010101" pitchFamily="2" charset="-122"/>
              <a:ea typeface="华文楷体" panose="02010600040101010101" pitchFamily="2" charset="-122"/>
              <a:sym typeface="Wingdings" panose="05000000000000000000" pitchFamily="2" charset="2"/>
            </a:endParaRPr>
          </a:p>
          <a:p>
            <a:pPr lvl="0" indent="0">
              <a:lnSpc>
                <a:spcPct val="125000"/>
              </a:lnSpc>
              <a:spcBef>
                <a:spcPts val="800"/>
              </a:spcBef>
              <a:buFont typeface="Wingdings" panose="05000000000000000000" pitchFamily="2" charset="2"/>
              <a:buChar char="u"/>
            </a:pPr>
            <a:r>
              <a:rPr lang="zh-CN" altLang="en-US" sz="2400" u="sng" dirty="0">
                <a:solidFill>
                  <a:srgbClr val="A50021"/>
                </a:solidFill>
                <a:latin typeface="华文楷体" panose="02010600040101010101" pitchFamily="2" charset="-122"/>
                <a:ea typeface="华文楷体" panose="02010600040101010101" pitchFamily="2" charset="-122"/>
                <a:sym typeface="Wingdings" panose="05000000000000000000" pitchFamily="2" charset="2"/>
              </a:rPr>
              <a:t>事务优先级</a:t>
            </a:r>
            <a:r>
              <a:rPr lang="zh-CN" altLang="en-US" sz="2400" u="sng" dirty="0">
                <a:latin typeface="华文楷体" panose="02010600040101010101" pitchFamily="2" charset="-122"/>
                <a:ea typeface="华文楷体" panose="02010600040101010101" pitchFamily="2" charset="-122"/>
                <a:sym typeface="Wingdings" panose="05000000000000000000" pitchFamily="2" charset="2"/>
              </a:rPr>
              <a:t>：</a:t>
            </a:r>
            <a:r>
              <a:rPr lang="zh-CN" altLang="en-US" sz="2400" dirty="0">
                <a:latin typeface="华文楷体" panose="02010600040101010101" pitchFamily="2" charset="-122"/>
                <a:ea typeface="华文楷体" panose="02010600040101010101" pitchFamily="2" charset="-122"/>
                <a:sym typeface="Wingdings" panose="05000000000000000000" pitchFamily="2" charset="2"/>
              </a:rPr>
              <a:t>时间戳越前，事务的优先级越高，也就是说越老的事务，其优先级越高。 </a:t>
            </a:r>
            <a:endParaRPr lang="zh-CN" altLang="en-US" sz="2400" dirty="0">
              <a:latin typeface="华文楷体" panose="02010600040101010101" pitchFamily="2" charset="-122"/>
              <a:ea typeface="华文楷体" panose="02010600040101010101" pitchFamily="2" charset="-122"/>
              <a:sym typeface="Wingdings" panose="05000000000000000000" pitchFamily="2" charset="2"/>
            </a:endParaRPr>
          </a:p>
          <a:p>
            <a:pPr marL="179705" lvl="1" indent="0">
              <a:lnSpc>
                <a:spcPct val="125000"/>
              </a:lnSpc>
              <a:spcBef>
                <a:spcPts val="800"/>
              </a:spcBef>
              <a:spcAft>
                <a:spcPts val="0"/>
              </a:spcAft>
            </a:pPr>
            <a:r>
              <a:rPr lang="zh-CN" altLang="en-US" sz="2400" dirty="0">
                <a:latin typeface="华文楷体" panose="02010600040101010101" pitchFamily="2" charset="-122"/>
                <a:ea typeface="华文楷体" panose="02010600040101010101" pitchFamily="2" charset="-122"/>
                <a:sym typeface="Wingdings" panose="05000000000000000000" pitchFamily="2" charset="2"/>
              </a:rPr>
              <a:t>示例：有两个事务</a:t>
            </a:r>
            <a:r>
              <a:rPr lang="en-US" altLang="x-none" sz="2400" dirty="0">
                <a:latin typeface="华文楷体" panose="02010600040101010101" pitchFamily="2" charset="-122"/>
                <a:ea typeface="华文楷体" panose="02010600040101010101" pitchFamily="2" charset="-122"/>
                <a:sym typeface="Wingdings" panose="05000000000000000000" pitchFamily="2" charset="2"/>
              </a:rPr>
              <a:t>T</a:t>
            </a:r>
            <a:r>
              <a:rPr lang="en-US" altLang="x-none" sz="2400" baseline="-25000" dirty="0">
                <a:latin typeface="华文楷体" panose="02010600040101010101" pitchFamily="2" charset="-122"/>
                <a:ea typeface="华文楷体" panose="02010600040101010101" pitchFamily="2" charset="-122"/>
                <a:sym typeface="Wingdings" panose="05000000000000000000" pitchFamily="2" charset="2"/>
              </a:rPr>
              <a:t>A</a:t>
            </a:r>
            <a:r>
              <a:rPr lang="zh-CN" altLang="en-US" sz="2400" dirty="0">
                <a:latin typeface="华文楷体" panose="02010600040101010101" pitchFamily="2" charset="-122"/>
                <a:ea typeface="华文楷体" panose="02010600040101010101" pitchFamily="2" charset="-122"/>
                <a:sym typeface="Wingdings" panose="05000000000000000000" pitchFamily="2" charset="2"/>
              </a:rPr>
              <a:t>和</a:t>
            </a:r>
            <a:r>
              <a:rPr lang="en-US" altLang="x-none" sz="2400" dirty="0">
                <a:latin typeface="华文楷体" panose="02010600040101010101" pitchFamily="2" charset="-122"/>
                <a:ea typeface="华文楷体" panose="02010600040101010101" pitchFamily="2" charset="-122"/>
                <a:sym typeface="Wingdings" panose="05000000000000000000" pitchFamily="2" charset="2"/>
              </a:rPr>
              <a:t>T</a:t>
            </a:r>
            <a:r>
              <a:rPr lang="en-US" altLang="x-none" sz="2400" baseline="-25000" dirty="0">
                <a:latin typeface="华文楷体" panose="02010600040101010101" pitchFamily="2" charset="-122"/>
                <a:ea typeface="华文楷体" panose="02010600040101010101" pitchFamily="2" charset="-122"/>
                <a:sym typeface="Wingdings" panose="05000000000000000000" pitchFamily="2" charset="2"/>
              </a:rPr>
              <a:t>B</a:t>
            </a:r>
            <a:r>
              <a:rPr lang="zh-CN" altLang="en-US" sz="2400" dirty="0">
                <a:latin typeface="华文楷体" panose="02010600040101010101" pitchFamily="2" charset="-122"/>
                <a:ea typeface="华文楷体" panose="02010600040101010101" pitchFamily="2" charset="-122"/>
                <a:sym typeface="Wingdings" panose="05000000000000000000" pitchFamily="2" charset="2"/>
              </a:rPr>
              <a:t>，如</a:t>
            </a:r>
            <a:r>
              <a:rPr lang="en-US" altLang="x-none" sz="2400" dirty="0">
                <a:latin typeface="华文楷体" panose="02010600040101010101" pitchFamily="2" charset="-122"/>
                <a:ea typeface="华文楷体" panose="02010600040101010101" pitchFamily="2" charset="-122"/>
                <a:sym typeface="Wingdings" panose="05000000000000000000" pitchFamily="2" charset="2"/>
              </a:rPr>
              <a:t>ts(T</a:t>
            </a:r>
            <a:r>
              <a:rPr lang="en-US" altLang="x-none" sz="2400" baseline="-25000" dirty="0">
                <a:latin typeface="华文楷体" panose="02010600040101010101" pitchFamily="2" charset="-122"/>
                <a:ea typeface="华文楷体" panose="02010600040101010101" pitchFamily="2" charset="-122"/>
                <a:sym typeface="Wingdings" panose="05000000000000000000" pitchFamily="2" charset="2"/>
              </a:rPr>
              <a:t>A</a:t>
            </a:r>
            <a:r>
              <a:rPr lang="en-US" altLang="x-none" sz="2400" dirty="0">
                <a:latin typeface="华文楷体" panose="02010600040101010101" pitchFamily="2" charset="-122"/>
                <a:ea typeface="华文楷体" panose="02010600040101010101" pitchFamily="2" charset="-122"/>
                <a:sym typeface="Wingdings" panose="05000000000000000000" pitchFamily="2" charset="2"/>
              </a:rPr>
              <a:t>)</a:t>
            </a:r>
            <a:r>
              <a:rPr lang="en-US" altLang="zh-CN" sz="2400" dirty="0">
                <a:latin typeface="华文楷体" panose="02010600040101010101" pitchFamily="2" charset="-122"/>
                <a:ea typeface="华文楷体" panose="02010600040101010101" pitchFamily="2" charset="-122"/>
                <a:sym typeface="Wingdings" panose="05000000000000000000" pitchFamily="2" charset="2"/>
              </a:rPr>
              <a:t>&gt;</a:t>
            </a:r>
            <a:r>
              <a:rPr lang="en-US" altLang="x-none" sz="2400" dirty="0">
                <a:latin typeface="华文楷体" panose="02010600040101010101" pitchFamily="2" charset="-122"/>
                <a:ea typeface="华文楷体" panose="02010600040101010101" pitchFamily="2" charset="-122"/>
                <a:sym typeface="Wingdings" panose="05000000000000000000" pitchFamily="2" charset="2"/>
              </a:rPr>
              <a:t>ts(T</a:t>
            </a:r>
            <a:r>
              <a:rPr lang="en-US" altLang="x-none" sz="2400" baseline="-25000" dirty="0">
                <a:latin typeface="华文楷体" panose="02010600040101010101" pitchFamily="2" charset="-122"/>
                <a:ea typeface="华文楷体" panose="02010600040101010101" pitchFamily="2" charset="-122"/>
                <a:sym typeface="Wingdings" panose="05000000000000000000" pitchFamily="2" charset="2"/>
              </a:rPr>
              <a:t>B</a:t>
            </a:r>
            <a:r>
              <a:rPr lang="en-US" altLang="x-none" sz="2400" dirty="0">
                <a:latin typeface="华文楷体" panose="02010600040101010101" pitchFamily="2" charset="-122"/>
                <a:ea typeface="华文楷体" panose="02010600040101010101" pitchFamily="2" charset="-122"/>
                <a:sym typeface="Wingdings" panose="05000000000000000000" pitchFamily="2" charset="2"/>
              </a:rPr>
              <a:t>)</a:t>
            </a:r>
            <a:r>
              <a:rPr lang="zh-CN" altLang="en-US" sz="2400" dirty="0">
                <a:latin typeface="华文楷体" panose="02010600040101010101" pitchFamily="2" charset="-122"/>
                <a:ea typeface="华文楷体" panose="02010600040101010101" pitchFamily="2" charset="-122"/>
                <a:sym typeface="Wingdings" panose="05000000000000000000" pitchFamily="2" charset="2"/>
              </a:rPr>
              <a:t>，</a:t>
            </a:r>
            <a:endParaRPr lang="zh-CN" altLang="en-US" sz="2400" dirty="0">
              <a:latin typeface="华文楷体" panose="02010600040101010101" pitchFamily="2" charset="-122"/>
              <a:ea typeface="华文楷体" panose="02010600040101010101" pitchFamily="2" charset="-122"/>
              <a:sym typeface="Wingdings" panose="05000000000000000000" pitchFamily="2" charset="2"/>
            </a:endParaRPr>
          </a:p>
          <a:p>
            <a:pPr marL="179705" lvl="1" indent="0">
              <a:lnSpc>
                <a:spcPct val="125000"/>
              </a:lnSpc>
              <a:spcBef>
                <a:spcPts val="800"/>
              </a:spcBef>
              <a:spcAft>
                <a:spcPts val="0"/>
              </a:spcAft>
            </a:pPr>
            <a:r>
              <a:rPr lang="zh-CN" altLang="en-US" sz="2400" dirty="0">
                <a:latin typeface="华文楷体" panose="02010600040101010101" pitchFamily="2" charset="-122"/>
                <a:ea typeface="华文楷体" panose="02010600040101010101" pitchFamily="2" charset="-122"/>
                <a:sym typeface="Wingdings" panose="05000000000000000000" pitchFamily="2" charset="2"/>
              </a:rPr>
              <a:t>则表示</a:t>
            </a:r>
            <a:r>
              <a:rPr lang="en-US" altLang="x-none" sz="2400" dirty="0">
                <a:latin typeface="华文楷体" panose="02010600040101010101" pitchFamily="2" charset="-122"/>
                <a:ea typeface="华文楷体" panose="02010600040101010101" pitchFamily="2" charset="-122"/>
                <a:sym typeface="Wingdings" panose="05000000000000000000" pitchFamily="2" charset="2"/>
              </a:rPr>
              <a:t>T</a:t>
            </a:r>
            <a:r>
              <a:rPr lang="en-US" altLang="x-none" sz="2400" baseline="-25000" dirty="0">
                <a:latin typeface="华文楷体" panose="02010600040101010101" pitchFamily="2" charset="-122"/>
                <a:ea typeface="华文楷体" panose="02010600040101010101" pitchFamily="2" charset="-122"/>
                <a:sym typeface="Wingdings" panose="05000000000000000000" pitchFamily="2" charset="2"/>
              </a:rPr>
              <a:t>A</a:t>
            </a:r>
            <a:r>
              <a:rPr lang="zh-CN" altLang="en-US" sz="2400" dirty="0">
                <a:latin typeface="华文楷体" panose="02010600040101010101" pitchFamily="2" charset="-122"/>
                <a:ea typeface="华文楷体" panose="02010600040101010101" pitchFamily="2" charset="-122"/>
                <a:sym typeface="Wingdings" panose="05000000000000000000" pitchFamily="2" charset="2"/>
              </a:rPr>
              <a:t>早于</a:t>
            </a:r>
            <a:r>
              <a:rPr lang="en-US" altLang="x-none" sz="2400" dirty="0">
                <a:latin typeface="华文楷体" panose="02010600040101010101" pitchFamily="2" charset="-122"/>
                <a:ea typeface="华文楷体" panose="02010600040101010101" pitchFamily="2" charset="-122"/>
                <a:sym typeface="Wingdings" panose="05000000000000000000" pitchFamily="2" charset="2"/>
              </a:rPr>
              <a:t>T</a:t>
            </a:r>
            <a:r>
              <a:rPr lang="en-US" altLang="x-none" sz="2400" baseline="-25000" dirty="0">
                <a:latin typeface="华文楷体" panose="02010600040101010101" pitchFamily="2" charset="-122"/>
                <a:ea typeface="华文楷体" panose="02010600040101010101" pitchFamily="2" charset="-122"/>
                <a:sym typeface="Wingdings" panose="05000000000000000000" pitchFamily="2" charset="2"/>
              </a:rPr>
              <a:t>B</a:t>
            </a:r>
            <a:r>
              <a:rPr lang="zh-CN" altLang="en-US" sz="2400" dirty="0">
                <a:latin typeface="华文楷体" panose="02010600040101010101" pitchFamily="2" charset="-122"/>
                <a:ea typeface="华文楷体" panose="02010600040101010101" pitchFamily="2" charset="-122"/>
                <a:sym typeface="Wingdings" panose="05000000000000000000" pitchFamily="2" charset="2"/>
              </a:rPr>
              <a:t>， </a:t>
            </a:r>
            <a:r>
              <a:rPr lang="en-US" altLang="x-none" sz="2400" dirty="0">
                <a:latin typeface="华文楷体" panose="02010600040101010101" pitchFamily="2" charset="-122"/>
                <a:ea typeface="华文楷体" panose="02010600040101010101" pitchFamily="2" charset="-122"/>
                <a:sym typeface="Wingdings" panose="05000000000000000000" pitchFamily="2" charset="2"/>
              </a:rPr>
              <a:t>T</a:t>
            </a:r>
            <a:r>
              <a:rPr lang="en-US" altLang="x-none" sz="2400" baseline="-25000" dirty="0">
                <a:latin typeface="华文楷体" panose="02010600040101010101" pitchFamily="2" charset="-122"/>
                <a:ea typeface="华文楷体" panose="02010600040101010101" pitchFamily="2" charset="-122"/>
                <a:sym typeface="Wingdings" panose="05000000000000000000" pitchFamily="2" charset="2"/>
              </a:rPr>
              <a:t>A</a:t>
            </a:r>
            <a:r>
              <a:rPr lang="zh-CN" altLang="en-US" sz="2400" dirty="0">
                <a:latin typeface="华文楷体" panose="02010600040101010101" pitchFamily="2" charset="-122"/>
                <a:ea typeface="华文楷体" panose="02010600040101010101" pitchFamily="2" charset="-122"/>
                <a:sym typeface="Wingdings" panose="05000000000000000000" pitchFamily="2" charset="2"/>
              </a:rPr>
              <a:t>优先级高。</a:t>
            </a:r>
            <a:endParaRPr lang="zh-CN" altLang="en-US" sz="2400" dirty="0">
              <a:latin typeface="华文楷体" panose="02010600040101010101" pitchFamily="2" charset="-122"/>
              <a:ea typeface="华文楷体" panose="02010600040101010101" pitchFamily="2" charset="-122"/>
              <a:sym typeface="Wingdings" panose="05000000000000000000" pitchFamily="2" charset="2"/>
            </a:endParaRPr>
          </a:p>
        </p:txBody>
      </p:sp>
      <p:sp>
        <p:nvSpPr>
          <p:cNvPr id="129026" name="Rectangle 3"/>
          <p:cNvSpPr txBox="1"/>
          <p:nvPr/>
        </p:nvSpPr>
        <p:spPr>
          <a:xfrm>
            <a:off x="517525" y="838200"/>
            <a:ext cx="7178675" cy="706438"/>
          </a:xfrm>
          <a:prstGeom prst="rect">
            <a:avLst/>
          </a:prstGeom>
          <a:noFill/>
          <a:ln w="9525">
            <a:noFill/>
          </a:ln>
        </p:spPr>
        <p:txBody>
          <a:bodyPr anchor="t"/>
          <a:lstStyle/>
          <a:p>
            <a:pPr lvl="0" indent="0" eaLnBrk="0" hangingPunct="0"/>
            <a:r>
              <a:rPr lang="en-US" altLang="x-none" sz="2800" dirty="0">
                <a:solidFill>
                  <a:srgbClr val="FF0000"/>
                </a:solidFill>
                <a:latin typeface="黑体" panose="02010609060101010101" pitchFamily="1" charset="-122"/>
                <a:ea typeface="黑体" panose="02010609060101010101" pitchFamily="1" charset="-122"/>
              </a:rPr>
              <a:t>2</a:t>
            </a:r>
            <a:r>
              <a:rPr lang="zh-CN" altLang="en-US" sz="2800" dirty="0">
                <a:solidFill>
                  <a:srgbClr val="FF0000"/>
                </a:solidFill>
                <a:latin typeface="黑体" panose="02010609060101010101" pitchFamily="1" charset="-122"/>
                <a:ea typeface="黑体" panose="02010609060101010101" pitchFamily="1" charset="-122"/>
              </a:rPr>
              <a:t>、死锁的预防</a:t>
            </a:r>
            <a:endParaRPr lang="en-US" altLang="x-none" sz="2800" dirty="0">
              <a:solidFill>
                <a:srgbClr val="FF0000"/>
              </a:solidFill>
              <a:latin typeface="黑体" panose="02010609060101010101" pitchFamily="1" charset="-122"/>
              <a:ea typeface="黑体" panose="02010609060101010101" pitchFamily="1" charset="-122"/>
            </a:endParaRPr>
          </a:p>
        </p:txBody>
      </p:sp>
      <p:sp>
        <p:nvSpPr>
          <p:cNvPr id="5" name="Rectangle 2"/>
          <p:cNvSpPr/>
          <p:nvPr/>
        </p:nvSpPr>
        <p:spPr>
          <a:xfrm>
            <a:off x="561975" y="69215"/>
            <a:ext cx="7924165" cy="692150"/>
          </a:xfrm>
          <a:prstGeom prst="rect">
            <a:avLst/>
          </a:prstGeom>
          <a:noFill/>
          <a:ln w="9525">
            <a:noFill/>
          </a:ln>
        </p:spPr>
        <p:txBody>
          <a:bodyPr anchor="ctr"/>
          <a:lstStyle/>
          <a:p>
            <a:pPr lvl="0" indent="0">
              <a:buFont typeface="Wingdings" panose="05000000000000000000" pitchFamily="2" charset="2"/>
              <a:buNone/>
            </a:pPr>
            <a:r>
              <a:rPr lang="zh-CN" altLang="en-US" sz="3200" dirty="0" smtClean="0">
                <a:solidFill>
                  <a:srgbClr val="0033CC"/>
                </a:solidFill>
                <a:latin typeface="Arial" panose="020B0604020202020204" pitchFamily="34" charset="0"/>
                <a:ea typeface="黑体" panose="02010609060101010101" pitchFamily="1" charset="-122"/>
              </a:rPr>
              <a:t>五、死锁及其预防、检测和处理</a:t>
            </a:r>
            <a:endParaRPr lang="zh-CN" altLang="en-US" sz="3200" dirty="0">
              <a:solidFill>
                <a:srgbClr val="0033CC"/>
              </a:solidFill>
              <a:latin typeface="Arial" panose="020B0604020202020204" pitchFamily="34" charset="0"/>
              <a:ea typeface="黑体" panose="02010609060101010101" pitchFamily="1"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133124">
                                            <p:txEl>
                                              <p:pRg st="0" end="0"/>
                                            </p:txEl>
                                          </p:spTgt>
                                        </p:tgtEl>
                                        <p:attrNameLst>
                                          <p:attrName>style.visibility</p:attrName>
                                        </p:attrNameLst>
                                      </p:cBhvr>
                                      <p:to>
                                        <p:strVal val="visible"/>
                                      </p:to>
                                    </p:set>
                                    <p:animEffect transition="in" filter="checkerboard(across)">
                                      <p:cBhvr>
                                        <p:cTn id="7" dur="500"/>
                                        <p:tgtEl>
                                          <p:spTgt spid="133124">
                                            <p:txEl>
                                              <p:pRg st="0" end="0"/>
                                            </p:txEl>
                                          </p:spTgt>
                                        </p:tgtEl>
                                      </p:cBhvr>
                                    </p:animEffect>
                                  </p:childTnLst>
                                </p:cTn>
                              </p:par>
                              <p:par>
                                <p:cTn id="8" presetID="5" presetClass="entr" presetSubtype="10" fill="hold" grpId="0" nodeType="withEffect">
                                  <p:stCondLst>
                                    <p:cond delay="0"/>
                                  </p:stCondLst>
                                  <p:childTnLst>
                                    <p:set>
                                      <p:cBhvr>
                                        <p:cTn id="9" dur="1" fill="hold">
                                          <p:stCondLst>
                                            <p:cond delay="0"/>
                                          </p:stCondLst>
                                        </p:cTn>
                                        <p:tgtEl>
                                          <p:spTgt spid="133124">
                                            <p:txEl>
                                              <p:pRg st="1" end="1"/>
                                            </p:txEl>
                                          </p:spTgt>
                                        </p:tgtEl>
                                        <p:attrNameLst>
                                          <p:attrName>style.visibility</p:attrName>
                                        </p:attrNameLst>
                                      </p:cBhvr>
                                      <p:to>
                                        <p:strVal val="visible"/>
                                      </p:to>
                                    </p:set>
                                    <p:animEffect transition="in" filter="checkerboard(across)">
                                      <p:cBhvr>
                                        <p:cTn id="10" dur="500"/>
                                        <p:tgtEl>
                                          <p:spTgt spid="133124">
                                            <p:txEl>
                                              <p:pRg st="1" end="1"/>
                                            </p:txEl>
                                          </p:spTgt>
                                        </p:tgtEl>
                                      </p:cBhvr>
                                    </p:animEffect>
                                  </p:childTnLst>
                                </p:cTn>
                              </p:par>
                              <p:par>
                                <p:cTn id="11" presetID="5" presetClass="entr" presetSubtype="10" fill="hold" grpId="0" nodeType="withEffect">
                                  <p:stCondLst>
                                    <p:cond delay="0"/>
                                  </p:stCondLst>
                                  <p:childTnLst>
                                    <p:set>
                                      <p:cBhvr>
                                        <p:cTn id="12" dur="1" fill="hold">
                                          <p:stCondLst>
                                            <p:cond delay="0"/>
                                          </p:stCondLst>
                                        </p:cTn>
                                        <p:tgtEl>
                                          <p:spTgt spid="133124">
                                            <p:txEl>
                                              <p:pRg st="2" end="2"/>
                                            </p:txEl>
                                          </p:spTgt>
                                        </p:tgtEl>
                                        <p:attrNameLst>
                                          <p:attrName>style.visibility</p:attrName>
                                        </p:attrNameLst>
                                      </p:cBhvr>
                                      <p:to>
                                        <p:strVal val="visible"/>
                                      </p:to>
                                    </p:set>
                                    <p:animEffect transition="in" filter="checkerboard(across)">
                                      <p:cBhvr>
                                        <p:cTn id="13" dur="500"/>
                                        <p:tgtEl>
                                          <p:spTgt spid="133124">
                                            <p:txEl>
                                              <p:pRg st="2" end="2"/>
                                            </p:txEl>
                                          </p:spTgt>
                                        </p:tgtEl>
                                      </p:cBhvr>
                                    </p:animEffect>
                                  </p:childTnLst>
                                </p:cTn>
                              </p:par>
                              <p:par>
                                <p:cTn id="14" presetID="5" presetClass="entr" presetSubtype="10" fill="hold" grpId="0" nodeType="withEffect">
                                  <p:stCondLst>
                                    <p:cond delay="0"/>
                                  </p:stCondLst>
                                  <p:childTnLst>
                                    <p:set>
                                      <p:cBhvr>
                                        <p:cTn id="15" dur="1" fill="hold">
                                          <p:stCondLst>
                                            <p:cond delay="0"/>
                                          </p:stCondLst>
                                        </p:cTn>
                                        <p:tgtEl>
                                          <p:spTgt spid="133124">
                                            <p:txEl>
                                              <p:pRg st="3" end="3"/>
                                            </p:txEl>
                                          </p:spTgt>
                                        </p:tgtEl>
                                        <p:attrNameLst>
                                          <p:attrName>style.visibility</p:attrName>
                                        </p:attrNameLst>
                                      </p:cBhvr>
                                      <p:to>
                                        <p:strVal val="visible"/>
                                      </p:to>
                                    </p:set>
                                    <p:animEffect transition="in" filter="checkerboard(across)">
                                      <p:cBhvr>
                                        <p:cTn id="16" dur="500"/>
                                        <p:tgtEl>
                                          <p:spTgt spid="133124">
                                            <p:txEl>
                                              <p:pRg st="3" end="3"/>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4" fill="hold" nodeType="clickEffect">
                                  <p:stCondLst>
                                    <p:cond delay="0"/>
                                  </p:stCondLst>
                                  <p:childTnLst>
                                    <p:set>
                                      <p:cBhvr>
                                        <p:cTn id="20" dur="1" fill="hold">
                                          <p:stCondLst>
                                            <p:cond delay="0"/>
                                          </p:stCondLst>
                                        </p:cTn>
                                        <p:tgtEl>
                                          <p:spTgt spid="133124">
                                            <p:txEl>
                                              <p:pRg st="4" end="4"/>
                                            </p:txEl>
                                          </p:spTgt>
                                        </p:tgtEl>
                                        <p:attrNameLst>
                                          <p:attrName>style.visibility</p:attrName>
                                        </p:attrNameLst>
                                      </p:cBhvr>
                                      <p:to>
                                        <p:strVal val="visible"/>
                                      </p:to>
                                    </p:set>
                                    <p:animEffect transition="in" filter="wipe(down)">
                                      <p:cBhvr>
                                        <p:cTn id="21" dur="500"/>
                                        <p:tgtEl>
                                          <p:spTgt spid="133124">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124" grpId="0" uiExpand="1" build="allAtOnce"/>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5" name="Rectangle 3"/>
          <p:cNvSpPr txBox="1"/>
          <p:nvPr/>
        </p:nvSpPr>
        <p:spPr>
          <a:xfrm>
            <a:off x="587375" y="1348105"/>
            <a:ext cx="8096885" cy="863600"/>
          </a:xfrm>
          <a:prstGeom prst="rect">
            <a:avLst/>
          </a:prstGeom>
          <a:noFill/>
          <a:ln w="9525">
            <a:noFill/>
          </a:ln>
        </p:spPr>
        <p:txBody>
          <a:bodyPr anchor="t"/>
          <a:lstStyle/>
          <a:p>
            <a:pPr lvl="0" indent="0" eaLnBrk="0" hangingPunct="0">
              <a:lnSpc>
                <a:spcPct val="110000"/>
              </a:lnSpc>
              <a:spcBef>
                <a:spcPts val="0"/>
              </a:spcBef>
              <a:buClr>
                <a:srgbClr val="0033CC"/>
              </a:buClr>
              <a:buSzPct val="80000"/>
            </a:pPr>
            <a:r>
              <a:rPr lang="zh-CN" altLang="en-US" sz="2400" dirty="0">
                <a:solidFill>
                  <a:srgbClr val="CC3300"/>
                </a:solidFill>
                <a:latin typeface="华文楷体" panose="02010600040101010101" pitchFamily="2" charset="-122"/>
                <a:ea typeface="宋体" panose="02010600030101010101" pitchFamily="2" charset="-122"/>
                <a:sym typeface="Wingdings" panose="05000000000000000000" pitchFamily="2" charset="2"/>
              </a:rPr>
              <a:t>死锁预防的一种策略：</a:t>
            </a:r>
            <a:r>
              <a:rPr lang="zh-CN" altLang="en-US" sz="2400" dirty="0">
                <a:latin typeface="华文楷体" panose="02010600040101010101" pitchFamily="2" charset="-122"/>
                <a:ea typeface="宋体" panose="02010600030101010101" pitchFamily="2" charset="-122"/>
                <a:sym typeface="Wingdings" panose="05000000000000000000" pitchFamily="2" charset="2"/>
              </a:rPr>
              <a:t>等待</a:t>
            </a:r>
            <a:r>
              <a:rPr lang="en-US" altLang="x-none" sz="2400" dirty="0">
                <a:latin typeface="华文楷体" panose="02010600040101010101" pitchFamily="2" charset="-122"/>
                <a:ea typeface="宋体" panose="02010600030101010101" pitchFamily="2" charset="-122"/>
                <a:sym typeface="Wingdings" panose="05000000000000000000" pitchFamily="2" charset="2"/>
              </a:rPr>
              <a:t>—</a:t>
            </a:r>
            <a:r>
              <a:rPr lang="zh-CN" altLang="en-US" sz="2400" dirty="0">
                <a:latin typeface="华文楷体" panose="02010600040101010101" pitchFamily="2" charset="-122"/>
                <a:ea typeface="宋体" panose="02010600030101010101" pitchFamily="2" charset="-122"/>
                <a:sym typeface="Wingdings" panose="05000000000000000000" pitchFamily="2" charset="2"/>
              </a:rPr>
              <a:t>死亡（</a:t>
            </a:r>
            <a:r>
              <a:rPr lang="en-US" altLang="x-none" sz="2400" dirty="0">
                <a:latin typeface="华文楷体" panose="02010600040101010101" pitchFamily="2" charset="-122"/>
                <a:ea typeface="宋体" panose="02010600030101010101" pitchFamily="2" charset="-122"/>
                <a:sym typeface="Wingdings" panose="05000000000000000000" pitchFamily="2" charset="2"/>
              </a:rPr>
              <a:t>Wait-Die</a:t>
            </a:r>
            <a:r>
              <a:rPr lang="zh-CN" altLang="en-US" sz="2400" dirty="0">
                <a:latin typeface="华文楷体" panose="02010600040101010101" pitchFamily="2" charset="-122"/>
                <a:ea typeface="宋体" panose="02010600030101010101" pitchFamily="2" charset="-122"/>
                <a:sym typeface="Wingdings" panose="05000000000000000000" pitchFamily="2" charset="2"/>
              </a:rPr>
              <a:t>）策略；</a:t>
            </a:r>
            <a:endParaRPr lang="zh-CN" altLang="en-US" sz="2400" dirty="0">
              <a:latin typeface="华文楷体" panose="02010600040101010101" pitchFamily="2" charset="-122"/>
              <a:ea typeface="宋体" panose="02010600030101010101" pitchFamily="2" charset="-122"/>
              <a:sym typeface="Wingdings" panose="05000000000000000000" pitchFamily="2" charset="2"/>
            </a:endParaRPr>
          </a:p>
          <a:p>
            <a:pPr lvl="0" indent="0" eaLnBrk="0" hangingPunct="0">
              <a:lnSpc>
                <a:spcPct val="110000"/>
              </a:lnSpc>
              <a:spcBef>
                <a:spcPts val="0"/>
              </a:spcBef>
              <a:buClr>
                <a:srgbClr val="0033CC"/>
              </a:buClr>
              <a:buSzPct val="80000"/>
            </a:pPr>
            <a:r>
              <a:rPr lang="zh-CN" altLang="en-US" sz="2200" dirty="0">
                <a:latin typeface="华文楷体" panose="02010600040101010101" pitchFamily="2" charset="-122"/>
                <a:ea typeface="宋体" panose="02010600030101010101" pitchFamily="2" charset="-122"/>
                <a:sym typeface="Wingdings" panose="05000000000000000000" pitchFamily="2" charset="2"/>
              </a:rPr>
              <a:t>设</a:t>
            </a:r>
            <a:r>
              <a:rPr lang="en-US" altLang="zh-CN" sz="2200" dirty="0">
                <a:latin typeface="华文楷体" panose="02010600040101010101" pitchFamily="2" charset="-122"/>
                <a:ea typeface="宋体" panose="02010600030101010101" pitchFamily="2" charset="-122"/>
                <a:sym typeface="Wingdings" panose="05000000000000000000" pitchFamily="2" charset="2"/>
              </a:rPr>
              <a:t>T</a:t>
            </a:r>
            <a:r>
              <a:rPr lang="en-US" altLang="x-none" sz="2200" baseline="-25000" dirty="0">
                <a:latin typeface="华文楷体" panose="02010600040101010101" pitchFamily="2" charset="-122"/>
                <a:ea typeface="宋体" panose="02010600030101010101" pitchFamily="2" charset="-122"/>
                <a:sym typeface="Wingdings" panose="05000000000000000000" pitchFamily="2" charset="2"/>
              </a:rPr>
              <a:t>B</a:t>
            </a:r>
            <a:r>
              <a:rPr lang="zh-CN" altLang="en-US" sz="2200" dirty="0">
                <a:latin typeface="华文楷体" panose="02010600040101010101" pitchFamily="2" charset="-122"/>
                <a:ea typeface="宋体" panose="02010600030101010101" pitchFamily="2" charset="-122"/>
                <a:sym typeface="Wingdings" panose="05000000000000000000" pitchFamily="2" charset="2"/>
              </a:rPr>
              <a:t>已持有某数据对象的锁，现在</a:t>
            </a:r>
            <a:r>
              <a:rPr lang="en-US" altLang="x-none" sz="2200" dirty="0">
                <a:latin typeface="华文楷体" panose="02010600040101010101" pitchFamily="2" charset="-122"/>
                <a:ea typeface="宋体" panose="02010600030101010101" pitchFamily="2" charset="-122"/>
                <a:sym typeface="Wingdings" panose="05000000000000000000" pitchFamily="2" charset="2"/>
              </a:rPr>
              <a:t>T</a:t>
            </a:r>
            <a:r>
              <a:rPr lang="en-US" altLang="x-none" sz="2200" baseline="-25000" dirty="0">
                <a:latin typeface="华文楷体" panose="02010600040101010101" pitchFamily="2" charset="-122"/>
                <a:ea typeface="宋体" panose="02010600030101010101" pitchFamily="2" charset="-122"/>
                <a:sym typeface="Wingdings" panose="05000000000000000000" pitchFamily="2" charset="2"/>
              </a:rPr>
              <a:t>A</a:t>
            </a:r>
            <a:r>
              <a:rPr lang="zh-CN" altLang="en-US" sz="2200" dirty="0">
                <a:latin typeface="华文楷体" panose="02010600040101010101" pitchFamily="2" charset="-122"/>
                <a:ea typeface="宋体" panose="02010600030101010101" pitchFamily="2" charset="-122"/>
                <a:sym typeface="Wingdings" panose="05000000000000000000" pitchFamily="2" charset="2"/>
              </a:rPr>
              <a:t>申请同一数据对象的锁。</a:t>
            </a:r>
            <a:endParaRPr lang="zh-CN" altLang="en-US" sz="2200" dirty="0">
              <a:latin typeface="华文楷体" panose="02010600040101010101" pitchFamily="2" charset="-122"/>
              <a:ea typeface="宋体" panose="02010600030101010101" pitchFamily="2" charset="-122"/>
            </a:endParaRPr>
          </a:p>
        </p:txBody>
      </p:sp>
      <p:sp>
        <p:nvSpPr>
          <p:cNvPr id="129026" name="Rectangle 3"/>
          <p:cNvSpPr txBox="1"/>
          <p:nvPr/>
        </p:nvSpPr>
        <p:spPr>
          <a:xfrm>
            <a:off x="517525" y="838200"/>
            <a:ext cx="7178675" cy="706438"/>
          </a:xfrm>
          <a:prstGeom prst="rect">
            <a:avLst/>
          </a:prstGeom>
          <a:noFill/>
          <a:ln w="9525">
            <a:noFill/>
          </a:ln>
        </p:spPr>
        <p:txBody>
          <a:bodyPr anchor="t"/>
          <a:lstStyle/>
          <a:p>
            <a:pPr lvl="0" indent="0" eaLnBrk="0" hangingPunct="0"/>
            <a:r>
              <a:rPr lang="en-US" altLang="x-none" sz="2800" dirty="0">
                <a:solidFill>
                  <a:srgbClr val="FF0000"/>
                </a:solidFill>
                <a:latin typeface="黑体" panose="02010609060101010101" pitchFamily="1" charset="-122"/>
                <a:ea typeface="黑体" panose="02010609060101010101" pitchFamily="1" charset="-122"/>
              </a:rPr>
              <a:t>2</a:t>
            </a:r>
            <a:r>
              <a:rPr lang="zh-CN" altLang="en-US" sz="2800" dirty="0">
                <a:solidFill>
                  <a:srgbClr val="FF0000"/>
                </a:solidFill>
                <a:latin typeface="黑体" panose="02010609060101010101" pitchFamily="1" charset="-122"/>
                <a:ea typeface="黑体" panose="02010609060101010101" pitchFamily="1" charset="-122"/>
              </a:rPr>
              <a:t>、死锁的预防</a:t>
            </a:r>
            <a:endParaRPr lang="en-US" altLang="x-none" sz="2800" dirty="0">
              <a:solidFill>
                <a:srgbClr val="FF0000"/>
              </a:solidFill>
              <a:latin typeface="黑体" panose="02010609060101010101" pitchFamily="1" charset="-122"/>
              <a:ea typeface="黑体" panose="02010609060101010101" pitchFamily="1" charset="-122"/>
            </a:endParaRPr>
          </a:p>
        </p:txBody>
      </p:sp>
      <p:sp>
        <p:nvSpPr>
          <p:cNvPr id="5" name="Rectangle 2"/>
          <p:cNvSpPr/>
          <p:nvPr/>
        </p:nvSpPr>
        <p:spPr>
          <a:xfrm>
            <a:off x="561975" y="69215"/>
            <a:ext cx="7924165" cy="692150"/>
          </a:xfrm>
          <a:prstGeom prst="rect">
            <a:avLst/>
          </a:prstGeom>
          <a:noFill/>
          <a:ln w="9525">
            <a:noFill/>
          </a:ln>
        </p:spPr>
        <p:txBody>
          <a:bodyPr anchor="ctr"/>
          <a:lstStyle/>
          <a:p>
            <a:pPr lvl="0" indent="0">
              <a:buFont typeface="Wingdings" panose="05000000000000000000" pitchFamily="2" charset="2"/>
              <a:buNone/>
            </a:pPr>
            <a:r>
              <a:rPr lang="zh-CN" altLang="en-US" sz="3200" dirty="0" smtClean="0">
                <a:solidFill>
                  <a:srgbClr val="0033CC"/>
                </a:solidFill>
                <a:latin typeface="Arial" panose="020B0604020202020204" pitchFamily="34" charset="0"/>
                <a:ea typeface="黑体" panose="02010609060101010101" pitchFamily="1" charset="-122"/>
              </a:rPr>
              <a:t>五、死锁及其预防、检测和处理</a:t>
            </a:r>
            <a:endParaRPr lang="zh-CN" altLang="en-US" sz="3200" dirty="0">
              <a:solidFill>
                <a:srgbClr val="0033CC"/>
              </a:solidFill>
              <a:latin typeface="Arial" panose="020B0604020202020204" pitchFamily="34" charset="0"/>
              <a:ea typeface="黑体" panose="02010609060101010101" pitchFamily="1" charset="-122"/>
            </a:endParaRPr>
          </a:p>
        </p:txBody>
      </p:sp>
      <p:sp>
        <p:nvSpPr>
          <p:cNvPr id="135173" name="Text Box 4"/>
          <p:cNvSpPr txBox="1"/>
          <p:nvPr/>
        </p:nvSpPr>
        <p:spPr>
          <a:xfrm>
            <a:off x="587375" y="2211705"/>
            <a:ext cx="8305800" cy="4107815"/>
          </a:xfrm>
          <a:prstGeom prst="rect">
            <a:avLst/>
          </a:prstGeom>
          <a:solidFill>
            <a:schemeClr val="bg1"/>
          </a:solidFill>
          <a:ln w="9525">
            <a:noFill/>
          </a:ln>
        </p:spPr>
        <p:txBody>
          <a:bodyPr wrap="square" anchor="t">
            <a:spAutoFit/>
          </a:bodyPr>
          <a:lstStyle/>
          <a:p>
            <a:pPr lvl="0" indent="0"/>
            <a:r>
              <a:rPr lang="en-US" altLang="x-none" sz="2400" dirty="0">
                <a:solidFill>
                  <a:schemeClr val="accent2"/>
                </a:solidFill>
                <a:latin typeface="方正姚体" panose="02010601030101010101" pitchFamily="2" charset="-122"/>
                <a:ea typeface="方正姚体" panose="02010601030101010101" pitchFamily="2" charset="-122"/>
                <a:sym typeface="Wingdings" panose="05000000000000000000" pitchFamily="2" charset="2"/>
              </a:rPr>
              <a:t>        </a:t>
            </a:r>
            <a:r>
              <a:rPr lang="en-US" altLang="x-none" sz="2400" dirty="0">
                <a:solidFill>
                  <a:srgbClr val="0000CC"/>
                </a:solidFill>
                <a:latin typeface="Times New Roman" panose="02020603050405020304" pitchFamily="2" charset="0"/>
                <a:ea typeface="方正姚体" panose="02010601030101010101" pitchFamily="2" charset="-122"/>
                <a:sym typeface="Wingdings" panose="05000000000000000000" pitchFamily="2" charset="2"/>
              </a:rPr>
              <a:t>if    ts(T</a:t>
            </a:r>
            <a:r>
              <a:rPr lang="en-US" altLang="x-none" sz="2400" baseline="-25000" dirty="0">
                <a:solidFill>
                  <a:srgbClr val="0000CC"/>
                </a:solidFill>
                <a:latin typeface="Times New Roman" panose="02020603050405020304" pitchFamily="2" charset="0"/>
                <a:ea typeface="方正姚体" panose="02010601030101010101" pitchFamily="2" charset="-122"/>
                <a:sym typeface="Wingdings" panose="05000000000000000000" pitchFamily="2" charset="2"/>
              </a:rPr>
              <a:t>A</a:t>
            </a:r>
            <a:r>
              <a:rPr lang="en-US" altLang="x-none" sz="2400" dirty="0">
                <a:solidFill>
                  <a:srgbClr val="0000CC"/>
                </a:solidFill>
                <a:latin typeface="Times New Roman" panose="02020603050405020304" pitchFamily="2" charset="0"/>
                <a:ea typeface="方正姚体" panose="02010601030101010101" pitchFamily="2" charset="-122"/>
                <a:sym typeface="Wingdings" panose="05000000000000000000" pitchFamily="2" charset="2"/>
              </a:rPr>
              <a:t>) </a:t>
            </a:r>
            <a:r>
              <a:rPr lang="zh-CN" altLang="en-US" sz="2400" dirty="0">
                <a:solidFill>
                  <a:srgbClr val="0000CC"/>
                </a:solidFill>
                <a:latin typeface="Times New Roman" panose="02020603050405020304" pitchFamily="2" charset="0"/>
                <a:ea typeface="方正姚体" panose="02010601030101010101" pitchFamily="2" charset="-122"/>
                <a:sym typeface="Wingdings" panose="05000000000000000000" pitchFamily="2" charset="2"/>
              </a:rPr>
              <a:t>＜ </a:t>
            </a:r>
            <a:r>
              <a:rPr lang="en-US" altLang="x-none" sz="2400" dirty="0">
                <a:solidFill>
                  <a:srgbClr val="0000CC"/>
                </a:solidFill>
                <a:latin typeface="Times New Roman" panose="02020603050405020304" pitchFamily="2" charset="0"/>
                <a:ea typeface="方正姚体" panose="02010601030101010101" pitchFamily="2" charset="-122"/>
                <a:sym typeface="Wingdings" panose="05000000000000000000" pitchFamily="2" charset="2"/>
              </a:rPr>
              <a:t>ts(T</a:t>
            </a:r>
            <a:r>
              <a:rPr lang="en-US" altLang="x-none" sz="2400" baseline="-25000" dirty="0">
                <a:solidFill>
                  <a:srgbClr val="0000CC"/>
                </a:solidFill>
                <a:latin typeface="Times New Roman" panose="02020603050405020304" pitchFamily="2" charset="0"/>
                <a:ea typeface="方正姚体" panose="02010601030101010101" pitchFamily="2" charset="-122"/>
                <a:sym typeface="Wingdings" panose="05000000000000000000" pitchFamily="2" charset="2"/>
              </a:rPr>
              <a:t>B</a:t>
            </a:r>
            <a:r>
              <a:rPr lang="en-US" altLang="x-none" sz="2400" dirty="0">
                <a:solidFill>
                  <a:srgbClr val="0000CC"/>
                </a:solidFill>
                <a:latin typeface="Times New Roman" panose="02020603050405020304" pitchFamily="2" charset="0"/>
                <a:ea typeface="方正姚体" panose="02010601030101010101" pitchFamily="2" charset="-122"/>
                <a:sym typeface="Wingdings" panose="05000000000000000000" pitchFamily="2" charset="2"/>
              </a:rPr>
              <a:t>)       T</a:t>
            </a:r>
            <a:r>
              <a:rPr lang="en-US" altLang="x-none" sz="2400" baseline="-25000" dirty="0">
                <a:solidFill>
                  <a:srgbClr val="0000CC"/>
                </a:solidFill>
                <a:latin typeface="Times New Roman" panose="02020603050405020304" pitchFamily="2" charset="0"/>
                <a:ea typeface="方正姚体" panose="02010601030101010101" pitchFamily="2" charset="-122"/>
                <a:sym typeface="Wingdings" panose="05000000000000000000" pitchFamily="2" charset="2"/>
              </a:rPr>
              <a:t>A</a:t>
            </a:r>
            <a:r>
              <a:rPr lang="en-US" altLang="x-none" sz="2400" dirty="0">
                <a:solidFill>
                  <a:srgbClr val="0000CC"/>
                </a:solidFill>
                <a:latin typeface="Times New Roman" panose="02020603050405020304" pitchFamily="2" charset="0"/>
                <a:ea typeface="方正姚体" panose="02010601030101010101" pitchFamily="2" charset="-122"/>
                <a:sym typeface="Wingdings" panose="05000000000000000000" pitchFamily="2" charset="2"/>
              </a:rPr>
              <a:t> waits; /*  </a:t>
            </a:r>
            <a:r>
              <a:rPr lang="en-US" altLang="x-none" sz="2400" dirty="0">
                <a:solidFill>
                  <a:srgbClr val="0000CC"/>
                </a:solidFill>
                <a:latin typeface="宋体" panose="02010600030101010101" pitchFamily="2" charset="-122"/>
                <a:ea typeface="宋体" panose="02010600030101010101" pitchFamily="2" charset="-122"/>
                <a:sym typeface="Wingdings" panose="05000000000000000000" pitchFamily="2" charset="2"/>
              </a:rPr>
              <a:t>waitT</a:t>
            </a:r>
            <a:r>
              <a:rPr lang="en-US" altLang="x-none" sz="2400" baseline="-25000" dirty="0">
                <a:solidFill>
                  <a:srgbClr val="0000CC"/>
                </a:solidFill>
                <a:latin typeface="宋体" panose="02010600030101010101" pitchFamily="2" charset="-122"/>
                <a:ea typeface="宋体" panose="02010600030101010101" pitchFamily="2" charset="-122"/>
                <a:sym typeface="Wingdings" panose="05000000000000000000" pitchFamily="2" charset="2"/>
              </a:rPr>
              <a:t>B</a:t>
            </a:r>
            <a:r>
              <a:rPr lang="zh-CN" altLang="en-US" sz="2400" dirty="0">
                <a:solidFill>
                  <a:srgbClr val="0000CC"/>
                </a:solidFill>
                <a:latin typeface="宋体" panose="02010600030101010101" pitchFamily="2" charset="-122"/>
                <a:ea typeface="宋体" panose="02010600030101010101" pitchFamily="2" charset="-122"/>
                <a:sym typeface="Wingdings" panose="05000000000000000000" pitchFamily="2" charset="2"/>
              </a:rPr>
              <a:t>释放锁</a:t>
            </a:r>
            <a:r>
              <a:rPr lang="zh-CN" altLang="en-US" sz="2400" dirty="0">
                <a:solidFill>
                  <a:srgbClr val="0000CC"/>
                </a:solidFill>
                <a:latin typeface="Times New Roman" panose="02020603050405020304" pitchFamily="2" charset="0"/>
                <a:ea typeface="方正姚体" panose="02010601030101010101" pitchFamily="2" charset="-122"/>
                <a:sym typeface="Wingdings" panose="05000000000000000000" pitchFamily="2" charset="2"/>
              </a:rPr>
              <a:t> *</a:t>
            </a:r>
            <a:r>
              <a:rPr lang="en-US" altLang="x-none" sz="2400" dirty="0">
                <a:solidFill>
                  <a:srgbClr val="0000CC"/>
                </a:solidFill>
                <a:latin typeface="Times New Roman" panose="02020603050405020304" pitchFamily="2" charset="0"/>
                <a:ea typeface="方正姚体" panose="02010601030101010101" pitchFamily="2" charset="-122"/>
                <a:sym typeface="Wingdings" panose="05000000000000000000" pitchFamily="2" charset="2"/>
              </a:rPr>
              <a:t>/</a:t>
            </a:r>
            <a:endParaRPr lang="en-US" altLang="x-none" sz="2400" dirty="0">
              <a:solidFill>
                <a:srgbClr val="0000CC"/>
              </a:solidFill>
              <a:latin typeface="Times New Roman" panose="02020603050405020304" pitchFamily="2" charset="0"/>
              <a:ea typeface="方正姚体" panose="02010601030101010101" pitchFamily="2" charset="-122"/>
              <a:sym typeface="Wingdings" panose="05000000000000000000" pitchFamily="2" charset="2"/>
            </a:endParaRPr>
          </a:p>
          <a:p>
            <a:pPr lvl="0" indent="0"/>
            <a:r>
              <a:rPr lang="en-US" altLang="x-none" sz="2400" dirty="0">
                <a:solidFill>
                  <a:srgbClr val="0000CC"/>
                </a:solidFill>
                <a:latin typeface="Times New Roman" panose="02020603050405020304" pitchFamily="2" charset="0"/>
                <a:ea typeface="方正姚体" panose="02010601030101010101" pitchFamily="2" charset="-122"/>
                <a:sym typeface="Wingdings" panose="05000000000000000000" pitchFamily="2" charset="2"/>
              </a:rPr>
              <a:t>        else</a:t>
            </a:r>
            <a:endParaRPr lang="en-US" altLang="x-none" sz="2400" dirty="0">
              <a:solidFill>
                <a:srgbClr val="0000CC"/>
              </a:solidFill>
              <a:latin typeface="Times New Roman" panose="02020603050405020304" pitchFamily="2" charset="0"/>
              <a:ea typeface="方正姚体" panose="02010601030101010101" pitchFamily="2" charset="-122"/>
              <a:sym typeface="Wingdings" panose="05000000000000000000" pitchFamily="2" charset="2"/>
            </a:endParaRPr>
          </a:p>
          <a:p>
            <a:pPr lvl="0" indent="0"/>
            <a:r>
              <a:rPr lang="en-US" altLang="x-none" sz="2400" dirty="0">
                <a:solidFill>
                  <a:srgbClr val="0000CC"/>
                </a:solidFill>
                <a:latin typeface="Times New Roman" panose="02020603050405020304" pitchFamily="2" charset="0"/>
                <a:ea typeface="方正姚体" panose="02010601030101010101" pitchFamily="2" charset="-122"/>
                <a:sym typeface="Wingdings" panose="05000000000000000000" pitchFamily="2" charset="2"/>
              </a:rPr>
              <a:t>        {        rollback  T</a:t>
            </a:r>
            <a:r>
              <a:rPr lang="en-US" altLang="x-none" sz="2400" baseline="-25000" dirty="0">
                <a:solidFill>
                  <a:srgbClr val="0000CC"/>
                </a:solidFill>
                <a:latin typeface="Times New Roman" panose="02020603050405020304" pitchFamily="2" charset="0"/>
                <a:ea typeface="方正姚体" panose="02010601030101010101" pitchFamily="2" charset="-122"/>
                <a:sym typeface="Wingdings" panose="05000000000000000000" pitchFamily="2" charset="2"/>
              </a:rPr>
              <a:t>A</a:t>
            </a:r>
            <a:r>
              <a:rPr lang="en-US" altLang="x-none" sz="2400" dirty="0">
                <a:solidFill>
                  <a:srgbClr val="0000CC"/>
                </a:solidFill>
                <a:latin typeface="Times New Roman" panose="02020603050405020304" pitchFamily="2" charset="0"/>
                <a:ea typeface="方正姚体" panose="02010601030101010101" pitchFamily="2" charset="-122"/>
                <a:sym typeface="Wingdings" panose="05000000000000000000" pitchFamily="2" charset="2"/>
              </a:rPr>
              <a:t>;                                  /* die  */</a:t>
            </a:r>
            <a:endParaRPr lang="en-US" altLang="x-none" sz="2400" dirty="0">
              <a:solidFill>
                <a:srgbClr val="0000CC"/>
              </a:solidFill>
              <a:latin typeface="Times New Roman" panose="02020603050405020304" pitchFamily="2" charset="0"/>
              <a:ea typeface="方正姚体" panose="02010601030101010101" pitchFamily="2" charset="-122"/>
              <a:sym typeface="Wingdings" panose="05000000000000000000" pitchFamily="2" charset="2"/>
            </a:endParaRPr>
          </a:p>
          <a:p>
            <a:pPr lvl="0" indent="0"/>
            <a:r>
              <a:rPr lang="en-US" altLang="x-none" sz="2400" dirty="0">
                <a:solidFill>
                  <a:srgbClr val="0000CC"/>
                </a:solidFill>
                <a:latin typeface="Times New Roman" panose="02020603050405020304" pitchFamily="2" charset="0"/>
                <a:ea typeface="方正姚体" panose="02010601030101010101" pitchFamily="2" charset="-122"/>
                <a:sym typeface="Wingdings" panose="05000000000000000000" pitchFamily="2" charset="2"/>
              </a:rPr>
              <a:t>                  restart  T</a:t>
            </a:r>
            <a:r>
              <a:rPr lang="en-US" altLang="x-none" sz="2400" baseline="-25000" dirty="0">
                <a:solidFill>
                  <a:srgbClr val="0000CC"/>
                </a:solidFill>
                <a:latin typeface="Times New Roman" panose="02020603050405020304" pitchFamily="2" charset="0"/>
                <a:ea typeface="方正姚体" panose="02010601030101010101" pitchFamily="2" charset="-122"/>
                <a:sym typeface="Wingdings" panose="05000000000000000000" pitchFamily="2" charset="2"/>
              </a:rPr>
              <a:t>A</a:t>
            </a:r>
            <a:r>
              <a:rPr lang="en-US" altLang="x-none" sz="2400" dirty="0">
                <a:solidFill>
                  <a:srgbClr val="0000CC"/>
                </a:solidFill>
                <a:latin typeface="Times New Roman" panose="02020603050405020304" pitchFamily="2" charset="0"/>
                <a:ea typeface="方正姚体" panose="02010601030101010101" pitchFamily="2" charset="-122"/>
                <a:sym typeface="Wingdings" panose="05000000000000000000" pitchFamily="2" charset="2"/>
              </a:rPr>
              <a:t> with the same ts(T</a:t>
            </a:r>
            <a:r>
              <a:rPr lang="en-US" altLang="x-none" sz="2400" baseline="-25000" dirty="0">
                <a:solidFill>
                  <a:srgbClr val="0000CC"/>
                </a:solidFill>
                <a:latin typeface="Times New Roman" panose="02020603050405020304" pitchFamily="2" charset="0"/>
                <a:ea typeface="方正姚体" panose="02010601030101010101" pitchFamily="2" charset="-122"/>
                <a:sym typeface="Wingdings" panose="05000000000000000000" pitchFamily="2" charset="2"/>
              </a:rPr>
              <a:t>A</a:t>
            </a:r>
            <a:r>
              <a:rPr lang="en-US" altLang="x-none" sz="2400" dirty="0">
                <a:solidFill>
                  <a:srgbClr val="0000CC"/>
                </a:solidFill>
                <a:latin typeface="Times New Roman" panose="02020603050405020304" pitchFamily="2" charset="0"/>
                <a:ea typeface="方正姚体" panose="02010601030101010101" pitchFamily="2" charset="-122"/>
                <a:sym typeface="Wingdings" panose="05000000000000000000" pitchFamily="2" charset="2"/>
              </a:rPr>
              <a:t>);        }</a:t>
            </a:r>
            <a:endParaRPr lang="en-US" altLang="x-none" sz="2400" dirty="0">
              <a:solidFill>
                <a:srgbClr val="0000CC"/>
              </a:solidFill>
              <a:latin typeface="Times New Roman" panose="02020603050405020304" pitchFamily="2" charset="0"/>
              <a:ea typeface="方正姚体" panose="02010601030101010101" pitchFamily="2" charset="-122"/>
              <a:sym typeface="Wingdings" panose="05000000000000000000" pitchFamily="2" charset="2"/>
            </a:endParaRPr>
          </a:p>
          <a:p>
            <a:pPr lvl="0" indent="0">
              <a:lnSpc>
                <a:spcPct val="50000"/>
              </a:lnSpc>
            </a:pPr>
            <a:endParaRPr lang="en-US" altLang="x-none" sz="2200" dirty="0">
              <a:latin typeface="华文楷体" panose="02010600040101010101" pitchFamily="2" charset="-122"/>
              <a:ea typeface="华文楷体" panose="02010600040101010101" pitchFamily="2" charset="-122"/>
              <a:sym typeface="Wingdings" panose="05000000000000000000" pitchFamily="2" charset="2"/>
            </a:endParaRPr>
          </a:p>
          <a:p>
            <a:pPr lvl="0" indent="0"/>
            <a:r>
              <a:rPr lang="zh-CN" altLang="en-US" sz="2200" dirty="0">
                <a:latin typeface="华文楷体" panose="02010600040101010101" pitchFamily="2" charset="-122"/>
                <a:ea typeface="华文楷体" panose="02010600040101010101" pitchFamily="2" charset="-122"/>
                <a:sym typeface="Wingdings" panose="05000000000000000000" pitchFamily="2" charset="2"/>
              </a:rPr>
              <a:t>说明： </a:t>
            </a:r>
            <a:endParaRPr lang="zh-CN" altLang="en-US" sz="2200" dirty="0">
              <a:latin typeface="华文楷体" panose="02010600040101010101" pitchFamily="2" charset="-122"/>
              <a:ea typeface="华文楷体" panose="02010600040101010101" pitchFamily="2" charset="-122"/>
              <a:sym typeface="Wingdings" panose="05000000000000000000" pitchFamily="2" charset="2"/>
            </a:endParaRPr>
          </a:p>
          <a:p>
            <a:pPr lvl="0" indent="0"/>
            <a:r>
              <a:rPr lang="zh-CN" altLang="en-US" sz="2200" dirty="0">
                <a:latin typeface="华文楷体" panose="02010600040101010101" pitchFamily="2" charset="-122"/>
                <a:ea typeface="华文楷体" panose="02010600040101010101" pitchFamily="2" charset="-122"/>
                <a:sym typeface="Wingdings" panose="05000000000000000000" pitchFamily="2" charset="2"/>
              </a:rPr>
              <a:t>① 以上规则说明，总是年轻的事务等待年老的事务。</a:t>
            </a:r>
            <a:endParaRPr lang="zh-CN" altLang="en-US" sz="2200" dirty="0">
              <a:latin typeface="华文楷体" panose="02010600040101010101" pitchFamily="2" charset="-122"/>
              <a:ea typeface="华文楷体" panose="02010600040101010101" pitchFamily="2" charset="-122"/>
              <a:sym typeface="Wingdings" panose="05000000000000000000" pitchFamily="2" charset="2"/>
            </a:endParaRPr>
          </a:p>
          <a:p>
            <a:pPr lvl="0" indent="0"/>
            <a:r>
              <a:rPr lang="zh-CN" altLang="en-US" sz="2200" dirty="0">
                <a:latin typeface="华文楷体" panose="02010600040101010101" pitchFamily="2" charset="-122"/>
                <a:ea typeface="华文楷体" panose="02010600040101010101" pitchFamily="2" charset="-122"/>
                <a:sym typeface="Wingdings" panose="05000000000000000000" pitchFamily="2" charset="2"/>
              </a:rPr>
              <a:t>年轻事务被回退，释放占用资源，故</a:t>
            </a:r>
            <a:r>
              <a:rPr lang="zh-CN" altLang="en-US" sz="2200" dirty="0">
                <a:solidFill>
                  <a:srgbClr val="A50021"/>
                </a:solidFill>
                <a:latin typeface="华文楷体" panose="02010600040101010101" pitchFamily="2" charset="-122"/>
                <a:ea typeface="华文楷体" panose="02010600040101010101" pitchFamily="2" charset="-122"/>
                <a:sym typeface="Wingdings" panose="05000000000000000000" pitchFamily="2" charset="2"/>
              </a:rPr>
              <a:t>不会循环等待</a:t>
            </a:r>
            <a:r>
              <a:rPr lang="zh-CN" altLang="en-US" sz="2200" dirty="0">
                <a:latin typeface="华文楷体" panose="02010600040101010101" pitchFamily="2" charset="-122"/>
                <a:ea typeface="华文楷体" panose="02010600040101010101" pitchFamily="2" charset="-122"/>
                <a:sym typeface="Wingdings" panose="05000000000000000000" pitchFamily="2" charset="2"/>
              </a:rPr>
              <a:t>，</a:t>
            </a:r>
            <a:r>
              <a:rPr lang="zh-CN" altLang="en-US" sz="2200" dirty="0">
                <a:solidFill>
                  <a:srgbClr val="A50021"/>
                </a:solidFill>
                <a:latin typeface="华文楷体" panose="02010600040101010101" pitchFamily="2" charset="-122"/>
                <a:ea typeface="华文楷体" panose="02010600040101010101" pitchFamily="2" charset="-122"/>
                <a:sym typeface="Wingdings" panose="05000000000000000000" pitchFamily="2" charset="2"/>
              </a:rPr>
              <a:t>从而避免死锁</a:t>
            </a:r>
            <a:r>
              <a:rPr lang="zh-CN" altLang="en-US" sz="2200" dirty="0">
                <a:latin typeface="华文楷体" panose="02010600040101010101" pitchFamily="2" charset="-122"/>
                <a:ea typeface="华文楷体" panose="02010600040101010101" pitchFamily="2" charset="-122"/>
                <a:sym typeface="Wingdings" panose="05000000000000000000" pitchFamily="2" charset="2"/>
              </a:rPr>
              <a:t>。</a:t>
            </a:r>
            <a:endParaRPr lang="zh-CN" altLang="en-US" sz="2200" dirty="0">
              <a:latin typeface="华文楷体" panose="02010600040101010101" pitchFamily="2" charset="-122"/>
              <a:ea typeface="华文楷体" panose="02010600040101010101" pitchFamily="2" charset="-122"/>
              <a:sym typeface="Wingdings" panose="05000000000000000000" pitchFamily="2" charset="2"/>
            </a:endParaRPr>
          </a:p>
          <a:p>
            <a:pPr lvl="0" indent="0"/>
            <a:r>
              <a:rPr lang="zh-CN" altLang="en-US" sz="2200" dirty="0">
                <a:latin typeface="华文楷体" panose="02010600040101010101" pitchFamily="2" charset="-122"/>
                <a:ea typeface="华文楷体" panose="02010600040101010101" pitchFamily="2" charset="-122"/>
                <a:sym typeface="Wingdings" panose="05000000000000000000" pitchFamily="2" charset="2"/>
              </a:rPr>
              <a:t>② 因年轻而遭回退的事务，由于重启动时仍用以前的</a:t>
            </a:r>
            <a:r>
              <a:rPr lang="en-US" altLang="x-none" sz="2200" dirty="0">
                <a:latin typeface="华文楷体" panose="02010600040101010101" pitchFamily="2" charset="-122"/>
                <a:ea typeface="华文楷体" panose="02010600040101010101" pitchFamily="2" charset="-122"/>
                <a:sym typeface="Wingdings" panose="05000000000000000000" pitchFamily="2" charset="2"/>
              </a:rPr>
              <a:t>ts</a:t>
            </a:r>
            <a:r>
              <a:rPr lang="zh-CN" altLang="en-US" sz="2200" dirty="0">
                <a:latin typeface="华文楷体" panose="02010600040101010101" pitchFamily="2" charset="-122"/>
                <a:ea typeface="华文楷体" panose="02010600040101010101" pitchFamily="2" charset="-122"/>
                <a:sym typeface="Wingdings" panose="05000000000000000000" pitchFamily="2" charset="2"/>
              </a:rPr>
              <a:t>，故总会变成年老的事务而等待。</a:t>
            </a:r>
            <a:endParaRPr lang="zh-CN" altLang="en-US" sz="2200" dirty="0">
              <a:latin typeface="华文楷体" panose="02010600040101010101" pitchFamily="2" charset="-122"/>
              <a:ea typeface="华文楷体" panose="02010600040101010101" pitchFamily="2" charset="-122"/>
              <a:sym typeface="Wingdings" panose="05000000000000000000" pitchFamily="2" charset="2"/>
            </a:endParaRPr>
          </a:p>
          <a:p>
            <a:pPr lvl="0" indent="0"/>
            <a:r>
              <a:rPr lang="zh-CN" altLang="en-US" sz="2200" dirty="0">
                <a:latin typeface="华文楷体" panose="02010600040101010101" pitchFamily="2" charset="-122"/>
                <a:ea typeface="华文楷体" panose="02010600040101010101" pitchFamily="2" charset="-122"/>
                <a:sym typeface="Wingdings" panose="05000000000000000000" pitchFamily="2" charset="2"/>
              </a:rPr>
              <a:t>③ 一个事务一旦获得它所需的所有锁而不再申请锁时，它就不会有被回退的危险。</a:t>
            </a:r>
            <a:endParaRPr lang="zh-CN" altLang="en-US" sz="2200" dirty="0">
              <a:latin typeface="华文楷体" panose="02010600040101010101" pitchFamily="2" charset="-122"/>
              <a:ea typeface="华文楷体" panose="02010600040101010101" pitchFamily="2" charset="-122"/>
              <a:sym typeface="Wingdings" panose="05000000000000000000" pitchFamily="2" charset="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135173">
                                            <p:txEl>
                                              <p:pRg st="5" end="5"/>
                                            </p:txEl>
                                          </p:spTgt>
                                        </p:tgtEl>
                                        <p:attrNameLst>
                                          <p:attrName>style.visibility</p:attrName>
                                        </p:attrNameLst>
                                      </p:cBhvr>
                                      <p:to>
                                        <p:strVal val="visible"/>
                                      </p:to>
                                    </p:set>
                                    <p:animEffect transition="in" filter="wipe(down)">
                                      <p:cBhvr>
                                        <p:cTn id="7" dur="500"/>
                                        <p:tgtEl>
                                          <p:spTgt spid="135173">
                                            <p:txEl>
                                              <p:pRg st="5" end="5"/>
                                            </p:txEl>
                                          </p:spTgt>
                                        </p:tgtEl>
                                      </p:cBhvr>
                                    </p:animEffect>
                                  </p:childTnLst>
                                </p:cTn>
                              </p:par>
                              <p:par>
                                <p:cTn id="8" presetID="22" presetClass="entr" presetSubtype="4" fill="hold" nodeType="withEffect">
                                  <p:stCondLst>
                                    <p:cond delay="0"/>
                                  </p:stCondLst>
                                  <p:childTnLst>
                                    <p:set>
                                      <p:cBhvr>
                                        <p:cTn id="9" dur="1" fill="hold">
                                          <p:stCondLst>
                                            <p:cond delay="0"/>
                                          </p:stCondLst>
                                        </p:cTn>
                                        <p:tgtEl>
                                          <p:spTgt spid="135173">
                                            <p:txEl>
                                              <p:pRg st="6" end="6"/>
                                            </p:txEl>
                                          </p:spTgt>
                                        </p:tgtEl>
                                        <p:attrNameLst>
                                          <p:attrName>style.visibility</p:attrName>
                                        </p:attrNameLst>
                                      </p:cBhvr>
                                      <p:to>
                                        <p:strVal val="visible"/>
                                      </p:to>
                                    </p:set>
                                    <p:animEffect transition="in" filter="wipe(down)">
                                      <p:cBhvr>
                                        <p:cTn id="10" dur="500"/>
                                        <p:tgtEl>
                                          <p:spTgt spid="135173">
                                            <p:txEl>
                                              <p:pRg st="6" end="6"/>
                                            </p:txEl>
                                          </p:spTgt>
                                        </p:tgtEl>
                                      </p:cBhvr>
                                    </p:animEffect>
                                  </p:childTnLst>
                                </p:cTn>
                              </p:par>
                              <p:par>
                                <p:cTn id="11" presetID="22" presetClass="entr" presetSubtype="4" fill="hold" nodeType="withEffect">
                                  <p:stCondLst>
                                    <p:cond delay="0"/>
                                  </p:stCondLst>
                                  <p:childTnLst>
                                    <p:set>
                                      <p:cBhvr>
                                        <p:cTn id="12" dur="1" fill="hold">
                                          <p:stCondLst>
                                            <p:cond delay="0"/>
                                          </p:stCondLst>
                                        </p:cTn>
                                        <p:tgtEl>
                                          <p:spTgt spid="135173">
                                            <p:txEl>
                                              <p:pRg st="7" end="7"/>
                                            </p:txEl>
                                          </p:spTgt>
                                        </p:tgtEl>
                                        <p:attrNameLst>
                                          <p:attrName>style.visibility</p:attrName>
                                        </p:attrNameLst>
                                      </p:cBhvr>
                                      <p:to>
                                        <p:strVal val="visible"/>
                                      </p:to>
                                    </p:set>
                                    <p:animEffect transition="in" filter="wipe(down)">
                                      <p:cBhvr>
                                        <p:cTn id="13" dur="500"/>
                                        <p:tgtEl>
                                          <p:spTgt spid="135173">
                                            <p:txEl>
                                              <p:pRg st="7" end="7"/>
                                            </p:txEl>
                                          </p:spTgt>
                                        </p:tgtEl>
                                      </p:cBhvr>
                                    </p:animEffect>
                                  </p:childTnLst>
                                </p:cTn>
                              </p:par>
                              <p:par>
                                <p:cTn id="14" presetID="22" presetClass="entr" presetSubtype="4" fill="hold" nodeType="withEffect">
                                  <p:stCondLst>
                                    <p:cond delay="0"/>
                                  </p:stCondLst>
                                  <p:childTnLst>
                                    <p:set>
                                      <p:cBhvr>
                                        <p:cTn id="15" dur="1" fill="hold">
                                          <p:stCondLst>
                                            <p:cond delay="0"/>
                                          </p:stCondLst>
                                        </p:cTn>
                                        <p:tgtEl>
                                          <p:spTgt spid="135173">
                                            <p:txEl>
                                              <p:charRg st="274" end="354"/>
                                            </p:txEl>
                                          </p:spTgt>
                                        </p:tgtEl>
                                        <p:attrNameLst>
                                          <p:attrName>style.visibility</p:attrName>
                                        </p:attrNameLst>
                                      </p:cBhvr>
                                      <p:to>
                                        <p:strVal val="visible"/>
                                      </p:to>
                                    </p:set>
                                    <p:animEffect transition="in" filter="wipe(down)">
                                      <p:cBhvr>
                                        <p:cTn id="16" dur="500"/>
                                        <p:tgtEl>
                                          <p:spTgt spid="135173">
                                            <p:txEl>
                                              <p:charRg st="274" end="354"/>
                                            </p:txEl>
                                          </p:spTgt>
                                        </p:tgtEl>
                                      </p:cBhvr>
                                    </p:animEffect>
                                  </p:childTnLst>
                                </p:cTn>
                              </p:par>
                              <p:par>
                                <p:cTn id="17" presetID="22" presetClass="entr" presetSubtype="4" fill="hold" nodeType="withEffect">
                                  <p:stCondLst>
                                    <p:cond delay="0"/>
                                  </p:stCondLst>
                                  <p:childTnLst>
                                    <p:set>
                                      <p:cBhvr>
                                        <p:cTn id="18" dur="1" fill="hold">
                                          <p:stCondLst>
                                            <p:cond delay="0"/>
                                          </p:stCondLst>
                                        </p:cTn>
                                        <p:tgtEl>
                                          <p:spTgt spid="135173">
                                            <p:txEl>
                                              <p:charRg st="354" end="354"/>
                                            </p:txEl>
                                          </p:spTgt>
                                        </p:tgtEl>
                                        <p:attrNameLst>
                                          <p:attrName>style.visibility</p:attrName>
                                        </p:attrNameLst>
                                      </p:cBhvr>
                                      <p:to>
                                        <p:strVal val="visible"/>
                                      </p:to>
                                    </p:set>
                                    <p:animEffect transition="in" filter="wipe(down)">
                                      <p:cBhvr>
                                        <p:cTn id="19" dur="500"/>
                                        <p:tgtEl>
                                          <p:spTgt spid="135173">
                                            <p:txEl>
                                              <p:charRg st="354" end="35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4" name="Rectangle 3"/>
          <p:cNvSpPr txBox="1"/>
          <p:nvPr/>
        </p:nvSpPr>
        <p:spPr>
          <a:xfrm>
            <a:off x="561658" y="1544638"/>
            <a:ext cx="8351837" cy="4435475"/>
          </a:xfrm>
          <a:prstGeom prst="rect">
            <a:avLst/>
          </a:prstGeom>
          <a:noFill/>
          <a:ln w="9525">
            <a:noFill/>
          </a:ln>
        </p:spPr>
        <p:txBody>
          <a:bodyPr anchor="t"/>
          <a:lstStyle/>
          <a:p>
            <a:pPr marL="342900" lvl="0" indent="-342900">
              <a:lnSpc>
                <a:spcPct val="90000"/>
              </a:lnSpc>
              <a:spcBef>
                <a:spcPct val="50000"/>
              </a:spcBef>
              <a:buClr>
                <a:srgbClr val="0033CC"/>
              </a:buClr>
              <a:buSzPct val="80000"/>
              <a:buFont typeface="Wingdings" panose="05000000000000000000" pitchFamily="2" charset="2"/>
              <a:buChar char="u"/>
            </a:pPr>
            <a:r>
              <a:rPr lang="zh-CN" altLang="en-US" sz="2400" dirty="0">
                <a:latin typeface="Arial" panose="020B0604020202020204" pitchFamily="34" charset="0"/>
                <a:ea typeface="宋体" panose="02010600030101010101" pitchFamily="2" charset="-122"/>
                <a:sym typeface="Wingdings" panose="05000000000000000000" pitchFamily="2" charset="2"/>
              </a:rPr>
              <a:t>检测死锁的方法：</a:t>
            </a:r>
            <a:endParaRPr lang="zh-CN" altLang="en-US" sz="2400" dirty="0">
              <a:latin typeface="Arial" panose="020B0604020202020204" pitchFamily="34" charset="0"/>
              <a:ea typeface="宋体" panose="02010600030101010101" pitchFamily="2" charset="-122"/>
              <a:sym typeface="Wingdings" panose="05000000000000000000" pitchFamily="2" charset="2"/>
            </a:endParaRPr>
          </a:p>
          <a:p>
            <a:pPr marL="342900" lvl="0" indent="-342900">
              <a:lnSpc>
                <a:spcPct val="90000"/>
              </a:lnSpc>
              <a:spcBef>
                <a:spcPct val="50000"/>
              </a:spcBef>
              <a:buClr>
                <a:srgbClr val="0033CC"/>
              </a:buClr>
              <a:buSzPct val="80000"/>
            </a:pPr>
            <a:r>
              <a:rPr lang="zh-CN" altLang="en-US" sz="2400" dirty="0">
                <a:latin typeface="Arial" panose="020B0604020202020204" pitchFamily="34" charset="0"/>
                <a:ea typeface="宋体" panose="02010600030101010101" pitchFamily="2" charset="-122"/>
                <a:sym typeface="Wingdings" panose="05000000000000000000" pitchFamily="2" charset="2"/>
              </a:rPr>
              <a:t>① 超时法； ② 等待图 </a:t>
            </a:r>
            <a:r>
              <a:rPr lang="en-US" altLang="x-none" sz="2400" dirty="0">
                <a:latin typeface="Arial" panose="020B0604020202020204" pitchFamily="34" charset="0"/>
                <a:ea typeface="宋体" panose="02010600030101010101" pitchFamily="2" charset="-122"/>
                <a:sym typeface="Wingdings" panose="05000000000000000000" pitchFamily="2" charset="2"/>
              </a:rPr>
              <a:t>(Wait-for Graph) </a:t>
            </a:r>
            <a:r>
              <a:rPr lang="zh-CN" altLang="en-US" sz="2400" dirty="0">
                <a:latin typeface="Arial" panose="020B0604020202020204" pitchFamily="34" charset="0"/>
                <a:ea typeface="宋体" panose="02010600030101010101" pitchFamily="2" charset="-122"/>
                <a:sym typeface="Wingdings" panose="05000000000000000000" pitchFamily="2" charset="2"/>
              </a:rPr>
              <a:t>法。</a:t>
            </a:r>
            <a:endParaRPr lang="zh-CN" altLang="en-US" sz="2400" dirty="0">
              <a:latin typeface="Arial" panose="020B0604020202020204" pitchFamily="34" charset="0"/>
              <a:ea typeface="宋体" panose="02010600030101010101" pitchFamily="2" charset="-122"/>
              <a:sym typeface="Wingdings" panose="05000000000000000000" pitchFamily="2" charset="2"/>
            </a:endParaRPr>
          </a:p>
          <a:p>
            <a:pPr marL="342900" lvl="0" indent="-342900">
              <a:lnSpc>
                <a:spcPct val="90000"/>
              </a:lnSpc>
              <a:spcBef>
                <a:spcPct val="50000"/>
              </a:spcBef>
              <a:buClr>
                <a:srgbClr val="0033CC"/>
              </a:buClr>
              <a:buSzPct val="80000"/>
            </a:pPr>
            <a:r>
              <a:rPr lang="zh-CN" altLang="en-US" sz="2400" dirty="0">
                <a:latin typeface="Arial" panose="020B0604020202020204" pitchFamily="34" charset="0"/>
                <a:ea typeface="宋体" panose="02010600030101010101" pitchFamily="2" charset="-122"/>
              </a:rPr>
              <a:t>（</a:t>
            </a:r>
            <a:r>
              <a:rPr lang="en-US" altLang="x-none" sz="2400" dirty="0">
                <a:latin typeface="Arial" panose="020B0604020202020204" pitchFamily="34" charset="0"/>
                <a:ea typeface="宋体" panose="02010600030101010101" pitchFamily="2" charset="-122"/>
              </a:rPr>
              <a:t>1</a:t>
            </a:r>
            <a:r>
              <a:rPr lang="zh-CN" altLang="en-US" sz="2400" dirty="0">
                <a:latin typeface="Arial" panose="020B0604020202020204" pitchFamily="34" charset="0"/>
                <a:ea typeface="宋体" panose="02010600030101010101" pitchFamily="2" charset="-122"/>
              </a:rPr>
              <a:t>）超时法</a:t>
            </a:r>
            <a:endParaRPr lang="zh-CN" altLang="en-US" sz="2400" dirty="0">
              <a:latin typeface="Arial" panose="020B0604020202020204" pitchFamily="34" charset="0"/>
              <a:ea typeface="宋体" panose="02010600030101010101" pitchFamily="2" charset="-122"/>
            </a:endParaRPr>
          </a:p>
          <a:p>
            <a:pPr marL="342900" lvl="0" indent="-342900">
              <a:lnSpc>
                <a:spcPct val="125000"/>
              </a:lnSpc>
              <a:spcBef>
                <a:spcPct val="50000"/>
              </a:spcBef>
              <a:buClr>
                <a:srgbClr val="0033CC"/>
              </a:buClr>
              <a:buSzPct val="80000"/>
            </a:pPr>
            <a:r>
              <a:rPr lang="zh-CN" altLang="en-US" sz="2400" dirty="0">
                <a:latin typeface="Arial" panose="020B0604020202020204" pitchFamily="34" charset="0"/>
                <a:ea typeface="宋体" panose="02010600030101010101" pitchFamily="2" charset="-122"/>
              </a:rPr>
              <a:t>  方法：如果一个事务等待锁的时间太长，超过事先设定的时限，则主观认定其处于循环等待中而撤销之（</a:t>
            </a:r>
            <a:r>
              <a:rPr lang="en-US" altLang="x-none" sz="2400" dirty="0">
                <a:latin typeface="Arial" panose="020B0604020202020204" pitchFamily="34" charset="0"/>
                <a:ea typeface="宋体" panose="02010600030101010101" pitchFamily="2" charset="-122"/>
              </a:rPr>
              <a:t>Rollback</a:t>
            </a:r>
            <a:r>
              <a:rPr lang="zh-CN" altLang="en-US" sz="2400" dirty="0">
                <a:latin typeface="Arial" panose="020B0604020202020204" pitchFamily="34" charset="0"/>
                <a:ea typeface="宋体" panose="02010600030101010101" pitchFamily="2" charset="-122"/>
              </a:rPr>
              <a:t>）。 </a:t>
            </a:r>
            <a:endParaRPr lang="zh-CN" altLang="en-US" sz="2400" dirty="0">
              <a:latin typeface="Arial" panose="020B0604020202020204" pitchFamily="34" charset="0"/>
              <a:ea typeface="宋体" panose="02010600030101010101" pitchFamily="2" charset="-122"/>
            </a:endParaRPr>
          </a:p>
          <a:p>
            <a:pPr marL="342900" lvl="0" indent="-342900">
              <a:lnSpc>
                <a:spcPct val="125000"/>
              </a:lnSpc>
              <a:spcBef>
                <a:spcPct val="50000"/>
              </a:spcBef>
              <a:buClr>
                <a:srgbClr val="0033CC"/>
              </a:buClr>
              <a:buSzPct val="80000"/>
            </a:pPr>
            <a:r>
              <a:rPr lang="zh-CN" altLang="en-US" sz="2400" dirty="0">
                <a:latin typeface="Arial" panose="020B0604020202020204" pitchFamily="34" charset="0"/>
                <a:ea typeface="宋体" panose="02010600030101010101" pitchFamily="2" charset="-122"/>
              </a:rPr>
              <a:t>说明：① 很晚才能发现死锁；② 可能存在误判；③ 超时时间设置问题。设置越小，误判机会越大；设置太大，则发现死锁的滞后时间会过长。</a:t>
            </a:r>
            <a:endParaRPr lang="zh-CN" altLang="en-US" sz="2400" dirty="0">
              <a:latin typeface="Arial" panose="020B0604020202020204" pitchFamily="34" charset="0"/>
              <a:ea typeface="宋体" panose="02010600030101010101" pitchFamily="2" charset="-122"/>
            </a:endParaRPr>
          </a:p>
        </p:txBody>
      </p:sp>
      <p:sp>
        <p:nvSpPr>
          <p:cNvPr id="129026" name="Rectangle 3"/>
          <p:cNvSpPr txBox="1"/>
          <p:nvPr/>
        </p:nvSpPr>
        <p:spPr>
          <a:xfrm>
            <a:off x="517525" y="838200"/>
            <a:ext cx="7178675" cy="706438"/>
          </a:xfrm>
          <a:prstGeom prst="rect">
            <a:avLst/>
          </a:prstGeom>
          <a:noFill/>
          <a:ln w="9525">
            <a:noFill/>
          </a:ln>
        </p:spPr>
        <p:txBody>
          <a:bodyPr anchor="t"/>
          <a:lstStyle/>
          <a:p>
            <a:pPr lvl="0" indent="0" eaLnBrk="0" hangingPunct="0"/>
            <a:r>
              <a:rPr lang="en-US" altLang="x-none" sz="2800" dirty="0">
                <a:solidFill>
                  <a:srgbClr val="FF0000"/>
                </a:solidFill>
                <a:latin typeface="黑体" panose="02010609060101010101" pitchFamily="1" charset="-122"/>
                <a:ea typeface="黑体" panose="02010609060101010101" pitchFamily="1" charset="-122"/>
              </a:rPr>
              <a:t>3</a:t>
            </a:r>
            <a:r>
              <a:rPr lang="zh-CN" altLang="en-US" sz="2800" dirty="0">
                <a:solidFill>
                  <a:srgbClr val="FF0000"/>
                </a:solidFill>
                <a:latin typeface="黑体" panose="02010609060101010101" pitchFamily="1" charset="-122"/>
                <a:ea typeface="黑体" panose="02010609060101010101" pitchFamily="1" charset="-122"/>
              </a:rPr>
              <a:t>、死锁的检测</a:t>
            </a:r>
            <a:endParaRPr lang="en-US" sz="2800" dirty="0">
              <a:solidFill>
                <a:srgbClr val="FF0000"/>
              </a:solidFill>
              <a:latin typeface="黑体" panose="02010609060101010101" pitchFamily="1" charset="-122"/>
              <a:ea typeface="黑体" panose="02010609060101010101" pitchFamily="1" charset="-122"/>
            </a:endParaRPr>
          </a:p>
        </p:txBody>
      </p:sp>
      <p:sp>
        <p:nvSpPr>
          <p:cNvPr id="5" name="Rectangle 2"/>
          <p:cNvSpPr/>
          <p:nvPr/>
        </p:nvSpPr>
        <p:spPr>
          <a:xfrm>
            <a:off x="561975" y="69215"/>
            <a:ext cx="7924165" cy="692150"/>
          </a:xfrm>
          <a:prstGeom prst="rect">
            <a:avLst/>
          </a:prstGeom>
          <a:noFill/>
          <a:ln w="9525">
            <a:noFill/>
          </a:ln>
        </p:spPr>
        <p:txBody>
          <a:bodyPr anchor="ctr"/>
          <a:lstStyle/>
          <a:p>
            <a:pPr lvl="0" indent="0">
              <a:buFont typeface="Wingdings" panose="05000000000000000000" pitchFamily="2" charset="2"/>
              <a:buNone/>
            </a:pPr>
            <a:r>
              <a:rPr lang="zh-CN" altLang="en-US" sz="3200" dirty="0" smtClean="0">
                <a:solidFill>
                  <a:srgbClr val="0033CC"/>
                </a:solidFill>
                <a:latin typeface="Arial" panose="020B0604020202020204" pitchFamily="34" charset="0"/>
                <a:ea typeface="黑体" panose="02010609060101010101" pitchFamily="1" charset="-122"/>
              </a:rPr>
              <a:t>五、死锁及其预防、检测和处理</a:t>
            </a:r>
            <a:endParaRPr lang="zh-CN" altLang="en-US" sz="3200" dirty="0">
              <a:solidFill>
                <a:srgbClr val="0033CC"/>
              </a:solidFill>
              <a:latin typeface="Arial" panose="020B0604020202020204" pitchFamily="34" charset="0"/>
              <a:ea typeface="黑体" panose="02010609060101010101" pitchFamily="1"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36194">
                                            <p:txEl>
                                              <p:pRg st="0" end="0"/>
                                            </p:txEl>
                                          </p:spTgt>
                                        </p:tgtEl>
                                        <p:attrNameLst>
                                          <p:attrName>style.visibility</p:attrName>
                                        </p:attrNameLst>
                                      </p:cBhvr>
                                      <p:to>
                                        <p:strVal val="visible"/>
                                      </p:to>
                                    </p:set>
                                    <p:animEffect transition="in" filter="dissolve">
                                      <p:cBhvr>
                                        <p:cTn id="7" dur="500"/>
                                        <p:tgtEl>
                                          <p:spTgt spid="13619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36194">
                                            <p:txEl>
                                              <p:pRg st="1" end="1"/>
                                            </p:txEl>
                                          </p:spTgt>
                                        </p:tgtEl>
                                        <p:attrNameLst>
                                          <p:attrName>style.visibility</p:attrName>
                                        </p:attrNameLst>
                                      </p:cBhvr>
                                      <p:to>
                                        <p:strVal val="visible"/>
                                      </p:to>
                                    </p:set>
                                    <p:animEffect transition="in" filter="dissolve">
                                      <p:cBhvr>
                                        <p:cTn id="12" dur="500"/>
                                        <p:tgtEl>
                                          <p:spTgt spid="13619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136194">
                                            <p:txEl>
                                              <p:pRg st="2" end="2"/>
                                            </p:txEl>
                                          </p:spTgt>
                                        </p:tgtEl>
                                        <p:attrNameLst>
                                          <p:attrName>style.visibility</p:attrName>
                                        </p:attrNameLst>
                                      </p:cBhvr>
                                      <p:to>
                                        <p:strVal val="visible"/>
                                      </p:to>
                                    </p:set>
                                    <p:animEffect transition="in" filter="dissolve">
                                      <p:cBhvr>
                                        <p:cTn id="17" dur="500"/>
                                        <p:tgtEl>
                                          <p:spTgt spid="136194">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136194">
                                            <p:txEl>
                                              <p:pRg st="3" end="3"/>
                                            </p:txEl>
                                          </p:spTgt>
                                        </p:tgtEl>
                                        <p:attrNameLst>
                                          <p:attrName>style.visibility</p:attrName>
                                        </p:attrNameLst>
                                      </p:cBhvr>
                                      <p:to>
                                        <p:strVal val="visible"/>
                                      </p:to>
                                    </p:set>
                                    <p:animEffect transition="in" filter="dissolve">
                                      <p:cBhvr>
                                        <p:cTn id="22" dur="500"/>
                                        <p:tgtEl>
                                          <p:spTgt spid="136194">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136194">
                                            <p:txEl>
                                              <p:pRg st="4" end="4"/>
                                            </p:txEl>
                                          </p:spTgt>
                                        </p:tgtEl>
                                        <p:attrNameLst>
                                          <p:attrName>style.visibility</p:attrName>
                                        </p:attrNameLst>
                                      </p:cBhvr>
                                      <p:to>
                                        <p:strVal val="visible"/>
                                      </p:to>
                                    </p:set>
                                    <p:animEffect transition="in" filter="dissolve">
                                      <p:cBhvr>
                                        <p:cTn id="27" dur="500"/>
                                        <p:tgtEl>
                                          <p:spTgt spid="136194">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6194" grpId="0" build="p"/>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7" name="Rectangle 3"/>
          <p:cNvSpPr txBox="1"/>
          <p:nvPr/>
        </p:nvSpPr>
        <p:spPr>
          <a:xfrm>
            <a:off x="549275" y="1279525"/>
            <a:ext cx="8197850" cy="4557713"/>
          </a:xfrm>
          <a:prstGeom prst="rect">
            <a:avLst/>
          </a:prstGeom>
          <a:noFill/>
          <a:ln w="9525">
            <a:noFill/>
          </a:ln>
        </p:spPr>
        <p:txBody>
          <a:bodyPr anchor="t"/>
          <a:lstStyle/>
          <a:p>
            <a:pPr marL="342900" lvl="0" indent="-342900">
              <a:lnSpc>
                <a:spcPct val="150000"/>
              </a:lnSpc>
              <a:spcBef>
                <a:spcPct val="50000"/>
              </a:spcBef>
              <a:buClr>
                <a:srgbClr val="0033CC"/>
              </a:buClr>
              <a:buSzPct val="80000"/>
            </a:pPr>
            <a:r>
              <a:rPr lang="zh-CN" altLang="en-US" sz="2400" dirty="0">
                <a:latin typeface="Arial" panose="020B0604020202020204" pitchFamily="34" charset="0"/>
                <a:ea typeface="宋体" panose="02010600030101010101" pitchFamily="2" charset="-122"/>
              </a:rPr>
              <a:t>（</a:t>
            </a:r>
            <a:r>
              <a:rPr lang="en-US" altLang="x-none" sz="2400" dirty="0">
                <a:latin typeface="Arial" panose="020B0604020202020204" pitchFamily="34" charset="0"/>
                <a:ea typeface="宋体" panose="02010600030101010101" pitchFamily="2" charset="-122"/>
              </a:rPr>
              <a:t>2</a:t>
            </a:r>
            <a:r>
              <a:rPr lang="zh-CN" altLang="en-US" sz="2400" dirty="0">
                <a:latin typeface="Arial" panose="020B0604020202020204" pitchFamily="34" charset="0"/>
                <a:ea typeface="宋体" panose="02010600030101010101" pitchFamily="2" charset="-122"/>
              </a:rPr>
              <a:t>）</a:t>
            </a:r>
            <a:r>
              <a:rPr lang="zh-CN" altLang="en-US" sz="2400" dirty="0">
                <a:latin typeface="华文楷体" panose="02010600040101010101" pitchFamily="2" charset="-122"/>
                <a:ea typeface="宋体" panose="02010600030101010101" pitchFamily="2" charset="-122"/>
              </a:rPr>
              <a:t>等待图法</a:t>
            </a:r>
            <a:endParaRPr lang="zh-CN" altLang="en-US" sz="2400" dirty="0">
              <a:latin typeface="华文楷体" panose="02010600040101010101" pitchFamily="2" charset="-122"/>
              <a:ea typeface="宋体" panose="02010600030101010101" pitchFamily="2" charset="-122"/>
            </a:endParaRPr>
          </a:p>
          <a:p>
            <a:pPr marL="342900" lvl="0" indent="-342900">
              <a:lnSpc>
                <a:spcPct val="110000"/>
              </a:lnSpc>
              <a:spcBef>
                <a:spcPts val="600"/>
              </a:spcBef>
              <a:buClr>
                <a:srgbClr val="0033CC"/>
              </a:buClr>
              <a:buSzPct val="80000"/>
              <a:buFont typeface="Wingdings" panose="05000000000000000000" pitchFamily="2" charset="2"/>
              <a:buChar char="u"/>
            </a:pPr>
            <a:r>
              <a:rPr lang="zh-CN" altLang="en-US" sz="2400" u="sng" dirty="0">
                <a:solidFill>
                  <a:srgbClr val="CC0000"/>
                </a:solidFill>
                <a:latin typeface="华文楷体" panose="02010600040101010101" pitchFamily="2" charset="-122"/>
                <a:ea typeface="宋体" panose="02010600030101010101" pitchFamily="2" charset="-122"/>
                <a:sym typeface="Wingdings" panose="05000000000000000000" pitchFamily="2" charset="2"/>
              </a:rPr>
              <a:t>等待图：</a:t>
            </a:r>
            <a:r>
              <a:rPr lang="zh-CN" altLang="en-US" sz="2400" dirty="0">
                <a:latin typeface="华文楷体" panose="02010600040101010101" pitchFamily="2" charset="-122"/>
                <a:ea typeface="宋体" panose="02010600030101010101" pitchFamily="2" charset="-122"/>
                <a:sym typeface="Wingdings" panose="05000000000000000000" pitchFamily="2" charset="2"/>
              </a:rPr>
              <a:t>是一个有向图</a:t>
            </a:r>
            <a:r>
              <a:rPr lang="en-US" altLang="x-none" sz="2400" dirty="0">
                <a:latin typeface="华文楷体" panose="02010600040101010101" pitchFamily="2" charset="-122"/>
                <a:ea typeface="宋体" panose="02010600030101010101" pitchFamily="2" charset="-122"/>
                <a:sym typeface="Wingdings" panose="05000000000000000000" pitchFamily="2" charset="2"/>
              </a:rPr>
              <a:t>G=</a:t>
            </a:r>
            <a:r>
              <a:rPr lang="zh-CN" altLang="en-US" sz="2400" dirty="0">
                <a:latin typeface="华文楷体" panose="02010600040101010101" pitchFamily="2" charset="-122"/>
                <a:ea typeface="宋体" panose="02010600030101010101" pitchFamily="2" charset="-122"/>
                <a:sym typeface="Wingdings" panose="05000000000000000000" pitchFamily="2" charset="2"/>
              </a:rPr>
              <a:t>（</a:t>
            </a:r>
            <a:r>
              <a:rPr lang="en-US" altLang="x-none" sz="2400" dirty="0">
                <a:latin typeface="华文楷体" panose="02010600040101010101" pitchFamily="2" charset="-122"/>
                <a:ea typeface="宋体" panose="02010600030101010101" pitchFamily="2" charset="-122"/>
                <a:sym typeface="Wingdings" panose="05000000000000000000" pitchFamily="2" charset="2"/>
              </a:rPr>
              <a:t>W</a:t>
            </a:r>
            <a:r>
              <a:rPr lang="zh-CN" altLang="en-US" sz="2400" dirty="0">
                <a:latin typeface="华文楷体" panose="02010600040101010101" pitchFamily="2" charset="-122"/>
                <a:ea typeface="宋体" panose="02010600030101010101" pitchFamily="2" charset="-122"/>
                <a:sym typeface="Wingdings" panose="05000000000000000000" pitchFamily="2" charset="2"/>
              </a:rPr>
              <a:t>，</a:t>
            </a:r>
            <a:r>
              <a:rPr lang="en-US" altLang="x-none" sz="2400" dirty="0">
                <a:latin typeface="华文楷体" panose="02010600040101010101" pitchFamily="2" charset="-122"/>
                <a:ea typeface="宋体" panose="02010600030101010101" pitchFamily="2" charset="-122"/>
                <a:sym typeface="Wingdings" panose="05000000000000000000" pitchFamily="2" charset="2"/>
              </a:rPr>
              <a:t>U</a:t>
            </a:r>
            <a:r>
              <a:rPr lang="zh-CN" altLang="en-US" sz="2400" dirty="0">
                <a:latin typeface="华文楷体" panose="02010600040101010101" pitchFamily="2" charset="-122"/>
                <a:ea typeface="宋体" panose="02010600030101010101" pitchFamily="2" charset="-122"/>
                <a:sym typeface="Wingdings" panose="05000000000000000000" pitchFamily="2" charset="2"/>
              </a:rPr>
              <a:t>），</a:t>
            </a:r>
            <a:r>
              <a:rPr lang="en-US" altLang="x-none" sz="2400" dirty="0">
                <a:latin typeface="华文楷体" panose="02010600040101010101" pitchFamily="2" charset="-122"/>
                <a:ea typeface="宋体" panose="02010600030101010101" pitchFamily="2" charset="-122"/>
                <a:sym typeface="Wingdings" panose="05000000000000000000" pitchFamily="2" charset="2"/>
              </a:rPr>
              <a:t>W</a:t>
            </a:r>
            <a:r>
              <a:rPr lang="zh-CN" altLang="en-US" sz="2400" dirty="0">
                <a:latin typeface="华文楷体" panose="02010600040101010101" pitchFamily="2" charset="-122"/>
                <a:ea typeface="宋体" panose="02010600030101010101" pitchFamily="2" charset="-122"/>
                <a:sym typeface="Wingdings" panose="05000000000000000000" pitchFamily="2" charset="2"/>
              </a:rPr>
              <a:t>是当前运行事务的集合，</a:t>
            </a:r>
            <a:r>
              <a:rPr lang="en-US" altLang="x-none" sz="2400" dirty="0">
                <a:latin typeface="华文楷体" panose="02010600040101010101" pitchFamily="2" charset="-122"/>
                <a:ea typeface="宋体" panose="02010600030101010101" pitchFamily="2" charset="-122"/>
                <a:sym typeface="Wingdings" panose="05000000000000000000" pitchFamily="2" charset="2"/>
              </a:rPr>
              <a:t>U</a:t>
            </a:r>
            <a:r>
              <a:rPr lang="zh-CN" altLang="en-US" sz="2400" dirty="0">
                <a:latin typeface="华文楷体" panose="02010600040101010101" pitchFamily="2" charset="-122"/>
                <a:ea typeface="宋体" panose="02010600030101010101" pitchFamily="2" charset="-122"/>
                <a:sym typeface="Wingdings" panose="05000000000000000000" pitchFamily="2" charset="2"/>
              </a:rPr>
              <a:t>是边的集合，</a:t>
            </a:r>
            <a:r>
              <a:rPr lang="en-US" altLang="x-none" sz="2400" dirty="0">
                <a:latin typeface="华文楷体" panose="02010600040101010101" pitchFamily="2" charset="-122"/>
                <a:ea typeface="宋体" panose="02010600030101010101" pitchFamily="2" charset="-122"/>
                <a:sym typeface="Wingdings" panose="05000000000000000000" pitchFamily="2" charset="2"/>
              </a:rPr>
              <a:t>U={(T</a:t>
            </a:r>
            <a:r>
              <a:rPr lang="en-US" altLang="x-none" sz="2400" baseline="-25000" dirty="0">
                <a:latin typeface="华文楷体" panose="02010600040101010101" pitchFamily="2" charset="-122"/>
                <a:ea typeface="宋体" panose="02010600030101010101" pitchFamily="2" charset="-122"/>
                <a:sym typeface="Wingdings" panose="05000000000000000000" pitchFamily="2" charset="2"/>
              </a:rPr>
              <a:t>i</a:t>
            </a:r>
            <a:r>
              <a:rPr lang="en-US" altLang="x-none" sz="2400" dirty="0">
                <a:latin typeface="华文楷体" panose="02010600040101010101" pitchFamily="2" charset="-122"/>
                <a:ea typeface="宋体" panose="02010600030101010101" pitchFamily="2" charset="-122"/>
                <a:sym typeface="Wingdings" panose="05000000000000000000" pitchFamily="2" charset="2"/>
              </a:rPr>
              <a:t>,T</a:t>
            </a:r>
            <a:r>
              <a:rPr lang="en-US" altLang="x-none" sz="2400" baseline="-25000" dirty="0">
                <a:latin typeface="华文楷体" panose="02010600040101010101" pitchFamily="2" charset="-122"/>
                <a:ea typeface="宋体" panose="02010600030101010101" pitchFamily="2" charset="-122"/>
                <a:sym typeface="Wingdings" panose="05000000000000000000" pitchFamily="2" charset="2"/>
              </a:rPr>
              <a:t>j</a:t>
            </a:r>
            <a:r>
              <a:rPr lang="en-US" altLang="x-none" sz="2400" dirty="0">
                <a:latin typeface="华文楷体" panose="02010600040101010101" pitchFamily="2" charset="-122"/>
                <a:ea typeface="宋体" panose="02010600030101010101" pitchFamily="2" charset="-122"/>
                <a:sym typeface="Wingdings" panose="05000000000000000000" pitchFamily="2" charset="2"/>
              </a:rPr>
              <a:t>) | T</a:t>
            </a:r>
            <a:r>
              <a:rPr lang="en-US" altLang="x-none" sz="2400" baseline="-25000" dirty="0">
                <a:latin typeface="华文楷体" panose="02010600040101010101" pitchFamily="2" charset="-122"/>
                <a:ea typeface="宋体" panose="02010600030101010101" pitchFamily="2" charset="-122"/>
                <a:sym typeface="Wingdings" panose="05000000000000000000" pitchFamily="2" charset="2"/>
              </a:rPr>
              <a:t>i</a:t>
            </a:r>
            <a:r>
              <a:rPr lang="zh-CN" altLang="en-US" sz="2400" dirty="0">
                <a:latin typeface="华文楷体" panose="02010600040101010101" pitchFamily="2" charset="-122"/>
                <a:ea typeface="宋体" panose="02010600030101010101" pitchFamily="2" charset="-122"/>
                <a:sym typeface="Wingdings" panose="05000000000000000000" pitchFamily="2" charset="2"/>
              </a:rPr>
              <a:t>等待</a:t>
            </a:r>
            <a:r>
              <a:rPr lang="en-US" altLang="x-none" sz="2400" dirty="0">
                <a:latin typeface="华文楷体" panose="02010600040101010101" pitchFamily="2" charset="-122"/>
                <a:ea typeface="宋体" panose="02010600030101010101" pitchFamily="2" charset="-122"/>
                <a:sym typeface="Wingdings" panose="05000000000000000000" pitchFamily="2" charset="2"/>
              </a:rPr>
              <a:t>T</a:t>
            </a:r>
            <a:r>
              <a:rPr lang="en-US" altLang="x-none" sz="2400" baseline="-25000" dirty="0">
                <a:latin typeface="华文楷体" panose="02010600040101010101" pitchFamily="2" charset="-122"/>
                <a:ea typeface="宋体" panose="02010600030101010101" pitchFamily="2" charset="-122"/>
                <a:sym typeface="Wingdings" panose="05000000000000000000" pitchFamily="2" charset="2"/>
              </a:rPr>
              <a:t>j</a:t>
            </a:r>
            <a:r>
              <a:rPr lang="en-US" altLang="x-none" sz="2400" dirty="0">
                <a:latin typeface="华文楷体" panose="02010600040101010101" pitchFamily="2" charset="-122"/>
                <a:ea typeface="宋体" panose="02010600030101010101" pitchFamily="2" charset="-122"/>
                <a:sym typeface="Wingdings" panose="05000000000000000000" pitchFamily="2" charset="2"/>
              </a:rPr>
              <a:t>, i≠j}</a:t>
            </a:r>
            <a:r>
              <a:rPr lang="zh-CN" altLang="en-US" sz="2400" dirty="0">
                <a:latin typeface="华文楷体" panose="02010600040101010101" pitchFamily="2" charset="-122"/>
                <a:ea typeface="宋体" panose="02010600030101010101" pitchFamily="2" charset="-122"/>
                <a:sym typeface="Wingdings" panose="05000000000000000000" pitchFamily="2" charset="2"/>
              </a:rPr>
              <a:t>。</a:t>
            </a:r>
            <a:endParaRPr lang="zh-CN" altLang="en-US" sz="2400" dirty="0">
              <a:latin typeface="华文楷体" panose="02010600040101010101" pitchFamily="2" charset="-122"/>
              <a:ea typeface="宋体" panose="02010600030101010101" pitchFamily="2" charset="-122"/>
              <a:sym typeface="Wingdings" panose="05000000000000000000" pitchFamily="2" charset="2"/>
            </a:endParaRPr>
          </a:p>
          <a:p>
            <a:pPr marL="342900" lvl="0" indent="-342900">
              <a:lnSpc>
                <a:spcPct val="110000"/>
              </a:lnSpc>
              <a:spcBef>
                <a:spcPts val="600"/>
              </a:spcBef>
              <a:buClr>
                <a:srgbClr val="0033CC"/>
              </a:buClr>
              <a:buSzPct val="80000"/>
              <a:buFont typeface="Wingdings" panose="05000000000000000000" pitchFamily="2" charset="2"/>
              <a:buChar char="u"/>
            </a:pPr>
            <a:r>
              <a:rPr lang="zh-CN" altLang="en-US" sz="2400" u="sng" dirty="0">
                <a:solidFill>
                  <a:srgbClr val="CC0000"/>
                </a:solidFill>
                <a:latin typeface="华文楷体" panose="02010600040101010101" pitchFamily="2" charset="-122"/>
                <a:ea typeface="宋体" panose="02010600030101010101" pitchFamily="2" charset="-122"/>
              </a:rPr>
              <a:t>等待图的维护：</a:t>
            </a:r>
            <a:r>
              <a:rPr lang="zh-CN" altLang="en-US" sz="2400" dirty="0">
                <a:latin typeface="华文楷体" panose="02010600040101010101" pitchFamily="2" charset="-122"/>
                <a:ea typeface="宋体" panose="02010600030101010101" pitchFamily="2" charset="-122"/>
              </a:rPr>
              <a:t>当某个锁请求加入队列时，锁管理器会向图中增加一条边，而某个锁请求得到获准时，则它会从图中删除一条相应的边。 </a:t>
            </a:r>
            <a:endParaRPr lang="zh-CN" altLang="en-US" sz="2400" dirty="0">
              <a:latin typeface="华文楷体" panose="02010600040101010101" pitchFamily="2" charset="-122"/>
              <a:ea typeface="宋体" panose="02010600030101010101" pitchFamily="2" charset="-122"/>
            </a:endParaRPr>
          </a:p>
          <a:p>
            <a:pPr marL="342900" lvl="0" indent="-342900">
              <a:lnSpc>
                <a:spcPct val="110000"/>
              </a:lnSpc>
              <a:spcBef>
                <a:spcPts val="600"/>
              </a:spcBef>
              <a:buClr>
                <a:srgbClr val="0033CC"/>
              </a:buClr>
              <a:buSzPct val="80000"/>
              <a:buFont typeface="Wingdings" panose="05000000000000000000" pitchFamily="2" charset="2"/>
              <a:buChar char="u"/>
            </a:pPr>
            <a:r>
              <a:rPr lang="zh-CN" altLang="en-US" sz="2400" u="sng" dirty="0">
                <a:solidFill>
                  <a:srgbClr val="CC0000"/>
                </a:solidFill>
                <a:latin typeface="华文楷体" panose="02010600040101010101" pitchFamily="2" charset="-122"/>
                <a:ea typeface="宋体" panose="02010600030101010101" pitchFamily="2" charset="-122"/>
                <a:sym typeface="Wingdings" panose="05000000000000000000" pitchFamily="2" charset="2"/>
              </a:rPr>
              <a:t>死锁检测方法：</a:t>
            </a:r>
            <a:r>
              <a:rPr lang="zh-CN" altLang="en-US" sz="2400" dirty="0">
                <a:latin typeface="华文楷体" panose="02010600040101010101" pitchFamily="2" charset="-122"/>
                <a:ea typeface="宋体" panose="02010600030101010101" pitchFamily="2" charset="-122"/>
                <a:sym typeface="Wingdings" panose="05000000000000000000" pitchFamily="2" charset="2"/>
              </a:rPr>
              <a:t>当且仅当等待图中出现回路时，死锁才发生。检测改进：当运行事务较多时，维护等待图和检测回路开销较大。如每出现一个等待都要检测一次，虽然可及时发现死锁，但开销太大，影响系统性能。合理的方法是周期性进行死锁检测。</a:t>
            </a:r>
            <a:endParaRPr lang="zh-CN" altLang="en-US" sz="2400" dirty="0">
              <a:latin typeface="华文楷体" panose="02010600040101010101" pitchFamily="2" charset="-122"/>
              <a:ea typeface="宋体" panose="02010600030101010101" pitchFamily="2" charset="-122"/>
            </a:endParaRPr>
          </a:p>
        </p:txBody>
      </p:sp>
      <p:sp>
        <p:nvSpPr>
          <p:cNvPr id="129026" name="Rectangle 3"/>
          <p:cNvSpPr txBox="1"/>
          <p:nvPr/>
        </p:nvSpPr>
        <p:spPr>
          <a:xfrm>
            <a:off x="517525" y="838200"/>
            <a:ext cx="7178675" cy="706438"/>
          </a:xfrm>
          <a:prstGeom prst="rect">
            <a:avLst/>
          </a:prstGeom>
          <a:noFill/>
          <a:ln w="9525">
            <a:noFill/>
          </a:ln>
        </p:spPr>
        <p:txBody>
          <a:bodyPr anchor="t"/>
          <a:lstStyle/>
          <a:p>
            <a:pPr lvl="0" indent="0" eaLnBrk="0" hangingPunct="0"/>
            <a:r>
              <a:rPr lang="en-US" altLang="x-none" sz="2800" dirty="0">
                <a:solidFill>
                  <a:srgbClr val="FF0000"/>
                </a:solidFill>
                <a:latin typeface="黑体" panose="02010609060101010101" pitchFamily="1" charset="-122"/>
                <a:ea typeface="黑体" panose="02010609060101010101" pitchFamily="1" charset="-122"/>
              </a:rPr>
              <a:t>3</a:t>
            </a:r>
            <a:r>
              <a:rPr lang="zh-CN" altLang="en-US" sz="2800" dirty="0">
                <a:solidFill>
                  <a:srgbClr val="FF0000"/>
                </a:solidFill>
                <a:latin typeface="黑体" panose="02010609060101010101" pitchFamily="1" charset="-122"/>
                <a:ea typeface="黑体" panose="02010609060101010101" pitchFamily="1" charset="-122"/>
              </a:rPr>
              <a:t>、死锁的检测</a:t>
            </a:r>
            <a:endParaRPr lang="en-US" sz="2800" dirty="0">
              <a:solidFill>
                <a:srgbClr val="FF0000"/>
              </a:solidFill>
              <a:latin typeface="黑体" panose="02010609060101010101" pitchFamily="1" charset="-122"/>
              <a:ea typeface="黑体" panose="02010609060101010101" pitchFamily="1" charset="-122"/>
            </a:endParaRPr>
          </a:p>
        </p:txBody>
      </p:sp>
      <p:sp>
        <p:nvSpPr>
          <p:cNvPr id="5" name="Rectangle 2"/>
          <p:cNvSpPr/>
          <p:nvPr/>
        </p:nvSpPr>
        <p:spPr>
          <a:xfrm>
            <a:off x="561975" y="69215"/>
            <a:ext cx="7924165" cy="692150"/>
          </a:xfrm>
          <a:prstGeom prst="rect">
            <a:avLst/>
          </a:prstGeom>
          <a:noFill/>
          <a:ln w="9525">
            <a:noFill/>
          </a:ln>
        </p:spPr>
        <p:txBody>
          <a:bodyPr anchor="ctr"/>
          <a:lstStyle/>
          <a:p>
            <a:pPr lvl="0" indent="0">
              <a:buFont typeface="Wingdings" panose="05000000000000000000" pitchFamily="2" charset="2"/>
              <a:buNone/>
            </a:pPr>
            <a:r>
              <a:rPr lang="zh-CN" altLang="en-US" sz="3200" dirty="0" smtClean="0">
                <a:solidFill>
                  <a:srgbClr val="0033CC"/>
                </a:solidFill>
                <a:latin typeface="Arial" panose="020B0604020202020204" pitchFamily="34" charset="0"/>
                <a:ea typeface="黑体" panose="02010609060101010101" pitchFamily="1" charset="-122"/>
              </a:rPr>
              <a:t>五、死锁及其预防、检测和处理</a:t>
            </a:r>
            <a:endParaRPr lang="zh-CN" altLang="en-US" sz="3200" dirty="0">
              <a:solidFill>
                <a:srgbClr val="0033CC"/>
              </a:solidFill>
              <a:latin typeface="Arial" panose="020B0604020202020204" pitchFamily="34" charset="0"/>
              <a:ea typeface="黑体" panose="02010609060101010101" pitchFamily="1" charset="-122"/>
            </a:endParaRPr>
          </a:p>
        </p:txBody>
      </p:sp>
    </p:spTree>
  </p:cSld>
  <p:clrMapOvr>
    <a:masterClrMapping/>
  </p:clrMapOvr>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1" name="Rectangle 2"/>
          <p:cNvSpPr/>
          <p:nvPr/>
        </p:nvSpPr>
        <p:spPr>
          <a:xfrm>
            <a:off x="244475" y="2530475"/>
            <a:ext cx="9144000" cy="0"/>
          </a:xfrm>
          <a:prstGeom prst="rect">
            <a:avLst/>
          </a:prstGeom>
          <a:noFill/>
          <a:ln w="9525">
            <a:noFill/>
          </a:ln>
        </p:spPr>
        <p:txBody>
          <a:bodyPr wrap="none" anchor="ctr">
            <a:spAutoFit/>
          </a:bodyPr>
          <a:lstStyle/>
          <a:p>
            <a:pPr lvl="0" indent="0"/>
            <a:endParaRPr lang="zh-CN" altLang="en-US" dirty="0">
              <a:latin typeface="Arial" panose="020B0604020202020204" pitchFamily="34" charset="0"/>
              <a:ea typeface="宋体" panose="02010600030101010101" pitchFamily="2" charset="-122"/>
            </a:endParaRPr>
          </a:p>
        </p:txBody>
      </p:sp>
      <p:graphicFrame>
        <p:nvGraphicFramePr>
          <p:cNvPr id="138245" name="Object 3"/>
          <p:cNvGraphicFramePr>
            <a:graphicFrameLocks noChangeAspect="1"/>
          </p:cNvGraphicFramePr>
          <p:nvPr/>
        </p:nvGraphicFramePr>
        <p:xfrm>
          <a:off x="198438" y="1882775"/>
          <a:ext cx="5151437" cy="4335463"/>
        </p:xfrm>
        <a:graphic>
          <a:graphicData uri="http://schemas.openxmlformats.org/presentationml/2006/ole">
            <mc:AlternateContent xmlns:mc="http://schemas.openxmlformats.org/markup-compatibility/2006">
              <mc:Choice xmlns:v="urn:schemas-microsoft-com:vml" Requires="v">
                <p:oleObj spid="_x0000_s11291" name="" r:id="rId1" imgW="2143125" imgH="1962150" progId="Word.Picture.8">
                  <p:embed/>
                </p:oleObj>
              </mc:Choice>
              <mc:Fallback>
                <p:oleObj name="" r:id="rId1" imgW="2143125" imgH="1962150" progId="Word.Picture.8">
                  <p:embed/>
                  <p:pic>
                    <p:nvPicPr>
                      <p:cNvPr id="0" name="图片 3102"/>
                      <p:cNvPicPr/>
                      <p:nvPr/>
                    </p:nvPicPr>
                    <p:blipFill>
                      <a:blip r:embed="rId2"/>
                      <a:stretch>
                        <a:fillRect/>
                      </a:stretch>
                    </p:blipFill>
                    <p:spPr>
                      <a:xfrm>
                        <a:off x="198438" y="1882775"/>
                        <a:ext cx="5151437" cy="4335463"/>
                      </a:xfrm>
                      <a:prstGeom prst="rect">
                        <a:avLst/>
                      </a:prstGeom>
                      <a:solidFill>
                        <a:srgbClr val="FFFFFF"/>
                      </a:solidFill>
                      <a:ln w="38100">
                        <a:noFill/>
                        <a:miter/>
                      </a:ln>
                    </p:spPr>
                  </p:pic>
                </p:oleObj>
              </mc:Fallback>
            </mc:AlternateContent>
          </a:graphicData>
        </a:graphic>
      </p:graphicFrame>
      <p:sp>
        <p:nvSpPr>
          <p:cNvPr id="135173" name="Rectangle 4"/>
          <p:cNvSpPr/>
          <p:nvPr/>
        </p:nvSpPr>
        <p:spPr>
          <a:xfrm>
            <a:off x="244475" y="3173413"/>
            <a:ext cx="9144000" cy="0"/>
          </a:xfrm>
          <a:prstGeom prst="rect">
            <a:avLst/>
          </a:prstGeom>
          <a:noFill/>
          <a:ln w="9525">
            <a:noFill/>
          </a:ln>
        </p:spPr>
        <p:txBody>
          <a:bodyPr wrap="none" anchor="ctr">
            <a:spAutoFit/>
          </a:bodyPr>
          <a:lstStyle/>
          <a:p>
            <a:pPr lvl="0" indent="0"/>
            <a:endParaRPr lang="zh-CN" altLang="en-US" dirty="0">
              <a:latin typeface="Arial" panose="020B0604020202020204" pitchFamily="34" charset="0"/>
              <a:ea typeface="宋体" panose="02010600030101010101" pitchFamily="2" charset="-122"/>
            </a:endParaRPr>
          </a:p>
        </p:txBody>
      </p:sp>
      <p:graphicFrame>
        <p:nvGraphicFramePr>
          <p:cNvPr id="138247" name="Object 5"/>
          <p:cNvGraphicFramePr>
            <a:graphicFrameLocks noChangeAspect="1"/>
          </p:cNvGraphicFramePr>
          <p:nvPr/>
        </p:nvGraphicFramePr>
        <p:xfrm>
          <a:off x="5443538" y="2182813"/>
          <a:ext cx="3576637" cy="3121025"/>
        </p:xfrm>
        <a:graphic>
          <a:graphicData uri="http://schemas.openxmlformats.org/presentationml/2006/ole">
            <mc:AlternateContent xmlns:mc="http://schemas.openxmlformats.org/markup-compatibility/2006">
              <mc:Choice xmlns:v="urn:schemas-microsoft-com:vml" Requires="v">
                <p:oleObj spid="_x0000_s11292" name="" r:id="rId3" imgW="2642870" imgH="1790700" progId="Word.Picture.8">
                  <p:embed/>
                </p:oleObj>
              </mc:Choice>
              <mc:Fallback>
                <p:oleObj name="" r:id="rId3" imgW="2642870" imgH="1790700" progId="Word.Picture.8">
                  <p:embed/>
                  <p:pic>
                    <p:nvPicPr>
                      <p:cNvPr id="0" name="图片 3103"/>
                      <p:cNvPicPr/>
                      <p:nvPr/>
                    </p:nvPicPr>
                    <p:blipFill>
                      <a:blip r:embed="rId4"/>
                      <a:stretch>
                        <a:fillRect/>
                      </a:stretch>
                    </p:blipFill>
                    <p:spPr>
                      <a:xfrm>
                        <a:off x="5443538" y="2182813"/>
                        <a:ext cx="3576637" cy="3121025"/>
                      </a:xfrm>
                      <a:prstGeom prst="rect">
                        <a:avLst/>
                      </a:prstGeom>
                      <a:solidFill>
                        <a:srgbClr val="FFFFFF"/>
                      </a:solidFill>
                      <a:ln w="38100">
                        <a:noFill/>
                        <a:miter/>
                      </a:ln>
                    </p:spPr>
                  </p:pic>
                </p:oleObj>
              </mc:Fallback>
            </mc:AlternateContent>
          </a:graphicData>
        </a:graphic>
      </p:graphicFrame>
      <p:sp>
        <p:nvSpPr>
          <p:cNvPr id="138248" name="Oval 6"/>
          <p:cNvSpPr/>
          <p:nvPr/>
        </p:nvSpPr>
        <p:spPr>
          <a:xfrm>
            <a:off x="8156575" y="2654300"/>
            <a:ext cx="576263" cy="485775"/>
          </a:xfrm>
          <a:prstGeom prst="ellipse">
            <a:avLst/>
          </a:prstGeom>
          <a:noFill/>
          <a:ln w="38100" cap="flat" cmpd="sng">
            <a:solidFill>
              <a:srgbClr val="CC0000"/>
            </a:solidFill>
            <a:prstDash val="solid"/>
            <a:round/>
            <a:headEnd type="none" w="med" len="med"/>
            <a:tailEnd type="none" w="med" len="med"/>
          </a:ln>
        </p:spPr>
        <p:txBody>
          <a:bodyPr wrap="none" lIns="90000" tIns="46800" rIns="90000" bIns="46800" anchor="ctr"/>
          <a:lstStyle/>
          <a:p>
            <a:pPr lvl="0" indent="0"/>
            <a:endParaRPr lang="zh-CN" altLang="en-US" dirty="0">
              <a:latin typeface="Arial" panose="020B0604020202020204" pitchFamily="34" charset="0"/>
              <a:ea typeface="宋体" panose="02010600030101010101" pitchFamily="2" charset="-122"/>
            </a:endParaRPr>
          </a:p>
        </p:txBody>
      </p:sp>
      <p:sp>
        <p:nvSpPr>
          <p:cNvPr id="135177" name="矩形 9"/>
          <p:cNvSpPr/>
          <p:nvPr/>
        </p:nvSpPr>
        <p:spPr>
          <a:xfrm>
            <a:off x="381000" y="1223963"/>
            <a:ext cx="2211388" cy="587375"/>
          </a:xfrm>
          <a:prstGeom prst="rect">
            <a:avLst/>
          </a:prstGeom>
          <a:noFill/>
          <a:ln w="9525">
            <a:noFill/>
          </a:ln>
        </p:spPr>
        <p:txBody>
          <a:bodyPr wrap="none" anchor="t">
            <a:spAutoFit/>
          </a:bodyPr>
          <a:lstStyle/>
          <a:p>
            <a:pPr marL="342900" lvl="0" indent="-342900">
              <a:lnSpc>
                <a:spcPct val="150000"/>
              </a:lnSpc>
              <a:spcBef>
                <a:spcPct val="50000"/>
              </a:spcBef>
              <a:buClr>
                <a:srgbClr val="0033CC"/>
              </a:buClr>
              <a:buSzPct val="80000"/>
            </a:pPr>
            <a:r>
              <a:rPr lang="zh-CN" altLang="en-US" sz="2400" dirty="0">
                <a:latin typeface="Arial" panose="020B0604020202020204" pitchFamily="34" charset="0"/>
                <a:ea typeface="宋体" panose="02010600030101010101" pitchFamily="2" charset="-122"/>
              </a:rPr>
              <a:t>（</a:t>
            </a:r>
            <a:r>
              <a:rPr lang="en-US" altLang="x-none" sz="2400" dirty="0">
                <a:latin typeface="Arial" panose="020B0604020202020204" pitchFamily="34" charset="0"/>
                <a:ea typeface="宋体" panose="02010600030101010101" pitchFamily="2" charset="-122"/>
              </a:rPr>
              <a:t>2</a:t>
            </a:r>
            <a:r>
              <a:rPr lang="zh-CN" altLang="en-US" sz="2400" dirty="0">
                <a:latin typeface="Arial" panose="020B0604020202020204" pitchFamily="34" charset="0"/>
                <a:ea typeface="宋体" panose="02010600030101010101" pitchFamily="2" charset="-122"/>
              </a:rPr>
              <a:t>）</a:t>
            </a:r>
            <a:r>
              <a:rPr lang="zh-CN" altLang="en-US" sz="2400" dirty="0">
                <a:latin typeface="华文楷体" panose="02010600040101010101" pitchFamily="2" charset="-122"/>
                <a:ea typeface="宋体" panose="02010600030101010101" pitchFamily="2" charset="-122"/>
              </a:rPr>
              <a:t>等待图法</a:t>
            </a:r>
            <a:endParaRPr lang="zh-CN" altLang="en-US" sz="2400" dirty="0">
              <a:latin typeface="华文楷体" panose="02010600040101010101" pitchFamily="2" charset="-122"/>
              <a:ea typeface="宋体" panose="02010600030101010101" pitchFamily="2" charset="-122"/>
            </a:endParaRPr>
          </a:p>
        </p:txBody>
      </p:sp>
      <p:sp>
        <p:nvSpPr>
          <p:cNvPr id="129026" name="Rectangle 3"/>
          <p:cNvSpPr txBox="1"/>
          <p:nvPr/>
        </p:nvSpPr>
        <p:spPr>
          <a:xfrm>
            <a:off x="517525" y="838200"/>
            <a:ext cx="7178675" cy="706438"/>
          </a:xfrm>
          <a:prstGeom prst="rect">
            <a:avLst/>
          </a:prstGeom>
          <a:noFill/>
          <a:ln w="9525">
            <a:noFill/>
          </a:ln>
        </p:spPr>
        <p:txBody>
          <a:bodyPr anchor="t"/>
          <a:lstStyle/>
          <a:p>
            <a:pPr lvl="0" indent="0" eaLnBrk="0" hangingPunct="0"/>
            <a:r>
              <a:rPr lang="en-US" altLang="x-none" sz="2800" dirty="0">
                <a:solidFill>
                  <a:srgbClr val="FF0000"/>
                </a:solidFill>
                <a:latin typeface="黑体" panose="02010609060101010101" pitchFamily="1" charset="-122"/>
                <a:ea typeface="黑体" panose="02010609060101010101" pitchFamily="1" charset="-122"/>
              </a:rPr>
              <a:t>3</a:t>
            </a:r>
            <a:r>
              <a:rPr lang="zh-CN" altLang="en-US" sz="2800" dirty="0">
                <a:solidFill>
                  <a:srgbClr val="FF0000"/>
                </a:solidFill>
                <a:latin typeface="黑体" panose="02010609060101010101" pitchFamily="1" charset="-122"/>
                <a:ea typeface="黑体" panose="02010609060101010101" pitchFamily="1" charset="-122"/>
              </a:rPr>
              <a:t>、死锁的检测</a:t>
            </a:r>
            <a:endParaRPr lang="en-US" sz="2800" dirty="0">
              <a:solidFill>
                <a:srgbClr val="FF0000"/>
              </a:solidFill>
              <a:latin typeface="黑体" panose="02010609060101010101" pitchFamily="1" charset="-122"/>
              <a:ea typeface="黑体" panose="02010609060101010101" pitchFamily="1" charset="-122"/>
            </a:endParaRPr>
          </a:p>
        </p:txBody>
      </p:sp>
      <p:sp>
        <p:nvSpPr>
          <p:cNvPr id="5" name="Rectangle 2"/>
          <p:cNvSpPr/>
          <p:nvPr/>
        </p:nvSpPr>
        <p:spPr>
          <a:xfrm>
            <a:off x="561975" y="69215"/>
            <a:ext cx="7924165" cy="692150"/>
          </a:xfrm>
          <a:prstGeom prst="rect">
            <a:avLst/>
          </a:prstGeom>
          <a:noFill/>
          <a:ln w="9525">
            <a:noFill/>
          </a:ln>
        </p:spPr>
        <p:txBody>
          <a:bodyPr anchor="ctr"/>
          <a:lstStyle/>
          <a:p>
            <a:pPr lvl="0" indent="0">
              <a:buFont typeface="Wingdings" panose="05000000000000000000" pitchFamily="2" charset="2"/>
              <a:buNone/>
            </a:pPr>
            <a:r>
              <a:rPr lang="zh-CN" altLang="en-US" sz="3200" dirty="0" smtClean="0">
                <a:solidFill>
                  <a:srgbClr val="0033CC"/>
                </a:solidFill>
                <a:latin typeface="Arial" panose="020B0604020202020204" pitchFamily="34" charset="0"/>
                <a:ea typeface="黑体" panose="02010609060101010101" pitchFamily="1" charset="-122"/>
              </a:rPr>
              <a:t>五、死锁及其预防、检测和处理</a:t>
            </a:r>
            <a:endParaRPr lang="zh-CN" altLang="en-US" sz="3200" dirty="0">
              <a:solidFill>
                <a:srgbClr val="0033CC"/>
              </a:solidFill>
              <a:latin typeface="Arial" panose="020B0604020202020204" pitchFamily="34" charset="0"/>
              <a:ea typeface="黑体" panose="02010609060101010101" pitchFamily="1"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3" presetClass="entr" presetSubtype="16" fill="hold" nodeType="clickEffect">
                                  <p:stCondLst>
                                    <p:cond delay="0"/>
                                  </p:stCondLst>
                                  <p:childTnLst>
                                    <p:set>
                                      <p:cBhvr>
                                        <p:cTn id="6" dur="1" fill="hold">
                                          <p:stCondLst>
                                            <p:cond delay="0"/>
                                          </p:stCondLst>
                                        </p:cTn>
                                        <p:tgtEl>
                                          <p:spTgt spid="138245"/>
                                        </p:tgtEl>
                                        <p:attrNameLst>
                                          <p:attrName>style.visibility</p:attrName>
                                        </p:attrNameLst>
                                      </p:cBhvr>
                                      <p:to>
                                        <p:strVal val="visible"/>
                                      </p:to>
                                    </p:set>
                                    <p:animEffect transition="in" filter="plus(in)">
                                      <p:cBhvr>
                                        <p:cTn id="7" dur="2000"/>
                                        <p:tgtEl>
                                          <p:spTgt spid="138245"/>
                                        </p:tgtEl>
                                      </p:cBhvr>
                                    </p:animEffect>
                                  </p:childTnLst>
                                </p:cTn>
                              </p:par>
                            </p:childTnLst>
                          </p:cTn>
                        </p:par>
                      </p:childTnLst>
                    </p:cTn>
                  </p:par>
                  <p:par>
                    <p:cTn id="8" fill="hold">
                      <p:stCondLst>
                        <p:cond delay="indefinite"/>
                      </p:stCondLst>
                      <p:childTnLst>
                        <p:par>
                          <p:cTn id="9" fill="hold">
                            <p:stCondLst>
                              <p:cond delay="0"/>
                            </p:stCondLst>
                            <p:childTnLst>
                              <p:par>
                                <p:cTn id="10" presetID="13" presetClass="entr" presetSubtype="16" fill="hold" nodeType="clickEffect">
                                  <p:stCondLst>
                                    <p:cond delay="0"/>
                                  </p:stCondLst>
                                  <p:childTnLst>
                                    <p:set>
                                      <p:cBhvr>
                                        <p:cTn id="11" dur="1" fill="hold">
                                          <p:stCondLst>
                                            <p:cond delay="0"/>
                                          </p:stCondLst>
                                        </p:cTn>
                                        <p:tgtEl>
                                          <p:spTgt spid="138247"/>
                                        </p:tgtEl>
                                        <p:attrNameLst>
                                          <p:attrName>style.visibility</p:attrName>
                                        </p:attrNameLst>
                                      </p:cBhvr>
                                      <p:to>
                                        <p:strVal val="visible"/>
                                      </p:to>
                                    </p:set>
                                    <p:animEffect transition="in" filter="plus(in)">
                                      <p:cBhvr>
                                        <p:cTn id="12" dur="2000"/>
                                        <p:tgtEl>
                                          <p:spTgt spid="138247"/>
                                        </p:tgtEl>
                                      </p:cBhvr>
                                    </p:animEffect>
                                  </p:childTnLst>
                                </p:cTn>
                              </p:par>
                            </p:childTnLst>
                          </p:cTn>
                        </p:par>
                      </p:childTnLst>
                    </p:cTn>
                  </p:par>
                  <p:par>
                    <p:cTn id="13" fill="hold">
                      <p:stCondLst>
                        <p:cond delay="indefinite"/>
                      </p:stCondLst>
                      <p:childTnLst>
                        <p:par>
                          <p:cTn id="14" fill="hold">
                            <p:stCondLst>
                              <p:cond delay="0"/>
                            </p:stCondLst>
                            <p:childTnLst>
                              <p:par>
                                <p:cTn id="15" presetID="20" presetClass="entr" presetSubtype="0" fill="hold" grpId="0" nodeType="clickEffect">
                                  <p:stCondLst>
                                    <p:cond delay="0"/>
                                  </p:stCondLst>
                                  <p:childTnLst>
                                    <p:set>
                                      <p:cBhvr>
                                        <p:cTn id="16" dur="1" fill="hold">
                                          <p:stCondLst>
                                            <p:cond delay="0"/>
                                          </p:stCondLst>
                                        </p:cTn>
                                        <p:tgtEl>
                                          <p:spTgt spid="138248"/>
                                        </p:tgtEl>
                                        <p:attrNameLst>
                                          <p:attrName>style.visibility</p:attrName>
                                        </p:attrNameLst>
                                      </p:cBhvr>
                                      <p:to>
                                        <p:strVal val="visible"/>
                                      </p:to>
                                    </p:set>
                                    <p:animEffect transition="in" filter="wedge">
                                      <p:cBhvr>
                                        <p:cTn id="17" dur="2000"/>
                                        <p:tgtEl>
                                          <p:spTgt spid="1382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8248" grpId="0" bldLvl="0" animBg="1"/>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6" name="Rectangle 3"/>
          <p:cNvSpPr txBox="1"/>
          <p:nvPr/>
        </p:nvSpPr>
        <p:spPr>
          <a:xfrm>
            <a:off x="644208" y="1389063"/>
            <a:ext cx="8135937" cy="4130675"/>
          </a:xfrm>
          <a:prstGeom prst="rect">
            <a:avLst/>
          </a:prstGeom>
          <a:noFill/>
          <a:ln w="9525">
            <a:noFill/>
          </a:ln>
        </p:spPr>
        <p:txBody>
          <a:bodyPr anchor="t"/>
          <a:lstStyle/>
          <a:p>
            <a:pPr marL="342900" lvl="0" indent="-342900">
              <a:lnSpc>
                <a:spcPct val="125000"/>
              </a:lnSpc>
              <a:spcBef>
                <a:spcPts val="300"/>
              </a:spcBef>
              <a:spcAft>
                <a:spcPts val="0"/>
              </a:spcAft>
              <a:buClr>
                <a:srgbClr val="0000CC"/>
              </a:buClr>
              <a:buSzPct val="80000"/>
              <a:buFont typeface="Wingdings" panose="05000000000000000000" pitchFamily="2" charset="2"/>
              <a:buChar char="u"/>
            </a:pPr>
            <a:r>
              <a:rPr lang="zh-CN" altLang="en-US" sz="2400" dirty="0">
                <a:solidFill>
                  <a:srgbClr val="CC0000"/>
                </a:solidFill>
                <a:latin typeface="华文楷体" panose="02010600040101010101" pitchFamily="2" charset="-122"/>
                <a:ea typeface="宋体" panose="02010600030101010101" pitchFamily="2" charset="-122"/>
              </a:rPr>
              <a:t>处理思想：</a:t>
            </a:r>
            <a:r>
              <a:rPr lang="zh-CN" altLang="en-US" sz="2400" dirty="0">
                <a:latin typeface="华文楷体" panose="02010600040101010101" pitchFamily="2" charset="-122"/>
                <a:ea typeface="宋体" panose="02010600030101010101" pitchFamily="2" charset="-122"/>
              </a:rPr>
              <a:t>“</a:t>
            </a:r>
            <a:r>
              <a:rPr lang="zh-CN" altLang="en-US" sz="2400" dirty="0">
                <a:latin typeface="华文楷体" panose="02010600040101010101" pitchFamily="2" charset="-122"/>
                <a:ea typeface="宋体" panose="02010600030101010101" pitchFamily="2" charset="-122"/>
                <a:sym typeface="Wingdings" panose="05000000000000000000" pitchFamily="2" charset="2"/>
              </a:rPr>
              <a:t>杀死”事务，打破循环等待，解除死锁。</a:t>
            </a:r>
            <a:endParaRPr lang="zh-CN" altLang="en-US" sz="2400" dirty="0">
              <a:latin typeface="华文楷体" panose="02010600040101010101" pitchFamily="2" charset="-122"/>
              <a:ea typeface="宋体" panose="02010600030101010101" pitchFamily="2" charset="-122"/>
              <a:sym typeface="Wingdings" panose="05000000000000000000" pitchFamily="2" charset="2"/>
            </a:endParaRPr>
          </a:p>
          <a:p>
            <a:pPr marL="342900" lvl="0" indent="-342900">
              <a:lnSpc>
                <a:spcPct val="125000"/>
              </a:lnSpc>
              <a:spcBef>
                <a:spcPts val="300"/>
              </a:spcBef>
              <a:spcAft>
                <a:spcPts val="0"/>
              </a:spcAft>
              <a:buClr>
                <a:srgbClr val="0033CC"/>
              </a:buClr>
              <a:buSzPct val="80000"/>
              <a:buFont typeface="Wingdings" panose="05000000000000000000" pitchFamily="2" charset="2"/>
              <a:buChar char="u"/>
            </a:pPr>
            <a:r>
              <a:rPr lang="zh-CN" altLang="en-US" sz="2400" dirty="0">
                <a:solidFill>
                  <a:srgbClr val="CC0000"/>
                </a:solidFill>
                <a:latin typeface="华文楷体" panose="02010600040101010101" pitchFamily="2" charset="-122"/>
                <a:ea typeface="宋体" panose="02010600030101010101" pitchFamily="2" charset="-122"/>
                <a:sym typeface="Wingdings" panose="05000000000000000000" pitchFamily="2" charset="2"/>
              </a:rPr>
              <a:t>死锁处理的步骤：</a:t>
            </a:r>
            <a:r>
              <a:rPr lang="zh-CN" altLang="en-US" sz="2400" dirty="0">
                <a:latin typeface="华文楷体" panose="02010600040101010101" pitchFamily="2" charset="-122"/>
                <a:ea typeface="宋体" panose="02010600030101010101" pitchFamily="2" charset="-122"/>
              </a:rPr>
              <a:t> </a:t>
            </a:r>
            <a:endParaRPr lang="zh-CN" altLang="en-US" sz="2400" dirty="0">
              <a:latin typeface="华文楷体" panose="02010600040101010101" pitchFamily="2" charset="-122"/>
              <a:ea typeface="宋体" panose="02010600030101010101" pitchFamily="2" charset="-122"/>
            </a:endParaRPr>
          </a:p>
          <a:p>
            <a:pPr marL="342900" lvl="0" indent="-342900">
              <a:lnSpc>
                <a:spcPct val="125000"/>
              </a:lnSpc>
              <a:spcBef>
                <a:spcPts val="300"/>
              </a:spcBef>
              <a:spcAft>
                <a:spcPts val="0"/>
              </a:spcAft>
              <a:buClr>
                <a:srgbClr val="0033CC"/>
              </a:buClr>
              <a:buSzPct val="80000"/>
            </a:pPr>
            <a:r>
              <a:rPr lang="zh-CN" altLang="en-US" sz="2400" dirty="0">
                <a:latin typeface="华文楷体" panose="02010600040101010101" pitchFamily="2" charset="-122"/>
                <a:ea typeface="宋体" panose="02010600030101010101" pitchFamily="2" charset="-122"/>
              </a:rPr>
              <a:t>① </a:t>
            </a:r>
            <a:r>
              <a:rPr lang="zh-CN" altLang="en-US" sz="2400" dirty="0">
                <a:latin typeface="华文楷体" panose="02010600040101010101" pitchFamily="2" charset="-122"/>
                <a:ea typeface="宋体" panose="02010600030101010101" pitchFamily="2" charset="-122"/>
                <a:sym typeface="Wingdings" panose="05000000000000000000" pitchFamily="2" charset="2"/>
              </a:rPr>
              <a:t>在循环等待的事务中，选一事务作为牺牲者；</a:t>
            </a:r>
            <a:endParaRPr lang="zh-CN" altLang="en-US" sz="2400" dirty="0">
              <a:latin typeface="华文楷体" panose="02010600040101010101" pitchFamily="2" charset="-122"/>
              <a:ea typeface="宋体" panose="02010600030101010101" pitchFamily="2" charset="-122"/>
              <a:sym typeface="Wingdings" panose="05000000000000000000" pitchFamily="2" charset="2"/>
            </a:endParaRPr>
          </a:p>
          <a:p>
            <a:pPr marL="342900" lvl="0" indent="-342900">
              <a:lnSpc>
                <a:spcPct val="125000"/>
              </a:lnSpc>
              <a:spcBef>
                <a:spcPts val="300"/>
              </a:spcBef>
              <a:spcAft>
                <a:spcPts val="0"/>
              </a:spcAft>
              <a:buClr>
                <a:srgbClr val="0033CC"/>
              </a:buClr>
              <a:buSzPct val="80000"/>
            </a:pPr>
            <a:r>
              <a:rPr lang="zh-CN" altLang="en-US" sz="2400" dirty="0">
                <a:latin typeface="华文楷体" panose="02010600040101010101" pitchFamily="2" charset="-122"/>
                <a:ea typeface="宋体" panose="02010600030101010101" pitchFamily="2" charset="-122"/>
              </a:rPr>
              <a:t>② </a:t>
            </a:r>
            <a:r>
              <a:rPr lang="zh-CN" altLang="en-US" sz="2400" dirty="0">
                <a:latin typeface="华文楷体" panose="02010600040101010101" pitchFamily="2" charset="-122"/>
                <a:ea typeface="宋体" panose="02010600030101010101" pitchFamily="2" charset="-122"/>
                <a:sym typeface="Wingdings" panose="05000000000000000000" pitchFamily="2" charset="2"/>
              </a:rPr>
              <a:t>回退牺牲的事务，释放其获得的锁及其他资源；</a:t>
            </a:r>
            <a:endParaRPr lang="zh-CN" altLang="en-US" sz="2400" dirty="0">
              <a:latin typeface="华文楷体" panose="02010600040101010101" pitchFamily="2" charset="-122"/>
              <a:ea typeface="宋体" panose="02010600030101010101" pitchFamily="2" charset="-122"/>
              <a:sym typeface="Wingdings" panose="05000000000000000000" pitchFamily="2" charset="2"/>
            </a:endParaRPr>
          </a:p>
          <a:p>
            <a:pPr marL="342900" lvl="0" indent="-342900">
              <a:lnSpc>
                <a:spcPct val="125000"/>
              </a:lnSpc>
              <a:spcBef>
                <a:spcPts val="300"/>
              </a:spcBef>
              <a:spcAft>
                <a:spcPts val="0"/>
              </a:spcAft>
              <a:buClr>
                <a:srgbClr val="0033CC"/>
              </a:buClr>
              <a:buSzPct val="80000"/>
            </a:pPr>
            <a:r>
              <a:rPr lang="zh-CN" altLang="en-US" sz="2400" dirty="0">
                <a:latin typeface="华文楷体" panose="02010600040101010101" pitchFamily="2" charset="-122"/>
                <a:ea typeface="宋体" panose="02010600030101010101" pitchFamily="2" charset="-122"/>
              </a:rPr>
              <a:t>③ </a:t>
            </a:r>
            <a:r>
              <a:rPr lang="zh-CN" altLang="en-US" sz="2400" dirty="0">
                <a:latin typeface="华文楷体" panose="02010600040101010101" pitchFamily="2" charset="-122"/>
                <a:ea typeface="宋体" panose="02010600030101010101" pitchFamily="2" charset="-122"/>
                <a:sym typeface="Wingdings" panose="05000000000000000000" pitchFamily="2" charset="2"/>
              </a:rPr>
              <a:t>将释放的锁让给等待它的事务。</a:t>
            </a:r>
            <a:endParaRPr lang="zh-CN" altLang="en-US" sz="2400" dirty="0">
              <a:latin typeface="华文楷体" panose="02010600040101010101" pitchFamily="2" charset="-122"/>
              <a:ea typeface="宋体" panose="02010600030101010101" pitchFamily="2" charset="-122"/>
              <a:sym typeface="Wingdings" panose="05000000000000000000" pitchFamily="2" charset="2"/>
            </a:endParaRPr>
          </a:p>
          <a:p>
            <a:pPr marL="342900" lvl="0" indent="-342900">
              <a:lnSpc>
                <a:spcPct val="125000"/>
              </a:lnSpc>
              <a:spcBef>
                <a:spcPts val="300"/>
              </a:spcBef>
              <a:spcAft>
                <a:spcPts val="0"/>
              </a:spcAft>
              <a:buClr>
                <a:srgbClr val="0033CC"/>
              </a:buClr>
              <a:buSzPct val="80000"/>
              <a:buFont typeface="Wingdings" panose="05000000000000000000" pitchFamily="2" charset="2"/>
              <a:buChar char="u"/>
            </a:pPr>
            <a:r>
              <a:rPr lang="zh-CN" altLang="en-US" sz="2400" dirty="0">
                <a:solidFill>
                  <a:srgbClr val="CC0000"/>
                </a:solidFill>
                <a:latin typeface="华文楷体" panose="02010600040101010101" pitchFamily="2" charset="-122"/>
                <a:ea typeface="宋体" panose="02010600030101010101" pitchFamily="2" charset="-122"/>
                <a:sym typeface="Wingdings" panose="05000000000000000000" pitchFamily="2" charset="2"/>
              </a:rPr>
              <a:t>牺牲事务的选择标准：</a:t>
            </a:r>
            <a:endParaRPr lang="zh-CN" altLang="en-US" sz="2400" dirty="0">
              <a:solidFill>
                <a:srgbClr val="CC0000"/>
              </a:solidFill>
              <a:latin typeface="华文楷体" panose="02010600040101010101" pitchFamily="2" charset="-122"/>
              <a:ea typeface="宋体" panose="02010600030101010101" pitchFamily="2" charset="-122"/>
              <a:sym typeface="Wingdings" panose="05000000000000000000" pitchFamily="2" charset="2"/>
            </a:endParaRPr>
          </a:p>
          <a:p>
            <a:pPr marL="342900" lvl="0" indent="-342900">
              <a:lnSpc>
                <a:spcPct val="125000"/>
              </a:lnSpc>
              <a:spcBef>
                <a:spcPts val="300"/>
              </a:spcBef>
              <a:spcAft>
                <a:spcPts val="0"/>
              </a:spcAft>
              <a:buClr>
                <a:srgbClr val="0033CC"/>
              </a:buClr>
              <a:buSzPct val="80000"/>
            </a:pPr>
            <a:r>
              <a:rPr lang="zh-CN" altLang="en-US" sz="2400" dirty="0">
                <a:latin typeface="华文楷体" panose="02010600040101010101" pitchFamily="2" charset="-122"/>
                <a:ea typeface="宋体" panose="02010600030101010101" pitchFamily="2" charset="-122"/>
              </a:rPr>
              <a:t>① </a:t>
            </a:r>
            <a:r>
              <a:rPr lang="zh-CN" altLang="en-US" sz="2400" dirty="0">
                <a:latin typeface="华文楷体" panose="02010600040101010101" pitchFamily="2" charset="-122"/>
                <a:ea typeface="宋体" panose="02010600030101010101" pitchFamily="2" charset="-122"/>
                <a:sym typeface="Wingdings" panose="05000000000000000000" pitchFamily="2" charset="2"/>
              </a:rPr>
              <a:t>选择最迟交付的事务作为牺牲者；</a:t>
            </a:r>
            <a:endParaRPr lang="zh-CN" altLang="en-US" sz="2400" dirty="0">
              <a:latin typeface="华文楷体" panose="02010600040101010101" pitchFamily="2" charset="-122"/>
              <a:ea typeface="宋体" panose="02010600030101010101" pitchFamily="2" charset="-122"/>
              <a:sym typeface="Wingdings" panose="05000000000000000000" pitchFamily="2" charset="2"/>
            </a:endParaRPr>
          </a:p>
          <a:p>
            <a:pPr marL="342900" lvl="0" indent="-342900">
              <a:lnSpc>
                <a:spcPct val="125000"/>
              </a:lnSpc>
              <a:spcBef>
                <a:spcPts val="300"/>
              </a:spcBef>
              <a:spcAft>
                <a:spcPts val="0"/>
              </a:spcAft>
              <a:buClr>
                <a:srgbClr val="0033CC"/>
              </a:buClr>
              <a:buSzPct val="80000"/>
            </a:pPr>
            <a:r>
              <a:rPr lang="zh-CN" altLang="en-US" sz="2400" dirty="0">
                <a:latin typeface="华文楷体" panose="02010600040101010101" pitchFamily="2" charset="-122"/>
                <a:ea typeface="宋体" panose="02010600030101010101" pitchFamily="2" charset="-122"/>
              </a:rPr>
              <a:t>② </a:t>
            </a:r>
            <a:r>
              <a:rPr lang="zh-CN" altLang="en-US" sz="2400" dirty="0">
                <a:latin typeface="华文楷体" panose="02010600040101010101" pitchFamily="2" charset="-122"/>
                <a:ea typeface="宋体" panose="02010600030101010101" pitchFamily="2" charset="-122"/>
                <a:sym typeface="Wingdings" panose="05000000000000000000" pitchFamily="2" charset="2"/>
              </a:rPr>
              <a:t>选择获得锁最少的事务作为牺牲者；</a:t>
            </a:r>
            <a:endParaRPr lang="zh-CN" altLang="en-US" sz="2400" dirty="0">
              <a:latin typeface="华文楷体" panose="02010600040101010101" pitchFamily="2" charset="-122"/>
              <a:ea typeface="宋体" panose="02010600030101010101" pitchFamily="2" charset="-122"/>
              <a:sym typeface="Wingdings" panose="05000000000000000000" pitchFamily="2" charset="2"/>
            </a:endParaRPr>
          </a:p>
          <a:p>
            <a:pPr marL="342900" lvl="0" indent="-342900">
              <a:lnSpc>
                <a:spcPct val="125000"/>
              </a:lnSpc>
              <a:spcBef>
                <a:spcPts val="300"/>
              </a:spcBef>
              <a:spcAft>
                <a:spcPts val="0"/>
              </a:spcAft>
              <a:buClr>
                <a:srgbClr val="0033CC"/>
              </a:buClr>
              <a:buSzPct val="80000"/>
            </a:pPr>
            <a:r>
              <a:rPr lang="zh-CN" altLang="en-US" sz="2400" dirty="0">
                <a:latin typeface="华文楷体" panose="02010600040101010101" pitchFamily="2" charset="-122"/>
                <a:ea typeface="宋体" panose="02010600030101010101" pitchFamily="2" charset="-122"/>
              </a:rPr>
              <a:t>③ </a:t>
            </a:r>
            <a:r>
              <a:rPr lang="zh-CN" altLang="en-US" sz="2400" dirty="0">
                <a:latin typeface="华文楷体" panose="02010600040101010101" pitchFamily="2" charset="-122"/>
                <a:ea typeface="宋体" panose="02010600030101010101" pitchFamily="2" charset="-122"/>
                <a:sym typeface="Wingdings" panose="05000000000000000000" pitchFamily="2" charset="2"/>
              </a:rPr>
              <a:t>选择回退代价最小的事务作为牺牲者。</a:t>
            </a:r>
            <a:endParaRPr lang="zh-CN" altLang="en-US" sz="2400" dirty="0">
              <a:latin typeface="华文楷体" panose="02010600040101010101" pitchFamily="2" charset="-122"/>
              <a:ea typeface="宋体" panose="02010600030101010101" pitchFamily="2" charset="-122"/>
              <a:sym typeface="Wingdings" panose="05000000000000000000" pitchFamily="2" charset="2"/>
            </a:endParaRPr>
          </a:p>
        </p:txBody>
      </p:sp>
      <p:sp>
        <p:nvSpPr>
          <p:cNvPr id="129026" name="Rectangle 3"/>
          <p:cNvSpPr txBox="1"/>
          <p:nvPr/>
        </p:nvSpPr>
        <p:spPr>
          <a:xfrm>
            <a:off x="517525" y="838200"/>
            <a:ext cx="7178675" cy="706438"/>
          </a:xfrm>
          <a:prstGeom prst="rect">
            <a:avLst/>
          </a:prstGeom>
          <a:noFill/>
          <a:ln w="9525">
            <a:noFill/>
          </a:ln>
        </p:spPr>
        <p:txBody>
          <a:bodyPr anchor="t"/>
          <a:lstStyle/>
          <a:p>
            <a:pPr lvl="0" indent="0" eaLnBrk="0" hangingPunct="0"/>
            <a:r>
              <a:rPr lang="en-US" altLang="x-none" sz="2800" dirty="0">
                <a:solidFill>
                  <a:srgbClr val="FF0000"/>
                </a:solidFill>
                <a:latin typeface="黑体" panose="02010609060101010101" pitchFamily="1" charset="-122"/>
                <a:ea typeface="黑体" panose="02010609060101010101" pitchFamily="1" charset="-122"/>
              </a:rPr>
              <a:t>4</a:t>
            </a:r>
            <a:r>
              <a:rPr lang="zh-CN" altLang="en-US" sz="2800" dirty="0">
                <a:solidFill>
                  <a:srgbClr val="FF0000"/>
                </a:solidFill>
                <a:latin typeface="黑体" panose="02010609060101010101" pitchFamily="1" charset="-122"/>
                <a:ea typeface="黑体" panose="02010609060101010101" pitchFamily="1" charset="-122"/>
              </a:rPr>
              <a:t>、死锁的处理</a:t>
            </a:r>
            <a:endParaRPr lang="en-US" sz="2800" dirty="0">
              <a:solidFill>
                <a:srgbClr val="FF0000"/>
              </a:solidFill>
              <a:latin typeface="黑体" panose="02010609060101010101" pitchFamily="1" charset="-122"/>
              <a:ea typeface="黑体" panose="02010609060101010101" pitchFamily="1" charset="-122"/>
            </a:endParaRPr>
          </a:p>
        </p:txBody>
      </p:sp>
      <p:sp>
        <p:nvSpPr>
          <p:cNvPr id="5" name="Rectangle 2"/>
          <p:cNvSpPr/>
          <p:nvPr/>
        </p:nvSpPr>
        <p:spPr>
          <a:xfrm>
            <a:off x="561975" y="69215"/>
            <a:ext cx="7924165" cy="692150"/>
          </a:xfrm>
          <a:prstGeom prst="rect">
            <a:avLst/>
          </a:prstGeom>
          <a:noFill/>
          <a:ln w="9525">
            <a:noFill/>
          </a:ln>
        </p:spPr>
        <p:txBody>
          <a:bodyPr anchor="ctr"/>
          <a:lstStyle/>
          <a:p>
            <a:pPr lvl="0" indent="0">
              <a:buFont typeface="Wingdings" panose="05000000000000000000" pitchFamily="2" charset="2"/>
              <a:buNone/>
            </a:pPr>
            <a:r>
              <a:rPr lang="zh-CN" altLang="en-US" sz="3200" dirty="0" smtClean="0">
                <a:solidFill>
                  <a:srgbClr val="0033CC"/>
                </a:solidFill>
                <a:latin typeface="Arial" panose="020B0604020202020204" pitchFamily="34" charset="0"/>
                <a:ea typeface="黑体" panose="02010609060101010101" pitchFamily="1" charset="-122"/>
              </a:rPr>
              <a:t>五、死锁及其预防、检测和处理</a:t>
            </a:r>
            <a:endParaRPr lang="zh-CN" altLang="en-US" sz="3200" dirty="0">
              <a:solidFill>
                <a:srgbClr val="0033CC"/>
              </a:solidFill>
              <a:latin typeface="Arial" panose="020B0604020202020204" pitchFamily="34" charset="0"/>
              <a:ea typeface="黑体" panose="02010609060101010101" pitchFamily="1" charset="-122"/>
            </a:endParaRPr>
          </a:p>
        </p:txBody>
      </p:sp>
    </p:spTree>
  </p:cSld>
  <p:clrMapOvr>
    <a:masterClrMapping/>
  </p:clrMapOvr>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9" name="Rectangle 2"/>
          <p:cNvSpPr txBox="1"/>
          <p:nvPr/>
        </p:nvSpPr>
        <p:spPr>
          <a:xfrm>
            <a:off x="1954213" y="1570038"/>
            <a:ext cx="6122987" cy="706437"/>
          </a:xfrm>
          <a:prstGeom prst="rect">
            <a:avLst/>
          </a:prstGeom>
          <a:noFill/>
          <a:ln w="9525">
            <a:noFill/>
          </a:ln>
        </p:spPr>
        <p:txBody>
          <a:bodyPr anchor="t"/>
          <a:lstStyle/>
          <a:p>
            <a:pPr lvl="0" indent="0"/>
            <a:r>
              <a:rPr lang="zh-CN" altLang="en-US" sz="2800" dirty="0">
                <a:solidFill>
                  <a:srgbClr val="3333CC"/>
                </a:solidFill>
                <a:latin typeface="Arial" panose="020B0604020202020204" pitchFamily="34" charset="0"/>
                <a:ea typeface="黑体" panose="02010609060101010101" pitchFamily="1" charset="-122"/>
                <a:sym typeface="Wingdings" panose="05000000000000000000" pitchFamily="2" charset="2"/>
              </a:rPr>
              <a:t>被</a:t>
            </a:r>
            <a:r>
              <a:rPr lang="zh-CN" altLang="en-US" sz="2800" dirty="0">
                <a:solidFill>
                  <a:srgbClr val="3333CC"/>
                </a:solidFill>
                <a:latin typeface="宋体" panose="02010600030101010101" pitchFamily="2" charset="-122"/>
                <a:ea typeface="黑体" panose="02010609060101010101" pitchFamily="1" charset="-122"/>
                <a:sym typeface="Wingdings" panose="05000000000000000000" pitchFamily="2" charset="2"/>
              </a:rPr>
              <a:t>“</a:t>
            </a:r>
            <a:r>
              <a:rPr lang="zh-CN" altLang="en-US" sz="2800" dirty="0">
                <a:solidFill>
                  <a:srgbClr val="3333CC"/>
                </a:solidFill>
                <a:latin typeface="Arial" panose="020B0604020202020204" pitchFamily="34" charset="0"/>
                <a:ea typeface="黑体" panose="02010609060101010101" pitchFamily="1" charset="-122"/>
                <a:sym typeface="Wingdings" panose="05000000000000000000" pitchFamily="2" charset="2"/>
              </a:rPr>
              <a:t>杀死</a:t>
            </a:r>
            <a:r>
              <a:rPr lang="zh-CN" altLang="en-US" sz="2800" dirty="0">
                <a:solidFill>
                  <a:srgbClr val="3333CC"/>
                </a:solidFill>
                <a:latin typeface="宋体" panose="02010600030101010101" pitchFamily="2" charset="-122"/>
                <a:ea typeface="黑体" panose="02010609060101010101" pitchFamily="1" charset="-122"/>
                <a:sym typeface="Wingdings" panose="05000000000000000000" pitchFamily="2" charset="2"/>
              </a:rPr>
              <a:t>”</a:t>
            </a:r>
            <a:r>
              <a:rPr lang="zh-CN" altLang="en-US" sz="2800" dirty="0">
                <a:solidFill>
                  <a:srgbClr val="3333CC"/>
                </a:solidFill>
                <a:latin typeface="Arial" panose="020B0604020202020204" pitchFamily="34" charset="0"/>
                <a:ea typeface="黑体" panose="02010609060101010101" pitchFamily="1" charset="-122"/>
                <a:sym typeface="Wingdings" panose="05000000000000000000" pitchFamily="2" charset="2"/>
              </a:rPr>
              <a:t>事务的两种处理方法</a:t>
            </a:r>
            <a:endParaRPr lang="zh-CN" altLang="en-US" sz="2800" dirty="0">
              <a:solidFill>
                <a:srgbClr val="3333CC"/>
              </a:solidFill>
              <a:latin typeface="Arial" panose="020B0604020202020204" pitchFamily="34" charset="0"/>
              <a:ea typeface="黑体" panose="02010609060101010101" pitchFamily="1" charset="-122"/>
              <a:sym typeface="Wingdings" panose="05000000000000000000" pitchFamily="2" charset="2"/>
            </a:endParaRPr>
          </a:p>
        </p:txBody>
      </p:sp>
      <p:sp>
        <p:nvSpPr>
          <p:cNvPr id="137220" name="Rectangle 3"/>
          <p:cNvSpPr txBox="1"/>
          <p:nvPr/>
        </p:nvSpPr>
        <p:spPr>
          <a:xfrm>
            <a:off x="792163" y="2219325"/>
            <a:ext cx="7834312" cy="2535238"/>
          </a:xfrm>
          <a:prstGeom prst="rect">
            <a:avLst/>
          </a:prstGeom>
          <a:noFill/>
          <a:ln w="9525">
            <a:noFill/>
          </a:ln>
        </p:spPr>
        <p:txBody>
          <a:bodyPr anchor="t"/>
          <a:lstStyle/>
          <a:p>
            <a:pPr marL="342900" lvl="0" indent="-342900">
              <a:lnSpc>
                <a:spcPct val="125000"/>
              </a:lnSpc>
              <a:spcBef>
                <a:spcPct val="20000"/>
              </a:spcBef>
              <a:buClr>
                <a:srgbClr val="0033CC"/>
              </a:buClr>
              <a:buSzPct val="80000"/>
            </a:pPr>
            <a:r>
              <a:rPr lang="en-US" altLang="x-none" sz="2400" dirty="0">
                <a:latin typeface="华文楷体" panose="02010600040101010101" pitchFamily="2" charset="-122"/>
                <a:ea typeface="宋体" panose="02010600030101010101" pitchFamily="2" charset="-122"/>
                <a:sym typeface="Wingdings" panose="05000000000000000000" pitchFamily="2" charset="2"/>
              </a:rPr>
              <a:t>① </a:t>
            </a:r>
            <a:r>
              <a:rPr lang="zh-CN" altLang="en-US" sz="2400" dirty="0">
                <a:latin typeface="华文楷体" panose="02010600040101010101" pitchFamily="2" charset="-122"/>
                <a:ea typeface="宋体" panose="02010600030101010101" pitchFamily="2" charset="-122"/>
                <a:sym typeface="Wingdings" panose="05000000000000000000" pitchFamily="2" charset="2"/>
              </a:rPr>
              <a:t>告之用户其事务因死锁被杀死，稍后向系统再次交付该事务；</a:t>
            </a:r>
            <a:endParaRPr lang="zh-CN" altLang="en-US" sz="2400" dirty="0">
              <a:latin typeface="华文楷体" panose="02010600040101010101" pitchFamily="2" charset="-122"/>
              <a:ea typeface="宋体" panose="02010600030101010101" pitchFamily="2" charset="-122"/>
              <a:sym typeface="Wingdings" panose="05000000000000000000" pitchFamily="2" charset="2"/>
            </a:endParaRPr>
          </a:p>
          <a:p>
            <a:pPr marL="342900" lvl="0" indent="-342900">
              <a:lnSpc>
                <a:spcPct val="125000"/>
              </a:lnSpc>
              <a:spcBef>
                <a:spcPct val="20000"/>
              </a:spcBef>
              <a:buClr>
                <a:srgbClr val="0033CC"/>
              </a:buClr>
              <a:buSzPct val="80000"/>
            </a:pPr>
            <a:r>
              <a:rPr lang="zh-CN" altLang="en-US" sz="2400" dirty="0">
                <a:latin typeface="华文楷体" panose="02010600040101010101" pitchFamily="2" charset="-122"/>
                <a:ea typeface="宋体" panose="02010600030101010101" pitchFamily="2" charset="-122"/>
              </a:rPr>
              <a:t>②</a:t>
            </a:r>
            <a:r>
              <a:rPr lang="zh-CN" altLang="en-US" sz="2400" dirty="0">
                <a:latin typeface="华文楷体" panose="02010600040101010101" pitchFamily="2" charset="-122"/>
                <a:ea typeface="宋体" panose="02010600030101010101" pitchFamily="2" charset="-122"/>
                <a:sym typeface="Wingdings" panose="05000000000000000000" pitchFamily="2" charset="2"/>
              </a:rPr>
              <a:t>由</a:t>
            </a:r>
            <a:r>
              <a:rPr lang="en-US" altLang="x-none" sz="2400" dirty="0">
                <a:latin typeface="华文楷体" panose="02010600040101010101" pitchFamily="2" charset="-122"/>
                <a:ea typeface="宋体" panose="02010600030101010101" pitchFamily="2" charset="-122"/>
                <a:sym typeface="Wingdings" panose="05000000000000000000" pitchFamily="2" charset="2"/>
              </a:rPr>
              <a:t>DBMS</a:t>
            </a:r>
            <a:r>
              <a:rPr lang="zh-CN" altLang="en-US" sz="2400" dirty="0">
                <a:latin typeface="华文楷体" panose="02010600040101010101" pitchFamily="2" charset="-122"/>
                <a:ea typeface="宋体" panose="02010600030101010101" pitchFamily="2" charset="-122"/>
                <a:sym typeface="Wingdings" panose="05000000000000000000" pitchFamily="2" charset="2"/>
              </a:rPr>
              <a:t>重启动该事务。说明：不管哪种“挽救”方法，被杀死的事务应等待一段时间才能交付系统，否则，可能再次引起死锁。</a:t>
            </a:r>
            <a:endParaRPr lang="zh-CN" altLang="en-US" sz="2400" dirty="0">
              <a:latin typeface="华文楷体" panose="02010600040101010101" pitchFamily="2" charset="-122"/>
              <a:ea typeface="宋体" panose="02010600030101010101" pitchFamily="2" charset="-122"/>
              <a:sym typeface="Wingdings" panose="05000000000000000000" pitchFamily="2" charset="2"/>
            </a:endParaRPr>
          </a:p>
          <a:p>
            <a:pPr marL="342900" lvl="0" indent="-342900">
              <a:spcBef>
                <a:spcPct val="20000"/>
              </a:spcBef>
              <a:buClr>
                <a:srgbClr val="0033CC"/>
              </a:buClr>
              <a:buSzPct val="80000"/>
              <a:buFont typeface="Wingdings" panose="05000000000000000000" pitchFamily="2" charset="2"/>
              <a:buChar char="u"/>
            </a:pPr>
            <a:endParaRPr lang="en-US" altLang="x-none" sz="2000" dirty="0">
              <a:latin typeface="华文楷体" panose="02010600040101010101" pitchFamily="2" charset="-122"/>
              <a:ea typeface="宋体" panose="02010600030101010101" pitchFamily="2" charset="-122"/>
            </a:endParaRPr>
          </a:p>
        </p:txBody>
      </p:sp>
      <p:sp>
        <p:nvSpPr>
          <p:cNvPr id="129026" name="Rectangle 3"/>
          <p:cNvSpPr txBox="1"/>
          <p:nvPr/>
        </p:nvSpPr>
        <p:spPr>
          <a:xfrm>
            <a:off x="517525" y="838200"/>
            <a:ext cx="7178675" cy="706438"/>
          </a:xfrm>
          <a:prstGeom prst="rect">
            <a:avLst/>
          </a:prstGeom>
          <a:noFill/>
          <a:ln w="9525">
            <a:noFill/>
          </a:ln>
        </p:spPr>
        <p:txBody>
          <a:bodyPr anchor="t"/>
          <a:lstStyle/>
          <a:p>
            <a:pPr lvl="0" indent="0" eaLnBrk="0" hangingPunct="0"/>
            <a:r>
              <a:rPr lang="en-US" altLang="x-none" sz="2800" dirty="0">
                <a:solidFill>
                  <a:srgbClr val="FF0000"/>
                </a:solidFill>
                <a:latin typeface="黑体" panose="02010609060101010101" pitchFamily="1" charset="-122"/>
                <a:ea typeface="黑体" panose="02010609060101010101" pitchFamily="1" charset="-122"/>
              </a:rPr>
              <a:t>4</a:t>
            </a:r>
            <a:r>
              <a:rPr lang="zh-CN" altLang="en-US" sz="2800" dirty="0">
                <a:solidFill>
                  <a:srgbClr val="FF0000"/>
                </a:solidFill>
                <a:latin typeface="黑体" panose="02010609060101010101" pitchFamily="1" charset="-122"/>
                <a:ea typeface="黑体" panose="02010609060101010101" pitchFamily="1" charset="-122"/>
              </a:rPr>
              <a:t>、死锁的处理</a:t>
            </a:r>
            <a:endParaRPr lang="en-US" sz="2800" dirty="0">
              <a:solidFill>
                <a:srgbClr val="FF0000"/>
              </a:solidFill>
              <a:latin typeface="黑体" panose="02010609060101010101" pitchFamily="1" charset="-122"/>
              <a:ea typeface="黑体" panose="02010609060101010101" pitchFamily="1" charset="-122"/>
            </a:endParaRPr>
          </a:p>
        </p:txBody>
      </p:sp>
      <p:sp>
        <p:nvSpPr>
          <p:cNvPr id="5" name="Rectangle 2"/>
          <p:cNvSpPr/>
          <p:nvPr/>
        </p:nvSpPr>
        <p:spPr>
          <a:xfrm>
            <a:off x="561975" y="69215"/>
            <a:ext cx="7924165" cy="692150"/>
          </a:xfrm>
          <a:prstGeom prst="rect">
            <a:avLst/>
          </a:prstGeom>
          <a:noFill/>
          <a:ln w="9525">
            <a:noFill/>
          </a:ln>
        </p:spPr>
        <p:txBody>
          <a:bodyPr anchor="ctr"/>
          <a:lstStyle/>
          <a:p>
            <a:pPr lvl="0" indent="0">
              <a:buFont typeface="Wingdings" panose="05000000000000000000" pitchFamily="2" charset="2"/>
              <a:buNone/>
            </a:pPr>
            <a:r>
              <a:rPr lang="zh-CN" altLang="en-US" sz="3200" dirty="0" smtClean="0">
                <a:solidFill>
                  <a:srgbClr val="0033CC"/>
                </a:solidFill>
                <a:latin typeface="Arial" panose="020B0604020202020204" pitchFamily="34" charset="0"/>
                <a:ea typeface="黑体" panose="02010609060101010101" pitchFamily="1" charset="-122"/>
              </a:rPr>
              <a:t>五、死锁及其预防、检测和处理</a:t>
            </a:r>
            <a:endParaRPr lang="zh-CN" altLang="en-US" sz="3200" dirty="0">
              <a:solidFill>
                <a:srgbClr val="0033CC"/>
              </a:solidFill>
              <a:latin typeface="Arial" panose="020B0604020202020204" pitchFamily="34" charset="0"/>
              <a:ea typeface="黑体" panose="02010609060101010101" pitchFamily="1" charset="-122"/>
            </a:endParaRPr>
          </a:p>
        </p:txBody>
      </p:sp>
    </p:spTree>
  </p:cSld>
  <p:clrMapOvr>
    <a:masterClrMapping/>
  </p:clrMapOvr>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p:cNvSpPr txBox="1"/>
          <p:nvPr/>
        </p:nvSpPr>
        <p:spPr>
          <a:xfrm>
            <a:off x="551180" y="1052587"/>
            <a:ext cx="8294370" cy="429895"/>
          </a:xfrm>
          <a:prstGeom prst="rect">
            <a:avLst/>
          </a:prstGeom>
          <a:noFill/>
        </p:spPr>
        <p:txBody>
          <a:bodyPr wrap="square" rtlCol="0" anchor="t">
            <a:spAutoFit/>
          </a:bodyPr>
          <a:lstStyle/>
          <a:p>
            <a:pPr>
              <a:lnSpc>
                <a:spcPct val="100000"/>
              </a:lnSpc>
              <a:buNone/>
            </a:pPr>
            <a:r>
              <a:rPr lang="en-US" altLang="zh-CN" sz="2200" dirty="0" smtClean="0"/>
              <a:t>1</a:t>
            </a:r>
            <a:r>
              <a:rPr lang="zh-CN" altLang="en-US" sz="2200" dirty="0" smtClean="0"/>
              <a:t>、</a:t>
            </a:r>
            <a:r>
              <a:rPr sz="2200" dirty="0" err="1"/>
              <a:t>简述数据库系统中经常用到检测和解除死锁的方法</a:t>
            </a:r>
            <a:r>
              <a:rPr lang="zh-CN" sz="2200" dirty="0"/>
              <a:t>。</a:t>
            </a:r>
            <a:r>
              <a:rPr lang="zh-CN" altLang="en-US" sz="2200" dirty="0"/>
              <a:t>  </a:t>
            </a:r>
            <a:endParaRPr lang="en-US" altLang="zh-CN" sz="2200" dirty="0"/>
          </a:p>
        </p:txBody>
      </p:sp>
      <p:sp>
        <p:nvSpPr>
          <p:cNvPr id="45" name="文本框 44"/>
          <p:cNvSpPr txBox="1"/>
          <p:nvPr/>
        </p:nvSpPr>
        <p:spPr>
          <a:xfrm>
            <a:off x="410094" y="-27947"/>
            <a:ext cx="2681605" cy="829945"/>
          </a:xfrm>
          <a:prstGeom prst="rect">
            <a:avLst/>
          </a:prstGeom>
          <a:noFill/>
        </p:spPr>
        <p:txBody>
          <a:bodyPr wrap="none" rtlCol="0" anchor="t">
            <a:spAutoFit/>
          </a:bodyPr>
          <a:lstStyle/>
          <a:p>
            <a:pPr marL="457200" indent="-457200" algn="just">
              <a:lnSpc>
                <a:spcPct val="150000"/>
              </a:lnSpc>
              <a:spcAft>
                <a:spcPts val="0"/>
              </a:spcAft>
              <a:buFont typeface="Wingdings" panose="05000000000000000000" pitchFamily="2" charset="2"/>
              <a:buChar char="p"/>
            </a:pPr>
            <a:r>
              <a:rPr lang="zh-CN" altLang="zh-CN" sz="3200" kern="100" dirty="0" smtClean="0">
                <a:solidFill>
                  <a:srgbClr val="FF0000"/>
                </a:solidFill>
                <a:latin typeface="Calibri" panose="020F0502020204030204" pitchFamily="34" charset="0"/>
                <a:cs typeface="Times New Roman" panose="02020603050405020304" pitchFamily="2" charset="0"/>
                <a:sym typeface="+mn-ea"/>
              </a:rPr>
              <a:t>问题研讨：</a:t>
            </a:r>
            <a:endParaRPr lang="zh-CN" altLang="en-US" sz="3200" dirty="0"/>
          </a:p>
        </p:txBody>
      </p:sp>
      <p:sp>
        <p:nvSpPr>
          <p:cNvPr id="9" name="文本框 8"/>
          <p:cNvSpPr txBox="1"/>
          <p:nvPr/>
        </p:nvSpPr>
        <p:spPr>
          <a:xfrm>
            <a:off x="675640" y="1482482"/>
            <a:ext cx="8169910" cy="1568450"/>
          </a:xfrm>
          <a:prstGeom prst="rect">
            <a:avLst/>
          </a:prstGeom>
          <a:solidFill>
            <a:schemeClr val="bg1"/>
          </a:solidFill>
        </p:spPr>
        <p:txBody>
          <a:bodyPr wrap="square" rtlCol="0" anchor="t">
            <a:spAutoFit/>
          </a:bodyPr>
          <a:lstStyle/>
          <a:p>
            <a:pPr>
              <a:lnSpc>
                <a:spcPct val="120000"/>
              </a:lnSpc>
              <a:spcBef>
                <a:spcPts val="0"/>
              </a:spcBef>
              <a:spcAft>
                <a:spcPts val="0"/>
              </a:spcAft>
              <a:buClrTx/>
              <a:buSzTx/>
              <a:buNone/>
            </a:pPr>
            <a:r>
              <a:rPr lang="zh-CN" sz="2000">
                <a:solidFill>
                  <a:srgbClr val="0000FF"/>
                </a:solidFill>
                <a:ea typeface="楷体" panose="02010609060101010101" pitchFamily="1" charset="-122"/>
                <a:cs typeface="+mn-ea"/>
              </a:rPr>
              <a:t>答：（1）数据库系统中检测死锁一般使用超时法或事务等待图法。</a:t>
            </a:r>
            <a:endParaRPr lang="zh-CN" sz="2000">
              <a:solidFill>
                <a:srgbClr val="0000FF"/>
              </a:solidFill>
              <a:ea typeface="楷体" panose="02010609060101010101" pitchFamily="1" charset="-122"/>
              <a:cs typeface="+mn-ea"/>
            </a:endParaRPr>
          </a:p>
          <a:p>
            <a:pPr>
              <a:lnSpc>
                <a:spcPct val="120000"/>
              </a:lnSpc>
              <a:spcBef>
                <a:spcPts val="0"/>
              </a:spcBef>
              <a:spcAft>
                <a:spcPts val="0"/>
              </a:spcAft>
              <a:buClrTx/>
              <a:buSzTx/>
              <a:buNone/>
            </a:pPr>
            <a:r>
              <a:rPr lang="zh-CN" sz="2000">
                <a:solidFill>
                  <a:srgbClr val="0000FF"/>
                </a:solidFill>
                <a:ea typeface="楷体" panose="02010609060101010101" pitchFamily="1" charset="-122"/>
                <a:cs typeface="+mn-ea"/>
              </a:rPr>
              <a:t>（2）数据库管理系统一般采用如下方法来解除死锁：在循环等待的事务中，选择一个事务作为牺牲者，给其他事务“让路”。回滚牺牲的事务，释放其获得的锁及其他资源。将释放的锁让给等待它的事务。</a:t>
            </a:r>
            <a:endParaRPr lang="zh-CN" sz="2000">
              <a:solidFill>
                <a:srgbClr val="0000FF"/>
              </a:solidFill>
              <a:ea typeface="楷体" panose="02010609060101010101" pitchFamily="1" charset="-122"/>
              <a:cs typeface="+mn-ea"/>
            </a:endParaRPr>
          </a:p>
        </p:txBody>
      </p:sp>
      <p:sp>
        <p:nvSpPr>
          <p:cNvPr id="100" name="文本框 99"/>
          <p:cNvSpPr txBox="1"/>
          <p:nvPr/>
        </p:nvSpPr>
        <p:spPr>
          <a:xfrm>
            <a:off x="541655" y="3115702"/>
            <a:ext cx="7245985" cy="400110"/>
          </a:xfrm>
          <a:prstGeom prst="rect">
            <a:avLst/>
          </a:prstGeom>
          <a:noFill/>
          <a:ln w="9525">
            <a:noFill/>
          </a:ln>
        </p:spPr>
        <p:txBody>
          <a:bodyPr wrap="square">
            <a:spAutoFit/>
          </a:bodyPr>
          <a:lstStyle/>
          <a:p>
            <a:pPr>
              <a:buNone/>
            </a:pPr>
            <a:r>
              <a:rPr lang="en-US" altLang="zh-CN" sz="2000" dirty="0" smtClean="0">
                <a:solidFill>
                  <a:srgbClr val="000000"/>
                </a:solidFill>
                <a:latin typeface="Arial" panose="020B0604020202020204" pitchFamily="34" charset="0"/>
                <a:ea typeface="宋体" panose="02010600030101010101" pitchFamily="2" charset="-122"/>
              </a:rPr>
              <a:t>2</a:t>
            </a:r>
            <a:r>
              <a:rPr lang="zh-CN" altLang="en-US" sz="2000" dirty="0" smtClean="0">
                <a:solidFill>
                  <a:srgbClr val="000000"/>
                </a:solidFill>
                <a:latin typeface="Arial" panose="020B0604020202020204" pitchFamily="34" charset="0"/>
                <a:ea typeface="宋体" panose="02010600030101010101" pitchFamily="2" charset="-122"/>
              </a:rPr>
              <a:t>、</a:t>
            </a:r>
            <a:r>
              <a:rPr lang="zh-CN" sz="2000" dirty="0">
                <a:solidFill>
                  <a:srgbClr val="000000"/>
                </a:solidFill>
                <a:latin typeface="Arial" panose="020B0604020202020204" pitchFamily="34" charset="0"/>
                <a:ea typeface="宋体" panose="02010600030101010101" pitchFamily="2" charset="-122"/>
              </a:rPr>
              <a:t>简述（</a:t>
            </a:r>
            <a:r>
              <a:rPr lang="en-US" sz="2000" dirty="0">
                <a:solidFill>
                  <a:srgbClr val="000000"/>
                </a:solidFill>
                <a:latin typeface="Arial" panose="020B0604020202020204" pitchFamily="34" charset="0"/>
                <a:cs typeface="Arial" panose="020B0604020202020204" pitchFamily="34" charset="0"/>
              </a:rPr>
              <a:t>S </a:t>
            </a:r>
            <a:r>
              <a:rPr lang="zh-CN" sz="2000" dirty="0">
                <a:solidFill>
                  <a:srgbClr val="000000"/>
                </a:solidFill>
                <a:latin typeface="Arial" panose="020B0604020202020204" pitchFamily="34" charset="0"/>
                <a:ea typeface="宋体" panose="02010600030101010101" pitchFamily="2" charset="-122"/>
              </a:rPr>
              <a:t>，</a:t>
            </a:r>
            <a:r>
              <a:rPr lang="en-US" sz="2000" dirty="0">
                <a:solidFill>
                  <a:srgbClr val="000000"/>
                </a:solidFill>
                <a:latin typeface="Arial" panose="020B0604020202020204" pitchFamily="34" charset="0"/>
              </a:rPr>
              <a:t>X </a:t>
            </a:r>
            <a:r>
              <a:rPr lang="zh-CN" sz="2000" dirty="0">
                <a:solidFill>
                  <a:srgbClr val="000000"/>
                </a:solidFill>
                <a:latin typeface="Arial" panose="020B0604020202020204" pitchFamily="34" charset="0"/>
                <a:ea typeface="宋体" panose="02010600030101010101" pitchFamily="2" charset="-122"/>
              </a:rPr>
              <a:t>）加锁协议是如何实现并发控制的。</a:t>
            </a:r>
            <a:endParaRPr lang="zh-CN" altLang="en-US" sz="2000" dirty="0"/>
          </a:p>
        </p:txBody>
      </p:sp>
      <p:sp>
        <p:nvSpPr>
          <p:cNvPr id="2" name="文本框 1"/>
          <p:cNvSpPr txBox="1"/>
          <p:nvPr/>
        </p:nvSpPr>
        <p:spPr>
          <a:xfrm>
            <a:off x="675005" y="3618622"/>
            <a:ext cx="7872095" cy="1938020"/>
          </a:xfrm>
          <a:prstGeom prst="rect">
            <a:avLst/>
          </a:prstGeom>
          <a:noFill/>
          <a:ln w="9525">
            <a:noFill/>
          </a:ln>
        </p:spPr>
        <p:txBody>
          <a:bodyPr wrap="square">
            <a:spAutoFit/>
          </a:bodyPr>
          <a:lstStyle/>
          <a:p>
            <a:pPr>
              <a:lnSpc>
                <a:spcPct val="120000"/>
              </a:lnSpc>
              <a:spcBef>
                <a:spcPts val="0"/>
              </a:spcBef>
              <a:spcAft>
                <a:spcPts val="0"/>
              </a:spcAft>
              <a:buNone/>
            </a:pPr>
            <a:r>
              <a:rPr lang="zh-CN" sz="2000">
                <a:solidFill>
                  <a:srgbClr val="0000FF"/>
                </a:solidFill>
                <a:ea typeface="楷体" panose="02010609060101010101" pitchFamily="1" charset="-122"/>
              </a:rPr>
              <a:t>答：该加锁协议中，有两把锁：S锁用于读操作，X锁用于写操作。一个事务对某个数据对象加S锁后，其他对象仍可以对该数据对象加S锁，实现读并发，但不能对其加X锁；一个一个事务对某个数据对象加X锁后，其它事务就不能对该数据对象加锁，必须等到该数据对象上的X锁被“解锁”。</a:t>
            </a:r>
            <a:endParaRPr lang="zh-CN" altLang="en-US" sz="200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ppt_x"/>
                                          </p:val>
                                        </p:tav>
                                        <p:tav tm="100000">
                                          <p:val>
                                            <p:strVal val="#ppt_x"/>
                                          </p:val>
                                        </p:tav>
                                      </p:tavLst>
                                    </p:anim>
                                    <p:anim calcmode="lin" valueType="num">
                                      <p:cBhvr additive="base">
                                        <p:cTn id="8"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
                                        </p:tgtEl>
                                        <p:attrNameLst>
                                          <p:attrName>style.visibility</p:attrName>
                                        </p:attrNameLst>
                                      </p:cBhvr>
                                      <p:to>
                                        <p:strVal val="visible"/>
                                      </p:to>
                                    </p:set>
                                    <p:anim calcmode="lin" valueType="num">
                                      <p:cBhvr additive="base">
                                        <p:cTn id="13" dur="500" fill="hold"/>
                                        <p:tgtEl>
                                          <p:spTgt spid="2"/>
                                        </p:tgtEl>
                                        <p:attrNameLst>
                                          <p:attrName>ppt_x</p:attrName>
                                        </p:attrNameLst>
                                      </p:cBhvr>
                                      <p:tavLst>
                                        <p:tav tm="0">
                                          <p:val>
                                            <p:strVal val="#ppt_x"/>
                                          </p:val>
                                        </p:tav>
                                        <p:tav tm="100000">
                                          <p:val>
                                            <p:strVal val="#ppt_x"/>
                                          </p:val>
                                        </p:tav>
                                      </p:tavLst>
                                    </p:anim>
                                    <p:anim calcmode="lin" valueType="num">
                                      <p:cBhvr additive="base">
                                        <p:cTn id="14"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2" grpId="0"/>
    </p:bldLst>
  </p:timing>
</p:sld>
</file>

<file path=ppt/tags/tag1.xml><?xml version="1.0" encoding="utf-8"?>
<p:tagLst xmlns:p="http://schemas.openxmlformats.org/presentationml/2006/main">
  <p:tag name="REFSHAPE" val="969081692"/>
  <p:tag name="KSO_WM_UNIT_PLACING_PICTURE_USER_VIEWPORT" val="{&quot;height&quot;:4330,&quot;width&quot;:7300}"/>
</p:tagLst>
</file>

<file path=ppt/tags/tag2.xml><?xml version="1.0" encoding="utf-8"?>
<p:tagLst xmlns:p="http://schemas.openxmlformats.org/presentationml/2006/main">
  <p:tag name="commondata" val="eyJoZGlkIjoiN2MwNGZlODUyOThjOGE4NWQyMjhmMDY2NzI1NjFkNGEifQ=="/>
</p:tagLst>
</file>

<file path=ppt/theme/theme1.xml><?xml version="1.0" encoding="utf-8"?>
<a:theme xmlns:a="http://schemas.openxmlformats.org/drawingml/2006/main" name="1_默认设计模板">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9EDEE"/>
      </a:accent5>
      <a:accent6>
        <a:srgbClr val="2D2D89"/>
      </a:accent6>
      <a:hlink>
        <a:srgbClr val="009999"/>
      </a:hlink>
      <a:folHlink>
        <a:srgbClr val="99CC00"/>
      </a:folHlink>
    </a:clrScheme>
    <a:fontScheme name="">
      <a:majorFont>
        <a:latin typeface="Arial"/>
        <a:ea typeface="黑体"/>
        <a:cs typeface=""/>
      </a:majorFont>
      <a:minorFont>
        <a:latin typeface="Arial"/>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raClrSchemeLst>
    <a:extraClrScheme>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9EDEE"/>
        </a:accent5>
        <a:accent6>
          <a:srgbClr val="2D2D89"/>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4"/>
        </a:accent5>
        <a:accent6>
          <a:srgbClr val="E5895B"/>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7B7E5"/>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
        <a:dk1>
          <a:srgbClr val="000000"/>
        </a:dk1>
        <a:lt1>
          <a:srgbClr val="DEF6F1"/>
        </a:lt1>
        <a:dk2>
          <a:srgbClr val="000000"/>
        </a:dk2>
        <a:lt2>
          <a:srgbClr val="969696"/>
        </a:lt2>
        <a:accent1>
          <a:srgbClr val="FFFFFF"/>
        </a:accent1>
        <a:accent2>
          <a:srgbClr val="8DC6FF"/>
        </a:accent2>
        <a:accent3>
          <a:srgbClr val="EBFAF7"/>
        </a:accent3>
        <a:accent4>
          <a:srgbClr val="000000"/>
        </a:accent4>
        <a:accent5>
          <a:srgbClr val="FFFFFF"/>
        </a:accent5>
        <a:accent6>
          <a:srgbClr val="7EB1E5"/>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7B7"/>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
        <a:dk1>
          <a:srgbClr val="FFFFFF"/>
        </a:dk1>
        <a:lt1>
          <a:srgbClr val="008080"/>
        </a:lt1>
        <a:dk2>
          <a:srgbClr val="FFFF99"/>
        </a:dk2>
        <a:lt2>
          <a:srgbClr val="005A58"/>
        </a:lt2>
        <a:accent1>
          <a:srgbClr val="006462"/>
        </a:accent1>
        <a:accent2>
          <a:srgbClr val="6D6FC7"/>
        </a:accent2>
        <a:accent3>
          <a:srgbClr val="AAC1C1"/>
        </a:accent3>
        <a:accent4>
          <a:srgbClr val="DCDCDC"/>
        </a:accent4>
        <a:accent5>
          <a:srgbClr val="AAB8B8"/>
        </a:accent5>
        <a:accent6>
          <a:srgbClr val="6163B2"/>
        </a:accent6>
        <a:hlink>
          <a:srgbClr val="00FFFF"/>
        </a:hlink>
        <a:folHlink>
          <a:srgbClr val="00FF00"/>
        </a:folHlink>
      </a:clrScheme>
      <a:clrMap bg1="lt1" tx1="dk1" bg2="lt2" tx2="dk2" accent1="accent1" accent2="accent2" accent3="accent3" accent4="accent4" accent5="accent5" accent6="accent6" hlink="hlink" folHlink="folHlink"/>
    </a:extraClrScheme>
    <a:extraClrScheme>
      <a:clrScheme name="">
        <a:dk1>
          <a:srgbClr val="FFFFFF"/>
        </a:dk1>
        <a:lt1>
          <a:srgbClr val="800000"/>
        </a:lt1>
        <a:dk2>
          <a:srgbClr val="DFD293"/>
        </a:dk2>
        <a:lt2>
          <a:srgbClr val="5C1F00"/>
        </a:lt2>
        <a:accent1>
          <a:srgbClr val="CC3300"/>
        </a:accent1>
        <a:accent2>
          <a:srgbClr val="BE7960"/>
        </a:accent2>
        <a:accent3>
          <a:srgbClr val="C1AAAA"/>
        </a:accent3>
        <a:accent4>
          <a:srgbClr val="DCDCDC"/>
        </a:accent4>
        <a:accent5>
          <a:srgbClr val="E2ADAA"/>
        </a:accent5>
        <a:accent6>
          <a:srgbClr val="AA6C55"/>
        </a:accent6>
        <a:hlink>
          <a:srgbClr val="FFFF99"/>
        </a:hlink>
        <a:folHlink>
          <a:srgbClr val="D3A219"/>
        </a:folHlink>
      </a:clrScheme>
      <a:clrMap bg1="lt1" tx1="dk1" bg2="lt2" tx2="dk2" accent1="accent1" accent2="accent2" accent3="accent3" accent4="accent4" accent5="accent5" accent6="accent6" hlink="hlink" folHlink="folHlink"/>
    </a:extraClrScheme>
    <a:extraClrScheme>
      <a:clrScheme name="">
        <a:dk1>
          <a:srgbClr val="FFFFFF"/>
        </a:dk1>
        <a:lt1>
          <a:srgbClr val="000099"/>
        </a:lt1>
        <a:dk2>
          <a:srgbClr val="CCFFFF"/>
        </a:dk2>
        <a:lt2>
          <a:srgbClr val="003366"/>
        </a:lt2>
        <a:accent1>
          <a:srgbClr val="3366CC"/>
        </a:accent1>
        <a:accent2>
          <a:srgbClr val="00B000"/>
        </a:accent2>
        <a:accent3>
          <a:srgbClr val="AAAACA"/>
        </a:accent3>
        <a:accent4>
          <a:srgbClr val="DCDCDC"/>
        </a:accent4>
        <a:accent5>
          <a:srgbClr val="ADB9E2"/>
        </a:accent5>
        <a:accent6>
          <a:srgbClr val="009D00"/>
        </a:accent6>
        <a:hlink>
          <a:srgbClr val="66CCFF"/>
        </a:hlink>
        <a:folHlink>
          <a:srgbClr val="FFE701"/>
        </a:folHlink>
      </a:clrScheme>
      <a:clrMap bg1="lt1" tx1="dk1" bg2="lt2" tx2="dk2" accent1="accent1" accent2="accent2" accent3="accent3" accent4="accent4" accent5="accent5" accent6="accent6" hlink="hlink" folHlink="folHlink"/>
    </a:extraClrScheme>
    <a:extraClrScheme>
      <a:clrScheme name="">
        <a:dk1>
          <a:srgbClr val="FFFFFF"/>
        </a:dk1>
        <a:lt1>
          <a:srgbClr val="000000"/>
        </a:lt1>
        <a:dk2>
          <a:srgbClr val="E3EBF1"/>
        </a:dk2>
        <a:lt2>
          <a:srgbClr val="336699"/>
        </a:lt2>
        <a:accent1>
          <a:srgbClr val="003399"/>
        </a:accent1>
        <a:accent2>
          <a:srgbClr val="468A4B"/>
        </a:accent2>
        <a:accent3>
          <a:srgbClr val="AAAAAA"/>
        </a:accent3>
        <a:accent4>
          <a:srgbClr val="DCDCDC"/>
        </a:accent4>
        <a:accent5>
          <a:srgbClr val="AAADCA"/>
        </a:accent5>
        <a:accent6>
          <a:srgbClr val="3E7B43"/>
        </a:accent6>
        <a:hlink>
          <a:srgbClr val="66CCFF"/>
        </a:hlink>
        <a:folHlink>
          <a:srgbClr val="F0E500"/>
        </a:folHlink>
      </a:clrScheme>
      <a:clrMap bg1="lt1" tx1="dk1" bg2="lt2" tx2="dk2" accent1="accent1" accent2="accent2" accent3="accent3" accent4="accent4" accent5="accent5" accent6="accent6" hlink="hlink" folHlink="folHlink"/>
    </a:extraClrScheme>
    <a:extraClrScheme>
      <a:clrScheme name="">
        <a:dk1>
          <a:srgbClr val="FFFFFF"/>
        </a:dk1>
        <a:lt1>
          <a:srgbClr val="686B5D"/>
        </a:lt1>
        <a:dk2>
          <a:srgbClr val="D1D1CB"/>
        </a:dk2>
        <a:lt2>
          <a:srgbClr val="777777"/>
        </a:lt2>
        <a:accent1>
          <a:srgbClr val="909082"/>
        </a:accent1>
        <a:accent2>
          <a:srgbClr val="809EA8"/>
        </a:accent2>
        <a:accent3>
          <a:srgbClr val="B9BAB6"/>
        </a:accent3>
        <a:accent4>
          <a:srgbClr val="DCDCDC"/>
        </a:accent4>
        <a:accent5>
          <a:srgbClr val="C7C7C1"/>
        </a:accent5>
        <a:accent6>
          <a:srgbClr val="728D96"/>
        </a:accent6>
        <a:hlink>
          <a:srgbClr val="FFCC66"/>
        </a:hlink>
        <a:folHlink>
          <a:srgbClr val="E9DCB9"/>
        </a:folHlink>
      </a:clrScheme>
      <a:clrMap bg1="lt1" tx1="dk1" bg2="lt2" tx2="dk2" accent1="accent1" accent2="accent2" accent3="accent3" accent4="accent4" accent5="accent5" accent6="accent6" hlink="hlink" folHlink="folHlink"/>
    </a:extraClrScheme>
    <a:extraClrScheme>
      <a:clrScheme name="">
        <a:dk1>
          <a:srgbClr val="FFFFFF"/>
        </a:dk1>
        <a:lt1>
          <a:srgbClr val="666699"/>
        </a:lt1>
        <a:dk2>
          <a:srgbClr val="FFFFFF"/>
        </a:dk2>
        <a:lt2>
          <a:srgbClr val="3E3E5C"/>
        </a:lt2>
        <a:accent1>
          <a:srgbClr val="60597B"/>
        </a:accent1>
        <a:accent2>
          <a:srgbClr val="6666FF"/>
        </a:accent2>
        <a:accent3>
          <a:srgbClr val="B9B9CA"/>
        </a:accent3>
        <a:accent4>
          <a:srgbClr val="DCDCDC"/>
        </a:accent4>
        <a:accent5>
          <a:srgbClr val="B7B5BF"/>
        </a:accent5>
        <a:accent6>
          <a:srgbClr val="5B5BE5"/>
        </a:accent6>
        <a:hlink>
          <a:srgbClr val="99CCFF"/>
        </a:hlink>
        <a:folHlink>
          <a:srgbClr val="FFFF99"/>
        </a:folHlink>
      </a:clrScheme>
      <a:clrMap bg1="lt1" tx1="dk1" bg2="lt2" tx2="dk2" accent1="accent1" accent2="accent2" accent3="accent3" accent4="accent4" accent5="accent5" accent6="accent6" hlink="hlink" folHlink="folHlink"/>
    </a:extraClrScheme>
    <a:extraClrScheme>
      <a:clrScheme name="">
        <a:dk1>
          <a:srgbClr val="FFFFFF"/>
        </a:dk1>
        <a:lt1>
          <a:srgbClr val="523E26"/>
        </a:lt1>
        <a:dk2>
          <a:srgbClr val="DFC08D"/>
        </a:dk2>
        <a:lt2>
          <a:srgbClr val="2D2015"/>
        </a:lt2>
        <a:accent1>
          <a:srgbClr val="8C7B70"/>
        </a:accent1>
        <a:accent2>
          <a:srgbClr val="8F5F2F"/>
        </a:accent2>
        <a:accent3>
          <a:srgbClr val="B3AFAB"/>
        </a:accent3>
        <a:accent4>
          <a:srgbClr val="DCDCDC"/>
        </a:accent4>
        <a:accent5>
          <a:srgbClr val="C5BFBC"/>
        </a:accent5>
        <a:accent6>
          <a:srgbClr val="805529"/>
        </a:accent6>
        <a:hlink>
          <a:srgbClr val="CCB400"/>
        </a:hlink>
        <a:folHlink>
          <a:srgbClr val="8C9EA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_默认设计模板">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9EDEE"/>
      </a:accent5>
      <a:accent6>
        <a:srgbClr val="2D2D89"/>
      </a:accent6>
      <a:hlink>
        <a:srgbClr val="009999"/>
      </a:hlink>
      <a:folHlink>
        <a:srgbClr val="99CC00"/>
      </a:folHlink>
    </a:clrScheme>
    <a:fontScheme name="">
      <a:majorFont>
        <a:latin typeface="Arial"/>
        <a:ea typeface="黑体"/>
        <a:cs typeface=""/>
      </a:majorFont>
      <a:minorFont>
        <a:latin typeface="Arial"/>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raClrSchemeLst>
    <a:extraClrScheme>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9EDEE"/>
        </a:accent5>
        <a:accent6>
          <a:srgbClr val="2D2D89"/>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4"/>
        </a:accent5>
        <a:accent6>
          <a:srgbClr val="E5895B"/>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7B7E5"/>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
        <a:dk1>
          <a:srgbClr val="000000"/>
        </a:dk1>
        <a:lt1>
          <a:srgbClr val="DEF6F1"/>
        </a:lt1>
        <a:dk2>
          <a:srgbClr val="000000"/>
        </a:dk2>
        <a:lt2>
          <a:srgbClr val="969696"/>
        </a:lt2>
        <a:accent1>
          <a:srgbClr val="FFFFFF"/>
        </a:accent1>
        <a:accent2>
          <a:srgbClr val="8DC6FF"/>
        </a:accent2>
        <a:accent3>
          <a:srgbClr val="EBFAF7"/>
        </a:accent3>
        <a:accent4>
          <a:srgbClr val="000000"/>
        </a:accent4>
        <a:accent5>
          <a:srgbClr val="FFFFFF"/>
        </a:accent5>
        <a:accent6>
          <a:srgbClr val="7EB1E5"/>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7B7"/>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
        <a:dk1>
          <a:srgbClr val="FFFFFF"/>
        </a:dk1>
        <a:lt1>
          <a:srgbClr val="008080"/>
        </a:lt1>
        <a:dk2>
          <a:srgbClr val="FFFF99"/>
        </a:dk2>
        <a:lt2>
          <a:srgbClr val="005A58"/>
        </a:lt2>
        <a:accent1>
          <a:srgbClr val="006462"/>
        </a:accent1>
        <a:accent2>
          <a:srgbClr val="6D6FC7"/>
        </a:accent2>
        <a:accent3>
          <a:srgbClr val="AAC1C1"/>
        </a:accent3>
        <a:accent4>
          <a:srgbClr val="DCDCDC"/>
        </a:accent4>
        <a:accent5>
          <a:srgbClr val="AAB8B8"/>
        </a:accent5>
        <a:accent6>
          <a:srgbClr val="6163B2"/>
        </a:accent6>
        <a:hlink>
          <a:srgbClr val="00FFFF"/>
        </a:hlink>
        <a:folHlink>
          <a:srgbClr val="00FF00"/>
        </a:folHlink>
      </a:clrScheme>
      <a:clrMap bg1="lt1" tx1="dk1" bg2="lt2" tx2="dk2" accent1="accent1" accent2="accent2" accent3="accent3" accent4="accent4" accent5="accent5" accent6="accent6" hlink="hlink" folHlink="folHlink"/>
    </a:extraClrScheme>
    <a:extraClrScheme>
      <a:clrScheme name="">
        <a:dk1>
          <a:srgbClr val="FFFFFF"/>
        </a:dk1>
        <a:lt1>
          <a:srgbClr val="800000"/>
        </a:lt1>
        <a:dk2>
          <a:srgbClr val="DFD293"/>
        </a:dk2>
        <a:lt2>
          <a:srgbClr val="5C1F00"/>
        </a:lt2>
        <a:accent1>
          <a:srgbClr val="CC3300"/>
        </a:accent1>
        <a:accent2>
          <a:srgbClr val="BE7960"/>
        </a:accent2>
        <a:accent3>
          <a:srgbClr val="C1AAAA"/>
        </a:accent3>
        <a:accent4>
          <a:srgbClr val="DCDCDC"/>
        </a:accent4>
        <a:accent5>
          <a:srgbClr val="E2ADAA"/>
        </a:accent5>
        <a:accent6>
          <a:srgbClr val="AA6C55"/>
        </a:accent6>
        <a:hlink>
          <a:srgbClr val="FFFF99"/>
        </a:hlink>
        <a:folHlink>
          <a:srgbClr val="D3A219"/>
        </a:folHlink>
      </a:clrScheme>
      <a:clrMap bg1="lt1" tx1="dk1" bg2="lt2" tx2="dk2" accent1="accent1" accent2="accent2" accent3="accent3" accent4="accent4" accent5="accent5" accent6="accent6" hlink="hlink" folHlink="folHlink"/>
    </a:extraClrScheme>
    <a:extraClrScheme>
      <a:clrScheme name="">
        <a:dk1>
          <a:srgbClr val="FFFFFF"/>
        </a:dk1>
        <a:lt1>
          <a:srgbClr val="000099"/>
        </a:lt1>
        <a:dk2>
          <a:srgbClr val="CCFFFF"/>
        </a:dk2>
        <a:lt2>
          <a:srgbClr val="003366"/>
        </a:lt2>
        <a:accent1>
          <a:srgbClr val="3366CC"/>
        </a:accent1>
        <a:accent2>
          <a:srgbClr val="00B000"/>
        </a:accent2>
        <a:accent3>
          <a:srgbClr val="AAAACA"/>
        </a:accent3>
        <a:accent4>
          <a:srgbClr val="DCDCDC"/>
        </a:accent4>
        <a:accent5>
          <a:srgbClr val="ADB9E2"/>
        </a:accent5>
        <a:accent6>
          <a:srgbClr val="009D00"/>
        </a:accent6>
        <a:hlink>
          <a:srgbClr val="66CCFF"/>
        </a:hlink>
        <a:folHlink>
          <a:srgbClr val="FFE701"/>
        </a:folHlink>
      </a:clrScheme>
      <a:clrMap bg1="lt1" tx1="dk1" bg2="lt2" tx2="dk2" accent1="accent1" accent2="accent2" accent3="accent3" accent4="accent4" accent5="accent5" accent6="accent6" hlink="hlink" folHlink="folHlink"/>
    </a:extraClrScheme>
    <a:extraClrScheme>
      <a:clrScheme name="">
        <a:dk1>
          <a:srgbClr val="FFFFFF"/>
        </a:dk1>
        <a:lt1>
          <a:srgbClr val="000000"/>
        </a:lt1>
        <a:dk2>
          <a:srgbClr val="E3EBF1"/>
        </a:dk2>
        <a:lt2>
          <a:srgbClr val="336699"/>
        </a:lt2>
        <a:accent1>
          <a:srgbClr val="003399"/>
        </a:accent1>
        <a:accent2>
          <a:srgbClr val="468A4B"/>
        </a:accent2>
        <a:accent3>
          <a:srgbClr val="AAAAAA"/>
        </a:accent3>
        <a:accent4>
          <a:srgbClr val="DCDCDC"/>
        </a:accent4>
        <a:accent5>
          <a:srgbClr val="AAADCA"/>
        </a:accent5>
        <a:accent6>
          <a:srgbClr val="3E7B43"/>
        </a:accent6>
        <a:hlink>
          <a:srgbClr val="66CCFF"/>
        </a:hlink>
        <a:folHlink>
          <a:srgbClr val="F0E500"/>
        </a:folHlink>
      </a:clrScheme>
      <a:clrMap bg1="lt1" tx1="dk1" bg2="lt2" tx2="dk2" accent1="accent1" accent2="accent2" accent3="accent3" accent4="accent4" accent5="accent5" accent6="accent6" hlink="hlink" folHlink="folHlink"/>
    </a:extraClrScheme>
    <a:extraClrScheme>
      <a:clrScheme name="">
        <a:dk1>
          <a:srgbClr val="FFFFFF"/>
        </a:dk1>
        <a:lt1>
          <a:srgbClr val="686B5D"/>
        </a:lt1>
        <a:dk2>
          <a:srgbClr val="D1D1CB"/>
        </a:dk2>
        <a:lt2>
          <a:srgbClr val="777777"/>
        </a:lt2>
        <a:accent1>
          <a:srgbClr val="909082"/>
        </a:accent1>
        <a:accent2>
          <a:srgbClr val="809EA8"/>
        </a:accent2>
        <a:accent3>
          <a:srgbClr val="B9BAB6"/>
        </a:accent3>
        <a:accent4>
          <a:srgbClr val="DCDCDC"/>
        </a:accent4>
        <a:accent5>
          <a:srgbClr val="C7C7C1"/>
        </a:accent5>
        <a:accent6>
          <a:srgbClr val="728D96"/>
        </a:accent6>
        <a:hlink>
          <a:srgbClr val="FFCC66"/>
        </a:hlink>
        <a:folHlink>
          <a:srgbClr val="E9DCB9"/>
        </a:folHlink>
      </a:clrScheme>
      <a:clrMap bg1="lt1" tx1="dk1" bg2="lt2" tx2="dk2" accent1="accent1" accent2="accent2" accent3="accent3" accent4="accent4" accent5="accent5" accent6="accent6" hlink="hlink" folHlink="folHlink"/>
    </a:extraClrScheme>
    <a:extraClrScheme>
      <a:clrScheme name="">
        <a:dk1>
          <a:srgbClr val="FFFFFF"/>
        </a:dk1>
        <a:lt1>
          <a:srgbClr val="666699"/>
        </a:lt1>
        <a:dk2>
          <a:srgbClr val="FFFFFF"/>
        </a:dk2>
        <a:lt2>
          <a:srgbClr val="3E3E5C"/>
        </a:lt2>
        <a:accent1>
          <a:srgbClr val="60597B"/>
        </a:accent1>
        <a:accent2>
          <a:srgbClr val="6666FF"/>
        </a:accent2>
        <a:accent3>
          <a:srgbClr val="B9B9CA"/>
        </a:accent3>
        <a:accent4>
          <a:srgbClr val="DCDCDC"/>
        </a:accent4>
        <a:accent5>
          <a:srgbClr val="B7B5BF"/>
        </a:accent5>
        <a:accent6>
          <a:srgbClr val="5B5BE5"/>
        </a:accent6>
        <a:hlink>
          <a:srgbClr val="99CCFF"/>
        </a:hlink>
        <a:folHlink>
          <a:srgbClr val="FFFF99"/>
        </a:folHlink>
      </a:clrScheme>
      <a:clrMap bg1="lt1" tx1="dk1" bg2="lt2" tx2="dk2" accent1="accent1" accent2="accent2" accent3="accent3" accent4="accent4" accent5="accent5" accent6="accent6" hlink="hlink" folHlink="folHlink"/>
    </a:extraClrScheme>
    <a:extraClrScheme>
      <a:clrScheme name="">
        <a:dk1>
          <a:srgbClr val="FFFFFF"/>
        </a:dk1>
        <a:lt1>
          <a:srgbClr val="523E26"/>
        </a:lt1>
        <a:dk2>
          <a:srgbClr val="DFC08D"/>
        </a:dk2>
        <a:lt2>
          <a:srgbClr val="2D2015"/>
        </a:lt2>
        <a:accent1>
          <a:srgbClr val="8C7B70"/>
        </a:accent1>
        <a:accent2>
          <a:srgbClr val="8F5F2F"/>
        </a:accent2>
        <a:accent3>
          <a:srgbClr val="B3AFAB"/>
        </a:accent3>
        <a:accent4>
          <a:srgbClr val="DCDCDC"/>
        </a:accent4>
        <a:accent5>
          <a:srgbClr val="C5BFBC"/>
        </a:accent5>
        <a:accent6>
          <a:srgbClr val="805529"/>
        </a:accent6>
        <a:hlink>
          <a:srgbClr val="CCB400"/>
        </a:hlink>
        <a:folHlink>
          <a:srgbClr val="8C9EA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7"/>
      </a:accent6>
      <a:hlink>
        <a:srgbClr val="CCCCFF"/>
      </a:hlink>
      <a:folHlink>
        <a:srgbClr val="B2B2B2"/>
      </a:folHlink>
    </a:clrScheme>
    <a:fontScheme name="Cambria-Calibri">
      <a:majorFont>
        <a:latin typeface="Cambria"/>
        <a:ea typeface=""/>
        <a:cs typeface=""/>
        <a:font script="Jpan" typeface="ＭＳ 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明朝"/>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Balance</Template>
  <TotalTime>0</TotalTime>
  <Words>11610</Words>
  <Application>WPS 演示</Application>
  <PresentationFormat>全屏显示(4:3)</PresentationFormat>
  <Paragraphs>797</Paragraphs>
  <Slides>54</Slides>
  <Notes>3</Notes>
  <HiddenSlides>0</HiddenSlides>
  <MMClips>0</MMClips>
  <ScaleCrop>false</ScaleCrop>
  <HeadingPairs>
    <vt:vector size="8" baseType="variant">
      <vt:variant>
        <vt:lpstr>已用的字体</vt:lpstr>
      </vt:variant>
      <vt:variant>
        <vt:i4>17</vt:i4>
      </vt:variant>
      <vt:variant>
        <vt:lpstr>主题</vt:lpstr>
      </vt:variant>
      <vt:variant>
        <vt:i4>2</vt:i4>
      </vt:variant>
      <vt:variant>
        <vt:lpstr>嵌入 OLE 服务器</vt:lpstr>
      </vt:variant>
      <vt:variant>
        <vt:i4>12</vt:i4>
      </vt:variant>
      <vt:variant>
        <vt:lpstr>幻灯片标题</vt:lpstr>
      </vt:variant>
      <vt:variant>
        <vt:i4>54</vt:i4>
      </vt:variant>
    </vt:vector>
  </HeadingPairs>
  <TitlesOfParts>
    <vt:vector size="85" baseType="lpstr">
      <vt:lpstr>Arial</vt:lpstr>
      <vt:lpstr>宋体</vt:lpstr>
      <vt:lpstr>Wingdings</vt:lpstr>
      <vt:lpstr>楷体_GB2312</vt:lpstr>
      <vt:lpstr>Times New Roman</vt:lpstr>
      <vt:lpstr>黑体</vt:lpstr>
      <vt:lpstr>华文中宋</vt:lpstr>
      <vt:lpstr>楷体</vt:lpstr>
      <vt:lpstr>方正舒体</vt:lpstr>
      <vt:lpstr>华文楷体</vt:lpstr>
      <vt:lpstr>Wingdings</vt:lpstr>
      <vt:lpstr>方正姚体</vt:lpstr>
      <vt:lpstr>微软雅黑</vt:lpstr>
      <vt:lpstr>Arial Unicode MS</vt:lpstr>
      <vt:lpstr>Calibri</vt:lpstr>
      <vt:lpstr>Wingdings 2</vt:lpstr>
      <vt:lpstr>新宋体</vt:lpstr>
      <vt:lpstr>1_默认设计模板</vt:lpstr>
      <vt:lpstr>2_默认设计模板</vt:lpstr>
      <vt:lpstr>Paint.Picture</vt:lpstr>
      <vt:lpstr>Word.Picture.8</vt:lpstr>
      <vt:lpstr>Word.Picture.8</vt:lpstr>
      <vt:lpstr>Word.Picture.8</vt:lpstr>
      <vt:lpstr>Word.Picture.8</vt:lpstr>
      <vt:lpstr>Word.Picture.8</vt:lpstr>
      <vt:lpstr>Word.Picture.8</vt:lpstr>
      <vt:lpstr>Word.Picture.8</vt:lpstr>
      <vt:lpstr>Word.Picture.8</vt:lpstr>
      <vt:lpstr>Word.Picture.8</vt:lpstr>
      <vt:lpstr>Word.Picture.8</vt:lpstr>
      <vt:lpstr>Word.Picture.8</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王淑营</dc:creator>
  <cp:lastModifiedBy>Wangshuying</cp:lastModifiedBy>
  <cp:revision>3090</cp:revision>
  <dcterms:created xsi:type="dcterms:W3CDTF">2001-06-18T05:13:00Z</dcterms:created>
  <dcterms:modified xsi:type="dcterms:W3CDTF">2024-06-07T01:25:18Z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2052-12.1.0.16929</vt:lpwstr>
  </property>
  <property fmtid="{D5CDD505-2E9C-101B-9397-08002B2CF9AE}" pid="3" name="ICV">
    <vt:lpwstr>EEC5DF8904954768A2F2138FE277718B_12</vt:lpwstr>
  </property>
</Properties>
</file>