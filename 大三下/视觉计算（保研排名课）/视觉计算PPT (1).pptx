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9" r:id="rId4"/>
    <p:sldId id="352" r:id="rId5"/>
    <p:sldId id="11089437" r:id="rId7"/>
    <p:sldId id="11089426" r:id="rId8"/>
    <p:sldId id="11089443" r:id="rId9"/>
    <p:sldId id="11089444" r:id="rId10"/>
    <p:sldId id="11089427" r:id="rId11"/>
    <p:sldId id="524" r:id="rId12"/>
    <p:sldId id="522" r:id="rId13"/>
    <p:sldId id="11089445" r:id="rId14"/>
    <p:sldId id="11089428" r:id="rId15"/>
    <p:sldId id="11089446" r:id="rId16"/>
    <p:sldId id="11089447" r:id="rId17"/>
    <p:sldId id="11089450" r:id="rId18"/>
    <p:sldId id="11089451" r:id="rId19"/>
    <p:sldId id="11089434" r:id="rId20"/>
    <p:sldId id="11089448" r:id="rId21"/>
    <p:sldId id="11089449" r:id="rId22"/>
    <p:sldId id="11089441" r:id="rId23"/>
    <p:sldId id="11089440" r:id="rId24"/>
    <p:sldId id="11089442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BC9"/>
    <a:srgbClr val="1D54B1"/>
    <a:srgbClr val="E0ECFE"/>
    <a:srgbClr val="1F2B97"/>
    <a:srgbClr val="E9F2FE"/>
    <a:srgbClr val="F9D5AE"/>
    <a:srgbClr val="FFF2DA"/>
    <a:srgbClr val="0D66DA"/>
    <a:srgbClr val="0F3D99"/>
    <a:srgbClr val="463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42"/>
    <p:restoredTop sz="96029"/>
  </p:normalViewPr>
  <p:slideViewPr>
    <p:cSldViewPr snapToGrid="0">
      <p:cViewPr>
        <p:scale>
          <a:sx n="84" d="100"/>
          <a:sy n="84" d="100"/>
        </p:scale>
        <p:origin x="67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13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image" Target="../media/image9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image" Target="../media/image9.png"/><Relationship Id="rId3" Type="http://schemas.openxmlformats.org/officeDocument/2006/relationships/image" Target="../media/image23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1.png"/><Relationship Id="rId2" Type="http://schemas.microsoft.com/office/2007/relationships/hdphoto" Target="../media/image20.wdp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1.xml"/><Relationship Id="rId4" Type="http://schemas.openxmlformats.org/officeDocument/2006/relationships/image" Target="../media/image9.png"/><Relationship Id="rId3" Type="http://schemas.openxmlformats.org/officeDocument/2006/relationships/image" Target="../media/image23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面向单图像超分辨率的轻量</a:t>
            </a:r>
            <a:r>
              <a:rPr kumimoji="0" lang="en-US" altLang="zh-CN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IMDN</a:t>
            </a: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复现与结构损失消融研究</a:t>
            </a:r>
            <a:endParaRPr kumimoji="0" lang="zh-CN" altLang="en-US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9533" y="5221463"/>
            <a:ext cx="61129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日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39533" y="4202176"/>
            <a:ext cx="6112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汇报人：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程泽凯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56467" y="480435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1344918" y="650970"/>
            <a:ext cx="5401731" cy="600650"/>
            <a:chOff x="1326910" y="1179226"/>
            <a:chExt cx="5401731" cy="600650"/>
          </a:xfrm>
        </p:grpSpPr>
        <p:sp>
          <p:nvSpPr>
            <p:cNvPr id="4" name="TextBox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研究背景与问题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矩形: 圆角 35"/>
            <p:cNvSpPr/>
            <p:nvPr>
              <p:custDataLst>
                <p:tags r:id="rId8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9"/>
            </p:custDataLst>
          </p:nvPr>
        </p:nvGrpSpPr>
        <p:grpSpPr>
          <a:xfrm>
            <a:off x="1355270" y="1459527"/>
            <a:ext cx="5387551" cy="600650"/>
            <a:chOff x="1341090" y="2175341"/>
            <a:chExt cx="5387551" cy="600650"/>
          </a:xfrm>
        </p:grpSpPr>
        <p:sp>
          <p:nvSpPr>
            <p:cNvPr id="14" name="矩形: 圆角 39"/>
            <p:cNvSpPr/>
            <p:nvPr>
              <p:custDataLst>
                <p:tags r:id="rId10"/>
              </p:custDataLst>
            </p:nvPr>
          </p:nvSpPr>
          <p:spPr>
            <a:xfrm>
              <a:off x="1341090" y="2175341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84572" y="2218535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方法调研与模型选型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1341090" y="2312697"/>
            <a:ext cx="5387551" cy="600650"/>
            <a:chOff x="1341090" y="3171456"/>
            <a:chExt cx="5387551" cy="600650"/>
          </a:xfrm>
        </p:grpSpPr>
        <p:sp>
          <p:nvSpPr>
            <p:cNvPr id="16" name="矩形: 圆角 43"/>
            <p:cNvSpPr/>
            <p:nvPr>
              <p:custDataLst>
                <p:tags r:id="rId13"/>
              </p:custDataLst>
            </p:nvPr>
          </p:nvSpPr>
          <p:spPr>
            <a:xfrm>
              <a:off x="1341090" y="317145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284572" y="3218659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模型结构与机制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355270" y="3166385"/>
            <a:ext cx="5387551" cy="600650"/>
            <a:chOff x="1341090" y="4167570"/>
            <a:chExt cx="5387551" cy="600650"/>
          </a:xfrm>
        </p:grpSpPr>
        <p:sp>
          <p:nvSpPr>
            <p:cNvPr id="27" name="矩形: 圆角 47"/>
            <p:cNvSpPr/>
            <p:nvPr>
              <p:custDataLst>
                <p:tags r:id="rId16"/>
              </p:custDataLst>
            </p:nvPr>
          </p:nvSpPr>
          <p:spPr>
            <a:xfrm>
              <a:off x="1341090" y="4167570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284572" y="4218783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实验设置与结果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8"/>
            </p:custDataLst>
          </p:nvPr>
        </p:nvGrpSpPr>
        <p:grpSpPr>
          <a:xfrm>
            <a:off x="1341090" y="4019555"/>
            <a:ext cx="5401731" cy="600650"/>
            <a:chOff x="1326910" y="1179226"/>
            <a:chExt cx="5401731" cy="600650"/>
          </a:xfrm>
        </p:grpSpPr>
        <p:sp>
          <p:nvSpPr>
            <p:cNvPr id="30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结论与展望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研究背景与问题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微软雅黑" panose="020B0503020204020204" pitchFamily="34" charset="-122"/>
              </a:defRPr>
            </a:pPr>
            <a:r>
              <a:rPr sz="1800">
                <a:sym typeface="+mn-ea"/>
              </a:rPr>
              <a:t>单图像超分辨率任务概述与技术挑战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0082" y="1429655"/>
            <a:ext cx="4925330" cy="4039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任务定义：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单图像超分辨率属于底层视觉任务，旨在由低分辨率图像恢复高清细节。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应用价值：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广泛适用于监控、遥感、医疗影像、图像修复等场景，应用需求旺盛。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技术难点：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属于欠定问题，降采样丢失高频细节，图像重建歧义大、难度高。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4" name="图片 23" descr="日程表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183" y="1936906"/>
            <a:ext cx="6379538" cy="35884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方法调研与模型选型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超分辨率方法演进与</a:t>
            </a: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IMDN</a:t>
            </a: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选型理由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方法调研与模型选型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215031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主流超分辨率方法对比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graphicFrame>
        <p:nvGraphicFramePr>
          <p:cNvPr id="29" name="表格 29"/>
          <p:cNvGraphicFramePr>
            <a:graphicFrameLocks noGrp="1"/>
          </p:cNvGraphicFramePr>
          <p:nvPr/>
        </p:nvGraphicFramePr>
        <p:xfrm>
          <a:off x="421086" y="2045108"/>
          <a:ext cx="5994954" cy="38404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04794"/>
                <a:gridCol w="1051560"/>
                <a:gridCol w="1355411"/>
                <a:gridCol w="1148447"/>
                <a:gridCol w="1534742"/>
              </a:tblGrid>
              <a:tr h="22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</a:rPr>
                        <a:t>方法类别</a:t>
                      </a:r>
                      <a:endParaRPr lang="zh-CN" altLang="en-US" sz="14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</a:rPr>
                        <a:t>代表模型</a:t>
                      </a:r>
                      <a:endParaRPr lang="zh-CN" altLang="en-US" sz="14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</a:rPr>
                        <a:t>核心机制</a:t>
                      </a:r>
                      <a:endParaRPr lang="zh-CN" altLang="en-US" sz="14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</a:rPr>
                        <a:t>主要优势</a:t>
                      </a:r>
                      <a:endParaRPr lang="zh-CN" altLang="en-US" sz="14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bg1"/>
                          </a:solidFill>
                        </a:rPr>
                        <a:t>主要局限</a:t>
                      </a:r>
                      <a:endParaRPr lang="zh-CN" altLang="en-US" sz="14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传统插值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Bicubic</a:t>
                      </a:r>
                      <a:endParaRPr lang="en-GB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双三次插值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简单快速、无参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细节模糊、边缘平滑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早期 </a:t>
                      </a:r>
                      <a:r>
                        <a:rPr lang="en-GB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CNN</a:t>
                      </a:r>
                      <a:endParaRPr lang="en-GB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SRCNN</a:t>
                      </a:r>
                      <a:endParaRPr lang="en-GB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三层卷积映射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端到端学习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先插值后卷积、计算量大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轻量网络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IMDN</a:t>
                      </a:r>
                      <a:endParaRPr lang="en-GB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信息多蒸馏 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+ 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特征融合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参数少、速度快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感知质量一般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GAN </a:t>
                      </a:r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超分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ESRGAN</a:t>
                      </a:r>
                      <a:endParaRPr lang="en-GB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对抗学习 </a:t>
                      </a:r>
                      <a:r>
                        <a:rPr lang="en-US" altLang="zh-CN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+ </a:t>
                      </a:r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感知损失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纹理锐利、视觉自然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训练不稳定、可能伪纹理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Transformer</a:t>
                      </a:r>
                      <a:endParaRPr lang="en-GB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SwinIR/HAT</a:t>
                      </a:r>
                      <a:endParaRPr lang="en-GB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窗口自注意力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长程依赖建模强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计算和显存开销高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扩散模型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SR3/</a:t>
                      </a:r>
                      <a:r>
                        <a:rPr lang="en-GB" sz="140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DiffIR</a:t>
                      </a:r>
                      <a:endParaRPr lang="en-GB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条件去噪生成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细节生成潜力高</a:t>
                      </a:r>
                      <a:endParaRPr lang="zh-CN" altLang="en-US" sz="1400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推理和训练成本高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  <p:pic>
        <p:nvPicPr>
          <p:cNvPr id="33" name="图片 32" descr="日程表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70" y="2359660"/>
            <a:ext cx="5916295" cy="34131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方法调研与模型选型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1093855" y="1938326"/>
            <a:ext cx="8149898" cy="3966114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认可度高：</a:t>
            </a:r>
            <a:r>
              <a:rPr lang="en-GB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ACM MM 2019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论文，</a:t>
            </a:r>
            <a:r>
              <a:rPr lang="en-GB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AIM 2019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超分挑战赛双赛道冠军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轻量高效：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参数量仅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0.17</a:t>
            </a:r>
            <a:r>
              <a:rPr lang="en-GB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</a:t>
            </a:r>
            <a:r>
              <a:rPr lang="zh-CN" altLang="en-GB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推理速度快，适配边缘设备部署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结构清晰：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信息多蒸馏块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+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对比感知通道注意力，易复现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性能均衡：</a:t>
            </a:r>
            <a:r>
              <a:rPr lang="en-GB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PSNR/SSIM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指标与推理速度实现良好平衡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扩展性强：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支持任意尺度超分，便于后续改进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2" name="图形"/>
          <p:cNvSpPr txBox="1"/>
          <p:nvPr/>
        </p:nvSpPr>
        <p:spPr>
          <a:xfrm>
            <a:off x="924972" y="1215031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en-GB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IMDN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模型选型理由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pic>
        <p:nvPicPr>
          <p:cNvPr id="32" name="图片 31" descr="手机屏幕的截图&#10;&#10;描述已自动生成"/>
          <p:cNvPicPr>
            <a:picLocks noChangeAspect="1"/>
          </p:cNvPicPr>
          <p:nvPr/>
        </p:nvPicPr>
        <p:blipFill rotWithShape="1">
          <a:blip r:embed="rId2"/>
          <a:srcRect r="59020"/>
          <a:stretch>
            <a:fillRect/>
          </a:stretch>
        </p:blipFill>
        <p:spPr>
          <a:xfrm>
            <a:off x="9006840" y="1215031"/>
            <a:ext cx="3185160" cy="4371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模型结构与机制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IMDN</a:t>
            </a: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网络结构、损失函数与改进设计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7" y="4373977"/>
            <a:ext cx="12191683" cy="2483576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54220" y="5117363"/>
            <a:ext cx="10576600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信息多蒸馏：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通道分步拆分提炼，减少冗余计算，实现高效特征提取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对比感知通道注意力：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评估特征重要性，自适应聚合多阶段特征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自适应裁剪策略：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支持任意尺寸图像超分，无需针对不同尺度重新训练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PixelShuffle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上采样：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直接学习上采样重建，避免先插值带来的额外开销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4742705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5" name="图片 4" descr="图形用户界面, 应用程序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970" y="589280"/>
            <a:ext cx="7579360" cy="402463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848564" y="460851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核心设计思想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chemeClr val="accent1">
                  <a:lumMod val="40000"/>
                  <a:lumOff val="60000"/>
                  <a:alpha val="95000"/>
                </a:scheme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2537" y="5782965"/>
            <a:ext cx="5530593" cy="66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权重配置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𝜆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𝑒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、𝜆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𝑙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可通过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YAML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灵活调整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2537" y="2108462"/>
            <a:ext cx="5530593" cy="66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总损失函数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=𝐿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+𝜆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𝑒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∙𝐿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𝑒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+𝜆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𝑙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∙𝐿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𝑙</a:t>
            </a:r>
            <a:endParaRPr kumimoji="0" lang="en-US" altLang="zh-CN" sz="1600" b="0" i="0" u="none" strike="noStrike" kern="1200" cap="none" spc="0" normalizeH="0" baseline="-250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2537" y="3120167"/>
            <a:ext cx="5530593" cy="243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𝐿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像素重建损失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约束整体像素误差，保证颜色保真度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lang="zh-CN" altLang="en-US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𝐿</a:t>
            </a:r>
            <a:r>
              <a:rPr lang="en-US" altLang="zh-CN" sz="1600" b="1" baseline="-25000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𝑒</a:t>
            </a:r>
            <a:r>
              <a:rPr lang="en-US" altLang="zh-CN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边缘损失（一阶）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比较水平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垂直梯度差异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鼓励网络保留清晰边界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lang="zh-CN" altLang="en-US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𝐿</a:t>
            </a:r>
            <a:r>
              <a:rPr lang="en-US" altLang="zh-CN" sz="1600" b="1" baseline="-25000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</a:t>
            </a:r>
            <a:r>
              <a:rPr lang="en-US" altLang="zh-CN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拉普拉斯损失（二阶）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使用四邻域离散拉普拉斯算子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约束局部二阶变化，增强高频结构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25" name="直线连接符 24"/>
          <p:cNvCxnSpPr/>
          <p:nvPr/>
        </p:nvCxnSpPr>
        <p:spPr>
          <a:xfrm>
            <a:off x="911113" y="1965582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911113" y="2934125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>
            <a:off x="911113" y="5624988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957559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组合损失函数设计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pic>
        <p:nvPicPr>
          <p:cNvPr id="4" name="图片 3" descr="图形用户界面, 图示&#10;&#10;描述已自动生成"/>
          <p:cNvPicPr>
            <a:picLocks noChangeAspect="1"/>
          </p:cNvPicPr>
          <p:nvPr/>
        </p:nvPicPr>
        <p:blipFill rotWithShape="1">
          <a:blip r:embed="rId4"/>
          <a:srcRect r="50353"/>
          <a:stretch>
            <a:fillRect/>
          </a:stretch>
        </p:blipFill>
        <p:spPr>
          <a:xfrm>
            <a:off x="7329170" y="1277620"/>
            <a:ext cx="4546600" cy="5151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chemeClr val="accent1">
                  <a:lumMod val="40000"/>
                  <a:lumOff val="60000"/>
                  <a:alpha val="95000"/>
                </a:scheme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2537" y="2108462"/>
            <a:ext cx="5530593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结构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① 全局平均池化 → 压缩空间维度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② 两层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1×1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卷积 → 生成通道权重</a:t>
            </a: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③ 权重乘回原特征 → 重标定通道</a:t>
            </a:r>
            <a:endParaRPr kumimoji="0" lang="en-US" altLang="zh-CN" sz="1600" b="0" i="0" u="none" strike="noStrike" kern="1200" cap="none" spc="0" normalizeH="0" baseline="-250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2537" y="3745007"/>
            <a:ext cx="5530593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设计动机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提高纹理、边缘相关通道权重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减少低效通道对融合特征的干扰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仅增加约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2,048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参数，轻量高效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25" name="直线连接符 24"/>
          <p:cNvCxnSpPr/>
          <p:nvPr/>
        </p:nvCxnSpPr>
        <p:spPr>
          <a:xfrm>
            <a:off x="911113" y="1965582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911113" y="3558965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957559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CA-IMDN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注意力改进分支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pic>
        <p:nvPicPr>
          <p:cNvPr id="5" name="图片 4" descr="图形用户界面, 图示&#10;&#10;描述已自动生成"/>
          <p:cNvPicPr>
            <a:picLocks noChangeAspect="1"/>
          </p:cNvPicPr>
          <p:nvPr/>
        </p:nvPicPr>
        <p:blipFill rotWithShape="1">
          <a:blip r:embed="rId4"/>
          <a:srcRect l="53726"/>
          <a:stretch>
            <a:fillRect/>
          </a:stretch>
        </p:blipFill>
        <p:spPr>
          <a:xfrm>
            <a:off x="7672494" y="904699"/>
            <a:ext cx="4367106" cy="530853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实验设置与结果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数据集、训练配置与消融实验分析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1263639" y="1833031"/>
            <a:ext cx="3796041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zh-CN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DIV2K</a:t>
            </a:r>
            <a:r>
              <a:rPr lang="zh-CN" altLang="en-US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数据集 </a:t>
            </a:r>
            <a:r>
              <a:rPr lang="en-US" altLang="zh-CN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(</a:t>
            </a:r>
            <a:r>
              <a:rPr lang="en-GB" altLang="zh-CN" sz="16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NTIRE 2017)</a:t>
            </a:r>
            <a:b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训练集：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800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张高分辨率图像</a:t>
            </a:r>
            <a:b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验证集：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张图像</a:t>
            </a:r>
            <a:b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测试集：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张图像</a:t>
            </a:r>
            <a:b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任务：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 ×2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超分辨率</a:t>
            </a:r>
            <a:b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图像分辨率：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2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K (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约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2040×1080)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场景丰富：建筑、自然、人物、动物等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24689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数据集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7" name="图形"/>
          <p:cNvSpPr txBox="1"/>
          <p:nvPr/>
        </p:nvSpPr>
        <p:spPr>
          <a:xfrm>
            <a:off x="7197917" y="1708557"/>
            <a:ext cx="4491164" cy="3662363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框架：</a:t>
            </a:r>
            <a:r>
              <a:rPr lang="en-GB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MindSpore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2.8.0</a:t>
            </a:r>
            <a:b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设备：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CPU</a:t>
            </a:r>
            <a:b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放大倍率：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×2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批大小：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8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Patch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大小：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32×32 (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从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LR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随机裁剪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)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特征通道数：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32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学习率：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2×10⁻⁴ (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Adam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优化器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)</a:t>
            </a:r>
            <a:b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训练轮数：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5/20/50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epoch</a:t>
            </a:r>
            <a:b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损失函数：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L1 / L1+Edge / L1+Laplacian</a:t>
            </a:r>
            <a:b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</a:b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•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评价指标：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PSNR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、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SSIM (Y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通道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)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8" name="图形"/>
          <p:cNvSpPr txBox="1"/>
          <p:nvPr/>
        </p:nvSpPr>
        <p:spPr>
          <a:xfrm>
            <a:off x="6868930" y="1246893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训练配置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pic>
        <p:nvPicPr>
          <p:cNvPr id="29" name="图片 28" descr="图形用户界面, 应用程序&#10;&#10;描述已自动生成"/>
          <p:cNvPicPr>
            <a:picLocks noChangeAspect="1"/>
          </p:cNvPicPr>
          <p:nvPr/>
        </p:nvPicPr>
        <p:blipFill rotWithShape="1">
          <a:blip r:embed="rId2"/>
          <a:srcRect t="22886" b="21589"/>
          <a:stretch>
            <a:fillRect/>
          </a:stretch>
        </p:blipFill>
        <p:spPr>
          <a:xfrm>
            <a:off x="655571" y="4595551"/>
            <a:ext cx="6289019" cy="196424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rgbClr val="273CA9">
                  <a:alpha val="95011"/>
                </a:srgb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142673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DIV2K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验证集主要结果对比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557759" y="2158430"/>
            <a:ext cx="4317465" cy="3937569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短轮次训练（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5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ep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的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IMDN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性能未超过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延长训练后提升显著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充分训练（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50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ep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的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IMDN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无边缘损失方案效果最佳：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34.21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dB/0.9906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较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提升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1.74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dB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SRCNN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在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20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ep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时达到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33.29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dB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表明浅层基线模型经充分训练同样可超越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当前设置下边缘损失未稳定提升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PSNR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仍需进一步调参优化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4" name="图形"/>
          <p:cNvSpPr txBox="1"/>
          <p:nvPr/>
        </p:nvSpPr>
        <p:spPr>
          <a:xfrm>
            <a:off x="7219092" y="1618014"/>
            <a:ext cx="3076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关键结论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pic>
        <p:nvPicPr>
          <p:cNvPr id="6" name="图片 5" descr="条形图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095500"/>
            <a:ext cx="6787515" cy="37953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82537" y="4680069"/>
            <a:ext cx="6009005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核心结论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增加通道宽度（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width48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比单纯加深网络（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depth6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更有效。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28684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模型容量消融实验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chemeClr val="accent1">
                  <a:lumMod val="40000"/>
                  <a:lumOff val="60000"/>
                  <a:alpha val="95000"/>
                </a:scheme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5"/>
          <p:cNvGraphicFramePr>
            <a:graphicFrameLocks noGrp="1"/>
          </p:cNvGraphicFramePr>
          <p:nvPr/>
        </p:nvGraphicFramePr>
        <p:xfrm>
          <a:off x="894757" y="1952482"/>
          <a:ext cx="5658443" cy="2560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10443"/>
                <a:gridCol w="859328"/>
                <a:gridCol w="21886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方法</a:t>
                      </a:r>
                      <a:endParaRPr lang="zh-CN" altLang="en-US" b="1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参数量</a:t>
                      </a:r>
                      <a:endParaRPr lang="zh-CN" altLang="en-US" b="1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</a:rPr>
                        <a:t>PSNR(dB)</a:t>
                      </a:r>
                      <a:endParaRPr lang="en-GB" b="1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IMDN width16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43K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33.4131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IMDN width32（</a:t>
                      </a:r>
                      <a:r>
                        <a:rPr lang="zh-CN" altLang="en-US" dirty="0">
                          <a:effectLst/>
                        </a:rPr>
                        <a:t>主模型）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171K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33.4615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0E6BC9"/>
                          </a:solidFill>
                          <a:effectLst/>
                        </a:rPr>
                        <a:t>IMDN width48</a:t>
                      </a:r>
                      <a:endParaRPr lang="en-GB" b="1" dirty="0">
                        <a:solidFill>
                          <a:srgbClr val="0E6BC9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0E6BC9"/>
                          </a:solidFill>
                          <a:effectLst/>
                        </a:rPr>
                        <a:t>383K</a:t>
                      </a:r>
                      <a:endParaRPr lang="en-GB" b="1" dirty="0">
                        <a:solidFill>
                          <a:srgbClr val="0E6BC9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E6BC9"/>
                          </a:solidFill>
                          <a:effectLst/>
                        </a:rPr>
                        <a:t>33.6560</a:t>
                      </a:r>
                      <a:endParaRPr lang="en-US" altLang="zh-CN" b="1" dirty="0">
                        <a:solidFill>
                          <a:srgbClr val="0E6BC9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IMDN depth2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109K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32.7074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IMDN depth6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232K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33.1873</a:t>
                      </a:r>
                      <a:endParaRPr lang="en-US" altLang="zh-CN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  <p:pic>
        <p:nvPicPr>
          <p:cNvPr id="7" name="图片 6" descr="图片包含 徽标&#10;&#10;描述已自动生成"/>
          <p:cNvPicPr>
            <a:picLocks noChangeAspect="1"/>
          </p:cNvPicPr>
          <p:nvPr/>
        </p:nvPicPr>
        <p:blipFill rotWithShape="1">
          <a:blip r:embed="rId4"/>
          <a:srcRect r="48796"/>
          <a:stretch>
            <a:fillRect/>
          </a:stretch>
        </p:blipFill>
        <p:spPr>
          <a:xfrm>
            <a:off x="7645530" y="1710663"/>
            <a:ext cx="3979763" cy="4371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82537" y="5426829"/>
            <a:ext cx="5996785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核心结论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学习率调度能带来小幅性能提升；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CA-IMDN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epoch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时表现良好，但训练到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50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epoch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出现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PSNR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下降，需要加入早停策略。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aphicFrame>
        <p:nvGraphicFramePr>
          <p:cNvPr id="3" name="表格 5"/>
          <p:cNvGraphicFramePr>
            <a:graphicFrameLocks noGrp="1"/>
          </p:cNvGraphicFramePr>
          <p:nvPr/>
        </p:nvGraphicFramePr>
        <p:xfrm>
          <a:off x="894757" y="1922002"/>
          <a:ext cx="5996785" cy="34137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29443"/>
                <a:gridCol w="1264920"/>
                <a:gridCol w="868680"/>
                <a:gridCol w="1633742"/>
              </a:tblGrid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方法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PSNR(dB)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SSIM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关键结论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IMDN fixed LR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33.4615</a:t>
                      </a:r>
                      <a:endParaRPr lang="en-US" altLang="zh-CN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0.9893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基线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IMDN StepLR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33.5251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0.9892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小幅提升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IMDN </a:t>
                      </a:r>
                      <a:r>
                        <a:rPr lang="en-GB" dirty="0" err="1">
                          <a:effectLst/>
                        </a:rPr>
                        <a:t>CosineLR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33.5176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小幅提升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CA-IMDN fixed LR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33.4801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0.9893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表现良好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CA-IMDN + Edge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33.6396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0.9894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小幅提升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CA-IMDN CosineLR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33.5963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0.9892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252785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CA-IMDN 50ep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33.0275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0.9899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PSNR </a:t>
                      </a:r>
                      <a:r>
                        <a:rPr lang="zh-CN" altLang="en-US" dirty="0">
                          <a:effectLst/>
                        </a:rPr>
                        <a:t>下降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854669" y="410108"/>
            <a:ext cx="428684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训练策略消融分析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chemeClr val="accent1">
                  <a:lumMod val="40000"/>
                  <a:lumOff val="60000"/>
                  <a:alpha val="95000"/>
                </a:scheme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 descr="图片包含 徽标&#10;&#10;描述已自动生成"/>
          <p:cNvPicPr>
            <a:picLocks noChangeAspect="1"/>
          </p:cNvPicPr>
          <p:nvPr/>
        </p:nvPicPr>
        <p:blipFill rotWithShape="1">
          <a:blip r:embed="rId4"/>
          <a:srcRect l="52547"/>
          <a:stretch>
            <a:fillRect/>
          </a:stretch>
        </p:blipFill>
        <p:spPr>
          <a:xfrm>
            <a:off x="7697644" y="1851517"/>
            <a:ext cx="3688253" cy="4371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单击此处添加标题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7" name="图形"/>
          <p:cNvSpPr txBox="1"/>
          <p:nvPr/>
        </p:nvSpPr>
        <p:spPr>
          <a:xfrm>
            <a:off x="1263638" y="4258160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在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Set5/Set14/Urban100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上，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IMDN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全面超越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；</a:t>
            </a:r>
            <a:endParaRPr lang="zh-CN" altLang="en-GB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在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BSD100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上，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PSNR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略低但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SSIM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持平，说明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在部分自然图像场景仍有优势。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2" name="图形"/>
          <p:cNvSpPr txBox="1"/>
          <p:nvPr/>
        </p:nvSpPr>
        <p:spPr>
          <a:xfrm>
            <a:off x="924972" y="1215031"/>
            <a:ext cx="74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标准 </a:t>
            </a:r>
            <a:r>
              <a:rPr lang="en-GB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Benchmark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评估（</a:t>
            </a:r>
            <a:r>
              <a:rPr lang="en-GB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IMDN 50epoch</a:t>
            </a:r>
            <a:r>
              <a:rPr lang="zh-CN" altLang="en-GB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）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graphicFrame>
        <p:nvGraphicFramePr>
          <p:cNvPr id="29" name="表格 29"/>
          <p:cNvGraphicFramePr>
            <a:graphicFrameLocks noGrp="1"/>
          </p:cNvGraphicFramePr>
          <p:nvPr/>
        </p:nvGraphicFramePr>
        <p:xfrm>
          <a:off x="1263638" y="1900628"/>
          <a:ext cx="9511044" cy="2133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85174"/>
                <a:gridCol w="1585174"/>
                <a:gridCol w="1585174"/>
                <a:gridCol w="1585174"/>
                <a:gridCol w="1585174"/>
                <a:gridCol w="15851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数据集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Bicubic PSNR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IMDN PSNR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>
                          <a:effectLst/>
                        </a:rPr>
                        <a:t>Δ</a:t>
                      </a:r>
                      <a:r>
                        <a:rPr lang="en-GB">
                          <a:effectLst/>
                        </a:rPr>
                        <a:t>PSNR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Bicubic SSIM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IMDN SSIM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Set5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33.71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35.97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+2.25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0.9931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0.9967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Set14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29.95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31.20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+1.25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0.9783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0.9832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BSD100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27.46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27.27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-0.18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0.9541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0.9541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Urban100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26.92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28.78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+1.86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0.9682</a:t>
                      </a:r>
                      <a:endParaRPr lang="en-US" altLang="zh-C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0.9784</a:t>
                      </a:r>
                      <a:endParaRPr lang="en-US" altLang="zh-CN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82537" y="4695309"/>
            <a:ext cx="5530593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核心结论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像素保真、结构相似性与无参考自然度并非同步提升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2537" y="2108462"/>
            <a:ext cx="5530593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LPIPS (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越低越好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IMDN 50ep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显著低于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Bicubic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说明感知特征空间中重建结果更接近原图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2537" y="3380050"/>
            <a:ext cx="5530593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NIQE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（越低越好）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IMDN 50ep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略高于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Bicubic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增强纹理时可能引入少量不自然响应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25" name="直线连接符 24"/>
          <p:cNvCxnSpPr/>
          <p:nvPr/>
        </p:nvCxnSpPr>
        <p:spPr>
          <a:xfrm>
            <a:off x="911113" y="1965582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911113" y="3222882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>
            <a:off x="911113" y="4537332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28684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感知质量指标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DIV2K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验证集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chemeClr val="accent1">
                  <a:lumMod val="40000"/>
                  <a:lumOff val="60000"/>
                  <a:alpha val="95000"/>
                </a:scheme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形用户界面, 应用程序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405" y="2152540"/>
            <a:ext cx="5105595" cy="28718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7" y="4316505"/>
            <a:ext cx="12191683" cy="2541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48564" y="460851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可靠性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71574" y="5292021"/>
            <a:ext cx="10527945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所有指标基于 </a:t>
            </a:r>
            <a:r>
              <a:rPr lang="en-GB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DIV2K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验证集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张图像，实验输入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目标统一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输出包含推理图像、</a:t>
            </a:r>
            <a:r>
              <a:rPr lang="en-GB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指标、训练日志、模型 </a:t>
            </a:r>
            <a:r>
              <a:rPr lang="en-GB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checkpoint</a:t>
            </a:r>
            <a:r>
              <a:rPr lang="zh-CN" altLang="en-GB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过程可复现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报告正文超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字，满足要求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60080" y="1794118"/>
            <a:ext cx="11689119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训练仅抽取有限 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LR patch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纹理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边缘覆盖不足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SRCNN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未训练至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50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ep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无法代表浅层模型收敛上限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CA-IMDN 50ep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出现 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PSNR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下降，需优化学习率与早停策略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LPIPS/NIQE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为自动指标，无法完全替代人工主观评价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BSD100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 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PSNR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未超 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Bicubic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泛化能力仍需提升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9" y="410108"/>
            <a:ext cx="495145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局限性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5" name="图片 4" descr="图形用户界面, 应用程序&#10;&#10;描述已自动生成"/>
          <p:cNvPicPr>
            <a:picLocks noChangeAspect="1"/>
          </p:cNvPicPr>
          <p:nvPr/>
        </p:nvPicPr>
        <p:blipFill rotWithShape="1">
          <a:blip r:embed="rId2"/>
          <a:srcRect r="53333"/>
          <a:stretch>
            <a:fillRect/>
          </a:stretch>
        </p:blipFill>
        <p:spPr>
          <a:xfrm>
            <a:off x="7659636" y="143025"/>
            <a:ext cx="3627120" cy="4371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3611880" cy="2345475"/>
            <a:chOff x="497375" y="1211712"/>
            <a:chExt cx="36118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36118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结论与展望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26210" cy="1445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329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746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主要发现、局限性与后续改进方向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46D6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结论与展望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4" name="图片 23" descr="图形用户界面, 应用程序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36" y="1855196"/>
            <a:ext cx="6003101" cy="3376744"/>
          </a:xfrm>
          <a:prstGeom prst="rect">
            <a:avLst/>
          </a:prstGeom>
        </p:spPr>
      </p:pic>
      <p:sp>
        <p:nvSpPr>
          <p:cNvPr id="25" name="图形"/>
          <p:cNvSpPr txBox="1"/>
          <p:nvPr/>
        </p:nvSpPr>
        <p:spPr>
          <a:xfrm>
            <a:off x="1073813" y="1808944"/>
            <a:ext cx="5022188" cy="457587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系统复现：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基于 </a:t>
            </a:r>
            <a:r>
              <a:rPr lang="en-GB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MindSpore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完成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IMDN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超分模型训练、推理、评估全流程复现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训练效果：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50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epoch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充分训练后，模型性能显著优于 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Bicubic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提升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1.74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dB</a:t>
            </a:r>
            <a:endParaRPr lang="en-GB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关键结论：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短轮次训练性能不足，瓶颈为训练轮次，非模型结构缺陷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损失实验：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边缘、拉普拉斯损失增益不稳定，注意力结合小权重边缘损失略有提升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泛化能力：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多数测试集优于传统插值，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BSD100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性能持平略弱，泛化性有待优化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6" name="图形"/>
          <p:cNvSpPr txBox="1"/>
          <p:nvPr/>
        </p:nvSpPr>
        <p:spPr>
          <a:xfrm>
            <a:off x="924972" y="1215031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主要结论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6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7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8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9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0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0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1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2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WPS 演示</Application>
  <PresentationFormat>宽屏</PresentationFormat>
  <Paragraphs>456</Paragraphs>
  <Slides>22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Times New Roman</vt:lpstr>
      <vt:lpstr>Arial</vt:lpstr>
      <vt:lpstr>OPPOSans R</vt:lpstr>
      <vt:lpstr>OPPOSans B</vt:lpstr>
      <vt:lpstr>思源宋体 CN Heavy</vt:lpstr>
      <vt:lpstr>OPPOSans H</vt:lpstr>
      <vt:lpstr>OPPOSans B</vt:lpstr>
      <vt:lpstr>FFont-Family</vt:lpstr>
      <vt:lpstr>Calibri</vt:lpstr>
      <vt:lpstr>字魂58号-创中黑</vt:lpstr>
      <vt:lpstr>Arial Unicode MS</vt:lpstr>
      <vt:lpstr>等线</vt:lpstr>
      <vt:lpstr>BatangChe</vt:lpstr>
      <vt:lpstr>黑体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WPS_1665891310</cp:lastModifiedBy>
  <cp:revision>85</cp:revision>
  <dcterms:created xsi:type="dcterms:W3CDTF">2023-05-24T16:02:00Z</dcterms:created>
  <dcterms:modified xsi:type="dcterms:W3CDTF">2026-06-08T08:43:03Z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2052-12.1.0.26375</vt:lpwstr>
  </property>
</Properties>
</file>