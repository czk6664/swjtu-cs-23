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sldIdLst>
    <p:sldId id="256" r:id="rId3"/>
    <p:sldId id="269" r:id="rId4"/>
    <p:sldId id="352" r:id="rId5"/>
    <p:sldId id="11089437" r:id="rId7"/>
    <p:sldId id="11089426" r:id="rId8"/>
    <p:sldId id="11089433" r:id="rId9"/>
    <p:sldId id="11089427" r:id="rId10"/>
    <p:sldId id="11089434" r:id="rId11"/>
    <p:sldId id="11089436" r:id="rId12"/>
    <p:sldId id="11089428" r:id="rId13"/>
    <p:sldId id="11089430" r:id="rId14"/>
    <p:sldId id="11089435" r:id="rId15"/>
    <p:sldId id="11089438" r:id="rId16"/>
    <p:sldId id="11089439" r:id="rId17"/>
    <p:sldId id="11089441" r:id="rId18"/>
    <p:sldId id="11089440" r:id="rId19"/>
    <p:sldId id="11089442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54B1"/>
    <a:srgbClr val="0E6BC9"/>
    <a:srgbClr val="1F2B97"/>
    <a:srgbClr val="E9F2FE"/>
    <a:srgbClr val="E0ECFE"/>
    <a:srgbClr val="F9D5AE"/>
    <a:srgbClr val="FFF2DA"/>
    <a:srgbClr val="0D66DA"/>
    <a:srgbClr val="0F3D99"/>
    <a:srgbClr val="463D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9"/>
    <p:restoredTop sz="96029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2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01C6032-BE26-DE4E-9BAA-F653CCBBDD01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DCC958E-0824-3148-94FA-0EF06A1E88E5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公众号：陈西设计之家。微信搜索即可。更多免费</a:t>
            </a:r>
            <a:r>
              <a:rPr lang="en-US" altLang="zh-CN" dirty="0"/>
              <a:t>PPT</a:t>
            </a:r>
            <a:r>
              <a:rPr lang="zh-CN" altLang="en-US" dirty="0"/>
              <a:t>模版教程等都可以在公众号内获取。</a:t>
            </a:r>
            <a:r>
              <a:rPr lang="en-US" altLang="zh-CN" dirty="0"/>
              <a:t>PPT</a:t>
            </a:r>
            <a:r>
              <a:rPr lang="zh-CN" altLang="en-US" dirty="0"/>
              <a:t>高端定制</a:t>
            </a:r>
            <a:r>
              <a:rPr lang="en-US" altLang="zh-CN" dirty="0"/>
              <a:t>/</a:t>
            </a:r>
            <a:r>
              <a:rPr lang="zh-CN" altLang="en-US" dirty="0"/>
              <a:t>发布会</a:t>
            </a:r>
            <a:r>
              <a:rPr lang="en-US" altLang="zh-CN" dirty="0"/>
              <a:t>PPT</a:t>
            </a:r>
            <a:r>
              <a:rPr lang="zh-CN" altLang="en-US" dirty="0"/>
              <a:t>设计微信：</a:t>
            </a:r>
            <a:r>
              <a:rPr lang="en-US" altLang="zh-CN" dirty="0"/>
              <a:t>2090298045【</a:t>
            </a:r>
            <a:r>
              <a:rPr lang="zh-CN" altLang="en-US" dirty="0"/>
              <a:t>陈西</a:t>
            </a:r>
            <a:r>
              <a:rPr lang="en-US" altLang="zh-CN" dirty="0"/>
              <a:t>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DC73D-7D82-4CC4-9352-9FD0125D91E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里走&#10;&#10;描述已自动生成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1219"/>
            <a:ext cx="12192000" cy="6856781"/>
          </a:xfrm>
          <a:prstGeom prst="rect">
            <a:avLst/>
          </a:prstGeom>
          <a:gradFill>
            <a:gsLst>
              <a:gs pos="0">
                <a:srgbClr val="00A3FE"/>
              </a:gs>
              <a:gs pos="100000">
                <a:srgbClr val="0086CE"/>
              </a:gs>
            </a:gsLst>
            <a:lin ang="2700000" scaled="1"/>
          </a:gradFill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38D1CA-CFD4-4441-9941-76CB3DA5BB9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0DFCF-B22A-CE43-8FEE-53091E4C051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五级</a:t>
            </a:r>
            <a:endParaRPr kumimoji="1"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938D1CA-CFD4-4441-9941-76CB3DA5BB93}" type="datetimeFigureOut">
              <a:rPr kumimoji="1" lang="zh-CN" altLang="en-US" smtClean="0"/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9C0DFCF-B22A-CE43-8FEE-53091E4C0514}" type="slidenum">
              <a:rPr kumimoji="1" lang="zh-CN" altLang="en-US" smtClean="0"/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.xml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tags" Target="../tags/tag1.xml"/><Relationship Id="rId5" Type="http://schemas.openxmlformats.org/officeDocument/2006/relationships/image" Target="../media/image9.png"/><Relationship Id="rId4" Type="http://schemas.microsoft.com/office/2007/relationships/hdphoto" Target="../media/image8.wdp"/><Relationship Id="rId3" Type="http://schemas.openxmlformats.org/officeDocument/2006/relationships/image" Target="../media/image7.png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16.xml"/><Relationship Id="rId20" Type="http://schemas.openxmlformats.org/officeDocument/2006/relationships/tags" Target="../tags/tag15.xml"/><Relationship Id="rId2" Type="http://schemas.microsoft.com/office/2007/relationships/hdphoto" Target="../media/image6.wdp"/><Relationship Id="rId19" Type="http://schemas.openxmlformats.org/officeDocument/2006/relationships/tags" Target="../tags/tag14.xml"/><Relationship Id="rId18" Type="http://schemas.openxmlformats.org/officeDocument/2006/relationships/tags" Target="../tags/tag13.xml"/><Relationship Id="rId17" Type="http://schemas.openxmlformats.org/officeDocument/2006/relationships/tags" Target="../tags/tag12.xml"/><Relationship Id="rId16" Type="http://schemas.openxmlformats.org/officeDocument/2006/relationships/tags" Target="../tags/tag11.xml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tags" Target="../tags/tag6.xml"/><Relationship Id="rId10" Type="http://schemas.openxmlformats.org/officeDocument/2006/relationships/tags" Target="../tags/tag5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7.xml"/><Relationship Id="rId4" Type="http://schemas.openxmlformats.org/officeDocument/2006/relationships/image" Target="../media/image9.png"/><Relationship Id="rId3" Type="http://schemas.openxmlformats.org/officeDocument/2006/relationships/image" Target="../media/image10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4" Type="http://schemas.openxmlformats.org/officeDocument/2006/relationships/image" Target="../media/image9.png"/><Relationship Id="rId3" Type="http://schemas.openxmlformats.org/officeDocument/2006/relationships/image" Target="../media/image12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9.xml"/><Relationship Id="rId5" Type="http://schemas.openxmlformats.org/officeDocument/2006/relationships/image" Target="../media/image9.png"/><Relationship Id="rId4" Type="http://schemas.microsoft.com/office/2007/relationships/hdphoto" Target="../media/image14.wdp"/><Relationship Id="rId3" Type="http://schemas.openxmlformats.org/officeDocument/2006/relationships/image" Target="../media/image13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0.xml"/><Relationship Id="rId4" Type="http://schemas.openxmlformats.org/officeDocument/2006/relationships/image" Target="../media/image9.png"/><Relationship Id="rId3" Type="http://schemas.openxmlformats.org/officeDocument/2006/relationships/image" Target="../media/image16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21.xml"/><Relationship Id="rId4" Type="http://schemas.openxmlformats.org/officeDocument/2006/relationships/image" Target="../media/image9.png"/><Relationship Id="rId3" Type="http://schemas.openxmlformats.org/officeDocument/2006/relationships/image" Target="../media/image16.jpe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743200" y="6451005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694267" y="2756057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面向单图像超分辨率的轻量</a:t>
            </a:r>
            <a:r>
              <a:rPr kumimoji="0" lang="en-US" altLang="zh-CN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IMDN</a:t>
            </a:r>
            <a:r>
              <a:rPr kumimoji="0" lang="zh-CN" altLang="en-US" sz="5600" b="1" i="0" u="none" strike="noStrike" kern="100" cap="none" spc="0" normalizeH="0" baseline="0" noProof="0" dirty="0">
                <a:ln>
                  <a:noFill/>
                </a:ln>
                <a:gradFill>
                  <a:gsLst>
                    <a:gs pos="100000">
                      <a:srgbClr val="BCE0F9"/>
                    </a:gs>
                    <a:gs pos="9000">
                      <a:schemeClr val="bg1"/>
                    </a:gs>
                  </a:gsLst>
                  <a:lin ang="0" scaled="0"/>
                </a:gradFill>
                <a:effectLst>
                  <a:outerShdw blurRad="127000" dist="38100" dir="2700000" sx="101000" sy="101000" algn="tl" rotWithShape="0">
                    <a:prstClr val="black">
                      <a:alpha val="45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复现与结构损失消融研究</a:t>
            </a:r>
            <a:endParaRPr kumimoji="0" lang="zh-CN" altLang="en-US" sz="5600" b="1" i="0" u="none" strike="noStrike" kern="100" cap="none" spc="0" normalizeH="0" baseline="0" noProof="0" dirty="0">
              <a:ln>
                <a:noFill/>
              </a:ln>
              <a:gradFill>
                <a:gsLst>
                  <a:gs pos="100000">
                    <a:srgbClr val="BCE0F9"/>
                  </a:gs>
                  <a:gs pos="9000">
                    <a:schemeClr val="bg1"/>
                  </a:gs>
                </a:gsLst>
                <a:lin ang="0" scaled="0"/>
              </a:gradFill>
              <a:effectLst>
                <a:outerShdw blurRad="127000" dist="38100" dir="2700000" sx="101000" sy="101000" algn="tl" rotWithShape="0">
                  <a:prstClr val="black">
                    <a:alpha val="45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039533" y="5221463"/>
            <a:ext cx="6112932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2026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年</a:t>
            </a: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6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月</a:t>
            </a:r>
            <a:r>
              <a:rPr kumimoji="0" lang="en-US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5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日</a:t>
            </a:r>
            <a:r>
              <a:rPr kumimoji="0" lang="zh-CN" altLang="zh-CN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zh-CN" altLang="en-US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39533" y="4202176"/>
            <a:ext cx="61129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汇报人：</a:t>
            </a:r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程泽凯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56467" y="480435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组员：程泽凯、王晨羽、金井直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0" y="893"/>
            <a:ext cx="12191207" cy="6857107"/>
          </a:xfrm>
          <a:prstGeom prst="rect">
            <a:avLst/>
          </a:prstGeom>
          <a:gradFill flip="none" rotWithShape="1">
            <a:gsLst>
              <a:gs pos="51000">
                <a:srgbClr val="308FF0">
                  <a:lumMod val="10000"/>
                  <a:lumOff val="90000"/>
                  <a:alpha val="95091"/>
                </a:srgbClr>
              </a:gs>
              <a:gs pos="0">
                <a:srgbClr val="308FF0">
                  <a:lumMod val="20000"/>
                  <a:lumOff val="80000"/>
                  <a:alpha val="74000"/>
                </a:srgbClr>
              </a:gs>
              <a:gs pos="100000">
                <a:srgbClr val="E9ECFC"/>
              </a:gs>
            </a:gsLst>
            <a:lin ang="27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OPPOSans R" pitchFamily="18" charset="-122"/>
              <a:cs typeface="+mn-cs"/>
              <a:sym typeface="+mn-lt"/>
            </a:endParaRPr>
          </a:p>
        </p:txBody>
      </p:sp>
      <p:sp>
        <p:nvSpPr>
          <p:cNvPr id="24" name="矩形 23"/>
          <p:cNvSpPr/>
          <p:nvPr/>
        </p:nvSpPr>
        <p:spPr>
          <a:xfrm flipH="1">
            <a:off x="-2" y="5177971"/>
            <a:ext cx="12191683" cy="1679581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9000">
                <a:srgbClr val="3354B5">
                  <a:alpha val="90000"/>
                </a:srgbClr>
              </a:gs>
              <a:gs pos="0">
                <a:srgbClr val="361F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OPPOSans R" pitchFamily="18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7173685" y="2287365"/>
            <a:ext cx="5017521" cy="4560428"/>
            <a:chOff x="7173685" y="2287365"/>
            <a:chExt cx="5017521" cy="456042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900"/>
                      </a14:imgEffect>
                      <a14:imgEffect>
                        <a14:sharpenSoften amoun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17"/>
            <a:stretch>
              <a:fillRect/>
            </a:stretch>
          </p:blipFill>
          <p:spPr>
            <a:xfrm>
              <a:off x="7173685" y="2287365"/>
              <a:ext cx="5017521" cy="4560428"/>
            </a:xfrm>
            <a:prstGeom prst="rect">
              <a:avLst/>
            </a:prstGeom>
          </p:spPr>
        </p:pic>
        <p:sp>
          <p:nvSpPr>
            <p:cNvPr id="13" name="椭圆 12"/>
            <p:cNvSpPr/>
            <p:nvPr/>
          </p:nvSpPr>
          <p:spPr>
            <a:xfrm>
              <a:off x="9458326" y="2543175"/>
              <a:ext cx="1343025" cy="134302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softEdge rad="317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70" name="组合 69"/>
          <p:cNvGrpSpPr/>
          <p:nvPr/>
        </p:nvGrpSpPr>
        <p:grpSpPr>
          <a:xfrm flipH="1">
            <a:off x="1439335" y="5603542"/>
            <a:ext cx="1443439" cy="671186"/>
            <a:chOff x="7979568" y="6473576"/>
            <a:chExt cx="1443627" cy="671273"/>
          </a:xfrm>
          <a:gradFill>
            <a:gsLst>
              <a:gs pos="0">
                <a:srgbClr val="308FF0"/>
              </a:gs>
              <a:gs pos="78000">
                <a:srgbClr val="308FF0">
                  <a:lumMod val="20000"/>
                  <a:lumOff val="80000"/>
                </a:srgbClr>
              </a:gs>
            </a:gsLst>
            <a:lin ang="0" scaled="0"/>
          </a:gradFill>
        </p:grpSpPr>
        <p:grpSp>
          <p:nvGrpSpPr>
            <p:cNvPr id="71" name="组合 70"/>
            <p:cNvGrpSpPr/>
            <p:nvPr/>
          </p:nvGrpSpPr>
          <p:grpSpPr>
            <a:xfrm>
              <a:off x="7979568" y="64735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9" name="椭圆 98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0" name="椭圆 99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1" name="椭圆 100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2" name="椭圆 101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3" name="椭圆 102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5" name="椭圆 104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106" name="椭圆 105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7979568" y="66750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91" name="椭圆 90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6" name="椭圆 95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7" name="椭圆 96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8" name="椭圆 97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3" name="组合 72"/>
            <p:cNvGrpSpPr/>
            <p:nvPr/>
          </p:nvGrpSpPr>
          <p:grpSpPr>
            <a:xfrm>
              <a:off x="7979568" y="687647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83" name="椭圆 82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4" name="椭圆 83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5" name="椭圆 84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7" name="椭圆 86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8" name="椭圆 87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9" name="椭圆 88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90" name="椭圆 89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7979568" y="7077926"/>
              <a:ext cx="1443627" cy="66923"/>
              <a:chOff x="7979568" y="6473576"/>
              <a:chExt cx="1443627" cy="66923"/>
            </a:xfrm>
            <a:grpFill/>
          </p:grpSpPr>
          <p:sp>
            <p:nvSpPr>
              <p:cNvPr id="75" name="椭圆 74"/>
              <p:cNvSpPr/>
              <p:nvPr/>
            </p:nvSpPr>
            <p:spPr>
              <a:xfrm>
                <a:off x="797956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817624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837291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8569584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79" name="椭圆 78"/>
              <p:cNvSpPr/>
              <p:nvPr/>
            </p:nvSpPr>
            <p:spPr>
              <a:xfrm>
                <a:off x="8766256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0" name="椭圆 79"/>
              <p:cNvSpPr/>
              <p:nvPr/>
            </p:nvSpPr>
            <p:spPr>
              <a:xfrm>
                <a:off x="8962928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1" name="椭圆 80"/>
              <p:cNvSpPr/>
              <p:nvPr/>
            </p:nvSpPr>
            <p:spPr>
              <a:xfrm>
                <a:off x="9159600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  <p:sp>
            <p:nvSpPr>
              <p:cNvPr id="82" name="椭圆 81"/>
              <p:cNvSpPr/>
              <p:nvPr/>
            </p:nvSpPr>
            <p:spPr>
              <a:xfrm>
                <a:off x="9356272" y="6473576"/>
                <a:ext cx="66923" cy="66923"/>
              </a:xfrm>
              <a:prstGeom prst="ellipse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OPPOSans R" pitchFamily="18" charset="-122"/>
                  <a:cs typeface="+mn-cs"/>
                  <a:sym typeface="+mn-lt"/>
                </a:endParaRPr>
              </a:p>
            </p:txBody>
          </p:sp>
        </p:grpSp>
      </p:grpSp>
      <p:sp>
        <p:nvSpPr>
          <p:cNvPr id="9" name="išľïḋé"/>
          <p:cNvSpPr txBox="1"/>
          <p:nvPr/>
        </p:nvSpPr>
        <p:spPr>
          <a:xfrm>
            <a:off x="8185273" y="701727"/>
            <a:ext cx="2099270" cy="1824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目录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  <a:p>
            <a:pPr marL="0" marR="0" lvl="0" indent="0" algn="di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CONT</a:t>
            </a:r>
            <a:r>
              <a:rPr kumimoji="0" lang="tr-TR" sz="2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 </a:t>
            </a:r>
            <a:r>
              <a:rPr kumimoji="0" lang="tr-TR" sz="2400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Arial" panose="020B0604020202020204"/>
                <a:ea typeface="OPPOSans B" panose="00020600040101010101" pitchFamily="18" charset="-122"/>
                <a:cs typeface="+mn-ea"/>
                <a:sym typeface="+mn-lt"/>
              </a:rPr>
              <a:t>ENTS</a:t>
            </a:r>
            <a:endParaRPr kumimoji="0" lang="tr-TR" sz="2400" i="0" u="none" strike="noStrike" kern="1200" cap="none" spc="0" normalizeH="0" baseline="0" noProof="0" dirty="0">
              <a:ln>
                <a:noFill/>
              </a:ln>
              <a:solidFill>
                <a:srgbClr val="0032A1"/>
              </a:solidFill>
              <a:effectLst/>
              <a:uLnTx/>
              <a:uFillTx/>
              <a:latin typeface="Arial" panose="020B0604020202020204"/>
              <a:ea typeface="OPPOSans B" panose="00020600040101010101" pitchFamily="18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grpSp>
        <p:nvGrpSpPr>
          <p:cNvPr id="6" name="组合 5"/>
          <p:cNvGrpSpPr/>
          <p:nvPr>
            <p:custDataLst>
              <p:tags r:id="rId6"/>
            </p:custDataLst>
          </p:nvPr>
        </p:nvGrpSpPr>
        <p:grpSpPr>
          <a:xfrm>
            <a:off x="1344918" y="650970"/>
            <a:ext cx="5401731" cy="600650"/>
            <a:chOff x="1326910" y="1179226"/>
            <a:chExt cx="5401731" cy="600650"/>
          </a:xfrm>
        </p:grpSpPr>
        <p:sp>
          <p:nvSpPr>
            <p:cNvPr id="4" name="TextBox 6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研究背景与问题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矩形: 圆角 35"/>
            <p:cNvSpPr/>
            <p:nvPr>
              <p:custDataLst>
                <p:tags r:id="rId8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01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9"/>
            </p:custDataLst>
          </p:nvPr>
        </p:nvGrpSpPr>
        <p:grpSpPr>
          <a:xfrm>
            <a:off x="1355270" y="1459527"/>
            <a:ext cx="5387551" cy="600650"/>
            <a:chOff x="1341090" y="2175341"/>
            <a:chExt cx="5387551" cy="600650"/>
          </a:xfrm>
        </p:grpSpPr>
        <p:sp>
          <p:nvSpPr>
            <p:cNvPr id="14" name="矩形: 圆角 39"/>
            <p:cNvSpPr/>
            <p:nvPr>
              <p:custDataLst>
                <p:tags r:id="rId10"/>
              </p:custDataLst>
            </p:nvPr>
          </p:nvSpPr>
          <p:spPr>
            <a:xfrm>
              <a:off x="1341090" y="2175341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02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6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284572" y="2218535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方法调研与模型选型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1341090" y="2312697"/>
            <a:ext cx="5387551" cy="600650"/>
            <a:chOff x="1341090" y="3171456"/>
            <a:chExt cx="5387551" cy="600650"/>
          </a:xfrm>
        </p:grpSpPr>
        <p:sp>
          <p:nvSpPr>
            <p:cNvPr id="16" name="矩形: 圆角 43"/>
            <p:cNvSpPr/>
            <p:nvPr>
              <p:custDataLst>
                <p:tags r:id="rId13"/>
              </p:custDataLst>
            </p:nvPr>
          </p:nvSpPr>
          <p:spPr>
            <a:xfrm>
              <a:off x="1341090" y="317145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03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6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284572" y="3218659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模型结构与机制</a:t>
              </a:r>
              <a:endPara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15"/>
            </p:custDataLst>
          </p:nvPr>
        </p:nvGrpSpPr>
        <p:grpSpPr>
          <a:xfrm>
            <a:off x="1355270" y="3166385"/>
            <a:ext cx="5387551" cy="600650"/>
            <a:chOff x="1341090" y="4167570"/>
            <a:chExt cx="5387551" cy="600650"/>
          </a:xfrm>
        </p:grpSpPr>
        <p:sp>
          <p:nvSpPr>
            <p:cNvPr id="27" name="矩形: 圆角 47"/>
            <p:cNvSpPr/>
            <p:nvPr>
              <p:custDataLst>
                <p:tags r:id="rId16"/>
              </p:custDataLst>
            </p:nvPr>
          </p:nvSpPr>
          <p:spPr>
            <a:xfrm>
              <a:off x="1341090" y="4167570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04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2284572" y="4218783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实验设置与结果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8"/>
            </p:custDataLst>
          </p:nvPr>
        </p:nvGrpSpPr>
        <p:grpSpPr>
          <a:xfrm>
            <a:off x="1341090" y="4019555"/>
            <a:ext cx="5401731" cy="600650"/>
            <a:chOff x="1326910" y="1179226"/>
            <a:chExt cx="5401731" cy="600650"/>
          </a:xfrm>
        </p:grpSpPr>
        <p:sp>
          <p:nvSpPr>
            <p:cNvPr id="30" name="TextBox 6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284572" y="1218411"/>
              <a:ext cx="4444069" cy="492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r>
                <a:rPr kumimoji="0" lang="zh-CN" alt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2A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lt"/>
                </a:rPr>
                <a:t>结论与展望</a:t>
              </a:r>
              <a:endParaRPr kumimoji="0" lang="zh-CN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32A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31" name="矩形: 圆角 35"/>
            <p:cNvSpPr/>
            <p:nvPr>
              <p:custDataLst>
                <p:tags r:id="rId20"/>
              </p:custDataLst>
            </p:nvPr>
          </p:nvSpPr>
          <p:spPr>
            <a:xfrm>
              <a:off x="1326910" y="1179226"/>
              <a:ext cx="600650" cy="600650"/>
            </a:xfrm>
            <a:prstGeom prst="roundRect">
              <a:avLst>
                <a:gd name="adj" fmla="val 50000"/>
              </a:avLst>
            </a:prstGeom>
            <a:solidFill>
              <a:srgbClr val="0064D8">
                <a:alpha val="98000"/>
              </a:srgbClr>
            </a:solidFill>
            <a:ln>
              <a:noFill/>
            </a:ln>
            <a:effectLst>
              <a:outerShdw blurRad="342900" dist="254000" dir="2700000" algn="tl" rotWithShape="0">
                <a:srgbClr val="0064D8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思源宋体 CN Heavy" panose="02020900000000000000" pitchFamily="18" charset="-122"/>
                  <a:cs typeface="Times New Roman" panose="02020603050405020304" pitchFamily="18" charset="0"/>
                </a:rPr>
                <a:t>05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思源宋体 CN Heavy" panose="02020900000000000000" pitchFamily="18" charset="-122"/>
                <a:cs typeface="Times New Roman" panose="02020603050405020304" pitchFamily="18" charset="0"/>
              </a:endParaRPr>
            </a:p>
          </p:txBody>
        </p:sp>
      </p:grpSp>
    </p:spTree>
    <p:custDataLst>
      <p:tags r:id="rId21"/>
    </p:custData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7434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983480" cy="2345475"/>
            <a:chOff x="497375" y="1211712"/>
            <a:chExt cx="49834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9834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研究背景与问题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01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584" y="3961048"/>
            <a:ext cx="610790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08080"/>
                </a:solidFill>
                <a:latin typeface="微软雅黑" panose="020B0503020204020204" pitchFamily="34" charset="-122"/>
              </a:defRPr>
            </a:pPr>
            <a:r>
              <a:rPr sz="1800">
                <a:sym typeface="+mn-ea"/>
              </a:rPr>
              <a:t>单图像超分辨率任务概述与技术挑战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研究背景与问题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TextBox 3"/>
          <p:cNvSpPr txBox="1"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研究背景</a:t>
            </a:r>
          </a:p>
        </p:txBody>
      </p:sp>
      <p:sp>
        <p:nvSpPr>
          <p:cNvPr id="29" name="TextBox 4"/>
          <p:cNvSpPr txBox="1"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单图像超分辨率（Single Image Super-Resolution, SR）旨在从低分辨率（LR）输入图像恢复高分辨率（HR）细节，是计算机视觉中的典型低层视觉任务。</a:t>
            </a:r>
            <a:br/>
            <a:br/>
            <a:r>
              <a:t>• 应用需求迫切：医学影像增强、视频监控、遥感解译、历史图像修复、移动摄影等场景均需要高质量图像重建</a:t>
            </a:r>
            <a:br/>
            <a:br/>
            <a:r>
              <a:t>• 任务难度高：从低分辨率到高分辨率的映射是严重欠定的，高频纹理和细节信息在降采样过程中大量丢失，重建难度大</a:t>
            </a:r>
          </a:p>
        </p:txBody>
      </p:sp>
      <p:sp>
        <p:nvSpPr>
          <p:cNvPr id="30" name="TextBox 5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研究问题</a:t>
            </a:r>
          </a:p>
        </p:txBody>
      </p:sp>
      <p:sp>
        <p:nvSpPr>
          <p:cNvPr id="31" name="TextBox 6"/>
          <p:cNvSpPr txBox="1"/>
          <p:nvPr/>
        </p:nvSpPr>
        <p:spPr>
          <a:xfrm>
            <a:off x="621792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传统插值方法（最近邻、双线性、双三次）实现简单、计算代价低，但缺乏对高频纹理的显式建模，只能得到边缘平滑、细节模糊的恢复结果</a:t>
            </a:r>
            <a:br/>
            <a:br/>
            <a:r>
              <a:t>• 深度学习模型性能强大，但大型网络（如Transformer、GAN、扩散模型）参数量大、训练成本高，难以在边缘设备部署</a:t>
            </a:r>
            <a:br/>
            <a:br/>
            <a:r>
              <a:t>• 如何在轻量级模型约束下，通过合理的结构设计、损失函数优化和充分训练，实现接近甚至超越传统插值的重建性能？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45720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传统方法 vs 深度学习方法对比</a:t>
            </a:r>
          </a:p>
        </p:txBody>
      </p:sp>
      <p:sp>
        <p:nvSpPr>
          <p:cNvPr id="33" name="Rectangle 8"/>
          <p:cNvSpPr/>
          <p:nvPr/>
        </p:nvSpPr>
        <p:spPr>
          <a:xfrm>
            <a:off x="457200" y="5303520"/>
            <a:ext cx="11277295" cy="1188720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9"/>
          <p:cNvSpPr txBox="1"/>
          <p:nvPr/>
        </p:nvSpPr>
        <p:spPr>
          <a:xfrm>
            <a:off x="64008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方法</a:t>
            </a:r>
          </a:p>
        </p:txBody>
      </p:sp>
      <p:sp>
        <p:nvSpPr>
          <p:cNvPr id="35" name="TextBox 10"/>
          <p:cNvSpPr txBox="1"/>
          <p:nvPr/>
        </p:nvSpPr>
        <p:spPr>
          <a:xfrm>
            <a:off x="41148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优点</a:t>
            </a:r>
          </a:p>
        </p:txBody>
      </p:sp>
      <p:sp>
        <p:nvSpPr>
          <p:cNvPr id="36" name="TextBox 11"/>
          <p:cNvSpPr txBox="1"/>
          <p:nvPr/>
        </p:nvSpPr>
        <p:spPr>
          <a:xfrm>
            <a:off x="77724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缺点</a:t>
            </a:r>
          </a:p>
        </p:txBody>
      </p:sp>
      <p:sp>
        <p:nvSpPr>
          <p:cNvPr id="37" name="TextBox 12"/>
          <p:cNvSpPr txBox="1"/>
          <p:nvPr/>
        </p:nvSpPr>
        <p:spPr>
          <a:xfrm>
            <a:off x="64008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传统插值</a:t>
            </a:r>
          </a:p>
        </p:txBody>
      </p:sp>
      <p:sp>
        <p:nvSpPr>
          <p:cNvPr id="38" name="TextBox 13"/>
          <p:cNvSpPr txBox="1"/>
          <p:nvPr/>
        </p:nvSpPr>
        <p:spPr>
          <a:xfrm>
            <a:off x="41148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简单快速、无参</a:t>
            </a:r>
          </a:p>
        </p:txBody>
      </p:sp>
      <p:sp>
        <p:nvSpPr>
          <p:cNvPr id="39" name="TextBox 14"/>
          <p:cNvSpPr txBox="1"/>
          <p:nvPr/>
        </p:nvSpPr>
        <p:spPr>
          <a:xfrm>
            <a:off x="77724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细节模糊、边缘平滑</a:t>
            </a:r>
          </a:p>
        </p:txBody>
      </p:sp>
      <p:sp>
        <p:nvSpPr>
          <p:cNvPr id="40" name="TextBox 15"/>
          <p:cNvSpPr txBox="1"/>
          <p:nvPr/>
        </p:nvSpPr>
        <p:spPr>
          <a:xfrm>
            <a:off x="64008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深度卷积模型</a:t>
            </a:r>
          </a:p>
        </p:txBody>
      </p:sp>
      <p:sp>
        <p:nvSpPr>
          <p:cNvPr id="41" name="TextBox 16"/>
          <p:cNvSpPr txBox="1"/>
          <p:nvPr/>
        </p:nvSpPr>
        <p:spPr>
          <a:xfrm>
            <a:off x="411480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端到端学习、可训练</a:t>
            </a:r>
          </a:p>
        </p:txBody>
      </p:sp>
      <p:sp>
        <p:nvSpPr>
          <p:cNvPr id="42" name="TextBox 17"/>
          <p:cNvSpPr txBox="1"/>
          <p:nvPr/>
        </p:nvSpPr>
        <p:spPr>
          <a:xfrm>
            <a:off x="7772400" y="5943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浅层结构表达能力有限</a:t>
            </a:r>
          </a:p>
        </p:txBody>
      </p:sp>
      <p:sp>
        <p:nvSpPr>
          <p:cNvPr id="43" name="TextBox 18"/>
          <p:cNvSpPr txBox="1"/>
          <p:nvPr/>
        </p:nvSpPr>
        <p:spPr>
          <a:xfrm>
            <a:off x="64008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轻量网络(IMDN)</a:t>
            </a:r>
          </a:p>
        </p:txBody>
      </p:sp>
      <p:sp>
        <p:nvSpPr>
          <p:cNvPr id="44" name="TextBox 19"/>
          <p:cNvSpPr txBox="1"/>
          <p:nvPr/>
        </p:nvSpPr>
        <p:spPr>
          <a:xfrm>
            <a:off x="41148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参数少、易部署</a:t>
            </a:r>
          </a:p>
        </p:txBody>
      </p:sp>
      <p:sp>
        <p:nvSpPr>
          <p:cNvPr id="45" name="TextBox 20"/>
          <p:cNvSpPr txBox="1"/>
          <p:nvPr/>
        </p:nvSpPr>
        <p:spPr>
          <a:xfrm>
            <a:off x="7772400" y="62179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感知质量一般、需充分训练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6221" y="0"/>
            <a:ext cx="4763194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221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6355080" cy="2345475"/>
            <a:chOff x="497375" y="1211712"/>
            <a:chExt cx="63550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63550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方法调研与模型选型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02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584" y="3961048"/>
            <a:ext cx="610790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超分辨率方法演进与</a:t>
            </a: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IMDN</a:t>
            </a: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选型理由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方法调研与模型选型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一、主流超分辨率方法对比</a:t>
            </a:r>
          </a:p>
        </p:txBody>
      </p:sp>
      <p:sp>
        <p:nvSpPr>
          <p:cNvPr id="29" name="Rectangle 4"/>
          <p:cNvSpPr/>
          <p:nvPr/>
        </p:nvSpPr>
        <p:spPr>
          <a:xfrm>
            <a:off x="457200" y="1554480"/>
            <a:ext cx="11277295" cy="2926080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5"/>
          <p:cNvSpPr txBox="1"/>
          <p:nvPr/>
        </p:nvSpPr>
        <p:spPr>
          <a:xfrm>
            <a:off x="5486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方法类别</a:t>
            </a:r>
          </a:p>
        </p:txBody>
      </p:sp>
      <p:sp>
        <p:nvSpPr>
          <p:cNvPr id="31" name="TextBox 6"/>
          <p:cNvSpPr txBox="1"/>
          <p:nvPr/>
        </p:nvSpPr>
        <p:spPr>
          <a:xfrm>
            <a:off x="228600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代表模型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457200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核心机制</a:t>
            </a:r>
          </a:p>
        </p:txBody>
      </p:sp>
      <p:sp>
        <p:nvSpPr>
          <p:cNvPr id="33" name="TextBox 8"/>
          <p:cNvSpPr txBox="1"/>
          <p:nvPr/>
        </p:nvSpPr>
        <p:spPr>
          <a:xfrm>
            <a:off x="713232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主要优势</a:t>
            </a:r>
          </a:p>
        </p:txBody>
      </p:sp>
      <p:sp>
        <p:nvSpPr>
          <p:cNvPr id="34" name="TextBox 9"/>
          <p:cNvSpPr txBox="1"/>
          <p:nvPr/>
        </p:nvSpPr>
        <p:spPr>
          <a:xfrm>
            <a:off x="941832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主要局限</a:t>
            </a:r>
          </a:p>
        </p:txBody>
      </p:sp>
      <p:sp>
        <p:nvSpPr>
          <p:cNvPr id="35" name="TextBox 10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传统插值</a:t>
            </a:r>
          </a:p>
        </p:txBody>
      </p:sp>
      <p:sp>
        <p:nvSpPr>
          <p:cNvPr id="36" name="TextBox 11"/>
          <p:cNvSpPr txBox="1"/>
          <p:nvPr/>
        </p:nvSpPr>
        <p:spPr>
          <a:xfrm>
            <a:off x="22860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Bicubic</a:t>
            </a:r>
          </a:p>
        </p:txBody>
      </p:sp>
      <p:sp>
        <p:nvSpPr>
          <p:cNvPr id="37" name="TextBox 12"/>
          <p:cNvSpPr txBox="1"/>
          <p:nvPr/>
        </p:nvSpPr>
        <p:spPr>
          <a:xfrm>
            <a:off x="457200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双三次插值</a:t>
            </a:r>
          </a:p>
        </p:txBody>
      </p:sp>
      <p:sp>
        <p:nvSpPr>
          <p:cNvPr id="38" name="TextBox 13"/>
          <p:cNvSpPr txBox="1"/>
          <p:nvPr/>
        </p:nvSpPr>
        <p:spPr>
          <a:xfrm>
            <a:off x="71323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简单快速、无参</a:t>
            </a:r>
          </a:p>
        </p:txBody>
      </p:sp>
      <p:sp>
        <p:nvSpPr>
          <p:cNvPr id="39" name="TextBox 14"/>
          <p:cNvSpPr txBox="1"/>
          <p:nvPr/>
        </p:nvSpPr>
        <p:spPr>
          <a:xfrm>
            <a:off x="941832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细节模糊、边缘平滑</a:t>
            </a:r>
          </a:p>
        </p:txBody>
      </p:sp>
      <p:sp>
        <p:nvSpPr>
          <p:cNvPr id="40" name="TextBox 15"/>
          <p:cNvSpPr txBox="1"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早期CNN</a:t>
            </a:r>
          </a:p>
        </p:txBody>
      </p:sp>
      <p:sp>
        <p:nvSpPr>
          <p:cNvPr id="41" name="TextBox 16"/>
          <p:cNvSpPr txBox="1"/>
          <p:nvPr/>
        </p:nvSpPr>
        <p:spPr>
          <a:xfrm>
            <a:off x="22860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SRCNN</a:t>
            </a:r>
          </a:p>
        </p:txBody>
      </p:sp>
      <p:sp>
        <p:nvSpPr>
          <p:cNvPr id="42" name="TextBox 17"/>
          <p:cNvSpPr txBox="1"/>
          <p:nvPr/>
        </p:nvSpPr>
        <p:spPr>
          <a:xfrm>
            <a:off x="45720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三层卷积映射</a:t>
            </a:r>
          </a:p>
        </p:txBody>
      </p:sp>
      <p:sp>
        <p:nvSpPr>
          <p:cNvPr id="43" name="TextBox 18"/>
          <p:cNvSpPr txBox="1"/>
          <p:nvPr/>
        </p:nvSpPr>
        <p:spPr>
          <a:xfrm>
            <a:off x="713232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端到端学习</a:t>
            </a:r>
          </a:p>
        </p:txBody>
      </p:sp>
      <p:sp>
        <p:nvSpPr>
          <p:cNvPr id="44" name="TextBox 19"/>
          <p:cNvSpPr txBox="1"/>
          <p:nvPr/>
        </p:nvSpPr>
        <p:spPr>
          <a:xfrm>
            <a:off x="941832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先插值后卷积、计算量大</a:t>
            </a:r>
          </a:p>
        </p:txBody>
      </p:sp>
      <p:sp>
        <p:nvSpPr>
          <p:cNvPr id="45" name="TextBox 20"/>
          <p:cNvSpPr txBox="1"/>
          <p:nvPr/>
        </p:nvSpPr>
        <p:spPr>
          <a:xfrm>
            <a:off x="54864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轻量网络</a:t>
            </a:r>
          </a:p>
        </p:txBody>
      </p:sp>
      <p:sp>
        <p:nvSpPr>
          <p:cNvPr id="46" name="TextBox 21"/>
          <p:cNvSpPr txBox="1"/>
          <p:nvPr/>
        </p:nvSpPr>
        <p:spPr>
          <a:xfrm>
            <a:off x="22860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IMDN</a:t>
            </a:r>
          </a:p>
        </p:txBody>
      </p:sp>
      <p:sp>
        <p:nvSpPr>
          <p:cNvPr id="47" name="TextBox 22"/>
          <p:cNvSpPr txBox="1"/>
          <p:nvPr/>
        </p:nvSpPr>
        <p:spPr>
          <a:xfrm>
            <a:off x="45720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信息多蒸馏+特征融合</a:t>
            </a:r>
          </a:p>
        </p:txBody>
      </p:sp>
      <p:sp>
        <p:nvSpPr>
          <p:cNvPr id="48" name="TextBox 23"/>
          <p:cNvSpPr txBox="1"/>
          <p:nvPr/>
        </p:nvSpPr>
        <p:spPr>
          <a:xfrm>
            <a:off x="71323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参数少、速度快</a:t>
            </a:r>
          </a:p>
        </p:txBody>
      </p:sp>
      <p:sp>
        <p:nvSpPr>
          <p:cNvPr id="49" name="TextBox 24"/>
          <p:cNvSpPr txBox="1"/>
          <p:nvPr/>
        </p:nvSpPr>
        <p:spPr>
          <a:xfrm>
            <a:off x="941832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感知质量一般</a:t>
            </a:r>
          </a:p>
        </p:txBody>
      </p:sp>
      <p:sp>
        <p:nvSpPr>
          <p:cNvPr id="50" name="TextBox 25"/>
          <p:cNvSpPr txBox="1"/>
          <p:nvPr/>
        </p:nvSpPr>
        <p:spPr>
          <a:xfrm>
            <a:off x="54864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GAN超分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22860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ESRGAN</a:t>
            </a:r>
          </a:p>
        </p:txBody>
      </p:sp>
      <p:sp>
        <p:nvSpPr>
          <p:cNvPr id="52" name="TextBox 27"/>
          <p:cNvSpPr txBox="1"/>
          <p:nvPr/>
        </p:nvSpPr>
        <p:spPr>
          <a:xfrm>
            <a:off x="457200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对抗学习+感知损失</a:t>
            </a:r>
          </a:p>
        </p:txBody>
      </p:sp>
      <p:sp>
        <p:nvSpPr>
          <p:cNvPr id="53" name="TextBox 28"/>
          <p:cNvSpPr txBox="1"/>
          <p:nvPr/>
        </p:nvSpPr>
        <p:spPr>
          <a:xfrm>
            <a:off x="71323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纹理锐利、视觉自然</a:t>
            </a:r>
          </a:p>
        </p:txBody>
      </p:sp>
      <p:sp>
        <p:nvSpPr>
          <p:cNvPr id="54" name="TextBox 29"/>
          <p:cNvSpPr txBox="1"/>
          <p:nvPr/>
        </p:nvSpPr>
        <p:spPr>
          <a:xfrm>
            <a:off x="94183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训练不稳定、可能伪纹理</a:t>
            </a:r>
          </a:p>
        </p:txBody>
      </p:sp>
      <p:sp>
        <p:nvSpPr>
          <p:cNvPr id="55" name="TextBox 30"/>
          <p:cNvSpPr txBox="1"/>
          <p:nvPr/>
        </p:nvSpPr>
        <p:spPr>
          <a:xfrm>
            <a:off x="54864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Transformer</a:t>
            </a:r>
          </a:p>
        </p:txBody>
      </p:sp>
      <p:sp>
        <p:nvSpPr>
          <p:cNvPr id="56" name="TextBox 31"/>
          <p:cNvSpPr txBox="1"/>
          <p:nvPr/>
        </p:nvSpPr>
        <p:spPr>
          <a:xfrm>
            <a:off x="22860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SwinIR/HAT</a:t>
            </a:r>
          </a:p>
        </p:txBody>
      </p:sp>
      <p:sp>
        <p:nvSpPr>
          <p:cNvPr id="57" name="TextBox 32"/>
          <p:cNvSpPr txBox="1"/>
          <p:nvPr/>
        </p:nvSpPr>
        <p:spPr>
          <a:xfrm>
            <a:off x="45720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窗口自注意力</a:t>
            </a:r>
          </a:p>
        </p:txBody>
      </p:sp>
      <p:sp>
        <p:nvSpPr>
          <p:cNvPr id="58" name="TextBox 33"/>
          <p:cNvSpPr txBox="1"/>
          <p:nvPr/>
        </p:nvSpPr>
        <p:spPr>
          <a:xfrm>
            <a:off x="713232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长程依赖建模强</a:t>
            </a:r>
          </a:p>
        </p:txBody>
      </p:sp>
      <p:sp>
        <p:nvSpPr>
          <p:cNvPr id="59" name="TextBox 34"/>
          <p:cNvSpPr txBox="1"/>
          <p:nvPr/>
        </p:nvSpPr>
        <p:spPr>
          <a:xfrm>
            <a:off x="941832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计算和显存开销高</a:t>
            </a:r>
          </a:p>
        </p:txBody>
      </p:sp>
      <p:sp>
        <p:nvSpPr>
          <p:cNvPr id="60" name="TextBox 35"/>
          <p:cNvSpPr txBox="1"/>
          <p:nvPr/>
        </p:nvSpPr>
        <p:spPr>
          <a:xfrm>
            <a:off x="54864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扩散模型</a:t>
            </a:r>
          </a:p>
        </p:txBody>
      </p:sp>
      <p:sp>
        <p:nvSpPr>
          <p:cNvPr id="61" name="TextBox 36"/>
          <p:cNvSpPr txBox="1"/>
          <p:nvPr/>
        </p:nvSpPr>
        <p:spPr>
          <a:xfrm>
            <a:off x="22860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SR3/DiffIR</a:t>
            </a:r>
          </a:p>
        </p:txBody>
      </p:sp>
      <p:sp>
        <p:nvSpPr>
          <p:cNvPr id="62" name="TextBox 37"/>
          <p:cNvSpPr txBox="1"/>
          <p:nvPr/>
        </p:nvSpPr>
        <p:spPr>
          <a:xfrm>
            <a:off x="457200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条件去噪生成</a:t>
            </a:r>
          </a:p>
        </p:txBody>
      </p:sp>
      <p:sp>
        <p:nvSpPr>
          <p:cNvPr id="63" name="TextBox 38"/>
          <p:cNvSpPr txBox="1"/>
          <p:nvPr/>
        </p:nvSpPr>
        <p:spPr>
          <a:xfrm>
            <a:off x="71323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细节生成潜力高</a:t>
            </a:r>
          </a:p>
        </p:txBody>
      </p:sp>
      <p:sp>
        <p:nvSpPr>
          <p:cNvPr id="64" name="TextBox 39"/>
          <p:cNvSpPr txBox="1"/>
          <p:nvPr/>
        </p:nvSpPr>
        <p:spPr>
          <a:xfrm>
            <a:off x="94183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推理和训练成本高</a:t>
            </a:r>
          </a:p>
        </p:txBody>
      </p:sp>
      <p:sp>
        <p:nvSpPr>
          <p:cNvPr id="65" name="TextBox 40"/>
          <p:cNvSpPr txBox="1"/>
          <p:nvPr/>
        </p:nvSpPr>
        <p:spPr>
          <a:xfrm>
            <a:off x="45720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二、IMDN模型选型理由</a:t>
            </a:r>
          </a:p>
        </p:txBody>
      </p:sp>
      <p:sp>
        <p:nvSpPr>
          <p:cNvPr id="66" name="TextBox 41"/>
          <p:cNvSpPr txBox="1"/>
          <p:nvPr/>
        </p:nvSpPr>
        <p:spPr>
          <a:xfrm>
            <a:off x="640080" y="5029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学术认可度高：ACM MM 2019发表，AIM 2019约束超分挑战赛Track1&amp;Track2冠军</a:t>
            </a:r>
          </a:p>
        </p:txBody>
      </p:sp>
      <p:sp>
        <p:nvSpPr>
          <p:cNvPr id="67" name="TextBox 42"/>
          <p:cNvSpPr txBox="1"/>
          <p:nvPr/>
        </p:nvSpPr>
        <p:spPr>
          <a:xfrm>
            <a:off x="640080" y="5349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轻量高效：参数量仅约0.17M，推理速度快，适合CPU/边缘设备部署</a:t>
            </a:r>
          </a:p>
        </p:txBody>
      </p:sp>
      <p:sp>
        <p:nvSpPr>
          <p:cNvPr id="68" name="TextBox 43"/>
          <p:cNvSpPr txBox="1"/>
          <p:nvPr/>
        </p:nvSpPr>
        <p:spPr>
          <a:xfrm>
            <a:off x="640080" y="56692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结构简洁清晰：信息多蒸馏块(IMDB)+对比感知通道注意力(CCA)，易于复现</a:t>
            </a:r>
          </a:p>
        </p:txBody>
      </p:sp>
      <p:sp>
        <p:nvSpPr>
          <p:cNvPr id="69" name="TextBox 44"/>
          <p:cNvSpPr txBox="1"/>
          <p:nvPr/>
        </p:nvSpPr>
        <p:spPr>
          <a:xfrm>
            <a:off x="640080" y="598932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性能均衡：在PSNR/SSIM指标和推理速度之间取得良好平衡</a:t>
            </a:r>
          </a:p>
        </p:txBody>
      </p:sp>
      <p:sp>
        <p:nvSpPr>
          <p:cNvPr id="70" name="TextBox 45"/>
          <p:cNvSpPr txBox="1"/>
          <p:nvPr/>
        </p:nvSpPr>
        <p:spPr>
          <a:xfrm>
            <a:off x="640080" y="63093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扩展性强：支持任意尺度超分(自适应裁剪策略ACS)，便于后续改进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1" y="0"/>
            <a:ext cx="4760029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983480" cy="2345475"/>
            <a:chOff x="497375" y="1211712"/>
            <a:chExt cx="49834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9834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模型结构与机制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03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584" y="3961048"/>
            <a:ext cx="610790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IMDN</a:t>
            </a: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网络结构、损失函数与改进设计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5072380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 -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整体架构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59" name="TextBox 3"/>
          <p:cNvSpPr txBox="1"/>
          <p:nvPr/>
        </p:nvSpPr>
        <p:spPr>
          <a:xfrm>
            <a:off x="457200" y="135318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IMDN轻量级超分辨率网络整体架构</a:t>
            </a:r>
          </a:p>
        </p:txBody>
      </p:sp>
      <p:sp>
        <p:nvSpPr>
          <p:cNvPr id="60" name="Rounded Rectangle 4"/>
          <p:cNvSpPr/>
          <p:nvPr/>
        </p:nvSpPr>
        <p:spPr>
          <a:xfrm>
            <a:off x="2286635" y="1901825"/>
            <a:ext cx="1828800" cy="715645"/>
          </a:xfrm>
          <a:prstGeom prst="roundRect">
            <a:avLst/>
          </a:prstGeom>
          <a:solidFill>
            <a:srgbClr val="00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5"/>
          <p:cNvSpPr txBox="1"/>
          <p:nvPr/>
        </p:nvSpPr>
        <p:spPr>
          <a:xfrm>
            <a:off x="2286635" y="19475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LR输入</a:t>
            </a:r>
          </a:p>
        </p:txBody>
      </p:sp>
      <p:sp>
        <p:nvSpPr>
          <p:cNvPr id="62" name="TextBox 6"/>
          <p:cNvSpPr txBox="1"/>
          <p:nvPr/>
        </p:nvSpPr>
        <p:spPr>
          <a:xfrm>
            <a:off x="2286635" y="21761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低分辨率图像</a:t>
            </a:r>
            <a:br/>
            <a:r>
              <a:t>(如480×320)</a:t>
            </a:r>
          </a:p>
        </p:txBody>
      </p:sp>
      <p:sp>
        <p:nvSpPr>
          <p:cNvPr id="64" name="Rounded Rectangle 8"/>
          <p:cNvSpPr/>
          <p:nvPr/>
        </p:nvSpPr>
        <p:spPr>
          <a:xfrm>
            <a:off x="4810125" y="1901825"/>
            <a:ext cx="1828800" cy="715645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9"/>
          <p:cNvSpPr txBox="1"/>
          <p:nvPr/>
        </p:nvSpPr>
        <p:spPr>
          <a:xfrm>
            <a:off x="4810125" y="19475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浅层特征提取</a:t>
            </a:r>
          </a:p>
        </p:txBody>
      </p:sp>
      <p:sp>
        <p:nvSpPr>
          <p:cNvPr id="66" name="TextBox 10"/>
          <p:cNvSpPr txBox="1"/>
          <p:nvPr/>
        </p:nvSpPr>
        <p:spPr>
          <a:xfrm>
            <a:off x="4810125" y="21761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3×3卷积</a:t>
            </a:r>
            <a:br/>
            <a:r>
              <a:t>提取初始特征</a:t>
            </a:r>
          </a:p>
        </p:txBody>
      </p:sp>
      <p:sp>
        <p:nvSpPr>
          <p:cNvPr id="67" name="Right Arrow 11"/>
          <p:cNvSpPr/>
          <p:nvPr/>
        </p:nvSpPr>
        <p:spPr>
          <a:xfrm>
            <a:off x="6932930" y="2145030"/>
            <a:ext cx="274320" cy="27432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12"/>
          <p:cNvSpPr/>
          <p:nvPr/>
        </p:nvSpPr>
        <p:spPr>
          <a:xfrm>
            <a:off x="7389495" y="1901825"/>
            <a:ext cx="1828800" cy="715645"/>
          </a:xfrm>
          <a:prstGeom prst="roundRect">
            <a:avLst/>
          </a:prstGeom>
          <a:solidFill>
            <a:srgbClr val="0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13"/>
          <p:cNvSpPr txBox="1"/>
          <p:nvPr/>
        </p:nvSpPr>
        <p:spPr>
          <a:xfrm>
            <a:off x="7389495" y="19475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信息多蒸馏块×4</a:t>
            </a:r>
          </a:p>
        </p:txBody>
      </p:sp>
      <p:sp>
        <p:nvSpPr>
          <p:cNvPr id="70" name="TextBox 14"/>
          <p:cNvSpPr txBox="1"/>
          <p:nvPr/>
        </p:nvSpPr>
        <p:spPr>
          <a:xfrm>
            <a:off x="7389495" y="21761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级联IMDB</a:t>
            </a:r>
            <a:br/>
            <a:r>
              <a:t>逐步筛选特征</a:t>
            </a:r>
          </a:p>
        </p:txBody>
      </p:sp>
      <p:sp>
        <p:nvSpPr>
          <p:cNvPr id="71" name="Right Arrow 15"/>
          <p:cNvSpPr/>
          <p:nvPr/>
        </p:nvSpPr>
        <p:spPr>
          <a:xfrm>
            <a:off x="1887220" y="2902585"/>
            <a:ext cx="274320" cy="27432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16"/>
          <p:cNvSpPr/>
          <p:nvPr/>
        </p:nvSpPr>
        <p:spPr>
          <a:xfrm>
            <a:off x="2286635" y="2765425"/>
            <a:ext cx="1828800" cy="715645"/>
          </a:xfrm>
          <a:prstGeom prst="roundRect">
            <a:avLst/>
          </a:prstGeom>
          <a:solidFill>
            <a:srgbClr val="00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17"/>
          <p:cNvSpPr txBox="1"/>
          <p:nvPr/>
        </p:nvSpPr>
        <p:spPr>
          <a:xfrm>
            <a:off x="2286635" y="28111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特征融合</a:t>
            </a:r>
          </a:p>
        </p:txBody>
      </p:sp>
      <p:sp>
        <p:nvSpPr>
          <p:cNvPr id="74" name="TextBox 18"/>
          <p:cNvSpPr txBox="1"/>
          <p:nvPr/>
        </p:nvSpPr>
        <p:spPr>
          <a:xfrm>
            <a:off x="2286635" y="30397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1×1卷积</a:t>
            </a:r>
            <a:br/>
            <a:r>
              <a:t>聚合多阶段信息</a:t>
            </a:r>
          </a:p>
        </p:txBody>
      </p:sp>
      <p:sp>
        <p:nvSpPr>
          <p:cNvPr id="75" name="Right Arrow 19"/>
          <p:cNvSpPr/>
          <p:nvPr/>
        </p:nvSpPr>
        <p:spPr>
          <a:xfrm>
            <a:off x="4354830" y="2902585"/>
            <a:ext cx="274320" cy="27432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20"/>
          <p:cNvSpPr/>
          <p:nvPr/>
        </p:nvSpPr>
        <p:spPr>
          <a:xfrm>
            <a:off x="4810125" y="2765425"/>
            <a:ext cx="1828800" cy="715645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21"/>
          <p:cNvSpPr txBox="1"/>
          <p:nvPr/>
        </p:nvSpPr>
        <p:spPr>
          <a:xfrm>
            <a:off x="4810125" y="28111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PixelShuffle上采样</a:t>
            </a:r>
          </a:p>
        </p:txBody>
      </p:sp>
      <p:sp>
        <p:nvSpPr>
          <p:cNvPr id="78" name="TextBox 22"/>
          <p:cNvSpPr txBox="1"/>
          <p:nvPr/>
        </p:nvSpPr>
        <p:spPr>
          <a:xfrm>
            <a:off x="4810125" y="30397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亚像素卷积</a:t>
            </a:r>
            <a:br/>
            <a:r>
              <a:t>×2放大</a:t>
            </a:r>
          </a:p>
        </p:txBody>
      </p:sp>
      <p:sp>
        <p:nvSpPr>
          <p:cNvPr id="79" name="Right Arrow 23"/>
          <p:cNvSpPr/>
          <p:nvPr/>
        </p:nvSpPr>
        <p:spPr>
          <a:xfrm>
            <a:off x="6932930" y="2902585"/>
            <a:ext cx="274320" cy="27432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24"/>
          <p:cNvSpPr/>
          <p:nvPr/>
        </p:nvSpPr>
        <p:spPr>
          <a:xfrm>
            <a:off x="7389495" y="2765425"/>
            <a:ext cx="1828800" cy="715645"/>
          </a:xfrm>
          <a:prstGeom prst="roundRect">
            <a:avLst/>
          </a:prstGeom>
          <a:solidFill>
            <a:srgbClr val="00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25"/>
          <p:cNvSpPr txBox="1"/>
          <p:nvPr/>
        </p:nvSpPr>
        <p:spPr>
          <a:xfrm>
            <a:off x="7389495" y="28111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SR输出</a:t>
            </a:r>
          </a:p>
        </p:txBody>
      </p:sp>
      <p:sp>
        <p:nvSpPr>
          <p:cNvPr id="82" name="TextBox 26"/>
          <p:cNvSpPr txBox="1"/>
          <p:nvPr/>
        </p:nvSpPr>
        <p:spPr>
          <a:xfrm>
            <a:off x="7389495" y="303974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高分辨率图像</a:t>
            </a:r>
            <a:br/>
            <a:r>
              <a:t>(如960×640)</a:t>
            </a:r>
          </a:p>
        </p:txBody>
      </p:sp>
      <p:sp>
        <p:nvSpPr>
          <p:cNvPr id="83" name="TextBox 27"/>
          <p:cNvSpPr txBox="1"/>
          <p:nvPr/>
        </p:nvSpPr>
        <p:spPr>
          <a:xfrm>
            <a:off x="457200" y="3593465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9999"/>
                </a:solidFill>
                <a:latin typeface="微软雅黑" panose="020B0503020204020204" pitchFamily="34" charset="-122"/>
              </a:defRPr>
            </a:pPr>
            <a:r>
              <a:t>← 全局残差连接：LR输入直接跳过主干网络，与上采样输出相加，稳定训练并保留低频信息</a:t>
            </a:r>
          </a:p>
        </p:txBody>
      </p:sp>
      <p:sp>
        <p:nvSpPr>
          <p:cNvPr id="84" name="TextBox 28"/>
          <p:cNvSpPr txBox="1"/>
          <p:nvPr/>
        </p:nvSpPr>
        <p:spPr>
          <a:xfrm>
            <a:off x="457200" y="386778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核心设计思想</a:t>
            </a:r>
          </a:p>
        </p:txBody>
      </p:sp>
      <p:sp>
        <p:nvSpPr>
          <p:cNvPr id="85" name="TextBox 29"/>
          <p:cNvSpPr txBox="1"/>
          <p:nvPr/>
        </p:nvSpPr>
        <p:spPr>
          <a:xfrm>
            <a:off x="640080" y="4233545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信息多蒸馏 (Information Multi-Distillation)：在每个蒸馏块内，通道被逐步拆分——一部分保留为已提炼信息，另一部分继续经过卷积提取，减少冗余计算</a:t>
            </a:r>
          </a:p>
        </p:txBody>
      </p:sp>
      <p:sp>
        <p:nvSpPr>
          <p:cNvPr id="86" name="TextBox 30"/>
          <p:cNvSpPr txBox="1"/>
          <p:nvPr/>
        </p:nvSpPr>
        <p:spPr>
          <a:xfrm>
            <a:off x="640080" y="4645025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对比感知通道注意力 (CCA)：评估候选特征的重要性，自适应聚合多阶段特征</a:t>
            </a:r>
          </a:p>
        </p:txBody>
      </p:sp>
      <p:sp>
        <p:nvSpPr>
          <p:cNvPr id="87" name="TextBox 31"/>
          <p:cNvSpPr txBox="1"/>
          <p:nvPr/>
        </p:nvSpPr>
        <p:spPr>
          <a:xfrm>
            <a:off x="640080" y="5056505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自适应裁剪策略 (ACS)：支持任意尺寸图像的超分辨率，无需为不同尺度重新训练</a:t>
            </a:r>
          </a:p>
        </p:txBody>
      </p:sp>
      <p:sp>
        <p:nvSpPr>
          <p:cNvPr id="88" name="TextBox 32"/>
          <p:cNvSpPr txBox="1"/>
          <p:nvPr/>
        </p:nvSpPr>
        <p:spPr>
          <a:xfrm>
            <a:off x="640080" y="5467985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PixelShuffle上采样：直接学习上采样重建，避免先插值带来的计算开销</a:t>
            </a:r>
          </a:p>
        </p:txBody>
      </p:sp>
      <p:sp>
        <p:nvSpPr>
          <p:cNvPr id="89" name="TextBox 33"/>
          <p:cNvSpPr txBox="1"/>
          <p:nvPr/>
        </p:nvSpPr>
        <p:spPr>
          <a:xfrm>
            <a:off x="457200" y="6062345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85050"/>
                </a:solidFill>
                <a:latin typeface="微软雅黑" panose="020B0503020204020204" pitchFamily="34" charset="-122"/>
              </a:defRPr>
            </a:pPr>
            <a:r>
              <a:t>本文课程级简化配置：特征通道数=32，蒸馏块数=4，参数量≈0.17M，适合CPU轻量复现</a:t>
            </a:r>
          </a:p>
        </p:txBody>
      </p:sp>
      <p:sp>
        <p:nvSpPr>
          <p:cNvPr id="90" name="Right Arrow 11"/>
          <p:cNvSpPr/>
          <p:nvPr/>
        </p:nvSpPr>
        <p:spPr>
          <a:xfrm>
            <a:off x="4354830" y="2145030"/>
            <a:ext cx="274320" cy="274320"/>
          </a:xfrm>
          <a:prstGeom prst="rightArrow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95020" y="410210"/>
            <a:ext cx="702119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模型结构与机制</a:t>
            </a:r>
            <a:r>
              <a:rPr lang="en-US" altLang="zh-CN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 - </a:t>
            </a: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损失函数与改进设计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一、组合损失函数设计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4"/>
              <p:cNvSpPr txBox="1"/>
              <p:nvPr/>
            </p:nvSpPr>
            <p:spPr>
              <a:xfrm>
                <a:off x="457200" y="1554480"/>
                <a:ext cx="5486400" cy="3063240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algn="l">
                  <a:defRPr sz="1400" b="0">
                    <a:solidFill>
                      <a:srgbClr val="333333"/>
                    </a:solidFill>
                    <a:latin typeface="微软雅黑" panose="020B0503020204020204" pitchFamily="34" charset="-122"/>
                  </a:defRPr>
                </a:pPr>
                <a:r>
                  <a:t>总损失函数：</a:t>
                </a:r>
              </a:p>
              <a:p>
                <a:pPr algn="l">
                  <a:defRPr sz="1400" b="0">
                    <a:solidFill>
                      <a:srgbClr val="333333"/>
                    </a:solidFill>
                    <a:latin typeface="微软雅黑" panose="020B0503020204020204" pitchFamily="34" charset="-122"/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𝑒</m:t>
                          </m:r>
                        </m:sub>
                      </m:sSub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</m:t>
                          </m:r>
                        </m:sub>
                      </m:sSub>
                      <m:r>
                        <a:rPr lang="en-US" i="1">
                          <a:latin typeface="Cambria Math" panose="02040503050406030204" charset="0"/>
                          <a:cs typeface="Cambria Math" panose="02040503050406030204" charset="0"/>
                        </a:rPr>
                        <m:t>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𝑙</m:t>
                          </m:r>
                        </m:sub>
                      </m:sSub>
                    </m:oMath>
                  </m:oMathPara>
                </a14:m>
                <a:br/>
                <a:r>
                  <a:t>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像素重建损失</a:t>
                </a:r>
                <a:br/>
                <a:r>
                  <a:t>   约束整体像素误差，保证颜色保真度</a:t>
                </a:r>
                <a:br/>
                <a:br/>
                <a:r>
                  <a:t>②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t> 边缘损失（一阶）</a:t>
                </a:r>
                <a:br/>
                <a:r>
                  <a:t>   比较水平/垂直梯度差异</a:t>
                </a:r>
                <a:br/>
                <a:r>
                  <a:t>   鼓励网络保留清晰边界</a:t>
                </a:r>
                <a:br/>
                <a:br/>
                <a:r>
                  <a:t>③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t> 拉普拉斯损失（二阶）</a:t>
                </a:r>
                <a:br/>
                <a:r>
                  <a:t>   使用四邻域离散拉普拉斯算子</a:t>
                </a:r>
                <a:br/>
                <a:r>
                  <a:t>   约束局部二阶变化，增强高频结构</a:t>
                </a:r>
                <a:br/>
                <a:br/>
                <a:r>
                  <a:t>权重配置：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t> 可通过YAML灵活调整</a:t>
                </a:r>
              </a:p>
            </p:txBody>
          </p:sp>
        </mc:Choice>
        <mc:Fallback>
          <p:sp>
            <p:nvSpPr>
              <p:cNvPr id="29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54480"/>
                <a:ext cx="5486400" cy="306324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5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二、CA-IMDN注意力改进分支</a:t>
            </a:r>
          </a:p>
        </p:txBody>
      </p:sp>
      <p:sp>
        <p:nvSpPr>
          <p:cNvPr id="31" name="TextBox 6"/>
          <p:cNvSpPr txBox="1"/>
          <p:nvPr/>
        </p:nvSpPr>
        <p:spPr>
          <a:xfrm>
            <a:off x="6217920" y="1554480"/>
            <a:ext cx="5486400" cy="30657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在IMDN蒸馏块融合后加入</a:t>
            </a:r>
            <a:br/>
            <a:r>
              <a:t>通道注意力机制 (Channel Attention)</a:t>
            </a:r>
            <a:br/>
            <a:br/>
            <a:r>
              <a:t>结构：</a:t>
            </a:r>
            <a:br/>
            <a:r>
              <a:t>① 全局平均池化 → 压缩空间维度</a:t>
            </a:r>
            <a:br/>
            <a:r>
              <a:t>② 两层1×1卷积 → 生成通道权重</a:t>
            </a:r>
            <a:br/>
            <a:r>
              <a:t>③ 权重乘回原特征 → 重标定通道</a:t>
            </a:r>
            <a:br/>
            <a:br/>
            <a:r>
              <a:t>设计动机：</a:t>
            </a:r>
            <a:br/>
            <a:r>
              <a:t>• 提高纹理、边缘相关通道权重</a:t>
            </a:r>
            <a:br/>
            <a:r>
              <a:t>• 减少低效通道对融合特征的干扰</a:t>
            </a:r>
            <a:br/>
            <a:r>
              <a:t>• 仅增加约2,048参数，轻量高效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457200" y="4613275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三、SRCNN基线 vs IMDN主模型对比</a:t>
            </a:r>
          </a:p>
        </p:txBody>
      </p:sp>
      <p:sp>
        <p:nvSpPr>
          <p:cNvPr id="33" name="Rectangle 8"/>
          <p:cNvSpPr/>
          <p:nvPr/>
        </p:nvSpPr>
        <p:spPr>
          <a:xfrm>
            <a:off x="1828800" y="4949190"/>
            <a:ext cx="8534400" cy="1405255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9"/>
          <p:cNvSpPr txBox="1"/>
          <p:nvPr/>
        </p:nvSpPr>
        <p:spPr>
          <a:xfrm>
            <a:off x="2011680" y="499491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对比项</a:t>
            </a:r>
          </a:p>
        </p:txBody>
      </p:sp>
      <p:sp>
        <p:nvSpPr>
          <p:cNvPr id="35" name="TextBox 10"/>
          <p:cNvSpPr txBox="1"/>
          <p:nvPr/>
        </p:nvSpPr>
        <p:spPr>
          <a:xfrm>
            <a:off x="5029200" y="499491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SRCNN</a:t>
            </a:r>
          </a:p>
        </p:txBody>
      </p:sp>
      <p:sp>
        <p:nvSpPr>
          <p:cNvPr id="36" name="TextBox 11"/>
          <p:cNvSpPr txBox="1"/>
          <p:nvPr/>
        </p:nvSpPr>
        <p:spPr>
          <a:xfrm>
            <a:off x="7772400" y="499491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IMDN</a:t>
            </a:r>
          </a:p>
        </p:txBody>
      </p:sp>
      <p:sp>
        <p:nvSpPr>
          <p:cNvPr id="37" name="TextBox 12"/>
          <p:cNvSpPr txBox="1"/>
          <p:nvPr/>
        </p:nvSpPr>
        <p:spPr>
          <a:xfrm>
            <a:off x="2011680" y="526923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策略</a:t>
            </a:r>
          </a:p>
        </p:txBody>
      </p:sp>
      <p:sp>
        <p:nvSpPr>
          <p:cNvPr id="38" name="TextBox 13"/>
          <p:cNvSpPr txBox="1"/>
          <p:nvPr/>
        </p:nvSpPr>
        <p:spPr>
          <a:xfrm>
            <a:off x="5029200" y="526923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先插值后卷积</a:t>
            </a:r>
          </a:p>
        </p:txBody>
      </p:sp>
      <p:sp>
        <p:nvSpPr>
          <p:cNvPr id="39" name="TextBox 14"/>
          <p:cNvSpPr txBox="1"/>
          <p:nvPr/>
        </p:nvSpPr>
        <p:spPr>
          <a:xfrm>
            <a:off x="7772400" y="526923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直接学习上采样</a:t>
            </a:r>
          </a:p>
        </p:txBody>
      </p:sp>
      <p:sp>
        <p:nvSpPr>
          <p:cNvPr id="40" name="TextBox 15"/>
          <p:cNvSpPr txBox="1"/>
          <p:nvPr/>
        </p:nvSpPr>
        <p:spPr>
          <a:xfrm>
            <a:off x="2011680" y="552526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结构</a:t>
            </a:r>
          </a:p>
        </p:txBody>
      </p:sp>
      <p:sp>
        <p:nvSpPr>
          <p:cNvPr id="41" name="TextBox 16"/>
          <p:cNvSpPr txBox="1"/>
          <p:nvPr/>
        </p:nvSpPr>
        <p:spPr>
          <a:xfrm>
            <a:off x="5029200" y="552526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3层卷积 (9×9,5×5,5×5)</a:t>
            </a:r>
          </a:p>
        </p:txBody>
      </p:sp>
      <p:sp>
        <p:nvSpPr>
          <p:cNvPr id="42" name="TextBox 17"/>
          <p:cNvSpPr txBox="1"/>
          <p:nvPr/>
        </p:nvSpPr>
        <p:spPr>
          <a:xfrm>
            <a:off x="7414895" y="5525135"/>
            <a:ext cx="300164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多蒸馏块+特征融合+PixelShuffle</a:t>
            </a:r>
          </a:p>
        </p:txBody>
      </p:sp>
      <p:sp>
        <p:nvSpPr>
          <p:cNvPr id="43" name="TextBox 18"/>
          <p:cNvSpPr txBox="1"/>
          <p:nvPr/>
        </p:nvSpPr>
        <p:spPr>
          <a:xfrm>
            <a:off x="2011680" y="5781293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参数量</a:t>
            </a:r>
          </a:p>
        </p:txBody>
      </p:sp>
      <p:sp>
        <p:nvSpPr>
          <p:cNvPr id="44" name="TextBox 19"/>
          <p:cNvSpPr txBox="1"/>
          <p:nvPr/>
        </p:nvSpPr>
        <p:spPr>
          <a:xfrm>
            <a:off x="5029200" y="5781293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≈69K</a:t>
            </a:r>
          </a:p>
        </p:txBody>
      </p:sp>
      <p:sp>
        <p:nvSpPr>
          <p:cNvPr id="45" name="TextBox 20"/>
          <p:cNvSpPr txBox="1"/>
          <p:nvPr/>
        </p:nvSpPr>
        <p:spPr>
          <a:xfrm>
            <a:off x="7772400" y="5781293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≈171K</a:t>
            </a:r>
          </a:p>
        </p:txBody>
      </p:sp>
      <p:sp>
        <p:nvSpPr>
          <p:cNvPr id="46" name="TextBox 21"/>
          <p:cNvSpPr txBox="1"/>
          <p:nvPr/>
        </p:nvSpPr>
        <p:spPr>
          <a:xfrm>
            <a:off x="2011680" y="603732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特点</a:t>
            </a:r>
          </a:p>
        </p:txBody>
      </p:sp>
      <p:sp>
        <p:nvSpPr>
          <p:cNvPr id="47" name="TextBox 22"/>
          <p:cNvSpPr txBox="1"/>
          <p:nvPr/>
        </p:nvSpPr>
        <p:spPr>
          <a:xfrm>
            <a:off x="5029200" y="603732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结构简单、表达有限</a:t>
            </a:r>
          </a:p>
        </p:txBody>
      </p:sp>
      <p:sp>
        <p:nvSpPr>
          <p:cNvPr id="48" name="TextBox 23"/>
          <p:cNvSpPr txBox="1"/>
          <p:nvPr/>
        </p:nvSpPr>
        <p:spPr>
          <a:xfrm>
            <a:off x="7772400" y="603732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多蒸馏特征利用、轻量但更强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4983480" cy="2345475"/>
            <a:chOff x="497375" y="1211712"/>
            <a:chExt cx="49834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49834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实验设置与结果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41420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04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584" y="3961048"/>
            <a:ext cx="610790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u="none" strike="noStrike" kern="1200" cap="none" spc="0" normalizeH="0" baseline="0" noProof="0" dirty="0">
                <a:ln>
                  <a:noFill/>
                </a:ln>
                <a:solidFill>
                  <a:srgbClr val="7E7E7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数据集、训练配置与消融实验分析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E7E7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498665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 - 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实验配置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TextBox 3"/>
          <p:cNvSpPr txBox="1"/>
          <p:nvPr/>
        </p:nvSpPr>
        <p:spPr>
          <a:xfrm>
            <a:off x="457200" y="1239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一、数据集</a:t>
            </a:r>
          </a:p>
        </p:txBody>
      </p:sp>
      <p:sp>
        <p:nvSpPr>
          <p:cNvPr id="29" name="TextBox 4"/>
          <p:cNvSpPr txBox="1"/>
          <p:nvPr/>
        </p:nvSpPr>
        <p:spPr>
          <a:xfrm>
            <a:off x="457200" y="169672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DIV2K数据集 (NTIRE 2017)</a:t>
            </a:r>
            <a:br/>
            <a:r>
              <a:t>• 训练集：800张高分辨率图像</a:t>
            </a:r>
            <a:br/>
            <a:r>
              <a:t>• 验证集：100张图像</a:t>
            </a:r>
            <a:br/>
            <a:r>
              <a:t>• 测试集：100张图像</a:t>
            </a:r>
            <a:br/>
            <a:r>
              <a:t>• 任务：Bicubic ×2超分辨率</a:t>
            </a:r>
            <a:br/>
            <a:r>
              <a:t>• 图像分辨率：2K (约2040×1080)</a:t>
            </a:r>
            <a:br/>
            <a:r>
              <a:t>• 场景丰富：建筑、自然、人物、动物等</a:t>
            </a:r>
          </a:p>
        </p:txBody>
      </p:sp>
      <p:sp>
        <p:nvSpPr>
          <p:cNvPr id="30" name="TextBox 5"/>
          <p:cNvSpPr txBox="1"/>
          <p:nvPr/>
        </p:nvSpPr>
        <p:spPr>
          <a:xfrm>
            <a:off x="6217920" y="1239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二、训练配置</a:t>
            </a:r>
          </a:p>
        </p:txBody>
      </p:sp>
      <p:sp>
        <p:nvSpPr>
          <p:cNvPr id="31" name="TextBox 6"/>
          <p:cNvSpPr txBox="1"/>
          <p:nvPr/>
        </p:nvSpPr>
        <p:spPr>
          <a:xfrm>
            <a:off x="6217920" y="1696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框架：MindSpore 2.8.0</a:t>
            </a:r>
            <a:br/>
            <a:r>
              <a:t>• 设备：CPU</a:t>
            </a:r>
            <a:br/>
            <a:r>
              <a:t>• 放大倍率：×2</a:t>
            </a:r>
            <a:br/>
            <a:r>
              <a:t>• 批大小：8</a:t>
            </a:r>
            <a:br/>
            <a:r>
              <a:t>• Patch大小：32×32 (从LR随机裁剪)</a:t>
            </a:r>
            <a:br/>
            <a:r>
              <a:t>• 特征通道数：32</a:t>
            </a:r>
            <a:br/>
            <a:r>
              <a:t>• 学习率：2×10⁻⁴ (Adam优化器)</a:t>
            </a:r>
            <a:br/>
            <a:r>
              <a:t>• 训练轮数：5/20/50 epoch</a:t>
            </a:r>
            <a:br/>
            <a:r>
              <a:t>• 损失函数：L1 / L1+Edge / L1+Laplacian</a:t>
            </a:r>
            <a:br/>
            <a:r>
              <a:t>• 评价指标：PSNR、SSIM (Y通道)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457200" y="41732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三、实验流程</a:t>
            </a:r>
          </a:p>
        </p:txBody>
      </p:sp>
      <p:sp>
        <p:nvSpPr>
          <p:cNvPr id="33" name="Rounded Rectangle 8"/>
          <p:cNvSpPr/>
          <p:nvPr/>
        </p:nvSpPr>
        <p:spPr>
          <a:xfrm>
            <a:off x="243205" y="4805680"/>
            <a:ext cx="1463040" cy="73152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9"/>
          <p:cNvSpPr txBox="1"/>
          <p:nvPr/>
        </p:nvSpPr>
        <p:spPr>
          <a:xfrm>
            <a:off x="243205" y="4851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数据组织</a:t>
            </a:r>
          </a:p>
        </p:txBody>
      </p:sp>
      <p:sp>
        <p:nvSpPr>
          <p:cNvPr id="35" name="TextBox 10"/>
          <p:cNvSpPr txBox="1"/>
          <p:nvPr/>
        </p:nvSpPr>
        <p:spPr>
          <a:xfrm>
            <a:off x="243205" y="5125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DIV2K LR/HR配对</a:t>
            </a:r>
          </a:p>
        </p:txBody>
      </p:sp>
      <p:sp>
        <p:nvSpPr>
          <p:cNvPr id="36" name="Right Arrow 11"/>
          <p:cNvSpPr/>
          <p:nvPr/>
        </p:nvSpPr>
        <p:spPr>
          <a:xfrm>
            <a:off x="1756410" y="503428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12"/>
          <p:cNvSpPr/>
          <p:nvPr/>
        </p:nvSpPr>
        <p:spPr>
          <a:xfrm>
            <a:off x="1982470" y="4805680"/>
            <a:ext cx="146304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13"/>
          <p:cNvSpPr txBox="1"/>
          <p:nvPr/>
        </p:nvSpPr>
        <p:spPr>
          <a:xfrm>
            <a:off x="1982470" y="4851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随机裁剪</a:t>
            </a:r>
          </a:p>
        </p:txBody>
      </p:sp>
      <p:sp>
        <p:nvSpPr>
          <p:cNvPr id="39" name="TextBox 14"/>
          <p:cNvSpPr txBox="1"/>
          <p:nvPr/>
        </p:nvSpPr>
        <p:spPr>
          <a:xfrm>
            <a:off x="1982470" y="5125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32×32 Patch采样</a:t>
            </a:r>
          </a:p>
        </p:txBody>
      </p:sp>
      <p:sp>
        <p:nvSpPr>
          <p:cNvPr id="40" name="Right Arrow 15"/>
          <p:cNvSpPr/>
          <p:nvPr/>
        </p:nvSpPr>
        <p:spPr>
          <a:xfrm>
            <a:off x="3489325" y="503428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16"/>
          <p:cNvSpPr/>
          <p:nvPr/>
        </p:nvSpPr>
        <p:spPr>
          <a:xfrm>
            <a:off x="3697604" y="4805680"/>
            <a:ext cx="1463040" cy="73152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7"/>
          <p:cNvSpPr txBox="1"/>
          <p:nvPr/>
        </p:nvSpPr>
        <p:spPr>
          <a:xfrm>
            <a:off x="3697604" y="4851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模型训练</a:t>
            </a:r>
          </a:p>
        </p:txBody>
      </p:sp>
      <p:sp>
        <p:nvSpPr>
          <p:cNvPr id="43" name="TextBox 18"/>
          <p:cNvSpPr txBox="1"/>
          <p:nvPr/>
        </p:nvSpPr>
        <p:spPr>
          <a:xfrm>
            <a:off x="3697604" y="5125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SRCNN / IMDN / CA-IMDN</a:t>
            </a:r>
          </a:p>
        </p:txBody>
      </p:sp>
      <p:sp>
        <p:nvSpPr>
          <p:cNvPr id="44" name="Right Arrow 19"/>
          <p:cNvSpPr/>
          <p:nvPr/>
        </p:nvSpPr>
        <p:spPr>
          <a:xfrm>
            <a:off x="5206364" y="503428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20"/>
          <p:cNvSpPr/>
          <p:nvPr/>
        </p:nvSpPr>
        <p:spPr>
          <a:xfrm>
            <a:off x="5394960" y="4805680"/>
            <a:ext cx="146304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21"/>
          <p:cNvSpPr txBox="1"/>
          <p:nvPr/>
        </p:nvSpPr>
        <p:spPr>
          <a:xfrm>
            <a:off x="5394960" y="4851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Checkpoint保存</a:t>
            </a:r>
          </a:p>
        </p:txBody>
      </p:sp>
      <p:sp>
        <p:nvSpPr>
          <p:cNvPr id="47" name="TextBox 22"/>
          <p:cNvSpPr txBox="1"/>
          <p:nvPr/>
        </p:nvSpPr>
        <p:spPr>
          <a:xfrm>
            <a:off x="5394960" y="5125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.ckpt权重文件</a:t>
            </a:r>
          </a:p>
        </p:txBody>
      </p:sp>
      <p:sp>
        <p:nvSpPr>
          <p:cNvPr id="48" name="Right Arrow 23"/>
          <p:cNvSpPr/>
          <p:nvPr/>
        </p:nvSpPr>
        <p:spPr>
          <a:xfrm>
            <a:off x="6882765" y="503428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24"/>
          <p:cNvSpPr/>
          <p:nvPr/>
        </p:nvSpPr>
        <p:spPr>
          <a:xfrm>
            <a:off x="7086600" y="4805680"/>
            <a:ext cx="1463040" cy="73152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25"/>
          <p:cNvSpPr txBox="1"/>
          <p:nvPr/>
        </p:nvSpPr>
        <p:spPr>
          <a:xfrm>
            <a:off x="7086600" y="4851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验证集推理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7086600" y="5125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Bicubic / SRCNN / IMDN</a:t>
            </a:r>
          </a:p>
        </p:txBody>
      </p:sp>
      <p:sp>
        <p:nvSpPr>
          <p:cNvPr id="52" name="Right Arrow 27"/>
          <p:cNvSpPr/>
          <p:nvPr/>
        </p:nvSpPr>
        <p:spPr>
          <a:xfrm>
            <a:off x="8595360" y="503428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28"/>
          <p:cNvSpPr/>
          <p:nvPr/>
        </p:nvSpPr>
        <p:spPr>
          <a:xfrm>
            <a:off x="8796655" y="4805680"/>
            <a:ext cx="146304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29"/>
          <p:cNvSpPr txBox="1"/>
          <p:nvPr/>
        </p:nvSpPr>
        <p:spPr>
          <a:xfrm>
            <a:off x="8796655" y="4851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指标评估</a:t>
            </a:r>
          </a:p>
        </p:txBody>
      </p:sp>
      <p:sp>
        <p:nvSpPr>
          <p:cNvPr id="55" name="TextBox 30"/>
          <p:cNvSpPr txBox="1"/>
          <p:nvPr/>
        </p:nvSpPr>
        <p:spPr>
          <a:xfrm>
            <a:off x="8796655" y="5125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PSNR / SSIM计算</a:t>
            </a:r>
          </a:p>
        </p:txBody>
      </p:sp>
      <p:sp>
        <p:nvSpPr>
          <p:cNvPr id="56" name="Right Arrow 31"/>
          <p:cNvSpPr/>
          <p:nvPr/>
        </p:nvSpPr>
        <p:spPr>
          <a:xfrm>
            <a:off x="10319385" y="5034280"/>
            <a:ext cx="182880" cy="182880"/>
          </a:xfrm>
          <a:prstGeom prst="rightArrow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32"/>
          <p:cNvSpPr/>
          <p:nvPr/>
        </p:nvSpPr>
        <p:spPr>
          <a:xfrm>
            <a:off x="10537825" y="4805680"/>
            <a:ext cx="1463040" cy="73152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33"/>
          <p:cNvSpPr txBox="1"/>
          <p:nvPr/>
        </p:nvSpPr>
        <p:spPr>
          <a:xfrm>
            <a:off x="10537825" y="485140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图表生成</a:t>
            </a:r>
          </a:p>
        </p:txBody>
      </p:sp>
      <p:sp>
        <p:nvSpPr>
          <p:cNvPr id="59" name="TextBox 34"/>
          <p:cNvSpPr txBox="1"/>
          <p:nvPr/>
        </p:nvSpPr>
        <p:spPr>
          <a:xfrm>
            <a:off x="10537825" y="51257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CSV + 可视化对比</a:t>
            </a:r>
          </a:p>
        </p:txBody>
      </p:sp>
      <p:sp>
        <p:nvSpPr>
          <p:cNvPr id="60" name="TextBox 35"/>
          <p:cNvSpPr txBox="1"/>
          <p:nvPr/>
        </p:nvSpPr>
        <p:spPr>
          <a:xfrm>
            <a:off x="457200" y="57200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80"/>
                </a:solidFill>
                <a:latin typeface="微软雅黑" panose="020B0503020204020204" pitchFamily="34" charset="-122"/>
              </a:defRPr>
            </a:pPr>
            <a:r>
              <a:t>训练、推理、评估相互独立，便于复现实验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594931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r>
              <a:rPr lang="en-US" altLang="zh-CN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 - </a:t>
            </a: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主要结果对比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DIV2K验证集主要结果对比</a:t>
            </a:r>
          </a:p>
        </p:txBody>
      </p:sp>
      <p:sp>
        <p:nvSpPr>
          <p:cNvPr id="29" name="Rectangle 4"/>
          <p:cNvSpPr/>
          <p:nvPr/>
        </p:nvSpPr>
        <p:spPr>
          <a:xfrm>
            <a:off x="457200" y="1554480"/>
            <a:ext cx="11277295" cy="3474720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5"/>
          <p:cNvSpPr txBox="1"/>
          <p:nvPr/>
        </p:nvSpPr>
        <p:spPr>
          <a:xfrm>
            <a:off x="64008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方法</a:t>
            </a:r>
          </a:p>
        </p:txBody>
      </p:sp>
      <p:sp>
        <p:nvSpPr>
          <p:cNvPr id="31" name="TextBox 6"/>
          <p:cNvSpPr txBox="1"/>
          <p:nvPr/>
        </p:nvSpPr>
        <p:spPr>
          <a:xfrm>
            <a:off x="274320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训练轮数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502920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平均PSNR/dB</a:t>
            </a:r>
          </a:p>
        </p:txBody>
      </p:sp>
      <p:sp>
        <p:nvSpPr>
          <p:cNvPr id="33" name="TextBox 8"/>
          <p:cNvSpPr txBox="1"/>
          <p:nvPr/>
        </p:nvSpPr>
        <p:spPr>
          <a:xfrm>
            <a:off x="731520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平均SSIM</a:t>
            </a:r>
          </a:p>
        </p:txBody>
      </p:sp>
      <p:sp>
        <p:nvSpPr>
          <p:cNvPr id="34" name="TextBox 9"/>
          <p:cNvSpPr txBox="1"/>
          <p:nvPr/>
        </p:nvSpPr>
        <p:spPr>
          <a:xfrm>
            <a:off x="914400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相对Bicubic变化</a:t>
            </a:r>
          </a:p>
        </p:txBody>
      </p:sp>
      <p:sp>
        <p:nvSpPr>
          <p:cNvPr id="35" name="TextBox 10"/>
          <p:cNvSpPr txBox="1"/>
          <p:nvPr/>
        </p:nvSpPr>
        <p:spPr>
          <a:xfrm>
            <a:off x="64008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Bicubic</a:t>
            </a:r>
          </a:p>
        </p:txBody>
      </p:sp>
      <p:sp>
        <p:nvSpPr>
          <p:cNvPr id="36" name="TextBox 11"/>
          <p:cNvSpPr txBox="1"/>
          <p:nvPr/>
        </p:nvSpPr>
        <p:spPr>
          <a:xfrm>
            <a:off x="27432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-</a:t>
            </a:r>
          </a:p>
        </p:txBody>
      </p:sp>
      <p:sp>
        <p:nvSpPr>
          <p:cNvPr id="37" name="TextBox 12"/>
          <p:cNvSpPr txBox="1"/>
          <p:nvPr/>
        </p:nvSpPr>
        <p:spPr>
          <a:xfrm>
            <a:off x="50292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32.4735</a:t>
            </a:r>
          </a:p>
        </p:txBody>
      </p:sp>
      <p:sp>
        <p:nvSpPr>
          <p:cNvPr id="38" name="TextBox 13"/>
          <p:cNvSpPr txBox="1"/>
          <p:nvPr/>
        </p:nvSpPr>
        <p:spPr>
          <a:xfrm>
            <a:off x="73152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0.9860</a:t>
            </a:r>
          </a:p>
        </p:txBody>
      </p:sp>
      <p:sp>
        <p:nvSpPr>
          <p:cNvPr id="39" name="TextBox 14"/>
          <p:cNvSpPr txBox="1"/>
          <p:nvPr/>
        </p:nvSpPr>
        <p:spPr>
          <a:xfrm>
            <a:off x="9144000" y="1920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基线</a:t>
            </a:r>
          </a:p>
        </p:txBody>
      </p:sp>
      <p:sp>
        <p:nvSpPr>
          <p:cNvPr id="40" name="TextBox 15"/>
          <p:cNvSpPr txBox="1"/>
          <p:nvPr/>
        </p:nvSpPr>
        <p:spPr>
          <a:xfrm>
            <a:off x="640080" y="2267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SRCNN</a:t>
            </a:r>
          </a:p>
        </p:txBody>
      </p:sp>
      <p:sp>
        <p:nvSpPr>
          <p:cNvPr id="41" name="TextBox 16"/>
          <p:cNvSpPr txBox="1"/>
          <p:nvPr/>
        </p:nvSpPr>
        <p:spPr>
          <a:xfrm>
            <a:off x="2743200" y="2267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2ep</a:t>
            </a:r>
          </a:p>
        </p:txBody>
      </p:sp>
      <p:sp>
        <p:nvSpPr>
          <p:cNvPr id="42" name="TextBox 17"/>
          <p:cNvSpPr txBox="1"/>
          <p:nvPr/>
        </p:nvSpPr>
        <p:spPr>
          <a:xfrm>
            <a:off x="5029200" y="2267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29.0996</a:t>
            </a:r>
          </a:p>
        </p:txBody>
      </p:sp>
      <p:sp>
        <p:nvSpPr>
          <p:cNvPr id="43" name="TextBox 18"/>
          <p:cNvSpPr txBox="1"/>
          <p:nvPr/>
        </p:nvSpPr>
        <p:spPr>
          <a:xfrm>
            <a:off x="7315200" y="2267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0.9801</a:t>
            </a:r>
          </a:p>
        </p:txBody>
      </p:sp>
      <p:sp>
        <p:nvSpPr>
          <p:cNvPr id="44" name="TextBox 19"/>
          <p:cNvSpPr txBox="1"/>
          <p:nvPr/>
        </p:nvSpPr>
        <p:spPr>
          <a:xfrm>
            <a:off x="9144000" y="22677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PSNR -3.37dB</a:t>
            </a:r>
          </a:p>
        </p:txBody>
      </p:sp>
      <p:sp>
        <p:nvSpPr>
          <p:cNvPr id="45" name="TextBox 20"/>
          <p:cNvSpPr txBox="1"/>
          <p:nvPr/>
        </p:nvSpPr>
        <p:spPr>
          <a:xfrm>
            <a:off x="640080" y="2615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SRCNN</a:t>
            </a:r>
          </a:p>
        </p:txBody>
      </p:sp>
      <p:sp>
        <p:nvSpPr>
          <p:cNvPr id="46" name="TextBox 21"/>
          <p:cNvSpPr txBox="1"/>
          <p:nvPr/>
        </p:nvSpPr>
        <p:spPr>
          <a:xfrm>
            <a:off x="2743200" y="2615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20ep</a:t>
            </a:r>
          </a:p>
        </p:txBody>
      </p:sp>
      <p:sp>
        <p:nvSpPr>
          <p:cNvPr id="47" name="TextBox 22"/>
          <p:cNvSpPr txBox="1"/>
          <p:nvPr/>
        </p:nvSpPr>
        <p:spPr>
          <a:xfrm>
            <a:off x="5029200" y="2615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33.2857</a:t>
            </a:r>
          </a:p>
        </p:txBody>
      </p:sp>
      <p:sp>
        <p:nvSpPr>
          <p:cNvPr id="48" name="TextBox 23"/>
          <p:cNvSpPr txBox="1"/>
          <p:nvPr/>
        </p:nvSpPr>
        <p:spPr>
          <a:xfrm>
            <a:off x="7315200" y="2615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0.9886</a:t>
            </a:r>
          </a:p>
        </p:txBody>
      </p:sp>
      <p:sp>
        <p:nvSpPr>
          <p:cNvPr id="49" name="TextBox 24"/>
          <p:cNvSpPr txBox="1"/>
          <p:nvPr/>
        </p:nvSpPr>
        <p:spPr>
          <a:xfrm>
            <a:off x="9144000" y="261518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PSNR +0.81dB</a:t>
            </a:r>
          </a:p>
        </p:txBody>
      </p:sp>
      <p:sp>
        <p:nvSpPr>
          <p:cNvPr id="50" name="TextBox 25"/>
          <p:cNvSpPr txBox="1"/>
          <p:nvPr/>
        </p:nvSpPr>
        <p:spPr>
          <a:xfrm>
            <a:off x="64008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IMDN + Edge</a:t>
            </a:r>
          </a:p>
        </p:txBody>
      </p:sp>
      <p:sp>
        <p:nvSpPr>
          <p:cNvPr id="51" name="TextBox 26"/>
          <p:cNvSpPr txBox="1"/>
          <p:nvPr/>
        </p:nvSpPr>
        <p:spPr>
          <a:xfrm>
            <a:off x="274320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5ep</a:t>
            </a:r>
          </a:p>
        </p:txBody>
      </p:sp>
      <p:sp>
        <p:nvSpPr>
          <p:cNvPr id="52" name="TextBox 27"/>
          <p:cNvSpPr txBox="1"/>
          <p:nvPr/>
        </p:nvSpPr>
        <p:spPr>
          <a:xfrm>
            <a:off x="502920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31.1674</a:t>
            </a:r>
          </a:p>
        </p:txBody>
      </p:sp>
      <p:sp>
        <p:nvSpPr>
          <p:cNvPr id="53" name="TextBox 28"/>
          <p:cNvSpPr txBox="1"/>
          <p:nvPr/>
        </p:nvSpPr>
        <p:spPr>
          <a:xfrm>
            <a:off x="731520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0.9837</a:t>
            </a:r>
          </a:p>
        </p:txBody>
      </p:sp>
      <p:sp>
        <p:nvSpPr>
          <p:cNvPr id="54" name="TextBox 29"/>
          <p:cNvSpPr txBox="1"/>
          <p:nvPr/>
        </p:nvSpPr>
        <p:spPr>
          <a:xfrm>
            <a:off x="9144000" y="296265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PSNR -1.31dB</a:t>
            </a:r>
          </a:p>
        </p:txBody>
      </p:sp>
      <p:sp>
        <p:nvSpPr>
          <p:cNvPr id="55" name="TextBox 30"/>
          <p:cNvSpPr txBox="1"/>
          <p:nvPr/>
        </p:nvSpPr>
        <p:spPr>
          <a:xfrm>
            <a:off x="640080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IMDN no-edge</a:t>
            </a:r>
          </a:p>
        </p:txBody>
      </p:sp>
      <p:sp>
        <p:nvSpPr>
          <p:cNvPr id="56" name="TextBox 31"/>
          <p:cNvSpPr txBox="1"/>
          <p:nvPr/>
        </p:nvSpPr>
        <p:spPr>
          <a:xfrm>
            <a:off x="2743200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5ep</a:t>
            </a:r>
          </a:p>
        </p:txBody>
      </p:sp>
      <p:sp>
        <p:nvSpPr>
          <p:cNvPr id="57" name="TextBox 32"/>
          <p:cNvSpPr txBox="1"/>
          <p:nvPr/>
        </p:nvSpPr>
        <p:spPr>
          <a:xfrm>
            <a:off x="5029200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31.9500</a:t>
            </a:r>
          </a:p>
        </p:txBody>
      </p:sp>
      <p:sp>
        <p:nvSpPr>
          <p:cNvPr id="58" name="TextBox 33"/>
          <p:cNvSpPr txBox="1"/>
          <p:nvPr/>
        </p:nvSpPr>
        <p:spPr>
          <a:xfrm>
            <a:off x="7315200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0.9855</a:t>
            </a:r>
          </a:p>
        </p:txBody>
      </p:sp>
      <p:sp>
        <p:nvSpPr>
          <p:cNvPr id="59" name="TextBox 34"/>
          <p:cNvSpPr txBox="1"/>
          <p:nvPr/>
        </p:nvSpPr>
        <p:spPr>
          <a:xfrm>
            <a:off x="9144000" y="33101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PSNR -0.52dB</a:t>
            </a:r>
          </a:p>
        </p:txBody>
      </p:sp>
      <p:sp>
        <p:nvSpPr>
          <p:cNvPr id="60" name="TextBox 35"/>
          <p:cNvSpPr txBox="1"/>
          <p:nvPr/>
        </p:nvSpPr>
        <p:spPr>
          <a:xfrm>
            <a:off x="64008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IMDN no-edge</a:t>
            </a:r>
          </a:p>
        </p:txBody>
      </p:sp>
      <p:sp>
        <p:nvSpPr>
          <p:cNvPr id="61" name="TextBox 36"/>
          <p:cNvSpPr txBox="1"/>
          <p:nvPr/>
        </p:nvSpPr>
        <p:spPr>
          <a:xfrm>
            <a:off x="2743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20ep</a:t>
            </a:r>
          </a:p>
        </p:txBody>
      </p:sp>
      <p:sp>
        <p:nvSpPr>
          <p:cNvPr id="62" name="TextBox 37"/>
          <p:cNvSpPr txBox="1"/>
          <p:nvPr/>
        </p:nvSpPr>
        <p:spPr>
          <a:xfrm>
            <a:off x="5029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33.4615</a:t>
            </a:r>
          </a:p>
        </p:txBody>
      </p:sp>
      <p:sp>
        <p:nvSpPr>
          <p:cNvPr id="63" name="TextBox 38"/>
          <p:cNvSpPr txBox="1"/>
          <p:nvPr/>
        </p:nvSpPr>
        <p:spPr>
          <a:xfrm>
            <a:off x="73152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0.9893</a:t>
            </a:r>
          </a:p>
        </p:txBody>
      </p:sp>
      <p:sp>
        <p:nvSpPr>
          <p:cNvPr id="64" name="TextBox 39"/>
          <p:cNvSpPr txBox="1"/>
          <p:nvPr/>
        </p:nvSpPr>
        <p:spPr>
          <a:xfrm>
            <a:off x="914400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PSNR +0.99dB</a:t>
            </a:r>
          </a:p>
        </p:txBody>
      </p:sp>
      <p:sp>
        <p:nvSpPr>
          <p:cNvPr id="65" name="TextBox 40"/>
          <p:cNvSpPr txBox="1"/>
          <p:nvPr/>
        </p:nvSpPr>
        <p:spPr>
          <a:xfrm>
            <a:off x="64008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IMDN width48</a:t>
            </a:r>
          </a:p>
        </p:txBody>
      </p:sp>
      <p:sp>
        <p:nvSpPr>
          <p:cNvPr id="66" name="TextBox 41"/>
          <p:cNvSpPr txBox="1"/>
          <p:nvPr/>
        </p:nvSpPr>
        <p:spPr>
          <a:xfrm>
            <a:off x="274320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20ep</a:t>
            </a:r>
          </a:p>
        </p:txBody>
      </p:sp>
      <p:sp>
        <p:nvSpPr>
          <p:cNvPr id="67" name="TextBox 42"/>
          <p:cNvSpPr txBox="1"/>
          <p:nvPr/>
        </p:nvSpPr>
        <p:spPr>
          <a:xfrm>
            <a:off x="502920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33.6560</a:t>
            </a:r>
          </a:p>
        </p:txBody>
      </p:sp>
      <p:sp>
        <p:nvSpPr>
          <p:cNvPr id="68" name="TextBox 43"/>
          <p:cNvSpPr txBox="1"/>
          <p:nvPr/>
        </p:nvSpPr>
        <p:spPr>
          <a:xfrm>
            <a:off x="731520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0.9898</a:t>
            </a:r>
          </a:p>
        </p:txBody>
      </p:sp>
      <p:sp>
        <p:nvSpPr>
          <p:cNvPr id="69" name="TextBox 44"/>
          <p:cNvSpPr txBox="1"/>
          <p:nvPr/>
        </p:nvSpPr>
        <p:spPr>
          <a:xfrm>
            <a:off x="9144000" y="4005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PSNR +1.18dB</a:t>
            </a:r>
          </a:p>
        </p:txBody>
      </p:sp>
      <p:sp>
        <p:nvSpPr>
          <p:cNvPr id="70" name="TextBox 45"/>
          <p:cNvSpPr txBox="1"/>
          <p:nvPr/>
        </p:nvSpPr>
        <p:spPr>
          <a:xfrm>
            <a:off x="64008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CA-IMDN + Edge</a:t>
            </a:r>
          </a:p>
        </p:txBody>
      </p:sp>
      <p:sp>
        <p:nvSpPr>
          <p:cNvPr id="71" name="TextBox 46"/>
          <p:cNvSpPr txBox="1"/>
          <p:nvPr/>
        </p:nvSpPr>
        <p:spPr>
          <a:xfrm>
            <a:off x="274320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20ep</a:t>
            </a:r>
          </a:p>
        </p:txBody>
      </p:sp>
      <p:sp>
        <p:nvSpPr>
          <p:cNvPr id="72" name="TextBox 47"/>
          <p:cNvSpPr txBox="1"/>
          <p:nvPr/>
        </p:nvSpPr>
        <p:spPr>
          <a:xfrm>
            <a:off x="502920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33.6396</a:t>
            </a:r>
          </a:p>
        </p:txBody>
      </p:sp>
      <p:sp>
        <p:nvSpPr>
          <p:cNvPr id="73" name="TextBox 48"/>
          <p:cNvSpPr txBox="1"/>
          <p:nvPr/>
        </p:nvSpPr>
        <p:spPr>
          <a:xfrm>
            <a:off x="731520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0.9894</a:t>
            </a:r>
          </a:p>
        </p:txBody>
      </p:sp>
      <p:sp>
        <p:nvSpPr>
          <p:cNvPr id="74" name="TextBox 49"/>
          <p:cNvSpPr txBox="1"/>
          <p:nvPr/>
        </p:nvSpPr>
        <p:spPr>
          <a:xfrm>
            <a:off x="9144000" y="43525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PSNR +1.17dB</a:t>
            </a:r>
          </a:p>
        </p:txBody>
      </p:sp>
      <p:sp>
        <p:nvSpPr>
          <p:cNvPr id="75" name="TextBox 50"/>
          <p:cNvSpPr txBox="1"/>
          <p:nvPr/>
        </p:nvSpPr>
        <p:spPr>
          <a:xfrm>
            <a:off x="64008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IMDN no-edge</a:t>
            </a:r>
          </a:p>
        </p:txBody>
      </p:sp>
      <p:sp>
        <p:nvSpPr>
          <p:cNvPr id="76" name="TextBox 51"/>
          <p:cNvSpPr txBox="1"/>
          <p:nvPr/>
        </p:nvSpPr>
        <p:spPr>
          <a:xfrm>
            <a:off x="27432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50ep</a:t>
            </a:r>
          </a:p>
        </p:txBody>
      </p:sp>
      <p:sp>
        <p:nvSpPr>
          <p:cNvPr id="77" name="TextBox 52"/>
          <p:cNvSpPr txBox="1"/>
          <p:nvPr/>
        </p:nvSpPr>
        <p:spPr>
          <a:xfrm>
            <a:off x="50292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34.2122</a:t>
            </a:r>
          </a:p>
        </p:txBody>
      </p:sp>
      <p:sp>
        <p:nvSpPr>
          <p:cNvPr id="78" name="TextBox 53"/>
          <p:cNvSpPr txBox="1"/>
          <p:nvPr/>
        </p:nvSpPr>
        <p:spPr>
          <a:xfrm>
            <a:off x="73152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0.9906</a:t>
            </a:r>
          </a:p>
        </p:txBody>
      </p:sp>
      <p:sp>
        <p:nvSpPr>
          <p:cNvPr id="79" name="TextBox 54"/>
          <p:cNvSpPr txBox="1"/>
          <p:nvPr/>
        </p:nvSpPr>
        <p:spPr>
          <a:xfrm>
            <a:off x="9144000" y="47000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5050"/>
                </a:solidFill>
                <a:latin typeface="微软雅黑" panose="020B0503020204020204" pitchFamily="34" charset="-122"/>
              </a:defRPr>
            </a:pPr>
            <a:r>
              <a:t>PSNR +1.74dB ✓最佳</a:t>
            </a:r>
          </a:p>
        </p:txBody>
      </p:sp>
      <p:sp>
        <p:nvSpPr>
          <p:cNvPr id="80" name="TextBox 55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关键结论</a:t>
            </a:r>
          </a:p>
        </p:txBody>
      </p:sp>
      <p:sp>
        <p:nvSpPr>
          <p:cNvPr id="81" name="TextBox 56"/>
          <p:cNvSpPr txBox="1"/>
          <p:nvPr/>
        </p:nvSpPr>
        <p:spPr>
          <a:xfrm>
            <a:off x="640080" y="53949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① 短轮次训练(5ep)的IMDN尚未超过Bicubic，延长训练后性能明显提升</a:t>
            </a:r>
          </a:p>
        </p:txBody>
      </p:sp>
      <p:sp>
        <p:nvSpPr>
          <p:cNvPr id="82" name="TextBox 57"/>
          <p:cNvSpPr txBox="1"/>
          <p:nvPr/>
        </p:nvSpPr>
        <p:spPr>
          <a:xfrm>
            <a:off x="640080" y="5687568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② 充分训练(50ep)的IMDN no-edge达到最佳：34.21dB / 0.9906，较Bicubic提升1.74dB</a:t>
            </a:r>
          </a:p>
        </p:txBody>
      </p:sp>
      <p:sp>
        <p:nvSpPr>
          <p:cNvPr id="83" name="TextBox 58"/>
          <p:cNvSpPr txBox="1"/>
          <p:nvPr/>
        </p:nvSpPr>
        <p:spPr>
          <a:xfrm>
            <a:off x="640080" y="5980176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③ SRCNN 20ep达到33.29dB，说明浅层基线在充分训练后同样可超过Bicubic</a:t>
            </a:r>
          </a:p>
        </p:txBody>
      </p:sp>
      <p:sp>
        <p:nvSpPr>
          <p:cNvPr id="84" name="TextBox 59"/>
          <p:cNvSpPr txBox="1"/>
          <p:nvPr/>
        </p:nvSpPr>
        <p:spPr>
          <a:xfrm>
            <a:off x="640080" y="6272784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④ 边缘损失在当前设置下未稳定提升PSNR，需进一步调参优化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721042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r>
              <a:rPr lang="en-US" altLang="zh-CN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 - </a:t>
            </a: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消融实验与扩展分析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一、模型容量消融</a:t>
            </a:r>
          </a:p>
        </p:txBody>
      </p:sp>
      <p:sp>
        <p:nvSpPr>
          <p:cNvPr id="29" name="TextBox 4"/>
          <p:cNvSpPr txBox="1"/>
          <p:nvPr/>
        </p:nvSpPr>
        <p:spPr>
          <a:xfrm>
            <a:off x="457200" y="1554480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方法              参数量      PSNR(dB)</a:t>
            </a:r>
            <a:br/>
            <a:r>
              <a:t>─────────────────────────────</a:t>
            </a:r>
            <a:br/>
            <a:r>
              <a:t>IMDN width16     43K       33.4131</a:t>
            </a:r>
            <a:br/>
            <a:r>
              <a:t>IMDN width32     171K      33.4615  ← 主模型</a:t>
            </a:r>
            <a:br/>
            <a:r>
              <a:t>IMDN width48     383K      33.6560  ✓ 最佳</a:t>
            </a:r>
            <a:br/>
            <a:r>
              <a:t>IMDN depth2      109K      32.7074</a:t>
            </a:r>
            <a:br/>
            <a:r>
              <a:t>IMDN depth6      232K      33.1873</a:t>
            </a:r>
            <a:br/>
            <a:br/>
            <a:r>
              <a:t>结论：增加通道宽度(width48)比</a:t>
            </a:r>
            <a:br/>
            <a:r>
              <a:t>增加深度(depth6)更有效</a:t>
            </a:r>
          </a:p>
        </p:txBody>
      </p:sp>
      <p:sp>
        <p:nvSpPr>
          <p:cNvPr id="30" name="TextBox 6"/>
          <p:cNvSpPr txBox="1"/>
          <p:nvPr/>
        </p:nvSpPr>
        <p:spPr>
          <a:xfrm>
            <a:off x="621792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方法                  PSNR(dB)   SSIM</a:t>
            </a:r>
            <a:br/>
            <a:r>
              <a:t>─────────────────────────────</a:t>
            </a:r>
            <a:br/>
            <a:r>
              <a:t>IMDN fixed LR        33.4615   0.9893</a:t>
            </a:r>
            <a:br/>
            <a:r>
              <a:t>IMDN StepLR          33.5251   0.9892</a:t>
            </a:r>
            <a:br/>
            <a:r>
              <a:t>IMDN CosineLR        33.5176   0.9891</a:t>
            </a:r>
            <a:br/>
            <a:r>
              <a:t>CA-IMDN fixed LR     33.4801   0.9893</a:t>
            </a:r>
            <a:br/>
            <a:r>
              <a:t>CA-IMDN + Edge       33.6396   0.9894</a:t>
            </a:r>
            <a:br/>
            <a:r>
              <a:t>CA-IMDN CosineLR     33.5963   0.9892</a:t>
            </a:r>
            <a:br/>
            <a:r>
              <a:t>CA-IMDN 50ep         33.0275   0.9899</a:t>
            </a:r>
            <a:br/>
            <a:br/>
            <a:r>
              <a:t>结论：</a:t>
            </a:r>
            <a:br/>
            <a:r>
              <a:t>• 学习率调度带来小幅提升</a:t>
            </a:r>
            <a:br/>
            <a:r>
              <a:t>• CA-IMDN 20ep表现良好，</a:t>
            </a:r>
            <a:br/>
            <a:r>
              <a:t>  50ep出现PSNR下降（需早停）</a:t>
            </a:r>
          </a:p>
        </p:txBody>
      </p:sp>
      <p:sp>
        <p:nvSpPr>
          <p:cNvPr id="31" name="TextBox 7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三、标准Benchmark评估 (IMDN 50epoch)</a:t>
            </a:r>
          </a:p>
        </p:txBody>
      </p:sp>
      <p:sp>
        <p:nvSpPr>
          <p:cNvPr id="32" name="Rectangle 8"/>
          <p:cNvSpPr/>
          <p:nvPr/>
        </p:nvSpPr>
        <p:spPr>
          <a:xfrm>
            <a:off x="1828800" y="4754880"/>
            <a:ext cx="8534095" cy="1463040"/>
          </a:xfrm>
          <a:prstGeom prst="rect">
            <a:avLst/>
          </a:prstGeom>
          <a:solidFill>
            <a:srgbClr val="F0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9"/>
          <p:cNvSpPr txBox="1"/>
          <p:nvPr/>
        </p:nvSpPr>
        <p:spPr>
          <a:xfrm>
            <a:off x="192024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数据集</a:t>
            </a:r>
          </a:p>
        </p:txBody>
      </p:sp>
      <p:sp>
        <p:nvSpPr>
          <p:cNvPr id="34" name="TextBox 10"/>
          <p:cNvSpPr txBox="1"/>
          <p:nvPr/>
        </p:nvSpPr>
        <p:spPr>
          <a:xfrm>
            <a:off x="301752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图像数</a:t>
            </a:r>
          </a:p>
        </p:txBody>
      </p:sp>
      <p:sp>
        <p:nvSpPr>
          <p:cNvPr id="35" name="TextBox 11"/>
          <p:cNvSpPr txBox="1"/>
          <p:nvPr/>
        </p:nvSpPr>
        <p:spPr>
          <a:xfrm>
            <a:off x="411480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Bicubic PSNR</a:t>
            </a:r>
          </a:p>
        </p:txBody>
      </p:sp>
      <p:sp>
        <p:nvSpPr>
          <p:cNvPr id="36" name="TextBox 12"/>
          <p:cNvSpPr txBox="1"/>
          <p:nvPr/>
        </p:nvSpPr>
        <p:spPr>
          <a:xfrm>
            <a:off x="530352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IMDN PSNR</a:t>
            </a:r>
          </a:p>
        </p:txBody>
      </p:sp>
      <p:sp>
        <p:nvSpPr>
          <p:cNvPr id="37" name="TextBox 13"/>
          <p:cNvSpPr txBox="1"/>
          <p:nvPr/>
        </p:nvSpPr>
        <p:spPr>
          <a:xfrm>
            <a:off x="640080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ΔPSNR</a:t>
            </a:r>
          </a:p>
        </p:txBody>
      </p:sp>
      <p:sp>
        <p:nvSpPr>
          <p:cNvPr id="38" name="TextBox 14"/>
          <p:cNvSpPr txBox="1"/>
          <p:nvPr/>
        </p:nvSpPr>
        <p:spPr>
          <a:xfrm>
            <a:off x="758952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Bicubic SSIM</a:t>
            </a:r>
          </a:p>
        </p:txBody>
      </p:sp>
      <p:sp>
        <p:nvSpPr>
          <p:cNvPr id="39" name="TextBox 15"/>
          <p:cNvSpPr txBox="1"/>
          <p:nvPr/>
        </p:nvSpPr>
        <p:spPr>
          <a:xfrm>
            <a:off x="8961120" y="48006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IMDN SSIM</a:t>
            </a:r>
          </a:p>
        </p:txBody>
      </p:sp>
      <p:sp>
        <p:nvSpPr>
          <p:cNvPr id="40" name="TextBox 16"/>
          <p:cNvSpPr txBox="1"/>
          <p:nvPr/>
        </p:nvSpPr>
        <p:spPr>
          <a:xfrm>
            <a:off x="192024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Set5</a:t>
            </a:r>
          </a:p>
        </p:txBody>
      </p:sp>
      <p:sp>
        <p:nvSpPr>
          <p:cNvPr id="41" name="TextBox 17"/>
          <p:cNvSpPr txBox="1"/>
          <p:nvPr/>
        </p:nvSpPr>
        <p:spPr>
          <a:xfrm>
            <a:off x="301752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5</a:t>
            </a:r>
          </a:p>
        </p:txBody>
      </p:sp>
      <p:sp>
        <p:nvSpPr>
          <p:cNvPr id="42" name="TextBox 18"/>
          <p:cNvSpPr txBox="1"/>
          <p:nvPr/>
        </p:nvSpPr>
        <p:spPr>
          <a:xfrm>
            <a:off x="411480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33.71</a:t>
            </a:r>
          </a:p>
        </p:txBody>
      </p:sp>
      <p:sp>
        <p:nvSpPr>
          <p:cNvPr id="43" name="TextBox 19"/>
          <p:cNvSpPr txBox="1"/>
          <p:nvPr/>
        </p:nvSpPr>
        <p:spPr>
          <a:xfrm>
            <a:off x="530352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35.97</a:t>
            </a:r>
          </a:p>
        </p:txBody>
      </p:sp>
      <p:sp>
        <p:nvSpPr>
          <p:cNvPr id="44" name="TextBox 20"/>
          <p:cNvSpPr txBox="1"/>
          <p:nvPr/>
        </p:nvSpPr>
        <p:spPr>
          <a:xfrm>
            <a:off x="640080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+2.25</a:t>
            </a:r>
          </a:p>
        </p:txBody>
      </p:sp>
      <p:sp>
        <p:nvSpPr>
          <p:cNvPr id="45" name="TextBox 21"/>
          <p:cNvSpPr txBox="1"/>
          <p:nvPr/>
        </p:nvSpPr>
        <p:spPr>
          <a:xfrm>
            <a:off x="758952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0.9931</a:t>
            </a:r>
          </a:p>
        </p:txBody>
      </p:sp>
      <p:sp>
        <p:nvSpPr>
          <p:cNvPr id="46" name="TextBox 22"/>
          <p:cNvSpPr txBox="1"/>
          <p:nvPr/>
        </p:nvSpPr>
        <p:spPr>
          <a:xfrm>
            <a:off x="8961120" y="5074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0.9967</a:t>
            </a:r>
          </a:p>
        </p:txBody>
      </p:sp>
      <p:sp>
        <p:nvSpPr>
          <p:cNvPr id="47" name="TextBox 23"/>
          <p:cNvSpPr txBox="1"/>
          <p:nvPr/>
        </p:nvSpPr>
        <p:spPr>
          <a:xfrm>
            <a:off x="1920240" y="5330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Set14</a:t>
            </a:r>
          </a:p>
        </p:txBody>
      </p:sp>
      <p:sp>
        <p:nvSpPr>
          <p:cNvPr id="48" name="TextBox 24"/>
          <p:cNvSpPr txBox="1"/>
          <p:nvPr/>
        </p:nvSpPr>
        <p:spPr>
          <a:xfrm>
            <a:off x="3017520" y="5330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14</a:t>
            </a:r>
          </a:p>
        </p:txBody>
      </p:sp>
      <p:sp>
        <p:nvSpPr>
          <p:cNvPr id="49" name="TextBox 25"/>
          <p:cNvSpPr txBox="1"/>
          <p:nvPr/>
        </p:nvSpPr>
        <p:spPr>
          <a:xfrm>
            <a:off x="4114800" y="5330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29.95</a:t>
            </a:r>
          </a:p>
        </p:txBody>
      </p:sp>
      <p:sp>
        <p:nvSpPr>
          <p:cNvPr id="50" name="TextBox 26"/>
          <p:cNvSpPr txBox="1"/>
          <p:nvPr/>
        </p:nvSpPr>
        <p:spPr>
          <a:xfrm>
            <a:off x="5303520" y="5330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31.20</a:t>
            </a:r>
          </a:p>
        </p:txBody>
      </p:sp>
      <p:sp>
        <p:nvSpPr>
          <p:cNvPr id="51" name="TextBox 27"/>
          <p:cNvSpPr txBox="1"/>
          <p:nvPr/>
        </p:nvSpPr>
        <p:spPr>
          <a:xfrm>
            <a:off x="6400800" y="5330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+1.25</a:t>
            </a:r>
          </a:p>
        </p:txBody>
      </p:sp>
      <p:sp>
        <p:nvSpPr>
          <p:cNvPr id="52" name="TextBox 28"/>
          <p:cNvSpPr txBox="1"/>
          <p:nvPr/>
        </p:nvSpPr>
        <p:spPr>
          <a:xfrm>
            <a:off x="7589520" y="5330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0.9783</a:t>
            </a:r>
          </a:p>
        </p:txBody>
      </p:sp>
      <p:sp>
        <p:nvSpPr>
          <p:cNvPr id="53" name="TextBox 29"/>
          <p:cNvSpPr txBox="1"/>
          <p:nvPr/>
        </p:nvSpPr>
        <p:spPr>
          <a:xfrm>
            <a:off x="8961120" y="5330952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0.9832</a:t>
            </a:r>
          </a:p>
        </p:txBody>
      </p:sp>
      <p:sp>
        <p:nvSpPr>
          <p:cNvPr id="54" name="TextBox 30"/>
          <p:cNvSpPr txBox="1"/>
          <p:nvPr/>
        </p:nvSpPr>
        <p:spPr>
          <a:xfrm>
            <a:off x="1920240" y="558698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BSD100</a:t>
            </a:r>
          </a:p>
        </p:txBody>
      </p:sp>
      <p:sp>
        <p:nvSpPr>
          <p:cNvPr id="55" name="TextBox 31"/>
          <p:cNvSpPr txBox="1"/>
          <p:nvPr/>
        </p:nvSpPr>
        <p:spPr>
          <a:xfrm>
            <a:off x="3017520" y="558698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100</a:t>
            </a:r>
          </a:p>
        </p:txBody>
      </p:sp>
      <p:sp>
        <p:nvSpPr>
          <p:cNvPr id="56" name="TextBox 32"/>
          <p:cNvSpPr txBox="1"/>
          <p:nvPr/>
        </p:nvSpPr>
        <p:spPr>
          <a:xfrm>
            <a:off x="4114800" y="558698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27.46</a:t>
            </a:r>
          </a:p>
        </p:txBody>
      </p:sp>
      <p:sp>
        <p:nvSpPr>
          <p:cNvPr id="57" name="TextBox 33"/>
          <p:cNvSpPr txBox="1"/>
          <p:nvPr/>
        </p:nvSpPr>
        <p:spPr>
          <a:xfrm>
            <a:off x="5303520" y="558698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27.27</a:t>
            </a:r>
          </a:p>
        </p:txBody>
      </p:sp>
      <p:sp>
        <p:nvSpPr>
          <p:cNvPr id="58" name="TextBox 34"/>
          <p:cNvSpPr txBox="1"/>
          <p:nvPr/>
        </p:nvSpPr>
        <p:spPr>
          <a:xfrm>
            <a:off x="6400800" y="558698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5050"/>
                </a:solidFill>
                <a:latin typeface="微软雅黑" panose="020B0503020204020204" pitchFamily="34" charset="-122"/>
              </a:defRPr>
            </a:pPr>
            <a:r>
              <a:t>-0.18</a:t>
            </a:r>
          </a:p>
        </p:txBody>
      </p:sp>
      <p:sp>
        <p:nvSpPr>
          <p:cNvPr id="59" name="TextBox 35"/>
          <p:cNvSpPr txBox="1"/>
          <p:nvPr/>
        </p:nvSpPr>
        <p:spPr>
          <a:xfrm>
            <a:off x="7589520" y="558698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0.9541</a:t>
            </a:r>
          </a:p>
        </p:txBody>
      </p:sp>
      <p:sp>
        <p:nvSpPr>
          <p:cNvPr id="60" name="TextBox 36"/>
          <p:cNvSpPr txBox="1"/>
          <p:nvPr/>
        </p:nvSpPr>
        <p:spPr>
          <a:xfrm>
            <a:off x="8961120" y="5586983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0.9541</a:t>
            </a:r>
          </a:p>
        </p:txBody>
      </p:sp>
      <p:sp>
        <p:nvSpPr>
          <p:cNvPr id="61" name="TextBox 37"/>
          <p:cNvSpPr txBox="1"/>
          <p:nvPr/>
        </p:nvSpPr>
        <p:spPr>
          <a:xfrm>
            <a:off x="1920240" y="58430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Urban100</a:t>
            </a:r>
          </a:p>
        </p:txBody>
      </p:sp>
      <p:sp>
        <p:nvSpPr>
          <p:cNvPr id="62" name="TextBox 38"/>
          <p:cNvSpPr txBox="1"/>
          <p:nvPr/>
        </p:nvSpPr>
        <p:spPr>
          <a:xfrm>
            <a:off x="3017520" y="58430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100</a:t>
            </a:r>
          </a:p>
        </p:txBody>
      </p:sp>
      <p:sp>
        <p:nvSpPr>
          <p:cNvPr id="63" name="TextBox 39"/>
          <p:cNvSpPr txBox="1"/>
          <p:nvPr/>
        </p:nvSpPr>
        <p:spPr>
          <a:xfrm>
            <a:off x="4114800" y="58430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26.92</a:t>
            </a:r>
          </a:p>
        </p:txBody>
      </p:sp>
      <p:sp>
        <p:nvSpPr>
          <p:cNvPr id="64" name="TextBox 40"/>
          <p:cNvSpPr txBox="1"/>
          <p:nvPr/>
        </p:nvSpPr>
        <p:spPr>
          <a:xfrm>
            <a:off x="5303520" y="58430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28.78</a:t>
            </a:r>
          </a:p>
        </p:txBody>
      </p:sp>
      <p:sp>
        <p:nvSpPr>
          <p:cNvPr id="65" name="TextBox 41"/>
          <p:cNvSpPr txBox="1"/>
          <p:nvPr/>
        </p:nvSpPr>
        <p:spPr>
          <a:xfrm>
            <a:off x="6400800" y="58430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+1.86</a:t>
            </a:r>
          </a:p>
        </p:txBody>
      </p:sp>
      <p:sp>
        <p:nvSpPr>
          <p:cNvPr id="66" name="TextBox 42"/>
          <p:cNvSpPr txBox="1"/>
          <p:nvPr/>
        </p:nvSpPr>
        <p:spPr>
          <a:xfrm>
            <a:off x="7589520" y="58430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0.9682</a:t>
            </a:r>
          </a:p>
        </p:txBody>
      </p:sp>
      <p:sp>
        <p:nvSpPr>
          <p:cNvPr id="67" name="TextBox 43"/>
          <p:cNvSpPr txBox="1"/>
          <p:nvPr/>
        </p:nvSpPr>
        <p:spPr>
          <a:xfrm>
            <a:off x="8961120" y="5843016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0.9784</a:t>
            </a:r>
          </a:p>
        </p:txBody>
      </p:sp>
      <p:sp>
        <p:nvSpPr>
          <p:cNvPr id="68" name="TextBox 44"/>
          <p:cNvSpPr txBox="1"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08080"/>
                </a:solidFill>
                <a:latin typeface="微软雅黑" panose="020B0503020204020204" pitchFamily="34" charset="-122"/>
              </a:defRPr>
            </a:pPr>
            <a:r>
              <a:t>BSD100上PSNR略低但SSIM持平，说明自然图像集合中Bicubic仍有优势区域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710" y="410210"/>
            <a:ext cx="6651625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实验设置与结果</a:t>
            </a:r>
            <a:r>
              <a:rPr lang="en-US" altLang="zh-CN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 - </a:t>
            </a:r>
            <a:r>
              <a:rPr lang="zh-CN" altLang="en-US" sz="3200" b="1" kern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感知质量与局限性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一、感知质量指标 (DIV2K验证集)</a:t>
            </a:r>
          </a:p>
        </p:txBody>
      </p:sp>
      <p:sp>
        <p:nvSpPr>
          <p:cNvPr id="29" name="TextBox 4"/>
          <p:cNvSpPr txBox="1"/>
          <p:nvPr/>
        </p:nvSpPr>
        <p:spPr>
          <a:xfrm>
            <a:off x="457200" y="1554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方法              LPIPS ↓      NIQE ↓</a:t>
            </a:r>
            <a:br/>
            <a:r>
              <a:t>─────────────────────────────</a:t>
            </a:r>
            <a:br/>
            <a:r>
              <a:t>Bicubic          0.1830      4.7523</a:t>
            </a:r>
            <a:br/>
            <a:r>
              <a:t>IMDN 50ep        0.1197      4.9214</a:t>
            </a:r>
            <a:br/>
            <a:br/>
            <a:r>
              <a:t>• LPIPS (越低越好)：</a:t>
            </a:r>
            <a:br/>
            <a:r>
              <a:t>  IMDN 50ep明显低于Bicubic，</a:t>
            </a:r>
            <a:br/>
            <a:r>
              <a:t>  说明输出在感知特征空间中</a:t>
            </a:r>
            <a:br/>
            <a:r>
              <a:t>  更接近HR图像</a:t>
            </a:r>
            <a:br/>
            <a:br/>
            <a:r>
              <a:t>• NIQE (越低越好)：</a:t>
            </a:r>
            <a:br/>
            <a:r>
              <a:t>  IMDN 50ep略高于Bicubic，</a:t>
            </a:r>
            <a:br/>
            <a:r>
              <a:t>  说明增强纹理时可能引入</a:t>
            </a:r>
            <a:br/>
            <a:r>
              <a:t>  少量不符合自然图像统计的响应</a:t>
            </a:r>
            <a:br/>
            <a:br/>
            <a:r>
              <a:t>结论：像素保真、结构相似性和</a:t>
            </a:r>
            <a:br/>
            <a:r>
              <a:t>无参考自然度并不总是同步提升</a:t>
            </a:r>
          </a:p>
        </p:txBody>
      </p:sp>
      <p:sp>
        <p:nvSpPr>
          <p:cNvPr id="30" name="TextBox 5"/>
          <p:cNvSpPr txBox="1"/>
          <p:nvPr/>
        </p:nvSpPr>
        <p:spPr>
          <a:xfrm>
            <a:off x="62179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二、可靠性与局限性</a:t>
            </a:r>
          </a:p>
        </p:txBody>
      </p:sp>
      <p:sp>
        <p:nvSpPr>
          <p:cNvPr id="31" name="TextBox 6"/>
          <p:cNvSpPr txBox="1"/>
          <p:nvPr/>
        </p:nvSpPr>
        <p:spPr>
          <a:xfrm>
            <a:off x="6217920" y="15544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可靠性保障：</a:t>
            </a:r>
            <a:br/>
            <a:r>
              <a:t>• 所有指标基于DIV2K验证集100张图像</a:t>
            </a:r>
            <a:br/>
            <a:r>
              <a:t>• 各方法使用同一组LR输入和HR目标</a:t>
            </a:r>
            <a:br/>
            <a:r>
              <a:t>• 实验产物包括推理图像、CSV指标、</a:t>
            </a:r>
            <a:br/>
            <a:r>
              <a:t>  训练日志和模型checkpoint</a:t>
            </a:r>
            <a:br/>
            <a:r>
              <a:t>• 报告正文超过6000字，满足要求</a:t>
            </a:r>
            <a:br/>
            <a:br/>
            <a:r>
              <a:t>局限性：</a:t>
            </a:r>
            <a:br/>
            <a:r>
              <a:t>① 每张训练图仅随机抽取有限LR patch，</a:t>
            </a:r>
            <a:br/>
            <a:r>
              <a:t>   不能充分覆盖纹理和边缘区域</a:t>
            </a:r>
            <a:br/>
            <a:r>
              <a:t>② SRCNN未训练到50epoch，不能代表</a:t>
            </a:r>
            <a:br/>
            <a:r>
              <a:t>   浅层模型收敛上限</a:t>
            </a:r>
            <a:br/>
            <a:r>
              <a:t>③ CA-IMDN 50ep出现PSNR下降，需</a:t>
            </a:r>
            <a:br/>
            <a:r>
              <a:t>   更细的学习率和早停策略</a:t>
            </a:r>
            <a:br/>
            <a:r>
              <a:t>④ LPIPS/NIQE属于自动指标，不能</a:t>
            </a:r>
            <a:br/>
            <a:r>
              <a:t>   完全替代人工主观评价</a:t>
            </a:r>
            <a:br/>
            <a:r>
              <a:t>⑤ BSD100上PSNR未超过Bicubic，</a:t>
            </a:r>
            <a:br/>
            <a:r>
              <a:t>   泛化能力仍不完全稳定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457200" y="527431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三、下一步实验规划</a:t>
            </a:r>
          </a:p>
        </p:txBody>
      </p:sp>
      <p:sp>
        <p:nvSpPr>
          <p:cNvPr id="33" name="Rounded Rectangle 8"/>
          <p:cNvSpPr/>
          <p:nvPr/>
        </p:nvSpPr>
        <p:spPr>
          <a:xfrm>
            <a:off x="457200" y="5640070"/>
            <a:ext cx="2103120" cy="82296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9"/>
          <p:cNvSpPr txBox="1"/>
          <p:nvPr/>
        </p:nvSpPr>
        <p:spPr>
          <a:xfrm>
            <a:off x="457200" y="568579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扩大采样</a:t>
            </a:r>
          </a:p>
        </p:txBody>
      </p:sp>
      <p:sp>
        <p:nvSpPr>
          <p:cNvPr id="35" name="TextBox 10"/>
          <p:cNvSpPr txBox="1"/>
          <p:nvPr/>
        </p:nvSpPr>
        <p:spPr>
          <a:xfrm>
            <a:off x="457200" y="596011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增加每图随机patch数量，提高纹理和边缘覆盖度</a:t>
            </a:r>
          </a:p>
        </p:txBody>
      </p:sp>
      <p:sp>
        <p:nvSpPr>
          <p:cNvPr id="36" name="Rounded Rectangle 11"/>
          <p:cNvSpPr/>
          <p:nvPr/>
        </p:nvSpPr>
        <p:spPr>
          <a:xfrm>
            <a:off x="2743200" y="5640070"/>
            <a:ext cx="2103120" cy="8229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12"/>
          <p:cNvSpPr txBox="1"/>
          <p:nvPr/>
        </p:nvSpPr>
        <p:spPr>
          <a:xfrm>
            <a:off x="2743200" y="568579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学习率搜索</a:t>
            </a:r>
          </a:p>
        </p:txBody>
      </p:sp>
      <p:sp>
        <p:nvSpPr>
          <p:cNvPr id="38" name="TextBox 13"/>
          <p:cNvSpPr txBox="1"/>
          <p:nvPr/>
        </p:nvSpPr>
        <p:spPr>
          <a:xfrm>
            <a:off x="2743200" y="596011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扩大StepLR/CosineLR网格搜索范围</a:t>
            </a:r>
          </a:p>
        </p:txBody>
      </p:sp>
      <p:sp>
        <p:nvSpPr>
          <p:cNvPr id="39" name="Rounded Rectangle 14"/>
          <p:cNvSpPr/>
          <p:nvPr/>
        </p:nvSpPr>
        <p:spPr>
          <a:xfrm>
            <a:off x="5029200" y="5640070"/>
            <a:ext cx="2103120" cy="82296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15"/>
          <p:cNvSpPr txBox="1"/>
          <p:nvPr/>
        </p:nvSpPr>
        <p:spPr>
          <a:xfrm>
            <a:off x="5029200" y="568579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标准benchmark</a:t>
            </a:r>
          </a:p>
        </p:txBody>
      </p:sp>
      <p:sp>
        <p:nvSpPr>
          <p:cNvPr id="41" name="TextBox 16"/>
          <p:cNvSpPr txBox="1"/>
          <p:nvPr/>
        </p:nvSpPr>
        <p:spPr>
          <a:xfrm>
            <a:off x="5029200" y="596011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补充自集成推理和IDB-IMDN-Lite结构分支</a:t>
            </a:r>
          </a:p>
        </p:txBody>
      </p:sp>
      <p:sp>
        <p:nvSpPr>
          <p:cNvPr id="42" name="Rounded Rectangle 17"/>
          <p:cNvSpPr/>
          <p:nvPr/>
        </p:nvSpPr>
        <p:spPr>
          <a:xfrm>
            <a:off x="7315200" y="5640070"/>
            <a:ext cx="2103120" cy="82296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18"/>
          <p:cNvSpPr txBox="1"/>
          <p:nvPr/>
        </p:nvSpPr>
        <p:spPr>
          <a:xfrm>
            <a:off x="7315200" y="568579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感知指标</a:t>
            </a:r>
          </a:p>
        </p:txBody>
      </p:sp>
      <p:sp>
        <p:nvSpPr>
          <p:cNvPr id="44" name="TextBox 19"/>
          <p:cNvSpPr txBox="1"/>
          <p:nvPr/>
        </p:nvSpPr>
        <p:spPr>
          <a:xfrm>
            <a:off x="7315200" y="596011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加入人工主观对比，弥补PSNR/SSIM感知局限</a:t>
            </a:r>
          </a:p>
        </p:txBody>
      </p:sp>
      <p:sp>
        <p:nvSpPr>
          <p:cNvPr id="45" name="Rounded Rectangle 20"/>
          <p:cNvSpPr/>
          <p:nvPr/>
        </p:nvSpPr>
        <p:spPr>
          <a:xfrm>
            <a:off x="9601200" y="5640070"/>
            <a:ext cx="2103120" cy="82296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21"/>
          <p:cNvSpPr txBox="1"/>
          <p:nvPr/>
        </p:nvSpPr>
        <p:spPr>
          <a:xfrm>
            <a:off x="9601200" y="568579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更强改进</a:t>
            </a:r>
          </a:p>
        </p:txBody>
      </p:sp>
      <p:sp>
        <p:nvSpPr>
          <p:cNvPr id="47" name="TextBox 22"/>
          <p:cNvSpPr txBox="1"/>
          <p:nvPr/>
        </p:nvSpPr>
        <p:spPr>
          <a:xfrm>
            <a:off x="9601200" y="596011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pitchFamily="34" charset="-122"/>
              </a:defRPr>
            </a:pPr>
            <a:r>
              <a:t>尝试多尺度融合或频域损失，形成更有辨识度的改进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alphaModFix amt="95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4004" b="49240"/>
          <a:stretch>
            <a:fillRect/>
          </a:stretch>
        </p:blipFill>
        <p:spPr>
          <a:xfrm flipV="1">
            <a:off x="1" y="-7"/>
            <a:ext cx="12191998" cy="3747395"/>
          </a:xfrm>
          <a:custGeom>
            <a:avLst/>
            <a:gdLst>
              <a:gd name="connsiteX0" fmla="*/ 0 w 12192000"/>
              <a:gd name="connsiteY0" fmla="*/ 2558508 h 2558508"/>
              <a:gd name="connsiteX1" fmla="*/ 12192000 w 12192000"/>
              <a:gd name="connsiteY1" fmla="*/ 2558508 h 2558508"/>
              <a:gd name="connsiteX2" fmla="*/ 12192000 w 12192000"/>
              <a:gd name="connsiteY2" fmla="*/ 0 h 2558508"/>
              <a:gd name="connsiteX3" fmla="*/ 0 w 12192000"/>
              <a:gd name="connsiteY3" fmla="*/ 0 h 2558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2558508">
                <a:moveTo>
                  <a:pt x="0" y="2558508"/>
                </a:moveTo>
                <a:lnTo>
                  <a:pt x="12192000" y="2558508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0" y="0"/>
            <a:ext cx="4732986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-3163" y="0"/>
            <a:ext cx="4763194" cy="6858000"/>
          </a:xfrm>
          <a:prstGeom prst="rect">
            <a:avLst/>
          </a:prstGeom>
          <a:gradFill>
            <a:gsLst>
              <a:gs pos="0">
                <a:srgbClr val="0070C0">
                  <a:alpha val="72135"/>
                </a:srgbClr>
              </a:gs>
              <a:gs pos="100000">
                <a:srgbClr val="3354B5">
                  <a:alpha val="80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2712949" y="1396538"/>
            <a:ext cx="8117345" cy="4064924"/>
          </a:xfrm>
          <a:custGeom>
            <a:avLst/>
            <a:gdLst>
              <a:gd name="connsiteX0" fmla="*/ 6890674 w 7586519"/>
              <a:gd name="connsiteY0" fmla="*/ 0 h 4064924"/>
              <a:gd name="connsiteX1" fmla="*/ 7446523 w 7586519"/>
              <a:gd name="connsiteY1" fmla="*/ 0 h 4064924"/>
              <a:gd name="connsiteX2" fmla="*/ 7586519 w 7586519"/>
              <a:gd name="connsiteY2" fmla="*/ 139996 h 4064924"/>
              <a:gd name="connsiteX3" fmla="*/ 7586519 w 7586519"/>
              <a:gd name="connsiteY3" fmla="*/ 705494 h 4064924"/>
              <a:gd name="connsiteX4" fmla="*/ 7484758 w 7586519"/>
              <a:gd name="connsiteY4" fmla="*/ 715752 h 4064924"/>
              <a:gd name="connsiteX5" fmla="*/ 6879532 w 7586519"/>
              <a:gd name="connsiteY5" fmla="*/ 110526 h 4064924"/>
              <a:gd name="connsiteX6" fmla="*/ 139996 w 7586519"/>
              <a:gd name="connsiteY6" fmla="*/ 0 h 4064924"/>
              <a:gd name="connsiteX7" fmla="*/ 6651650 w 7586519"/>
              <a:gd name="connsiteY7" fmla="*/ 0 h 4064924"/>
              <a:gd name="connsiteX8" fmla="*/ 6640508 w 7586519"/>
              <a:gd name="connsiteY8" fmla="*/ 110526 h 4064924"/>
              <a:gd name="connsiteX9" fmla="*/ 7484758 w 7586519"/>
              <a:gd name="connsiteY9" fmla="*/ 954776 h 4064924"/>
              <a:gd name="connsiteX10" fmla="*/ 7571078 w 7586519"/>
              <a:gd name="connsiteY10" fmla="*/ 950417 h 4064924"/>
              <a:gd name="connsiteX11" fmla="*/ 7586519 w 7586519"/>
              <a:gd name="connsiteY11" fmla="*/ 948061 h 4064924"/>
              <a:gd name="connsiteX12" fmla="*/ 7586519 w 7586519"/>
              <a:gd name="connsiteY12" fmla="*/ 3924928 h 4064924"/>
              <a:gd name="connsiteX13" fmla="*/ 7446523 w 7586519"/>
              <a:gd name="connsiteY13" fmla="*/ 4064924 h 4064924"/>
              <a:gd name="connsiteX14" fmla="*/ 139996 w 7586519"/>
              <a:gd name="connsiteY14" fmla="*/ 4064924 h 4064924"/>
              <a:gd name="connsiteX15" fmla="*/ 0 w 7586519"/>
              <a:gd name="connsiteY15" fmla="*/ 3924928 h 4064924"/>
              <a:gd name="connsiteX16" fmla="*/ 0 w 7586519"/>
              <a:gd name="connsiteY16" fmla="*/ 139996 h 4064924"/>
              <a:gd name="connsiteX17" fmla="*/ 139996 w 7586519"/>
              <a:gd name="connsiteY17" fmla="*/ 0 h 4064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7586519" h="4064924">
                <a:moveTo>
                  <a:pt x="6890674" y="0"/>
                </a:moveTo>
                <a:lnTo>
                  <a:pt x="7446523" y="0"/>
                </a:lnTo>
                <a:cubicBezTo>
                  <a:pt x="7523841" y="0"/>
                  <a:pt x="7586519" y="62678"/>
                  <a:pt x="7586519" y="139996"/>
                </a:cubicBezTo>
                <a:lnTo>
                  <a:pt x="7586519" y="705494"/>
                </a:lnTo>
                <a:lnTo>
                  <a:pt x="7484758" y="715752"/>
                </a:lnTo>
                <a:cubicBezTo>
                  <a:pt x="7150501" y="715752"/>
                  <a:pt x="6879532" y="444783"/>
                  <a:pt x="6879532" y="110526"/>
                </a:cubicBezTo>
                <a:close/>
                <a:moveTo>
                  <a:pt x="139996" y="0"/>
                </a:moveTo>
                <a:lnTo>
                  <a:pt x="6651650" y="0"/>
                </a:lnTo>
                <a:lnTo>
                  <a:pt x="6640508" y="110526"/>
                </a:lnTo>
                <a:cubicBezTo>
                  <a:pt x="6640508" y="576792"/>
                  <a:pt x="7018492" y="954776"/>
                  <a:pt x="7484758" y="954776"/>
                </a:cubicBezTo>
                <a:cubicBezTo>
                  <a:pt x="7513900" y="954776"/>
                  <a:pt x="7542696" y="953300"/>
                  <a:pt x="7571078" y="950417"/>
                </a:cubicBezTo>
                <a:lnTo>
                  <a:pt x="7586519" y="948061"/>
                </a:lnTo>
                <a:lnTo>
                  <a:pt x="7586519" y="3924928"/>
                </a:lnTo>
                <a:cubicBezTo>
                  <a:pt x="7586519" y="4002246"/>
                  <a:pt x="7523841" y="4064924"/>
                  <a:pt x="7446523" y="4064924"/>
                </a:cubicBezTo>
                <a:lnTo>
                  <a:pt x="139996" y="4064924"/>
                </a:lnTo>
                <a:cubicBezTo>
                  <a:pt x="62678" y="4064924"/>
                  <a:pt x="0" y="4002246"/>
                  <a:pt x="0" y="3924928"/>
                </a:cubicBezTo>
                <a:lnTo>
                  <a:pt x="0" y="139996"/>
                </a:lnTo>
                <a:cubicBezTo>
                  <a:pt x="0" y="62678"/>
                  <a:pt x="62678" y="0"/>
                  <a:pt x="139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17500" dist="127000" dir="2700000" algn="tl" rotWithShape="0">
              <a:srgbClr val="0064D8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04493" y="1396538"/>
            <a:ext cx="677108" cy="4064924"/>
            <a:chOff x="26301" y="1138131"/>
            <a:chExt cx="677108" cy="4064924"/>
          </a:xfrm>
        </p:grpSpPr>
        <p:sp>
          <p:nvSpPr>
            <p:cNvPr id="10" name="文本框 9"/>
            <p:cNvSpPr txBox="1"/>
            <p:nvPr/>
          </p:nvSpPr>
          <p:spPr>
            <a:xfrm>
              <a:off x="26301" y="1138131"/>
              <a:ext cx="677108" cy="287805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en-US" altLang="zh-CN" sz="1600" dirty="0">
                  <a:solidFill>
                    <a:srgbClr val="0E6BC9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SOUTHWEST JIAOTONG UNIVERSITY</a:t>
              </a:r>
              <a:endParaRPr lang="zh-CN" altLang="en-US" sz="1600" dirty="0">
                <a:solidFill>
                  <a:srgbClr val="0E6BC9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482600" y="3845518"/>
              <a:ext cx="0" cy="1357537"/>
            </a:xfrm>
            <a:prstGeom prst="line">
              <a:avLst/>
            </a:prstGeom>
            <a:ln w="12700">
              <a:solidFill>
                <a:srgbClr val="316AE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>
            <a:off x="3397184" y="1550560"/>
            <a:ext cx="3611880" cy="2345475"/>
            <a:chOff x="497375" y="1211712"/>
            <a:chExt cx="3611880" cy="2345475"/>
          </a:xfrm>
        </p:grpSpPr>
        <p:sp>
          <p:nvSpPr>
            <p:cNvPr id="6" name="文本框 5"/>
            <p:cNvSpPr txBox="1"/>
            <p:nvPr/>
          </p:nvSpPr>
          <p:spPr>
            <a:xfrm>
              <a:off x="497375" y="2635167"/>
              <a:ext cx="3611880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8000">
                  <a:solidFill>
                    <a:schemeClr val="accent1">
                      <a:lumMod val="40000"/>
                      <a:lumOff val="60000"/>
                    </a:schemeClr>
                  </a:solidFill>
                  <a:latin typeface="OPPOSans H" panose="00020600040101010101" pitchFamily="18" charset="-122"/>
                  <a:ea typeface="OPPOSans H" panose="00020600040101010101" pitchFamily="18" charset="-122"/>
                  <a:cs typeface="OPPOSans H" panose="00020600040101010101" pitchFamily="18" charset="-122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308FF0">
                      <a:lumMod val="7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结论与展望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308FF0">
                    <a:lumMod val="7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522775" y="1211712"/>
              <a:ext cx="1426210" cy="14452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800" b="1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22000">
                        <a:srgbClr val="0655D3"/>
                      </a:gs>
                      <a:gs pos="86000">
                        <a:srgbClr val="0655D3">
                          <a:alpha val="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Arial" panose="020B0604020202020204" pitchFamily="34" charset="0"/>
                  <a:ea typeface="OPPOSans B"/>
                  <a:cs typeface="Arial" panose="020B0604020202020204" pitchFamily="34" charset="0"/>
                </a:rPr>
                <a:t>05</a:t>
              </a:r>
              <a:endParaRPr kumimoji="0" lang="zh-CN" altLang="en-US" sz="8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22000">
                      <a:srgbClr val="0655D3"/>
                    </a:gs>
                    <a:gs pos="86000">
                      <a:srgbClr val="0655D3">
                        <a:alpha val="0"/>
                      </a:srgbClr>
                    </a:gs>
                  </a:gsLst>
                  <a:lin ang="5400000" scaled="1"/>
                </a:gradFill>
                <a:effectLst/>
                <a:uLnTx/>
                <a:uFillTx/>
                <a:latin typeface="Arial" panose="020B0604020202020204" pitchFamily="34" charset="0"/>
                <a:ea typeface="OPPOSans B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线连接符 21"/>
          <p:cNvCxnSpPr/>
          <p:nvPr/>
        </p:nvCxnSpPr>
        <p:spPr>
          <a:xfrm>
            <a:off x="3508081" y="4676038"/>
            <a:ext cx="1251950" cy="6730"/>
          </a:xfrm>
          <a:prstGeom prst="line">
            <a:avLst/>
          </a:prstGeom>
          <a:ln w="28575">
            <a:solidFill>
              <a:srgbClr val="0E6BC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10509108" y="6325674"/>
            <a:ext cx="132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4447096A-5CB9-A449-9521-AD82728A312D}" type="slidenum">
              <a:rPr kumimoji="1" lang="zh-CN" altLang="en-US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1" lang="zh-CN" altLang="en-US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22650" y="3961130"/>
            <a:ext cx="63296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746D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主要发现、局限性与后续改进方向</a:t>
            </a:r>
            <a:endParaRPr kumimoji="0" lang="zh-CN" altLang="en-US" sz="1800" u="none" strike="noStrike" kern="1200" cap="none" spc="0" normalizeH="0" baseline="0" noProof="0" dirty="0">
              <a:ln>
                <a:noFill/>
              </a:ln>
              <a:solidFill>
                <a:srgbClr val="746D6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55571" y="429682"/>
            <a:ext cx="438284" cy="239186"/>
            <a:chOff x="450426" y="460569"/>
            <a:chExt cx="314885" cy="171843"/>
          </a:xfrm>
          <a:gradFill flip="none" rotWithShape="1">
            <a:gsLst>
              <a:gs pos="82000">
                <a:srgbClr val="0086CE">
                  <a:alpha val="0"/>
                </a:srgbClr>
              </a:gs>
              <a:gs pos="18000">
                <a:srgbClr val="006FAC"/>
              </a:gs>
            </a:gsLst>
            <a:lin ang="2700000" scaled="1"/>
            <a:tileRect/>
          </a:gradFill>
        </p:grpSpPr>
        <p:sp>
          <p:nvSpPr>
            <p:cNvPr id="3" name="椭圆 2"/>
            <p:cNvSpPr/>
            <p:nvPr/>
          </p:nvSpPr>
          <p:spPr>
            <a:xfrm>
              <a:off x="450426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521947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593469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64990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450426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21947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593469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664990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50426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21947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93469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64990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736511" y="460569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36511" y="532091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736511" y="603612"/>
              <a:ext cx="28800" cy="28800"/>
            </a:xfrm>
            <a:prstGeom prst="ellipse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  <a:sym typeface="+mn-lt"/>
              </a:endParaRPr>
            </a:p>
          </p:txBody>
        </p:sp>
      </p:grpSp>
      <p:sp>
        <p:nvSpPr>
          <p:cNvPr id="18" name="平行四边形 17"/>
          <p:cNvSpPr/>
          <p:nvPr/>
        </p:nvSpPr>
        <p:spPr>
          <a:xfrm flipV="1">
            <a:off x="1555396" y="754055"/>
            <a:ext cx="2959100" cy="233776"/>
          </a:xfrm>
          <a:prstGeom prst="parallelogram">
            <a:avLst/>
          </a:prstGeom>
          <a:gradFill flip="none" rotWithShape="1">
            <a:gsLst>
              <a:gs pos="0">
                <a:srgbClr val="0086CE">
                  <a:alpha val="0"/>
                </a:srgbClr>
              </a:gs>
              <a:gs pos="100000">
                <a:srgbClr val="0086CE">
                  <a:alpha val="74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54669" y="410108"/>
            <a:ext cx="3982026" cy="579755"/>
          </a:xfrm>
          <a:prstGeom prst="rect">
            <a:avLst/>
          </a:prstGeom>
          <a:noFill/>
          <a:effectLst/>
        </p:spPr>
        <p:txBody>
          <a:bodyPr wrap="square" lIns="0" tIns="43846" rIns="87691" bIns="43846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F3D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OPPOSans H" panose="00020600040101010101" pitchFamily="18" charset="-122"/>
                <a:sym typeface="+mn-lt"/>
              </a:rPr>
              <a:t>结论与展望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0F3D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 panose="00020600040101010101" pitchFamily="18" charset="-122"/>
              <a:sym typeface="+mn-lt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6756" y="298037"/>
            <a:ext cx="594505" cy="663864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-5" y="6617367"/>
            <a:ext cx="12191683" cy="240185"/>
          </a:xfrm>
          <a:prstGeom prst="rect">
            <a:avLst/>
          </a:prstGeom>
          <a:gradFill>
            <a:gsLst>
              <a:gs pos="100000">
                <a:srgbClr val="0070C0">
                  <a:alpha val="96000"/>
                </a:srgbClr>
              </a:gs>
              <a:gs pos="40000">
                <a:srgbClr val="3354B5">
                  <a:alpha val="90000"/>
                </a:srgbClr>
              </a:gs>
              <a:gs pos="0">
                <a:srgbClr val="1F2B97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OPPOSans R" pitchFamily="18" charset="-122"/>
              <a:cs typeface="+mn-cs"/>
            </a:endParaRPr>
          </a:p>
        </p:txBody>
      </p:sp>
      <p:sp>
        <p:nvSpPr>
          <p:cNvPr id="22" name="TextBox 3"/>
          <p:cNvSpPr txBox="1"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主要结论</a:t>
            </a:r>
          </a:p>
        </p:txBody>
      </p:sp>
      <p:sp>
        <p:nvSpPr>
          <p:cNvPr id="29" name="TextBox 4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1. 本文在MindSpore框架下完成了轻量级IMDN超分辨率系统的完整复现，包括数据组织、训练、推理和评估全流程</a:t>
            </a:r>
          </a:p>
        </p:txBody>
      </p:sp>
      <p:sp>
        <p:nvSpPr>
          <p:cNvPr id="30" name="TextBox 5"/>
          <p:cNvSpPr txBox="1"/>
          <p:nvPr/>
        </p:nvSpPr>
        <p:spPr>
          <a:xfrm>
            <a:off x="640080" y="2057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2. 充分训练对轻量模型至关重要：IMDN 50epoch达到34.21dB/0.9906，较Bicubic提升1.74dB，在100张验证图上均取得更高PSNR/SSIM</a:t>
            </a:r>
          </a:p>
        </p:txBody>
      </p:sp>
      <p:sp>
        <p:nvSpPr>
          <p:cNvPr id="31" name="TextBox 6"/>
          <p:cNvSpPr txBox="1"/>
          <p:nvPr/>
        </p:nvSpPr>
        <p:spPr>
          <a:xfrm>
            <a:off x="640080" y="2560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3. 短轮次训练(5ep)的IMDN未超过Bicubic，说明训练预算不足是学习型模型暂时落后的主要原因，而非结构本身无效</a:t>
            </a:r>
          </a:p>
        </p:txBody>
      </p:sp>
      <p:sp>
        <p:nvSpPr>
          <p:cNvPr id="32" name="TextBox 7"/>
          <p:cNvSpPr txBox="1"/>
          <p:nvPr/>
        </p:nvSpPr>
        <p:spPr>
          <a:xfrm>
            <a:off x="640080" y="30632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4. 边缘损失和拉普拉斯损失在当前权重设置下未稳定提升PSNR，需进一步系统调参；通道注意力+小边缘权重组合有一定收益</a:t>
            </a:r>
          </a:p>
        </p:txBody>
      </p:sp>
      <p:sp>
        <p:nvSpPr>
          <p:cNvPr id="33" name="TextBox 8"/>
          <p:cNvSpPr txBox="1"/>
          <p:nvPr/>
        </p:nvSpPr>
        <p:spPr>
          <a:xfrm>
            <a:off x="640080" y="35661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5. 标准benchmark显示IMDN在Set5/Set14/Urban100上超过Bicubic，BSD100上PSNR略低但SSIM持平，泛化能力仍有提升空间</a:t>
            </a:r>
          </a:p>
        </p:txBody>
      </p:sp>
      <p:sp>
        <p:nvSpPr>
          <p:cNvPr id="34" name="TextBox 9"/>
          <p:cNvSpPr txBox="1"/>
          <p:nvPr/>
        </p:nvSpPr>
        <p:spPr>
          <a:xfrm>
            <a:off x="45720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699"/>
                </a:solidFill>
                <a:latin typeface="微软雅黑" panose="020B0503020204020204" pitchFamily="34" charset="-122"/>
              </a:defRPr>
            </a:pPr>
            <a:r>
              <a:t>工作定位</a:t>
            </a:r>
          </a:p>
        </p:txBody>
      </p:sp>
      <p:sp>
        <p:nvSpPr>
          <p:cNvPr id="35" name="TextBox 10"/>
          <p:cNvSpPr txBox="1"/>
          <p:nvPr/>
        </p:nvSpPr>
        <p:spPr>
          <a:xfrm>
            <a:off x="640080" y="466344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微软雅黑" panose="020B0503020204020204" pitchFamily="34" charset="-122"/>
              </a:defRPr>
            </a:pPr>
            <a:r>
              <a:t>• 本文实现属于课程级简化IMDN，并非原论文完整网络的严格复现</a:t>
            </a:r>
            <a:br/>
            <a:r>
              <a:t>• 与公开IMDN benchmark相比仍存在PSNR差距，主要原因包括蒸馏模块简化、训练预算有限、评价脚本差异</a:t>
            </a:r>
            <a:br/>
            <a:r>
              <a:t>• 本文更适合作为轻量超分模型复现、消融实验和训练策略分析，不能替代IMDN原论文的性能上限</a:t>
            </a:r>
            <a:br/>
            <a:r>
              <a:t>• 已补充自集成推理接口和IDB-IMDN-Lite结构分支，为后续更接近原论文的复现提供实验接口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4447805" y="725880"/>
            <a:ext cx="3296388" cy="946061"/>
            <a:chOff x="4227156" y="597288"/>
            <a:chExt cx="3296388" cy="94606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 cstate="screen">
              <a:biLevel thresh="25000"/>
            </a:blip>
            <a:srcRect/>
            <a:stretch>
              <a:fillRect/>
            </a:stretch>
          </p:blipFill>
          <p:spPr>
            <a:xfrm>
              <a:off x="5107515" y="597288"/>
              <a:ext cx="2416029" cy="94606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screen"/>
            <a:stretch>
              <a:fillRect/>
            </a:stretch>
          </p:blipFill>
          <p:spPr>
            <a:xfrm>
              <a:off x="4227156" y="681280"/>
              <a:ext cx="733098" cy="818626"/>
            </a:xfrm>
            <a:prstGeom prst="rect">
              <a:avLst/>
            </a:prstGeom>
          </p:spPr>
        </p:pic>
      </p:grpSp>
      <p:sp>
        <p:nvSpPr>
          <p:cNvPr id="5" name="文本框 4"/>
          <p:cNvSpPr txBox="1"/>
          <p:nvPr/>
        </p:nvSpPr>
        <p:spPr>
          <a:xfrm>
            <a:off x="3056467" y="4856425"/>
            <a:ext cx="61129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300" normalizeH="0" baseline="0" noProof="0" dirty="0">
                <a:ln>
                  <a:noFill/>
                </a:ln>
                <a:solidFill>
                  <a:srgbClr val="FFC000">
                    <a:lumMod val="20000"/>
                    <a:lumOff val="8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组员：程泽凯、王晨羽、金井直</a:t>
            </a:r>
            <a:endParaRPr kumimoji="0" lang="zh-CN" altLang="en-US" sz="1600" b="0" i="0" u="none" strike="noStrike" kern="1200" cap="none" spc="300" normalizeH="0" baseline="0" noProof="0" dirty="0">
              <a:ln>
                <a:noFill/>
              </a:ln>
              <a:solidFill>
                <a:srgbClr val="FFC000">
                  <a:lumMod val="20000"/>
                  <a:lumOff val="8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1201" y="3354826"/>
            <a:ext cx="10803464" cy="483221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00" cap="none" spc="600" normalizeH="0" baseline="0" noProof="0" dirty="0">
                <a:ln>
                  <a:noFill/>
                </a:ln>
                <a:gradFill>
                  <a:gsLst>
                    <a:gs pos="100000">
                      <a:schemeClr val="accent5">
                        <a:lumMod val="60000"/>
                        <a:lumOff val="40000"/>
                      </a:schemeClr>
                    </a:gs>
                    <a:gs pos="0">
                      <a:schemeClr val="bg1"/>
                    </a:gs>
                  </a:gsLst>
                  <a:lin ang="5400000" scaled="0"/>
                </a:gradFill>
                <a:effectLst>
                  <a:outerShdw blurRad="190500" dist="38100" dir="2700000" sx="101000" sy="101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感谢聆听</a:t>
            </a:r>
            <a:endParaRPr kumimoji="0" lang="zh-CN" altLang="zh-CN" sz="9600" b="1" i="0" u="none" strike="noStrike" kern="100" cap="none" spc="600" normalizeH="0" baseline="0" noProof="0" dirty="0">
              <a:ln>
                <a:noFill/>
              </a:ln>
              <a:gradFill>
                <a:gsLst>
                  <a:gs pos="100000">
                    <a:schemeClr val="accent5">
                      <a:lumMod val="60000"/>
                      <a:lumOff val="40000"/>
                    </a:schemeClr>
                  </a:gs>
                  <a:gs pos="0">
                    <a:schemeClr val="bg1"/>
                  </a:gs>
                </a:gsLst>
                <a:lin ang="5400000" scaled="0"/>
              </a:gradFill>
              <a:effectLst>
                <a:outerShdw blurRad="190500" dist="38100" dir="2700000" sx="101000" sy="101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43200" y="6462294"/>
            <a:ext cx="6705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400" spc="300" dirty="0">
                <a:solidFill>
                  <a:srgbClr val="1D54B1">
                    <a:alpha val="5067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竢实扬华 自强不息 </a:t>
            </a:r>
            <a:endParaRPr lang="zh-CN" altLang="en-US" sz="1400" spc="300" dirty="0">
              <a:solidFill>
                <a:srgbClr val="1D54B1">
                  <a:alpha val="5067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2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3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4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5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6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7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8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9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0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1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2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3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4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5.xml><?xml version="1.0" encoding="utf-8"?>
<p:tagLst xmlns:p="http://schemas.openxmlformats.org/presentationml/2006/main">
  <p:tag name="KSO_WM_DIAGRAM_VIRTUALLY_FRAME" val="{&quot;height&quot;:312.53818897637797,&quot;left&quot;:105.59763779527559,&quot;top&quot;:51.25748031496063,&quot;width&quot;:425.6345669291339}"/>
</p:tagLst>
</file>

<file path=ppt/tags/tag16.xml><?xml version="1.0" encoding="utf-8"?>
<p:tagLst xmlns:p="http://schemas.openxmlformats.org/presentationml/2006/main">
  <p:tag name="ISLIDE.THEME" val="https://www.islide.cc;"/>
</p:tagLst>
</file>

<file path=ppt/tags/tag17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8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19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0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1.xml><?xml version="1.0" encoding="utf-8"?>
<p:tagLst xmlns:p="http://schemas.openxmlformats.org/presentationml/2006/main">
  <p:tag name="ISLIDE.ICON" val="#405306;#405306;#176655;#144938;#379819;#381359;#103426;#151908;#151912;#136267;#136272;#401141;#111092;#55630;#94932;#404551;#173460;#173335;#137850;#172936;#157394;#379667;#379671;#379602;#379598;#379609;#68757;#160662;#145078;"/>
</p:tagLst>
</file>

<file path=ppt/tags/tag22.xml><?xml version="1.0" encoding="utf-8"?>
<p:tagLst xmlns:p="http://schemas.openxmlformats.org/presentationml/2006/main">
  <p:tag name="commondata" val="eyJoZGlkIjoiN2M1ZDMzMzY5NDRlMDhlNTM3MDI1ODFiY2I1OWNiNzQifQ=="/>
</p:tagLst>
</file>

<file path=ppt/theme/theme1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5807</Words>
  <Application>WPS 演示</Application>
  <PresentationFormat>宽屏</PresentationFormat>
  <Paragraphs>584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36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Times New Roman</vt:lpstr>
      <vt:lpstr>OPPOSans R</vt:lpstr>
      <vt:lpstr>Arial</vt:lpstr>
      <vt:lpstr>OPPOSans B</vt:lpstr>
      <vt:lpstr>思源宋体 CN Heavy</vt:lpstr>
      <vt:lpstr>OPPOSans H</vt:lpstr>
      <vt:lpstr>楷体</vt:lpstr>
      <vt:lpstr>Impact</vt:lpstr>
      <vt:lpstr>微软雅黑 Light</vt:lpstr>
      <vt:lpstr>仿宋_GB2312</vt:lpstr>
      <vt:lpstr>仿宋</vt:lpstr>
      <vt:lpstr>思源黑体 CN Regular</vt:lpstr>
      <vt:lpstr>思源宋体 CN Heavy</vt:lpstr>
      <vt:lpstr>Arial Unicode MS</vt:lpstr>
      <vt:lpstr>OPPOSans B</vt:lpstr>
      <vt:lpstr>Segoe Print</vt:lpstr>
      <vt:lpstr>Calibri</vt:lpstr>
      <vt:lpstr>字魂58号-创中黑</vt:lpstr>
      <vt:lpstr>字魂36号-正文宋楷</vt:lpstr>
      <vt:lpstr>等线</vt:lpstr>
      <vt:lpstr>黑体</vt:lpstr>
      <vt:lpstr>Calibri</vt:lpstr>
      <vt:lpstr>OPPOSans B</vt:lpstr>
      <vt:lpstr>OPPOSans H</vt:lpstr>
      <vt:lpstr>OPPOSans R</vt:lpstr>
      <vt:lpstr>Wingdings</vt:lpstr>
      <vt:lpstr>仿宋_GB2312</vt:lpstr>
      <vt:lpstr>字魂36号-正文宋楷</vt:lpstr>
      <vt:lpstr>字魂58号-创中黑</vt:lpstr>
      <vt:lpstr>思源宋体 CN Heavy</vt:lpstr>
      <vt:lpstr>思源黑体 CN Regular</vt:lpstr>
      <vt:lpstr>Cambria Math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海</cp:lastModifiedBy>
  <cp:revision>81</cp:revision>
  <dcterms:created xsi:type="dcterms:W3CDTF">2023-05-24T16:02:00Z</dcterms:created>
  <dcterms:modified xsi:type="dcterms:W3CDTF">2026-06-06T04:13:40Z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2F8A77E7A92F4BF6BB73D66ED58E5C18_12</vt:lpwstr>
  </property>
  <property fmtid="{D5CDD505-2E9C-101B-9397-08002B2CF9AE}" pid="3" name="KSOProductBuildVer">
    <vt:lpwstr>2052-12.1.0.26375</vt:lpwstr>
  </property>
</Properties>
</file>