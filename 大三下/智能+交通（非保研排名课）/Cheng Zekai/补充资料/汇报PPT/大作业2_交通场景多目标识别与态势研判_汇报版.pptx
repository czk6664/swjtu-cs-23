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3657600"/>
            <a:ext cx="10607040" cy="685800"/>
          </a:xfrm>
          <a:prstGeom prst="rect">
            <a:avLst/>
          </a:prstGeom>
          <a:solidFill>
            <a:srgbClr val="0F3D99"/>
          </a:solidFill>
          <a:ln>
            <a:solidFill>
              <a:srgbClr val="0F3D99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3500" b="1">
                <a:solidFill>
                  <a:srgbClr val="FFFFFF"/>
                </a:solidFill>
                <a:latin typeface="Microsoft YaHei"/>
              </a:rPr>
              <a:t>交通场景多目标精准识别与态势研判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370832"/>
            <a:ext cx="9875520" cy="411480"/>
          </a:xfrm>
          <a:prstGeom prst="rect">
            <a:avLst/>
          </a:prstGeom>
          <a:solidFill>
            <a:srgbClr val="0F3D99"/>
          </a:solidFill>
          <a:ln>
            <a:solidFill>
              <a:srgbClr val="0F3D99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0">
                <a:solidFill>
                  <a:srgbClr val="E0ECFE"/>
                </a:solidFill>
                <a:latin typeface="Microsoft YaHei"/>
              </a:rPr>
              <a:t>基于 TT100K 交通标志检测与交通流量预测的智能感知分析方案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983480"/>
            <a:ext cx="9509760" cy="347472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汇报人：程泽凯    组员：程泽凯、王晨翔、金井直  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_cont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3017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0F3D99"/>
                </a:solidFill>
                <a:latin typeface="Microsoft YaHei"/>
              </a:rPr>
              <a:t>汇报结构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0" y="1097280"/>
            <a:ext cx="694944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2E0FA"/>
            </a:solidFill>
          </a:ln>
        </p:spPr>
        <p:txBody>
          <a:bodyPr wrap="square" lIns="201168" rIns="164592" tIns="146304" bIns="146304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01 研究背景与基础要求：近三年目标检测算法调研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02 TT100K 数据集与 YOLO11n 模型结构、计算原理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03 12 类交通标志训练测试与多目标识别结果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04 改进型实验：CBAM / P2+CBAM 的真实结果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05 高阶方案：目标识别 + 交通流量预测态势研判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06 视频演示、总结与后续优化方向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_sectio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_research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132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0F3D99"/>
                </a:solidFill>
                <a:latin typeface="Microsoft YaHei"/>
              </a:rPr>
              <a:t>课程任务对齐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74320"/>
            <a:ext cx="2148840" cy="384048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基础要求 + 高阶要求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2E0FA"/>
            </a:solidFill>
          </a:ln>
        </p:spPr>
        <p:txBody>
          <a:bodyPr wrap="square" lIns="201168" rIns="164592" tIns="146304" bIns="146304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基础要求：调研近三年目标检测算法，聚焦 YOLO11n 的结构与计算原理。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实验主线：基于 TT100K 数据集选择 12 类交通标志完成训练、测试与识别分析。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改进探索：围绕小目标漏检与背景干扰，尝试 CBAM 注意力与 P2 小目标检测头。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高阶要求：综合交通标志识别与交通流量预测，形成交通态势智能感知分析方案。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_section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_model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_section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_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_section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9_experiment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132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0F3D99"/>
                </a:solidFill>
                <a:latin typeface="Microsoft YaHei"/>
              </a:rPr>
              <a:t>实验配置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74320"/>
            <a:ext cx="2148840" cy="384048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TT100K / YOLO11n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37844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2E0FA"/>
            </a:solidFill>
          </a:ln>
        </p:spPr>
        <p:txBody>
          <a:bodyPr wrap="square" lIns="201168" rIns="164592" tIns="146304" bIns="146304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数据集：TT100K 交通标志子集，12 类目标，训练/验证/测试约为 2705 / 772 / 386。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类别：限速 20-80、禁止停车、禁止鸣笛、直行、左转等交通标志。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训练设置：YOLO11n，输入尺寸 640 与 704 对比，主实验采用 704 / 50 epoch。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评价指标：Precision、Recall、mAP50、mAP50-95，并结合混淆矩阵和预测图分析。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0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132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0F3D99"/>
                </a:solidFill>
                <a:latin typeface="Microsoft YaHei"/>
              </a:rPr>
              <a:t>基础模型结果：YOLO11n 704 / 50 epoch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74320"/>
            <a:ext cx="2148840" cy="384048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真实实验结果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60120"/>
            <a:ext cx="2240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4D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D54B1"/>
                </a:solidFill>
                <a:latin typeface="Arial"/>
              </a:rPr>
              <a:t>0.7963</a:t>
            </a:r>
          </a:p>
          <a:p>
            <a:pPr algn="ctr"/>
            <a:r>
              <a:rPr sz="1200">
                <a:solidFill>
                  <a:srgbClr val="546886"/>
                </a:solidFill>
                <a:latin typeface="Microsoft YaHei"/>
              </a:rPr>
              <a:t>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960120"/>
            <a:ext cx="2240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4D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D54B1"/>
                </a:solidFill>
                <a:latin typeface="Arial"/>
              </a:rPr>
              <a:t>0.6732</a:t>
            </a:r>
          </a:p>
          <a:p>
            <a:pPr algn="ctr"/>
            <a:r>
              <a:rPr sz="1200">
                <a:solidFill>
                  <a:srgbClr val="546886"/>
                </a:solidFill>
                <a:latin typeface="Microsoft YaHei"/>
              </a:rPr>
              <a:t>Recall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79" y="960120"/>
            <a:ext cx="2240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4D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D54B1"/>
                </a:solidFill>
                <a:latin typeface="Arial"/>
              </a:rPr>
              <a:t>0.7580</a:t>
            </a:r>
          </a:p>
          <a:p>
            <a:pPr algn="ctr"/>
            <a:r>
              <a:rPr sz="1200">
                <a:solidFill>
                  <a:srgbClr val="546886"/>
                </a:solidFill>
                <a:latin typeface="Microsoft YaHei"/>
              </a:rPr>
              <a:t>mAP50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9" y="960120"/>
            <a:ext cx="2240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C4D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D54B1"/>
                </a:solidFill>
                <a:latin typeface="Arial"/>
              </a:rPr>
              <a:t>0.5313</a:t>
            </a:r>
          </a:p>
          <a:p>
            <a:pPr algn="ctr"/>
            <a:r>
              <a:rPr sz="1200">
                <a:solidFill>
                  <a:srgbClr val="546886"/>
                </a:solidFill>
                <a:latin typeface="Microsoft YaHei"/>
              </a:rPr>
              <a:t>mAP50-95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15968"/>
            <a:ext cx="102412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2E0FA"/>
            </a:solidFill>
          </a:ln>
        </p:spPr>
        <p:txBody>
          <a:bodyPr wrap="square" lIns="201168" rIns="164592" tIns="146304" bIns="146304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342"/>
                </a:solidFill>
                <a:latin typeface="Microsoft YaHei"/>
              </a:defRPr>
            </a:pPr>
            <a:r>
              <a:t>704 输入尺寸保留更多小目标细节，较 640 / 20 epoch 有明显提升。</a:t>
            </a:r>
          </a:p>
          <a:p>
            <a:pPr>
              <a:spcAft>
                <a:spcPts val="800"/>
              </a:spcAft>
              <a:defRPr sz="1700">
                <a:solidFill>
                  <a:srgbClr val="142342"/>
                </a:solidFill>
                <a:latin typeface="Microsoft YaHei"/>
              </a:defRPr>
            </a:pPr>
            <a:r>
              <a:t>50 epoch 后 mAP50 达到 0.7580，当前作为最强基线进入后续对比。</a:t>
            </a:r>
          </a:p>
          <a:p>
            <a:pPr>
              <a:spcAft>
                <a:spcPts val="800"/>
              </a:spcAft>
              <a:defRPr sz="1700">
                <a:solidFill>
                  <a:srgbClr val="142342"/>
                </a:solidFill>
                <a:latin typeface="Microsoft YaHei"/>
              </a:defRPr>
            </a:pPr>
            <a:r>
              <a:t>仍存在远距离小标志漏检、相似限速类别混淆、no_parking/no_stopping 混淆等问题。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1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132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0F3D99"/>
                </a:solidFill>
                <a:latin typeface="Microsoft YaHei"/>
              </a:rPr>
              <a:t>训练策略与结构改进对比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74320"/>
            <a:ext cx="2148840" cy="384048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消融实验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D54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D54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D54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mAP50</a:t>
                      </a:r>
                    </a:p>
                  </a:txBody>
                  <a:tcPr>
                    <a:solidFill>
                      <a:srgbClr val="1D54B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mAP50-95</a:t>
                      </a:r>
                    </a:p>
                  </a:txBody>
                  <a:tcPr>
                    <a:solidFill>
                      <a:srgbClr val="1D54B1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YOLO11n 640/20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0.6501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0.5290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0.5905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0.4089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YOLO11n 704/20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0.6523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0.6049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0.6411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0.4357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YOLO11n 704/50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0.7963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0.6732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0.7580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0.5313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YOLO11n + CBAM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0.4681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0.6042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0.5294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0.3785</a:t>
                      </a:r>
                    </a:p>
                  </a:txBody>
                  <a:tcPr>
                    <a:solidFill>
                      <a:srgbClr val="EEF5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YOLO11n + P2+CBAM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0.4830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0.6444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0.5908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42342"/>
                          </a:solidFill>
                          <a:latin typeface="Microsoft YaHei"/>
                        </a:defRPr>
                      </a:pPr>
                      <a:r>
                        <a:t>0.4303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709160"/>
            <a:ext cx="10515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D74343"/>
                </a:solidFill>
                <a:latin typeface="Microsoft YaHei"/>
              </a:rPr>
              <a:t>结论：P2+CBAM 优于单独 CBAM，但尚未超过训练充分的 YOLO11n 强基线。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285232"/>
            <a:ext cx="996696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0">
                <a:solidFill>
                  <a:srgbClr val="142342"/>
                </a:solidFill>
                <a:latin typeface="Microsoft YaHei"/>
              </a:rPr>
              <a:t>这说明“小目标增强”方向有价值，但新增模块的初始化、学习率、训练阶段和数据规模仍需继续优化。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3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5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6_section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7_failur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8_impro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132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0F3D99"/>
                </a:solidFill>
                <a:latin typeface="Microsoft YaHei"/>
              </a:rPr>
              <a:t>改进型结果：诚实结论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74320"/>
            <a:ext cx="2148840" cy="384048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CBAM / P2+CBAM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3784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2E0FA"/>
            </a:solidFill>
          </a:ln>
        </p:spPr>
        <p:txBody>
          <a:bodyPr wrap="square" lIns="201168" rIns="164592" tIns="146304" bIns="146304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CBAM：mAP50 = 0.5294，mAP50-95 = 0.3785，低于强基线。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P2+CBAM：mAP50 = 0.5908，mAP50-95 = 0.4303，优于单独 CBAM，但低于强基线。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原因判断：新增 CBAM 与 P2 检测头缺少对应预训练权重，50 epoch 下未充分收敛。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后续方向：分阶段训练、冻结 Backbone 先训新增模块、学习率预热、类别重采样与小目标增强。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5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132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0F3D99"/>
                </a:solidFill>
                <a:latin typeface="Microsoft YaHei"/>
              </a:rPr>
              <a:t>高阶方案：交通态势智能感知分析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74320"/>
            <a:ext cx="2148840" cy="384048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目标识别 + 流量预测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2E0FA"/>
            </a:solidFill>
          </a:ln>
        </p:spPr>
        <p:txBody>
          <a:bodyPr wrap="square" lIns="201168" rIns="164592" tIns="146304" bIns="146304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342"/>
                </a:solidFill>
                <a:latin typeface="Microsoft YaHei"/>
              </a:defRPr>
            </a:pPr>
            <a:r>
              <a:t>感知层：YOLO11n 输出交通标志类别、位置、置信度，形成道路静态/半静态语义信息。</a:t>
            </a:r>
          </a:p>
          <a:p>
            <a:pPr>
              <a:spcAft>
                <a:spcPts val="800"/>
              </a:spcAft>
              <a:defRPr sz="1800">
                <a:solidFill>
                  <a:srgbClr val="142342"/>
                </a:solidFill>
                <a:latin typeface="Microsoft YaHei"/>
              </a:defRPr>
            </a:pPr>
            <a:r>
              <a:t>预测层：交通流量预测模块输入历史流量序列，输出未来短时交通变化趋势。</a:t>
            </a:r>
          </a:p>
          <a:p>
            <a:pPr>
              <a:spcAft>
                <a:spcPts val="800"/>
              </a:spcAft>
              <a:defRPr sz="1800">
                <a:solidFill>
                  <a:srgbClr val="142342"/>
                </a:solidFill>
                <a:latin typeface="Microsoft YaHei"/>
              </a:defRPr>
            </a:pPr>
            <a:r>
              <a:t>融合层：将交通标志约束、检测风险、流量趋势融合为拥堵、事故、限速、诱导等态势标签。</a:t>
            </a:r>
          </a:p>
          <a:p>
            <a:pPr>
              <a:spcAft>
                <a:spcPts val="800"/>
              </a:spcAft>
              <a:defRPr sz="1800">
                <a:solidFill>
                  <a:srgbClr val="142342"/>
                </a:solidFill>
                <a:latin typeface="Microsoft YaHei"/>
              </a:defRPr>
            </a:pPr>
            <a:r>
              <a:t>决策层：面向管理端生成分级预警、诱导建议、日报总结和视频演示素材。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280160" cy="320040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系统流程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4407408"/>
            <a:ext cx="8961120" cy="502920"/>
          </a:xfrm>
          <a:prstGeom prst="rect">
            <a:avLst/>
          </a:prstGeom>
          <a:solidFill>
            <a:srgbClr val="E0ECFE"/>
          </a:solidFill>
          <a:ln>
            <a:solidFill>
              <a:srgbClr val="E0ECFE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0F3D99"/>
                </a:solidFill>
                <a:latin typeface="Microsoft YaHei"/>
              </a:rPr>
              <a:t>道路图像/检测结果  →  交通流时间序列  →  态势融合研判  →  预警诱导与报告输出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132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0F3D99"/>
                </a:solidFill>
                <a:latin typeface="Microsoft YaHei"/>
              </a:rPr>
              <a:t>视频演示：交通态势智能感知系统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74320"/>
            <a:ext cx="2148840" cy="384048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此页预留视频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051560"/>
            <a:ext cx="10104120" cy="4983480"/>
          </a:xfrm>
          <a:prstGeom prst="rect">
            <a:avLst/>
          </a:prstGeom>
          <a:solidFill>
            <a:srgbClr val="092358"/>
          </a:solidFill>
          <a:ln w="25400">
            <a:solidFill>
              <a:srgbClr val="E0E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2423160"/>
            <a:ext cx="80467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</a:rPr>
              <a:t>在此处插入演示视频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50392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700" b="0">
                <a:solidFill>
                  <a:srgbClr val="E0ECFE"/>
                </a:solidFill>
                <a:latin typeface="Microsoft YaHei"/>
              </a:rPr>
              <a:t>建议内容：上传道路视频 → 交通标志检测 → 流量预测 → 态势标签/预警建议输出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886200"/>
            <a:ext cx="4572000" cy="411480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VIDEO PLACEHOLDER 16:9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9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56032"/>
            <a:ext cx="7132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500" b="1">
                <a:solidFill>
                  <a:srgbClr val="0F3D99"/>
                </a:solidFill>
                <a:latin typeface="Microsoft YaHei"/>
              </a:rPr>
              <a:t>总结与答辩要点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74320"/>
            <a:ext cx="2148840" cy="384048"/>
          </a:xfrm>
          <a:prstGeom prst="rect">
            <a:avLst/>
          </a:prstGeom>
          <a:solidFill>
            <a:srgbClr val="1D54B1"/>
          </a:solidFill>
          <a:ln>
            <a:solidFill>
              <a:srgbClr val="1D54B1"/>
            </a:solidFill>
          </a:ln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多目标识别 + 态势研判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37844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2E0FA"/>
            </a:solidFill>
          </a:ln>
        </p:spPr>
        <p:txBody>
          <a:bodyPr wrap="square" lIns="201168" rIns="164592" tIns="146304" bIns="146304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完成基础主线：近三年检测算法调研、YOLO11n 原理分析、TT100K 12 类训练测试。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完成改进探索：CBAM 与 P2+CBAM 已训练出结果，并如实分析其未超过强基线的原因。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完成高阶要求：融合交通标志识别与交通流量预测，构建交通态势智能感知分析方案。</a:t>
            </a:r>
          </a:p>
          <a:p>
            <a:pPr>
              <a:spcAft>
                <a:spcPts val="800"/>
              </a:spcAft>
              <a:defRPr sz="1900">
                <a:solidFill>
                  <a:srgbClr val="142342"/>
                </a:solidFill>
                <a:latin typeface="Microsoft YaHei"/>
              </a:defRPr>
            </a:pPr>
            <a:r>
              <a:t>系统价值：从单帧目标识别扩展到路段态势研判，可服务预警、诱导和辅助管控。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0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