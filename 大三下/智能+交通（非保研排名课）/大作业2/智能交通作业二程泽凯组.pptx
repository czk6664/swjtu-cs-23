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69" r:id="rId4"/>
    <p:sldId id="352" r:id="rId5"/>
    <p:sldId id="515" r:id="rId7"/>
    <p:sldId id="11089438" r:id="rId8"/>
    <p:sldId id="11089439" r:id="rId9"/>
    <p:sldId id="11089426" r:id="rId10"/>
    <p:sldId id="11089440" r:id="rId11"/>
    <p:sldId id="11089441" r:id="rId12"/>
    <p:sldId id="11089427" r:id="rId13"/>
    <p:sldId id="11089442" r:id="rId14"/>
    <p:sldId id="11089443" r:id="rId15"/>
    <p:sldId id="11089444" r:id="rId16"/>
    <p:sldId id="11089455" r:id="rId17"/>
    <p:sldId id="11089445" r:id="rId18"/>
    <p:sldId id="11089428" r:id="rId19"/>
    <p:sldId id="11089446" r:id="rId20"/>
    <p:sldId id="11089447" r:id="rId21"/>
    <p:sldId id="11089449" r:id="rId22"/>
    <p:sldId id="11089450" r:id="rId23"/>
    <p:sldId id="11089454" r:id="rId24"/>
    <p:sldId id="11089448" r:id="rId25"/>
    <p:sldId id="11089453" r:id="rId26"/>
    <p:sldId id="11089436" r:id="rId27"/>
    <p:sldId id="11089451" r:id="rId28"/>
    <p:sldId id="11089452" r:id="rId29"/>
    <p:sldId id="11089457" r:id="rId30"/>
    <p:sldId id="11089429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54B1"/>
    <a:srgbClr val="E9F2FE"/>
    <a:srgbClr val="E0ECFE"/>
    <a:srgbClr val="0E6BC9"/>
    <a:srgbClr val="1F2B97"/>
    <a:srgbClr val="F9D5AE"/>
    <a:srgbClr val="FFF2DA"/>
    <a:srgbClr val="0D66DA"/>
    <a:srgbClr val="0F3D99"/>
    <a:srgbClr val="463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04"/>
    <p:restoredTop sz="96029"/>
  </p:normalViewPr>
  <p:slideViewPr>
    <p:cSldViewPr snapToGrid="0">
      <p:cViewPr>
        <p:scale>
          <a:sx n="64" d="100"/>
          <a:sy n="64" d="100"/>
        </p:scale>
        <p:origin x="160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23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01C6032-BE26-DE4E-9BAA-F653CCBBDD0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DCC958E-0824-3148-94FA-0EF06A1E88E5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里走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1219"/>
            <a:ext cx="12192000" cy="6856781"/>
          </a:xfrm>
          <a:prstGeom prst="rect">
            <a:avLst/>
          </a:prstGeom>
          <a:gradFill>
            <a:gsLst>
              <a:gs pos="0">
                <a:srgbClr val="00A3FE"/>
              </a:gs>
              <a:gs pos="100000">
                <a:srgbClr val="0086CE"/>
              </a:gs>
            </a:gsLst>
            <a:lin ang="2700000" scaled="1"/>
          </a:gra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38D1CA-CFD4-4441-9941-76CB3DA5BB93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9C0DFCF-B22A-CE43-8FEE-53091E4C051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9.png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microsoft.com/office/2007/relationships/hdphoto" Target="../media/image6.wdp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4" Type="http://schemas.openxmlformats.org/officeDocument/2006/relationships/image" Target="../media/image9.png"/><Relationship Id="rId3" Type="http://schemas.openxmlformats.org/officeDocument/2006/relationships/image" Target="../media/image20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9.png"/><Relationship Id="rId2" Type="http://schemas.microsoft.com/office/2007/relationships/hdphoto" Target="../media/image23.wdp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9.xml"/><Relationship Id="rId5" Type="http://schemas.openxmlformats.org/officeDocument/2006/relationships/image" Target="../media/image9.png"/><Relationship Id="rId4" Type="http://schemas.microsoft.com/office/2007/relationships/hdphoto" Target="../media/image30.wdp"/><Relationship Id="rId3" Type="http://schemas.openxmlformats.org/officeDocument/2006/relationships/image" Target="../media/image29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microsoft.com/office/2007/relationships/hdphoto" Target="../media/image33.wdp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png"/><Relationship Id="rId3" Type="http://schemas.openxmlformats.org/officeDocument/2006/relationships/image" Target="../media/image34.png"/><Relationship Id="rId2" Type="http://schemas.microsoft.com/office/2007/relationships/hdphoto" Target="../media/image33.wdp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4.png"/><Relationship Id="rId2" Type="http://schemas.microsoft.com/office/2007/relationships/hdphoto" Target="../media/image33.wdp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image" Target="../media/image39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0.xml"/><Relationship Id="rId4" Type="http://schemas.openxmlformats.org/officeDocument/2006/relationships/image" Target="../media/image9.png"/><Relationship Id="rId3" Type="http://schemas.openxmlformats.org/officeDocument/2006/relationships/image" Target="../media/image45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9.png"/><Relationship Id="rId1" Type="http://schemas.openxmlformats.org/officeDocument/2006/relationships/image" Target="../media/image39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34.png"/><Relationship Id="rId2" Type="http://schemas.microsoft.com/office/2007/relationships/hdphoto" Target="../media/image33.wdp"/><Relationship Id="rId1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1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tags" Target="../tags/tag22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43200" y="6451005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3039533" y="5142723"/>
            <a:ext cx="611293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2026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年</a:t>
            </a: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月</a:t>
            </a: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12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日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4267" y="2756057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 </a:t>
            </a:r>
            <a:r>
              <a:rPr kumimoji="0" lang="en-GB" altLang="zh-CN" sz="44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TT100K</a:t>
            </a:r>
            <a:r>
              <a:rPr kumimoji="0" lang="zh-CN" altLang="en-US" sz="44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的交通标志检测方法研究</a:t>
            </a:r>
            <a:endParaRPr kumimoji="0" lang="en-US" altLang="zh-CN" sz="4400" b="1" i="0" u="none" strike="noStrike" kern="100" cap="none" spc="0" normalizeH="0" baseline="0" noProof="0" dirty="0">
              <a:ln>
                <a:noFill/>
              </a:ln>
              <a:gradFill>
                <a:gsLst>
                  <a:gs pos="100000">
                    <a:srgbClr val="BCE0F9"/>
                  </a:gs>
                  <a:gs pos="9000">
                    <a:schemeClr val="bg1"/>
                  </a:gs>
                </a:gsLst>
                <a:lin ang="0" scaled="0"/>
              </a:gradFill>
              <a:effectLst>
                <a:outerShdw blurRad="127000" dist="38100" dir="2700000" sx="101000" sy="101000" algn="tl" rotWithShape="0">
                  <a:prstClr val="black">
                    <a:alpha val="45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 </a:t>
            </a:r>
            <a:r>
              <a:rPr kumimoji="0" lang="en-GB" altLang="zh-CN" sz="44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YOLO</a:t>
            </a:r>
            <a:r>
              <a:rPr kumimoji="0" lang="zh-CN" altLang="en-US" sz="44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轻量化实现</a:t>
            </a:r>
            <a:endParaRPr kumimoji="0" lang="zh-CN" altLang="zh-CN" sz="4400" b="1" i="0" u="none" strike="noStrike" kern="100" cap="none" spc="0" normalizeH="0" baseline="0" noProof="0" dirty="0">
              <a:ln>
                <a:noFill/>
              </a:ln>
              <a:gradFill>
                <a:gsLst>
                  <a:gs pos="100000">
                    <a:srgbClr val="BCE0F9"/>
                  </a:gs>
                  <a:gs pos="9000">
                    <a:schemeClr val="bg1"/>
                  </a:gs>
                </a:gsLst>
                <a:lin ang="0" scaled="0"/>
              </a:gradFill>
              <a:effectLst>
                <a:outerShdw blurRad="127000" dist="38100" dir="2700000" sx="101000" sy="101000" algn="tl" rotWithShape="0">
                  <a:prstClr val="black">
                    <a:alpha val="45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39533" y="4417441"/>
            <a:ext cx="6112932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汇报人：程泽凯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组员：程泽凯、王晨羽、金井直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893"/>
            <a:ext cx="12191207" cy="6857107"/>
          </a:xfrm>
          <a:prstGeom prst="rect">
            <a:avLst/>
          </a:prstGeom>
          <a:gradFill flip="none" rotWithShape="1">
            <a:gsLst>
              <a:gs pos="51000">
                <a:srgbClr val="308FF0">
                  <a:lumMod val="10000"/>
                  <a:lumOff val="90000"/>
                  <a:alpha val="95091"/>
                </a:srgbClr>
              </a:gs>
              <a:gs pos="0">
                <a:srgbClr val="308FF0">
                  <a:lumMod val="20000"/>
                  <a:lumOff val="80000"/>
                  <a:alpha val="74000"/>
                </a:srgbClr>
              </a:gs>
              <a:gs pos="100000">
                <a:srgbClr val="E9ECFC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OPPOSans R" pitchFamily="18" charset="-122"/>
              <a:cs typeface="+mn-cs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 flipH="1">
            <a:off x="-2" y="5177971"/>
            <a:ext cx="12191683" cy="167958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/>
        </p:nvGrpSpPr>
        <p:grpSpPr>
          <a:xfrm>
            <a:off x="7173685" y="2287365"/>
            <a:ext cx="5017521" cy="4560428"/>
            <a:chOff x="7173685" y="2287365"/>
            <a:chExt cx="5017521" cy="456042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17"/>
            <a:stretch>
              <a:fillRect/>
            </a:stretch>
          </p:blipFill>
          <p:spPr>
            <a:xfrm>
              <a:off x="7173685" y="2287365"/>
              <a:ext cx="5017521" cy="4560428"/>
            </a:xfrm>
            <a:prstGeom prst="rect">
              <a:avLst/>
            </a:prstGeom>
          </p:spPr>
        </p:pic>
        <p:sp>
          <p:nvSpPr>
            <p:cNvPr id="13" name="椭圆 12"/>
            <p:cNvSpPr/>
            <p:nvPr/>
          </p:nvSpPr>
          <p:spPr>
            <a:xfrm>
              <a:off x="9458326" y="2543175"/>
              <a:ext cx="1343025" cy="13430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flipH="1">
            <a:off x="1439335" y="5603542"/>
            <a:ext cx="1443439" cy="671186"/>
            <a:chOff x="7979568" y="6473576"/>
            <a:chExt cx="1443627" cy="671273"/>
          </a:xfrm>
          <a:gradFill>
            <a:gsLst>
              <a:gs pos="0">
                <a:srgbClr val="308FF0"/>
              </a:gs>
              <a:gs pos="78000">
                <a:srgbClr val="308FF0">
                  <a:lumMod val="20000"/>
                  <a:lumOff val="80000"/>
                </a:srgbClr>
              </a:gs>
            </a:gsLst>
            <a:lin ang="0" scaled="0"/>
          </a:gradFill>
        </p:grpSpPr>
        <p:grpSp>
          <p:nvGrpSpPr>
            <p:cNvPr id="71" name="组合 70"/>
            <p:cNvGrpSpPr/>
            <p:nvPr/>
          </p:nvGrpSpPr>
          <p:grpSpPr>
            <a:xfrm>
              <a:off x="7979568" y="64735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9" name="椭圆 98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7979568" y="66750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1" name="椭圆 90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7979568" y="68764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83" name="椭圆 82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7979568" y="70779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75" name="椭圆 74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</p:grpSp>
      <p:sp>
        <p:nvSpPr>
          <p:cNvPr id="9" name="išľïḋé"/>
          <p:cNvSpPr txBox="1"/>
          <p:nvPr/>
        </p:nvSpPr>
        <p:spPr>
          <a:xfrm>
            <a:off x="8185273" y="701727"/>
            <a:ext cx="2099270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目录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CONT</a:t>
            </a:r>
            <a:r>
              <a:rPr kumimoji="0" lang="tr-TR" sz="2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 </a:t>
            </a: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ENTS</a:t>
            </a:r>
            <a:endParaRPr kumimoji="0" lang="tr-TR" sz="2400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1326910" y="889224"/>
            <a:ext cx="5401731" cy="600650"/>
            <a:chOff x="1326910" y="1179226"/>
            <a:chExt cx="5401731" cy="600650"/>
          </a:xfrm>
        </p:grpSpPr>
        <p:sp>
          <p:nvSpPr>
            <p:cNvPr id="12" name="TextBox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284572" y="1218252"/>
              <a:ext cx="444406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研究背景与问题定义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" name="矩形: 圆角 35"/>
            <p:cNvSpPr/>
            <p:nvPr>
              <p:custDataLst>
                <p:tags r:id="rId7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1326910" y="1653310"/>
            <a:ext cx="5401731" cy="600650"/>
            <a:chOff x="1326910" y="1179226"/>
            <a:chExt cx="5401731" cy="600650"/>
          </a:xfrm>
        </p:grpSpPr>
        <p:sp>
          <p:nvSpPr>
            <p:cNvPr id="6" name="TextBox 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284572" y="1218252"/>
              <a:ext cx="444406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数据集与方法选型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矩形: 圆角 35"/>
            <p:cNvSpPr/>
            <p:nvPr>
              <p:custDataLst>
                <p:tags r:id="rId11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2"/>
            </p:custDataLst>
          </p:nvPr>
        </p:nvGrpSpPr>
        <p:grpSpPr>
          <a:xfrm>
            <a:off x="1326910" y="2456422"/>
            <a:ext cx="5401731" cy="600650"/>
            <a:chOff x="1326910" y="1179226"/>
            <a:chExt cx="5401731" cy="600650"/>
          </a:xfrm>
        </p:grpSpPr>
        <p:sp>
          <p:nvSpPr>
            <p:cNvPr id="16" name="TextBox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284572" y="1218252"/>
              <a:ext cx="444406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模型结构与机制介绍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矩形: 圆角 35"/>
            <p:cNvSpPr/>
            <p:nvPr>
              <p:custDataLst>
                <p:tags r:id="rId14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5"/>
            </p:custDataLst>
          </p:nvPr>
        </p:nvGrpSpPr>
        <p:grpSpPr>
          <a:xfrm>
            <a:off x="1326910" y="3259534"/>
            <a:ext cx="5401731" cy="600650"/>
            <a:chOff x="1326910" y="1179226"/>
            <a:chExt cx="5401731" cy="600650"/>
          </a:xfrm>
        </p:grpSpPr>
        <p:sp>
          <p:nvSpPr>
            <p:cNvPr id="25" name="TextBox 6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284572" y="1218252"/>
              <a:ext cx="444406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实验设置与结果分析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矩形: 圆角 35"/>
            <p:cNvSpPr/>
            <p:nvPr>
              <p:custDataLst>
                <p:tags r:id="rId17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04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8"/>
            </p:custDataLst>
          </p:nvPr>
        </p:nvGrpSpPr>
        <p:grpSpPr>
          <a:xfrm>
            <a:off x="1331745" y="4100124"/>
            <a:ext cx="5401731" cy="600650"/>
            <a:chOff x="1326910" y="1179226"/>
            <a:chExt cx="5401731" cy="600650"/>
          </a:xfrm>
        </p:grpSpPr>
        <p:sp>
          <p:nvSpPr>
            <p:cNvPr id="30" name="TextBox 6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284572" y="1218411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问题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分析与解决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方案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矩形: 圆角 35"/>
            <p:cNvSpPr/>
            <p:nvPr>
              <p:custDataLst>
                <p:tags r:id="rId20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2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434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417141" cy="2346785"/>
            <a:chOff x="497375" y="1211712"/>
            <a:chExt cx="6417141" cy="234678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41714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研究背景与问题定义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 flipH="1">
            <a:off x="-4" y="3571367"/>
            <a:ext cx="12191683" cy="3286186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5163" y="1767688"/>
            <a:ext cx="10799059" cy="453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目标尺寸小、类别细粒度、背景干扰强、遮挡和光照变化明显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72047" y="2322062"/>
            <a:ext cx="3445425" cy="2043610"/>
          </a:xfrm>
          <a:prstGeom prst="rect">
            <a:avLst/>
          </a:prstGeom>
        </p:spPr>
      </p:pic>
      <p:sp>
        <p:nvSpPr>
          <p:cNvPr id="9" name="对角圆角矩形 8"/>
          <p:cNvSpPr/>
          <p:nvPr/>
        </p:nvSpPr>
        <p:spPr>
          <a:xfrm>
            <a:off x="6301067" y="2334588"/>
            <a:ext cx="5206006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6804" y="2350632"/>
            <a:ext cx="3344087" cy="2043609"/>
          </a:xfrm>
          <a:prstGeom prst="rect">
            <a:avLst/>
          </a:prstGeom>
        </p:spPr>
      </p:pic>
      <p:sp>
        <p:nvSpPr>
          <p:cNvPr id="12" name="对角圆角矩形 11"/>
          <p:cNvSpPr/>
          <p:nvPr/>
        </p:nvSpPr>
        <p:spPr>
          <a:xfrm>
            <a:off x="844884" y="2337729"/>
            <a:ext cx="5206007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25268" y="4582662"/>
            <a:ext cx="3327199" cy="2043610"/>
          </a:xfrm>
          <a:prstGeom prst="rect">
            <a:avLst/>
          </a:prstGeom>
        </p:spPr>
      </p:pic>
      <p:sp>
        <p:nvSpPr>
          <p:cNvPr id="15" name="对角圆角矩形 14"/>
          <p:cNvSpPr/>
          <p:nvPr/>
        </p:nvSpPr>
        <p:spPr>
          <a:xfrm>
            <a:off x="844883" y="4595587"/>
            <a:ext cx="5206007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55751" y="4581785"/>
            <a:ext cx="3362068" cy="2043610"/>
          </a:xfrm>
          <a:prstGeom prst="rect">
            <a:avLst/>
          </a:prstGeom>
        </p:spPr>
      </p:pic>
      <p:sp>
        <p:nvSpPr>
          <p:cNvPr id="18" name="对角圆角矩形 17"/>
          <p:cNvSpPr/>
          <p:nvPr/>
        </p:nvSpPr>
        <p:spPr>
          <a:xfrm>
            <a:off x="6301066" y="4595587"/>
            <a:ext cx="5216406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5" name="椭圆 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854669" y="410108"/>
            <a:ext cx="4989428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研究背景与问题定义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990880" y="2447131"/>
            <a:ext cx="2985113" cy="1667994"/>
            <a:chOff x="990880" y="2021247"/>
            <a:chExt cx="2985113" cy="1667994"/>
          </a:xfrm>
        </p:grpSpPr>
        <p:sp>
          <p:nvSpPr>
            <p:cNvPr id="21" name="文本框 20"/>
            <p:cNvSpPr txBox="1"/>
            <p:nvPr/>
          </p:nvSpPr>
          <p:spPr>
            <a:xfrm>
              <a:off x="990880" y="2021247"/>
              <a:ext cx="29851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1" lang="zh-CN" altLang="en-US" sz="2000" b="1" dirty="0">
                  <a:solidFill>
                    <a:srgbClr val="0F3D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远距离小目标检测困难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088045" y="2495982"/>
              <a:ext cx="2870180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53769" y="2609778"/>
              <a:ext cx="2161317" cy="1079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7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交通标志在远距离下尺寸⼨极小，像素信息少，易被忽略。</a:t>
              </a:r>
              <a:endParaRPr kumimoji="0" lang="zh-CN" altLang="en-US" sz="17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301066" y="2447131"/>
            <a:ext cx="2967345" cy="1667994"/>
            <a:chOff x="990880" y="2021247"/>
            <a:chExt cx="2967345" cy="1667994"/>
          </a:xfrm>
        </p:grpSpPr>
        <p:sp>
          <p:nvSpPr>
            <p:cNvPr id="31" name="文本框 30"/>
            <p:cNvSpPr txBox="1"/>
            <p:nvPr/>
          </p:nvSpPr>
          <p:spPr>
            <a:xfrm>
              <a:off x="990880" y="2021247"/>
              <a:ext cx="27286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遮挡导致信息不完整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088045" y="2495982"/>
              <a:ext cx="2870180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053769" y="2609778"/>
              <a:ext cx="2161317" cy="1079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7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树木、立杆、车辆等遮挡物导致标志部分可见，增加识别难度</a:t>
              </a:r>
              <a:endParaRPr lang="zh-CN" altLang="en-US" sz="17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954220" y="4743054"/>
            <a:ext cx="2967345" cy="1667994"/>
            <a:chOff x="990880" y="2021247"/>
            <a:chExt cx="2967345" cy="1667994"/>
          </a:xfrm>
        </p:grpSpPr>
        <p:sp>
          <p:nvSpPr>
            <p:cNvPr id="48" name="文本框 47"/>
            <p:cNvSpPr txBox="1"/>
            <p:nvPr/>
          </p:nvSpPr>
          <p:spPr>
            <a:xfrm>
              <a:off x="990880" y="2021247"/>
              <a:ext cx="28504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强光</a:t>
              </a: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</a:t>
              </a: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夜间光照变化大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88045" y="2495982"/>
              <a:ext cx="2870180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053769" y="2609778"/>
              <a:ext cx="2161317" cy="1079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7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逆光、眩光或夜间照明条件下，标志对比度低，易漏检</a:t>
              </a:r>
              <a:endParaRPr kumimoji="0" lang="zh-CN" altLang="en-US" sz="17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398231" y="4742164"/>
            <a:ext cx="2967345" cy="1667994"/>
            <a:chOff x="990880" y="2021247"/>
            <a:chExt cx="2967345" cy="1667994"/>
          </a:xfrm>
        </p:grpSpPr>
        <p:sp>
          <p:nvSpPr>
            <p:cNvPr id="52" name="文本框 51"/>
            <p:cNvSpPr txBox="1"/>
            <p:nvPr/>
          </p:nvSpPr>
          <p:spPr>
            <a:xfrm>
              <a:off x="990880" y="2021247"/>
              <a:ext cx="27286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复杂背景干扰因素多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088045" y="2495982"/>
              <a:ext cx="2870180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053769" y="2609778"/>
              <a:ext cx="2161317" cy="1079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7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场景中标志数量多、类别相似，背景复杂，易产生误检和漏检</a:t>
              </a:r>
              <a:endParaRPr kumimoji="0" lang="zh-CN" altLang="en-US" sz="17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5" name="图形"/>
          <p:cNvSpPr txBox="1"/>
          <p:nvPr/>
        </p:nvSpPr>
        <p:spPr>
          <a:xfrm>
            <a:off x="844883" y="1248986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任务难点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56" name="平行四边形 55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4130691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研究背景与问题定义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图形"/>
          <p:cNvSpPr txBox="1"/>
          <p:nvPr/>
        </p:nvSpPr>
        <p:spPr>
          <a:xfrm>
            <a:off x="1263640" y="2272066"/>
            <a:ext cx="3721720" cy="299784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1.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 交通标志是自动驾驶与智能交通的基础语义信息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2.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 复杂道路场景下需要同时定位与识别多类别标志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3.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 小目标、遮挡、光照变化会显著增加检测难度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pic>
        <p:nvPicPr>
          <p:cNvPr id="29" name="图片 28" descr="公路上有许多车&#10;&#10;描述已自动生成"/>
          <p:cNvPicPr>
            <a:picLocks noChangeAspect="1"/>
          </p:cNvPicPr>
          <p:nvPr/>
        </p:nvPicPr>
        <p:blipFill rotWithShape="1">
          <a:blip r:embed="rId2"/>
          <a:srcRect b="3885"/>
          <a:stretch>
            <a:fillRect/>
          </a:stretch>
        </p:blipFill>
        <p:spPr>
          <a:xfrm>
            <a:off x="5360807" y="1440185"/>
            <a:ext cx="6223201" cy="3977629"/>
          </a:xfrm>
          <a:prstGeom prst="rect">
            <a:avLst/>
          </a:prstGeom>
        </p:spPr>
      </p:pic>
      <p:sp>
        <p:nvSpPr>
          <p:cNvPr id="30" name="图形"/>
          <p:cNvSpPr txBox="1"/>
          <p:nvPr/>
        </p:nvSpPr>
        <p:spPr>
          <a:xfrm>
            <a:off x="924972" y="1597414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研究背景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研究背景与问题定义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24972" y="2435614"/>
            <a:ext cx="7582898" cy="3966203"/>
            <a:chOff x="924972" y="1597414"/>
            <a:chExt cx="7582898" cy="3966203"/>
          </a:xfrm>
        </p:grpSpPr>
        <p:sp>
          <p:nvSpPr>
            <p:cNvPr id="21" name="图形"/>
            <p:cNvSpPr txBox="1"/>
            <p:nvPr/>
          </p:nvSpPr>
          <p:spPr>
            <a:xfrm>
              <a:off x="1263639" y="1970191"/>
              <a:ext cx="7244231" cy="1309516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YOLO1n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参数量小、计算高效，但表达能力有限，需在资源受限条件下兼顾并保持检测精度。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  <p:sp>
          <p:nvSpPr>
            <p:cNvPr id="24" name="图形"/>
            <p:cNvSpPr txBox="1"/>
            <p:nvPr/>
          </p:nvSpPr>
          <p:spPr>
            <a:xfrm>
              <a:off x="924972" y="1597414"/>
              <a:ext cx="51710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SzPct val="70000"/>
              </a:pPr>
              <a:r>
                <a:rPr lang="en-US" altLang="zh-CN" sz="2000" b="1" dirty="0">
                  <a:solidFill>
                    <a:srgbClr val="1D54B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1.</a:t>
              </a:r>
              <a:r>
                <a:rPr lang="zh-CN" altLang="en-US" sz="2000" b="1" dirty="0">
                  <a:solidFill>
                    <a:srgbClr val="1D54B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 轻量化模型如何保证检测精度</a:t>
              </a:r>
              <a:endParaRPr lang="zh-CN" altLang="en-US" sz="20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endParaRPr>
            </a:p>
          </p:txBody>
        </p:sp>
        <p:sp>
          <p:nvSpPr>
            <p:cNvPr id="25" name="图形"/>
            <p:cNvSpPr txBox="1"/>
            <p:nvPr/>
          </p:nvSpPr>
          <p:spPr>
            <a:xfrm>
              <a:off x="1263640" y="3144287"/>
              <a:ext cx="7244230" cy="1309516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图像中小目标占比偏高，输入分辨率会直接影响其特征表达与目标可见性，需合理选择适配尺度来提升小目标检测召回率。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  <p:sp>
          <p:nvSpPr>
            <p:cNvPr id="26" name="图形"/>
            <p:cNvSpPr txBox="1"/>
            <p:nvPr/>
          </p:nvSpPr>
          <p:spPr>
            <a:xfrm>
              <a:off x="924972" y="2759935"/>
              <a:ext cx="55825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SzPct val="70000"/>
              </a:pPr>
              <a:r>
                <a:rPr lang="en-US" altLang="zh-CN" sz="2000" b="1" dirty="0">
                  <a:solidFill>
                    <a:srgbClr val="1D54B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2.</a:t>
              </a:r>
              <a:r>
                <a:rPr lang="zh-CN" altLang="en-US" sz="2000" b="1" dirty="0">
                  <a:solidFill>
                    <a:srgbClr val="1D54B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 输入尺度如何影响小目标召回</a:t>
              </a:r>
              <a:endParaRPr lang="zh-CN" altLang="en-US" sz="20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endParaRPr>
            </a:p>
          </p:txBody>
        </p:sp>
        <p:sp>
          <p:nvSpPr>
            <p:cNvPr id="27" name="图形"/>
            <p:cNvSpPr txBox="1"/>
            <p:nvPr/>
          </p:nvSpPr>
          <p:spPr>
            <a:xfrm>
              <a:off x="1263640" y="4254101"/>
              <a:ext cx="7244230" cy="1309516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不同类别检测召回率差异明显，稀有类别与特征相似类别的召回普遍偏低，需从数据和模型两方面对低召回类别做针对性优化。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  <p:sp>
          <p:nvSpPr>
            <p:cNvPr id="28" name="图形"/>
            <p:cNvSpPr txBox="1"/>
            <p:nvPr/>
          </p:nvSpPr>
          <p:spPr>
            <a:xfrm>
              <a:off x="924972" y="3896564"/>
              <a:ext cx="43307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SzPct val="70000"/>
              </a:pPr>
              <a:r>
                <a:rPr lang="en-US" altLang="zh-CN" sz="2000" b="1" dirty="0">
                  <a:solidFill>
                    <a:srgbClr val="1D54B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3.</a:t>
              </a:r>
              <a:r>
                <a:rPr lang="zh-CN" altLang="en-US" sz="2000" b="1" dirty="0">
                  <a:solidFill>
                    <a:srgbClr val="1D54B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 低召回类别如何针对性改进</a:t>
              </a:r>
              <a:endParaRPr lang="zh-CN" altLang="en-US" sz="20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672790" y="352268"/>
            <a:ext cx="2806700" cy="6021134"/>
            <a:chOff x="7545030" y="352268"/>
            <a:chExt cx="2806700" cy="6021134"/>
          </a:xfrm>
        </p:grpSpPr>
        <p:pic>
          <p:nvPicPr>
            <p:cNvPr id="29" name="图片 28" descr="路上有辆蓝色的标志&#10;&#10;描述已自动生成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390" y="352268"/>
              <a:ext cx="2120900" cy="1816100"/>
            </a:xfrm>
            <a:prstGeom prst="rect">
              <a:avLst/>
            </a:prstGeom>
          </p:spPr>
        </p:pic>
        <p:pic>
          <p:nvPicPr>
            <p:cNvPr id="31" name="图片 30" descr="文本&#10;&#10;低可信度描述已自动生成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1590" y="2462602"/>
              <a:ext cx="1968500" cy="1816100"/>
            </a:xfrm>
            <a:prstGeom prst="rect">
              <a:avLst/>
            </a:prstGeom>
          </p:spPr>
        </p:pic>
        <p:pic>
          <p:nvPicPr>
            <p:cNvPr id="33" name="图片 32" descr="图形用户界面, 应用程序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5030" y="4570002"/>
              <a:ext cx="2806700" cy="1803400"/>
            </a:xfrm>
            <a:prstGeom prst="rect">
              <a:avLst/>
            </a:prstGeom>
          </p:spPr>
        </p:pic>
        <p:sp>
          <p:nvSpPr>
            <p:cNvPr id="34" name="下箭头 33"/>
            <p:cNvSpPr/>
            <p:nvPr/>
          </p:nvSpPr>
          <p:spPr>
            <a:xfrm>
              <a:off x="8653920" y="2175186"/>
              <a:ext cx="243840" cy="280598"/>
            </a:xfrm>
            <a:prstGeom prst="downArrow">
              <a:avLst/>
            </a:prstGeom>
            <a:solidFill>
              <a:srgbClr val="1D54B1"/>
            </a:solidFill>
            <a:ln>
              <a:solidFill>
                <a:srgbClr val="1D54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下箭头 34"/>
            <p:cNvSpPr/>
            <p:nvPr/>
          </p:nvSpPr>
          <p:spPr>
            <a:xfrm>
              <a:off x="8653920" y="4290880"/>
              <a:ext cx="243840" cy="280598"/>
            </a:xfrm>
            <a:prstGeom prst="downArrow">
              <a:avLst/>
            </a:prstGeom>
            <a:solidFill>
              <a:srgbClr val="1D54B1"/>
            </a:solidFill>
            <a:ln>
              <a:solidFill>
                <a:srgbClr val="1D54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9" name="图形"/>
          <p:cNvSpPr txBox="1"/>
          <p:nvPr/>
        </p:nvSpPr>
        <p:spPr>
          <a:xfrm>
            <a:off x="924972" y="1597414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问题定义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622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21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5669280" cy="2345475"/>
            <a:chOff x="497375" y="1211712"/>
            <a:chExt cx="56692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56692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数据集与</a:t>
              </a: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模型选型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 flipH="1">
            <a:off x="5321860" y="4305418"/>
            <a:ext cx="6869816" cy="255213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4305865"/>
            <a:ext cx="5321860" cy="255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圆角矩形 8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TT100K</a:t>
            </a: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数据集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2" name="平行四边形 61"/>
          <p:cNvSpPr/>
          <p:nvPr/>
        </p:nvSpPr>
        <p:spPr>
          <a:xfrm>
            <a:off x="8903384" y="2063767"/>
            <a:ext cx="3010042" cy="676381"/>
          </a:xfrm>
          <a:prstGeom prst="parallelogram">
            <a:avLst>
              <a:gd name="adj" fmla="val 58766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  <a:alpha val="0"/>
                </a:schemeClr>
              </a:gs>
            </a:gsLst>
            <a:lin ang="10800000" scaled="1"/>
            <a:tileRect/>
          </a:gradFill>
          <a:ln w="12700" cap="flat" cmpd="sng" algn="ctr"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平行四边形 62"/>
          <p:cNvSpPr/>
          <p:nvPr/>
        </p:nvSpPr>
        <p:spPr>
          <a:xfrm>
            <a:off x="8365879" y="2980715"/>
            <a:ext cx="3010042" cy="676381"/>
          </a:xfrm>
          <a:prstGeom prst="parallelogram">
            <a:avLst>
              <a:gd name="adj" fmla="val 58766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  <a:alpha val="0"/>
                </a:schemeClr>
              </a:gs>
            </a:gsLst>
            <a:lin ang="10800000" scaled="1"/>
            <a:tileRect/>
          </a:gradFill>
          <a:ln w="12700" cap="flat" cmpd="sng" algn="ctr"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平行四边形 59"/>
          <p:cNvSpPr/>
          <p:nvPr/>
        </p:nvSpPr>
        <p:spPr>
          <a:xfrm flipH="1">
            <a:off x="421529" y="2063767"/>
            <a:ext cx="3010042" cy="676381"/>
          </a:xfrm>
          <a:prstGeom prst="parallelogram">
            <a:avLst>
              <a:gd name="adj" fmla="val 58766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  <a:alpha val="0"/>
                </a:schemeClr>
              </a:gs>
            </a:gsLst>
            <a:lin ang="10800000" scaled="1"/>
            <a:tileRect/>
          </a:gradFill>
          <a:ln w="12700" cap="flat" cmpd="sng" algn="ctr"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平行四边形 60"/>
          <p:cNvSpPr/>
          <p:nvPr/>
        </p:nvSpPr>
        <p:spPr>
          <a:xfrm flipH="1">
            <a:off x="910536" y="2980715"/>
            <a:ext cx="3010042" cy="676381"/>
          </a:xfrm>
          <a:prstGeom prst="parallelogram">
            <a:avLst>
              <a:gd name="adj" fmla="val 58766"/>
            </a:avLst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  <a:alpha val="0"/>
                </a:schemeClr>
              </a:gs>
            </a:gsLst>
            <a:lin ang="10800000" scaled="1"/>
            <a:tileRect/>
          </a:gradFill>
          <a:ln w="12700" cap="flat" cmpd="sng" algn="ctr"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梯形 56"/>
          <p:cNvSpPr/>
          <p:nvPr/>
        </p:nvSpPr>
        <p:spPr>
          <a:xfrm rot="10800000">
            <a:off x="3403841" y="2075962"/>
            <a:ext cx="5458651" cy="1676969"/>
          </a:xfrm>
          <a:prstGeom prst="trapezoid">
            <a:avLst>
              <a:gd name="adj" fmla="val 19567"/>
            </a:avLst>
          </a:prstGeom>
          <a:gradFill flip="none" rotWithShape="1">
            <a:gsLst>
              <a:gs pos="98000">
                <a:srgbClr val="1D54B1">
                  <a:alpha val="0"/>
                </a:srgbClr>
              </a:gs>
              <a:gs pos="0">
                <a:srgbClr val="1D54B1">
                  <a:alpha val="0"/>
                </a:srgbClr>
              </a:gs>
              <a:gs pos="53000">
                <a:srgbClr val="1D54B1">
                  <a:alpha val="17000"/>
                </a:srgbClr>
              </a:gs>
            </a:gsLst>
            <a:lin ang="5400000" scaled="1"/>
            <a:tileRect/>
          </a:gradFill>
          <a:ln w="2222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3353042" y="3390978"/>
            <a:ext cx="5524500" cy="784470"/>
            <a:chOff x="4028902" y="5522595"/>
            <a:chExt cx="4134196" cy="952859"/>
          </a:xfrm>
        </p:grpSpPr>
        <p:sp>
          <p:nvSpPr>
            <p:cNvPr id="42" name="椭圆 41"/>
            <p:cNvSpPr/>
            <p:nvPr/>
          </p:nvSpPr>
          <p:spPr>
            <a:xfrm>
              <a:off x="4028902" y="5634280"/>
              <a:ext cx="4134196" cy="841174"/>
            </a:xfrm>
            <a:prstGeom prst="ellipse">
              <a:avLst/>
            </a:prstGeom>
            <a:gradFill flip="none" rotWithShape="1">
              <a:gsLst>
                <a:gs pos="100000">
                  <a:srgbClr val="1D54B1">
                    <a:alpha val="28930"/>
                  </a:srgb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 w="12700" cap="rnd" cmpd="sng" algn="ctr">
              <a:gradFill>
                <a:gsLst>
                  <a:gs pos="0">
                    <a:schemeClr val="accent5">
                      <a:lumMod val="60000"/>
                      <a:lumOff val="40000"/>
                      <a:alpha val="0"/>
                    </a:schemeClr>
                  </a:gs>
                  <a:gs pos="100000">
                    <a:srgbClr val="1D54B1"/>
                  </a:gs>
                </a:gsLst>
                <a:lin ang="5400000" scaled="1"/>
              </a:gra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任意多边形: 形状 30"/>
            <p:cNvSpPr/>
            <p:nvPr/>
          </p:nvSpPr>
          <p:spPr>
            <a:xfrm>
              <a:off x="4234992" y="5522595"/>
              <a:ext cx="3722015" cy="684780"/>
            </a:xfrm>
            <a:custGeom>
              <a:avLst/>
              <a:gdLst>
                <a:gd name="connsiteX0" fmla="*/ 1429941 w 2859880"/>
                <a:gd name="connsiteY0" fmla="*/ 0 h 578502"/>
                <a:gd name="connsiteX1" fmla="*/ 2852499 w 2859880"/>
                <a:gd name="connsiteY1" fmla="*/ 259677 h 578502"/>
                <a:gd name="connsiteX2" fmla="*/ 2859880 w 2859880"/>
                <a:gd name="connsiteY2" fmla="*/ 289243 h 578502"/>
                <a:gd name="connsiteX3" fmla="*/ 2859880 w 2859880"/>
                <a:gd name="connsiteY3" fmla="*/ 289259 h 578502"/>
                <a:gd name="connsiteX4" fmla="*/ 2852499 w 2859880"/>
                <a:gd name="connsiteY4" fmla="*/ 318825 h 578502"/>
                <a:gd name="connsiteX5" fmla="*/ 1429941 w 2859880"/>
                <a:gd name="connsiteY5" fmla="*/ 578502 h 578502"/>
                <a:gd name="connsiteX6" fmla="*/ 0 w 2859880"/>
                <a:gd name="connsiteY6" fmla="*/ 289251 h 578502"/>
                <a:gd name="connsiteX7" fmla="*/ 1429941 w 2859880"/>
                <a:gd name="connsiteY7" fmla="*/ 0 h 57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9880" h="578502">
                  <a:moveTo>
                    <a:pt x="1429941" y="0"/>
                  </a:moveTo>
                  <a:cubicBezTo>
                    <a:pt x="2170318" y="0"/>
                    <a:pt x="2779272" y="113820"/>
                    <a:pt x="2852499" y="259677"/>
                  </a:cubicBezTo>
                  <a:lnTo>
                    <a:pt x="2859880" y="289243"/>
                  </a:lnTo>
                  <a:lnTo>
                    <a:pt x="2859880" y="289259"/>
                  </a:lnTo>
                  <a:lnTo>
                    <a:pt x="2852499" y="318825"/>
                  </a:lnTo>
                  <a:cubicBezTo>
                    <a:pt x="2779272" y="464682"/>
                    <a:pt x="2170318" y="578502"/>
                    <a:pt x="1429941" y="578502"/>
                  </a:cubicBezTo>
                  <a:cubicBezTo>
                    <a:pt x="640206" y="578502"/>
                    <a:pt x="0" y="449000"/>
                    <a:pt x="0" y="289251"/>
                  </a:cubicBezTo>
                  <a:cubicBezTo>
                    <a:pt x="0" y="129502"/>
                    <a:pt x="640206" y="0"/>
                    <a:pt x="1429941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  <a:ln w="6350" cap="flat" cmpd="sng" algn="ctr">
              <a:solidFill>
                <a:schemeClr val="accent5">
                  <a:lumMod val="75000"/>
                  <a:alpha val="33000"/>
                </a:scheme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任意多边形: 形状 28"/>
            <p:cNvSpPr/>
            <p:nvPr/>
          </p:nvSpPr>
          <p:spPr>
            <a:xfrm>
              <a:off x="4234992" y="5830930"/>
              <a:ext cx="3722015" cy="470030"/>
            </a:xfrm>
            <a:custGeom>
              <a:avLst/>
              <a:gdLst>
                <a:gd name="connsiteX0" fmla="*/ 1 w 2859882"/>
                <a:gd name="connsiteY0" fmla="*/ 0 h 361156"/>
                <a:gd name="connsiteX1" fmla="*/ 1429942 w 2859882"/>
                <a:gd name="connsiteY1" fmla="*/ 289251 h 361156"/>
                <a:gd name="connsiteX2" fmla="*/ 2852500 w 2859882"/>
                <a:gd name="connsiteY2" fmla="*/ 29574 h 361156"/>
                <a:gd name="connsiteX3" fmla="*/ 2859881 w 2859882"/>
                <a:gd name="connsiteY3" fmla="*/ 8 h 361156"/>
                <a:gd name="connsiteX4" fmla="*/ 2859881 w 2859882"/>
                <a:gd name="connsiteY4" fmla="*/ 69524 h 361156"/>
                <a:gd name="connsiteX5" fmla="*/ 2859288 w 2859882"/>
                <a:gd name="connsiteY5" fmla="*/ 69524 h 361156"/>
                <a:gd name="connsiteX6" fmla="*/ 2859882 w 2859882"/>
                <a:gd name="connsiteY6" fmla="*/ 71905 h 361156"/>
                <a:gd name="connsiteX7" fmla="*/ 1429941 w 2859882"/>
                <a:gd name="connsiteY7" fmla="*/ 361156 h 361156"/>
                <a:gd name="connsiteX8" fmla="*/ 0 w 2859882"/>
                <a:gd name="connsiteY8" fmla="*/ 71905 h 361156"/>
                <a:gd name="connsiteX9" fmla="*/ 595 w 2859882"/>
                <a:gd name="connsiteY9" fmla="*/ 69524 h 361156"/>
                <a:gd name="connsiteX10" fmla="*/ 1 w 2859882"/>
                <a:gd name="connsiteY10" fmla="*/ 69524 h 361156"/>
                <a:gd name="connsiteX11" fmla="*/ 1 w 2859882"/>
                <a:gd name="connsiteY11" fmla="*/ 0 h 3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59882" h="361156">
                  <a:moveTo>
                    <a:pt x="1" y="0"/>
                  </a:moveTo>
                  <a:cubicBezTo>
                    <a:pt x="1" y="159749"/>
                    <a:pt x="640207" y="289251"/>
                    <a:pt x="1429942" y="289251"/>
                  </a:cubicBezTo>
                  <a:cubicBezTo>
                    <a:pt x="2170319" y="289251"/>
                    <a:pt x="2779273" y="175431"/>
                    <a:pt x="2852500" y="29574"/>
                  </a:cubicBezTo>
                  <a:lnTo>
                    <a:pt x="2859881" y="8"/>
                  </a:lnTo>
                  <a:lnTo>
                    <a:pt x="2859881" y="69524"/>
                  </a:lnTo>
                  <a:lnTo>
                    <a:pt x="2859288" y="69524"/>
                  </a:lnTo>
                  <a:lnTo>
                    <a:pt x="2859882" y="71905"/>
                  </a:lnTo>
                  <a:cubicBezTo>
                    <a:pt x="2859882" y="231654"/>
                    <a:pt x="2219676" y="361156"/>
                    <a:pt x="1429941" y="361156"/>
                  </a:cubicBezTo>
                  <a:cubicBezTo>
                    <a:pt x="640206" y="361156"/>
                    <a:pt x="0" y="231654"/>
                    <a:pt x="0" y="71905"/>
                  </a:cubicBezTo>
                  <a:lnTo>
                    <a:pt x="595" y="69524"/>
                  </a:lnTo>
                  <a:lnTo>
                    <a:pt x="1" y="69524"/>
                  </a:lnTo>
                  <a:lnTo>
                    <a:pt x="1" y="0"/>
                  </a:lnTo>
                  <a:close/>
                </a:path>
              </a:pathLst>
            </a:custGeom>
            <a:gradFill flip="none" rotWithShape="1">
              <a:gsLst>
                <a:gs pos="50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rgbClr val="0070C0"/>
                </a:gs>
              </a:gsLst>
              <a:lin ang="2700000" scaled="1"/>
              <a:tileRect/>
            </a:gradFill>
            <a:ln w="6350" cap="flat" cmpd="sng" algn="ctr">
              <a:gradFill flip="none" rotWithShape="1">
                <a:gsLst>
                  <a:gs pos="0">
                    <a:srgbClr val="1D54B1">
                      <a:alpha val="0"/>
                    </a:srgbClr>
                  </a:gs>
                  <a:gs pos="100000">
                    <a:srgbClr val="1D54B1"/>
                  </a:gs>
                </a:gsLst>
                <a:lin ang="5400000" scaled="1"/>
                <a:tileRect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131300" y="241875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>
                  <a:reflection blurRad="6350" stA="50000" endA="300" endPos="50000" dist="29997" dir="5400000" sy="-100000" algn="bl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TT100K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>
                <a:reflection blurRad="6350" stA="50000" endA="300" endPos="50000" dist="29997" dir="5400000" sy="-100000" algn="bl" rotWithShape="0"/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29314" y="2182346"/>
            <a:ext cx="2533868" cy="44267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真实道路场景图像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73899" y="3101142"/>
            <a:ext cx="2533868" cy="44267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类交通标志子集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099995" y="2182346"/>
            <a:ext cx="2591755" cy="44267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训练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验证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测试划分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271425" y="3101142"/>
            <a:ext cx="2924972" cy="442674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小目标、遮挡、远距离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3" name="椭圆 1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854668" y="410108"/>
            <a:ext cx="5458651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数据集与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模型选型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99212" y="4623715"/>
            <a:ext cx="2983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TT100K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数据集的特点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仿宋_GB2312" panose="0201060903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99212" y="5136309"/>
            <a:ext cx="5678309" cy="100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TT100K </a:t>
            </a:r>
            <a:r>
              <a:rPr kumimoji="0" lang="zh-CN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数据集聚焦真实城市场景下的交通标志检测任务，覆盖多尺度、多类别及复杂干扰场景，为交通标志检测算法提供了贴近实际应用的高质量数据支撑。</a:t>
            </a:r>
            <a:endParaRPr kumimoji="0" lang="zh-CN" altLang="en-US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1726060"/>
            <a:ext cx="12192000" cy="2674267"/>
            <a:chOff x="0" y="2043018"/>
            <a:chExt cx="12192000" cy="177121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489"/>
            <a:stretch>
              <a:fillRect/>
            </a:stretch>
          </p:blipFill>
          <p:spPr>
            <a:xfrm>
              <a:off x="0" y="2043018"/>
              <a:ext cx="12192000" cy="177106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384"/>
            <a:stretch>
              <a:fillRect/>
            </a:stretch>
          </p:blipFill>
          <p:spPr>
            <a:xfrm flipH="1">
              <a:off x="0" y="2155822"/>
              <a:ext cx="12192000" cy="1658410"/>
            </a:xfrm>
            <a:prstGeom prst="rect">
              <a:avLst/>
            </a:prstGeom>
          </p:spPr>
        </p:pic>
      </p:grpSp>
      <p:sp>
        <p:nvSpPr>
          <p:cNvPr id="41" name="矩形 40"/>
          <p:cNvSpPr/>
          <p:nvPr/>
        </p:nvSpPr>
        <p:spPr>
          <a:xfrm flipH="1">
            <a:off x="-3" y="4400551"/>
            <a:ext cx="12191683" cy="2457002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97235" y="4720240"/>
            <a:ext cx="74528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YOLO11n</a:t>
            </a:r>
            <a:r>
              <a:rPr kumimoji="0" lang="zh-CN" altLang="en-US" sz="2200" b="1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模型选型理由</a:t>
            </a:r>
            <a:endParaRPr kumimoji="0" lang="zh-CN" altLang="zh-CN" sz="2200" b="1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21" name="椭圆 20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平行四边形 35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54669" y="410108"/>
            <a:ext cx="5395686" cy="107251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数据集与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模型选型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pic>
        <p:nvPicPr>
          <p:cNvPr id="12" name="图片 11" descr="示意图&#10;&#10;中度可信度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44" y="1101305"/>
            <a:ext cx="1879600" cy="3213100"/>
          </a:xfrm>
          <a:prstGeom prst="rect">
            <a:avLst/>
          </a:prstGeom>
          <a:ln w="19050">
            <a:solidFill>
              <a:srgbClr val="1D54B1"/>
            </a:solidFill>
            <a:prstDash val="dash"/>
          </a:ln>
        </p:spPr>
      </p:pic>
      <p:pic>
        <p:nvPicPr>
          <p:cNvPr id="14" name="图片 13" descr="文本&#10;&#10;描述已自动生成"/>
          <p:cNvPicPr>
            <a:picLocks noChangeAspect="1"/>
          </p:cNvPicPr>
          <p:nvPr/>
        </p:nvPicPr>
        <p:blipFill rotWithShape="1">
          <a:blip r:embed="rId5"/>
          <a:srcRect l="1369"/>
          <a:stretch>
            <a:fillRect/>
          </a:stretch>
        </p:blipFill>
        <p:spPr>
          <a:xfrm>
            <a:off x="2845729" y="1101305"/>
            <a:ext cx="1828800" cy="3213100"/>
          </a:xfrm>
          <a:prstGeom prst="rect">
            <a:avLst/>
          </a:prstGeom>
          <a:ln w="19050">
            <a:solidFill>
              <a:srgbClr val="1D54B1"/>
            </a:solidFill>
            <a:prstDash val="dash"/>
          </a:ln>
        </p:spPr>
      </p:pic>
      <p:pic>
        <p:nvPicPr>
          <p:cNvPr id="16" name="图片 15" descr="图形用户界面&#10;&#10;描述已自动生成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0515" y="1101305"/>
            <a:ext cx="2035390" cy="3213100"/>
          </a:xfrm>
          <a:prstGeom prst="rect">
            <a:avLst/>
          </a:prstGeom>
          <a:ln w="19050">
            <a:solidFill>
              <a:srgbClr val="1D54B1"/>
            </a:solidFill>
            <a:prstDash val="dash"/>
          </a:ln>
        </p:spPr>
      </p:pic>
      <p:pic>
        <p:nvPicPr>
          <p:cNvPr id="19" name="图片 18" descr="文本&#10;&#10;描述已自动生成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401" y="1101305"/>
            <a:ext cx="1765300" cy="3225800"/>
          </a:xfrm>
          <a:prstGeom prst="rect">
            <a:avLst/>
          </a:prstGeom>
          <a:ln w="19050">
            <a:solidFill>
              <a:srgbClr val="1D54B1"/>
            </a:solidFill>
            <a:prstDash val="dash"/>
          </a:ln>
        </p:spPr>
      </p:pic>
      <p:pic>
        <p:nvPicPr>
          <p:cNvPr id="39" name="图片 38" descr="文本, 应用程序&#10;&#10;描述已自动生成"/>
          <p:cNvPicPr>
            <a:picLocks noChangeAspect="1"/>
          </p:cNvPicPr>
          <p:nvPr/>
        </p:nvPicPr>
        <p:blipFill rotWithShape="1">
          <a:blip r:embed="rId8"/>
          <a:srcRect t="-1" b="1557"/>
          <a:stretch>
            <a:fillRect/>
          </a:stretch>
        </p:blipFill>
        <p:spPr>
          <a:xfrm>
            <a:off x="9614197" y="1101305"/>
            <a:ext cx="1828800" cy="3213100"/>
          </a:xfrm>
          <a:prstGeom prst="rect">
            <a:avLst/>
          </a:prstGeom>
          <a:ln w="19050">
            <a:solidFill>
              <a:srgbClr val="1D54B1"/>
            </a:solidFill>
            <a:prstDash val="dash"/>
          </a:ln>
        </p:spPr>
      </p:pic>
      <p:sp>
        <p:nvSpPr>
          <p:cNvPr id="40" name="右箭头 39"/>
          <p:cNvSpPr/>
          <p:nvPr/>
        </p:nvSpPr>
        <p:spPr>
          <a:xfrm>
            <a:off x="2549473" y="2608208"/>
            <a:ext cx="211016" cy="199293"/>
          </a:xfrm>
          <a:prstGeom prst="rightArrow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4770909" y="2617275"/>
            <a:ext cx="211016" cy="199293"/>
          </a:xfrm>
          <a:prstGeom prst="rightArrow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右箭头 42"/>
          <p:cNvSpPr/>
          <p:nvPr/>
        </p:nvSpPr>
        <p:spPr>
          <a:xfrm>
            <a:off x="7171145" y="2608207"/>
            <a:ext cx="211016" cy="199293"/>
          </a:xfrm>
          <a:prstGeom prst="rightArrow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右箭头 43"/>
          <p:cNvSpPr/>
          <p:nvPr/>
        </p:nvSpPr>
        <p:spPr>
          <a:xfrm>
            <a:off x="9317941" y="2608206"/>
            <a:ext cx="211016" cy="199293"/>
          </a:xfrm>
          <a:prstGeom prst="rightArrow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54669" y="5151127"/>
            <a:ext cx="107949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GB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2.59M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参数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：模型仅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2.59</a:t>
            </a: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参数，轻量化设计，存储占用小，适配边缘设备部署。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实时检测：推理速度快、延迟低，满足实时性需求，适配视频流与嵌入式场景。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多尺度特征融合：采用 </a:t>
            </a: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PAN-FPN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结构，增强小目标检测能力，适配不同尺度交通标志。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GB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Ultralytics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工程生态成熟：框架完善，流程成熟，社区活跃，便于开发部署。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" y="0"/>
            <a:ext cx="4760029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417141" cy="2346785"/>
            <a:chOff x="497375" y="1211712"/>
            <a:chExt cx="6417141" cy="234678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41714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模型结构与机制介绍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 flipH="1">
            <a:off x="-3" y="4400551"/>
            <a:ext cx="12191683" cy="2457002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97235" y="4578349"/>
            <a:ext cx="74528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YOLO11n</a:t>
            </a:r>
            <a:r>
              <a:rPr kumimoji="0" lang="zh-CN" altLang="en-US" sz="2200" b="1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整体架构</a:t>
            </a:r>
            <a:endParaRPr kumimoji="0" lang="zh-CN" altLang="zh-CN" sz="2200" b="1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21" name="椭圆 20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平行四边形 35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54669" y="410108"/>
            <a:ext cx="539568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854669" y="5072298"/>
            <a:ext cx="107949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输入：道路场景图像，面向交通标志小目标检测。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Backbone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kumimoji="0" lang="zh-CN" alt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特征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提取</a:t>
            </a:r>
            <a:r>
              <a:rPr kumimoji="0" lang="zh-CN" alt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轻量化网络，高效提取多尺度特征。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Neck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多尺度特征融合</a:t>
            </a:r>
            <a:r>
              <a:rPr kumimoji="0" lang="zh-CN" alt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：</a:t>
            </a: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FPN+PAN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结构，融合多尺度特征，强化小目标表达。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Head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检测输出</a:t>
            </a:r>
            <a:r>
              <a:rPr kumimoji="0" lang="zh-CN" alt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解耦检测头，无锚框设计，输出边界框、类别与置信度。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输出：标注后的检测结果，实现高精度检测。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图形用户界面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089660"/>
            <a:ext cx="10231755" cy="32194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rgbClr val="273CA9">
                  <a:alpha val="95011"/>
                </a:srgb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9" y="410108"/>
            <a:ext cx="4043124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Backbone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特征提取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pic>
        <p:nvPicPr>
          <p:cNvPr id="4" name="图片 3" descr="图示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" y="2344420"/>
            <a:ext cx="6840855" cy="30575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36048" y="1618014"/>
            <a:ext cx="4639176" cy="47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轻量化跨阶段连接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通过跨阶段跳连复用多层语义信息，在降低计算开销的同时提升特征表达能力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扩大感受野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SPPF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多尺度池化并行融合不同尺度上下文，显著扩大感受野，提升对小目标的感知能力。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增强语义选择能力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C2PSA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引入注意力机制，自适应筛选关键语义信息，抑制冗余干扰，提升特征的判别性与鲁棒性。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rgbClr val="273CA9">
                  <a:alpha val="95011"/>
                </a:srgb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9" y="410108"/>
            <a:ext cx="4043124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Neck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多尺度特征融合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pic>
        <p:nvPicPr>
          <p:cNvPr id="5" name="图片 4" descr="日程表&#10;&#10;中度可信度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48" y="2220416"/>
            <a:ext cx="6574766" cy="352219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36048" y="1618014"/>
            <a:ext cx="4639176" cy="4702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浅层保留位置信息，提升小目标定位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algn="l" defTabSz="914400" rtl="0" eaLnBrk="1" fontAlgn="auto" latinLnBrk="1" hangingPunct="1">
              <a:lnSpc>
                <a:spcPct val="120000"/>
              </a:lnSpc>
              <a:spcAft>
                <a:spcPts val="600"/>
              </a:spcAft>
              <a:buClrTx/>
              <a:buSzTx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充分利用高分辨率浅层特征的空间细节，增强对交通标志这类小目标的定位精度。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深层引入语义信息，增强分类鲁棒性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latinLnBrk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结合低分辨率深层特征的强语义信息，提升不同类别交通标志的分类稳定性。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FPN+PAN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双向融合，兼顾精度效率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fontAlgn="auto" latinLnBrk="1">
              <a:lnSpc>
                <a:spcPct val="120000"/>
              </a:lnSpc>
              <a:spcAft>
                <a:spcPts val="600"/>
              </a:spcAft>
              <a:buClrTx/>
              <a:buSzTx/>
              <a:defRPr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通过自顶向下与自底向上的双向路径，高效融合多尺度特征，在轻量化模型中平衡检测精度与推理效率。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rgbClr val="273CA9">
                  <a:alpha val="95011"/>
                </a:srgb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9" y="410108"/>
            <a:ext cx="4043124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Neck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多尺度特征融合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36048" y="1358979"/>
            <a:ext cx="4639176" cy="43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检测输出示意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形状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72" y="1618014"/>
            <a:ext cx="6604000" cy="4940300"/>
          </a:xfrm>
          <a:prstGeom prst="rect">
            <a:avLst/>
          </a:prstGeom>
        </p:spPr>
      </p:pic>
      <p:pic>
        <p:nvPicPr>
          <p:cNvPr id="11" name="图片 10" descr="公路上有许多车&#10;&#10;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549" y="1892326"/>
            <a:ext cx="4533900" cy="2438400"/>
          </a:xfrm>
          <a:prstGeom prst="rect">
            <a:avLst/>
          </a:prstGeom>
        </p:spPr>
      </p:pic>
      <p:graphicFrame>
        <p:nvGraphicFramePr>
          <p:cNvPr id="12" name="表格 29"/>
          <p:cNvGraphicFramePr>
            <a:graphicFrameLocks noGrp="1"/>
          </p:cNvGraphicFramePr>
          <p:nvPr/>
        </p:nvGraphicFramePr>
        <p:xfrm>
          <a:off x="7236047" y="4545546"/>
          <a:ext cx="4810181" cy="1797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193"/>
                <a:gridCol w="792480"/>
                <a:gridCol w="2729508"/>
              </a:tblGrid>
              <a:tr h="35751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置信度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边界框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24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80km/h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0.93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(52, 78, 79, 105)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624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Keep Right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(143, 173, 168, 198)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575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Pedestrian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0.88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(932, 80, 966, 114)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575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Bus Lane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0.87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(1005, 165, 1048, 206)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1" y="4984730"/>
            <a:ext cx="12192000" cy="1871964"/>
          </a:xfrm>
          <a:prstGeom prst="rect">
            <a:avLst/>
          </a:prstGeom>
        </p:spPr>
      </p:pic>
      <p:sp>
        <p:nvSpPr>
          <p:cNvPr id="16" name="Parallelogram 9"/>
          <p:cNvSpPr/>
          <p:nvPr/>
        </p:nvSpPr>
        <p:spPr>
          <a:xfrm>
            <a:off x="-1" y="4492080"/>
            <a:ext cx="12192001" cy="2364614"/>
          </a:xfrm>
          <a:prstGeom prst="rect">
            <a:avLst/>
          </a:prstGeom>
          <a:gradFill>
            <a:gsLst>
              <a:gs pos="0">
                <a:srgbClr val="2F90D8"/>
              </a:gs>
              <a:gs pos="53000">
                <a:srgbClr val="3354B5">
                  <a:alpha val="90000"/>
                </a:srgbClr>
              </a:gs>
              <a:gs pos="100000">
                <a:srgbClr val="361F97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ID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 flipV="1">
            <a:off x="799424" y="1307512"/>
            <a:ext cx="3305337" cy="3672777"/>
          </a:xfrm>
          <a:prstGeom prst="rect">
            <a:avLst/>
          </a:prstGeom>
          <a:solidFill>
            <a:schemeClr val="bg1"/>
          </a:solidFill>
          <a:ln w="19050">
            <a:solidFill>
              <a:srgbClr val="1D54B1"/>
            </a:solidFill>
            <a:prstDash val="dash"/>
          </a:ln>
        </p:spPr>
        <p:txBody>
          <a:bodyPr wrap="square" anchor="ctr">
            <a:noAutofit/>
          </a:bodyPr>
          <a:lstStyle/>
          <a:p>
            <a:endParaRPr lang="zh-CN" altLang="en-US" sz="1400" dirty="0">
              <a:solidFill>
                <a:srgbClr val="8B1C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99424" y="1214440"/>
            <a:ext cx="3305337" cy="93075"/>
          </a:xfrm>
          <a:prstGeom prst="rect">
            <a:avLst/>
          </a:prstGeom>
          <a:solidFill>
            <a:srgbClr val="006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 flipV="1">
            <a:off x="7954578" y="1311955"/>
            <a:ext cx="3449047" cy="3668334"/>
          </a:xfrm>
          <a:prstGeom prst="rect">
            <a:avLst/>
          </a:prstGeom>
          <a:solidFill>
            <a:schemeClr val="bg1"/>
          </a:solidFill>
          <a:ln w="19050">
            <a:solidFill>
              <a:srgbClr val="1D54B1"/>
            </a:solidFill>
            <a:prstDash val="dash"/>
          </a:ln>
        </p:spPr>
        <p:txBody>
          <a:bodyPr wrap="square" anchor="ctr">
            <a:noAutofit/>
          </a:bodyPr>
          <a:lstStyle/>
          <a:p>
            <a:endParaRPr lang="zh-CN" altLang="en-US" sz="1400" dirty="0">
              <a:solidFill>
                <a:srgbClr val="8B1C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 flipV="1">
            <a:off x="4376574" y="1307513"/>
            <a:ext cx="3305337" cy="3672776"/>
          </a:xfrm>
          <a:prstGeom prst="rect">
            <a:avLst/>
          </a:prstGeom>
          <a:solidFill>
            <a:schemeClr val="bg1"/>
          </a:solidFill>
          <a:ln w="19050">
            <a:solidFill>
              <a:srgbClr val="1D54B1"/>
            </a:solidFill>
            <a:prstDash val="dash"/>
          </a:ln>
        </p:spPr>
        <p:txBody>
          <a:bodyPr wrap="square" anchor="ctr">
            <a:noAutofit/>
          </a:bodyPr>
          <a:lstStyle/>
          <a:p>
            <a:endParaRPr lang="zh-CN" altLang="en-US" sz="1400" dirty="0">
              <a:solidFill>
                <a:srgbClr val="8B1C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76574" y="1214440"/>
            <a:ext cx="3305337" cy="93075"/>
          </a:xfrm>
          <a:prstGeom prst="rect">
            <a:avLst/>
          </a:prstGeom>
          <a:solidFill>
            <a:srgbClr val="006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954578" y="1214440"/>
            <a:ext cx="3449047" cy="93075"/>
          </a:xfrm>
          <a:prstGeom prst="rect">
            <a:avLst/>
          </a:prstGeom>
          <a:solidFill>
            <a:srgbClr val="006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0"/>
          <p:cNvSpPr txBox="1"/>
          <p:nvPr/>
        </p:nvSpPr>
        <p:spPr>
          <a:xfrm>
            <a:off x="1037604" y="2035350"/>
            <a:ext cx="2934322" cy="89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en-US" altLang="zh-CN" sz="160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L</a:t>
            </a:r>
            <a:r>
              <a:rPr lang="en-US" altLang="zh-CN" sz="1600" baseline="-2500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box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 </a:t>
            </a:r>
            <a:r>
              <a:rPr lang="en-US" altLang="zh-CN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=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 </a:t>
            </a:r>
            <a:r>
              <a:rPr lang="en-US" altLang="zh-CN" sz="160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LoU</a:t>
            </a:r>
            <a:r>
              <a:rPr lang="en-US" altLang="zh-CN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 / </a:t>
            </a:r>
            <a:r>
              <a:rPr lang="en-US" altLang="zh-CN" sz="160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GloU</a:t>
            </a:r>
            <a:r>
              <a:rPr lang="en-US" altLang="zh-CN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 / </a:t>
            </a:r>
            <a:r>
              <a:rPr lang="en-US" altLang="zh-CN" sz="160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CloU</a:t>
            </a:r>
            <a:endParaRPr lang="en-US" altLang="zh-CN" sz="16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定位误差损失</a:t>
            </a:r>
            <a:endParaRPr lang="en-US" altLang="zh-CN" sz="16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8" name="TextBox 21"/>
          <p:cNvSpPr txBox="1"/>
          <p:nvPr/>
        </p:nvSpPr>
        <p:spPr>
          <a:xfrm>
            <a:off x="1037604" y="1467015"/>
            <a:ext cx="281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Box</a:t>
            </a:r>
            <a:r>
              <a:rPr lang="zh-CN" altLang="en-US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  <a:endParaRPr lang="zh-CN" altLang="en-US" sz="2400" b="1" dirty="0">
              <a:solidFill>
                <a:srgbClr val="006ED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20"/>
          <p:cNvSpPr txBox="1"/>
          <p:nvPr/>
        </p:nvSpPr>
        <p:spPr>
          <a:xfrm>
            <a:off x="4609481" y="2063056"/>
            <a:ext cx="2934322" cy="89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en-US" altLang="zh-CN" sz="160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L</a:t>
            </a:r>
            <a:r>
              <a:rPr lang="en-US" altLang="zh-CN" sz="1600" baseline="-2500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dfl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 </a:t>
            </a:r>
            <a:r>
              <a:rPr lang="en-US" altLang="zh-CN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=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分布回归损失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学习边界的细粒度分布</a:t>
            </a:r>
            <a:endParaRPr lang="en-US" altLang="zh-CN" sz="16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4609481" y="1494721"/>
            <a:ext cx="281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DFL</a:t>
            </a:r>
            <a:r>
              <a:rPr lang="zh-CN" altLang="en-US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  <a:endParaRPr lang="zh-CN" altLang="en-US" sz="2400" b="1" dirty="0">
              <a:solidFill>
                <a:srgbClr val="006ED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81356" y="2063056"/>
            <a:ext cx="2934322" cy="89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en-US" altLang="zh-CN" sz="160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L</a:t>
            </a:r>
            <a:r>
              <a:rPr lang="en-US" altLang="zh-CN" sz="1600" baseline="-2500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cls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 </a:t>
            </a:r>
            <a:r>
              <a:rPr lang="en-US" altLang="zh-CN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=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 目标类别损失</a:t>
            </a:r>
            <a:endParaRPr lang="en-US" altLang="zh-CN" sz="16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预测交通标志类别</a:t>
            </a:r>
            <a:endParaRPr lang="en-US" altLang="zh-CN" sz="16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81356" y="1494721"/>
            <a:ext cx="3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Classification</a:t>
            </a:r>
            <a:r>
              <a:rPr lang="zh-CN" altLang="en-US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  <a:endParaRPr lang="zh-CN" altLang="en-US" sz="2400" b="1" dirty="0">
              <a:solidFill>
                <a:srgbClr val="006ED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5" name="椭圆 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7" name="平行四边形 36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54669" y="410108"/>
            <a:ext cx="539568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40" name="图片 39" descr="图表, 箱线图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365" y="3087085"/>
            <a:ext cx="2336800" cy="1828800"/>
          </a:xfrm>
          <a:prstGeom prst="rect">
            <a:avLst/>
          </a:prstGeom>
        </p:spPr>
      </p:pic>
      <p:pic>
        <p:nvPicPr>
          <p:cNvPr id="42" name="图片 41" descr="图形用户界面, 应用程序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592" y="3073612"/>
            <a:ext cx="2578100" cy="1866900"/>
          </a:xfrm>
          <a:prstGeom prst="rect">
            <a:avLst/>
          </a:prstGeom>
        </p:spPr>
      </p:pic>
      <p:pic>
        <p:nvPicPr>
          <p:cNvPr id="44" name="图片 43" descr="图片包含 图表&#10;&#10;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651" y="3079962"/>
            <a:ext cx="2628900" cy="185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5" name="圆角矩形 44"/>
              <p:cNvSpPr/>
              <p:nvPr/>
            </p:nvSpPr>
            <p:spPr>
              <a:xfrm>
                <a:off x="795207" y="5163475"/>
                <a:ext cx="4830341" cy="1274383"/>
              </a:xfrm>
              <a:prstGeom prst="roundRect">
                <a:avLst/>
              </a:prstGeom>
              <a:solidFill>
                <a:srgbClr val="E9F2FE"/>
              </a:solidFill>
              <a:ln>
                <a:solidFill>
                  <a:srgbClr val="E9F2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 noProof="0" dirty="0">
                    <a:ln>
                      <a:noFill/>
                    </a:ln>
                    <a:solidFill>
                      <a:srgbClr val="1D54B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OPPOSans M" panose="00020600040101010101" pitchFamily="18" charset="-122"/>
                    <a:sym typeface="OPPOSans M" panose="00020600040101010101" pitchFamily="18" charset="-122"/>
                  </a:rPr>
                  <a:t>损失函数</a:t>
                </a:r>
                <a:endParaRPr lang="en-US" altLang="zh-CN" sz="2400" b="1" noProof="0" dirty="0">
                  <a:ln>
                    <a:noFill/>
                  </a:ln>
                  <a:solidFill>
                    <a:srgbClr val="1D54B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M" panose="00020600040101010101" pitchFamily="18" charset="-122"/>
                  <a:sym typeface="OPPOSans M" panose="00020600040101010101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2400" b="0" i="1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  <m:t>𝑡𝑜𝑡𝑎𝑙</m:t>
                          </m:r>
                        </m:sub>
                      </m:sSub>
                      <m:r>
                        <a:rPr lang="en-US" altLang="zh-CN" sz="2400" b="0" i="1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OPPOSans M" panose="00020600040101010101" pitchFamily="18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POSans M" panose="00020600040101010101" pitchFamily="18" charset="-122"/>
                              <a:sym typeface="OPPOSans M" panose="00020600040101010101" pitchFamily="18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2400" b="0" i="1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  <m:t>𝑏𝑜𝑥</m:t>
                          </m:r>
                        </m:sub>
                      </m:sSub>
                      <m:r>
                        <a:rPr lang="en-US" altLang="zh-CN" sz="2400" b="0" i="1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OPPOSans M" panose="00020600040101010101" pitchFamily="18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POSans M" panose="00020600040101010101" pitchFamily="18" charset="-122"/>
                              <a:sym typeface="OPPOSans M" panose="00020600040101010101" pitchFamily="18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POSans M" panose="00020600040101010101" pitchFamily="18" charset="-122"/>
                              <a:sym typeface="OPPOSans M" panose="00020600040101010101" pitchFamily="18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  <m:t>𝑑𝑓𝑙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OPPOSans M" panose="00020600040101010101" pitchFamily="18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POSans M" panose="00020600040101010101" pitchFamily="18" charset="-122"/>
                              <a:sym typeface="OPPOSans M" panose="00020600040101010101" pitchFamily="18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POSans M" panose="00020600040101010101" pitchFamily="18" charset="-122"/>
                              <a:sym typeface="OPPOSans M" panose="00020600040101010101" pitchFamily="18" charset="-122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OPPOSans M" panose="00020600040101010101" pitchFamily="18" charset="-122"/>
                            </a:rPr>
                            <m:t>𝑐𝑙𝑠</m:t>
                          </m:r>
                        </m:sub>
                      </m:sSub>
                    </m:oMath>
                  </m:oMathPara>
                </a14:m>
                <a:endParaRPr lang="en-US" altLang="zh-CN" sz="18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M" panose="00020600040101010101" pitchFamily="18" charset="-122"/>
                  <a:sym typeface="OPPOSans M" panose="00020600040101010101" pitchFamily="18" charset="-122"/>
                </a:endParaRPr>
              </a:p>
            </p:txBody>
          </p:sp>
        </mc:Choice>
        <mc:Fallback>
          <p:sp>
            <p:nvSpPr>
              <p:cNvPr id="45" name="圆角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207" y="5163475"/>
                <a:ext cx="4830341" cy="1274383"/>
              </a:xfrm>
              <a:prstGeom prst="roundRect">
                <a:avLst/>
              </a:prstGeom>
              <a:blipFill rotWithShape="1">
                <a:blip r:embed="rId6"/>
                <a:stretch>
                  <a:fillRect l="-135" t="-521" r="-130" b="-480"/>
                </a:stretch>
              </a:blipFill>
              <a:ln>
                <a:solidFill>
                  <a:srgbClr val="E9F2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圆角矩形 46"/>
          <p:cNvSpPr/>
          <p:nvPr/>
        </p:nvSpPr>
        <p:spPr>
          <a:xfrm>
            <a:off x="6573284" y="5163055"/>
            <a:ext cx="4830341" cy="1274383"/>
          </a:xfrm>
          <a:prstGeom prst="round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E9F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OPPOSans M" panose="00020600040101010101" pitchFamily="18" charset="-122"/>
              </a:rPr>
              <a:t>最终检测结果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OPPOSans M" panose="00020600040101010101" pitchFamily="18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417141" cy="2346785"/>
            <a:chOff x="497375" y="1211712"/>
            <a:chExt cx="6417141" cy="234678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41714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实验设置与结果分析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4" name="图形"/>
          <p:cNvSpPr txBox="1"/>
          <p:nvPr/>
        </p:nvSpPr>
        <p:spPr>
          <a:xfrm>
            <a:off x="924972" y="1597414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实验配置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graphicFrame>
        <p:nvGraphicFramePr>
          <p:cNvPr id="29" name="表格 29"/>
          <p:cNvGraphicFramePr>
            <a:graphicFrameLocks noGrp="1"/>
          </p:cNvGraphicFramePr>
          <p:nvPr/>
        </p:nvGraphicFramePr>
        <p:xfrm>
          <a:off x="1457075" y="2472687"/>
          <a:ext cx="9296400" cy="2703324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970510"/>
                <a:gridCol w="6325688"/>
              </a:tblGrid>
              <a:tr h="53619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数据集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TT100K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类交通标志子集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436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YOLO11n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436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输入尺度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704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3619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训练轮次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epoch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436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精确率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召回率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/mAP50/m AP50-95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4" name="图形"/>
          <p:cNvSpPr txBox="1"/>
          <p:nvPr/>
        </p:nvSpPr>
        <p:spPr>
          <a:xfrm>
            <a:off x="924972" y="1597414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训练曲线分析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5" name="图形"/>
          <p:cNvSpPr txBox="1"/>
          <p:nvPr/>
        </p:nvSpPr>
        <p:spPr>
          <a:xfrm>
            <a:off x="8110670" y="2266887"/>
            <a:ext cx="3537992" cy="3000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模型稳定收敛，训练与验证曲线走势一致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后期仍有收益，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mAP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持续小幅提升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分类损失显著下降，说明小目标识别能力增强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pic>
        <p:nvPicPr>
          <p:cNvPr id="27" name="图片 26" descr="图表, 折线图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2268220"/>
            <a:ext cx="7040880" cy="4140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1" y="4984730"/>
            <a:ext cx="12192000" cy="1871964"/>
          </a:xfrm>
          <a:prstGeom prst="rect">
            <a:avLst/>
          </a:prstGeom>
        </p:spPr>
      </p:pic>
      <p:sp>
        <p:nvSpPr>
          <p:cNvPr id="16" name="Parallelogram 9"/>
          <p:cNvSpPr/>
          <p:nvPr/>
        </p:nvSpPr>
        <p:spPr>
          <a:xfrm>
            <a:off x="-1" y="4492080"/>
            <a:ext cx="12192001" cy="2364614"/>
          </a:xfrm>
          <a:prstGeom prst="rect">
            <a:avLst/>
          </a:prstGeom>
          <a:gradFill>
            <a:gsLst>
              <a:gs pos="0">
                <a:srgbClr val="2F90D8"/>
              </a:gs>
              <a:gs pos="53000">
                <a:srgbClr val="3354B5">
                  <a:alpha val="90000"/>
                </a:srgbClr>
              </a:gs>
              <a:gs pos="100000">
                <a:srgbClr val="361F97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ID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 flipV="1">
            <a:off x="799424" y="1307511"/>
            <a:ext cx="3305337" cy="4621475"/>
          </a:xfrm>
          <a:prstGeom prst="rect">
            <a:avLst/>
          </a:prstGeom>
          <a:solidFill>
            <a:schemeClr val="bg1"/>
          </a:solidFill>
          <a:ln w="19050">
            <a:solidFill>
              <a:srgbClr val="1D54B1"/>
            </a:solidFill>
            <a:prstDash val="dash"/>
          </a:ln>
        </p:spPr>
        <p:txBody>
          <a:bodyPr wrap="square" anchor="ctr">
            <a:noAutofit/>
          </a:bodyPr>
          <a:lstStyle/>
          <a:p>
            <a:endParaRPr lang="zh-CN" altLang="en-US" sz="1400" dirty="0">
              <a:solidFill>
                <a:srgbClr val="8B1C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99424" y="1214440"/>
            <a:ext cx="3305337" cy="93075"/>
          </a:xfrm>
          <a:prstGeom prst="rect">
            <a:avLst/>
          </a:prstGeom>
          <a:solidFill>
            <a:srgbClr val="006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 flipV="1">
            <a:off x="7954578" y="1311955"/>
            <a:ext cx="3449047" cy="4617030"/>
          </a:xfrm>
          <a:prstGeom prst="rect">
            <a:avLst/>
          </a:prstGeom>
          <a:solidFill>
            <a:schemeClr val="bg1"/>
          </a:solidFill>
          <a:ln w="19050">
            <a:solidFill>
              <a:srgbClr val="1D54B1"/>
            </a:solidFill>
            <a:prstDash val="dash"/>
          </a:ln>
        </p:spPr>
        <p:txBody>
          <a:bodyPr wrap="square" anchor="ctr">
            <a:noAutofit/>
          </a:bodyPr>
          <a:lstStyle/>
          <a:p>
            <a:endParaRPr lang="zh-CN" altLang="en-US" sz="1400" dirty="0">
              <a:solidFill>
                <a:srgbClr val="8B1C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 flipV="1">
            <a:off x="4376574" y="1307512"/>
            <a:ext cx="3305337" cy="4621473"/>
          </a:xfrm>
          <a:prstGeom prst="rect">
            <a:avLst/>
          </a:prstGeom>
          <a:solidFill>
            <a:schemeClr val="bg1"/>
          </a:solidFill>
          <a:ln w="19050">
            <a:solidFill>
              <a:srgbClr val="1D54B1"/>
            </a:solidFill>
            <a:prstDash val="dash"/>
          </a:ln>
        </p:spPr>
        <p:txBody>
          <a:bodyPr wrap="square" anchor="ctr">
            <a:noAutofit/>
          </a:bodyPr>
          <a:lstStyle/>
          <a:p>
            <a:endParaRPr lang="zh-CN" altLang="en-US" sz="1400" dirty="0">
              <a:solidFill>
                <a:srgbClr val="8B1C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76574" y="1214440"/>
            <a:ext cx="3305337" cy="93075"/>
          </a:xfrm>
          <a:prstGeom prst="rect">
            <a:avLst/>
          </a:prstGeom>
          <a:solidFill>
            <a:srgbClr val="006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954578" y="1214440"/>
            <a:ext cx="3449047" cy="93075"/>
          </a:xfrm>
          <a:prstGeom prst="rect">
            <a:avLst/>
          </a:prstGeom>
          <a:solidFill>
            <a:srgbClr val="006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0"/>
          <p:cNvSpPr txBox="1"/>
          <p:nvPr/>
        </p:nvSpPr>
        <p:spPr>
          <a:xfrm>
            <a:off x="1037604" y="2035350"/>
            <a:ext cx="2934322" cy="74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基线配置，能检测多数中大目标，小目标检测效果有限</a:t>
            </a:r>
            <a:endParaRPr lang="en-US" altLang="zh-CN" sz="16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18" name="TextBox 21"/>
          <p:cNvSpPr txBox="1"/>
          <p:nvPr/>
        </p:nvSpPr>
        <p:spPr>
          <a:xfrm>
            <a:off x="1037604" y="1467015"/>
            <a:ext cx="281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YOLO11n</a:t>
            </a:r>
            <a:r>
              <a:rPr lang="zh-CN" altLang="en-US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640/20</a:t>
            </a:r>
            <a:endParaRPr lang="zh-CN" altLang="en-US" sz="2400" b="1" dirty="0">
              <a:solidFill>
                <a:srgbClr val="006ED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20"/>
          <p:cNvSpPr txBox="1"/>
          <p:nvPr/>
        </p:nvSpPr>
        <p:spPr>
          <a:xfrm>
            <a:off x="4609481" y="2063056"/>
            <a:ext cx="2934322" cy="74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提高输入分辨率，增强对小目标感知能力，</a:t>
            </a:r>
            <a:r>
              <a:rPr lang="en-US" altLang="zh-CN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mAP50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明显提升</a:t>
            </a:r>
            <a:endParaRPr lang="en-US" altLang="zh-CN" sz="16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4609481" y="1494721"/>
            <a:ext cx="2817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YOLO11n</a:t>
            </a:r>
            <a:r>
              <a:rPr lang="zh-CN" altLang="en-US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704/20</a:t>
            </a:r>
            <a:endParaRPr lang="zh-CN" altLang="en-US" sz="2400" b="1" dirty="0">
              <a:solidFill>
                <a:srgbClr val="006ED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81356" y="2063056"/>
            <a:ext cx="2934322" cy="74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  <a:sym typeface="OPPOSans M" panose="00020600040101010101" pitchFamily="18" charset="-122"/>
              </a:rPr>
              <a:t>增加训练轮次，模型收敛更充分，小目标检测效果显著提升</a:t>
            </a:r>
            <a:endParaRPr lang="en-US" altLang="zh-CN" sz="16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81356" y="1494721"/>
            <a:ext cx="3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YOLO11n</a:t>
            </a:r>
            <a:r>
              <a:rPr lang="zh-CN" altLang="en-US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6E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704/50</a:t>
            </a:r>
            <a:endParaRPr lang="zh-CN" altLang="en-US" sz="2400" b="1" dirty="0">
              <a:solidFill>
                <a:srgbClr val="006ED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5" name="椭圆 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7" name="平行四边形 36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54669" y="410108"/>
            <a:ext cx="539568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6898" y="6208546"/>
            <a:ext cx="93523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训练轮次增加后，小目标交通标志检测效果显著提升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应用程序&#10;&#10;中度可信度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689" y="2910802"/>
            <a:ext cx="2120900" cy="2921000"/>
          </a:xfrm>
          <a:prstGeom prst="rect">
            <a:avLst/>
          </a:prstGeom>
        </p:spPr>
      </p:pic>
      <p:pic>
        <p:nvPicPr>
          <p:cNvPr id="39" name="图片 38" descr="应用程序&#10;&#10;中度可信度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410" y="2900499"/>
            <a:ext cx="2120900" cy="2921000"/>
          </a:xfrm>
          <a:prstGeom prst="rect">
            <a:avLst/>
          </a:prstGeom>
        </p:spPr>
      </p:pic>
      <p:pic>
        <p:nvPicPr>
          <p:cNvPr id="43" name="图片 42" descr="图片包含 图表&#10;&#10;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0201" y="2914097"/>
            <a:ext cx="2717800" cy="2921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3637" t="-275"/>
          <a:stretch>
            <a:fillRect/>
          </a:stretch>
        </p:blipFill>
        <p:spPr>
          <a:xfrm>
            <a:off x="6891542" y="-17641"/>
            <a:ext cx="5300458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066998" y="0"/>
            <a:ext cx="5125002" cy="6858000"/>
          </a:xfrm>
          <a:prstGeom prst="rect">
            <a:avLst/>
          </a:prstGeom>
          <a:gradFill>
            <a:gsLst>
              <a:gs pos="91000">
                <a:srgbClr val="273CA9">
                  <a:alpha val="95011"/>
                </a:srgbClr>
              </a:gs>
              <a:gs pos="4000">
                <a:srgbClr val="0070C0">
                  <a:alpha val="52941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9" y="410108"/>
            <a:ext cx="4043124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混淆矩阵与逐类别分析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1269134" y="297744"/>
            <a:ext cx="606090" cy="676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36048" y="1618014"/>
            <a:ext cx="4639176" cy="2951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逐类别分析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限速类整体较好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no_parking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和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no_stopping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易混淆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go_straight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有背景漏检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检测效果示例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829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模型在复杂场景下能准确定位小目标，但仍存在漏检与误检的情况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6" name="图片 5" descr="表格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00" y="3032476"/>
            <a:ext cx="6207266" cy="3196742"/>
          </a:xfrm>
          <a:prstGeom prst="rect">
            <a:avLst/>
          </a:prstGeom>
        </p:spPr>
      </p:pic>
      <p:pic>
        <p:nvPicPr>
          <p:cNvPr id="11" name="图片 10" descr="公路上行驶&#10;&#10;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593" y="4707320"/>
            <a:ext cx="4350057" cy="1852936"/>
          </a:xfrm>
          <a:prstGeom prst="rect">
            <a:avLst/>
          </a:prstGeom>
        </p:spPr>
      </p:pic>
      <p:sp>
        <p:nvSpPr>
          <p:cNvPr id="14" name="图形"/>
          <p:cNvSpPr txBox="1"/>
          <p:nvPr/>
        </p:nvSpPr>
        <p:spPr>
          <a:xfrm>
            <a:off x="954220" y="1966019"/>
            <a:ext cx="5141780" cy="84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混淆矩阵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  <a:p>
            <a:pPr marL="288290" latinLnBrk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（行：真实类别，列：预测类别）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4" name="图形"/>
          <p:cNvSpPr txBox="1"/>
          <p:nvPr/>
        </p:nvSpPr>
        <p:spPr>
          <a:xfrm>
            <a:off x="924972" y="1597414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结果分析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5" name="图形"/>
          <p:cNvSpPr txBox="1"/>
          <p:nvPr/>
        </p:nvSpPr>
        <p:spPr>
          <a:xfrm>
            <a:off x="7468887" y="2130197"/>
            <a:ext cx="4081009" cy="4111577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多类别覆盖：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支持限速、指示、警告、禁令等多种交通标志识别。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小目标检测：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对远距离、小尺寸标志保持良好识别效果。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场景鲁棒性：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适配光照、遮挡、密集标志等复杂道路场景。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高精度表现：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mAP@0.5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达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0.932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，定位精准，置信度高。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AutoNum type="arabicPeriod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实时性达标：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推理速度快，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FPS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达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78.6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，满足实时检测需求。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pic>
        <p:nvPicPr>
          <p:cNvPr id="28" name="图片 27" descr="路上有辆蓝色的标志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2130425"/>
            <a:ext cx="6666865" cy="39135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4" name="图形"/>
          <p:cNvSpPr txBox="1"/>
          <p:nvPr/>
        </p:nvSpPr>
        <p:spPr>
          <a:xfrm>
            <a:off x="924972" y="1597414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结果分析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graphicFrame>
        <p:nvGraphicFramePr>
          <p:cNvPr id="29" name="表格 29"/>
          <p:cNvGraphicFramePr>
            <a:graphicFrameLocks noGrp="1"/>
          </p:cNvGraphicFramePr>
          <p:nvPr/>
        </p:nvGraphicFramePr>
        <p:xfrm>
          <a:off x="8110669" y="3801549"/>
          <a:ext cx="3770592" cy="21596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206148"/>
                <a:gridCol w="1564444"/>
              </a:tblGrid>
              <a:tr h="53619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精确率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0.7963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436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召回率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0.6732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436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mAP50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0.7580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361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mAP50-95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0.5313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2" name="图片 21" descr="图表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2202815"/>
            <a:ext cx="7579360" cy="3893185"/>
          </a:xfrm>
          <a:prstGeom prst="rect">
            <a:avLst/>
          </a:prstGeom>
        </p:spPr>
      </p:pic>
      <p:sp>
        <p:nvSpPr>
          <p:cNvPr id="25" name="图形"/>
          <p:cNvSpPr txBox="1"/>
          <p:nvPr/>
        </p:nvSpPr>
        <p:spPr>
          <a:xfrm>
            <a:off x="8110669" y="2266887"/>
            <a:ext cx="4081009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704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 输入尺度提升小目标细节保留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50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 轮训练后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mAP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 达到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0.7580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34290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轻量化模型兼顾精度与部署成本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图形"/>
          <p:cNvSpPr txBox="1"/>
          <p:nvPr/>
        </p:nvSpPr>
        <p:spPr>
          <a:xfrm>
            <a:off x="1263639" y="2137831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提升输入分辨率，保留更多纹理与边缘信息，增强小目标感知能力，提升召回率与定位精度。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图形"/>
              <p:cNvSpPr txBox="1"/>
              <p:nvPr/>
            </p:nvSpPr>
            <p:spPr>
              <a:xfrm>
                <a:off x="924972" y="1597414"/>
                <a:ext cx="4899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buSzPct val="70000"/>
                  <a:buFont typeface="Wingdings" panose="05000000000000000000" pitchFamily="2" charset="2"/>
                  <a:buChar char="l"/>
                </a:pPr>
                <a:r>
                  <a:rPr lang="zh-CN" alt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字魂58号-创中黑" panose="00000500000000000000" charset="-122"/>
                  </a:rPr>
                  <a:t>更高输入尺度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字魂58号-创中黑" panose="00000500000000000000" charset="-122"/>
                      </a:rPr>
                      <m:t>→</m:t>
                    </m:r>
                  </m:oMath>
                </a14:m>
                <a:r>
                  <a:rPr lang="zh-CN" alt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字魂58号-创中黑" panose="00000500000000000000" charset="-122"/>
                  </a:rPr>
                  <a:t>更多浅层细节</a:t>
                </a:r>
                <a:endPara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endParaRPr>
              </a:p>
            </p:txBody>
          </p:sp>
        </mc:Choice>
        <mc:Fallback>
          <p:sp>
            <p:nvSpPr>
              <p:cNvPr id="24" name="图形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72" y="1597414"/>
                <a:ext cx="4899358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8" t="-84" r="2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图形"/>
          <p:cNvSpPr txBox="1"/>
          <p:nvPr/>
        </p:nvSpPr>
        <p:spPr>
          <a:xfrm>
            <a:off x="1263639" y="3738647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延长训练轮次，让模型充分学习数据分布，降低过拟合风险，获得更稳定的收敛效果与更优的泛化性能。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图形"/>
              <p:cNvSpPr txBox="1"/>
              <p:nvPr/>
            </p:nvSpPr>
            <p:spPr>
              <a:xfrm>
                <a:off x="924972" y="3186655"/>
                <a:ext cx="53168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buSzPct val="70000"/>
                  <a:buFont typeface="Wingdings" panose="05000000000000000000" pitchFamily="2" charset="2"/>
                  <a:buChar char="l"/>
                </a:pPr>
                <a:r>
                  <a:rPr lang="zh-CN" alt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字魂58号-创中黑" panose="00000500000000000000" charset="-122"/>
                  </a:rPr>
                  <a:t>更充分训练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字魂58号-创中黑" panose="00000500000000000000" charset="-122"/>
                      </a:rPr>
                      <m:t>→</m:t>
                    </m:r>
                  </m:oMath>
                </a14:m>
                <a:r>
                  <a:rPr lang="zh-CN" alt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字魂58号-创中黑" panose="00000500000000000000" charset="-122"/>
                  </a:rPr>
                  <a:t>收敛更稳定</a:t>
                </a:r>
                <a:endPara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endParaRPr>
              </a:p>
            </p:txBody>
          </p:sp>
        </mc:Choice>
        <mc:Fallback>
          <p:sp>
            <p:nvSpPr>
              <p:cNvPr id="26" name="图形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72" y="3186655"/>
                <a:ext cx="5316802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8" t="-49" r="7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图形"/>
          <p:cNvSpPr txBox="1"/>
          <p:nvPr/>
        </p:nvSpPr>
        <p:spPr>
          <a:xfrm>
            <a:off x="1263639" y="5320901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通过结构精简与模块优化，显著降低计算量与参数量，在保证精度的同时提升推理速度，适配边缘设备部署。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图形"/>
              <p:cNvSpPr txBox="1"/>
              <p:nvPr/>
            </p:nvSpPr>
            <p:spPr>
              <a:xfrm>
                <a:off x="924972" y="4780484"/>
                <a:ext cx="48993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SzPct val="70000"/>
                  <a:buFont typeface="Wingdings" panose="05000000000000000000" pitchFamily="2" charset="2"/>
                  <a:buChar char="l"/>
                </a:pPr>
                <a:r>
                  <a:rPr lang="zh-CN" alt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字魂58号-创中黑" panose="00000500000000000000" charset="-122"/>
                  </a:rPr>
                  <a:t>轻量化结构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字魂58号-创中黑" panose="00000500000000000000" charset="-122"/>
                      </a:rPr>
                      <m:t>→</m:t>
                    </m:r>
                  </m:oMath>
                </a14:m>
                <a:r>
                  <a:rPr lang="zh-CN" alt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字魂58号-创中黑" panose="00000500000000000000" charset="-122"/>
                  </a:rPr>
                  <a:t>部署成本低</a:t>
                </a:r>
                <a:endPara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endParaRPr>
              </a:p>
              <a:p>
                <a:pPr algn="l">
                  <a:buSzPct val="70000"/>
                </a:pPr>
                <a:endPara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endParaRPr>
              </a:p>
            </p:txBody>
          </p:sp>
        </mc:Choice>
        <mc:Fallback>
          <p:sp>
            <p:nvSpPr>
              <p:cNvPr id="28" name="图形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72" y="4780484"/>
                <a:ext cx="4899358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8" t="-25" r="2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434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355080" cy="2345475"/>
            <a:chOff x="497375" y="1211712"/>
            <a:chExt cx="63550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3550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问题分析与解决</a:t>
              </a: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方案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05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 flipH="1">
            <a:off x="-4" y="3571367"/>
            <a:ext cx="12191683" cy="3286186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5163" y="1767688"/>
            <a:ext cx="10799059" cy="453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这些案例暴露了真实道路场景对轻量化模型的鲁棒性挑战，是后续优化的关键方向。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72047" y="2334589"/>
            <a:ext cx="3445425" cy="2042642"/>
          </a:xfrm>
          <a:prstGeom prst="rect">
            <a:avLst/>
          </a:prstGeom>
        </p:spPr>
      </p:pic>
      <p:sp>
        <p:nvSpPr>
          <p:cNvPr id="9" name="对角圆角矩形 8"/>
          <p:cNvSpPr/>
          <p:nvPr/>
        </p:nvSpPr>
        <p:spPr>
          <a:xfrm>
            <a:off x="6301066" y="2334588"/>
            <a:ext cx="5206005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06804" y="2357511"/>
            <a:ext cx="3344087" cy="2036753"/>
          </a:xfrm>
          <a:prstGeom prst="rect">
            <a:avLst/>
          </a:prstGeom>
        </p:spPr>
      </p:pic>
      <p:sp>
        <p:nvSpPr>
          <p:cNvPr id="12" name="对角圆角矩形 11"/>
          <p:cNvSpPr/>
          <p:nvPr/>
        </p:nvSpPr>
        <p:spPr>
          <a:xfrm>
            <a:off x="844884" y="2337729"/>
            <a:ext cx="5206005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25268" y="4595587"/>
            <a:ext cx="3327199" cy="2043610"/>
          </a:xfrm>
          <a:prstGeom prst="rect">
            <a:avLst/>
          </a:prstGeom>
        </p:spPr>
      </p:pic>
      <p:sp>
        <p:nvSpPr>
          <p:cNvPr id="15" name="对角圆角矩形 14"/>
          <p:cNvSpPr/>
          <p:nvPr/>
        </p:nvSpPr>
        <p:spPr>
          <a:xfrm>
            <a:off x="844884" y="4595587"/>
            <a:ext cx="5206004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55751" y="4594620"/>
            <a:ext cx="3362068" cy="2042642"/>
          </a:xfrm>
          <a:prstGeom prst="rect">
            <a:avLst/>
          </a:prstGeom>
        </p:spPr>
      </p:pic>
      <p:sp>
        <p:nvSpPr>
          <p:cNvPr id="18" name="对角圆角矩形 17"/>
          <p:cNvSpPr/>
          <p:nvPr/>
        </p:nvSpPr>
        <p:spPr>
          <a:xfrm>
            <a:off x="6301066" y="4595587"/>
            <a:ext cx="5216406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chemeClr val="bg1"/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5" name="椭圆 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854669" y="410108"/>
            <a:ext cx="4989428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问题分析与解决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方案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990880" y="2447131"/>
            <a:ext cx="2967345" cy="987807"/>
            <a:chOff x="990880" y="2021247"/>
            <a:chExt cx="2967345" cy="987807"/>
          </a:xfrm>
        </p:grpSpPr>
        <p:sp>
          <p:nvSpPr>
            <p:cNvPr id="21" name="文本框 20"/>
            <p:cNvSpPr txBox="1"/>
            <p:nvPr/>
          </p:nvSpPr>
          <p:spPr>
            <a:xfrm>
              <a:off x="990880" y="2021247"/>
              <a:ext cx="17027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r>
                <a:rPr kumimoji="1" lang="zh-CN" altLang="en-US" sz="2000" b="1" dirty="0">
                  <a:solidFill>
                    <a:srgbClr val="0F3D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小目标漏检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088045" y="2495982"/>
              <a:ext cx="2870180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53769" y="2609778"/>
              <a:ext cx="2161317" cy="399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7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远距离小目标，漏检</a:t>
              </a:r>
              <a:endParaRPr kumimoji="0" lang="zh-CN" altLang="en-US" sz="17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301066" y="2447131"/>
            <a:ext cx="2967345" cy="987807"/>
            <a:chOff x="990880" y="2021247"/>
            <a:chExt cx="2967345" cy="987807"/>
          </a:xfrm>
        </p:grpSpPr>
        <p:sp>
          <p:nvSpPr>
            <p:cNvPr id="31" name="文本框 30"/>
            <p:cNvSpPr txBox="1"/>
            <p:nvPr/>
          </p:nvSpPr>
          <p:spPr>
            <a:xfrm>
              <a:off x="990880" y="2021247"/>
              <a:ext cx="19591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相似类别混淆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088045" y="2495982"/>
              <a:ext cx="2870180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053769" y="2609778"/>
              <a:ext cx="2161317" cy="399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7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外观相似，类别混淆</a:t>
              </a:r>
              <a:endParaRPr lang="zh-CN" altLang="en-US" sz="17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954220" y="4743054"/>
            <a:ext cx="2967345" cy="987807"/>
            <a:chOff x="990880" y="2021247"/>
            <a:chExt cx="2967345" cy="987807"/>
          </a:xfrm>
        </p:grpSpPr>
        <p:sp>
          <p:nvSpPr>
            <p:cNvPr id="48" name="文本框 47"/>
            <p:cNvSpPr txBox="1"/>
            <p:nvPr/>
          </p:nvSpPr>
          <p:spPr>
            <a:xfrm>
              <a:off x="990880" y="2021247"/>
              <a:ext cx="14462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背景误检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88045" y="2495982"/>
              <a:ext cx="2870180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053769" y="2609778"/>
              <a:ext cx="2161317" cy="399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7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背景干扰，误检</a:t>
              </a:r>
              <a:endParaRPr kumimoji="0" lang="zh-CN" altLang="en-US" sz="17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398231" y="4742164"/>
            <a:ext cx="2967345" cy="1327901"/>
            <a:chOff x="990880" y="2021247"/>
            <a:chExt cx="2967345" cy="1327901"/>
          </a:xfrm>
        </p:grpSpPr>
        <p:sp>
          <p:nvSpPr>
            <p:cNvPr id="52" name="文本框 51"/>
            <p:cNvSpPr txBox="1"/>
            <p:nvPr/>
          </p:nvSpPr>
          <p:spPr>
            <a:xfrm>
              <a:off x="990880" y="2021247"/>
              <a:ext cx="20810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遮挡</a:t>
              </a:r>
              <a:r>
                <a:rPr kumimoji="1" lang="en-US" altLang="zh-CN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</a:t>
              </a: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逆光失败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088045" y="2495982"/>
              <a:ext cx="2870180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053769" y="2609778"/>
              <a:ext cx="2161317" cy="7393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7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遮挡</a:t>
              </a:r>
              <a:r>
                <a:rPr lang="en-US" altLang="zh-CN" sz="17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7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逆光，识别失败</a:t>
              </a:r>
              <a:endParaRPr kumimoji="0" lang="zh-CN" altLang="en-US" sz="17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5" name="图形"/>
          <p:cNvSpPr txBox="1"/>
          <p:nvPr/>
        </p:nvSpPr>
        <p:spPr>
          <a:xfrm>
            <a:off x="844883" y="1248986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失败案例分析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56" name="平行四边形 55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问题分析与解决方案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4" name="图形"/>
          <p:cNvSpPr txBox="1"/>
          <p:nvPr/>
        </p:nvSpPr>
        <p:spPr>
          <a:xfrm>
            <a:off x="924972" y="1597414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改进方向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5" name="图形"/>
          <p:cNvSpPr txBox="1"/>
          <p:nvPr/>
        </p:nvSpPr>
        <p:spPr>
          <a:xfrm>
            <a:off x="854669" y="4593903"/>
            <a:ext cx="2008588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小目标难检，误检漏检严重，遮挡与模糊影响泛化能力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pic>
        <p:nvPicPr>
          <p:cNvPr id="29" name="图片 28" descr="图形用户界面, 应用程序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57" y="2234291"/>
            <a:ext cx="1968500" cy="2184400"/>
          </a:xfrm>
          <a:prstGeom prst="rect">
            <a:avLst/>
          </a:prstGeom>
        </p:spPr>
      </p:pic>
      <p:pic>
        <p:nvPicPr>
          <p:cNvPr id="31" name="图片 30" descr="图形用户界面, 图示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22" y="2241429"/>
            <a:ext cx="1917700" cy="2184400"/>
          </a:xfrm>
          <a:prstGeom prst="rect">
            <a:avLst/>
          </a:prstGeom>
        </p:spPr>
      </p:pic>
      <p:pic>
        <p:nvPicPr>
          <p:cNvPr id="33" name="图片 32" descr="图示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087" y="2241429"/>
            <a:ext cx="1917700" cy="2184400"/>
          </a:xfrm>
          <a:prstGeom prst="rect">
            <a:avLst/>
          </a:prstGeom>
        </p:spPr>
      </p:pic>
      <p:pic>
        <p:nvPicPr>
          <p:cNvPr id="35" name="图片 34" descr="图片包含 图示&#10;&#10;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852" y="2241429"/>
            <a:ext cx="1752600" cy="2184400"/>
          </a:xfrm>
          <a:prstGeom prst="rect">
            <a:avLst/>
          </a:prstGeom>
        </p:spPr>
      </p:pic>
      <p:pic>
        <p:nvPicPr>
          <p:cNvPr id="37" name="图片 36" descr="图形用户界面, 图标&#10;&#10;描述已自动生成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517" y="2241429"/>
            <a:ext cx="2235200" cy="2184400"/>
          </a:xfrm>
          <a:prstGeom prst="rect">
            <a:avLst/>
          </a:prstGeom>
        </p:spPr>
      </p:pic>
      <p:sp>
        <p:nvSpPr>
          <p:cNvPr id="38" name="图形"/>
          <p:cNvSpPr txBox="1"/>
          <p:nvPr/>
        </p:nvSpPr>
        <p:spPr>
          <a:xfrm>
            <a:off x="3090322" y="4593903"/>
            <a:ext cx="2008588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从通道和空间两维度强化有效特征，抑制背景干扰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39" name="图形"/>
          <p:cNvSpPr txBox="1"/>
          <p:nvPr/>
        </p:nvSpPr>
        <p:spPr>
          <a:xfrm>
            <a:off x="5235087" y="4593903"/>
            <a:ext cx="2008588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引入高分辨率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P2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层检测头，增强对小目标的感知能力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40" name="图形"/>
          <p:cNvSpPr txBox="1"/>
          <p:nvPr/>
        </p:nvSpPr>
        <p:spPr>
          <a:xfrm>
            <a:off x="7379852" y="4593903"/>
            <a:ext cx="2008588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缓解长尾分布，提升尾部类别的学习效果与检测性能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41" name="图形"/>
          <p:cNvSpPr txBox="1"/>
          <p:nvPr/>
        </p:nvSpPr>
        <p:spPr>
          <a:xfrm>
            <a:off x="9359517" y="4615806"/>
            <a:ext cx="2008588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多样化数据增强，提升模型鲁棒性与泛化能力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7252970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indent="0" algn="l">
              <a:buSzPct val="70000"/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交通态势智能感知分析解决方案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pic>
        <p:nvPicPr>
          <p:cNvPr id="22" name="交通态势智能感知工作台 和另外 2 个页面 - 个人 - Microsoft​ Edge 2026-05-04 15-05-16_20260504_21292934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04595" y="1094740"/>
            <a:ext cx="9613265" cy="523748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056467" y="4856425"/>
            <a:ext cx="6112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汇报人：程泽凯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FFC000">
                  <a:lumMod val="20000"/>
                  <a:lumOff val="8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1201" y="3354826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00" cap="none" spc="600" normalizeH="0" baseline="0" noProof="0" dirty="0">
                <a:ln>
                  <a:noFill/>
                </a:ln>
                <a:gradFill>
                  <a:gsLst>
                    <a:gs pos="100000">
                      <a:schemeClr val="accent5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90500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感谢聆听</a:t>
            </a:r>
            <a:endParaRPr kumimoji="0" lang="zh-CN" altLang="zh-CN" sz="9600" b="1" i="0" u="none" strike="noStrike" kern="100" cap="none" spc="600" normalizeH="0" baseline="0" noProof="0" dirty="0">
              <a:ln>
                <a:noFill/>
              </a:ln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90500" dist="38100" dir="2700000" sx="101000" sy="101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43200" y="6462294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2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3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4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5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6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7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8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9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10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11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12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13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14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15.xml><?xml version="1.0" encoding="utf-8"?>
<p:tagLst xmlns:p="http://schemas.openxmlformats.org/presentationml/2006/main">
  <p:tag name="KSO_WM_DIAGRAM_VIRTUALLY_FRAME" val="{&quot;height&quot;:300.12204724409446,&quot;left&quot;:104.48110236220472,&quot;top&quot;:70.01763779527559,&quot;width&quot;:425.71385826771655}"/>
</p:tagLst>
</file>

<file path=ppt/tags/tag16.xml><?xml version="1.0" encoding="utf-8"?>
<p:tagLst xmlns:p="http://schemas.openxmlformats.org/presentationml/2006/main">
  <p:tag name="ISLIDE.THEME" val="https://www.islide.cc;"/>
</p:tagLst>
</file>

<file path=ppt/tags/tag17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8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9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0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1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23.xml><?xml version="1.0" encoding="utf-8"?>
<p:tagLst xmlns:p="http://schemas.openxmlformats.org/presentationml/2006/main">
  <p:tag name="COMMONDATA" val="eyJoZGlkIjoiN2M1ZDMzMzY5NDRlMDhlNTM3MDI1ODFiY2I1OWNiNzQifQ=="/>
</p:tagLst>
</file>

<file path=ppt/theme/theme1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3197</Words>
  <Application>WPS 演示</Application>
  <PresentationFormat>宽屏</PresentationFormat>
  <Paragraphs>398</Paragraphs>
  <Slides>28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Times New Roman</vt:lpstr>
      <vt:lpstr>Arial</vt:lpstr>
      <vt:lpstr>OPPOSans R</vt:lpstr>
      <vt:lpstr>OPPOSans B</vt:lpstr>
      <vt:lpstr>思源宋体 CN Heavy</vt:lpstr>
      <vt:lpstr>OPPOSans H</vt:lpstr>
      <vt:lpstr>OPPOSans B</vt:lpstr>
      <vt:lpstr>Segoe Print</vt:lpstr>
      <vt:lpstr>字魂58号-创中黑</vt:lpstr>
      <vt:lpstr>Calibri</vt:lpstr>
      <vt:lpstr>微软雅黑 Light</vt:lpstr>
      <vt:lpstr>仿宋_GB2312</vt:lpstr>
      <vt:lpstr>Arial Unicode MS</vt:lpstr>
      <vt:lpstr>OPPOSans M</vt:lpstr>
      <vt:lpstr>Cambria Math</vt:lpstr>
      <vt:lpstr>黑体</vt:lpstr>
      <vt:lpstr>等线</vt:lpstr>
      <vt:lpstr>仿宋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WPS_1665891310</cp:lastModifiedBy>
  <cp:revision>83</cp:revision>
  <dcterms:created xsi:type="dcterms:W3CDTF">2023-05-24T16:02:00Z</dcterms:created>
  <dcterms:modified xsi:type="dcterms:W3CDTF">2026-05-09T00:56:23Z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2F8A77E7A92F4BF6BB73D66ED58E5C18_12</vt:lpwstr>
  </property>
  <property fmtid="{D5CDD505-2E9C-101B-9397-08002B2CF9AE}" pid="3" name="KSOProductBuildVer">
    <vt:lpwstr>2052-12.1.0.25225</vt:lpwstr>
  </property>
</Properties>
</file>