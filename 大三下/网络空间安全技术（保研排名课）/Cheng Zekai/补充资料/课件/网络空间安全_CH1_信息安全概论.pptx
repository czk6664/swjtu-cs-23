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emf" ContentType="image/x-emf"/>
  <Default Extension="wmf" ContentType="image/x-w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notesMasterIdLst>
    <p:notesMasterId r:id="rId9"/>
  </p:notesMasterIdLst>
  <p:handoutMasterIdLst>
    <p:handoutMasterId r:id="rId157"/>
  </p:handoutMasterIdLst>
  <p:sldIdLst>
    <p:sldId id="1020" r:id="rId7"/>
    <p:sldId id="1019" r:id="rId8"/>
    <p:sldId id="613" r:id="rId10"/>
    <p:sldId id="952" r:id="rId11"/>
    <p:sldId id="1115" r:id="rId12"/>
    <p:sldId id="733" r:id="rId13"/>
    <p:sldId id="734" r:id="rId14"/>
    <p:sldId id="1347" r:id="rId15"/>
    <p:sldId id="738" r:id="rId16"/>
    <p:sldId id="875" r:id="rId17"/>
    <p:sldId id="1346" r:id="rId18"/>
    <p:sldId id="739" r:id="rId19"/>
    <p:sldId id="740" r:id="rId20"/>
    <p:sldId id="741" r:id="rId21"/>
    <p:sldId id="742" r:id="rId22"/>
    <p:sldId id="743" r:id="rId23"/>
    <p:sldId id="746" r:id="rId24"/>
    <p:sldId id="876" r:id="rId25"/>
    <p:sldId id="747" r:id="rId26"/>
    <p:sldId id="1348" r:id="rId27"/>
    <p:sldId id="1349" r:id="rId28"/>
    <p:sldId id="748" r:id="rId29"/>
    <p:sldId id="942" r:id="rId30"/>
    <p:sldId id="943" r:id="rId31"/>
    <p:sldId id="749" r:id="rId32"/>
    <p:sldId id="755" r:id="rId33"/>
    <p:sldId id="757" r:id="rId34"/>
    <p:sldId id="761" r:id="rId35"/>
    <p:sldId id="1114" r:id="rId36"/>
    <p:sldId id="780" r:id="rId37"/>
    <p:sldId id="1384" r:id="rId38"/>
    <p:sldId id="1310" r:id="rId39"/>
    <p:sldId id="1119" r:id="rId40"/>
    <p:sldId id="1301" r:id="rId41"/>
    <p:sldId id="1302" r:id="rId42"/>
    <p:sldId id="1385" r:id="rId43"/>
    <p:sldId id="1304" r:id="rId44"/>
    <p:sldId id="1386" r:id="rId45"/>
    <p:sldId id="1303" r:id="rId46"/>
    <p:sldId id="1305" r:id="rId47"/>
    <p:sldId id="1431" r:id="rId48"/>
    <p:sldId id="1432" r:id="rId49"/>
    <p:sldId id="1306" r:id="rId50"/>
    <p:sldId id="1387" r:id="rId51"/>
    <p:sldId id="1433" r:id="rId52"/>
    <p:sldId id="1435" r:id="rId53"/>
    <p:sldId id="1400" r:id="rId54"/>
    <p:sldId id="1401" r:id="rId55"/>
    <p:sldId id="1402" r:id="rId56"/>
    <p:sldId id="1403" r:id="rId57"/>
    <p:sldId id="1404" r:id="rId58"/>
    <p:sldId id="1405" r:id="rId59"/>
    <p:sldId id="1406" r:id="rId60"/>
    <p:sldId id="1407" r:id="rId61"/>
    <p:sldId id="1408" r:id="rId62"/>
    <p:sldId id="1409" r:id="rId63"/>
    <p:sldId id="1410" r:id="rId64"/>
    <p:sldId id="1420" r:id="rId65"/>
    <p:sldId id="1421" r:id="rId66"/>
    <p:sldId id="1422" r:id="rId67"/>
    <p:sldId id="1424" r:id="rId68"/>
    <p:sldId id="1425" r:id="rId69"/>
    <p:sldId id="1426" r:id="rId70"/>
    <p:sldId id="1423" r:id="rId71"/>
    <p:sldId id="1427" r:id="rId72"/>
    <p:sldId id="1428" r:id="rId73"/>
    <p:sldId id="1429" r:id="rId74"/>
    <p:sldId id="1430" r:id="rId75"/>
    <p:sldId id="1438" r:id="rId76"/>
    <p:sldId id="1351" r:id="rId77"/>
    <p:sldId id="1352" r:id="rId78"/>
    <p:sldId id="1355" r:id="rId79"/>
    <p:sldId id="1354" r:id="rId80"/>
    <p:sldId id="784" r:id="rId81"/>
    <p:sldId id="1336" r:id="rId82"/>
    <p:sldId id="905" r:id="rId83"/>
    <p:sldId id="1117" r:id="rId84"/>
    <p:sldId id="1118" r:id="rId85"/>
    <p:sldId id="1094" r:id="rId86"/>
    <p:sldId id="1323" r:id="rId87"/>
    <p:sldId id="1324" r:id="rId88"/>
    <p:sldId id="1325" r:id="rId89"/>
    <p:sldId id="1326" r:id="rId90"/>
    <p:sldId id="1327" r:id="rId91"/>
    <p:sldId id="1434" r:id="rId92"/>
    <p:sldId id="1344" r:id="rId93"/>
    <p:sldId id="925" r:id="rId94"/>
    <p:sldId id="926" r:id="rId95"/>
    <p:sldId id="928" r:id="rId96"/>
    <p:sldId id="930" r:id="rId97"/>
    <p:sldId id="931" r:id="rId98"/>
    <p:sldId id="934" r:id="rId99"/>
    <p:sldId id="944" r:id="rId100"/>
    <p:sldId id="945" r:id="rId101"/>
    <p:sldId id="1357" r:id="rId102"/>
    <p:sldId id="947" r:id="rId103"/>
    <p:sldId id="948" r:id="rId104"/>
    <p:sldId id="949" r:id="rId105"/>
    <p:sldId id="1096" r:id="rId106"/>
    <p:sldId id="1097" r:id="rId107"/>
    <p:sldId id="1099" r:id="rId108"/>
    <p:sldId id="1100" r:id="rId109"/>
    <p:sldId id="1101" r:id="rId110"/>
    <p:sldId id="1102" r:id="rId111"/>
    <p:sldId id="1103" r:id="rId112"/>
    <p:sldId id="1361" r:id="rId113"/>
    <p:sldId id="1362" r:id="rId114"/>
    <p:sldId id="1363" r:id="rId115"/>
    <p:sldId id="1105" r:id="rId116"/>
    <p:sldId id="1333" r:id="rId117"/>
    <p:sldId id="921" r:id="rId118"/>
    <p:sldId id="1113" r:id="rId119"/>
    <p:sldId id="1250" r:id="rId120"/>
    <p:sldId id="1251" r:id="rId121"/>
    <p:sldId id="1252" r:id="rId122"/>
    <p:sldId id="1253" r:id="rId123"/>
    <p:sldId id="1254" r:id="rId124"/>
    <p:sldId id="1255" r:id="rId125"/>
    <p:sldId id="1256" r:id="rId126"/>
    <p:sldId id="1257" r:id="rId127"/>
    <p:sldId id="1258" r:id="rId128"/>
    <p:sldId id="1259" r:id="rId129"/>
    <p:sldId id="1364" r:id="rId130"/>
    <p:sldId id="1365" r:id="rId131"/>
    <p:sldId id="1366" r:id="rId132"/>
    <p:sldId id="1367" r:id="rId133"/>
    <p:sldId id="1107" r:id="rId134"/>
    <p:sldId id="1369" r:id="rId135"/>
    <p:sldId id="1109" r:id="rId136"/>
    <p:sldId id="1331" r:id="rId137"/>
    <p:sldId id="1110" r:id="rId138"/>
    <p:sldId id="1332" r:id="rId139"/>
    <p:sldId id="1108" r:id="rId140"/>
    <p:sldId id="1334" r:id="rId141"/>
    <p:sldId id="1371" r:id="rId142"/>
    <p:sldId id="1372" r:id="rId143"/>
    <p:sldId id="1373" r:id="rId144"/>
    <p:sldId id="1374" r:id="rId145"/>
    <p:sldId id="1375" r:id="rId146"/>
    <p:sldId id="1376" r:id="rId147"/>
    <p:sldId id="1377" r:id="rId148"/>
    <p:sldId id="1378" r:id="rId149"/>
    <p:sldId id="1379" r:id="rId150"/>
    <p:sldId id="1380" r:id="rId151"/>
    <p:sldId id="1381" r:id="rId152"/>
    <p:sldId id="1382" r:id="rId153"/>
    <p:sldId id="1383" r:id="rId154"/>
    <p:sldId id="1437" r:id="rId155"/>
    <p:sldId id="1370" r:id="rId156"/>
  </p:sldIdLst>
  <p:sldSz cx="12192000" cy="6858000"/>
  <p:notesSz cx="7099300" cy="1023429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E91D4"/>
    <a:srgbClr val="CCFF33"/>
    <a:srgbClr val="CCFFCC"/>
    <a:srgbClr val="FF0000"/>
    <a:srgbClr val="000000"/>
    <a:srgbClr val="B01302"/>
    <a:srgbClr val="3477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58" autoAdjust="0"/>
    <p:restoredTop sz="92336" autoAdjust="0"/>
  </p:normalViewPr>
  <p:slideViewPr>
    <p:cSldViewPr>
      <p:cViewPr varScale="1">
        <p:scale>
          <a:sx n="113" d="100"/>
          <a:sy n="113" d="100"/>
        </p:scale>
        <p:origin x="1245" y="57"/>
      </p:cViewPr>
      <p:guideLst>
        <p:guide orient="horz" pos="2160"/>
        <p:guide pos="3841"/>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1932" y="-84"/>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2.xml"/><Relationship Id="rId98" Type="http://schemas.openxmlformats.org/officeDocument/2006/relationships/slide" Target="slides/slide91.xml"/><Relationship Id="rId97" Type="http://schemas.openxmlformats.org/officeDocument/2006/relationships/slide" Target="slides/slide90.xml"/><Relationship Id="rId96" Type="http://schemas.openxmlformats.org/officeDocument/2006/relationships/slide" Target="slides/slide89.xml"/><Relationship Id="rId95" Type="http://schemas.openxmlformats.org/officeDocument/2006/relationships/slide" Target="slides/slide88.xml"/><Relationship Id="rId94" Type="http://schemas.openxmlformats.org/officeDocument/2006/relationships/slide" Target="slides/slide87.xml"/><Relationship Id="rId93" Type="http://schemas.openxmlformats.org/officeDocument/2006/relationships/slide" Target="slides/slide86.xml"/><Relationship Id="rId92" Type="http://schemas.openxmlformats.org/officeDocument/2006/relationships/slide" Target="slides/slide85.xml"/><Relationship Id="rId91" Type="http://schemas.openxmlformats.org/officeDocument/2006/relationships/slide" Target="slides/slide84.xml"/><Relationship Id="rId90" Type="http://schemas.openxmlformats.org/officeDocument/2006/relationships/slide" Target="slides/slide83.xml"/><Relationship Id="rId9" Type="http://schemas.openxmlformats.org/officeDocument/2006/relationships/notesMaster" Target="notesMasters/notesMaster1.xml"/><Relationship Id="rId89" Type="http://schemas.openxmlformats.org/officeDocument/2006/relationships/slide" Target="slides/slide82.xml"/><Relationship Id="rId88" Type="http://schemas.openxmlformats.org/officeDocument/2006/relationships/slide" Target="slides/slide81.xml"/><Relationship Id="rId87" Type="http://schemas.openxmlformats.org/officeDocument/2006/relationships/slide" Target="slides/slide80.xml"/><Relationship Id="rId86" Type="http://schemas.openxmlformats.org/officeDocument/2006/relationships/slide" Target="slides/slide79.xml"/><Relationship Id="rId85" Type="http://schemas.openxmlformats.org/officeDocument/2006/relationships/slide" Target="slides/slide78.xml"/><Relationship Id="rId84" Type="http://schemas.openxmlformats.org/officeDocument/2006/relationships/slide" Target="slides/slide77.xml"/><Relationship Id="rId83" Type="http://schemas.openxmlformats.org/officeDocument/2006/relationships/slide" Target="slides/slide76.xml"/><Relationship Id="rId82" Type="http://schemas.openxmlformats.org/officeDocument/2006/relationships/slide" Target="slides/slide75.xml"/><Relationship Id="rId81" Type="http://schemas.openxmlformats.org/officeDocument/2006/relationships/slide" Target="slides/slide74.xml"/><Relationship Id="rId80" Type="http://schemas.openxmlformats.org/officeDocument/2006/relationships/slide" Target="slides/slide73.xml"/><Relationship Id="rId8" Type="http://schemas.openxmlformats.org/officeDocument/2006/relationships/slide" Target="slides/slide2.xml"/><Relationship Id="rId79" Type="http://schemas.openxmlformats.org/officeDocument/2006/relationships/slide" Target="slides/slide72.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0" Type="http://schemas.openxmlformats.org/officeDocument/2006/relationships/tableStyles" Target="tableStyles.xml"/><Relationship Id="rId16" Type="http://schemas.openxmlformats.org/officeDocument/2006/relationships/slide" Target="slides/slide9.xml"/><Relationship Id="rId159" Type="http://schemas.openxmlformats.org/officeDocument/2006/relationships/viewProps" Target="viewProps.xml"/><Relationship Id="rId158" Type="http://schemas.openxmlformats.org/officeDocument/2006/relationships/presProps" Target="presProps.xml"/><Relationship Id="rId157" Type="http://schemas.openxmlformats.org/officeDocument/2006/relationships/handoutMaster" Target="handoutMasters/handoutMaster1.xml"/><Relationship Id="rId156" Type="http://schemas.openxmlformats.org/officeDocument/2006/relationships/slide" Target="slides/slide149.xml"/><Relationship Id="rId155" Type="http://schemas.openxmlformats.org/officeDocument/2006/relationships/slide" Target="slides/slide148.xml"/><Relationship Id="rId154" Type="http://schemas.openxmlformats.org/officeDocument/2006/relationships/slide" Target="slides/slide147.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0" Type="http://schemas.openxmlformats.org/officeDocument/2006/relationships/slide" Target="slides/slide143.xml"/><Relationship Id="rId15" Type="http://schemas.openxmlformats.org/officeDocument/2006/relationships/slide" Target="slides/slide8.xml"/><Relationship Id="rId149" Type="http://schemas.openxmlformats.org/officeDocument/2006/relationships/slide" Target="slides/slide142.xml"/><Relationship Id="rId148" Type="http://schemas.openxmlformats.org/officeDocument/2006/relationships/slide" Target="slides/slide141.xml"/><Relationship Id="rId147" Type="http://schemas.openxmlformats.org/officeDocument/2006/relationships/slide" Target="slides/slide140.xml"/><Relationship Id="rId146" Type="http://schemas.openxmlformats.org/officeDocument/2006/relationships/slide" Target="slides/slide139.xml"/><Relationship Id="rId145" Type="http://schemas.openxmlformats.org/officeDocument/2006/relationships/slide" Target="slides/slide138.xml"/><Relationship Id="rId144" Type="http://schemas.openxmlformats.org/officeDocument/2006/relationships/slide" Target="slides/slide137.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14" Type="http://schemas.openxmlformats.org/officeDocument/2006/relationships/slide" Target="slides/slide7.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 Type="http://schemas.openxmlformats.org/officeDocument/2006/relationships/slide" Target="slides/slide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121" Type="http://schemas.openxmlformats.org/officeDocument/2006/relationships/slide" Target="slides/slide114.xml"/><Relationship Id="rId120" Type="http://schemas.openxmlformats.org/officeDocument/2006/relationships/slide" Target="slides/slide113.xml"/><Relationship Id="rId12" Type="http://schemas.openxmlformats.org/officeDocument/2006/relationships/slide" Target="slides/slide5.xml"/><Relationship Id="rId119" Type="http://schemas.openxmlformats.org/officeDocument/2006/relationships/slide" Target="slides/slide112.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110" Type="http://schemas.openxmlformats.org/officeDocument/2006/relationships/slide" Target="slides/slide103.xml"/><Relationship Id="rId11" Type="http://schemas.openxmlformats.org/officeDocument/2006/relationships/slide" Target="slides/slide4.xml"/><Relationship Id="rId109" Type="http://schemas.openxmlformats.org/officeDocument/2006/relationships/slide" Target="slides/slide102.xml"/><Relationship Id="rId108" Type="http://schemas.openxmlformats.org/officeDocument/2006/relationships/slide" Target="slides/slide101.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e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211.wmf"/><Relationship Id="rId4" Type="http://schemas.openxmlformats.org/officeDocument/2006/relationships/image" Target="../media/image210.wmf"/><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21.wmf"/><Relationship Id="rId8" Type="http://schemas.openxmlformats.org/officeDocument/2006/relationships/image" Target="../media/image220.wmf"/><Relationship Id="rId7" Type="http://schemas.openxmlformats.org/officeDocument/2006/relationships/image" Target="../media/image219.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 Id="rId3" Type="http://schemas.openxmlformats.org/officeDocument/2006/relationships/image" Target="../media/image215.wmf"/><Relationship Id="rId2" Type="http://schemas.openxmlformats.org/officeDocument/2006/relationships/image" Target="../media/image214.wmf"/><Relationship Id="rId10" Type="http://schemas.openxmlformats.org/officeDocument/2006/relationships/image" Target="../media/image209.wmf"/><Relationship Id="rId1" Type="http://schemas.openxmlformats.org/officeDocument/2006/relationships/image" Target="../media/image2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Line 6"/>
          <p:cNvSpPr>
            <a:spLocks noChangeShapeType="1"/>
          </p:cNvSpPr>
          <p:nvPr/>
        </p:nvSpPr>
        <p:spPr bwMode="auto">
          <a:xfrm>
            <a:off x="309563" y="652463"/>
            <a:ext cx="6335712" cy="0"/>
          </a:xfrm>
          <a:prstGeom prst="line">
            <a:avLst/>
          </a:prstGeom>
          <a:noFill/>
          <a:ln w="38100">
            <a:solidFill>
              <a:srgbClr val="3366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67" name="Line 7"/>
          <p:cNvSpPr>
            <a:spLocks noChangeShapeType="1"/>
          </p:cNvSpPr>
          <p:nvPr/>
        </p:nvSpPr>
        <p:spPr bwMode="auto">
          <a:xfrm>
            <a:off x="381000" y="9437688"/>
            <a:ext cx="6335713" cy="0"/>
          </a:xfrm>
          <a:prstGeom prst="line">
            <a:avLst/>
          </a:prstGeom>
          <a:noFill/>
          <a:ln w="38100">
            <a:solidFill>
              <a:srgbClr val="3366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7636" name="Rectangle 5"/>
          <p:cNvSpPr>
            <a:spLocks noChangeArrowheads="1"/>
          </p:cNvSpPr>
          <p:nvPr/>
        </p:nvSpPr>
        <p:spPr bwMode="auto">
          <a:xfrm>
            <a:off x="1749425" y="0"/>
            <a:ext cx="3549650" cy="623888"/>
          </a:xfrm>
          <a:prstGeom prst="rect">
            <a:avLst/>
          </a:prstGeom>
          <a:noFill/>
          <a:ln>
            <a:noFill/>
          </a:ln>
          <a:effectLst>
            <a:prstShdw prst="shdw17" dist="17961" dir="2700000">
              <a:srgbClr val="5C7A99"/>
            </a:prstShdw>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defRPr/>
            </a:pPr>
            <a:r>
              <a:rPr lang="zh-CN" altLang="en-US" sz="1400">
                <a:ea typeface="隶书" panose="02010509060101010101" pitchFamily="49" charset="-122"/>
              </a:rPr>
              <a:t>注册信息安全专业人员（</a:t>
            </a:r>
            <a:r>
              <a:rPr lang="en-US" altLang="zh-CN" sz="1400">
                <a:ea typeface="隶书" panose="02010509060101010101" pitchFamily="49" charset="-122"/>
              </a:rPr>
              <a:t>CISP</a:t>
            </a:r>
            <a:r>
              <a:rPr lang="zh-CN" altLang="en-US" sz="1400">
                <a:ea typeface="隶书" panose="02010509060101010101" pitchFamily="49" charset="-122"/>
              </a:rPr>
              <a:t>）培训讲义</a:t>
            </a:r>
            <a:endParaRPr lang="zh-CN" altLang="en-US" sz="1400">
              <a:ea typeface="隶书" panose="02010509060101010101" pitchFamily="49" charset="-122"/>
            </a:endParaRPr>
          </a:p>
          <a:p>
            <a:pPr algn="ctr" eaLnBrk="1" hangingPunct="1">
              <a:spcBef>
                <a:spcPct val="50000"/>
              </a:spcBef>
              <a:defRPr/>
            </a:pPr>
            <a:r>
              <a:rPr lang="zh-CN" altLang="en-US" sz="1400">
                <a:ea typeface="隶书" panose="02010509060101010101" pitchFamily="49" charset="-122"/>
              </a:rPr>
              <a:t>课程：信息安全保障综述</a:t>
            </a:r>
            <a:endParaRPr lang="en-US" altLang="zh-CN" sz="1400">
              <a:ea typeface="隶书" panose="02010509060101010101" pitchFamily="49"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eaLnBrk="1" hangingPunct="1">
              <a:defRPr sz="1300">
                <a:latin typeface="Arial" panose="020B0604020202020204" pitchFamily="34" charset="0"/>
                <a:ea typeface="+mn-ea"/>
              </a:defRPr>
            </a:lvl1pPr>
          </a:lstStyle>
          <a:p>
            <a:pPr>
              <a:defRPr/>
            </a:pPr>
            <a:endParaRPr lang="zh-CN" altLang="en-US"/>
          </a:p>
        </p:txBody>
      </p:sp>
      <p:sp>
        <p:nvSpPr>
          <p:cNvPr id="105475"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eaLnBrk="1" hangingPunct="1">
              <a:defRPr sz="1300">
                <a:latin typeface="Arial" panose="020B0604020202020204" pitchFamily="34" charset="0"/>
                <a:ea typeface="+mn-ea"/>
              </a:defRPr>
            </a:lvl1pPr>
          </a:lstStyle>
          <a:p>
            <a:pPr>
              <a:defRPr/>
            </a:pPr>
            <a:endParaRPr lang="en-US" altLang="zh-CN"/>
          </a:p>
        </p:txBody>
      </p:sp>
      <p:sp>
        <p:nvSpPr>
          <p:cNvPr id="10244" name="Rectangle 4"/>
          <p:cNvSpPr>
            <a:spLocks noGrp="1" noRot="1" noChangeAspect="1" noChangeArrowheads="1" noTextEdit="1"/>
          </p:cNvSpPr>
          <p:nvPr>
            <p:ph type="sldImg" idx="2"/>
          </p:nvPr>
        </p:nvSpPr>
        <p:spPr bwMode="auto">
          <a:xfrm>
            <a:off x="138994" y="768350"/>
            <a:ext cx="6821312"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5477" name="Rectangle 5"/>
          <p:cNvSpPr>
            <a:spLocks noGrp="1" noChangeArrowheads="1"/>
          </p:cNvSpPr>
          <p:nvPr>
            <p:ph type="body" sz="quarter" idx="3"/>
          </p:nvPr>
        </p:nvSpPr>
        <p:spPr bwMode="auto">
          <a:xfrm>
            <a:off x="709613" y="4860925"/>
            <a:ext cx="5680075" cy="28146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05478"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eaLnBrk="1" hangingPunct="1">
              <a:defRPr sz="1300">
                <a:latin typeface="Arial" panose="020B0604020202020204" pitchFamily="34" charset="0"/>
                <a:ea typeface="+mn-ea"/>
              </a:defRPr>
            </a:lvl1pPr>
          </a:lstStyle>
          <a:p>
            <a:pPr>
              <a:defRPr/>
            </a:pPr>
            <a:endParaRPr lang="en-US" altLang="zh-CN"/>
          </a:p>
        </p:txBody>
      </p:sp>
      <p:sp>
        <p:nvSpPr>
          <p:cNvPr id="105479"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eaLnBrk="1" hangingPunct="1">
              <a:defRPr sz="1300"/>
            </a:lvl1pPr>
          </a:lstStyle>
          <a:p>
            <a:pPr>
              <a:defRPr/>
            </a:pPr>
            <a:fld id="{3B3FB213-11BA-4AE8-B571-81F68953196D}" type="slidenum">
              <a:rPr lang="zh-CN" altLang="en-US"/>
            </a:fld>
            <a:endParaRPr lang="en-US" altLang="zh-CN"/>
          </a:p>
        </p:txBody>
      </p:sp>
      <p:grpSp>
        <p:nvGrpSpPr>
          <p:cNvPr id="10248" name="Group 8"/>
          <p:cNvGrpSpPr/>
          <p:nvPr/>
        </p:nvGrpSpPr>
        <p:grpSpPr bwMode="auto">
          <a:xfrm>
            <a:off x="315913" y="587375"/>
            <a:ext cx="6534150" cy="61913"/>
            <a:chOff x="133" y="96"/>
            <a:chExt cx="4101" cy="33"/>
          </a:xfrm>
        </p:grpSpPr>
        <p:sp>
          <p:nvSpPr>
            <p:cNvPr id="186385" name="Rectangle 9"/>
            <p:cNvSpPr>
              <a:spLocks noChangeArrowheads="1"/>
            </p:cNvSpPr>
            <p:nvPr/>
          </p:nvSpPr>
          <p:spPr bwMode="auto">
            <a:xfrm>
              <a:off x="133" y="107"/>
              <a:ext cx="4101" cy="22"/>
            </a:xfrm>
            <a:prstGeom prst="rect">
              <a:avLst/>
            </a:prstGeom>
            <a:solidFill>
              <a:srgbClr val="000000"/>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58" name="Line 10"/>
            <p:cNvSpPr>
              <a:spLocks noChangeShapeType="1"/>
            </p:cNvSpPr>
            <p:nvPr/>
          </p:nvSpPr>
          <p:spPr bwMode="auto">
            <a:xfrm>
              <a:off x="133" y="96"/>
              <a:ext cx="410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1017" name="Text Box 11"/>
          <p:cNvSpPr txBox="1">
            <a:spLocks noChangeArrowheads="1"/>
          </p:cNvSpPr>
          <p:nvPr/>
        </p:nvSpPr>
        <p:spPr bwMode="auto">
          <a:xfrm>
            <a:off x="2647950" y="209550"/>
            <a:ext cx="2139950" cy="387350"/>
          </a:xfrm>
          <a:prstGeom prst="rect">
            <a:avLst/>
          </a:prstGeom>
          <a:noFill/>
          <a:ln>
            <a:noFill/>
          </a:ln>
        </p:spPr>
        <p:txBody>
          <a:bodyPr wrap="none" lIns="99029" tIns="49514" rIns="99029" bIns="49514">
            <a:spAutoFit/>
          </a:bodyPr>
          <a:lstStyle>
            <a:lvl1pPr defTabSz="989330" eaLnBrk="0" hangingPunct="0">
              <a:defRPr>
                <a:solidFill>
                  <a:schemeClr val="tx1"/>
                </a:solidFill>
                <a:latin typeface="Arial" panose="020B0604020202020204" pitchFamily="34" charset="0"/>
                <a:ea typeface="宋体" panose="02010600030101010101" pitchFamily="2" charset="-122"/>
              </a:defRPr>
            </a:lvl1pPr>
            <a:lvl2pPr marL="742950" indent="-285750" defTabSz="989330" eaLnBrk="0" hangingPunct="0">
              <a:defRPr>
                <a:solidFill>
                  <a:schemeClr val="tx1"/>
                </a:solidFill>
                <a:latin typeface="Arial" panose="020B0604020202020204" pitchFamily="34" charset="0"/>
                <a:ea typeface="宋体" panose="02010600030101010101" pitchFamily="2" charset="-122"/>
              </a:defRPr>
            </a:lvl2pPr>
            <a:lvl3pPr marL="1143000" indent="-228600" defTabSz="989330" eaLnBrk="0" hangingPunct="0">
              <a:defRPr>
                <a:solidFill>
                  <a:schemeClr val="tx1"/>
                </a:solidFill>
                <a:latin typeface="Arial" panose="020B0604020202020204" pitchFamily="34" charset="0"/>
                <a:ea typeface="宋体" panose="02010600030101010101" pitchFamily="2" charset="-122"/>
              </a:defRPr>
            </a:lvl3pPr>
            <a:lvl4pPr marL="1600200" indent="-228600" defTabSz="989330" eaLnBrk="0" hangingPunct="0">
              <a:defRPr>
                <a:solidFill>
                  <a:schemeClr val="tx1"/>
                </a:solidFill>
                <a:latin typeface="Arial" panose="020B0604020202020204" pitchFamily="34" charset="0"/>
                <a:ea typeface="宋体" panose="02010600030101010101" pitchFamily="2" charset="-122"/>
              </a:defRPr>
            </a:lvl4pPr>
            <a:lvl5pPr marL="2057400" indent="-228600" defTabSz="989330" eaLnBrk="0" hangingPunct="0">
              <a:defRPr>
                <a:solidFill>
                  <a:schemeClr val="tx1"/>
                </a:solidFill>
                <a:latin typeface="Arial" panose="020B0604020202020204" pitchFamily="34" charset="0"/>
                <a:ea typeface="宋体" panose="02010600030101010101" pitchFamily="2" charset="-122"/>
              </a:defRPr>
            </a:lvl5pPr>
            <a:lvl6pPr marL="25146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900" b="1">
                <a:ea typeface="隶书" panose="02010509060101010101" pitchFamily="49" charset="-122"/>
              </a:rPr>
              <a:t>信息安全保障培训</a:t>
            </a:r>
            <a:endParaRPr lang="zh-CN" altLang="en-US" sz="1900" b="1">
              <a:ea typeface="隶书" panose="02010509060101010101" pitchFamily="49" charset="-122"/>
            </a:endParaRPr>
          </a:p>
        </p:txBody>
      </p:sp>
      <p:sp>
        <p:nvSpPr>
          <p:cNvPr id="10250" name="Line 12"/>
          <p:cNvSpPr>
            <a:spLocks noChangeShapeType="1"/>
          </p:cNvSpPr>
          <p:nvPr/>
        </p:nvSpPr>
        <p:spPr bwMode="auto">
          <a:xfrm>
            <a:off x="568325" y="4776788"/>
            <a:ext cx="61420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1" name="Line 13"/>
          <p:cNvSpPr>
            <a:spLocks noChangeShapeType="1"/>
          </p:cNvSpPr>
          <p:nvPr/>
        </p:nvSpPr>
        <p:spPr bwMode="auto">
          <a:xfrm>
            <a:off x="465138" y="9550400"/>
            <a:ext cx="61404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1020" name="Text Box 14"/>
          <p:cNvSpPr txBox="1">
            <a:spLocks noChangeArrowheads="1"/>
          </p:cNvSpPr>
          <p:nvPr/>
        </p:nvSpPr>
        <p:spPr bwMode="auto">
          <a:xfrm>
            <a:off x="811213" y="7697788"/>
            <a:ext cx="1149350" cy="327025"/>
          </a:xfrm>
          <a:prstGeom prst="rect">
            <a:avLst/>
          </a:prstGeom>
          <a:noFill/>
          <a:ln>
            <a:noFill/>
          </a:ln>
        </p:spPr>
        <p:txBody>
          <a:bodyPr wrap="none" lIns="99029" tIns="49514" rIns="99029" bIns="49514">
            <a:spAutoFit/>
          </a:bodyPr>
          <a:lstStyle>
            <a:lvl1pPr defTabSz="989330" eaLnBrk="0" hangingPunct="0">
              <a:defRPr>
                <a:solidFill>
                  <a:schemeClr val="tx1"/>
                </a:solidFill>
                <a:latin typeface="Arial" panose="020B0604020202020204" pitchFamily="34" charset="0"/>
                <a:ea typeface="宋体" panose="02010600030101010101" pitchFamily="2" charset="-122"/>
              </a:defRPr>
            </a:lvl1pPr>
            <a:lvl2pPr marL="742950" indent="-285750" defTabSz="989330" eaLnBrk="0" hangingPunct="0">
              <a:defRPr>
                <a:solidFill>
                  <a:schemeClr val="tx1"/>
                </a:solidFill>
                <a:latin typeface="Arial" panose="020B0604020202020204" pitchFamily="34" charset="0"/>
                <a:ea typeface="宋体" panose="02010600030101010101" pitchFamily="2" charset="-122"/>
              </a:defRPr>
            </a:lvl2pPr>
            <a:lvl3pPr marL="1143000" indent="-228600" defTabSz="989330" eaLnBrk="0" hangingPunct="0">
              <a:defRPr>
                <a:solidFill>
                  <a:schemeClr val="tx1"/>
                </a:solidFill>
                <a:latin typeface="Arial" panose="020B0604020202020204" pitchFamily="34" charset="0"/>
                <a:ea typeface="宋体" panose="02010600030101010101" pitchFamily="2" charset="-122"/>
              </a:defRPr>
            </a:lvl3pPr>
            <a:lvl4pPr marL="1600200" indent="-228600" defTabSz="989330" eaLnBrk="0" hangingPunct="0">
              <a:defRPr>
                <a:solidFill>
                  <a:schemeClr val="tx1"/>
                </a:solidFill>
                <a:latin typeface="Arial" panose="020B0604020202020204" pitchFamily="34" charset="0"/>
                <a:ea typeface="宋体" panose="02010600030101010101" pitchFamily="2" charset="-122"/>
              </a:defRPr>
            </a:lvl4pPr>
            <a:lvl5pPr marL="2057400" indent="-228600" defTabSz="989330" eaLnBrk="0" hangingPunct="0">
              <a:defRPr>
                <a:solidFill>
                  <a:schemeClr val="tx1"/>
                </a:solidFill>
                <a:latin typeface="Arial" panose="020B0604020202020204" pitchFamily="34" charset="0"/>
                <a:ea typeface="宋体" panose="02010600030101010101" pitchFamily="2" charset="-122"/>
              </a:defRPr>
            </a:lvl5pPr>
            <a:lvl6pPr marL="25146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893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500" b="1" u="sng"/>
              <a:t>培训笔记：</a:t>
            </a:r>
            <a:endParaRPr lang="zh-CN" altLang="en-US" sz="1500" b="1" u="sng"/>
          </a:p>
        </p:txBody>
      </p:sp>
      <p:sp>
        <p:nvSpPr>
          <p:cNvPr id="10253" name="Line 15"/>
          <p:cNvSpPr>
            <a:spLocks noChangeShapeType="1"/>
          </p:cNvSpPr>
          <p:nvPr/>
        </p:nvSpPr>
        <p:spPr bwMode="auto">
          <a:xfrm>
            <a:off x="811213" y="8193088"/>
            <a:ext cx="54213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4" name="Line 16"/>
          <p:cNvSpPr>
            <a:spLocks noChangeShapeType="1"/>
          </p:cNvSpPr>
          <p:nvPr/>
        </p:nvSpPr>
        <p:spPr bwMode="auto">
          <a:xfrm>
            <a:off x="811213" y="8535988"/>
            <a:ext cx="54213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5" name="Line 17"/>
          <p:cNvSpPr>
            <a:spLocks noChangeShapeType="1"/>
          </p:cNvSpPr>
          <p:nvPr/>
        </p:nvSpPr>
        <p:spPr bwMode="auto">
          <a:xfrm>
            <a:off x="811213" y="8880475"/>
            <a:ext cx="54213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6" name="Line 18"/>
          <p:cNvSpPr>
            <a:spLocks noChangeShapeType="1"/>
          </p:cNvSpPr>
          <p:nvPr/>
        </p:nvSpPr>
        <p:spPr bwMode="auto">
          <a:xfrm>
            <a:off x="811213" y="9226550"/>
            <a:ext cx="54213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txBox="1">
            <a:spLocks noGrp="1" noChangeArrowheads="1"/>
          </p:cNvSpPr>
          <p:nvPr/>
        </p:nvSpPr>
        <p:spPr bwMode="auto">
          <a:xfrm>
            <a:off x="4017963" y="9721850"/>
            <a:ext cx="307975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nchor="b" anchorCtr="1"/>
          <a:lstStyle>
            <a:lvl1pPr defTabSz="427355">
              <a:spcBef>
                <a:spcPct val="30000"/>
              </a:spcBef>
              <a:tabLst>
                <a:tab pos="512445" algn="l"/>
                <a:tab pos="4784725" algn="ctr"/>
                <a:tab pos="9229725" algn="r"/>
              </a:tabLst>
              <a:defRPr sz="1200">
                <a:solidFill>
                  <a:schemeClr val="tx1"/>
                </a:solidFill>
                <a:latin typeface="Arial" panose="020B0604020202020204" pitchFamily="34" charset="0"/>
              </a:defRPr>
            </a:lvl1pPr>
            <a:lvl2pPr marL="742950" indent="-285750" defTabSz="427355">
              <a:spcBef>
                <a:spcPct val="30000"/>
              </a:spcBef>
              <a:tabLst>
                <a:tab pos="512445" algn="l"/>
                <a:tab pos="4784725" algn="ctr"/>
                <a:tab pos="9229725" algn="r"/>
              </a:tabLst>
              <a:defRPr sz="1200">
                <a:solidFill>
                  <a:schemeClr val="tx1"/>
                </a:solidFill>
                <a:latin typeface="Arial" panose="020B0604020202020204" pitchFamily="34" charset="0"/>
              </a:defRPr>
            </a:lvl2pPr>
            <a:lvl3pPr marL="11430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3pPr>
            <a:lvl4pPr marL="16002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4pPr>
            <a:lvl5pPr marL="20574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5pPr>
            <a:lvl6pPr marL="25146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6pPr>
            <a:lvl7pPr marL="29718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7pPr>
            <a:lvl8pPr marL="34290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8pPr>
            <a:lvl9pPr marL="38862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9pPr>
          </a:lstStyle>
          <a:p>
            <a:pPr algn="r" eaLnBrk="1">
              <a:lnSpc>
                <a:spcPct val="99000"/>
              </a:lnSpc>
              <a:spcBef>
                <a:spcPct val="0"/>
              </a:spcBef>
              <a:buClr>
                <a:srgbClr val="000000"/>
              </a:buClr>
              <a:buSzPct val="45000"/>
              <a:buFont typeface="Wingdings" panose="05000000000000000000" pitchFamily="2" charset="2"/>
              <a:buNone/>
            </a:pPr>
            <a:fld id="{3FCC064B-E051-47E8-A397-AD0755B312F7}" type="slidenum">
              <a:rPr lang="zh-CN" altLang="en-GB" sz="1300">
                <a:solidFill>
                  <a:srgbClr val="FFFFFF"/>
                </a:solidFill>
                <a:latin typeface="Bitstream Vera Sans"/>
                <a:cs typeface="Lucida Sans Unicode" panose="020B0602030504020204" pitchFamily="34" charset="0"/>
              </a:rPr>
            </a:fld>
            <a:endParaRPr lang="en-GB" altLang="zh-CN" sz="1300">
              <a:solidFill>
                <a:srgbClr val="FFFFFF"/>
              </a:solidFill>
              <a:latin typeface="Bitstream Vera Sans"/>
              <a:cs typeface="Lucida Sans Unicode" panose="020B0602030504020204" pitchFamily="34" charset="0"/>
            </a:endParaRPr>
          </a:p>
        </p:txBody>
      </p:sp>
      <p:sp>
        <p:nvSpPr>
          <p:cNvPr id="14339" name="Rectangle 1"/>
          <p:cNvSpPr>
            <a:spLocks noGrp="1" noRot="1" noChangeAspect="1" noChangeArrowheads="1" noTextEdit="1"/>
          </p:cNvSpPr>
          <p:nvPr>
            <p:ph type="sldImg"/>
          </p:nvPr>
        </p:nvSpPr>
        <p:spPr>
          <a:xfrm>
            <a:off x="138994" y="777875"/>
            <a:ext cx="6821312" cy="3836988"/>
          </a:xfrm>
          <a:solidFill>
            <a:srgbClr val="FFFFFF"/>
          </a:solidFill>
        </p:spPr>
      </p:sp>
      <p:sp>
        <p:nvSpPr>
          <p:cNvPr id="14340" name="Rectangle 2"/>
          <p:cNvSpPr>
            <a:spLocks noGrp="1" noChangeArrowheads="1"/>
          </p:cNvSpPr>
          <p:nvPr>
            <p:ph type="body" idx="1"/>
          </p:nvPr>
        </p:nvSpPr>
        <p:spPr>
          <a:xfrm>
            <a:off x="709613" y="4860925"/>
            <a:ext cx="5680075" cy="4606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841" tIns="43420" rIns="86841" bIns="43420" anchor="ctr"/>
          <a:lstStyle/>
          <a:p>
            <a:endParaRPr lang="zh-CN"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p:cNvSpPr txBox="1">
            <a:spLocks noGrp="1" noChangeArrowheads="1"/>
          </p:cNvSpPr>
          <p:nvPr/>
        </p:nvSpPr>
        <p:spPr bwMode="auto">
          <a:xfrm>
            <a:off x="4017963" y="9721850"/>
            <a:ext cx="307975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nchor="b" anchorCtr="1"/>
          <a:lstStyle>
            <a:lvl1pPr defTabSz="427355">
              <a:spcBef>
                <a:spcPct val="30000"/>
              </a:spcBef>
              <a:tabLst>
                <a:tab pos="512445" algn="l"/>
                <a:tab pos="4784725" algn="ctr"/>
                <a:tab pos="9229725" algn="r"/>
              </a:tabLst>
              <a:defRPr sz="1200">
                <a:solidFill>
                  <a:schemeClr val="tx1"/>
                </a:solidFill>
                <a:latin typeface="Arial" panose="020B0604020202020204" pitchFamily="34" charset="0"/>
              </a:defRPr>
            </a:lvl1pPr>
            <a:lvl2pPr marL="742950" indent="-285750" defTabSz="427355">
              <a:spcBef>
                <a:spcPct val="30000"/>
              </a:spcBef>
              <a:tabLst>
                <a:tab pos="512445" algn="l"/>
                <a:tab pos="4784725" algn="ctr"/>
                <a:tab pos="9229725" algn="r"/>
              </a:tabLst>
              <a:defRPr sz="1200">
                <a:solidFill>
                  <a:schemeClr val="tx1"/>
                </a:solidFill>
                <a:latin typeface="Arial" panose="020B0604020202020204" pitchFamily="34" charset="0"/>
              </a:defRPr>
            </a:lvl2pPr>
            <a:lvl3pPr marL="11430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3pPr>
            <a:lvl4pPr marL="16002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4pPr>
            <a:lvl5pPr marL="20574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5pPr>
            <a:lvl6pPr marL="25146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6pPr>
            <a:lvl7pPr marL="29718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7pPr>
            <a:lvl8pPr marL="34290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8pPr>
            <a:lvl9pPr marL="38862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9pPr>
          </a:lstStyle>
          <a:p>
            <a:pPr algn="r" eaLnBrk="1">
              <a:lnSpc>
                <a:spcPct val="99000"/>
              </a:lnSpc>
              <a:spcBef>
                <a:spcPct val="0"/>
              </a:spcBef>
              <a:buClr>
                <a:srgbClr val="000000"/>
              </a:buClr>
              <a:buSzPct val="45000"/>
              <a:buFont typeface="Wingdings" panose="05000000000000000000" pitchFamily="2" charset="2"/>
              <a:buNone/>
            </a:pPr>
            <a:fld id="{22BE62A2-4C94-49EB-9960-E83036A7635F}" type="slidenum">
              <a:rPr lang="zh-CN" altLang="en-GB" sz="1300">
                <a:solidFill>
                  <a:srgbClr val="FFFFFF"/>
                </a:solidFill>
                <a:latin typeface="Bitstream Vera Sans"/>
                <a:cs typeface="Lucida Sans Unicode" panose="020B0602030504020204" pitchFamily="34" charset="0"/>
              </a:rPr>
            </a:fld>
            <a:endParaRPr lang="en-GB" altLang="zh-CN" sz="1300">
              <a:solidFill>
                <a:srgbClr val="FFFFFF"/>
              </a:solidFill>
              <a:latin typeface="Bitstream Vera Sans"/>
              <a:cs typeface="Lucida Sans Unicode" panose="020B0602030504020204" pitchFamily="34" charset="0"/>
            </a:endParaRPr>
          </a:p>
        </p:txBody>
      </p:sp>
      <p:sp>
        <p:nvSpPr>
          <p:cNvPr id="20483" name="Rectangle 2"/>
          <p:cNvSpPr>
            <a:spLocks noGrp="1" noRot="1" noChangeAspect="1" noChangeArrowheads="1" noTextEdit="1"/>
          </p:cNvSpPr>
          <p:nvPr>
            <p:ph type="sldImg"/>
          </p:nvPr>
        </p:nvSpPr>
        <p:spPr>
          <a:xfrm>
            <a:off x="138994" y="1200150"/>
            <a:ext cx="6821312" cy="3836988"/>
          </a:xfrm>
        </p:spPr>
      </p:sp>
      <p:sp>
        <p:nvSpPr>
          <p:cNvPr id="20484" name="Rectangle 3"/>
          <p:cNvSpPr>
            <a:spLocks noGrp="1" noChangeArrowheads="1"/>
          </p:cNvSpPr>
          <p:nvPr>
            <p:ph type="body" idx="1"/>
          </p:nvPr>
        </p:nvSpPr>
        <p:spPr>
          <a:xfrm>
            <a:off x="777875" y="5438775"/>
            <a:ext cx="5678488" cy="22590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r>
              <a:rPr lang="zh-CN" altLang="en-US">
                <a:latin typeface="Arial" panose="020B0604020202020204" pitchFamily="34" charset="0"/>
              </a:rPr>
              <a:t>系统复杂性增强的演示（幻灯片演示时的动画效果）：</a:t>
            </a:r>
            <a:endParaRPr lang="zh-CN" altLang="en-US">
              <a:latin typeface="Arial" panose="020B0604020202020204" pitchFamily="34" charset="0"/>
            </a:endParaRPr>
          </a:p>
          <a:p>
            <a:r>
              <a:rPr lang="en-US" altLang="zh-CN">
                <a:latin typeface="Arial" panose="020B0604020202020204" pitchFamily="34" charset="0"/>
              </a:rPr>
              <a:t>1</a:t>
            </a:r>
            <a:r>
              <a:rPr lang="zh-CN" altLang="en-US">
                <a:latin typeface="Arial" panose="020B0604020202020204" pitchFamily="34" charset="0"/>
              </a:rPr>
              <a:t>。工作站中存在信息数据；</a:t>
            </a:r>
            <a:r>
              <a:rPr lang="en-US" altLang="zh-CN">
                <a:latin typeface="Arial" panose="020B0604020202020204" pitchFamily="34" charset="0"/>
              </a:rPr>
              <a:t>2</a:t>
            </a:r>
            <a:r>
              <a:rPr lang="zh-CN" altLang="en-US">
                <a:latin typeface="Arial" panose="020B0604020202020204" pitchFamily="34" charset="0"/>
              </a:rPr>
              <a:t>。员工；</a:t>
            </a:r>
            <a:r>
              <a:rPr lang="en-US" altLang="zh-CN">
                <a:latin typeface="Arial" panose="020B0604020202020204" pitchFamily="34" charset="0"/>
              </a:rPr>
              <a:t>3</a:t>
            </a:r>
            <a:r>
              <a:rPr lang="zh-CN" altLang="en-US">
                <a:latin typeface="Arial" panose="020B0604020202020204" pitchFamily="34" charset="0"/>
              </a:rPr>
              <a:t>。移动介质；</a:t>
            </a:r>
            <a:r>
              <a:rPr lang="en-US" altLang="zh-CN">
                <a:latin typeface="Arial" panose="020B0604020202020204" pitchFamily="34" charset="0"/>
              </a:rPr>
              <a:t>4</a:t>
            </a:r>
            <a:r>
              <a:rPr lang="zh-CN" altLang="en-US">
                <a:latin typeface="Arial" panose="020B0604020202020204" pitchFamily="34" charset="0"/>
              </a:rPr>
              <a:t>。网络中其他系统；</a:t>
            </a:r>
            <a:r>
              <a:rPr lang="en-US" altLang="zh-CN">
                <a:latin typeface="Arial" panose="020B0604020202020204" pitchFamily="34" charset="0"/>
              </a:rPr>
              <a:t>5</a:t>
            </a:r>
            <a:r>
              <a:rPr lang="zh-CN" altLang="en-US">
                <a:latin typeface="Arial" panose="020B0604020202020204" pitchFamily="34" charset="0"/>
              </a:rPr>
              <a:t>。网络中其他资源；</a:t>
            </a:r>
            <a:r>
              <a:rPr lang="en-US" altLang="zh-CN">
                <a:latin typeface="Arial" panose="020B0604020202020204" pitchFamily="34" charset="0"/>
              </a:rPr>
              <a:t>6</a:t>
            </a:r>
            <a:r>
              <a:rPr lang="zh-CN" altLang="en-US">
                <a:latin typeface="Arial" panose="020B0604020202020204" pitchFamily="34" charset="0"/>
              </a:rPr>
              <a:t>。访问</a:t>
            </a:r>
            <a:r>
              <a:rPr lang="en-US" altLang="zh-CN">
                <a:latin typeface="Arial" panose="020B0604020202020204" pitchFamily="34" charset="0"/>
              </a:rPr>
              <a:t>Internet</a:t>
            </a:r>
            <a:r>
              <a:rPr lang="zh-CN" altLang="en-US">
                <a:latin typeface="Arial" panose="020B0604020202020204" pitchFamily="34" charset="0"/>
              </a:rPr>
              <a:t>；</a:t>
            </a:r>
            <a:r>
              <a:rPr lang="en-US" altLang="zh-CN">
                <a:latin typeface="Arial" panose="020B0604020202020204" pitchFamily="34" charset="0"/>
              </a:rPr>
              <a:t>7</a:t>
            </a:r>
            <a:r>
              <a:rPr lang="zh-CN" altLang="en-US">
                <a:latin typeface="Arial" panose="020B0604020202020204" pitchFamily="34" charset="0"/>
              </a:rPr>
              <a:t>。访问其他局域网；</a:t>
            </a:r>
            <a:r>
              <a:rPr lang="en-US" altLang="zh-CN">
                <a:latin typeface="Arial" panose="020B0604020202020204" pitchFamily="34" charset="0"/>
              </a:rPr>
              <a:t>8</a:t>
            </a:r>
            <a:r>
              <a:rPr lang="zh-CN" altLang="en-US">
                <a:latin typeface="Arial" panose="020B0604020202020204" pitchFamily="34" charset="0"/>
              </a:rPr>
              <a:t>。到</a:t>
            </a:r>
            <a:r>
              <a:rPr lang="en-US" altLang="zh-CN">
                <a:latin typeface="Arial" panose="020B0604020202020204" pitchFamily="34" charset="0"/>
              </a:rPr>
              <a:t>Internet</a:t>
            </a:r>
            <a:r>
              <a:rPr lang="zh-CN" altLang="en-US">
                <a:latin typeface="Arial" panose="020B0604020202020204" pitchFamily="34" charset="0"/>
              </a:rPr>
              <a:t>的其他路由；</a:t>
            </a:r>
            <a:r>
              <a:rPr lang="en-US" altLang="zh-CN">
                <a:latin typeface="Arial" panose="020B0604020202020204" pitchFamily="34" charset="0"/>
              </a:rPr>
              <a:t>9</a:t>
            </a:r>
            <a:r>
              <a:rPr lang="zh-CN" altLang="en-US">
                <a:latin typeface="Arial" panose="020B0604020202020204" pitchFamily="34" charset="0"/>
              </a:rPr>
              <a:t>。电话和调制解调器；</a:t>
            </a:r>
            <a:r>
              <a:rPr lang="en-US" altLang="zh-CN">
                <a:latin typeface="Arial" panose="020B0604020202020204" pitchFamily="34" charset="0"/>
              </a:rPr>
              <a:t>10</a:t>
            </a:r>
            <a:r>
              <a:rPr lang="zh-CN" altLang="en-US">
                <a:latin typeface="Arial" panose="020B0604020202020204" pitchFamily="34" charset="0"/>
              </a:rPr>
              <a:t>。开放的网络端口；</a:t>
            </a:r>
            <a:r>
              <a:rPr lang="en-US" altLang="zh-CN">
                <a:latin typeface="Arial" panose="020B0604020202020204" pitchFamily="34" charset="0"/>
              </a:rPr>
              <a:t>11</a:t>
            </a:r>
            <a:r>
              <a:rPr lang="zh-CN" altLang="en-US">
                <a:latin typeface="Arial" panose="020B0604020202020204" pitchFamily="34" charset="0"/>
              </a:rPr>
              <a:t>。远程用户；</a:t>
            </a:r>
            <a:r>
              <a:rPr lang="en-US" altLang="zh-CN">
                <a:latin typeface="Arial" panose="020B0604020202020204" pitchFamily="34" charset="0"/>
              </a:rPr>
              <a:t>12</a:t>
            </a:r>
            <a:r>
              <a:rPr lang="zh-CN" altLang="en-US">
                <a:latin typeface="Arial" panose="020B0604020202020204" pitchFamily="34" charset="0"/>
              </a:rPr>
              <a:t>。厂商和合同方的访问；</a:t>
            </a:r>
            <a:r>
              <a:rPr lang="en-US" altLang="zh-CN">
                <a:latin typeface="Arial" panose="020B0604020202020204" pitchFamily="34" charset="0"/>
              </a:rPr>
              <a:t>13</a:t>
            </a:r>
            <a:r>
              <a:rPr lang="zh-CN" altLang="en-US">
                <a:latin typeface="Arial" panose="020B0604020202020204" pitchFamily="34" charset="0"/>
              </a:rPr>
              <a:t>。访问外部资源；</a:t>
            </a:r>
            <a:r>
              <a:rPr lang="en-US" altLang="zh-CN">
                <a:latin typeface="Arial" panose="020B0604020202020204" pitchFamily="34" charset="0"/>
              </a:rPr>
              <a:t>14</a:t>
            </a:r>
            <a:r>
              <a:rPr lang="zh-CN" altLang="en-US">
                <a:latin typeface="Arial" panose="020B0604020202020204" pitchFamily="34" charset="0"/>
              </a:rPr>
              <a:t>。公共信息服务；</a:t>
            </a:r>
            <a:r>
              <a:rPr lang="en-US" altLang="zh-CN">
                <a:latin typeface="Arial" panose="020B0604020202020204" pitchFamily="34" charset="0"/>
              </a:rPr>
              <a:t>15</a:t>
            </a:r>
            <a:r>
              <a:rPr lang="zh-CN" altLang="en-US">
                <a:latin typeface="Arial" panose="020B0604020202020204" pitchFamily="34" charset="0"/>
              </a:rPr>
              <a:t>。运行维护环境</a:t>
            </a:r>
            <a:endParaRPr lang="zh-CN" altLang="en-US">
              <a:latin typeface="Arial" panose="020B0604020202020204" pitchFamily="34" charset="0"/>
            </a:endParaRPr>
          </a:p>
          <a:p>
            <a:r>
              <a:rPr lang="zh-CN" altLang="en-US">
                <a:latin typeface="Arial" panose="020B0604020202020204" pitchFamily="34" charset="0"/>
              </a:rPr>
              <a:t>其他发展：</a:t>
            </a:r>
            <a:endParaRPr lang="zh-CN" altLang="en-US">
              <a:latin typeface="Arial" panose="020B0604020202020204" pitchFamily="34" charset="0"/>
            </a:endParaRPr>
          </a:p>
          <a:p>
            <a:r>
              <a:rPr lang="en-US" altLang="zh-CN">
                <a:latin typeface="Arial" panose="020B0604020202020204" pitchFamily="34" charset="0"/>
              </a:rPr>
              <a:t>-</a:t>
            </a:r>
            <a:r>
              <a:rPr lang="zh-CN" altLang="en-US">
                <a:latin typeface="Arial" panose="020B0604020202020204" pitchFamily="34" charset="0"/>
              </a:rPr>
              <a:t>无线网络。。。</a:t>
            </a:r>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p:cNvSpPr txBox="1">
            <a:spLocks noGrp="1" noChangeArrowheads="1"/>
          </p:cNvSpPr>
          <p:nvPr/>
        </p:nvSpPr>
        <p:spPr bwMode="auto">
          <a:xfrm>
            <a:off x="4017963" y="9721850"/>
            <a:ext cx="307975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0" tIns="0" rIns="0" bIns="0" anchor="b" anchorCtr="1"/>
          <a:lstStyle>
            <a:lvl1pPr defTabSz="427355">
              <a:spcBef>
                <a:spcPct val="30000"/>
              </a:spcBef>
              <a:tabLst>
                <a:tab pos="512445" algn="l"/>
                <a:tab pos="4784725" algn="ctr"/>
                <a:tab pos="9229725" algn="r"/>
              </a:tabLst>
              <a:defRPr sz="1200">
                <a:solidFill>
                  <a:schemeClr val="tx1"/>
                </a:solidFill>
                <a:latin typeface="Arial" panose="020B0604020202020204" pitchFamily="34" charset="0"/>
              </a:defRPr>
            </a:lvl1pPr>
            <a:lvl2pPr marL="742950" indent="-285750" defTabSz="427355">
              <a:spcBef>
                <a:spcPct val="30000"/>
              </a:spcBef>
              <a:tabLst>
                <a:tab pos="512445" algn="l"/>
                <a:tab pos="4784725" algn="ctr"/>
                <a:tab pos="9229725" algn="r"/>
              </a:tabLst>
              <a:defRPr sz="1200">
                <a:solidFill>
                  <a:schemeClr val="tx1"/>
                </a:solidFill>
                <a:latin typeface="Arial" panose="020B0604020202020204" pitchFamily="34" charset="0"/>
              </a:defRPr>
            </a:lvl2pPr>
            <a:lvl3pPr marL="11430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3pPr>
            <a:lvl4pPr marL="16002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4pPr>
            <a:lvl5pPr marL="2057400" indent="-228600" defTabSz="427355">
              <a:spcBef>
                <a:spcPct val="30000"/>
              </a:spcBef>
              <a:tabLst>
                <a:tab pos="512445" algn="l"/>
                <a:tab pos="4784725" algn="ctr"/>
                <a:tab pos="9229725" algn="r"/>
              </a:tabLst>
              <a:defRPr sz="1200">
                <a:solidFill>
                  <a:schemeClr val="tx1"/>
                </a:solidFill>
                <a:latin typeface="Arial" panose="020B0604020202020204" pitchFamily="34" charset="0"/>
              </a:defRPr>
            </a:lvl5pPr>
            <a:lvl6pPr marL="25146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6pPr>
            <a:lvl7pPr marL="29718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7pPr>
            <a:lvl8pPr marL="34290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8pPr>
            <a:lvl9pPr marL="3886200" indent="-228600" defTabSz="427355" eaLnBrk="0" fontAlgn="base" hangingPunct="0">
              <a:spcBef>
                <a:spcPct val="30000"/>
              </a:spcBef>
              <a:spcAft>
                <a:spcPct val="0"/>
              </a:spcAft>
              <a:tabLst>
                <a:tab pos="512445" algn="l"/>
                <a:tab pos="4784725" algn="ctr"/>
                <a:tab pos="9229725" algn="r"/>
              </a:tabLst>
              <a:defRPr sz="1200">
                <a:solidFill>
                  <a:schemeClr val="tx1"/>
                </a:solidFill>
                <a:latin typeface="Arial" panose="020B0604020202020204" pitchFamily="34" charset="0"/>
              </a:defRPr>
            </a:lvl9pPr>
          </a:lstStyle>
          <a:p>
            <a:pPr algn="r" eaLnBrk="1">
              <a:lnSpc>
                <a:spcPct val="99000"/>
              </a:lnSpc>
              <a:spcBef>
                <a:spcPct val="0"/>
              </a:spcBef>
              <a:buClr>
                <a:srgbClr val="000000"/>
              </a:buClr>
              <a:buSzPct val="45000"/>
              <a:buFont typeface="Wingdings" panose="05000000000000000000" pitchFamily="2" charset="2"/>
              <a:buNone/>
            </a:pPr>
            <a:fld id="{1D882AE9-56AA-43A7-BF72-C11C4A1F954C}" type="slidenum">
              <a:rPr lang="zh-CN" altLang="en-GB" sz="1300">
                <a:solidFill>
                  <a:srgbClr val="FFFFFF"/>
                </a:solidFill>
                <a:latin typeface="Bitstream Vera Sans"/>
                <a:cs typeface="Lucida Sans Unicode" panose="020B0602030504020204" pitchFamily="34" charset="0"/>
              </a:rPr>
            </a:fld>
            <a:endParaRPr lang="en-GB" altLang="zh-CN" sz="1300">
              <a:solidFill>
                <a:srgbClr val="FFFFFF"/>
              </a:solidFill>
              <a:latin typeface="Bitstream Vera Sans"/>
              <a:cs typeface="Lucida Sans Unicode" panose="020B0602030504020204" pitchFamily="34" charset="0"/>
            </a:endParaRPr>
          </a:p>
        </p:txBody>
      </p:sp>
      <p:sp>
        <p:nvSpPr>
          <p:cNvPr id="29699"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7A8E695F-CF89-402F-AE5B-52A1ACE40914}" type="slidenum">
              <a:rPr lang="zh-CN" altLang="en-US" sz="1300"/>
            </a:fld>
            <a:endParaRPr lang="en-US" altLang="zh-CN" sz="1300"/>
          </a:p>
        </p:txBody>
      </p:sp>
      <p:sp>
        <p:nvSpPr>
          <p:cNvPr id="29700"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BBE95229-D2B0-440A-A555-769ABA5652DF}" type="slidenum">
              <a:rPr lang="zh-CN" altLang="en-US" sz="1300"/>
            </a:fld>
            <a:endParaRPr lang="en-US" altLang="zh-CN" sz="1300"/>
          </a:p>
        </p:txBody>
      </p:sp>
      <p:sp>
        <p:nvSpPr>
          <p:cNvPr id="29701" name="Rectangle 2"/>
          <p:cNvSpPr>
            <a:spLocks noGrp="1" noRot="1" noChangeAspect="1" noChangeArrowheads="1" noTextEdit="1"/>
          </p:cNvSpPr>
          <p:nvPr>
            <p:ph type="sldImg"/>
          </p:nvPr>
        </p:nvSpPr>
        <p:spPr/>
      </p:sp>
      <p:sp>
        <p:nvSpPr>
          <p:cNvPr id="2970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a:xfrm>
            <a:off x="89782" y="744538"/>
            <a:ext cx="6618110" cy="3722687"/>
          </a:xfrm>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1C51061-695A-4743-87C5-290447D24E55}"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ChangeArrowheads="1" noTextEdit="1"/>
          </p:cNvSpPr>
          <p:nvPr>
            <p:ph type="sldImg"/>
          </p:nvPr>
        </p:nvSpPr>
        <p:spPr/>
      </p:sp>
      <p:sp>
        <p:nvSpPr>
          <p:cNvPr id="1054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054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71224B6-DEAF-40AD-8BD3-8B6BC5712535}" type="slidenum">
              <a:rPr lang="zh-CN" altLang="en-US" sz="1300" smtClean="0"/>
            </a:fld>
            <a:endParaRPr lang="en-US" altLang="zh-CN"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7E39CD1-F459-4A7B-BC37-CB64C7950B3C}" type="slidenum">
              <a:rPr lang="en-US" altLang="zh-CN" sz="1300" smtClean="0"/>
            </a:fld>
            <a:endParaRPr lang="en-US" altLang="zh-CN" sz="130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F26D984-1E28-49AB-BC00-ADF20EB6E479}" type="slidenum">
              <a:rPr lang="en-US" altLang="zh-CN" sz="1300" smtClean="0"/>
            </a:fld>
            <a:endParaRPr lang="en-US" altLang="zh-CN" sz="1300"/>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E6DDBDF-CCCE-47A0-85BF-D353701E6A78}" type="slidenum">
              <a:rPr lang="en-US" altLang="zh-CN" sz="1300" smtClean="0"/>
            </a:fld>
            <a:endParaRPr lang="en-US" altLang="zh-CN" sz="130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4" name="Picture 2" descr="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988"/>
            <a:ext cx="12192000"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p:nvPr/>
        </p:nvGrpSpPr>
        <p:grpSpPr bwMode="auto">
          <a:xfrm>
            <a:off x="336062" y="4364038"/>
            <a:ext cx="11254154" cy="1443037"/>
            <a:chOff x="0" y="1425"/>
            <a:chExt cx="5760" cy="674"/>
          </a:xfrm>
        </p:grpSpPr>
        <p:grpSp>
          <p:nvGrpSpPr>
            <p:cNvPr id="6" name="Rectangle 4"/>
            <p:cNvGrpSpPr/>
            <p:nvPr/>
          </p:nvGrpSpPr>
          <p:grpSpPr bwMode="auto">
            <a:xfrm>
              <a:off x="55" y="1462"/>
              <a:ext cx="5710" cy="596"/>
              <a:chOff x="359664" y="4443984"/>
              <a:chExt cx="9064752" cy="1274064"/>
            </a:xfrm>
          </p:grpSpPr>
          <p:pic>
            <p:nvPicPr>
              <p:cNvPr id="8" name="Rectangl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664" y="4443984"/>
                <a:ext cx="9064752" cy="1274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23"/>
              <p:cNvSpPr txBox="1">
                <a:spLocks noChangeArrowheads="1"/>
              </p:cNvSpPr>
              <p:nvPr/>
            </p:nvSpPr>
            <p:spPr bwMode="auto">
              <a:xfrm>
                <a:off x="364426" y="4448896"/>
                <a:ext cx="9052052" cy="1263280"/>
              </a:xfrm>
              <a:prstGeom prst="rect">
                <a:avLst/>
              </a:prstGeom>
              <a:no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grpSp>
        <p:pic>
          <p:nvPicPr>
            <p:cNvPr id="7" name="Picture 5" descr="Metallic edge Clear Bars 2 faded ed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425"/>
              <a:ext cx="5760"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 name="Picture 6" descr="blue faded gel rectang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662" y="1341438"/>
            <a:ext cx="11254154"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3"/>
          <p:cNvGrpSpPr/>
          <p:nvPr/>
        </p:nvGrpSpPr>
        <p:grpSpPr bwMode="auto">
          <a:xfrm>
            <a:off x="5121031" y="2925763"/>
            <a:ext cx="1877646" cy="1465262"/>
            <a:chOff x="1512" y="1686"/>
            <a:chExt cx="6342" cy="6150"/>
          </a:xfrm>
        </p:grpSpPr>
        <p:sp>
          <p:nvSpPr>
            <p:cNvPr id="12" name="Line 14"/>
            <p:cNvSpPr>
              <a:spLocks noChangeShapeType="1"/>
            </p:cNvSpPr>
            <p:nvPr/>
          </p:nvSpPr>
          <p:spPr bwMode="auto">
            <a:xfrm rot="-5400000" flipH="1" flipV="1">
              <a:off x="4136" y="6000"/>
              <a:ext cx="116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13" name="Line 15"/>
            <p:cNvSpPr>
              <a:spLocks noChangeShapeType="1"/>
            </p:cNvSpPr>
            <p:nvPr/>
          </p:nvSpPr>
          <p:spPr bwMode="auto">
            <a:xfrm>
              <a:off x="1684" y="4871"/>
              <a:ext cx="617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14" name="Rectangle 16"/>
            <p:cNvSpPr>
              <a:spLocks noChangeArrowheads="1"/>
            </p:cNvSpPr>
            <p:nvPr/>
          </p:nvSpPr>
          <p:spPr bwMode="auto">
            <a:xfrm>
              <a:off x="1512" y="1686"/>
              <a:ext cx="6322" cy="6150"/>
            </a:xfrm>
            <a:prstGeom prst="rect">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5" name="Rectangle 17"/>
            <p:cNvSpPr>
              <a:spLocks noChangeArrowheads="1"/>
            </p:cNvSpPr>
            <p:nvPr/>
          </p:nvSpPr>
          <p:spPr bwMode="auto">
            <a:xfrm>
              <a:off x="2020" y="2179"/>
              <a:ext cx="5306" cy="5164"/>
            </a:xfrm>
            <a:prstGeom prst="rect">
              <a:avLst/>
            </a:prstGeom>
            <a:solidFill>
              <a:srgbClr val="FFFFFF"/>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6" name="Rectangle 18"/>
            <p:cNvSpPr>
              <a:spLocks noChangeArrowheads="1"/>
            </p:cNvSpPr>
            <p:nvPr/>
          </p:nvSpPr>
          <p:spPr bwMode="auto">
            <a:xfrm>
              <a:off x="2522" y="2672"/>
              <a:ext cx="4303" cy="4178"/>
            </a:xfrm>
            <a:prstGeom prst="rect">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7" name="Oval 19"/>
            <p:cNvSpPr>
              <a:spLocks noChangeArrowheads="1"/>
            </p:cNvSpPr>
            <p:nvPr/>
          </p:nvSpPr>
          <p:spPr bwMode="auto">
            <a:xfrm>
              <a:off x="2357" y="2506"/>
              <a:ext cx="4679" cy="4551"/>
            </a:xfrm>
            <a:prstGeom prst="ellipse">
              <a:avLst/>
            </a:prstGeom>
            <a:solidFill>
              <a:srgbClr val="FFFFFF"/>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8" name="Oval 20"/>
            <p:cNvSpPr>
              <a:spLocks noChangeArrowheads="1"/>
            </p:cNvSpPr>
            <p:nvPr/>
          </p:nvSpPr>
          <p:spPr bwMode="auto">
            <a:xfrm>
              <a:off x="2858" y="2999"/>
              <a:ext cx="3630" cy="3525"/>
            </a:xfrm>
            <a:prstGeom prst="ellipse">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9" name="AutoShape 21"/>
            <p:cNvSpPr>
              <a:spLocks noChangeArrowheads="1"/>
            </p:cNvSpPr>
            <p:nvPr/>
          </p:nvSpPr>
          <p:spPr bwMode="auto">
            <a:xfrm>
              <a:off x="2944" y="2999"/>
              <a:ext cx="3458" cy="2372"/>
            </a:xfrm>
            <a:prstGeom prst="triangle">
              <a:avLst>
                <a:gd name="adj" fmla="val 50000"/>
              </a:avLst>
            </a:prstGeom>
            <a:solidFill>
              <a:srgbClr val="FFFFFF"/>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20" name="Rectangle 22"/>
            <p:cNvSpPr>
              <a:spLocks noChangeArrowheads="1"/>
            </p:cNvSpPr>
            <p:nvPr/>
          </p:nvSpPr>
          <p:spPr bwMode="auto">
            <a:xfrm>
              <a:off x="4244" y="4764"/>
              <a:ext cx="878" cy="606"/>
            </a:xfrm>
            <a:prstGeom prst="rect">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21" name="AutoShape 23"/>
            <p:cNvSpPr>
              <a:spLocks noChangeArrowheads="1"/>
            </p:cNvSpPr>
            <p:nvPr/>
          </p:nvSpPr>
          <p:spPr bwMode="auto">
            <a:xfrm>
              <a:off x="4244" y="3696"/>
              <a:ext cx="845" cy="859"/>
            </a:xfrm>
            <a:custGeom>
              <a:avLst/>
              <a:gdLst>
                <a:gd name="T0" fmla="*/ 423 w 845"/>
                <a:gd name="T1" fmla="*/ 0 h 859"/>
                <a:gd name="T2" fmla="*/ 0 w 845"/>
                <a:gd name="T3" fmla="*/ 328 h 859"/>
                <a:gd name="T4" fmla="*/ 161 w 845"/>
                <a:gd name="T5" fmla="*/ 859 h 859"/>
                <a:gd name="T6" fmla="*/ 684 w 845"/>
                <a:gd name="T7" fmla="*/ 859 h 859"/>
                <a:gd name="T8" fmla="*/ 845 w 845"/>
                <a:gd name="T9" fmla="*/ 328 h 859"/>
                <a:gd name="T10" fmla="*/ 17694720 60000 65536"/>
                <a:gd name="T11" fmla="*/ 11796480 60000 65536"/>
                <a:gd name="T12" fmla="*/ 5898240 60000 65536"/>
                <a:gd name="T13" fmla="*/ 5898240 60000 65536"/>
                <a:gd name="T14" fmla="*/ 0 60000 65536"/>
                <a:gd name="T15" fmla="*/ 261 w 845"/>
                <a:gd name="T16" fmla="*/ 328 h 859"/>
                <a:gd name="T17" fmla="*/ 584 w 845"/>
                <a:gd name="T18" fmla="*/ 656 h 859"/>
              </a:gdLst>
              <a:ahLst/>
              <a:cxnLst>
                <a:cxn ang="T10">
                  <a:pos x="T0" y="T1"/>
                </a:cxn>
                <a:cxn ang="T11">
                  <a:pos x="T2" y="T3"/>
                </a:cxn>
                <a:cxn ang="T12">
                  <a:pos x="T4" y="T5"/>
                </a:cxn>
                <a:cxn ang="T13">
                  <a:pos x="T6" y="T7"/>
                </a:cxn>
                <a:cxn ang="T14">
                  <a:pos x="T8" y="T9"/>
                </a:cxn>
              </a:cxnLst>
              <a:rect l="T15" t="T16" r="T17" b="T18"/>
              <a:pathLst>
                <a:path w="845" h="859">
                  <a:moveTo>
                    <a:pt x="0" y="328"/>
                  </a:moveTo>
                  <a:lnTo>
                    <a:pt x="323" y="328"/>
                  </a:lnTo>
                  <a:lnTo>
                    <a:pt x="423" y="0"/>
                  </a:lnTo>
                  <a:lnTo>
                    <a:pt x="522" y="328"/>
                  </a:lnTo>
                  <a:lnTo>
                    <a:pt x="845" y="328"/>
                  </a:lnTo>
                  <a:lnTo>
                    <a:pt x="584" y="531"/>
                  </a:lnTo>
                  <a:lnTo>
                    <a:pt x="684" y="859"/>
                  </a:lnTo>
                  <a:lnTo>
                    <a:pt x="423" y="656"/>
                  </a:lnTo>
                  <a:lnTo>
                    <a:pt x="161" y="859"/>
                  </a:lnTo>
                  <a:lnTo>
                    <a:pt x="261" y="531"/>
                  </a:lnTo>
                  <a:lnTo>
                    <a:pt x="0" y="328"/>
                  </a:lnTo>
                  <a:close/>
                </a:path>
              </a:pathLst>
            </a:cu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21" tIns="56260" rIns="112521" bIns="56260"/>
            <a:lstStyle/>
            <a:p>
              <a:endParaRPr lang="zh-CN" altLang="en-US" sz="100"/>
            </a:p>
          </p:txBody>
        </p:sp>
        <p:sp>
          <p:nvSpPr>
            <p:cNvPr id="22" name="WordArt 24"/>
            <p:cNvSpPr>
              <a:spLocks noChangeArrowheads="1" noChangeShapeType="1" noTextEdit="1"/>
            </p:cNvSpPr>
            <p:nvPr/>
          </p:nvSpPr>
          <p:spPr bwMode="auto">
            <a:xfrm>
              <a:off x="3619" y="5540"/>
              <a:ext cx="2164" cy="369"/>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100" b="1" kern="10" normalizeH="1">
                  <a:solidFill>
                    <a:srgbClr val="FFFFFF"/>
                  </a:solidFill>
                  <a:cs typeface="Arial" panose="020B0604020202020204" pitchFamily="34" charset="0"/>
                </a:rPr>
                <a:t>CNITSEC</a:t>
              </a:r>
              <a:endParaRPr lang="zh-CN" altLang="en-US" sz="100" b="1" kern="10" normalizeH="1">
                <a:solidFill>
                  <a:srgbClr val="FFFFFF"/>
                </a:solidFill>
                <a:cs typeface="Arial" panose="020B0604020202020204" pitchFamily="34" charset="0"/>
              </a:endParaRPr>
            </a:p>
          </p:txBody>
        </p:sp>
      </p:grpSp>
      <p:sp>
        <p:nvSpPr>
          <p:cNvPr id="545799" name="Rectangle 7"/>
          <p:cNvSpPr>
            <a:spLocks noGrp="1" noChangeArrowheads="1"/>
          </p:cNvSpPr>
          <p:nvPr>
            <p:ph type="ctrTitle" hasCustomPrompt="1"/>
          </p:nvPr>
        </p:nvSpPr>
        <p:spPr bwMode="white">
          <a:xfrm>
            <a:off x="1045308" y="1557338"/>
            <a:ext cx="10101385" cy="1295400"/>
          </a:xfrm>
        </p:spPr>
        <p:txBody>
          <a:bodyPr/>
          <a:lstStyle>
            <a:lvl1pPr algn="ctr">
              <a:defRPr sz="4800"/>
            </a:lvl1pPr>
          </a:lstStyle>
          <a:p>
            <a:r>
              <a:rPr lang="en-US" altLang="zh-CN"/>
              <a:t>Click to edit Master title</a:t>
            </a:r>
            <a:br>
              <a:rPr lang="en-US" altLang="zh-CN"/>
            </a:br>
            <a:r>
              <a:rPr lang="en-US" altLang="zh-CN"/>
              <a:t> style</a:t>
            </a:r>
            <a:endParaRPr lang="en-US" altLang="zh-CN"/>
          </a:p>
        </p:txBody>
      </p:sp>
      <p:sp>
        <p:nvSpPr>
          <p:cNvPr id="545803" name="Rectangle 11"/>
          <p:cNvSpPr>
            <a:spLocks noGrp="1" noChangeArrowheads="1"/>
          </p:cNvSpPr>
          <p:nvPr>
            <p:ph type="subTitle" idx="1" hasCustomPrompt="1"/>
          </p:nvPr>
        </p:nvSpPr>
        <p:spPr bwMode="white">
          <a:xfrm>
            <a:off x="2553678" y="4508500"/>
            <a:ext cx="7264400" cy="1150938"/>
          </a:xfrm>
        </p:spPr>
        <p:txBody>
          <a:bodyPr/>
          <a:lstStyle>
            <a:lvl1pPr marL="0" indent="0" algn="ctr">
              <a:buFont typeface="Wingdings" panose="05000000000000000000" pitchFamily="2" charset="2"/>
              <a:buNone/>
              <a:defRPr b="1">
                <a:solidFill>
                  <a:schemeClr val="tx1"/>
                </a:solidFill>
                <a:ea typeface="楷体_GB2312" pitchFamily="49" charset="-122"/>
              </a:defRPr>
            </a:lvl1pPr>
          </a:lstStyle>
          <a:p>
            <a:r>
              <a:rPr lang="en-US" altLang="zh-CN"/>
              <a:t>Click to edit Master </a:t>
            </a:r>
            <a:endParaRPr lang="en-US" altLang="zh-CN"/>
          </a:p>
          <a:p>
            <a:r>
              <a:rPr lang="en-US" altLang="zh-CN"/>
              <a:t>subtitle style</a:t>
            </a:r>
            <a:endParaRPr lang="en-US" altLang="zh-CN"/>
          </a:p>
        </p:txBody>
      </p:sp>
      <p:sp>
        <p:nvSpPr>
          <p:cNvPr id="23" name="Rectangle 8"/>
          <p:cNvSpPr>
            <a:spLocks noGrp="1" noChangeArrowheads="1"/>
          </p:cNvSpPr>
          <p:nvPr>
            <p:ph type="dt" sz="half" idx="10"/>
          </p:nvPr>
        </p:nvSpPr>
        <p:spPr>
          <a:xfrm>
            <a:off x="609600" y="6477000"/>
            <a:ext cx="2844800" cy="244475"/>
          </a:xfrm>
        </p:spPr>
        <p:txBody>
          <a:bodyPr/>
          <a:lstStyle>
            <a:lvl1pPr>
              <a:defRPr sz="1200"/>
            </a:lvl1pPr>
          </a:lstStyle>
          <a:p>
            <a:pPr>
              <a:defRPr/>
            </a:pPr>
            <a:endParaRPr lang="en-US" altLang="zh-CN"/>
          </a:p>
        </p:txBody>
      </p:sp>
      <p:sp>
        <p:nvSpPr>
          <p:cNvPr id="24" name="Rectangle 9"/>
          <p:cNvSpPr>
            <a:spLocks noGrp="1" noChangeArrowheads="1"/>
          </p:cNvSpPr>
          <p:nvPr>
            <p:ph type="ftr" sz="quarter" idx="11"/>
          </p:nvPr>
        </p:nvSpPr>
        <p:spPr>
          <a:xfrm>
            <a:off x="4165600" y="6477000"/>
            <a:ext cx="3860800" cy="244475"/>
          </a:xfrm>
        </p:spPr>
        <p:txBody>
          <a:bodyPr/>
          <a:lstStyle>
            <a:lvl1pPr>
              <a:defRPr sz="1200"/>
            </a:lvl1pPr>
          </a:lstStyle>
          <a:p>
            <a:pPr>
              <a:defRPr/>
            </a:pPr>
            <a:endParaRPr lang="en-US" altLang="zh-CN"/>
          </a:p>
        </p:txBody>
      </p:sp>
      <p:sp>
        <p:nvSpPr>
          <p:cNvPr id="25" name="Rectangle 10"/>
          <p:cNvSpPr>
            <a:spLocks noGrp="1" noChangeArrowheads="1"/>
          </p:cNvSpPr>
          <p:nvPr>
            <p:ph type="sldNum" sz="quarter" idx="12"/>
          </p:nvPr>
        </p:nvSpPr>
        <p:spPr>
          <a:xfrm>
            <a:off x="8737600" y="6477000"/>
            <a:ext cx="2844800" cy="244475"/>
          </a:xfrm>
        </p:spPr>
        <p:txBody>
          <a:bodyPr/>
          <a:lstStyle>
            <a:lvl1pPr>
              <a:defRPr sz="1200"/>
            </a:lvl1pPr>
          </a:lstStyle>
          <a:p>
            <a:pPr>
              <a:defRPr/>
            </a:pPr>
            <a:fld id="{098F25FD-B57C-4841-A194-E7B9027DC14A}" type="slidenum">
              <a:rPr lang="zh-CN" altLang="en-US"/>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
        <p:nvSpPr>
          <p:cNvPr id="6" name="Rectangle 5"/>
          <p:cNvSpPr>
            <a:spLocks noGrp="1" noChangeArrowheads="1"/>
          </p:cNvSpPr>
          <p:nvPr>
            <p:ph type="sldNum" sz="quarter" idx="12"/>
          </p:nvPr>
        </p:nvSpPr>
        <p:spPr/>
        <p:txBody>
          <a:bodyPr/>
          <a:lstStyle>
            <a:lvl1pPr>
              <a:defRPr/>
            </a:lvl1pPr>
          </a:lstStyle>
          <a:p>
            <a:pPr>
              <a:defRPr/>
            </a:pPr>
            <a:fld id="{3CD0AA60-BDA2-4630-8C28-EDEE97D2D439}" type="slidenum">
              <a:rPr lang="zh-CN" altLang="en-US"/>
            </a:fld>
            <a:endParaRPr lang="en-US" alt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47"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
        <p:nvSpPr>
          <p:cNvPr id="6" name="Rectangle 5"/>
          <p:cNvSpPr>
            <a:spLocks noGrp="1" noChangeArrowheads="1"/>
          </p:cNvSpPr>
          <p:nvPr>
            <p:ph type="sldNum" sz="quarter" idx="12"/>
          </p:nvPr>
        </p:nvSpPr>
        <p:spPr/>
        <p:txBody>
          <a:bodyPr/>
          <a:lstStyle>
            <a:lvl1pPr>
              <a:defRPr/>
            </a:lvl1pPr>
          </a:lstStyle>
          <a:p>
            <a:pPr>
              <a:defRPr/>
            </a:pPr>
            <a:fld id="{5CC79AFA-1F50-4A42-A348-48C9D8E3F6D7}" type="slidenum">
              <a:rPr lang="zh-CN" altLang="en-US"/>
            </a:fld>
            <a:endParaRPr lang="en-US" altLang="zh-CN"/>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133231" y="1347788"/>
            <a:ext cx="5089770" cy="5176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410570" y="1347788"/>
            <a:ext cx="5091723" cy="5176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3"/>
          <p:cNvSpPr>
            <a:spLocks noGrp="1" noChangeArrowheads="1"/>
          </p:cNvSpPr>
          <p:nvPr>
            <p:ph type="dt" sz="half" idx="10"/>
          </p:nvPr>
        </p:nvSpPr>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defRPr/>
            </a:lvl1pPr>
          </a:lstStyle>
          <a:p>
            <a:pPr>
              <a:defRPr/>
            </a:pPr>
            <a:endParaRPr lang="en-US" altLang="zh-CN"/>
          </a:p>
        </p:txBody>
      </p:sp>
      <p:sp>
        <p:nvSpPr>
          <p:cNvPr id="7" name="Rectangle 5"/>
          <p:cNvSpPr>
            <a:spLocks noGrp="1" noChangeArrowheads="1"/>
          </p:cNvSpPr>
          <p:nvPr>
            <p:ph type="sldNum" sz="quarter" idx="12"/>
          </p:nvPr>
        </p:nvSpPr>
        <p:spPr/>
        <p:txBody>
          <a:bodyPr/>
          <a:lstStyle>
            <a:lvl1pPr>
              <a:defRPr/>
            </a:lvl1pPr>
          </a:lstStyle>
          <a:p>
            <a:pPr>
              <a:defRPr/>
            </a:pPr>
            <a:fld id="{BF0175EE-475A-4F96-91B3-5FAD4E21C26C}" type="slidenum">
              <a:rPr lang="zh-CN" altLang="en-US"/>
            </a:fld>
            <a:endParaRPr lang="en-US" altLang="zh-CN"/>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92"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92"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3"/>
          <p:cNvSpPr>
            <a:spLocks noGrp="1" noChangeArrowheads="1"/>
          </p:cNvSpPr>
          <p:nvPr>
            <p:ph type="dt" sz="half" idx="10"/>
          </p:nvPr>
        </p:nvSpPr>
        <p:spPr/>
        <p:txBody>
          <a:bodyPr/>
          <a:lstStyle>
            <a:lvl1pPr>
              <a:defRPr/>
            </a:lvl1pPr>
          </a:lstStyle>
          <a:p>
            <a:pPr>
              <a:defRPr/>
            </a:pPr>
            <a:endParaRPr lang="en-US" altLang="zh-CN"/>
          </a:p>
        </p:txBody>
      </p:sp>
      <p:sp>
        <p:nvSpPr>
          <p:cNvPr id="8" name="Rectangle 4"/>
          <p:cNvSpPr>
            <a:spLocks noGrp="1" noChangeArrowheads="1"/>
          </p:cNvSpPr>
          <p:nvPr>
            <p:ph type="ftr" sz="quarter" idx="11"/>
          </p:nvPr>
        </p:nvSpPr>
        <p:spPr/>
        <p:txBody>
          <a:bodyPr/>
          <a:lstStyle>
            <a:lvl1pPr>
              <a:defRPr/>
            </a:lvl1pPr>
          </a:lstStyle>
          <a:p>
            <a:pPr>
              <a:defRPr/>
            </a:pPr>
            <a:endParaRPr lang="en-US" altLang="zh-CN"/>
          </a:p>
        </p:txBody>
      </p:sp>
      <p:sp>
        <p:nvSpPr>
          <p:cNvPr id="9" name="Rectangle 5"/>
          <p:cNvSpPr>
            <a:spLocks noGrp="1" noChangeArrowheads="1"/>
          </p:cNvSpPr>
          <p:nvPr>
            <p:ph type="sldNum" sz="quarter" idx="12"/>
          </p:nvPr>
        </p:nvSpPr>
        <p:spPr/>
        <p:txBody>
          <a:bodyPr/>
          <a:lstStyle>
            <a:lvl1pPr>
              <a:defRPr/>
            </a:lvl1pPr>
          </a:lstStyle>
          <a:p>
            <a:pPr>
              <a:defRPr/>
            </a:pPr>
            <a:fld id="{999C15A8-26C8-4770-8665-C32459605556}" type="slidenum">
              <a:rPr lang="zh-CN" altLang="en-US"/>
            </a:fld>
            <a:endParaRPr lang="en-US" altLang="zh-CN"/>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3"/>
          <p:cNvSpPr>
            <a:spLocks noGrp="1" noChangeArrowheads="1"/>
          </p:cNvSpPr>
          <p:nvPr>
            <p:ph type="dt" sz="half" idx="10"/>
          </p:nvPr>
        </p:nvSpPr>
        <p:spPr/>
        <p:txBody>
          <a:bodyPr/>
          <a:lstStyle>
            <a:lvl1pPr>
              <a:defRPr/>
            </a:lvl1pPr>
          </a:lstStyle>
          <a:p>
            <a:pPr>
              <a:defRPr/>
            </a:pPr>
            <a:endParaRPr lang="en-US" altLang="zh-CN"/>
          </a:p>
        </p:txBody>
      </p:sp>
      <p:sp>
        <p:nvSpPr>
          <p:cNvPr id="4" name="Rectangle 4"/>
          <p:cNvSpPr>
            <a:spLocks noGrp="1" noChangeArrowheads="1"/>
          </p:cNvSpPr>
          <p:nvPr>
            <p:ph type="ftr" sz="quarter" idx="11"/>
          </p:nvPr>
        </p:nvSpPr>
        <p:spPr/>
        <p:txBody>
          <a:bodyPr/>
          <a:lstStyle>
            <a:lvl1pPr>
              <a:defRPr/>
            </a:lvl1pPr>
          </a:lstStyle>
          <a:p>
            <a:pPr>
              <a:defRPr/>
            </a:pPr>
            <a:endParaRPr lang="en-US" altLang="zh-CN"/>
          </a:p>
        </p:txBody>
      </p:sp>
      <p:sp>
        <p:nvSpPr>
          <p:cNvPr id="5" name="Rectangle 5"/>
          <p:cNvSpPr>
            <a:spLocks noGrp="1" noChangeArrowheads="1"/>
          </p:cNvSpPr>
          <p:nvPr>
            <p:ph type="sldNum" sz="quarter" idx="12"/>
          </p:nvPr>
        </p:nvSpPr>
        <p:spPr/>
        <p:txBody>
          <a:bodyPr/>
          <a:lstStyle>
            <a:lvl1pPr>
              <a:defRPr/>
            </a:lvl1pPr>
          </a:lstStyle>
          <a:p>
            <a:pPr>
              <a:defRPr/>
            </a:pPr>
            <a:fld id="{51D31669-0576-45A8-93A7-952DC31CC509}" type="slidenum">
              <a:rPr lang="zh-CN" altLang="en-US"/>
            </a:fld>
            <a:endParaRPr lang="en-US" altLang="zh-CN"/>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p:txBody>
          <a:bodyPr/>
          <a:lstStyle>
            <a:lvl1pPr>
              <a:defRPr/>
            </a:lvl1pPr>
          </a:lstStyle>
          <a:p>
            <a:pPr>
              <a:defRPr/>
            </a:pPr>
            <a:endParaRPr lang="en-US" altLang="zh-CN"/>
          </a:p>
        </p:txBody>
      </p:sp>
      <p:sp>
        <p:nvSpPr>
          <p:cNvPr id="3" name="Rectangle 4"/>
          <p:cNvSpPr>
            <a:spLocks noGrp="1" noChangeArrowheads="1"/>
          </p:cNvSpPr>
          <p:nvPr>
            <p:ph type="ftr" sz="quarter" idx="11"/>
          </p:nvPr>
        </p:nvSpPr>
        <p:spPr/>
        <p:txBody>
          <a:bodyPr/>
          <a:lstStyle>
            <a:lvl1pPr>
              <a:defRPr/>
            </a:lvl1pPr>
          </a:lstStyle>
          <a:p>
            <a:pPr>
              <a:defRPr/>
            </a:pPr>
            <a:endParaRPr lang="en-US" altLang="zh-CN"/>
          </a:p>
        </p:txBody>
      </p:sp>
      <p:sp>
        <p:nvSpPr>
          <p:cNvPr id="4" name="Rectangle 5"/>
          <p:cNvSpPr>
            <a:spLocks noGrp="1" noChangeArrowheads="1"/>
          </p:cNvSpPr>
          <p:nvPr>
            <p:ph type="sldNum" sz="quarter" idx="12"/>
          </p:nvPr>
        </p:nvSpPr>
        <p:spPr/>
        <p:txBody>
          <a:bodyPr/>
          <a:lstStyle>
            <a:lvl1pPr>
              <a:defRPr/>
            </a:lvl1pPr>
          </a:lstStyle>
          <a:p>
            <a:pPr>
              <a:defRPr/>
            </a:pPr>
            <a:fld id="{3C794DC2-B001-46F1-AE84-D962744C1FD2}" type="slidenum">
              <a:rPr lang="zh-CN" altLang="en-US"/>
            </a:fld>
            <a:endParaRPr lang="en-US" altLang="zh-C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247"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385" y="273050"/>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3"/>
          <p:cNvSpPr>
            <a:spLocks noGrp="1" noChangeArrowheads="1"/>
          </p:cNvSpPr>
          <p:nvPr>
            <p:ph type="dt" sz="half" idx="10"/>
          </p:nvPr>
        </p:nvSpPr>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defRPr/>
            </a:lvl1pPr>
          </a:lstStyle>
          <a:p>
            <a:pPr>
              <a:defRPr/>
            </a:pPr>
            <a:endParaRPr lang="en-US" altLang="zh-CN"/>
          </a:p>
        </p:txBody>
      </p:sp>
      <p:sp>
        <p:nvSpPr>
          <p:cNvPr id="7" name="Rectangle 5"/>
          <p:cNvSpPr>
            <a:spLocks noGrp="1" noChangeArrowheads="1"/>
          </p:cNvSpPr>
          <p:nvPr>
            <p:ph type="sldNum" sz="quarter" idx="12"/>
          </p:nvPr>
        </p:nvSpPr>
        <p:spPr/>
        <p:txBody>
          <a:bodyPr/>
          <a:lstStyle>
            <a:lvl1pPr>
              <a:defRPr/>
            </a:lvl1pPr>
          </a:lstStyle>
          <a:p>
            <a:pPr>
              <a:defRPr/>
            </a:pPr>
            <a:fld id="{07A18AB4-0D4E-47ED-9AFB-3333C3F527D9}" type="slidenum">
              <a:rPr lang="zh-CN" altLang="en-US"/>
            </a:fld>
            <a:endParaRPr lang="en-US" altLang="zh-CN"/>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554"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554" y="612775"/>
            <a:ext cx="7315200" cy="4114800"/>
          </a:xfrm>
        </p:spPr>
        <p:txBody>
          <a:bodyPr lIns="91440" tIns="45720" rIns="91440" bIns="4572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3"/>
          <p:cNvSpPr>
            <a:spLocks noGrp="1" noChangeArrowheads="1"/>
          </p:cNvSpPr>
          <p:nvPr>
            <p:ph type="dt" sz="half" idx="10"/>
          </p:nvPr>
        </p:nvSpPr>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defRPr/>
            </a:lvl1pPr>
          </a:lstStyle>
          <a:p>
            <a:pPr>
              <a:defRPr/>
            </a:pPr>
            <a:endParaRPr lang="en-US" altLang="zh-CN"/>
          </a:p>
        </p:txBody>
      </p:sp>
      <p:sp>
        <p:nvSpPr>
          <p:cNvPr id="7" name="Rectangle 5"/>
          <p:cNvSpPr>
            <a:spLocks noGrp="1" noChangeArrowheads="1"/>
          </p:cNvSpPr>
          <p:nvPr>
            <p:ph type="sldNum" sz="quarter" idx="12"/>
          </p:nvPr>
        </p:nvSpPr>
        <p:spPr/>
        <p:txBody>
          <a:bodyPr/>
          <a:lstStyle>
            <a:lvl1pPr>
              <a:defRPr/>
            </a:lvl1pPr>
          </a:lstStyle>
          <a:p>
            <a:pPr>
              <a:defRPr/>
            </a:pPr>
            <a:fld id="{C2D5DE36-BAE3-4EAC-994C-1F44DCEDD1AD}" type="slidenum">
              <a:rPr lang="zh-CN" altLang="en-US"/>
            </a:fld>
            <a:endParaRPr lang="en-US" altLang="zh-C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
        <p:nvSpPr>
          <p:cNvPr id="6" name="Rectangle 5"/>
          <p:cNvSpPr>
            <a:spLocks noGrp="1" noChangeArrowheads="1"/>
          </p:cNvSpPr>
          <p:nvPr>
            <p:ph type="sldNum" sz="quarter" idx="12"/>
          </p:nvPr>
        </p:nvSpPr>
        <p:spPr/>
        <p:txBody>
          <a:bodyPr/>
          <a:lstStyle>
            <a:lvl1pPr>
              <a:defRPr/>
            </a:lvl1pPr>
          </a:lstStyle>
          <a:p>
            <a:pPr>
              <a:defRPr/>
            </a:pPr>
            <a:fld id="{1B7688A1-6AEF-4556-B413-4F545A869CAB}" type="slidenum">
              <a:rPr lang="zh-CN" altLang="en-US"/>
            </a:fld>
            <a:endParaRPr lang="en-US" altLang="zh-CN"/>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4354" y="115888"/>
            <a:ext cx="2635738" cy="640873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133231" y="115888"/>
            <a:ext cx="7723554" cy="640873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
        <p:nvSpPr>
          <p:cNvPr id="6" name="Rectangle 5"/>
          <p:cNvSpPr>
            <a:spLocks noGrp="1" noChangeArrowheads="1"/>
          </p:cNvSpPr>
          <p:nvPr>
            <p:ph type="sldNum" sz="quarter" idx="12"/>
          </p:nvPr>
        </p:nvSpPr>
        <p:spPr/>
        <p:txBody>
          <a:bodyPr/>
          <a:lstStyle>
            <a:lvl1pPr>
              <a:defRPr/>
            </a:lvl1pPr>
          </a:lstStyle>
          <a:p>
            <a:pPr>
              <a:defRPr/>
            </a:pPr>
            <a:fld id="{88BC7493-6CBD-4D6E-BDD3-7FE1CA942568}" type="slidenum">
              <a:rPr lang="zh-CN" altLang="en-US"/>
            </a:fld>
            <a:endParaRPr lang="en-US" altLang="zh-CN"/>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34" descr="图片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0" descr="中心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1662" y="1773238"/>
            <a:ext cx="2573216"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1154" name="Rectangle 2"/>
          <p:cNvSpPr>
            <a:spLocks noGrp="1" noRot="1" noChangeArrowheads="1"/>
          </p:cNvSpPr>
          <p:nvPr>
            <p:ph type="ctrTitle"/>
          </p:nvPr>
        </p:nvSpPr>
        <p:spPr>
          <a:xfrm>
            <a:off x="955431" y="1557338"/>
            <a:ext cx="10363200" cy="1143000"/>
          </a:xfrm>
        </p:spPr>
        <p:txBody>
          <a:bodyPr/>
          <a:lstStyle>
            <a:lvl1pPr>
              <a:defRPr/>
            </a:lvl1pPr>
          </a:lstStyle>
          <a:p>
            <a:r>
              <a:rPr lang="zh-CN" altLang="en-US"/>
              <a:t>单击此处编辑母版标题样式</a:t>
            </a:r>
            <a:endParaRPr lang="zh-CN" altLang="en-US"/>
          </a:p>
        </p:txBody>
      </p:sp>
      <p:sp>
        <p:nvSpPr>
          <p:cNvPr id="561155" name="Rectangle 3"/>
          <p:cNvSpPr>
            <a:spLocks noGrp="1" noRot="1" noChangeArrowheads="1"/>
          </p:cNvSpPr>
          <p:nvPr>
            <p:ph type="subTitle" idx="1"/>
          </p:nvPr>
        </p:nvSpPr>
        <p:spPr>
          <a:xfrm>
            <a:off x="1930400" y="4292600"/>
            <a:ext cx="8534400" cy="144145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6" name="Rectangle 4"/>
          <p:cNvSpPr>
            <a:spLocks noGrp="1" noChangeArrowheads="1"/>
          </p:cNvSpPr>
          <p:nvPr>
            <p:ph type="dt" sz="half" idx="10"/>
          </p:nvPr>
        </p:nvSpPr>
        <p:spPr>
          <a:xfrm>
            <a:off x="404447" y="6245225"/>
            <a:ext cx="3049953" cy="476250"/>
          </a:xfrm>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xfrm>
            <a:off x="4165600" y="6245225"/>
            <a:ext cx="3860800" cy="476250"/>
          </a:xfrm>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xfrm>
            <a:off x="8737600" y="6245225"/>
            <a:ext cx="3053862" cy="476250"/>
          </a:xfrm>
        </p:spPr>
        <p:txBody>
          <a:bodyPr/>
          <a:lstStyle>
            <a:lvl1pPr>
              <a:defRPr/>
            </a:lvl1pPr>
          </a:lstStyle>
          <a:p>
            <a:pPr>
              <a:defRPr/>
            </a:pPr>
            <a:fld id="{DD5E98CF-1371-4E15-9DD2-C7CCEF1E5BE2}"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E34A24E-5B74-4C6F-B1E6-276689EBAB30}" type="slidenum">
              <a:rPr lang="zh-CN" altLang="en-US"/>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47"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A006E7A-AC26-41A4-B0F9-DC74D45C01F2}"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1785" y="1484313"/>
            <a:ext cx="5400431" cy="4681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89785" y="1484313"/>
            <a:ext cx="5400431" cy="4681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7C2486CC-D4EA-42AC-B46E-AF4F487B5985}" type="slidenum">
              <a:rPr lang="zh-CN" altLang="en-US"/>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92"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92"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43DEA175-0711-44D4-B870-066BB8DFB7DA}" type="slidenum">
              <a:rPr lang="zh-CN" altLang="en-US"/>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C6BA86E-29E9-4B27-8D26-1F6CB03AB26D}" type="slidenum">
              <a:rPr lang="zh-CN" altLang="en-US"/>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79DDD8E-FAF4-4339-83D3-2702DF5817CA}" type="slidenum">
              <a:rPr lang="zh-CN" altLang="en-US"/>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247"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385" y="273050"/>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7E7DE44-2EDE-439F-B94A-47ECDEE239D7}" type="slidenum">
              <a:rPr lang="zh-CN" altLang="en-US"/>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554"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554" y="612775"/>
            <a:ext cx="7315200" cy="4114800"/>
          </a:xfrm>
        </p:spPr>
        <p:txBody>
          <a:bodyPr lIns="91440" tIns="45720" rIns="91440" bIns="4572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A59233D-0C5A-4351-B79F-2CEB66DD9CDB}" type="slidenum">
              <a:rPr lang="zh-CN" altLang="en-US"/>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8F57816-7915-4AF0-8B5D-F2E9C90A0843}" type="slidenum">
              <a:rPr lang="zh-CN" altLang="en-US"/>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4708" y="404813"/>
            <a:ext cx="2846754" cy="576103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4447" y="404813"/>
            <a:ext cx="8352692" cy="576103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6A4D8CE-8EF7-4BF8-88EB-AA2515B5CBD8}" type="slidenum">
              <a:rPr lang="zh-CN" altLang="en-US"/>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84EE4489-40CC-447F-ABCE-343996034969}" type="slidenum">
              <a:rPr lang="zh-CN" altLang="en-US"/>
            </a:fld>
            <a:endParaRPr lang="en-US" altLang="zh-CN"/>
          </a:p>
        </p:txBody>
      </p:sp>
      <p:sp>
        <p:nvSpPr>
          <p:cNvPr id="5" name="Rectangle 4"/>
          <p:cNvSpPr>
            <a:spLocks noGrp="1" noChangeArrowheads="1"/>
          </p:cNvSpPr>
          <p:nvPr>
            <p:ph type="dt" sz="half" idx="11"/>
          </p:nvPr>
        </p:nvSpPr>
        <p:spPr/>
        <p:txBody>
          <a:bodyPr/>
          <a:lstStyle>
            <a:lvl1pPr>
              <a:defRPr/>
            </a:lvl1pPr>
          </a:lstStyle>
          <a:p>
            <a:pPr>
              <a:defRPr/>
            </a:pPr>
            <a:endParaRPr lang="en-US" altLang="zh-CN"/>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3"/>
          <p:cNvSpPr>
            <a:spLocks noGrp="1"/>
          </p:cNvSpPr>
          <p:nvPr>
            <p:ph type="sldNum" sz="quarter" idx="10"/>
          </p:nvPr>
        </p:nvSpPr>
        <p:spPr/>
        <p:txBody>
          <a:bodyPr/>
          <a:lstStyle>
            <a:lvl1pPr>
              <a:defRPr/>
            </a:lvl1pPr>
          </a:lstStyle>
          <a:p>
            <a:pPr>
              <a:defRPr/>
            </a:pPr>
            <a:fld id="{E5152F28-314E-4214-BD1C-651ADFF32261}" type="slidenum">
              <a:rPr lang="zh-CN" altLang="en-US"/>
            </a:fld>
            <a:endParaRPr lang="en-US" altLang="zh-CN"/>
          </a:p>
        </p:txBody>
      </p:sp>
      <p:sp>
        <p:nvSpPr>
          <p:cNvPr id="6" name="日期占位符 4"/>
          <p:cNvSpPr>
            <a:spLocks noGrp="1"/>
          </p:cNvSpPr>
          <p:nvPr>
            <p:ph type="dt" sz="half" idx="11"/>
          </p:nvPr>
        </p:nvSpPr>
        <p:spPr/>
        <p:txBody>
          <a:bodyPr/>
          <a:lstStyle>
            <a:lvl1pPr>
              <a:defRPr/>
            </a:lvl1pPr>
          </a:lstStyle>
          <a:p>
            <a:pPr>
              <a:defRPr/>
            </a:pPr>
            <a:endParaRPr lang="en-US" altLang="zh-CN"/>
          </a:p>
        </p:txBody>
      </p:sp>
      <p:pic>
        <p:nvPicPr>
          <p:cNvPr id="14" name="图片 13"/>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47"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88735528-146B-4C09-89D2-D5EDFEC63FD9}" type="slidenum">
              <a:rPr lang="zh-CN" altLang="en-US"/>
            </a:fld>
            <a:endParaRPr lang="en-US" altLang="zh-CN"/>
          </a:p>
        </p:txBody>
      </p:sp>
      <p:sp>
        <p:nvSpPr>
          <p:cNvPr id="5" name="Rectangle 4"/>
          <p:cNvSpPr>
            <a:spLocks noGrp="1" noChangeArrowheads="1"/>
          </p:cNvSpPr>
          <p:nvPr>
            <p:ph type="dt" sz="half" idx="11"/>
          </p:nvPr>
        </p:nvSpPr>
        <p:spPr/>
        <p:txBody>
          <a:bodyPr/>
          <a:lstStyle>
            <a:lvl1pPr>
              <a:defRPr/>
            </a:lvl1pPr>
          </a:lstStyle>
          <a:p>
            <a:pPr>
              <a:defRPr/>
            </a:pPr>
            <a:endParaRPr lang="en-US" altLang="zh-CN"/>
          </a:p>
        </p:txBody>
      </p:sp>
      <p:pic>
        <p:nvPicPr>
          <p:cNvPr id="6" name="图片 5"/>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11200" y="1295400"/>
            <a:ext cx="5367216"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65985" y="1295400"/>
            <a:ext cx="5367215"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10308088-70FA-4BD7-B832-D02A65743D63}" type="slidenum">
              <a:rPr lang="zh-CN" altLang="en-US"/>
            </a:fld>
            <a:endParaRPr lang="en-US" altLang="zh-CN"/>
          </a:p>
        </p:txBody>
      </p:sp>
      <p:sp>
        <p:nvSpPr>
          <p:cNvPr id="6" name="Rectangle 4"/>
          <p:cNvSpPr>
            <a:spLocks noGrp="1" noChangeArrowheads="1"/>
          </p:cNvSpPr>
          <p:nvPr>
            <p:ph type="dt" sz="half" idx="11"/>
          </p:nvPr>
        </p:nvSpPr>
        <p:spPr/>
        <p:txBody>
          <a:bodyPr/>
          <a:lstStyle>
            <a:lvl1pPr>
              <a:defRPr/>
            </a:lvl1pPr>
          </a:lstStyle>
          <a:p>
            <a:pPr>
              <a:defRPr/>
            </a:pPr>
            <a:endParaRPr lang="en-US" altLang="zh-CN"/>
          </a:p>
        </p:txBody>
      </p:sp>
      <p:pic>
        <p:nvPicPr>
          <p:cNvPr id="7" name="图片 6"/>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92"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92"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6"/>
          <p:cNvSpPr>
            <a:spLocks noGrp="1" noChangeArrowheads="1"/>
          </p:cNvSpPr>
          <p:nvPr>
            <p:ph type="sldNum" sz="quarter" idx="10"/>
          </p:nvPr>
        </p:nvSpPr>
        <p:spPr/>
        <p:txBody>
          <a:bodyPr/>
          <a:lstStyle>
            <a:lvl1pPr>
              <a:defRPr/>
            </a:lvl1pPr>
          </a:lstStyle>
          <a:p>
            <a:pPr>
              <a:defRPr/>
            </a:pPr>
            <a:fld id="{144C42F2-ECC9-4A33-BE3F-6D63A78D5E22}" type="slidenum">
              <a:rPr lang="zh-CN" altLang="en-US"/>
            </a:fld>
            <a:endParaRPr lang="en-US" altLang="zh-CN"/>
          </a:p>
        </p:txBody>
      </p:sp>
      <p:sp>
        <p:nvSpPr>
          <p:cNvPr id="8" name="Rectangle 4"/>
          <p:cNvSpPr>
            <a:spLocks noGrp="1" noChangeArrowheads="1"/>
          </p:cNvSpPr>
          <p:nvPr>
            <p:ph type="dt" sz="half" idx="11"/>
          </p:nvPr>
        </p:nvSpPr>
        <p:spPr/>
        <p:txBody>
          <a:bodyPr/>
          <a:lstStyle>
            <a:lvl1pPr>
              <a:defRPr/>
            </a:lvl1pPr>
          </a:lstStyle>
          <a:p>
            <a:pPr>
              <a:defRPr/>
            </a:pPr>
            <a:endParaRPr lang="en-US" altLang="zh-CN"/>
          </a:p>
        </p:txBody>
      </p:sp>
      <p:pic>
        <p:nvPicPr>
          <p:cNvPr id="9" name="图片 8"/>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sldNum" sz="quarter" idx="10"/>
          </p:nvPr>
        </p:nvSpPr>
        <p:spPr/>
        <p:txBody>
          <a:bodyPr/>
          <a:lstStyle>
            <a:lvl1pPr>
              <a:defRPr/>
            </a:lvl1pPr>
          </a:lstStyle>
          <a:p>
            <a:pPr>
              <a:defRPr/>
            </a:pPr>
            <a:fld id="{9C68001B-8D80-4B9B-AE48-961BEB00A58D}" type="slidenum">
              <a:rPr lang="zh-CN" altLang="en-US"/>
            </a:fld>
            <a:endParaRPr lang="en-US" altLang="zh-CN"/>
          </a:p>
        </p:txBody>
      </p:sp>
      <p:sp>
        <p:nvSpPr>
          <p:cNvPr id="4" name="Rectangle 4"/>
          <p:cNvSpPr>
            <a:spLocks noGrp="1" noChangeArrowheads="1"/>
          </p:cNvSpPr>
          <p:nvPr>
            <p:ph type="dt" sz="half" idx="11"/>
          </p:nvPr>
        </p:nvSpPr>
        <p:spPr/>
        <p:txBody>
          <a:bodyPr/>
          <a:lstStyle>
            <a:lvl1pPr>
              <a:defRPr/>
            </a:lvl1pPr>
          </a:lstStyle>
          <a:p>
            <a:pPr>
              <a:defRPr/>
            </a:pPr>
            <a:endParaRPr lang="en-US" altLang="zh-CN"/>
          </a:p>
        </p:txBody>
      </p:sp>
      <p:pic>
        <p:nvPicPr>
          <p:cNvPr id="5" name="图片 4"/>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1"/>
          <p:cNvSpPr>
            <a:spLocks noGrp="1"/>
          </p:cNvSpPr>
          <p:nvPr>
            <p:ph type="sldNum" sz="quarter" idx="10"/>
          </p:nvPr>
        </p:nvSpPr>
        <p:spPr/>
        <p:txBody>
          <a:bodyPr/>
          <a:lstStyle>
            <a:lvl1pPr>
              <a:defRPr/>
            </a:lvl1pPr>
          </a:lstStyle>
          <a:p>
            <a:pPr>
              <a:defRPr/>
            </a:pPr>
            <a:fld id="{D895F8B2-52EA-4495-99A9-48BE7366E556}" type="slidenum">
              <a:rPr lang="zh-CN" altLang="en-US"/>
            </a:fld>
            <a:endParaRPr lang="en-US" altLang="zh-CN"/>
          </a:p>
        </p:txBody>
      </p:sp>
      <p:sp>
        <p:nvSpPr>
          <p:cNvPr id="4" name="日期占位符 2"/>
          <p:cNvSpPr>
            <a:spLocks noGrp="1"/>
          </p:cNvSpPr>
          <p:nvPr>
            <p:ph type="dt" sz="half" idx="11"/>
          </p:nvPr>
        </p:nvSpPr>
        <p:spPr/>
        <p:txBody>
          <a:bodyPr/>
          <a:lstStyle>
            <a:lvl1pPr>
              <a:defRPr/>
            </a:lvl1pPr>
          </a:lstStyle>
          <a:p>
            <a:pPr>
              <a:defRPr/>
            </a:pPr>
            <a:endParaRPr lang="en-US" altLang="zh-CN"/>
          </a:p>
        </p:txBody>
      </p:sp>
      <p:pic>
        <p:nvPicPr>
          <p:cNvPr id="6" name="图片 5"/>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247"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385" y="273050"/>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240A4B5B-C522-41CD-B52E-FB7A856E18BA}" type="slidenum">
              <a:rPr lang="zh-CN" altLang="en-US"/>
            </a:fld>
            <a:endParaRPr lang="en-US" altLang="zh-CN"/>
          </a:p>
        </p:txBody>
      </p:sp>
      <p:sp>
        <p:nvSpPr>
          <p:cNvPr id="6" name="Rectangle 4"/>
          <p:cNvSpPr>
            <a:spLocks noGrp="1" noChangeArrowheads="1"/>
          </p:cNvSpPr>
          <p:nvPr>
            <p:ph type="dt" sz="half" idx="11"/>
          </p:nvPr>
        </p:nvSpPr>
        <p:spPr/>
        <p:txBody>
          <a:bodyPr/>
          <a:lstStyle>
            <a:lvl1pPr>
              <a:defRPr/>
            </a:lvl1pPr>
          </a:lstStyle>
          <a:p>
            <a:pPr>
              <a:defRPr/>
            </a:pPr>
            <a:endParaRPr lang="en-US" altLang="zh-CN"/>
          </a:p>
        </p:txBody>
      </p:sp>
      <p:pic>
        <p:nvPicPr>
          <p:cNvPr id="7" name="图片 6"/>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554"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554"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46CF951E-F9B2-4D28-B58A-ACB473B8DB34}" type="slidenum">
              <a:rPr lang="zh-CN" altLang="en-US"/>
            </a:fld>
            <a:endParaRPr lang="en-US" altLang="zh-CN"/>
          </a:p>
        </p:txBody>
      </p:sp>
      <p:sp>
        <p:nvSpPr>
          <p:cNvPr id="6" name="Rectangle 4"/>
          <p:cNvSpPr>
            <a:spLocks noGrp="1" noChangeArrowheads="1"/>
          </p:cNvSpPr>
          <p:nvPr>
            <p:ph type="dt" sz="half" idx="11"/>
          </p:nvPr>
        </p:nvSpPr>
        <p:spPr/>
        <p:txBody>
          <a:bodyPr/>
          <a:lstStyle>
            <a:lvl1pPr>
              <a:defRPr/>
            </a:lvl1pPr>
          </a:lstStyle>
          <a:p>
            <a:pPr>
              <a:defRPr/>
            </a:pPr>
            <a:endParaRPr lang="en-US" altLang="zh-CN"/>
          </a:p>
        </p:txBody>
      </p:sp>
      <p:pic>
        <p:nvPicPr>
          <p:cNvPr id="7" name="图片 6"/>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4795263C-557F-4E63-A9CC-902E85D0C27B}" type="slidenum">
              <a:rPr lang="zh-CN" altLang="en-US"/>
            </a:fld>
            <a:endParaRPr lang="en-US" altLang="zh-CN"/>
          </a:p>
        </p:txBody>
      </p:sp>
      <p:sp>
        <p:nvSpPr>
          <p:cNvPr id="5" name="Rectangle 4"/>
          <p:cNvSpPr>
            <a:spLocks noGrp="1" noChangeArrowheads="1"/>
          </p:cNvSpPr>
          <p:nvPr>
            <p:ph type="dt" sz="half" idx="11"/>
          </p:nvPr>
        </p:nvSpPr>
        <p:spPr/>
        <p:txBody>
          <a:bodyPr/>
          <a:lstStyle>
            <a:lvl1pPr>
              <a:defRPr/>
            </a:lvl1pPr>
          </a:lstStyle>
          <a:p>
            <a:pPr>
              <a:defRPr/>
            </a:pPr>
            <a:endParaRPr lang="en-US" altLang="zh-CN"/>
          </a:p>
        </p:txBody>
      </p:sp>
      <p:pic>
        <p:nvPicPr>
          <p:cNvPr id="6" name="图片 5"/>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03678" y="260350"/>
            <a:ext cx="2729522" cy="61404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11200" y="260350"/>
            <a:ext cx="8004908" cy="61404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636FF085-57B5-4F29-8A9A-E0DE495EBE18}" type="slidenum">
              <a:rPr lang="zh-CN" altLang="en-US"/>
            </a:fld>
            <a:endParaRPr lang="en-US" altLang="zh-CN"/>
          </a:p>
        </p:txBody>
      </p:sp>
      <p:sp>
        <p:nvSpPr>
          <p:cNvPr id="5" name="Rectangle 4"/>
          <p:cNvSpPr>
            <a:spLocks noGrp="1" noChangeArrowheads="1"/>
          </p:cNvSpPr>
          <p:nvPr>
            <p:ph type="dt" sz="half" idx="11"/>
          </p:nvPr>
        </p:nvSpPr>
        <p:spPr/>
        <p:txBody>
          <a:bodyPr/>
          <a:lstStyle>
            <a:lvl1pPr>
              <a:defRPr/>
            </a:lvl1pPr>
          </a:lstStyle>
          <a:p>
            <a:pPr>
              <a:defRPr/>
            </a:pPr>
            <a:endParaRPr lang="en-US" altLang="zh-CN"/>
          </a:p>
        </p:txBody>
      </p:sp>
      <p:pic>
        <p:nvPicPr>
          <p:cNvPr id="6" name="图片 5"/>
          <p:cNvPicPr>
            <a:picLocks noChangeAspect="1"/>
          </p:cNvPicPr>
          <p:nvPr userDrawn="1"/>
        </p:nvPicPr>
        <p:blipFill>
          <a:blip r:embed="rId2"/>
          <a:stretch>
            <a:fillRect/>
          </a:stretch>
        </p:blipFill>
        <p:spPr>
          <a:xfrm>
            <a:off x="0" y="-7351"/>
            <a:ext cx="12192000" cy="5372658"/>
          </a:xfrm>
          <a:prstGeom prst="rect">
            <a:avLst/>
          </a:prstGeom>
        </p:spPr>
      </p:pic>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E52F06C9-CA5F-4A0C-BB72-04A5B2905DE8}"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D4888E58-AA2A-42CB-8064-AFDC57E8F653}" type="slidenum">
              <a:rPr lang="zh-CN" altLang="en-US"/>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DF2096A9-17AC-4924-8E7B-A8E86FFB3CB2}"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B40F54D0-4B09-4972-B360-3900E8520F01}" type="slidenum">
              <a:rPr lang="zh-CN" altLang="en-US"/>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47"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04C7103E-5859-4201-9C8E-3A5BD18FB2C2}"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879CE147-E556-49C3-A7F7-283469F745E9}" type="slidenum">
              <a:rPr lang="zh-CN" altLang="en-US"/>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53926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89785" y="1600200"/>
            <a:ext cx="53926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6FA512E0-75E9-4254-AF63-4FB6DDBCAD8B}" type="datetimeFigureOut">
              <a:rPr lang="zh-CN" altLang="en-US"/>
            </a:fld>
            <a:endParaRPr lang="en-US" altLang="zh-CN"/>
          </a:p>
        </p:txBody>
      </p:sp>
      <p:sp>
        <p:nvSpPr>
          <p:cNvPr id="6" name="Rectangle 9"/>
          <p:cNvSpPr>
            <a:spLocks noGrp="1" noChangeArrowheads="1"/>
          </p:cNvSpPr>
          <p:nvPr>
            <p:ph type="sldNum" sz="quarter" idx="11"/>
          </p:nvPr>
        </p:nvSpPr>
        <p:spPr/>
        <p:txBody>
          <a:bodyPr/>
          <a:lstStyle>
            <a:lvl1pPr>
              <a:defRPr/>
            </a:lvl1pPr>
          </a:lstStyle>
          <a:p>
            <a:pPr>
              <a:defRPr/>
            </a:pPr>
            <a:fld id="{970FD921-B698-4016-8470-ADB3735D671A}" type="slidenum">
              <a:rPr lang="zh-CN" altLang="en-US"/>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92"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92"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FB7B9237-42BE-44B2-B929-2C556EAD96FD}" type="datetimeFigureOut">
              <a:rPr lang="zh-CN" altLang="en-US"/>
            </a:fld>
            <a:endParaRPr lang="en-US" altLang="zh-CN"/>
          </a:p>
        </p:txBody>
      </p:sp>
      <p:sp>
        <p:nvSpPr>
          <p:cNvPr id="8" name="Rectangle 9"/>
          <p:cNvSpPr>
            <a:spLocks noGrp="1" noChangeArrowheads="1"/>
          </p:cNvSpPr>
          <p:nvPr>
            <p:ph type="sldNum" sz="quarter" idx="11"/>
          </p:nvPr>
        </p:nvSpPr>
        <p:spPr/>
        <p:txBody>
          <a:bodyPr/>
          <a:lstStyle>
            <a:lvl1pPr>
              <a:defRPr/>
            </a:lvl1pPr>
          </a:lstStyle>
          <a:p>
            <a:pPr>
              <a:defRPr/>
            </a:pPr>
            <a:fld id="{72EC4CAC-7288-4DA4-A30A-B08ACE3F9073}" type="slidenum">
              <a:rPr lang="zh-CN" altLang="en-US"/>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AB8C6694-0ECE-424B-B493-4BFA2B0EE3ED}" type="datetimeFigureOut">
              <a:rPr lang="zh-CN" altLang="en-US"/>
            </a:fld>
            <a:endParaRPr lang="en-US" altLang="zh-CN"/>
          </a:p>
        </p:txBody>
      </p:sp>
      <p:sp>
        <p:nvSpPr>
          <p:cNvPr id="4" name="Rectangle 9"/>
          <p:cNvSpPr>
            <a:spLocks noGrp="1" noChangeArrowheads="1"/>
          </p:cNvSpPr>
          <p:nvPr>
            <p:ph type="sldNum" sz="quarter" idx="11"/>
          </p:nvPr>
        </p:nvSpPr>
        <p:spPr/>
        <p:txBody>
          <a:bodyPr/>
          <a:lstStyle>
            <a:lvl1pPr>
              <a:defRPr/>
            </a:lvl1pPr>
          </a:lstStyle>
          <a:p>
            <a:pPr>
              <a:defRPr/>
            </a:pPr>
            <a:fld id="{487F6192-D014-40BE-BAFF-F64CE3A4381B}" type="slidenum">
              <a:rPr lang="zh-CN" altLang="en-US"/>
            </a:fld>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7A8C5A1B-B564-42D8-AF8B-4AF24D6CBF8D}" type="datetimeFigureOut">
              <a:rPr lang="zh-CN" altLang="en-US"/>
            </a:fld>
            <a:endParaRPr lang="en-US" altLang="zh-CN"/>
          </a:p>
        </p:txBody>
      </p:sp>
      <p:sp>
        <p:nvSpPr>
          <p:cNvPr id="3" name="Rectangle 9"/>
          <p:cNvSpPr>
            <a:spLocks noGrp="1" noChangeArrowheads="1"/>
          </p:cNvSpPr>
          <p:nvPr>
            <p:ph type="sldNum" sz="quarter" idx="11"/>
          </p:nvPr>
        </p:nvSpPr>
        <p:spPr/>
        <p:txBody>
          <a:bodyPr/>
          <a:lstStyle>
            <a:lvl1pPr>
              <a:defRPr/>
            </a:lvl1pPr>
          </a:lstStyle>
          <a:p>
            <a:pPr>
              <a:defRPr/>
            </a:pPr>
            <a:fld id="{CC76CF46-8EB5-48F6-968D-EFDDC04397BC}" type="slidenum">
              <a:rPr lang="zh-CN" altLang="en-US"/>
            </a:fld>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247"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385" y="273050"/>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6E9008D2-073A-4642-9798-B154CEF1921E}" type="datetimeFigureOut">
              <a:rPr lang="zh-CN" altLang="en-US"/>
            </a:fld>
            <a:endParaRPr lang="en-US" altLang="zh-CN"/>
          </a:p>
        </p:txBody>
      </p:sp>
      <p:sp>
        <p:nvSpPr>
          <p:cNvPr id="6" name="Rectangle 9"/>
          <p:cNvSpPr>
            <a:spLocks noGrp="1" noChangeArrowheads="1"/>
          </p:cNvSpPr>
          <p:nvPr>
            <p:ph type="sldNum" sz="quarter" idx="11"/>
          </p:nvPr>
        </p:nvSpPr>
        <p:spPr/>
        <p:txBody>
          <a:bodyPr/>
          <a:lstStyle>
            <a:lvl1pPr>
              <a:defRPr/>
            </a:lvl1pPr>
          </a:lstStyle>
          <a:p>
            <a:pPr>
              <a:defRPr/>
            </a:pPr>
            <a:fld id="{1E528809-1CA7-49C0-AEC3-7A5EBB21B2F6}" type="slidenum">
              <a:rPr lang="zh-CN" altLang="en-US"/>
            </a:fld>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554"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554"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54191EEE-6AF5-4D07-9692-A743DF0E306A}" type="datetimeFigureOut">
              <a:rPr lang="zh-CN" altLang="en-US"/>
            </a:fld>
            <a:endParaRPr lang="en-US" altLang="zh-CN"/>
          </a:p>
        </p:txBody>
      </p:sp>
      <p:sp>
        <p:nvSpPr>
          <p:cNvPr id="6" name="Rectangle 9"/>
          <p:cNvSpPr>
            <a:spLocks noGrp="1" noChangeArrowheads="1"/>
          </p:cNvSpPr>
          <p:nvPr>
            <p:ph type="sldNum" sz="quarter" idx="11"/>
          </p:nvPr>
        </p:nvSpPr>
        <p:spPr/>
        <p:txBody>
          <a:bodyPr/>
          <a:lstStyle>
            <a:lvl1pPr>
              <a:defRPr/>
            </a:lvl1pPr>
          </a:lstStyle>
          <a:p>
            <a:pPr>
              <a:defRPr/>
            </a:pPr>
            <a:fld id="{A26752C9-D927-464F-86A3-DAC736B8A9DE}" type="slidenum">
              <a:rPr lang="zh-CN" altLang="en-US"/>
            </a:fld>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2A71B0C4-5B9A-4FD6-A8C4-CC9E01095C96}"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1283F1C6-9083-4555-A447-9E024DA6429C}" type="slidenum">
              <a:rPr lang="zh-CN" altLang="en-US"/>
            </a:fld>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0923" y="188913"/>
            <a:ext cx="2745154" cy="59372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88913"/>
            <a:ext cx="8053754" cy="59372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341E2156-749F-4F1A-B22C-66B0D671B540}"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E40E1C04-4B43-47BB-AE9F-15F1D19C538C}" type="slidenum">
              <a:rPr lang="zh-CN" altLang="en-US"/>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947B8DF0-1A31-4A96-94EF-1288D9487B45}"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2B717367-EEC1-4D62-BB63-FF1698EC30D0}" type="slidenum">
              <a:rPr lang="zh-CN" altLang="en-US"/>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D07159C3-5D94-4564-8CEB-040D18403BD2}"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6008E970-78E2-495C-8542-408BE3FD2472}" type="slidenum">
              <a:rPr lang="zh-CN" altLang="en-US"/>
            </a:fld>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47"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A230CE72-BF15-450E-BB75-1F5538A81AFE}"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0CB3783A-56EA-482B-84F4-545FCEEC4EF3}" type="slidenum">
              <a:rPr lang="zh-CN" altLang="en-US"/>
            </a:fld>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53926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89785" y="1600200"/>
            <a:ext cx="53926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42B024E7-6786-4A64-BAE9-05208AA457B7}" type="datetimeFigureOut">
              <a:rPr lang="zh-CN" altLang="en-US"/>
            </a:fld>
            <a:endParaRPr lang="en-US" altLang="zh-CN"/>
          </a:p>
        </p:txBody>
      </p:sp>
      <p:sp>
        <p:nvSpPr>
          <p:cNvPr id="6" name="Rectangle 9"/>
          <p:cNvSpPr>
            <a:spLocks noGrp="1" noChangeArrowheads="1"/>
          </p:cNvSpPr>
          <p:nvPr>
            <p:ph type="sldNum" sz="quarter" idx="11"/>
          </p:nvPr>
        </p:nvSpPr>
        <p:spPr/>
        <p:txBody>
          <a:bodyPr/>
          <a:lstStyle>
            <a:lvl1pPr>
              <a:defRPr/>
            </a:lvl1pPr>
          </a:lstStyle>
          <a:p>
            <a:pPr>
              <a:defRPr/>
            </a:pPr>
            <a:fld id="{3084D940-0576-4993-AEC3-45350545DA17}" type="slidenum">
              <a:rPr lang="zh-CN" altLang="en-US"/>
            </a:fld>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92"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92"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6CD47F95-56EA-4BE6-A46F-DF6777BE4705}" type="datetimeFigureOut">
              <a:rPr lang="zh-CN" altLang="en-US"/>
            </a:fld>
            <a:endParaRPr lang="en-US" altLang="zh-CN"/>
          </a:p>
        </p:txBody>
      </p:sp>
      <p:sp>
        <p:nvSpPr>
          <p:cNvPr id="8" name="Rectangle 9"/>
          <p:cNvSpPr>
            <a:spLocks noGrp="1" noChangeArrowheads="1"/>
          </p:cNvSpPr>
          <p:nvPr>
            <p:ph type="sldNum" sz="quarter" idx="11"/>
          </p:nvPr>
        </p:nvSpPr>
        <p:spPr/>
        <p:txBody>
          <a:bodyPr/>
          <a:lstStyle>
            <a:lvl1pPr>
              <a:defRPr/>
            </a:lvl1pPr>
          </a:lstStyle>
          <a:p>
            <a:pPr>
              <a:defRPr/>
            </a:pPr>
            <a:fld id="{5D95686B-6D02-431E-B016-ABF89F8F2EBC}" type="slidenum">
              <a:rPr lang="zh-CN" altLang="en-US"/>
            </a:fld>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D7D239B5-5424-4F51-B407-168FDD2F5B7A}" type="datetimeFigureOut">
              <a:rPr lang="zh-CN" altLang="en-US"/>
            </a:fld>
            <a:endParaRPr lang="en-US" altLang="zh-CN"/>
          </a:p>
        </p:txBody>
      </p:sp>
      <p:sp>
        <p:nvSpPr>
          <p:cNvPr id="4" name="Rectangle 9"/>
          <p:cNvSpPr>
            <a:spLocks noGrp="1" noChangeArrowheads="1"/>
          </p:cNvSpPr>
          <p:nvPr>
            <p:ph type="sldNum" sz="quarter" idx="11"/>
          </p:nvPr>
        </p:nvSpPr>
        <p:spPr/>
        <p:txBody>
          <a:bodyPr/>
          <a:lstStyle>
            <a:lvl1pPr>
              <a:defRPr/>
            </a:lvl1pPr>
          </a:lstStyle>
          <a:p>
            <a:pPr>
              <a:defRPr/>
            </a:pPr>
            <a:fld id="{D41BD61B-0E81-4E9E-A63B-23E6BFBE4D6F}" type="slidenum">
              <a:rPr lang="zh-CN" altLang="en-US"/>
            </a:fld>
            <a:endParaRPr lang="en-US" altLang="zh-C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865DC654-4DD4-41CF-8C30-7655561F8DEC}" type="datetimeFigureOut">
              <a:rPr lang="zh-CN" altLang="en-US"/>
            </a:fld>
            <a:endParaRPr lang="en-US" altLang="zh-CN"/>
          </a:p>
        </p:txBody>
      </p:sp>
      <p:sp>
        <p:nvSpPr>
          <p:cNvPr id="3" name="Rectangle 9"/>
          <p:cNvSpPr>
            <a:spLocks noGrp="1" noChangeArrowheads="1"/>
          </p:cNvSpPr>
          <p:nvPr>
            <p:ph type="sldNum" sz="quarter" idx="11"/>
          </p:nvPr>
        </p:nvSpPr>
        <p:spPr/>
        <p:txBody>
          <a:bodyPr/>
          <a:lstStyle>
            <a:lvl1pPr>
              <a:defRPr/>
            </a:lvl1pPr>
          </a:lstStyle>
          <a:p>
            <a:pPr>
              <a:defRPr/>
            </a:pPr>
            <a:fld id="{A42DF48F-C863-4CEF-8E56-6D52E04A3EF3}" type="slidenum">
              <a:rPr lang="zh-CN" altLang="en-US"/>
            </a:fld>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247"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385" y="273050"/>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A3D55C7B-F62F-47E3-820F-15C439A8B059}" type="datetimeFigureOut">
              <a:rPr lang="zh-CN" altLang="en-US"/>
            </a:fld>
            <a:endParaRPr lang="en-US" altLang="zh-CN"/>
          </a:p>
        </p:txBody>
      </p:sp>
      <p:sp>
        <p:nvSpPr>
          <p:cNvPr id="6" name="Rectangle 9"/>
          <p:cNvSpPr>
            <a:spLocks noGrp="1" noChangeArrowheads="1"/>
          </p:cNvSpPr>
          <p:nvPr>
            <p:ph type="sldNum" sz="quarter" idx="11"/>
          </p:nvPr>
        </p:nvSpPr>
        <p:spPr/>
        <p:txBody>
          <a:bodyPr/>
          <a:lstStyle>
            <a:lvl1pPr>
              <a:defRPr/>
            </a:lvl1pPr>
          </a:lstStyle>
          <a:p>
            <a:pPr>
              <a:defRPr/>
            </a:pPr>
            <a:fld id="{E75B02CD-BFBF-4198-8770-61EF7C3489EE}" type="slidenum">
              <a:rPr lang="zh-CN" altLang="en-US"/>
            </a:fld>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554"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554"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CA0993CB-C4CD-489D-AB47-4295BB2ED985}" type="datetimeFigureOut">
              <a:rPr lang="zh-CN" altLang="en-US"/>
            </a:fld>
            <a:endParaRPr lang="en-US" altLang="zh-CN"/>
          </a:p>
        </p:txBody>
      </p:sp>
      <p:sp>
        <p:nvSpPr>
          <p:cNvPr id="6" name="Rectangle 9"/>
          <p:cNvSpPr>
            <a:spLocks noGrp="1" noChangeArrowheads="1"/>
          </p:cNvSpPr>
          <p:nvPr>
            <p:ph type="sldNum" sz="quarter" idx="11"/>
          </p:nvPr>
        </p:nvSpPr>
        <p:spPr/>
        <p:txBody>
          <a:bodyPr/>
          <a:lstStyle>
            <a:lvl1pPr>
              <a:defRPr/>
            </a:lvl1pPr>
          </a:lstStyle>
          <a:p>
            <a:pPr>
              <a:defRPr/>
            </a:pPr>
            <a:fld id="{4609B23E-BAE5-4FF6-B463-C20DF7211A7F}" type="slidenum">
              <a:rPr lang="zh-CN" altLang="en-US"/>
            </a:fld>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C2B4539C-559E-4A8F-88D6-37A652548F1E}"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21740F92-7C10-4F30-AA66-E45F85129237}" type="slidenum">
              <a:rPr lang="zh-CN" altLang="en-US"/>
            </a:fld>
            <a:endParaRPr lang="en-US" altLang="zh-C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0923" y="188913"/>
            <a:ext cx="2745154" cy="59372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88913"/>
            <a:ext cx="8053754" cy="59372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ECD658D3-66E6-4127-B18C-D4F5FFAD0D0E}" type="datetimeFigureOut">
              <a:rPr lang="zh-CN" altLang="en-US"/>
            </a:fld>
            <a:endParaRPr lang="en-US" altLang="zh-CN"/>
          </a:p>
        </p:txBody>
      </p:sp>
      <p:sp>
        <p:nvSpPr>
          <p:cNvPr id="5" name="Rectangle 9"/>
          <p:cNvSpPr>
            <a:spLocks noGrp="1" noChangeArrowheads="1"/>
          </p:cNvSpPr>
          <p:nvPr>
            <p:ph type="sldNum" sz="quarter" idx="11"/>
          </p:nvPr>
        </p:nvSpPr>
        <p:spPr/>
        <p:txBody>
          <a:bodyPr/>
          <a:lstStyle>
            <a:lvl1pPr>
              <a:defRPr/>
            </a:lvl1pPr>
          </a:lstStyle>
          <a:p>
            <a:pPr>
              <a:defRPr/>
            </a:pPr>
            <a:fld id="{74DD27F0-12A4-4DBE-AF7E-DC6DA08F0FD7}"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5.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8.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0.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12.png"/><Relationship Id="rId13" Type="http://schemas.openxmlformats.org/officeDocument/2006/relationships/image" Target="../media/image11.png"/><Relationship Id="rId12" Type="http://schemas.openxmlformats.org/officeDocument/2006/relationships/image" Target="../media/image6.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12.png"/><Relationship Id="rId13" Type="http://schemas.openxmlformats.org/officeDocument/2006/relationships/image" Target="../media/image11.png"/><Relationship Id="rId12" Type="http://schemas.openxmlformats.org/officeDocument/2006/relationships/image" Target="../media/image6.jpe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pic>
        <p:nvPicPr>
          <p:cNvPr id="1026" name="Picture 2" descr="blu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6988"/>
            <a:ext cx="12192000"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4771" name="Rectangle 3"/>
          <p:cNvSpPr>
            <a:spLocks noGrp="1" noChangeArrowheads="1"/>
          </p:cNvSpPr>
          <p:nvPr>
            <p:ph type="dt" sz="half" idx="2"/>
          </p:nvPr>
        </p:nvSpPr>
        <p:spPr bwMode="auto">
          <a:xfrm>
            <a:off x="1060939" y="6564313"/>
            <a:ext cx="2844800" cy="320675"/>
          </a:xfrm>
          <a:prstGeom prst="rect">
            <a:avLst/>
          </a:prstGeom>
          <a:noFill/>
          <a:ln w="9525">
            <a:noFill/>
            <a:miter lim="800000"/>
          </a:ln>
        </p:spPr>
        <p:txBody>
          <a:bodyPr vert="horz" wrap="square" lIns="91424" tIns="45712" rIns="91424" bIns="45712" numCol="1" anchor="t" anchorCtr="0" compatLnSpc="1"/>
          <a:lstStyle>
            <a:lvl1pPr eaLnBrk="1" hangingPunct="1">
              <a:defRPr sz="1400">
                <a:latin typeface="Arial" panose="020B0604020202020204" pitchFamily="34" charset="0"/>
                <a:ea typeface="+mn-ea"/>
              </a:defRPr>
            </a:lvl1pPr>
          </a:lstStyle>
          <a:p>
            <a:pPr>
              <a:defRPr/>
            </a:pPr>
            <a:endParaRPr lang="en-US" altLang="zh-CN"/>
          </a:p>
        </p:txBody>
      </p:sp>
      <p:sp>
        <p:nvSpPr>
          <p:cNvPr id="544772" name="Rectangle 4"/>
          <p:cNvSpPr>
            <a:spLocks noGrp="1" noChangeArrowheads="1"/>
          </p:cNvSpPr>
          <p:nvPr>
            <p:ph type="ftr" sz="quarter" idx="3"/>
          </p:nvPr>
        </p:nvSpPr>
        <p:spPr bwMode="auto">
          <a:xfrm>
            <a:off x="4616939" y="6564313"/>
            <a:ext cx="3860800" cy="320675"/>
          </a:xfrm>
          <a:prstGeom prst="rect">
            <a:avLst/>
          </a:prstGeom>
          <a:noFill/>
          <a:ln w="9525">
            <a:noFill/>
            <a:miter lim="800000"/>
          </a:ln>
        </p:spPr>
        <p:txBody>
          <a:bodyPr vert="horz" wrap="square" lIns="91424" tIns="45712" rIns="91424" bIns="45712" numCol="1" anchor="t" anchorCtr="0" compatLnSpc="1"/>
          <a:lstStyle>
            <a:lvl1pPr algn="ctr" eaLnBrk="1" hangingPunct="1">
              <a:defRPr sz="1400">
                <a:latin typeface="Arial" panose="020B0604020202020204" pitchFamily="34" charset="0"/>
                <a:ea typeface="+mn-ea"/>
              </a:defRPr>
            </a:lvl1pPr>
          </a:lstStyle>
          <a:p>
            <a:pPr>
              <a:defRPr/>
            </a:pPr>
            <a:endParaRPr lang="en-US" altLang="zh-CN"/>
          </a:p>
        </p:txBody>
      </p:sp>
      <p:sp>
        <p:nvSpPr>
          <p:cNvPr id="544773" name="Rectangle 5"/>
          <p:cNvSpPr>
            <a:spLocks noGrp="1" noChangeArrowheads="1"/>
          </p:cNvSpPr>
          <p:nvPr>
            <p:ph type="sldNum" sz="quarter" idx="4"/>
          </p:nvPr>
        </p:nvSpPr>
        <p:spPr bwMode="auto">
          <a:xfrm>
            <a:off x="9188939" y="6564313"/>
            <a:ext cx="2844800" cy="320675"/>
          </a:xfrm>
          <a:prstGeom prst="rect">
            <a:avLst/>
          </a:prstGeom>
          <a:noFill/>
          <a:ln w="9525">
            <a:noFill/>
            <a:miter lim="800000"/>
          </a:ln>
        </p:spPr>
        <p:txBody>
          <a:bodyPr vert="horz" wrap="square" lIns="91424" tIns="45712" rIns="91424" bIns="45712" numCol="1" anchor="t" anchorCtr="0" compatLnSpc="1"/>
          <a:lstStyle>
            <a:lvl1pPr algn="r" eaLnBrk="1" hangingPunct="1">
              <a:defRPr sz="1400"/>
            </a:lvl1pPr>
          </a:lstStyle>
          <a:p>
            <a:pPr>
              <a:defRPr/>
            </a:pPr>
            <a:fld id="{0D2C2C6D-6EC7-41F3-B220-E06A0229615A}" type="slidenum">
              <a:rPr lang="zh-CN" altLang="en-US"/>
            </a:fld>
            <a:endParaRPr lang="en-US" altLang="zh-CN"/>
          </a:p>
        </p:txBody>
      </p:sp>
      <p:sp>
        <p:nvSpPr>
          <p:cNvPr id="1030" name="Line 6"/>
          <p:cNvSpPr>
            <a:spLocks noChangeShapeType="1"/>
          </p:cNvSpPr>
          <p:nvPr/>
        </p:nvSpPr>
        <p:spPr bwMode="auto">
          <a:xfrm>
            <a:off x="0" y="1196975"/>
            <a:ext cx="121920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100"/>
          </a:p>
        </p:txBody>
      </p:sp>
      <p:sp>
        <p:nvSpPr>
          <p:cNvPr id="1031" name="Rectangle 7"/>
          <p:cNvSpPr>
            <a:spLocks noGrp="1" noChangeArrowheads="1"/>
          </p:cNvSpPr>
          <p:nvPr>
            <p:ph type="title"/>
          </p:nvPr>
        </p:nvSpPr>
        <p:spPr bwMode="black">
          <a:xfrm>
            <a:off x="2104293" y="115888"/>
            <a:ext cx="9575799"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lstStyle/>
          <a:p>
            <a:pPr lvl="0"/>
            <a:r>
              <a:rPr lang="en-US" altLang="zh-CN"/>
              <a:t>Click to edit Master title style</a:t>
            </a:r>
            <a:endParaRPr lang="en-US" altLang="zh-CN"/>
          </a:p>
        </p:txBody>
      </p:sp>
      <p:sp>
        <p:nvSpPr>
          <p:cNvPr id="1032" name="Rectangle 8"/>
          <p:cNvSpPr>
            <a:spLocks noGrp="1" noChangeArrowheads="1"/>
          </p:cNvSpPr>
          <p:nvPr>
            <p:ph type="body" idx="1"/>
          </p:nvPr>
        </p:nvSpPr>
        <p:spPr bwMode="auto">
          <a:xfrm>
            <a:off x="1133231" y="1347788"/>
            <a:ext cx="10369062" cy="517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grpSp>
        <p:nvGrpSpPr>
          <p:cNvPr id="1033" name="Group 19"/>
          <p:cNvGrpSpPr/>
          <p:nvPr/>
        </p:nvGrpSpPr>
        <p:grpSpPr bwMode="auto">
          <a:xfrm>
            <a:off x="246185" y="0"/>
            <a:ext cx="1629508" cy="1196975"/>
            <a:chOff x="1512" y="1686"/>
            <a:chExt cx="6342" cy="6150"/>
          </a:xfrm>
        </p:grpSpPr>
        <p:sp>
          <p:nvSpPr>
            <p:cNvPr id="1034" name="Line 20"/>
            <p:cNvSpPr>
              <a:spLocks noChangeShapeType="1"/>
            </p:cNvSpPr>
            <p:nvPr/>
          </p:nvSpPr>
          <p:spPr bwMode="auto">
            <a:xfrm rot="-5400000" flipH="1" flipV="1">
              <a:off x="4130" y="6005"/>
              <a:ext cx="116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1035" name="Line 21"/>
            <p:cNvSpPr>
              <a:spLocks noChangeShapeType="1"/>
            </p:cNvSpPr>
            <p:nvPr/>
          </p:nvSpPr>
          <p:spPr bwMode="auto">
            <a:xfrm>
              <a:off x="1687" y="4875"/>
              <a:ext cx="6167"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1036" name="Rectangle 22"/>
            <p:cNvSpPr>
              <a:spLocks noChangeArrowheads="1"/>
            </p:cNvSpPr>
            <p:nvPr/>
          </p:nvSpPr>
          <p:spPr bwMode="auto">
            <a:xfrm>
              <a:off x="1512" y="1686"/>
              <a:ext cx="6319" cy="6150"/>
            </a:xfrm>
            <a:prstGeom prst="rect">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037" name="Rectangle 23"/>
            <p:cNvSpPr>
              <a:spLocks noChangeArrowheads="1"/>
            </p:cNvSpPr>
            <p:nvPr/>
          </p:nvSpPr>
          <p:spPr bwMode="auto">
            <a:xfrm>
              <a:off x="2021" y="2175"/>
              <a:ext cx="5308" cy="5171"/>
            </a:xfrm>
            <a:prstGeom prst="rect">
              <a:avLst/>
            </a:prstGeom>
            <a:solidFill>
              <a:srgbClr val="FFFFFF"/>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038" name="Rectangle 24"/>
            <p:cNvSpPr>
              <a:spLocks noChangeArrowheads="1"/>
            </p:cNvSpPr>
            <p:nvPr/>
          </p:nvSpPr>
          <p:spPr bwMode="auto">
            <a:xfrm>
              <a:off x="2523" y="2673"/>
              <a:ext cx="4296" cy="4176"/>
            </a:xfrm>
            <a:prstGeom prst="rect">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039" name="Oval 25"/>
            <p:cNvSpPr>
              <a:spLocks noChangeArrowheads="1"/>
            </p:cNvSpPr>
            <p:nvPr/>
          </p:nvSpPr>
          <p:spPr bwMode="auto">
            <a:xfrm>
              <a:off x="2356" y="2510"/>
              <a:ext cx="4677" cy="4543"/>
            </a:xfrm>
            <a:prstGeom prst="ellipse">
              <a:avLst/>
            </a:prstGeom>
            <a:solidFill>
              <a:srgbClr val="FFFFFF"/>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040" name="Oval 26"/>
            <p:cNvSpPr>
              <a:spLocks noChangeArrowheads="1"/>
            </p:cNvSpPr>
            <p:nvPr/>
          </p:nvSpPr>
          <p:spPr bwMode="auto">
            <a:xfrm>
              <a:off x="2858" y="2999"/>
              <a:ext cx="3627" cy="3524"/>
            </a:xfrm>
            <a:prstGeom prst="ellipse">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041" name="AutoShape 27"/>
            <p:cNvSpPr>
              <a:spLocks noChangeArrowheads="1"/>
            </p:cNvSpPr>
            <p:nvPr/>
          </p:nvSpPr>
          <p:spPr bwMode="auto">
            <a:xfrm>
              <a:off x="2942" y="2999"/>
              <a:ext cx="3460" cy="2374"/>
            </a:xfrm>
            <a:prstGeom prst="triangle">
              <a:avLst>
                <a:gd name="adj" fmla="val 50000"/>
              </a:avLst>
            </a:prstGeom>
            <a:solidFill>
              <a:srgbClr val="FFFFFF"/>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042" name="Rectangle 28"/>
            <p:cNvSpPr>
              <a:spLocks noChangeArrowheads="1"/>
            </p:cNvSpPr>
            <p:nvPr/>
          </p:nvSpPr>
          <p:spPr bwMode="auto">
            <a:xfrm>
              <a:off x="4242" y="4761"/>
              <a:ext cx="882" cy="612"/>
            </a:xfrm>
            <a:prstGeom prst="rect">
              <a:avLst/>
            </a:prstGeom>
            <a:solidFill>
              <a:srgbClr val="000080"/>
            </a:solidFill>
            <a:ln>
              <a:noFill/>
            </a:ln>
          </p:spPr>
          <p:txBody>
            <a:bodyPr lIns="112521" tIns="56260" rIns="112521" bIns="5626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p>
          </p:txBody>
        </p:sp>
        <p:sp>
          <p:nvSpPr>
            <p:cNvPr id="1043" name="AutoShape 29"/>
            <p:cNvSpPr>
              <a:spLocks noChangeArrowheads="1"/>
            </p:cNvSpPr>
            <p:nvPr/>
          </p:nvSpPr>
          <p:spPr bwMode="auto">
            <a:xfrm>
              <a:off x="4242" y="3692"/>
              <a:ext cx="852" cy="856"/>
            </a:xfrm>
            <a:custGeom>
              <a:avLst/>
              <a:gdLst>
                <a:gd name="T0" fmla="*/ 426 w 852"/>
                <a:gd name="T1" fmla="*/ 0 h 856"/>
                <a:gd name="T2" fmla="*/ 0 w 852"/>
                <a:gd name="T3" fmla="*/ 327 h 856"/>
                <a:gd name="T4" fmla="*/ 163 w 852"/>
                <a:gd name="T5" fmla="*/ 856 h 856"/>
                <a:gd name="T6" fmla="*/ 689 w 852"/>
                <a:gd name="T7" fmla="*/ 856 h 856"/>
                <a:gd name="T8" fmla="*/ 852 w 852"/>
                <a:gd name="T9" fmla="*/ 327 h 856"/>
                <a:gd name="T10" fmla="*/ 17694720 60000 65536"/>
                <a:gd name="T11" fmla="*/ 11796480 60000 65536"/>
                <a:gd name="T12" fmla="*/ 5898240 60000 65536"/>
                <a:gd name="T13" fmla="*/ 5898240 60000 65536"/>
                <a:gd name="T14" fmla="*/ 0 60000 65536"/>
                <a:gd name="T15" fmla="*/ 263 w 852"/>
                <a:gd name="T16" fmla="*/ 327 h 856"/>
                <a:gd name="T17" fmla="*/ 589 w 852"/>
                <a:gd name="T18" fmla="*/ 654 h 856"/>
              </a:gdLst>
              <a:ahLst/>
              <a:cxnLst>
                <a:cxn ang="T10">
                  <a:pos x="T0" y="T1"/>
                </a:cxn>
                <a:cxn ang="T11">
                  <a:pos x="T2" y="T3"/>
                </a:cxn>
                <a:cxn ang="T12">
                  <a:pos x="T4" y="T5"/>
                </a:cxn>
                <a:cxn ang="T13">
                  <a:pos x="T6" y="T7"/>
                </a:cxn>
                <a:cxn ang="T14">
                  <a:pos x="T8" y="T9"/>
                </a:cxn>
              </a:cxnLst>
              <a:rect l="T15" t="T16" r="T17" b="T18"/>
              <a:pathLst>
                <a:path w="852" h="856">
                  <a:moveTo>
                    <a:pt x="0" y="327"/>
                  </a:moveTo>
                  <a:lnTo>
                    <a:pt x="325" y="327"/>
                  </a:lnTo>
                  <a:lnTo>
                    <a:pt x="426" y="0"/>
                  </a:lnTo>
                  <a:lnTo>
                    <a:pt x="527" y="327"/>
                  </a:lnTo>
                  <a:lnTo>
                    <a:pt x="852" y="327"/>
                  </a:lnTo>
                  <a:lnTo>
                    <a:pt x="589" y="529"/>
                  </a:lnTo>
                  <a:lnTo>
                    <a:pt x="689" y="856"/>
                  </a:lnTo>
                  <a:lnTo>
                    <a:pt x="426" y="654"/>
                  </a:lnTo>
                  <a:lnTo>
                    <a:pt x="163" y="856"/>
                  </a:lnTo>
                  <a:lnTo>
                    <a:pt x="263" y="529"/>
                  </a:lnTo>
                  <a:lnTo>
                    <a:pt x="0" y="327"/>
                  </a:lnTo>
                  <a:close/>
                </a:path>
              </a:pathLst>
            </a:cu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21" tIns="56260" rIns="112521" bIns="56260"/>
            <a:lstStyle/>
            <a:p>
              <a:endParaRPr lang="zh-CN" altLang="en-US" sz="100"/>
            </a:p>
          </p:txBody>
        </p:sp>
        <p:sp>
          <p:nvSpPr>
            <p:cNvPr id="1044" name="WordArt 30"/>
            <p:cNvSpPr>
              <a:spLocks noChangeArrowheads="1" noChangeShapeType="1" noTextEdit="1"/>
            </p:cNvSpPr>
            <p:nvPr/>
          </p:nvSpPr>
          <p:spPr bwMode="auto">
            <a:xfrm>
              <a:off x="3619" y="5540"/>
              <a:ext cx="2164" cy="369"/>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100" b="1" kern="10" normalizeH="1">
                  <a:solidFill>
                    <a:srgbClr val="FFFFFF"/>
                  </a:solidFill>
                  <a:cs typeface="Arial" panose="020B0604020202020204" pitchFamily="34" charset="0"/>
                </a:rPr>
                <a:t>CNITSEC</a:t>
              </a:r>
              <a:endParaRPr lang="zh-CN" altLang="en-US" sz="100" b="1" kern="10" normalizeH="1">
                <a:solidFill>
                  <a:srgbClr val="FFFFFF"/>
                </a:solidFill>
                <a:cs typeface="Arial" panose="020B0604020202020204" pitchFamily="34" charset="0"/>
              </a:endParaRPr>
            </a:p>
          </p:txBody>
        </p:sp>
      </p:gr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l" rtl="0" eaLnBrk="0" fontAlgn="base" hangingPunct="0">
        <a:spcBef>
          <a:spcPct val="0"/>
        </a:spcBef>
        <a:spcAft>
          <a:spcPct val="0"/>
        </a:spcAft>
        <a:defRPr sz="3600" b="1">
          <a:solidFill>
            <a:srgbClr val="FFCC00"/>
          </a:solidFill>
          <a:latin typeface="+mj-lt"/>
          <a:ea typeface="+mj-ea"/>
          <a:cs typeface="+mj-cs"/>
        </a:defRPr>
      </a:lvl1pPr>
      <a:lvl2pPr algn="l" rtl="0" eaLnBrk="0" fontAlgn="base" hangingPunct="0">
        <a:spcBef>
          <a:spcPct val="0"/>
        </a:spcBef>
        <a:spcAft>
          <a:spcPct val="0"/>
        </a:spcAft>
        <a:defRPr sz="3600" b="1">
          <a:solidFill>
            <a:srgbClr val="FFCC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b="1">
          <a:solidFill>
            <a:srgbClr val="FFCC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b="1">
          <a:solidFill>
            <a:srgbClr val="FFCC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b="1">
          <a:solidFill>
            <a:srgbClr val="FFCC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600" b="1">
          <a:solidFill>
            <a:srgbClr val="FFCC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b="1">
          <a:solidFill>
            <a:srgbClr val="FFCC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b="1">
          <a:solidFill>
            <a:srgbClr val="FFCC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b="1">
          <a:solidFill>
            <a:srgbClr val="FFCC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Blip>
          <a:blip r:embed="rId13"/>
        </a:buBlip>
        <a:defRPr sz="32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2"/>
          </a:solidFill>
          <a:latin typeface="+mn-lt"/>
          <a:ea typeface="楷体_GB2312" pitchFamily="49" charset="-122"/>
          <a:cs typeface="楷体_GB2312"/>
        </a:defRPr>
      </a:lvl2pPr>
      <a:lvl3pPr marL="1143000" indent="-228600" algn="l" rtl="0" eaLnBrk="0" fontAlgn="base" hangingPunct="0">
        <a:spcBef>
          <a:spcPct val="20000"/>
        </a:spcBef>
        <a:spcAft>
          <a:spcPct val="0"/>
        </a:spcAft>
        <a:buClr>
          <a:schemeClr val="tx1"/>
        </a:buClr>
        <a:buChar char="•"/>
        <a:defRPr sz="2400">
          <a:solidFill>
            <a:schemeClr val="tx2"/>
          </a:solidFill>
          <a:latin typeface="+mn-lt"/>
          <a:ea typeface="楷体_GB2312" pitchFamily="49" charset="-122"/>
          <a:cs typeface="楷体_GB2312"/>
        </a:defRPr>
      </a:lvl3pPr>
      <a:lvl4pPr marL="1600200" indent="-228600" algn="l" rtl="0" eaLnBrk="0" fontAlgn="base" hangingPunct="0">
        <a:spcBef>
          <a:spcPct val="20000"/>
        </a:spcBef>
        <a:spcAft>
          <a:spcPct val="0"/>
        </a:spcAft>
        <a:buChar char="–"/>
        <a:defRPr sz="2000">
          <a:solidFill>
            <a:schemeClr val="tx2"/>
          </a:solidFill>
          <a:latin typeface="+mn-lt"/>
          <a:ea typeface="楷体_GB2312" pitchFamily="49" charset="-122"/>
          <a:cs typeface="楷体_GB2312"/>
        </a:defRPr>
      </a:lvl4pPr>
      <a:lvl5pPr marL="2056130" indent="-227330" algn="l" rtl="0" eaLnBrk="0" fontAlgn="base" hangingPunct="0">
        <a:spcBef>
          <a:spcPct val="20000"/>
        </a:spcBef>
        <a:spcAft>
          <a:spcPct val="0"/>
        </a:spcAft>
        <a:buChar char="»"/>
        <a:defRPr sz="2000">
          <a:solidFill>
            <a:schemeClr val="tx2"/>
          </a:solidFill>
          <a:latin typeface="+mn-lt"/>
          <a:ea typeface="楷体_GB2312" pitchFamily="49" charset="-122"/>
          <a:cs typeface="楷体_GB2312"/>
        </a:defRPr>
      </a:lvl5pPr>
      <a:lvl6pPr marL="2514600" indent="-228600" algn="l" rtl="0" fontAlgn="base">
        <a:spcBef>
          <a:spcPct val="20000"/>
        </a:spcBef>
        <a:spcAft>
          <a:spcPct val="0"/>
        </a:spcAft>
        <a:buChar char="»"/>
        <a:defRPr sz="2000">
          <a:solidFill>
            <a:schemeClr val="tx2"/>
          </a:solidFill>
          <a:latin typeface="+mn-lt"/>
          <a:ea typeface="楷体_GB2312" pitchFamily="49" charset="-122"/>
        </a:defRPr>
      </a:lvl6pPr>
      <a:lvl7pPr marL="2971800" indent="-228600" algn="l" rtl="0" fontAlgn="base">
        <a:spcBef>
          <a:spcPct val="20000"/>
        </a:spcBef>
        <a:spcAft>
          <a:spcPct val="0"/>
        </a:spcAft>
        <a:buChar char="»"/>
        <a:defRPr sz="2000">
          <a:solidFill>
            <a:schemeClr val="tx2"/>
          </a:solidFill>
          <a:latin typeface="+mn-lt"/>
          <a:ea typeface="楷体_GB2312" pitchFamily="49" charset="-122"/>
        </a:defRPr>
      </a:lvl7pPr>
      <a:lvl8pPr marL="3429000" indent="-228600" algn="l" rtl="0" fontAlgn="base">
        <a:spcBef>
          <a:spcPct val="20000"/>
        </a:spcBef>
        <a:spcAft>
          <a:spcPct val="0"/>
        </a:spcAft>
        <a:buChar char="»"/>
        <a:defRPr sz="2000">
          <a:solidFill>
            <a:schemeClr val="tx2"/>
          </a:solidFill>
          <a:latin typeface="+mn-lt"/>
          <a:ea typeface="楷体_GB2312" pitchFamily="49" charset="-122"/>
        </a:defRPr>
      </a:lvl8pPr>
      <a:lvl9pPr marL="3886200" indent="-228600" algn="l" rtl="0" fontAlgn="base">
        <a:spcBef>
          <a:spcPct val="20000"/>
        </a:spcBef>
        <a:spcAft>
          <a:spcPct val="0"/>
        </a:spcAft>
        <a:buChar char="»"/>
        <a:defRPr sz="2000">
          <a:solidFill>
            <a:schemeClr val="tx2"/>
          </a:solidFill>
          <a:latin typeface="+mn-lt"/>
          <a:ea typeface="楷体_GB2312"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7" descr="图片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2"/>
          <p:cNvSpPr>
            <a:spLocks noGrp="1" noRot="1" noChangeArrowheads="1"/>
          </p:cNvSpPr>
          <p:nvPr>
            <p:ph type="title"/>
          </p:nvPr>
        </p:nvSpPr>
        <p:spPr bwMode="auto">
          <a:xfrm>
            <a:off x="404447" y="404813"/>
            <a:ext cx="1138701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lstStyle/>
          <a:p>
            <a:pPr lvl="0"/>
            <a:r>
              <a:rPr lang="zh-CN" altLang="en-US"/>
              <a:t>单击此处编辑母版标题样式</a:t>
            </a:r>
            <a:endParaRPr lang="zh-CN" altLang="en-US"/>
          </a:p>
        </p:txBody>
      </p:sp>
      <p:sp>
        <p:nvSpPr>
          <p:cNvPr id="2052" name="Rectangle 3"/>
          <p:cNvSpPr>
            <a:spLocks noGrp="1" noRot="1" noChangeArrowheads="1"/>
          </p:cNvSpPr>
          <p:nvPr>
            <p:ph type="body" idx="1"/>
          </p:nvPr>
        </p:nvSpPr>
        <p:spPr bwMode="auto">
          <a:xfrm>
            <a:off x="601785" y="1482725"/>
            <a:ext cx="10988431"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60132" name="Rectangle 4"/>
          <p:cNvSpPr>
            <a:spLocks noGrp="1" noChangeArrowheads="1"/>
          </p:cNvSpPr>
          <p:nvPr>
            <p:ph type="dt" sz="half" idx="2"/>
          </p:nvPr>
        </p:nvSpPr>
        <p:spPr bwMode="auto">
          <a:xfrm>
            <a:off x="423985" y="6337300"/>
            <a:ext cx="3049953" cy="476250"/>
          </a:xfrm>
          <a:prstGeom prst="rect">
            <a:avLst/>
          </a:prstGeom>
          <a:noFill/>
          <a:ln w="9525">
            <a:noFill/>
            <a:miter lim="800000"/>
          </a:ln>
        </p:spPr>
        <p:txBody>
          <a:bodyPr vert="horz" wrap="square" lIns="91424" tIns="45712" rIns="91424" bIns="45712" numCol="1" anchor="t" anchorCtr="0" compatLnSpc="1"/>
          <a:lstStyle>
            <a:lvl1pPr eaLnBrk="1" hangingPunct="1">
              <a:defRPr sz="1400">
                <a:latin typeface="Arial" panose="020B0604020202020204" pitchFamily="34" charset="0"/>
                <a:ea typeface="+mj-ea"/>
              </a:defRPr>
            </a:lvl1pPr>
          </a:lstStyle>
          <a:p>
            <a:pPr>
              <a:defRPr/>
            </a:pPr>
            <a:endParaRPr lang="en-US" altLang="zh-CN"/>
          </a:p>
        </p:txBody>
      </p:sp>
      <p:sp>
        <p:nvSpPr>
          <p:cNvPr id="560133" name="Rectangle 5"/>
          <p:cNvSpPr>
            <a:spLocks noGrp="1" noChangeArrowheads="1"/>
          </p:cNvSpPr>
          <p:nvPr>
            <p:ph type="ftr" sz="quarter" idx="3"/>
          </p:nvPr>
        </p:nvSpPr>
        <p:spPr bwMode="auto">
          <a:xfrm>
            <a:off x="4185138" y="6337300"/>
            <a:ext cx="3860800" cy="476250"/>
          </a:xfrm>
          <a:prstGeom prst="rect">
            <a:avLst/>
          </a:prstGeom>
          <a:noFill/>
          <a:ln w="9525">
            <a:noFill/>
            <a:miter lim="800000"/>
          </a:ln>
        </p:spPr>
        <p:txBody>
          <a:bodyPr vert="horz" wrap="square" lIns="91424" tIns="45712" rIns="91424" bIns="45712" numCol="1" anchor="t" anchorCtr="0" compatLnSpc="1"/>
          <a:lstStyle>
            <a:lvl1pPr algn="ctr" eaLnBrk="1" hangingPunct="1">
              <a:defRPr sz="1400">
                <a:latin typeface="Arial" panose="020B0604020202020204" pitchFamily="34" charset="0"/>
                <a:ea typeface="+mj-ea"/>
              </a:defRPr>
            </a:lvl1pPr>
          </a:lstStyle>
          <a:p>
            <a:pPr>
              <a:defRPr/>
            </a:pPr>
            <a:endParaRPr lang="en-US" altLang="zh-CN"/>
          </a:p>
        </p:txBody>
      </p:sp>
      <p:sp>
        <p:nvSpPr>
          <p:cNvPr id="560134" name="Rectangle 6"/>
          <p:cNvSpPr>
            <a:spLocks noGrp="1" noChangeArrowheads="1"/>
          </p:cNvSpPr>
          <p:nvPr>
            <p:ph type="sldNum" sz="quarter" idx="4"/>
          </p:nvPr>
        </p:nvSpPr>
        <p:spPr bwMode="auto">
          <a:xfrm>
            <a:off x="8757138" y="6337300"/>
            <a:ext cx="3053862" cy="476250"/>
          </a:xfrm>
          <a:prstGeom prst="rect">
            <a:avLst/>
          </a:prstGeom>
          <a:noFill/>
          <a:ln w="9525">
            <a:noFill/>
            <a:miter lim="800000"/>
          </a:ln>
        </p:spPr>
        <p:txBody>
          <a:bodyPr vert="horz" wrap="square" lIns="91424" tIns="45712" rIns="91424" bIns="45712" numCol="1" anchor="t" anchorCtr="0" compatLnSpc="1"/>
          <a:lstStyle>
            <a:lvl1pPr algn="r" eaLnBrk="1" hangingPunct="1">
              <a:defRPr sz="1400"/>
            </a:lvl1pPr>
          </a:lstStyle>
          <a:p>
            <a:pPr>
              <a:defRPr/>
            </a:pPr>
            <a:fld id="{47C138C9-B01C-4DB3-A997-BEB4544CE710}"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
        <a:defRPr sz="3200">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cs typeface="楷体_GB2312"/>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cs typeface="楷体_GB2312"/>
        </a:defRPr>
      </a:lvl4pPr>
      <a:lvl5pPr marL="2056130" indent="-22733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cs typeface="楷体_GB2312"/>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3074" name="Rectangle 118"/>
          <p:cNvSpPr>
            <a:spLocks noChangeArrowheads="1"/>
          </p:cNvSpPr>
          <p:nvPr/>
        </p:nvSpPr>
        <p:spPr bwMode="gray">
          <a:xfrm>
            <a:off x="10679723" y="0"/>
            <a:ext cx="1512277" cy="1044575"/>
          </a:xfrm>
          <a:prstGeom prst="rect">
            <a:avLst/>
          </a:prstGeom>
          <a:solidFill>
            <a:schemeClr val="accent2"/>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75" name="Rectangle 119"/>
          <p:cNvSpPr>
            <a:spLocks noChangeArrowheads="1"/>
          </p:cNvSpPr>
          <p:nvPr/>
        </p:nvSpPr>
        <p:spPr bwMode="gray">
          <a:xfrm>
            <a:off x="0" y="0"/>
            <a:ext cx="10677770" cy="1044575"/>
          </a:xfrm>
          <a:prstGeom prst="rect">
            <a:avLst/>
          </a:prstGeom>
          <a:solidFill>
            <a:schemeClr val="accent1"/>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grpSp>
        <p:nvGrpSpPr>
          <p:cNvPr id="3076" name="Group 120"/>
          <p:cNvGrpSpPr/>
          <p:nvPr/>
        </p:nvGrpSpPr>
        <p:grpSpPr bwMode="auto">
          <a:xfrm>
            <a:off x="9169401" y="152400"/>
            <a:ext cx="2540000" cy="762000"/>
            <a:chOff x="2112" y="1632"/>
            <a:chExt cx="1680" cy="672"/>
          </a:xfrm>
        </p:grpSpPr>
        <p:sp>
          <p:nvSpPr>
            <p:cNvPr id="3085" name="Rectangle 121"/>
            <p:cNvSpPr>
              <a:spLocks noChangeArrowheads="1"/>
            </p:cNvSpPr>
            <p:nvPr userDrawn="1"/>
          </p:nvSpPr>
          <p:spPr bwMode="gray">
            <a:xfrm>
              <a:off x="2400" y="1776"/>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86" name="Rectangle 122"/>
            <p:cNvSpPr>
              <a:spLocks noChangeArrowheads="1"/>
            </p:cNvSpPr>
            <p:nvPr userDrawn="1"/>
          </p:nvSpPr>
          <p:spPr bwMode="gray">
            <a:xfrm>
              <a:off x="2400" y="2065"/>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87" name="Rectangle 123"/>
            <p:cNvSpPr>
              <a:spLocks noChangeArrowheads="1"/>
            </p:cNvSpPr>
            <p:nvPr userDrawn="1"/>
          </p:nvSpPr>
          <p:spPr bwMode="gray">
            <a:xfrm>
              <a:off x="2400" y="2207"/>
              <a:ext cx="96" cy="97"/>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88" name="Rectangle 124"/>
            <p:cNvSpPr>
              <a:spLocks noChangeArrowheads="1"/>
            </p:cNvSpPr>
            <p:nvPr userDrawn="1"/>
          </p:nvSpPr>
          <p:spPr bwMode="gray">
            <a:xfrm>
              <a:off x="2544" y="1776"/>
              <a:ext cx="97"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89" name="Rectangle 125"/>
            <p:cNvSpPr>
              <a:spLocks noChangeArrowheads="1"/>
            </p:cNvSpPr>
            <p:nvPr userDrawn="1"/>
          </p:nvSpPr>
          <p:spPr bwMode="gray">
            <a:xfrm>
              <a:off x="2544" y="1920"/>
              <a:ext cx="97"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0" name="Rectangle 126"/>
            <p:cNvSpPr>
              <a:spLocks noChangeArrowheads="1"/>
            </p:cNvSpPr>
            <p:nvPr userDrawn="1"/>
          </p:nvSpPr>
          <p:spPr bwMode="gray">
            <a:xfrm>
              <a:off x="2544" y="2065"/>
              <a:ext cx="97"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1" name="Rectangle 127"/>
            <p:cNvSpPr>
              <a:spLocks noChangeArrowheads="1"/>
            </p:cNvSpPr>
            <p:nvPr userDrawn="1"/>
          </p:nvSpPr>
          <p:spPr bwMode="gray">
            <a:xfrm>
              <a:off x="2688" y="1776"/>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2" name="Rectangle 128"/>
            <p:cNvSpPr>
              <a:spLocks noChangeArrowheads="1"/>
            </p:cNvSpPr>
            <p:nvPr userDrawn="1"/>
          </p:nvSpPr>
          <p:spPr bwMode="gray">
            <a:xfrm>
              <a:off x="2688" y="2065"/>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3" name="Rectangle 129"/>
            <p:cNvSpPr>
              <a:spLocks noChangeArrowheads="1"/>
            </p:cNvSpPr>
            <p:nvPr userDrawn="1"/>
          </p:nvSpPr>
          <p:spPr bwMode="gray">
            <a:xfrm>
              <a:off x="2688" y="2207"/>
              <a:ext cx="96" cy="97"/>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4" name="Rectangle 130"/>
            <p:cNvSpPr>
              <a:spLocks noChangeArrowheads="1"/>
            </p:cNvSpPr>
            <p:nvPr userDrawn="1"/>
          </p:nvSpPr>
          <p:spPr bwMode="gray">
            <a:xfrm>
              <a:off x="2832" y="1776"/>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5" name="Rectangle 131"/>
            <p:cNvSpPr>
              <a:spLocks noChangeArrowheads="1"/>
            </p:cNvSpPr>
            <p:nvPr userDrawn="1"/>
          </p:nvSpPr>
          <p:spPr bwMode="gray">
            <a:xfrm>
              <a:off x="2832" y="1920"/>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6" name="Rectangle 132"/>
            <p:cNvSpPr>
              <a:spLocks noChangeArrowheads="1"/>
            </p:cNvSpPr>
            <p:nvPr userDrawn="1"/>
          </p:nvSpPr>
          <p:spPr bwMode="gray">
            <a:xfrm>
              <a:off x="2832" y="2065"/>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7" name="Rectangle 133"/>
            <p:cNvSpPr>
              <a:spLocks noChangeArrowheads="1"/>
            </p:cNvSpPr>
            <p:nvPr userDrawn="1"/>
          </p:nvSpPr>
          <p:spPr bwMode="gray">
            <a:xfrm>
              <a:off x="2832" y="2207"/>
              <a:ext cx="96" cy="97"/>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8" name="Rectangle 134"/>
            <p:cNvSpPr>
              <a:spLocks noChangeArrowheads="1"/>
            </p:cNvSpPr>
            <p:nvPr userDrawn="1"/>
          </p:nvSpPr>
          <p:spPr bwMode="gray">
            <a:xfrm>
              <a:off x="2977" y="1920"/>
              <a:ext cx="97"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99" name="Rectangle 135"/>
            <p:cNvSpPr>
              <a:spLocks noChangeArrowheads="1"/>
            </p:cNvSpPr>
            <p:nvPr userDrawn="1"/>
          </p:nvSpPr>
          <p:spPr bwMode="gray">
            <a:xfrm>
              <a:off x="2977" y="2207"/>
              <a:ext cx="97" cy="97"/>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0" name="Rectangle 136"/>
            <p:cNvSpPr>
              <a:spLocks noChangeArrowheads="1"/>
            </p:cNvSpPr>
            <p:nvPr userDrawn="1"/>
          </p:nvSpPr>
          <p:spPr bwMode="gray">
            <a:xfrm>
              <a:off x="3120" y="1776"/>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1" name="Rectangle 137"/>
            <p:cNvSpPr>
              <a:spLocks noChangeArrowheads="1"/>
            </p:cNvSpPr>
            <p:nvPr userDrawn="1"/>
          </p:nvSpPr>
          <p:spPr bwMode="gray">
            <a:xfrm>
              <a:off x="3120" y="1920"/>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2" name="Rectangle 138"/>
            <p:cNvSpPr>
              <a:spLocks noChangeArrowheads="1"/>
            </p:cNvSpPr>
            <p:nvPr userDrawn="1"/>
          </p:nvSpPr>
          <p:spPr bwMode="gray">
            <a:xfrm>
              <a:off x="3120" y="2065"/>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3" name="Rectangle 139"/>
            <p:cNvSpPr>
              <a:spLocks noChangeArrowheads="1"/>
            </p:cNvSpPr>
            <p:nvPr userDrawn="1"/>
          </p:nvSpPr>
          <p:spPr bwMode="gray">
            <a:xfrm>
              <a:off x="3263" y="1776"/>
              <a:ext cx="97"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4" name="Rectangle 140"/>
            <p:cNvSpPr>
              <a:spLocks noChangeArrowheads="1"/>
            </p:cNvSpPr>
            <p:nvPr userDrawn="1"/>
          </p:nvSpPr>
          <p:spPr bwMode="gray">
            <a:xfrm>
              <a:off x="3263" y="2065"/>
              <a:ext cx="97"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5" name="Rectangle 141"/>
            <p:cNvSpPr>
              <a:spLocks noChangeArrowheads="1"/>
            </p:cNvSpPr>
            <p:nvPr userDrawn="1"/>
          </p:nvSpPr>
          <p:spPr bwMode="gray">
            <a:xfrm>
              <a:off x="3408" y="1632"/>
              <a:ext cx="96" cy="97"/>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6" name="Rectangle 142"/>
            <p:cNvSpPr>
              <a:spLocks noChangeArrowheads="1"/>
            </p:cNvSpPr>
            <p:nvPr userDrawn="1"/>
          </p:nvSpPr>
          <p:spPr bwMode="gray">
            <a:xfrm>
              <a:off x="3408" y="1776"/>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7" name="Rectangle 143"/>
            <p:cNvSpPr>
              <a:spLocks noChangeArrowheads="1"/>
            </p:cNvSpPr>
            <p:nvPr userDrawn="1"/>
          </p:nvSpPr>
          <p:spPr bwMode="gray">
            <a:xfrm>
              <a:off x="3408" y="1920"/>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8" name="Rectangle 144"/>
            <p:cNvSpPr>
              <a:spLocks noChangeArrowheads="1"/>
            </p:cNvSpPr>
            <p:nvPr userDrawn="1"/>
          </p:nvSpPr>
          <p:spPr bwMode="gray">
            <a:xfrm>
              <a:off x="3408" y="2065"/>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09" name="Rectangle 145"/>
            <p:cNvSpPr>
              <a:spLocks noChangeArrowheads="1"/>
            </p:cNvSpPr>
            <p:nvPr userDrawn="1"/>
          </p:nvSpPr>
          <p:spPr bwMode="gray">
            <a:xfrm>
              <a:off x="3552" y="1632"/>
              <a:ext cx="97" cy="97"/>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10" name="Rectangle 146"/>
            <p:cNvSpPr>
              <a:spLocks noChangeArrowheads="1"/>
            </p:cNvSpPr>
            <p:nvPr userDrawn="1"/>
          </p:nvSpPr>
          <p:spPr bwMode="gray">
            <a:xfrm>
              <a:off x="3552" y="1920"/>
              <a:ext cx="97"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11" name="Rectangle 147"/>
            <p:cNvSpPr>
              <a:spLocks noChangeArrowheads="1"/>
            </p:cNvSpPr>
            <p:nvPr userDrawn="1"/>
          </p:nvSpPr>
          <p:spPr bwMode="gray">
            <a:xfrm>
              <a:off x="3696" y="1776"/>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12" name="Rectangle 148"/>
            <p:cNvSpPr>
              <a:spLocks noChangeArrowheads="1"/>
            </p:cNvSpPr>
            <p:nvPr userDrawn="1"/>
          </p:nvSpPr>
          <p:spPr bwMode="gray">
            <a:xfrm>
              <a:off x="3696" y="1920"/>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13" name="Rectangle 149"/>
            <p:cNvSpPr>
              <a:spLocks noChangeArrowheads="1"/>
            </p:cNvSpPr>
            <p:nvPr userDrawn="1"/>
          </p:nvSpPr>
          <p:spPr bwMode="gray">
            <a:xfrm>
              <a:off x="3696" y="2065"/>
              <a:ext cx="96" cy="95"/>
            </a:xfrm>
            <a:prstGeom prst="rect">
              <a:avLst/>
            </a:prstGeom>
            <a:solidFill>
              <a:srgbClr val="FFFFFF">
                <a:alpha val="29019"/>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14" name="Rectangle 150"/>
            <p:cNvSpPr>
              <a:spLocks noChangeArrowheads="1"/>
            </p:cNvSpPr>
            <p:nvPr userDrawn="1"/>
          </p:nvSpPr>
          <p:spPr bwMode="gray">
            <a:xfrm>
              <a:off x="2255" y="2065"/>
              <a:ext cx="97"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115" name="Rectangle 151"/>
            <p:cNvSpPr>
              <a:spLocks noChangeArrowheads="1"/>
            </p:cNvSpPr>
            <p:nvPr userDrawn="1"/>
          </p:nvSpPr>
          <p:spPr bwMode="gray">
            <a:xfrm>
              <a:off x="2112" y="2065"/>
              <a:ext cx="96" cy="95"/>
            </a:xfrm>
            <a:prstGeom prst="rect">
              <a:avLst/>
            </a:prstGeom>
            <a:solidFill>
              <a:srgbClr val="FFFFFF">
                <a:alpha val="50195"/>
              </a:srgbClr>
            </a:solidFill>
            <a:ln>
              <a:noFill/>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grpSp>
      <p:sp>
        <p:nvSpPr>
          <p:cNvPr id="3077" name="Rectangle 152"/>
          <p:cNvSpPr>
            <a:spLocks noChangeArrowheads="1"/>
          </p:cNvSpPr>
          <p:nvPr/>
        </p:nvSpPr>
        <p:spPr bwMode="gray">
          <a:xfrm>
            <a:off x="8737600" y="76200"/>
            <a:ext cx="304800" cy="381000"/>
          </a:xfrm>
          <a:prstGeom prst="rect">
            <a:avLst/>
          </a:prstGeom>
          <a:noFill/>
          <a:ln w="9525">
            <a:solidFill>
              <a:srgbClr val="FFFFFF">
                <a:alpha val="50195"/>
              </a:srgbClr>
            </a:solidFill>
            <a:miter lim="800000"/>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78" name="Rectangle 153"/>
          <p:cNvSpPr>
            <a:spLocks noChangeArrowheads="1"/>
          </p:cNvSpPr>
          <p:nvPr/>
        </p:nvSpPr>
        <p:spPr bwMode="gray">
          <a:xfrm>
            <a:off x="8940800" y="228600"/>
            <a:ext cx="304800" cy="152400"/>
          </a:xfrm>
          <a:prstGeom prst="rect">
            <a:avLst/>
          </a:prstGeom>
          <a:noFill/>
          <a:ln w="9525">
            <a:solidFill>
              <a:srgbClr val="FFFFFF">
                <a:alpha val="50195"/>
              </a:srgbClr>
            </a:solidFill>
            <a:miter lim="800000"/>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3079" name="Rectangle 154"/>
          <p:cNvSpPr>
            <a:spLocks noChangeArrowheads="1"/>
          </p:cNvSpPr>
          <p:nvPr/>
        </p:nvSpPr>
        <p:spPr bwMode="gray">
          <a:xfrm>
            <a:off x="9144000" y="304800"/>
            <a:ext cx="406400" cy="304800"/>
          </a:xfrm>
          <a:prstGeom prst="rect">
            <a:avLst/>
          </a:prstGeom>
          <a:noFill/>
          <a:ln w="9525">
            <a:solidFill>
              <a:srgbClr val="FFFFFF">
                <a:alpha val="50195"/>
              </a:srgbClr>
            </a:solidFill>
            <a:miter lim="800000"/>
          </a:ln>
        </p:spPr>
        <p:txBody>
          <a:bodyPr wrap="none" lIns="112521" tIns="56260" rIns="112521" bIns="5626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00">
              <a:ea typeface="黑体" panose="02010609060101010101" pitchFamily="49" charset="-122"/>
            </a:endParaRPr>
          </a:p>
        </p:txBody>
      </p:sp>
      <p:sp>
        <p:nvSpPr>
          <p:cNvPr id="1027" name="Rectangle 3"/>
          <p:cNvSpPr>
            <a:spLocks noGrp="1" noChangeArrowheads="1"/>
          </p:cNvSpPr>
          <p:nvPr>
            <p:ph type="body" idx="1"/>
          </p:nvPr>
        </p:nvSpPr>
        <p:spPr bwMode="gray">
          <a:xfrm>
            <a:off x="711200" y="1295400"/>
            <a:ext cx="1092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30" name="Rectangle 6"/>
          <p:cNvSpPr>
            <a:spLocks noGrp="1" noChangeArrowheads="1"/>
          </p:cNvSpPr>
          <p:nvPr>
            <p:ph type="sldNum" sz="quarter" idx="4"/>
          </p:nvPr>
        </p:nvSpPr>
        <p:spPr bwMode="gray">
          <a:xfrm>
            <a:off x="5588000" y="6505575"/>
            <a:ext cx="1117600" cy="261938"/>
          </a:xfrm>
          <a:prstGeom prst="rect">
            <a:avLst/>
          </a:prstGeom>
          <a:noFill/>
          <a:ln w="9525">
            <a:noFill/>
            <a:miter lim="800000"/>
          </a:ln>
        </p:spPr>
        <p:txBody>
          <a:bodyPr vert="horz" wrap="square" lIns="91424" tIns="45712" rIns="91424" bIns="45712" numCol="1" anchor="t" anchorCtr="0" compatLnSpc="1"/>
          <a:lstStyle>
            <a:lvl1pPr algn="ctr" eaLnBrk="1" hangingPunct="1">
              <a:defRPr sz="1000"/>
            </a:lvl1pPr>
          </a:lstStyle>
          <a:p>
            <a:pPr>
              <a:defRPr/>
            </a:pPr>
            <a:fld id="{B3223DCE-1EC8-44DA-A40E-50045EAEE00F}" type="slidenum">
              <a:rPr lang="zh-CN" altLang="en-US"/>
            </a:fld>
            <a:endParaRPr lang="en-US" altLang="zh-CN"/>
          </a:p>
        </p:txBody>
      </p:sp>
      <p:sp>
        <p:nvSpPr>
          <p:cNvPr id="1028" name="Rectangle 4"/>
          <p:cNvSpPr>
            <a:spLocks noGrp="1" noChangeArrowheads="1"/>
          </p:cNvSpPr>
          <p:nvPr>
            <p:ph type="dt" sz="half" idx="2"/>
          </p:nvPr>
        </p:nvSpPr>
        <p:spPr bwMode="gray">
          <a:xfrm>
            <a:off x="508000" y="6505575"/>
            <a:ext cx="2540000" cy="261938"/>
          </a:xfrm>
          <a:prstGeom prst="rect">
            <a:avLst/>
          </a:prstGeom>
          <a:noFill/>
          <a:ln w="9525">
            <a:noFill/>
            <a:miter lim="800000"/>
          </a:ln>
        </p:spPr>
        <p:txBody>
          <a:bodyPr vert="horz" wrap="square" lIns="91424" tIns="45712" rIns="91424" bIns="45712" numCol="1" anchor="t" anchorCtr="0" compatLnSpc="1"/>
          <a:lstStyle>
            <a:lvl1pPr eaLnBrk="1" hangingPunct="1">
              <a:defRPr sz="1000">
                <a:latin typeface="Arial" panose="020B0604020202020204" pitchFamily="34" charset="0"/>
                <a:ea typeface="宋体" panose="02010600030101010101" pitchFamily="2" charset="-122"/>
              </a:defRPr>
            </a:lvl1pPr>
          </a:lstStyle>
          <a:p>
            <a:pPr>
              <a:defRPr/>
            </a:pPr>
            <a:endParaRPr lang="en-US" altLang="zh-CN"/>
          </a:p>
        </p:txBody>
      </p:sp>
      <p:pic>
        <p:nvPicPr>
          <p:cNvPr id="3083" name="Picture 155" descr="标志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4585" y="44450"/>
            <a:ext cx="1344246"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Rectangle 2"/>
          <p:cNvSpPr>
            <a:spLocks noGrp="1" noChangeArrowheads="1"/>
          </p:cNvSpPr>
          <p:nvPr>
            <p:ph type="title"/>
          </p:nvPr>
        </p:nvSpPr>
        <p:spPr bwMode="gray">
          <a:xfrm>
            <a:off x="1488831" y="260350"/>
            <a:ext cx="868484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indefinite"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indefinite" fill="hold">
                                          <p:stCondLst>
                                            <p:cond delay="0"/>
                                          </p:stCondLst>
                                        </p:cTn>
                                        <p:tgtEl>
                                          <p:spTgt spid="1027">
                                            <p:txEl>
                                              <p:pRg st="0" end="0"/>
                                            </p:txEl>
                                          </p:spTgt>
                                        </p:tgtEl>
                                        <p:attrNameLst>
                                          <p:attrName>style.visibility</p:attrName>
                                        </p:attrNameLst>
                                      </p:cBhvr>
                                      <p:to>
                                        <p:strVal val="visible"/>
                                      </p:to>
                                    </p:set>
                                    <p:animEffect transition="in" filter="fade">
                                      <p:cBhvr>
                                        <p:cTn id="14" dur="500"/>
                                        <p:tgtEl>
                                          <p:spTgt spid="1027">
                                            <p:txEl>
                                              <p:pRg st="0" end="0"/>
                                            </p:txEl>
                                          </p:spTgt>
                                        </p:tgtEl>
                                      </p:cBhvr>
                                    </p:animEffect>
                                    <p:anim calcmode="lin" valueType="num">
                                      <p:cBhvr>
                                        <p:cTn id="15" dur="500" fill="hold"/>
                                        <p:tgtEl>
                                          <p:spTgt spid="102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1027">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grpId="0" nodeType="withEffect">
                                  <p:stCondLst>
                                    <p:cond delay="0"/>
                                  </p:stCondLst>
                                  <p:childTnLst>
                                    <p:set>
                                      <p:cBhvr>
                                        <p:cTn id="18" dur="indefinite" fill="hold">
                                          <p:stCondLst>
                                            <p:cond delay="0"/>
                                          </p:stCondLst>
                                        </p:cTn>
                                        <p:tgtEl>
                                          <p:spTgt spid="1027">
                                            <p:txEl>
                                              <p:pRg st="1" end="1"/>
                                            </p:txEl>
                                          </p:spTgt>
                                        </p:tgtEl>
                                        <p:attrNameLst>
                                          <p:attrName>style.visibility</p:attrName>
                                        </p:attrNameLst>
                                      </p:cBhvr>
                                      <p:to>
                                        <p:strVal val="visible"/>
                                      </p:to>
                                    </p:set>
                                    <p:animEffect transition="in" filter="fade">
                                      <p:cBhvr>
                                        <p:cTn id="19" dur="500"/>
                                        <p:tgtEl>
                                          <p:spTgt spid="1027">
                                            <p:txEl>
                                              <p:pRg st="1" end="1"/>
                                            </p:txEl>
                                          </p:spTgt>
                                        </p:tgtEl>
                                      </p:cBhvr>
                                    </p:animEffect>
                                    <p:anim calcmode="lin" valueType="num">
                                      <p:cBhvr>
                                        <p:cTn id="20" dur="500" fill="hold"/>
                                        <p:tgtEl>
                                          <p:spTgt spid="1027">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1027">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grpId="0" nodeType="withEffect">
                                  <p:stCondLst>
                                    <p:cond delay="0"/>
                                  </p:stCondLst>
                                  <p:childTnLst>
                                    <p:set>
                                      <p:cBhvr>
                                        <p:cTn id="23" dur="indefinite" fill="hold">
                                          <p:stCondLst>
                                            <p:cond delay="0"/>
                                          </p:stCondLst>
                                        </p:cTn>
                                        <p:tgtEl>
                                          <p:spTgt spid="1027">
                                            <p:txEl>
                                              <p:pRg st="2" end="2"/>
                                            </p:txEl>
                                          </p:spTgt>
                                        </p:tgtEl>
                                        <p:attrNameLst>
                                          <p:attrName>style.visibility</p:attrName>
                                        </p:attrNameLst>
                                      </p:cBhvr>
                                      <p:to>
                                        <p:strVal val="visible"/>
                                      </p:to>
                                    </p:set>
                                    <p:animEffect transition="in" filter="fade">
                                      <p:cBhvr>
                                        <p:cTn id="24" dur="500"/>
                                        <p:tgtEl>
                                          <p:spTgt spid="1027">
                                            <p:txEl>
                                              <p:pRg st="2" end="2"/>
                                            </p:txEl>
                                          </p:spTgt>
                                        </p:tgtEl>
                                      </p:cBhvr>
                                    </p:animEffect>
                                    <p:anim calcmode="lin" valueType="num">
                                      <p:cBhvr>
                                        <p:cTn id="25" dur="500" fill="hold"/>
                                        <p:tgtEl>
                                          <p:spTgt spid="1027">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1027">
                                            <p:txEl>
                                              <p:pRg st="2" end="2"/>
                                            </p:txEl>
                                          </p:spTgt>
                                        </p:tgtEl>
                                        <p:attrNameLst>
                                          <p:attrName>ppt_y</p:attrName>
                                        </p:attrNameLst>
                                      </p:cBhvr>
                                      <p:tavLst>
                                        <p:tav tm="0">
                                          <p:val>
                                            <p:strVal val="#ppt_y+.05"/>
                                          </p:val>
                                        </p:tav>
                                        <p:tav tm="100000">
                                          <p:val>
                                            <p:strVal val="#ppt_y"/>
                                          </p:val>
                                        </p:tav>
                                      </p:tavLst>
                                    </p:anim>
                                  </p:childTnLst>
                                </p:cTn>
                              </p:par>
                              <p:par>
                                <p:cTn id="27" presetID="44" presetClass="entr" presetSubtype="0" fill="hold" grpId="0" nodeType="withEffect">
                                  <p:stCondLst>
                                    <p:cond delay="0"/>
                                  </p:stCondLst>
                                  <p:childTnLst>
                                    <p:set>
                                      <p:cBhvr>
                                        <p:cTn id="28" dur="indefinite" fill="hold">
                                          <p:stCondLst>
                                            <p:cond delay="0"/>
                                          </p:stCondLst>
                                        </p:cTn>
                                        <p:tgtEl>
                                          <p:spTgt spid="1027">
                                            <p:txEl>
                                              <p:pRg st="3" end="3"/>
                                            </p:txEl>
                                          </p:spTgt>
                                        </p:tgtEl>
                                        <p:attrNameLst>
                                          <p:attrName>style.visibility</p:attrName>
                                        </p:attrNameLst>
                                      </p:cBhvr>
                                      <p:to>
                                        <p:strVal val="visible"/>
                                      </p:to>
                                    </p:set>
                                    <p:animEffect transition="in" filter="fade">
                                      <p:cBhvr>
                                        <p:cTn id="29" dur="500"/>
                                        <p:tgtEl>
                                          <p:spTgt spid="1027">
                                            <p:txEl>
                                              <p:pRg st="3" end="3"/>
                                            </p:txEl>
                                          </p:spTgt>
                                        </p:tgtEl>
                                      </p:cBhvr>
                                    </p:animEffect>
                                    <p:anim calcmode="lin" valueType="num">
                                      <p:cBhvr>
                                        <p:cTn id="30" dur="500" fill="hold"/>
                                        <p:tgtEl>
                                          <p:spTgt spid="1027">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1027">
                                            <p:txEl>
                                              <p:pRg st="3" end="3"/>
                                            </p:txEl>
                                          </p:spTgt>
                                        </p:tgtEl>
                                        <p:attrNameLst>
                                          <p:attrName>ppt_y</p:attrName>
                                        </p:attrNameLst>
                                      </p:cBhvr>
                                      <p:tavLst>
                                        <p:tav tm="0">
                                          <p:val>
                                            <p:strVal val="#ppt_y+.05"/>
                                          </p:val>
                                        </p:tav>
                                        <p:tav tm="100000">
                                          <p:val>
                                            <p:strVal val="#ppt_y"/>
                                          </p:val>
                                        </p:tav>
                                      </p:tavLst>
                                    </p:anim>
                                  </p:childTnLst>
                                </p:cTn>
                              </p:par>
                              <p:par>
                                <p:cTn id="32" presetID="44" presetClass="entr" presetSubtype="0" fill="hold" grpId="0" nodeType="withEffect">
                                  <p:stCondLst>
                                    <p:cond delay="0"/>
                                  </p:stCondLst>
                                  <p:childTnLst>
                                    <p:set>
                                      <p:cBhvr>
                                        <p:cTn id="33" dur="indefinite" fill="hold">
                                          <p:stCondLst>
                                            <p:cond delay="0"/>
                                          </p:stCondLst>
                                        </p:cTn>
                                        <p:tgtEl>
                                          <p:spTgt spid="1027">
                                            <p:txEl>
                                              <p:pRg st="4" end="4"/>
                                            </p:txEl>
                                          </p:spTgt>
                                        </p:tgtEl>
                                        <p:attrNameLst>
                                          <p:attrName>style.visibility</p:attrName>
                                        </p:attrNameLst>
                                      </p:cBhvr>
                                      <p:to>
                                        <p:strVal val="visible"/>
                                      </p:to>
                                    </p:set>
                                    <p:animEffect transition="in" filter="fade">
                                      <p:cBhvr>
                                        <p:cTn id="34" dur="500"/>
                                        <p:tgtEl>
                                          <p:spTgt spid="1027">
                                            <p:txEl>
                                              <p:pRg st="4" end="4"/>
                                            </p:txEl>
                                          </p:spTgt>
                                        </p:tgtEl>
                                      </p:cBhvr>
                                    </p:animEffect>
                                    <p:anim calcmode="lin" valueType="num">
                                      <p:cBhvr>
                                        <p:cTn id="35" dur="500" fill="hold"/>
                                        <p:tgtEl>
                                          <p:spTgt spid="1027">
                                            <p:txEl>
                                              <p:pRg st="4" end="4"/>
                                            </p:txEl>
                                          </p:spTgt>
                                        </p:tgtEl>
                                        <p:attrNameLst>
                                          <p:attrName>ppt_x</p:attrName>
                                        </p:attrNameLst>
                                      </p:cBhvr>
                                      <p:tavLst>
                                        <p:tav tm="0">
                                          <p:val>
                                            <p:strVal val="#ppt_x"/>
                                          </p:val>
                                        </p:tav>
                                        <p:tav tm="100000">
                                          <p:val>
                                            <p:strVal val="#ppt_x"/>
                                          </p:val>
                                        </p:tav>
                                      </p:tavLst>
                                    </p:anim>
                                    <p:anim calcmode="lin" valueType="num">
                                      <p:cBhvr>
                                        <p:cTn id="36" dur="500" fill="hold"/>
                                        <p:tgtEl>
                                          <p:spTgt spid="102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44" presetClass="entr" presetSubtype="0" fill="hold" nodeType="clickEffect">
                  <p:stCondLst>
                    <p:cond delay="0"/>
                  </p:stCondLst>
                  <p:childTnLst>
                    <p:set>
                      <p:cBhvr>
                        <p:cTn dur="indefinite"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anim calcmode="lin" valueType="num">
                      <p:cBhvr>
                        <p:cTn dur="500" fill="hold"/>
                        <p:tgtEl>
                          <p:spTgt spid="1027"/>
                        </p:tgtEl>
                        <p:attrNameLst>
                          <p:attrName>ppt_x</p:attrName>
                        </p:attrNameLst>
                      </p:cBhvr>
                      <p:tavLst>
                        <p:tav tm="0">
                          <p:val>
                            <p:strVal val="#ppt_x"/>
                          </p:val>
                        </p:tav>
                        <p:tav tm="100000">
                          <p:val>
                            <p:strVal val="#ppt_x"/>
                          </p:val>
                        </p:tav>
                      </p:tavLst>
                    </p:anim>
                    <p:anim calcmode="lin" valueType="num">
                      <p:cBhvr>
                        <p:cTn dur="500" fill="hold"/>
                        <p:tgtEl>
                          <p:spTgt spid="1027"/>
                        </p:tgtEl>
                        <p:attrNameLst>
                          <p:attrName>ppt_y</p:attrName>
                        </p:attrNameLst>
                      </p:cBhvr>
                      <p:tavLst>
                        <p:tav tm="0">
                          <p:val>
                            <p:strVal val="#ppt_y+.05"/>
                          </p:val>
                        </p:tav>
                        <p:tav tm="100000">
                          <p:val>
                            <p:strVal val="#ppt_y"/>
                          </p:val>
                        </p:tav>
                      </p:tavLst>
                    </p:anim>
                  </p:childTnLst>
                </p:cTn>
              </p:par>
            </p:tnLst>
          </p:tmpl>
          <p:tmpl lvl="2">
            <p:tnLst>
              <p:par>
                <p:cTn presetID="44" presetClass="entr" presetSubtype="0" fill="hold" nodeType="withEffect">
                  <p:stCondLst>
                    <p:cond delay="0"/>
                  </p:stCondLst>
                  <p:childTnLst>
                    <p:set>
                      <p:cBhvr>
                        <p:cTn dur="indefinite"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anim calcmode="lin" valueType="num">
                      <p:cBhvr>
                        <p:cTn dur="500" fill="hold"/>
                        <p:tgtEl>
                          <p:spTgt spid="1027"/>
                        </p:tgtEl>
                        <p:attrNameLst>
                          <p:attrName>ppt_x</p:attrName>
                        </p:attrNameLst>
                      </p:cBhvr>
                      <p:tavLst>
                        <p:tav tm="0">
                          <p:val>
                            <p:strVal val="#ppt_x"/>
                          </p:val>
                        </p:tav>
                        <p:tav tm="100000">
                          <p:val>
                            <p:strVal val="#ppt_x"/>
                          </p:val>
                        </p:tav>
                      </p:tavLst>
                    </p:anim>
                    <p:anim calcmode="lin" valueType="num">
                      <p:cBhvr>
                        <p:cTn dur="500" fill="hold"/>
                        <p:tgtEl>
                          <p:spTgt spid="1027"/>
                        </p:tgtEl>
                        <p:attrNameLst>
                          <p:attrName>ppt_y</p:attrName>
                        </p:attrNameLst>
                      </p:cBhvr>
                      <p:tavLst>
                        <p:tav tm="0">
                          <p:val>
                            <p:strVal val="#ppt_y+.05"/>
                          </p:val>
                        </p:tav>
                        <p:tav tm="100000">
                          <p:val>
                            <p:strVal val="#ppt_y"/>
                          </p:val>
                        </p:tav>
                      </p:tavLst>
                    </p:anim>
                  </p:childTnLst>
                </p:cTn>
              </p:par>
            </p:tnLst>
          </p:tmpl>
          <p:tmpl lvl="3">
            <p:tnLst>
              <p:par>
                <p:cTn presetID="44" presetClass="entr" presetSubtype="0" fill="hold" nodeType="withEffect">
                  <p:stCondLst>
                    <p:cond delay="0"/>
                  </p:stCondLst>
                  <p:childTnLst>
                    <p:set>
                      <p:cBhvr>
                        <p:cTn dur="indefinite"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anim calcmode="lin" valueType="num">
                      <p:cBhvr>
                        <p:cTn dur="500" fill="hold"/>
                        <p:tgtEl>
                          <p:spTgt spid="1027"/>
                        </p:tgtEl>
                        <p:attrNameLst>
                          <p:attrName>ppt_x</p:attrName>
                        </p:attrNameLst>
                      </p:cBhvr>
                      <p:tavLst>
                        <p:tav tm="0">
                          <p:val>
                            <p:strVal val="#ppt_x"/>
                          </p:val>
                        </p:tav>
                        <p:tav tm="100000">
                          <p:val>
                            <p:strVal val="#ppt_x"/>
                          </p:val>
                        </p:tav>
                      </p:tavLst>
                    </p:anim>
                    <p:anim calcmode="lin" valueType="num">
                      <p:cBhvr>
                        <p:cTn dur="500" fill="hold"/>
                        <p:tgtEl>
                          <p:spTgt spid="1027"/>
                        </p:tgtEl>
                        <p:attrNameLst>
                          <p:attrName>ppt_y</p:attrName>
                        </p:attrNameLst>
                      </p:cBhvr>
                      <p:tavLst>
                        <p:tav tm="0">
                          <p:val>
                            <p:strVal val="#ppt_y+.05"/>
                          </p:val>
                        </p:tav>
                        <p:tav tm="100000">
                          <p:val>
                            <p:strVal val="#ppt_y"/>
                          </p:val>
                        </p:tav>
                      </p:tavLst>
                    </p:anim>
                  </p:childTnLst>
                </p:cTn>
              </p:par>
            </p:tnLst>
          </p:tmpl>
          <p:tmpl lvl="4">
            <p:tnLst>
              <p:par>
                <p:cTn presetID="44" presetClass="entr" presetSubtype="0" fill="hold" nodeType="withEffect">
                  <p:stCondLst>
                    <p:cond delay="0"/>
                  </p:stCondLst>
                  <p:childTnLst>
                    <p:set>
                      <p:cBhvr>
                        <p:cTn dur="indefinite"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anim calcmode="lin" valueType="num">
                      <p:cBhvr>
                        <p:cTn dur="500" fill="hold"/>
                        <p:tgtEl>
                          <p:spTgt spid="1027"/>
                        </p:tgtEl>
                        <p:attrNameLst>
                          <p:attrName>ppt_x</p:attrName>
                        </p:attrNameLst>
                      </p:cBhvr>
                      <p:tavLst>
                        <p:tav tm="0">
                          <p:val>
                            <p:strVal val="#ppt_x"/>
                          </p:val>
                        </p:tav>
                        <p:tav tm="100000">
                          <p:val>
                            <p:strVal val="#ppt_x"/>
                          </p:val>
                        </p:tav>
                      </p:tavLst>
                    </p:anim>
                    <p:anim calcmode="lin" valueType="num">
                      <p:cBhvr>
                        <p:cTn dur="500" fill="hold"/>
                        <p:tgtEl>
                          <p:spTgt spid="1027"/>
                        </p:tgtEl>
                        <p:attrNameLst>
                          <p:attrName>ppt_y</p:attrName>
                        </p:attrNameLst>
                      </p:cBhvr>
                      <p:tavLst>
                        <p:tav tm="0">
                          <p:val>
                            <p:strVal val="#ppt_y+.05"/>
                          </p:val>
                        </p:tav>
                        <p:tav tm="100000">
                          <p:val>
                            <p:strVal val="#ppt_y"/>
                          </p:val>
                        </p:tav>
                      </p:tavLst>
                    </p:anim>
                  </p:childTnLst>
                </p:cTn>
              </p:par>
            </p:tnLst>
          </p:tmpl>
          <p:tmpl lvl="5">
            <p:tnLst>
              <p:par>
                <p:cTn presetID="44" presetClass="entr" presetSubtype="0" fill="hold" nodeType="withEffect">
                  <p:stCondLst>
                    <p:cond delay="0"/>
                  </p:stCondLst>
                  <p:childTnLst>
                    <p:set>
                      <p:cBhvr>
                        <p:cTn dur="indefinite"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anim calcmode="lin" valueType="num">
                      <p:cBhvr>
                        <p:cTn dur="500" fill="hold"/>
                        <p:tgtEl>
                          <p:spTgt spid="1027"/>
                        </p:tgtEl>
                        <p:attrNameLst>
                          <p:attrName>ppt_x</p:attrName>
                        </p:attrNameLst>
                      </p:cBhvr>
                      <p:tavLst>
                        <p:tav tm="0">
                          <p:val>
                            <p:strVal val="#ppt_x"/>
                          </p:val>
                        </p:tav>
                        <p:tav tm="100000">
                          <p:val>
                            <p:strVal val="#ppt_x"/>
                          </p:val>
                        </p:tav>
                      </p:tavLst>
                    </p:anim>
                    <p:anim calcmode="lin" valueType="num">
                      <p:cBhvr>
                        <p:cTn dur="500" fill="hold"/>
                        <p:tgtEl>
                          <p:spTgt spid="1027"/>
                        </p:tgtEl>
                        <p:attrNameLst>
                          <p:attrName>ppt_y</p:attrName>
                        </p:attrNameLst>
                      </p:cBhvr>
                      <p:tavLst>
                        <p:tav tm="0">
                          <p:val>
                            <p:strVal val="#ppt_y+.05"/>
                          </p:val>
                        </p:tav>
                        <p:tav tm="100000">
                          <p:val>
                            <p:strVal val="#ppt_y"/>
                          </p:val>
                        </p:tav>
                      </p:tavLst>
                    </p:anim>
                  </p:childTnLst>
                </p:cTn>
              </p:par>
            </p:tnLst>
          </p:tmpl>
        </p:tmplLst>
      </p:bldP>
      <p:bldP spid="1026" grpId="0"/>
    </p:bldLst>
  </p:timing>
  <p:txStyles>
    <p:title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6130" indent="-22733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3330" indent="-227330" algn="l" rtl="0" eaLnBrk="0" fontAlgn="base" hangingPunct="0">
        <a:spcBef>
          <a:spcPct val="20000"/>
        </a:spcBef>
        <a:spcAft>
          <a:spcPct val="0"/>
        </a:spcAft>
        <a:buChar char="»"/>
        <a:defRPr sz="2000">
          <a:solidFill>
            <a:schemeClr val="tx1"/>
          </a:solidFill>
          <a:latin typeface="Arial" panose="020B0604020202020204" pitchFamily="34" charset="0"/>
          <a:ea typeface="+mn-ea"/>
        </a:defRPr>
      </a:lvl6pPr>
      <a:lvl7pPr marL="2970530" indent="-227330" algn="l" rtl="0" eaLnBrk="0" fontAlgn="base" hangingPunct="0">
        <a:spcBef>
          <a:spcPct val="20000"/>
        </a:spcBef>
        <a:spcAft>
          <a:spcPct val="0"/>
        </a:spcAft>
        <a:buChar char="»"/>
        <a:defRPr sz="2000">
          <a:solidFill>
            <a:schemeClr val="tx1"/>
          </a:solidFill>
          <a:latin typeface="Arial" panose="020B0604020202020204" pitchFamily="34" charset="0"/>
          <a:ea typeface="+mn-ea"/>
        </a:defRPr>
      </a:lvl7pPr>
      <a:lvl8pPr marL="3427730" indent="-227330" algn="l" rtl="0" eaLnBrk="0" fontAlgn="base" hangingPunct="0">
        <a:spcBef>
          <a:spcPct val="20000"/>
        </a:spcBef>
        <a:spcAft>
          <a:spcPct val="0"/>
        </a:spcAft>
        <a:buChar char="»"/>
        <a:defRPr sz="2000">
          <a:solidFill>
            <a:schemeClr val="tx1"/>
          </a:solidFill>
          <a:latin typeface="Arial" panose="020B0604020202020204" pitchFamily="34" charset="0"/>
          <a:ea typeface="+mn-ea"/>
        </a:defRPr>
      </a:lvl8pPr>
      <a:lvl9pPr marL="3884930" indent="-227330" algn="l" rtl="0" eaLnBrk="0" fontAlgn="base" hangingPunct="0">
        <a:spcBef>
          <a:spcPct val="20000"/>
        </a:spcBef>
        <a:spcAft>
          <a:spcPct val="0"/>
        </a:spcAft>
        <a:buChar char="»"/>
        <a:defRPr sz="2000">
          <a:solidFill>
            <a:schemeClr val="tx1"/>
          </a:solidFill>
          <a:latin typeface="Arial" panose="020B060402020202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4098" name="Picture 2" descr="图片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title"/>
          </p:nvPr>
        </p:nvSpPr>
        <p:spPr bwMode="auto">
          <a:xfrm>
            <a:off x="625231" y="188913"/>
            <a:ext cx="1097084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597" tIns="47298" rIns="94597" bIns="47298" numCol="1" anchor="ctr" anchorCtr="0" compatLnSpc="1"/>
          <a:lstStyle/>
          <a:p>
            <a:pPr lvl="0"/>
            <a:r>
              <a:rPr lang="zh-CN" altLang="en-US"/>
              <a:t>单击此处编辑母版标题样式</a:t>
            </a:r>
            <a:endParaRPr lang="zh-CN" altLang="en-US"/>
          </a:p>
        </p:txBody>
      </p:sp>
      <p:sp>
        <p:nvSpPr>
          <p:cNvPr id="4100" name="Rectangle 4"/>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597" tIns="47298" rIns="94597" bIns="47298"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4101" name="Picture 5" descr="ntoplogo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9015" y="0"/>
            <a:ext cx="2016369"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6" descr="ntoplogo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71901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Text Box 7"/>
          <p:cNvSpPr txBox="1">
            <a:spLocks noChangeArrowheads="1"/>
          </p:cNvSpPr>
          <p:nvPr/>
        </p:nvSpPr>
        <p:spPr bwMode="auto">
          <a:xfrm>
            <a:off x="9157678" y="1927225"/>
            <a:ext cx="2508738" cy="474980"/>
          </a:xfrm>
          <a:prstGeom prst="rect">
            <a:avLst/>
          </a:prstGeom>
          <a:noFill/>
          <a:ln>
            <a:noFill/>
          </a:ln>
        </p:spPr>
        <p:txBody>
          <a:bodyPr lIns="116427" tIns="58212" rIns="116427" bIns="58212">
            <a:spAutoFit/>
          </a:bodyPr>
          <a:lstStyle>
            <a:lvl1pPr defTabSz="946150" eaLnBrk="0" hangingPunct="0">
              <a:defRPr>
                <a:solidFill>
                  <a:schemeClr val="tx1"/>
                </a:solidFill>
                <a:latin typeface="Arial" panose="020B0604020202020204" pitchFamily="34" charset="0"/>
                <a:ea typeface="宋体" panose="02010600030101010101" pitchFamily="2" charset="-122"/>
              </a:defRPr>
            </a:lvl1pPr>
            <a:lvl2pPr marL="742950" indent="-285750" defTabSz="946150" eaLnBrk="0" hangingPunct="0">
              <a:defRPr>
                <a:solidFill>
                  <a:schemeClr val="tx1"/>
                </a:solidFill>
                <a:latin typeface="Arial" panose="020B0604020202020204" pitchFamily="34" charset="0"/>
                <a:ea typeface="宋体" panose="02010600030101010101" pitchFamily="2" charset="-122"/>
              </a:defRPr>
            </a:lvl2pPr>
            <a:lvl3pPr marL="1143000" indent="-228600" defTabSz="946150" eaLnBrk="0" hangingPunct="0">
              <a:defRPr>
                <a:solidFill>
                  <a:schemeClr val="tx1"/>
                </a:solidFill>
                <a:latin typeface="Arial" panose="020B0604020202020204" pitchFamily="34" charset="0"/>
                <a:ea typeface="宋体" panose="02010600030101010101" pitchFamily="2" charset="-122"/>
              </a:defRPr>
            </a:lvl3pPr>
            <a:lvl4pPr marL="1600200" indent="-228600" defTabSz="946150" eaLnBrk="0" hangingPunct="0">
              <a:defRPr>
                <a:solidFill>
                  <a:schemeClr val="tx1"/>
                </a:solidFill>
                <a:latin typeface="Arial" panose="020B0604020202020204" pitchFamily="34" charset="0"/>
                <a:ea typeface="宋体" panose="02010600030101010101" pitchFamily="2" charset="-122"/>
              </a:defRPr>
            </a:lvl4pPr>
            <a:lvl5pPr marL="2057400" indent="-228600" defTabSz="946150" eaLnBrk="0" hangingPunct="0">
              <a:defRPr>
                <a:solidFill>
                  <a:schemeClr val="tx1"/>
                </a:solidFill>
                <a:latin typeface="Arial" panose="020B0604020202020204" pitchFamily="34" charset="0"/>
                <a:ea typeface="宋体" panose="02010600030101010101" pitchFamily="2" charset="-122"/>
              </a:defRPr>
            </a:lvl5pPr>
            <a:lvl6pPr marL="25146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340"/>
          </a:p>
        </p:txBody>
      </p:sp>
      <p:sp>
        <p:nvSpPr>
          <p:cNvPr id="753672" name="Rectangle 8"/>
          <p:cNvSpPr>
            <a:spLocks noGrp="1" noChangeArrowheads="1"/>
          </p:cNvSpPr>
          <p:nvPr>
            <p:ph type="dt" sz="half" idx="2"/>
          </p:nvPr>
        </p:nvSpPr>
        <p:spPr bwMode="auto">
          <a:xfrm>
            <a:off x="609600" y="6245225"/>
            <a:ext cx="2844800" cy="476250"/>
          </a:xfrm>
          <a:prstGeom prst="rect">
            <a:avLst/>
          </a:prstGeom>
          <a:noFill/>
          <a:ln w="9525">
            <a:noFill/>
            <a:miter lim="800000"/>
          </a:ln>
        </p:spPr>
        <p:txBody>
          <a:bodyPr vert="horz" wrap="square" lIns="94597" tIns="47298" rIns="94597" bIns="47298" numCol="1" anchor="t" anchorCtr="0" compatLnSpc="1"/>
          <a:lstStyle>
            <a:lvl1pPr defTabSz="946150" eaLnBrk="1" hangingPunct="1">
              <a:defRPr sz="1400"/>
            </a:lvl1pPr>
          </a:lstStyle>
          <a:p>
            <a:pPr>
              <a:defRPr/>
            </a:pPr>
            <a:fld id="{0EAE936F-0E1D-49E9-84D4-980E4825BE6A}" type="datetimeFigureOut">
              <a:rPr lang="zh-CN" altLang="en-US"/>
            </a:fld>
            <a:endParaRPr lang="en-US" altLang="zh-CN"/>
          </a:p>
        </p:txBody>
      </p:sp>
      <p:sp>
        <p:nvSpPr>
          <p:cNvPr id="753673" name="Rectangle 9"/>
          <p:cNvSpPr>
            <a:spLocks noGrp="1" noChangeArrowheads="1"/>
          </p:cNvSpPr>
          <p:nvPr>
            <p:ph type="sldNum" sz="quarter" idx="4"/>
          </p:nvPr>
        </p:nvSpPr>
        <p:spPr bwMode="auto">
          <a:xfrm>
            <a:off x="8737600" y="6245225"/>
            <a:ext cx="2844800" cy="476250"/>
          </a:xfrm>
          <a:prstGeom prst="rect">
            <a:avLst/>
          </a:prstGeom>
          <a:noFill/>
          <a:ln w="9525">
            <a:noFill/>
            <a:miter lim="800000"/>
          </a:ln>
        </p:spPr>
        <p:txBody>
          <a:bodyPr vert="horz" wrap="square" lIns="94597" tIns="47298" rIns="94597" bIns="47298" numCol="1" anchor="t" anchorCtr="0" compatLnSpc="1"/>
          <a:lstStyle>
            <a:lvl1pPr algn="r" defTabSz="946150" eaLnBrk="1" hangingPunct="1">
              <a:defRPr sz="1400"/>
            </a:lvl1pPr>
          </a:lstStyle>
          <a:p>
            <a:pPr>
              <a:defRPr/>
            </a:pPr>
            <a:fld id="{21B92F87-328F-43A6-B338-C21BF799CB8E}"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46150" rtl="0" eaLnBrk="0" fontAlgn="base" hangingPunct="0">
        <a:spcBef>
          <a:spcPct val="0"/>
        </a:spcBef>
        <a:spcAft>
          <a:spcPct val="0"/>
        </a:spcAft>
        <a:defRPr sz="4100" b="1">
          <a:solidFill>
            <a:schemeClr val="tx2"/>
          </a:solidFill>
          <a:latin typeface="+mj-lt"/>
          <a:ea typeface="+mj-ea"/>
          <a:cs typeface="+mj-cs"/>
        </a:defRPr>
      </a:lvl1pPr>
      <a:lvl2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2pPr>
      <a:lvl3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3pPr>
      <a:lvl4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4pPr>
      <a:lvl5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5pPr>
      <a:lvl6pPr marL="4572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6pPr>
      <a:lvl7pPr marL="9144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7pPr>
      <a:lvl8pPr marL="13716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8pPr>
      <a:lvl9pPr marL="18288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9pPr>
    </p:titleStyle>
    <p:bodyStyle>
      <a:lvl1pPr marL="352425" indent="-352425" algn="l" defTabSz="946150" rtl="0" eaLnBrk="0" fontAlgn="base" hangingPunct="0">
        <a:spcBef>
          <a:spcPct val="20000"/>
        </a:spcBef>
        <a:spcAft>
          <a:spcPct val="0"/>
        </a:spcAft>
        <a:buChar char="•"/>
        <a:defRPr sz="2900" b="1">
          <a:solidFill>
            <a:schemeClr val="tx1"/>
          </a:solidFill>
          <a:latin typeface="+mn-lt"/>
          <a:ea typeface="+mn-ea"/>
          <a:cs typeface="+mn-cs"/>
        </a:defRPr>
      </a:lvl1pPr>
      <a:lvl2pPr marL="768350" indent="-295275" algn="l" defTabSz="946150" rtl="0" eaLnBrk="0" fontAlgn="base" hangingPunct="0">
        <a:spcBef>
          <a:spcPct val="20000"/>
        </a:spcBef>
        <a:spcAft>
          <a:spcPct val="0"/>
        </a:spcAft>
        <a:buChar char="–"/>
        <a:defRPr sz="2900" b="1">
          <a:solidFill>
            <a:schemeClr val="tx1"/>
          </a:solidFill>
          <a:latin typeface="+mn-lt"/>
          <a:ea typeface="+mn-ea"/>
        </a:defRPr>
      </a:lvl2pPr>
      <a:lvl3pPr marL="1183005" indent="-236855" algn="l" defTabSz="946150" rtl="0" eaLnBrk="0" fontAlgn="base" hangingPunct="0">
        <a:spcBef>
          <a:spcPct val="20000"/>
        </a:spcBef>
        <a:spcAft>
          <a:spcPct val="0"/>
        </a:spcAft>
        <a:buChar char="•"/>
        <a:defRPr sz="2900" b="1">
          <a:solidFill>
            <a:schemeClr val="tx1"/>
          </a:solidFill>
          <a:latin typeface="+mn-lt"/>
          <a:ea typeface="+mn-ea"/>
        </a:defRPr>
      </a:lvl3pPr>
      <a:lvl4pPr marL="1656080" indent="-236855" algn="l" defTabSz="946150" rtl="0" eaLnBrk="0" fontAlgn="base" hangingPunct="0">
        <a:spcBef>
          <a:spcPct val="20000"/>
        </a:spcBef>
        <a:spcAft>
          <a:spcPct val="0"/>
        </a:spcAft>
        <a:buChar char="–"/>
        <a:defRPr sz="2900" b="1">
          <a:solidFill>
            <a:schemeClr val="tx1"/>
          </a:solidFill>
          <a:latin typeface="+mn-lt"/>
          <a:ea typeface="+mn-ea"/>
        </a:defRPr>
      </a:lvl4pPr>
      <a:lvl5pPr marL="2129155" indent="-236855" algn="l" defTabSz="946150" rtl="0" eaLnBrk="0" fontAlgn="base" hangingPunct="0">
        <a:spcBef>
          <a:spcPct val="20000"/>
        </a:spcBef>
        <a:spcAft>
          <a:spcPct val="0"/>
        </a:spcAft>
        <a:buChar char="»"/>
        <a:defRPr sz="2900" b="1">
          <a:solidFill>
            <a:schemeClr val="tx1"/>
          </a:solidFill>
          <a:latin typeface="+mn-lt"/>
          <a:ea typeface="+mn-ea"/>
        </a:defRPr>
      </a:lvl5pPr>
      <a:lvl6pPr marL="2586355" indent="-236855" algn="l" defTabSz="946150" rtl="0" fontAlgn="base">
        <a:spcBef>
          <a:spcPct val="20000"/>
        </a:spcBef>
        <a:spcAft>
          <a:spcPct val="0"/>
        </a:spcAft>
        <a:buChar char="»"/>
        <a:defRPr sz="2900" b="1">
          <a:solidFill>
            <a:schemeClr val="tx1"/>
          </a:solidFill>
          <a:latin typeface="+mn-lt"/>
          <a:ea typeface="+mn-ea"/>
        </a:defRPr>
      </a:lvl6pPr>
      <a:lvl7pPr marL="3043555" indent="-236855" algn="l" defTabSz="946150" rtl="0" fontAlgn="base">
        <a:spcBef>
          <a:spcPct val="20000"/>
        </a:spcBef>
        <a:spcAft>
          <a:spcPct val="0"/>
        </a:spcAft>
        <a:buChar char="»"/>
        <a:defRPr sz="2900" b="1">
          <a:solidFill>
            <a:schemeClr val="tx1"/>
          </a:solidFill>
          <a:latin typeface="+mn-lt"/>
          <a:ea typeface="+mn-ea"/>
        </a:defRPr>
      </a:lvl7pPr>
      <a:lvl8pPr marL="3500755" indent="-236855" algn="l" defTabSz="946150" rtl="0" fontAlgn="base">
        <a:spcBef>
          <a:spcPct val="20000"/>
        </a:spcBef>
        <a:spcAft>
          <a:spcPct val="0"/>
        </a:spcAft>
        <a:buChar char="»"/>
        <a:defRPr sz="2900" b="1">
          <a:solidFill>
            <a:schemeClr val="tx1"/>
          </a:solidFill>
          <a:latin typeface="+mn-lt"/>
          <a:ea typeface="+mn-ea"/>
        </a:defRPr>
      </a:lvl8pPr>
      <a:lvl9pPr marL="3957955" indent="-236855" algn="l" defTabSz="946150" rtl="0" fontAlgn="base">
        <a:spcBef>
          <a:spcPct val="20000"/>
        </a:spcBef>
        <a:spcAft>
          <a:spcPct val="0"/>
        </a:spcAft>
        <a:buChar char="»"/>
        <a:defRPr sz="29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5122" name="Picture 2"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title"/>
          </p:nvPr>
        </p:nvSpPr>
        <p:spPr bwMode="auto">
          <a:xfrm>
            <a:off x="625231" y="188913"/>
            <a:ext cx="1097084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581" tIns="47290" rIns="94581" bIns="47290" numCol="1" anchor="ctr" anchorCtr="0" compatLnSpc="1"/>
          <a:lstStyle/>
          <a:p>
            <a:pPr lvl="0"/>
            <a:r>
              <a:rPr lang="zh-CN" altLang="en-US"/>
              <a:t>单击此处编辑母版标题样式</a:t>
            </a:r>
            <a:endParaRPr lang="zh-CN" altLang="en-US"/>
          </a:p>
        </p:txBody>
      </p:sp>
      <p:sp>
        <p:nvSpPr>
          <p:cNvPr id="5124" name="Rectangle 4"/>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581" tIns="47290" rIns="94581" bIns="4729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125" name="Picture 5" descr="ntoplogo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19015" y="0"/>
            <a:ext cx="2016369"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descr="ntoplogo1"/>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71901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Text Box 7"/>
          <p:cNvSpPr txBox="1">
            <a:spLocks noChangeArrowheads="1"/>
          </p:cNvSpPr>
          <p:nvPr userDrawn="1"/>
        </p:nvSpPr>
        <p:spPr bwMode="auto">
          <a:xfrm>
            <a:off x="9157678" y="1927225"/>
            <a:ext cx="2508738" cy="474980"/>
          </a:xfrm>
          <a:prstGeom prst="rect">
            <a:avLst/>
          </a:prstGeom>
          <a:noFill/>
          <a:ln>
            <a:noFill/>
          </a:ln>
        </p:spPr>
        <p:txBody>
          <a:bodyPr lIns="116407" tIns="58203" rIns="116407" bIns="58203">
            <a:spAutoFit/>
          </a:bodyPr>
          <a:lstStyle>
            <a:lvl1pPr defTabSz="946150" eaLnBrk="0" hangingPunct="0">
              <a:defRPr>
                <a:solidFill>
                  <a:schemeClr val="tx1"/>
                </a:solidFill>
                <a:latin typeface="Arial" panose="020B0604020202020204" pitchFamily="34" charset="0"/>
                <a:ea typeface="宋体" panose="02010600030101010101" pitchFamily="2" charset="-122"/>
              </a:defRPr>
            </a:lvl1pPr>
            <a:lvl2pPr marL="742950" indent="-285750" defTabSz="946150" eaLnBrk="0" hangingPunct="0">
              <a:defRPr>
                <a:solidFill>
                  <a:schemeClr val="tx1"/>
                </a:solidFill>
                <a:latin typeface="Arial" panose="020B0604020202020204" pitchFamily="34" charset="0"/>
                <a:ea typeface="宋体" panose="02010600030101010101" pitchFamily="2" charset="-122"/>
              </a:defRPr>
            </a:lvl2pPr>
            <a:lvl3pPr marL="1143000" indent="-228600" defTabSz="946150" eaLnBrk="0" hangingPunct="0">
              <a:defRPr>
                <a:solidFill>
                  <a:schemeClr val="tx1"/>
                </a:solidFill>
                <a:latin typeface="Arial" panose="020B0604020202020204" pitchFamily="34" charset="0"/>
                <a:ea typeface="宋体" panose="02010600030101010101" pitchFamily="2" charset="-122"/>
              </a:defRPr>
            </a:lvl3pPr>
            <a:lvl4pPr marL="1600200" indent="-228600" defTabSz="946150" eaLnBrk="0" hangingPunct="0">
              <a:defRPr>
                <a:solidFill>
                  <a:schemeClr val="tx1"/>
                </a:solidFill>
                <a:latin typeface="Arial" panose="020B0604020202020204" pitchFamily="34" charset="0"/>
                <a:ea typeface="宋体" panose="02010600030101010101" pitchFamily="2" charset="-122"/>
              </a:defRPr>
            </a:lvl4pPr>
            <a:lvl5pPr marL="2057400" indent="-228600" defTabSz="946150" eaLnBrk="0" hangingPunct="0">
              <a:defRPr>
                <a:solidFill>
                  <a:schemeClr val="tx1"/>
                </a:solidFill>
                <a:latin typeface="Arial" panose="020B0604020202020204" pitchFamily="34" charset="0"/>
                <a:ea typeface="宋体" panose="02010600030101010101" pitchFamily="2" charset="-122"/>
              </a:defRPr>
            </a:lvl5pPr>
            <a:lvl6pPr marL="25146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461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340"/>
          </a:p>
        </p:txBody>
      </p:sp>
      <p:sp>
        <p:nvSpPr>
          <p:cNvPr id="880648" name="Rectangle 8"/>
          <p:cNvSpPr>
            <a:spLocks noGrp="1" noChangeArrowheads="1"/>
          </p:cNvSpPr>
          <p:nvPr>
            <p:ph type="dt" sz="half" idx="2"/>
          </p:nvPr>
        </p:nvSpPr>
        <p:spPr bwMode="auto">
          <a:xfrm>
            <a:off x="609600" y="6245225"/>
            <a:ext cx="2844800" cy="476250"/>
          </a:xfrm>
          <a:prstGeom prst="rect">
            <a:avLst/>
          </a:prstGeom>
          <a:noFill/>
          <a:ln w="9525">
            <a:noFill/>
            <a:miter lim="800000"/>
          </a:ln>
        </p:spPr>
        <p:txBody>
          <a:bodyPr vert="horz" wrap="square" lIns="94581" tIns="47290" rIns="94581" bIns="47290" numCol="1" anchor="t" anchorCtr="0" compatLnSpc="1"/>
          <a:lstStyle>
            <a:lvl1pPr defTabSz="946150" eaLnBrk="1" hangingPunct="1">
              <a:defRPr sz="1400"/>
            </a:lvl1pPr>
          </a:lstStyle>
          <a:p>
            <a:pPr>
              <a:defRPr/>
            </a:pPr>
            <a:fld id="{A49E0128-693E-4692-B241-8F7A60B494FA}" type="datetimeFigureOut">
              <a:rPr lang="zh-CN" altLang="en-US"/>
            </a:fld>
            <a:endParaRPr lang="en-US" altLang="zh-CN"/>
          </a:p>
        </p:txBody>
      </p:sp>
      <p:sp>
        <p:nvSpPr>
          <p:cNvPr id="880649" name="Rectangle 9"/>
          <p:cNvSpPr>
            <a:spLocks noGrp="1" noChangeArrowheads="1"/>
          </p:cNvSpPr>
          <p:nvPr>
            <p:ph type="sldNum" sz="quarter" idx="4"/>
          </p:nvPr>
        </p:nvSpPr>
        <p:spPr bwMode="auto">
          <a:xfrm>
            <a:off x="8737600" y="6245225"/>
            <a:ext cx="2844800" cy="476250"/>
          </a:xfrm>
          <a:prstGeom prst="rect">
            <a:avLst/>
          </a:prstGeom>
          <a:noFill/>
          <a:ln w="9525">
            <a:noFill/>
            <a:miter lim="800000"/>
          </a:ln>
        </p:spPr>
        <p:txBody>
          <a:bodyPr vert="horz" wrap="square" lIns="94581" tIns="47290" rIns="94581" bIns="47290" numCol="1" anchor="t" anchorCtr="0" compatLnSpc="1"/>
          <a:lstStyle>
            <a:lvl1pPr algn="r" defTabSz="946150" eaLnBrk="1" hangingPunct="1">
              <a:defRPr sz="1400"/>
            </a:lvl1pPr>
          </a:lstStyle>
          <a:p>
            <a:pPr>
              <a:defRPr/>
            </a:pPr>
            <a:fld id="{E6EDEBB0-5094-4E39-B4B2-5EEC102E25CB}"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46150" rtl="0" eaLnBrk="0" fontAlgn="base" hangingPunct="0">
        <a:spcBef>
          <a:spcPct val="0"/>
        </a:spcBef>
        <a:spcAft>
          <a:spcPct val="0"/>
        </a:spcAft>
        <a:defRPr sz="4100" b="1">
          <a:solidFill>
            <a:schemeClr val="tx2"/>
          </a:solidFill>
          <a:latin typeface="+mj-lt"/>
          <a:ea typeface="+mj-ea"/>
          <a:cs typeface="+mj-cs"/>
        </a:defRPr>
      </a:lvl1pPr>
      <a:lvl2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2pPr>
      <a:lvl3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3pPr>
      <a:lvl4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4pPr>
      <a:lvl5pPr algn="ctr" defTabSz="946150" rtl="0" eaLnBrk="0" fontAlgn="base" hangingPunct="0">
        <a:spcBef>
          <a:spcPct val="0"/>
        </a:spcBef>
        <a:spcAft>
          <a:spcPct val="0"/>
        </a:spcAft>
        <a:defRPr sz="4100" b="1">
          <a:solidFill>
            <a:schemeClr val="tx2"/>
          </a:solidFill>
          <a:latin typeface="Arial" panose="020B0604020202020204" pitchFamily="34" charset="0"/>
          <a:ea typeface="宋体" panose="02010600030101010101" pitchFamily="2" charset="-122"/>
        </a:defRPr>
      </a:lvl5pPr>
      <a:lvl6pPr marL="4572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6pPr>
      <a:lvl7pPr marL="9144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7pPr>
      <a:lvl8pPr marL="13716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8pPr>
      <a:lvl9pPr marL="1828800" algn="ctr" defTabSz="946150" rtl="0" fontAlgn="base">
        <a:spcBef>
          <a:spcPct val="0"/>
        </a:spcBef>
        <a:spcAft>
          <a:spcPct val="0"/>
        </a:spcAft>
        <a:defRPr sz="4100" b="1">
          <a:solidFill>
            <a:schemeClr val="tx2"/>
          </a:solidFill>
          <a:latin typeface="Arial" panose="020B0604020202020204" pitchFamily="34" charset="0"/>
          <a:ea typeface="宋体" panose="02010600030101010101" pitchFamily="2" charset="-122"/>
        </a:defRPr>
      </a:lvl9pPr>
    </p:titleStyle>
    <p:bodyStyle>
      <a:lvl1pPr marL="352425" indent="-352425" algn="l" defTabSz="946150" rtl="0" eaLnBrk="0" fontAlgn="base" hangingPunct="0">
        <a:spcBef>
          <a:spcPct val="20000"/>
        </a:spcBef>
        <a:spcAft>
          <a:spcPct val="0"/>
        </a:spcAft>
        <a:buChar char="•"/>
        <a:defRPr sz="2900" b="1">
          <a:solidFill>
            <a:schemeClr val="tx1"/>
          </a:solidFill>
          <a:latin typeface="+mn-lt"/>
          <a:ea typeface="+mn-ea"/>
          <a:cs typeface="+mn-cs"/>
        </a:defRPr>
      </a:lvl1pPr>
      <a:lvl2pPr marL="768350" indent="-295275" algn="l" defTabSz="946150" rtl="0" eaLnBrk="0" fontAlgn="base" hangingPunct="0">
        <a:spcBef>
          <a:spcPct val="20000"/>
        </a:spcBef>
        <a:spcAft>
          <a:spcPct val="0"/>
        </a:spcAft>
        <a:buChar char="–"/>
        <a:defRPr sz="2900" b="1">
          <a:solidFill>
            <a:schemeClr val="tx1"/>
          </a:solidFill>
          <a:latin typeface="+mn-lt"/>
          <a:ea typeface="+mn-ea"/>
        </a:defRPr>
      </a:lvl2pPr>
      <a:lvl3pPr marL="1183005" indent="-236855" algn="l" defTabSz="946150" rtl="0" eaLnBrk="0" fontAlgn="base" hangingPunct="0">
        <a:spcBef>
          <a:spcPct val="20000"/>
        </a:spcBef>
        <a:spcAft>
          <a:spcPct val="0"/>
        </a:spcAft>
        <a:buChar char="•"/>
        <a:defRPr sz="2900" b="1">
          <a:solidFill>
            <a:schemeClr val="tx1"/>
          </a:solidFill>
          <a:latin typeface="+mn-lt"/>
          <a:ea typeface="+mn-ea"/>
        </a:defRPr>
      </a:lvl3pPr>
      <a:lvl4pPr marL="1656080" indent="-236855" algn="l" defTabSz="946150" rtl="0" eaLnBrk="0" fontAlgn="base" hangingPunct="0">
        <a:spcBef>
          <a:spcPct val="20000"/>
        </a:spcBef>
        <a:spcAft>
          <a:spcPct val="0"/>
        </a:spcAft>
        <a:buChar char="–"/>
        <a:defRPr sz="2900" b="1">
          <a:solidFill>
            <a:schemeClr val="tx1"/>
          </a:solidFill>
          <a:latin typeface="+mn-lt"/>
          <a:ea typeface="+mn-ea"/>
        </a:defRPr>
      </a:lvl4pPr>
      <a:lvl5pPr marL="2129155" indent="-236855" algn="l" defTabSz="946150" rtl="0" eaLnBrk="0" fontAlgn="base" hangingPunct="0">
        <a:spcBef>
          <a:spcPct val="20000"/>
        </a:spcBef>
        <a:spcAft>
          <a:spcPct val="0"/>
        </a:spcAft>
        <a:buChar char="»"/>
        <a:defRPr sz="2900" b="1">
          <a:solidFill>
            <a:schemeClr val="tx1"/>
          </a:solidFill>
          <a:latin typeface="+mn-lt"/>
          <a:ea typeface="+mn-ea"/>
        </a:defRPr>
      </a:lvl5pPr>
      <a:lvl6pPr marL="2586355" indent="-236855" algn="l" defTabSz="946150" rtl="0" fontAlgn="base">
        <a:spcBef>
          <a:spcPct val="20000"/>
        </a:spcBef>
        <a:spcAft>
          <a:spcPct val="0"/>
        </a:spcAft>
        <a:buChar char="»"/>
        <a:defRPr sz="2900" b="1">
          <a:solidFill>
            <a:schemeClr val="tx1"/>
          </a:solidFill>
          <a:latin typeface="+mn-lt"/>
          <a:ea typeface="+mn-ea"/>
        </a:defRPr>
      </a:lvl6pPr>
      <a:lvl7pPr marL="3043555" indent="-236855" algn="l" defTabSz="946150" rtl="0" fontAlgn="base">
        <a:spcBef>
          <a:spcPct val="20000"/>
        </a:spcBef>
        <a:spcAft>
          <a:spcPct val="0"/>
        </a:spcAft>
        <a:buChar char="»"/>
        <a:defRPr sz="2900" b="1">
          <a:solidFill>
            <a:schemeClr val="tx1"/>
          </a:solidFill>
          <a:latin typeface="+mn-lt"/>
          <a:ea typeface="+mn-ea"/>
        </a:defRPr>
      </a:lvl7pPr>
      <a:lvl8pPr marL="3500755" indent="-236855" algn="l" defTabSz="946150" rtl="0" fontAlgn="base">
        <a:spcBef>
          <a:spcPct val="20000"/>
        </a:spcBef>
        <a:spcAft>
          <a:spcPct val="0"/>
        </a:spcAft>
        <a:buChar char="»"/>
        <a:defRPr sz="2900" b="1">
          <a:solidFill>
            <a:schemeClr val="tx1"/>
          </a:solidFill>
          <a:latin typeface="+mn-lt"/>
          <a:ea typeface="+mn-ea"/>
        </a:defRPr>
      </a:lvl8pPr>
      <a:lvl9pPr marL="3957955" indent="-236855" algn="l" defTabSz="946150" rtl="0" fontAlgn="base">
        <a:spcBef>
          <a:spcPct val="20000"/>
        </a:spcBef>
        <a:spcAft>
          <a:spcPct val="0"/>
        </a:spcAft>
        <a:buChar char="»"/>
        <a:defRPr sz="29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9.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4.png"/><Relationship Id="rId1" Type="http://schemas.openxmlformats.org/officeDocument/2006/relationships/image" Target="../media/image23.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9.xml"/><Relationship Id="rId5" Type="http://schemas.openxmlformats.org/officeDocument/2006/relationships/image" Target="../media/image32.png"/><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9.xml"/><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37.jpeg"/><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3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3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41.jpeg"/><Relationship Id="rId1" Type="http://schemas.openxmlformats.org/officeDocument/2006/relationships/image" Target="../media/image40.jpe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9.xml"/><Relationship Id="rId7" Type="http://schemas.openxmlformats.org/officeDocument/2006/relationships/image" Target="../media/image48.jpeg"/><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image" Target="../media/image42.jpe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29.xml"/><Relationship Id="rId7" Type="http://schemas.openxmlformats.org/officeDocument/2006/relationships/image" Target="../media/image55.jpeg"/><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image" Target="../media/image49.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image" Target="../media/image56.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0.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9.xml"/><Relationship Id="rId7" Type="http://schemas.openxmlformats.org/officeDocument/2006/relationships/oleObject" Target="../embeddings/oleObject5.bin"/><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3.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4.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5.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67.png"/><Relationship Id="rId1" Type="http://schemas.openxmlformats.org/officeDocument/2006/relationships/image" Target="../media/image6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70.png"/><Relationship Id="rId1" Type="http://schemas.openxmlformats.org/officeDocument/2006/relationships/image" Target="../media/image69.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72.png"/><Relationship Id="rId1" Type="http://schemas.openxmlformats.org/officeDocument/2006/relationships/image" Target="../media/image7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74.png"/><Relationship Id="rId1" Type="http://schemas.openxmlformats.org/officeDocument/2006/relationships/image" Target="../media/image7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7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76.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78.png"/><Relationship Id="rId1" Type="http://schemas.openxmlformats.org/officeDocument/2006/relationships/image" Target="../media/image77.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7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1.png"/><Relationship Id="rId1" Type="http://schemas.openxmlformats.org/officeDocument/2006/relationships/image" Target="../media/image80.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3.png"/><Relationship Id="rId1" Type="http://schemas.openxmlformats.org/officeDocument/2006/relationships/image" Target="../media/image8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5.png"/><Relationship Id="rId1" Type="http://schemas.openxmlformats.org/officeDocument/2006/relationships/image" Target="../media/image84.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7.png"/><Relationship Id="rId1" Type="http://schemas.openxmlformats.org/officeDocument/2006/relationships/image" Target="../media/image86.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9.png"/><Relationship Id="rId1" Type="http://schemas.openxmlformats.org/officeDocument/2006/relationships/image" Target="../media/image8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0.emf"/></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90.jpe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93.jpeg"/><Relationship Id="rId2" Type="http://schemas.openxmlformats.org/officeDocument/2006/relationships/image" Target="../media/image92.png"/><Relationship Id="rId1" Type="http://schemas.openxmlformats.org/officeDocument/2006/relationships/image" Target="../media/image91.jpe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95.png"/><Relationship Id="rId1" Type="http://schemas.openxmlformats.org/officeDocument/2006/relationships/image" Target="../media/image94.jpe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97.jpeg"/><Relationship Id="rId1" Type="http://schemas.openxmlformats.org/officeDocument/2006/relationships/image" Target="../media/image96.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99.jpeg"/><Relationship Id="rId1" Type="http://schemas.openxmlformats.org/officeDocument/2006/relationships/image" Target="../media/image98.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01.jpeg"/><Relationship Id="rId1"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03.jpeg"/><Relationship Id="rId1" Type="http://schemas.openxmlformats.org/officeDocument/2006/relationships/image" Target="../media/image102.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05.png"/><Relationship Id="rId1" Type="http://schemas.openxmlformats.org/officeDocument/2006/relationships/image" Target="../media/image104.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07.jpeg"/><Relationship Id="rId1" Type="http://schemas.openxmlformats.org/officeDocument/2006/relationships/image" Target="../media/image106.jpe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4.xml"/><Relationship Id="rId2" Type="http://schemas.openxmlformats.org/officeDocument/2006/relationships/image" Target="../media/image109.jpeg"/><Relationship Id="rId1" Type="http://schemas.openxmlformats.org/officeDocument/2006/relationships/image" Target="../media/image108.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11.jpeg"/><Relationship Id="rId1" Type="http://schemas.openxmlformats.org/officeDocument/2006/relationships/image" Target="../media/image110.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12.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115.jpeg"/><Relationship Id="rId2" Type="http://schemas.openxmlformats.org/officeDocument/2006/relationships/image" Target="../media/image114.jpeg"/><Relationship Id="rId1" Type="http://schemas.openxmlformats.org/officeDocument/2006/relationships/image" Target="../media/image113.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17.png"/><Relationship Id="rId1" Type="http://schemas.openxmlformats.org/officeDocument/2006/relationships/image" Target="../media/image116.jpe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19.png"/><Relationship Id="rId1" Type="http://schemas.openxmlformats.org/officeDocument/2006/relationships/image" Target="../media/image118.jpe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1.png"/><Relationship Id="rId1" Type="http://schemas.openxmlformats.org/officeDocument/2006/relationships/image" Target="../media/image120.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3.png"/><Relationship Id="rId1" Type="http://schemas.openxmlformats.org/officeDocument/2006/relationships/image" Target="../media/image122.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5.jpeg"/><Relationship Id="rId1" Type="http://schemas.openxmlformats.org/officeDocument/2006/relationships/image" Target="../media/image124.jpe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7.png"/><Relationship Id="rId1" Type="http://schemas.openxmlformats.org/officeDocument/2006/relationships/image" Target="../media/image126.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9.png"/><Relationship Id="rId1" Type="http://schemas.openxmlformats.org/officeDocument/2006/relationships/image" Target="../media/image128.jpe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31.png"/><Relationship Id="rId1" Type="http://schemas.openxmlformats.org/officeDocument/2006/relationships/image" Target="../media/image130.jpe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image" Target="../media/image132.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35.jpe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36.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37.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audio" Target="../media/audio1.wav"/><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image" Target="../media/image13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44.jpe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46.jpeg"/><Relationship Id="rId1" Type="http://schemas.openxmlformats.org/officeDocument/2006/relationships/image" Target="../media/image145.jpeg"/></Relationships>
</file>

<file path=ppt/slides/_rels/slide7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9.xml"/><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image" Target="../media/image14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150.png"/><Relationship Id="rId2" Type="http://schemas.microsoft.com/office/2007/relationships/media" Target="../media/media1.mp4"/><Relationship Id="rId1" Type="http://schemas.openxmlformats.org/officeDocument/2006/relationships/video" Target="../media/media1.mp4"/></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5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52.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53.jpe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image" Target="../media/image154.jpe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4.xml"/><Relationship Id="rId1" Type="http://schemas.openxmlformats.org/officeDocument/2006/relationships/image" Target="../media/image155.jpe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4.xml"/><Relationship Id="rId1" Type="http://schemas.openxmlformats.org/officeDocument/2006/relationships/image" Target="../media/image156.jpe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57.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59.png"/><Relationship Id="rId1" Type="http://schemas.openxmlformats.org/officeDocument/2006/relationships/image" Target="../media/image158.jpe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61.png"/><Relationship Id="rId1" Type="http://schemas.openxmlformats.org/officeDocument/2006/relationships/image" Target="../media/image160.png"/></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image" Target="../media/image165.jpeg"/><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image" Target="../media/image16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66.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68.png"/><Relationship Id="rId1" Type="http://schemas.openxmlformats.org/officeDocument/2006/relationships/image" Target="../media/image167.jpe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69.jpe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71.jpeg"/><Relationship Id="rId1" Type="http://schemas.openxmlformats.org/officeDocument/2006/relationships/image" Target="../media/image170.jpe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72.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74.jpeg"/><Relationship Id="rId1" Type="http://schemas.openxmlformats.org/officeDocument/2006/relationships/image" Target="../media/image173.jpe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75.png"/></Relationships>
</file>

<file path=ppt/slides/_rels/slide104.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image" Target="../media/image179.png"/><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image" Target="../media/image17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80.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82.png"/><Relationship Id="rId1" Type="http://schemas.openxmlformats.org/officeDocument/2006/relationships/image" Target="../media/image181.jpe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84.png"/><Relationship Id="rId1" Type="http://schemas.openxmlformats.org/officeDocument/2006/relationships/image" Target="../media/image183.jpe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85.jpe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87.png"/><Relationship Id="rId1" Type="http://schemas.openxmlformats.org/officeDocument/2006/relationships/image" Target="../media/image186.jpe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5.xml.rels><?xml version="1.0" encoding="UTF-8" standalone="yes"?>
<Relationships xmlns="http://schemas.openxmlformats.org/package/2006/relationships"><Relationship Id="rId9" Type="http://schemas.openxmlformats.org/officeDocument/2006/relationships/image" Target="../media/image196.jpeg"/><Relationship Id="rId8" Type="http://schemas.openxmlformats.org/officeDocument/2006/relationships/image" Target="../media/image195.jpeg"/><Relationship Id="rId7" Type="http://schemas.openxmlformats.org/officeDocument/2006/relationships/image" Target="../media/image194.jpeg"/><Relationship Id="rId6" Type="http://schemas.openxmlformats.org/officeDocument/2006/relationships/image" Target="../media/image193.jpeg"/><Relationship Id="rId5" Type="http://schemas.openxmlformats.org/officeDocument/2006/relationships/image" Target="../media/image192.jpeg"/><Relationship Id="rId4" Type="http://schemas.openxmlformats.org/officeDocument/2006/relationships/image" Target="../media/image191.jpeg"/><Relationship Id="rId3" Type="http://schemas.openxmlformats.org/officeDocument/2006/relationships/image" Target="../media/image190.jpeg"/><Relationship Id="rId2" Type="http://schemas.openxmlformats.org/officeDocument/2006/relationships/image" Target="../media/image189.jpeg"/><Relationship Id="rId10" Type="http://schemas.openxmlformats.org/officeDocument/2006/relationships/slideLayout" Target="../slideLayouts/slideLayout29.xml"/><Relationship Id="rId1" Type="http://schemas.openxmlformats.org/officeDocument/2006/relationships/image" Target="../media/image188.jpe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98.jpeg"/><Relationship Id="rId1" Type="http://schemas.openxmlformats.org/officeDocument/2006/relationships/image" Target="../media/image19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9.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202.wmf"/><Relationship Id="rId7" Type="http://schemas.openxmlformats.org/officeDocument/2006/relationships/oleObject" Target="../embeddings/oleObject9.bin"/><Relationship Id="rId6" Type="http://schemas.openxmlformats.org/officeDocument/2006/relationships/image" Target="../media/image201.wmf"/><Relationship Id="rId5" Type="http://schemas.openxmlformats.org/officeDocument/2006/relationships/oleObject" Target="../embeddings/oleObject8.bin"/><Relationship Id="rId4" Type="http://schemas.openxmlformats.org/officeDocument/2006/relationships/image" Target="../media/image200.wmf"/><Relationship Id="rId3" Type="http://schemas.openxmlformats.org/officeDocument/2006/relationships/oleObject" Target="../embeddings/oleObject7.bin"/><Relationship Id="rId2" Type="http://schemas.openxmlformats.org/officeDocument/2006/relationships/image" Target="../media/image199.emf"/><Relationship Id="rId18" Type="http://schemas.openxmlformats.org/officeDocument/2006/relationships/vmlDrawing" Target="../drawings/vmlDrawing2.vml"/><Relationship Id="rId17" Type="http://schemas.openxmlformats.org/officeDocument/2006/relationships/slideLayout" Target="../slideLayouts/slideLayout24.xml"/><Relationship Id="rId16" Type="http://schemas.openxmlformats.org/officeDocument/2006/relationships/audio" Target="../media/audio5.wav"/><Relationship Id="rId15" Type="http://schemas.openxmlformats.org/officeDocument/2006/relationships/audio" Target="../media/audio4.wav"/><Relationship Id="rId14" Type="http://schemas.openxmlformats.org/officeDocument/2006/relationships/audio" Target="../media/audio3.wav"/><Relationship Id="rId13" Type="http://schemas.openxmlformats.org/officeDocument/2006/relationships/audio" Target="../media/audio2.wav"/><Relationship Id="rId12" Type="http://schemas.openxmlformats.org/officeDocument/2006/relationships/image" Target="../media/image204.wmf"/><Relationship Id="rId11" Type="http://schemas.openxmlformats.org/officeDocument/2006/relationships/oleObject" Target="../embeddings/oleObject11.bin"/><Relationship Id="rId10" Type="http://schemas.openxmlformats.org/officeDocument/2006/relationships/image" Target="../media/image203.wmf"/><Relationship Id="rId1" Type="http://schemas.openxmlformats.org/officeDocument/2006/relationships/oleObject" Target="../embeddings/oleObject6.bin"/></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205.png"/></Relationships>
</file>

<file path=ppt/slides/_rels/slide131.xml.rels><?xml version="1.0" encoding="UTF-8" standalone="yes"?>
<Relationships xmlns="http://schemas.openxmlformats.org/package/2006/relationships"><Relationship Id="rId9" Type="http://schemas.openxmlformats.org/officeDocument/2006/relationships/image" Target="../media/image209.wmf"/><Relationship Id="rId8" Type="http://schemas.openxmlformats.org/officeDocument/2006/relationships/oleObject" Target="../embeddings/oleObject14.bin"/><Relationship Id="rId7" Type="http://schemas.openxmlformats.org/officeDocument/2006/relationships/image" Target="../media/image208.wmf"/><Relationship Id="rId6" Type="http://schemas.openxmlformats.org/officeDocument/2006/relationships/oleObject" Target="../embeddings/oleObject13.bin"/><Relationship Id="rId5" Type="http://schemas.openxmlformats.org/officeDocument/2006/relationships/image" Target="../media/image207.wmf"/><Relationship Id="rId4" Type="http://schemas.openxmlformats.org/officeDocument/2006/relationships/oleObject" Target="../embeddings/oleObject12.bin"/><Relationship Id="rId3" Type="http://schemas.openxmlformats.org/officeDocument/2006/relationships/image" Target="../media/image206.jpeg"/><Relationship Id="rId2" Type="http://schemas.microsoft.com/office/2007/relationships/media" Target="file:///C:\&#20114;&#32852;&#32593;~2\Playnet.avi" TargetMode="External"/><Relationship Id="rId19" Type="http://schemas.openxmlformats.org/officeDocument/2006/relationships/vmlDrawing" Target="../drawings/vmlDrawing3.vml"/><Relationship Id="rId18" Type="http://schemas.openxmlformats.org/officeDocument/2006/relationships/slideLayout" Target="../slideLayouts/slideLayout24.xml"/><Relationship Id="rId17" Type="http://schemas.openxmlformats.org/officeDocument/2006/relationships/audio" Target="../media/audio9.wav"/><Relationship Id="rId16" Type="http://schemas.openxmlformats.org/officeDocument/2006/relationships/audio" Target="../media/audio8.wav"/><Relationship Id="rId15" Type="http://schemas.openxmlformats.org/officeDocument/2006/relationships/audio" Target="../media/audio7.wav"/><Relationship Id="rId14" Type="http://schemas.openxmlformats.org/officeDocument/2006/relationships/audio" Target="../media/audio6.wav"/><Relationship Id="rId13" Type="http://schemas.openxmlformats.org/officeDocument/2006/relationships/image" Target="../media/image211.wmf"/><Relationship Id="rId12" Type="http://schemas.openxmlformats.org/officeDocument/2006/relationships/oleObject" Target="../embeddings/oleObject16.bin"/><Relationship Id="rId11" Type="http://schemas.openxmlformats.org/officeDocument/2006/relationships/image" Target="../media/image210.wmf"/><Relationship Id="rId10" Type="http://schemas.openxmlformats.org/officeDocument/2006/relationships/oleObject" Target="../embeddings/oleObject15.bin"/><Relationship Id="rId1" Type="http://schemas.openxmlformats.org/officeDocument/2006/relationships/video" Target="file:///C:\&#20114;&#32852;&#32593;~2\Playnet.avi" TargetMode="Externa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212.jpeg"/></Relationships>
</file>

<file path=ppt/slides/_rels/slide133.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16.wmf"/><Relationship Id="rId7" Type="http://schemas.openxmlformats.org/officeDocument/2006/relationships/oleObject" Target="../embeddings/oleObject20.bin"/><Relationship Id="rId6" Type="http://schemas.openxmlformats.org/officeDocument/2006/relationships/image" Target="../media/image215.wmf"/><Relationship Id="rId5" Type="http://schemas.openxmlformats.org/officeDocument/2006/relationships/oleObject" Target="../embeddings/oleObject19.bin"/><Relationship Id="rId4" Type="http://schemas.openxmlformats.org/officeDocument/2006/relationships/image" Target="../media/image214.wmf"/><Relationship Id="rId3" Type="http://schemas.openxmlformats.org/officeDocument/2006/relationships/oleObject" Target="../embeddings/oleObject18.bin"/><Relationship Id="rId26" Type="http://schemas.openxmlformats.org/officeDocument/2006/relationships/vmlDrawing" Target="../drawings/vmlDrawing4.vml"/><Relationship Id="rId25" Type="http://schemas.openxmlformats.org/officeDocument/2006/relationships/slideLayout" Target="../slideLayouts/slideLayout24.xml"/><Relationship Id="rId24" Type="http://schemas.openxmlformats.org/officeDocument/2006/relationships/audio" Target="../media/audio8.wav"/><Relationship Id="rId23" Type="http://schemas.openxmlformats.org/officeDocument/2006/relationships/audio" Target="../media/audio11.wav"/><Relationship Id="rId22" Type="http://schemas.openxmlformats.org/officeDocument/2006/relationships/audio" Target="../media/audio9.wav"/><Relationship Id="rId21" Type="http://schemas.openxmlformats.org/officeDocument/2006/relationships/audio" Target="../media/audio10.wav"/><Relationship Id="rId20" Type="http://schemas.openxmlformats.org/officeDocument/2006/relationships/image" Target="../media/image209.wmf"/><Relationship Id="rId2" Type="http://schemas.openxmlformats.org/officeDocument/2006/relationships/image" Target="../media/image213.wmf"/><Relationship Id="rId19" Type="http://schemas.openxmlformats.org/officeDocument/2006/relationships/oleObject" Target="../embeddings/oleObject26.bin"/><Relationship Id="rId18" Type="http://schemas.openxmlformats.org/officeDocument/2006/relationships/image" Target="../media/image221.wmf"/><Relationship Id="rId17" Type="http://schemas.openxmlformats.org/officeDocument/2006/relationships/oleObject" Target="../embeddings/oleObject25.bin"/><Relationship Id="rId16" Type="http://schemas.openxmlformats.org/officeDocument/2006/relationships/image" Target="../media/image220.wmf"/><Relationship Id="rId15" Type="http://schemas.openxmlformats.org/officeDocument/2006/relationships/oleObject" Target="../embeddings/oleObject24.bin"/><Relationship Id="rId14" Type="http://schemas.openxmlformats.org/officeDocument/2006/relationships/image" Target="../media/image219.wmf"/><Relationship Id="rId13" Type="http://schemas.openxmlformats.org/officeDocument/2006/relationships/oleObject" Target="../embeddings/oleObject23.bin"/><Relationship Id="rId12" Type="http://schemas.openxmlformats.org/officeDocument/2006/relationships/image" Target="../media/image218.wmf"/><Relationship Id="rId11" Type="http://schemas.openxmlformats.org/officeDocument/2006/relationships/oleObject" Target="../embeddings/oleObject22.bin"/><Relationship Id="rId10" Type="http://schemas.openxmlformats.org/officeDocument/2006/relationships/image" Target="../media/image217.wmf"/><Relationship Id="rId1" Type="http://schemas.openxmlformats.org/officeDocument/2006/relationships/oleObject" Target="../embeddings/oleObject17.bin"/></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222.jpeg"/></Relationships>
</file>

<file path=ppt/slides/_rels/slide135.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225.png"/><Relationship Id="rId2" Type="http://schemas.openxmlformats.org/officeDocument/2006/relationships/image" Target="../media/image224.png"/><Relationship Id="rId1" Type="http://schemas.openxmlformats.org/officeDocument/2006/relationships/image" Target="../media/image223.png"/></Relationships>
</file>

<file path=ppt/slides/_rels/slide136.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image" Target="../media/image232.jpeg"/><Relationship Id="rId6" Type="http://schemas.openxmlformats.org/officeDocument/2006/relationships/image" Target="../media/image231.jpeg"/><Relationship Id="rId5" Type="http://schemas.openxmlformats.org/officeDocument/2006/relationships/image" Target="../media/image230.jpeg"/><Relationship Id="rId4" Type="http://schemas.openxmlformats.org/officeDocument/2006/relationships/image" Target="../media/image229.png"/><Relationship Id="rId3" Type="http://schemas.openxmlformats.org/officeDocument/2006/relationships/image" Target="../media/image228.png"/><Relationship Id="rId2" Type="http://schemas.openxmlformats.org/officeDocument/2006/relationships/image" Target="../media/image227.png"/><Relationship Id="rId1" Type="http://schemas.openxmlformats.org/officeDocument/2006/relationships/image" Target="../media/image226.png"/></Relationships>
</file>

<file path=ppt/slides/_rels/slide137.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233.jpeg"/><Relationship Id="rId7" Type="http://schemas.openxmlformats.org/officeDocument/2006/relationships/image" Target="../media/image232.jpeg"/><Relationship Id="rId6" Type="http://schemas.openxmlformats.org/officeDocument/2006/relationships/image" Target="../media/image231.jpeg"/><Relationship Id="rId5" Type="http://schemas.openxmlformats.org/officeDocument/2006/relationships/image" Target="../media/image230.jpeg"/><Relationship Id="rId4" Type="http://schemas.openxmlformats.org/officeDocument/2006/relationships/image" Target="../media/image229.png"/><Relationship Id="rId3" Type="http://schemas.openxmlformats.org/officeDocument/2006/relationships/image" Target="../media/image228.png"/><Relationship Id="rId2" Type="http://schemas.openxmlformats.org/officeDocument/2006/relationships/image" Target="../media/image227.png"/><Relationship Id="rId1" Type="http://schemas.openxmlformats.org/officeDocument/2006/relationships/image" Target="../media/image226.png"/></Relationships>
</file>

<file path=ppt/slides/_rels/slide138.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237.png"/><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image" Target="../media/image234.jpeg"/></Relationships>
</file>

<file path=ppt/slides/_rels/slide139.xml.rels><?xml version="1.0" encoding="UTF-8" standalone="yes"?>
<Relationships xmlns="http://schemas.openxmlformats.org/package/2006/relationships"><Relationship Id="rId9" Type="http://schemas.openxmlformats.org/officeDocument/2006/relationships/image" Target="../media/image245.png"/><Relationship Id="rId8" Type="http://schemas.openxmlformats.org/officeDocument/2006/relationships/image" Target="../media/image244.png"/><Relationship Id="rId7" Type="http://schemas.openxmlformats.org/officeDocument/2006/relationships/image" Target="../media/image243.png"/><Relationship Id="rId6" Type="http://schemas.openxmlformats.org/officeDocument/2006/relationships/image" Target="../media/image242.png"/><Relationship Id="rId5" Type="http://schemas.openxmlformats.org/officeDocument/2006/relationships/image" Target="../media/image235.png"/><Relationship Id="rId4" Type="http://schemas.openxmlformats.org/officeDocument/2006/relationships/image" Target="../media/image241.png"/><Relationship Id="rId3" Type="http://schemas.openxmlformats.org/officeDocument/2006/relationships/image" Target="../media/image240.png"/><Relationship Id="rId2" Type="http://schemas.openxmlformats.org/officeDocument/2006/relationships/image" Target="../media/image239.png"/><Relationship Id="rId13" Type="http://schemas.openxmlformats.org/officeDocument/2006/relationships/slideLayout" Target="../slideLayouts/slideLayout24.xml"/><Relationship Id="rId12" Type="http://schemas.openxmlformats.org/officeDocument/2006/relationships/image" Target="../media/image248.png"/><Relationship Id="rId11" Type="http://schemas.openxmlformats.org/officeDocument/2006/relationships/image" Target="../media/image247.png"/><Relationship Id="rId10" Type="http://schemas.openxmlformats.org/officeDocument/2006/relationships/image" Target="../media/image246.png"/><Relationship Id="rId1" Type="http://schemas.openxmlformats.org/officeDocument/2006/relationships/image" Target="../media/image238.png"/></Relationships>
</file>

<file path=ppt/slides/_rels/slide140.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hyperlink" Target="http://www.cnet.com/news/internet-outage-dyn-ddos-attack-twitter-spotify/" TargetMode="External"/><Relationship Id="rId6" Type="http://schemas.openxmlformats.org/officeDocument/2006/relationships/image" Target="../media/image250.jpeg"/><Relationship Id="rId5" Type="http://schemas.openxmlformats.org/officeDocument/2006/relationships/image" Target="../media/image249.jpeg"/><Relationship Id="rId4" Type="http://schemas.openxmlformats.org/officeDocument/2006/relationships/image" Target="../media/image242.png"/><Relationship Id="rId3" Type="http://schemas.openxmlformats.org/officeDocument/2006/relationships/image" Target="../media/image235.png"/><Relationship Id="rId2" Type="http://schemas.openxmlformats.org/officeDocument/2006/relationships/image" Target="../media/image241.png"/><Relationship Id="rId1" Type="http://schemas.openxmlformats.org/officeDocument/2006/relationships/image" Target="../media/image240.png"/></Relationships>
</file>

<file path=ppt/slides/_rels/slide141.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image" Target="../media/image254.png"/><Relationship Id="rId5" Type="http://schemas.openxmlformats.org/officeDocument/2006/relationships/image" Target="../media/image253.png"/><Relationship Id="rId4" Type="http://schemas.openxmlformats.org/officeDocument/2006/relationships/image" Target="../media/image252.png"/><Relationship Id="rId3" Type="http://schemas.openxmlformats.org/officeDocument/2006/relationships/image" Target="../media/image235.png"/><Relationship Id="rId2" Type="http://schemas.openxmlformats.org/officeDocument/2006/relationships/image" Target="../media/image251.png"/><Relationship Id="rId1" Type="http://schemas.openxmlformats.org/officeDocument/2006/relationships/image" Target="../media/image240.png"/></Relationships>
</file>

<file path=ppt/slides/_rels/slide142.xml.rels><?xml version="1.0" encoding="UTF-8" standalone="yes"?>
<Relationships xmlns="http://schemas.openxmlformats.org/package/2006/relationships"><Relationship Id="rId9" Type="http://schemas.openxmlformats.org/officeDocument/2006/relationships/image" Target="../media/image259.jpeg"/><Relationship Id="rId8" Type="http://schemas.openxmlformats.org/officeDocument/2006/relationships/image" Target="../media/image258.png"/><Relationship Id="rId7" Type="http://schemas.openxmlformats.org/officeDocument/2006/relationships/image" Target="../media/image257.jpeg"/><Relationship Id="rId6" Type="http://schemas.openxmlformats.org/officeDocument/2006/relationships/image" Target="../media/image256.png"/><Relationship Id="rId5" Type="http://schemas.openxmlformats.org/officeDocument/2006/relationships/image" Target="../media/image255.jpeg"/><Relationship Id="rId4" Type="http://schemas.openxmlformats.org/officeDocument/2006/relationships/image" Target="../media/image252.png"/><Relationship Id="rId3" Type="http://schemas.openxmlformats.org/officeDocument/2006/relationships/image" Target="../media/image235.png"/><Relationship Id="rId2" Type="http://schemas.openxmlformats.org/officeDocument/2006/relationships/image" Target="../media/image251.png"/><Relationship Id="rId15" Type="http://schemas.openxmlformats.org/officeDocument/2006/relationships/slideLayout" Target="../slideLayouts/slideLayout24.xml"/><Relationship Id="rId14" Type="http://schemas.openxmlformats.org/officeDocument/2006/relationships/image" Target="../media/image264.png"/><Relationship Id="rId13" Type="http://schemas.openxmlformats.org/officeDocument/2006/relationships/image" Target="../media/image263.png"/><Relationship Id="rId12" Type="http://schemas.openxmlformats.org/officeDocument/2006/relationships/image" Target="../media/image262.jpeg"/><Relationship Id="rId11" Type="http://schemas.openxmlformats.org/officeDocument/2006/relationships/image" Target="../media/image261.png"/><Relationship Id="rId10" Type="http://schemas.openxmlformats.org/officeDocument/2006/relationships/image" Target="../media/image260.png"/><Relationship Id="rId1" Type="http://schemas.openxmlformats.org/officeDocument/2006/relationships/image" Target="../media/image240.png"/></Relationships>
</file>

<file path=ppt/slides/_rels/slide143.xml.rels><?xml version="1.0" encoding="UTF-8" standalone="yes"?>
<Relationships xmlns="http://schemas.openxmlformats.org/package/2006/relationships"><Relationship Id="rId9" Type="http://schemas.openxmlformats.org/officeDocument/2006/relationships/image" Target="../media/image259.jpeg"/><Relationship Id="rId8" Type="http://schemas.openxmlformats.org/officeDocument/2006/relationships/image" Target="../media/image258.png"/><Relationship Id="rId7" Type="http://schemas.openxmlformats.org/officeDocument/2006/relationships/image" Target="../media/image257.jpeg"/><Relationship Id="rId6" Type="http://schemas.openxmlformats.org/officeDocument/2006/relationships/image" Target="../media/image256.png"/><Relationship Id="rId5" Type="http://schemas.openxmlformats.org/officeDocument/2006/relationships/image" Target="../media/image255.jpeg"/><Relationship Id="rId4" Type="http://schemas.openxmlformats.org/officeDocument/2006/relationships/image" Target="../media/image252.png"/><Relationship Id="rId3" Type="http://schemas.openxmlformats.org/officeDocument/2006/relationships/image" Target="../media/image235.png"/><Relationship Id="rId2" Type="http://schemas.openxmlformats.org/officeDocument/2006/relationships/image" Target="../media/image251.png"/><Relationship Id="rId17" Type="http://schemas.openxmlformats.org/officeDocument/2006/relationships/slideLayout" Target="../slideLayouts/slideLayout24.xml"/><Relationship Id="rId16" Type="http://schemas.openxmlformats.org/officeDocument/2006/relationships/image" Target="../media/image266.jpeg"/><Relationship Id="rId15" Type="http://schemas.openxmlformats.org/officeDocument/2006/relationships/image" Target="../media/image265.png"/><Relationship Id="rId14" Type="http://schemas.openxmlformats.org/officeDocument/2006/relationships/image" Target="../media/image264.png"/><Relationship Id="rId13" Type="http://schemas.openxmlformats.org/officeDocument/2006/relationships/image" Target="../media/image263.png"/><Relationship Id="rId12" Type="http://schemas.openxmlformats.org/officeDocument/2006/relationships/image" Target="../media/image262.jpeg"/><Relationship Id="rId11" Type="http://schemas.openxmlformats.org/officeDocument/2006/relationships/image" Target="../media/image261.png"/><Relationship Id="rId10" Type="http://schemas.openxmlformats.org/officeDocument/2006/relationships/image" Target="../media/image260.png"/><Relationship Id="rId1" Type="http://schemas.openxmlformats.org/officeDocument/2006/relationships/image" Target="../media/image240.png"/></Relationships>
</file>

<file path=ppt/slides/_rels/slide144.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image" Target="../media/image271.png"/><Relationship Id="rId6" Type="http://schemas.openxmlformats.org/officeDocument/2006/relationships/image" Target="../media/image270.png"/><Relationship Id="rId5" Type="http://schemas.openxmlformats.org/officeDocument/2006/relationships/image" Target="../media/image269.png"/><Relationship Id="rId4" Type="http://schemas.openxmlformats.org/officeDocument/2006/relationships/image" Target="../media/image235.png"/><Relationship Id="rId3" Type="http://schemas.openxmlformats.org/officeDocument/2006/relationships/image" Target="../media/image268.png"/><Relationship Id="rId2" Type="http://schemas.openxmlformats.org/officeDocument/2006/relationships/image" Target="../media/image240.png"/><Relationship Id="rId1" Type="http://schemas.openxmlformats.org/officeDocument/2006/relationships/image" Target="../media/image267.png"/></Relationships>
</file>

<file path=ppt/slides/_rels/slide145.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image" Target="../media/image273.jpeg"/><Relationship Id="rId5" Type="http://schemas.openxmlformats.org/officeDocument/2006/relationships/image" Target="../media/image272.jpeg"/><Relationship Id="rId4" Type="http://schemas.openxmlformats.org/officeDocument/2006/relationships/image" Target="../media/image269.png"/><Relationship Id="rId3" Type="http://schemas.openxmlformats.org/officeDocument/2006/relationships/image" Target="../media/image235.png"/><Relationship Id="rId2" Type="http://schemas.openxmlformats.org/officeDocument/2006/relationships/image" Target="../media/image268.png"/><Relationship Id="rId1" Type="http://schemas.openxmlformats.org/officeDocument/2006/relationships/image" Target="../media/image240.png"/></Relationships>
</file>

<file path=ppt/slides/_rels/slide146.xml.rels><?xml version="1.0" encoding="UTF-8" standalone="yes"?>
<Relationships xmlns="http://schemas.openxmlformats.org/package/2006/relationships"><Relationship Id="rId9" Type="http://schemas.openxmlformats.org/officeDocument/2006/relationships/image" Target="../media/image280.png"/><Relationship Id="rId8" Type="http://schemas.openxmlformats.org/officeDocument/2006/relationships/image" Target="../media/image279.png"/><Relationship Id="rId7" Type="http://schemas.openxmlformats.org/officeDocument/2006/relationships/image" Target="../media/image278.png"/><Relationship Id="rId6" Type="http://schemas.openxmlformats.org/officeDocument/2006/relationships/image" Target="../media/image277.png"/><Relationship Id="rId5" Type="http://schemas.openxmlformats.org/officeDocument/2006/relationships/image" Target="../media/image276.png"/><Relationship Id="rId4" Type="http://schemas.openxmlformats.org/officeDocument/2006/relationships/image" Target="../media/image275.png"/><Relationship Id="rId3" Type="http://schemas.openxmlformats.org/officeDocument/2006/relationships/image" Target="../media/image235.png"/><Relationship Id="rId2" Type="http://schemas.openxmlformats.org/officeDocument/2006/relationships/image" Target="../media/image274.png"/><Relationship Id="rId10" Type="http://schemas.openxmlformats.org/officeDocument/2006/relationships/slideLayout" Target="../slideLayouts/slideLayout24.xml"/><Relationship Id="rId1" Type="http://schemas.openxmlformats.org/officeDocument/2006/relationships/image" Target="../media/image240.png"/></Relationships>
</file>

<file path=ppt/slides/_rels/slide147.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284.png"/><Relationship Id="rId7" Type="http://schemas.openxmlformats.org/officeDocument/2006/relationships/image" Target="../media/image283.png"/><Relationship Id="rId6" Type="http://schemas.openxmlformats.org/officeDocument/2006/relationships/image" Target="../media/image282.png"/><Relationship Id="rId5" Type="http://schemas.openxmlformats.org/officeDocument/2006/relationships/image" Target="../media/image281.png"/><Relationship Id="rId4" Type="http://schemas.openxmlformats.org/officeDocument/2006/relationships/image" Target="../media/image275.png"/><Relationship Id="rId3" Type="http://schemas.openxmlformats.org/officeDocument/2006/relationships/image" Target="../media/image235.png"/><Relationship Id="rId2" Type="http://schemas.openxmlformats.org/officeDocument/2006/relationships/image" Target="../media/image274.png"/><Relationship Id="rId1" Type="http://schemas.openxmlformats.org/officeDocument/2006/relationships/image" Target="../media/image240.pn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285.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1385278" y="2797908"/>
            <a:ext cx="9212384" cy="1182370"/>
          </a:xfrm>
          <a:prstGeom prst="rect">
            <a:avLst/>
          </a:prstGeom>
          <a:noFill/>
          <a:ln w="9525">
            <a:noFill/>
            <a:miter lim="800000"/>
          </a:ln>
        </p:spPr>
        <p:txBody>
          <a:bodyPr>
            <a:spAutoFit/>
          </a:bodyPr>
          <a:lstStyle>
            <a:defPPr>
              <a:defRPr lang="en-US"/>
            </a:defPPr>
            <a:lvl1pPr algn="l" rtl="0" fontAlgn="base">
              <a:lnSpc>
                <a:spcPct val="90000"/>
              </a:lnSpc>
              <a:spcBef>
                <a:spcPct val="0"/>
              </a:spcBef>
              <a:spcAft>
                <a:spcPct val="0"/>
              </a:spcAft>
              <a:defRPr kumimoji="1" sz="4800" b="1" kern="1200">
                <a:solidFill>
                  <a:srgbClr val="FF0000"/>
                </a:solidFill>
                <a:latin typeface="隶书" panose="02010509060101010101" pitchFamily="49" charset="-122"/>
                <a:ea typeface="隶书" panose="02010509060101010101" pitchFamily="49" charset="-122"/>
                <a:cs typeface="+mn-cs"/>
              </a:defRPr>
            </a:lvl1pPr>
            <a:lvl2pPr marL="457200" algn="l" rtl="0" fontAlgn="base">
              <a:lnSpc>
                <a:spcPct val="90000"/>
              </a:lnSpc>
              <a:spcBef>
                <a:spcPct val="0"/>
              </a:spcBef>
              <a:spcAft>
                <a:spcPct val="0"/>
              </a:spcAft>
              <a:defRPr kumimoji="1" sz="4800" b="1" kern="1200">
                <a:solidFill>
                  <a:srgbClr val="FF0000"/>
                </a:solidFill>
                <a:latin typeface="隶书" panose="02010509060101010101" pitchFamily="49" charset="-122"/>
                <a:ea typeface="隶书" panose="02010509060101010101" pitchFamily="49" charset="-122"/>
                <a:cs typeface="+mn-cs"/>
              </a:defRPr>
            </a:lvl2pPr>
            <a:lvl3pPr marL="914400" algn="l" rtl="0" fontAlgn="base">
              <a:lnSpc>
                <a:spcPct val="90000"/>
              </a:lnSpc>
              <a:spcBef>
                <a:spcPct val="0"/>
              </a:spcBef>
              <a:spcAft>
                <a:spcPct val="0"/>
              </a:spcAft>
              <a:defRPr kumimoji="1" sz="4800" b="1" kern="1200">
                <a:solidFill>
                  <a:srgbClr val="FF0000"/>
                </a:solidFill>
                <a:latin typeface="隶书" panose="02010509060101010101" pitchFamily="49" charset="-122"/>
                <a:ea typeface="隶书" panose="02010509060101010101" pitchFamily="49" charset="-122"/>
                <a:cs typeface="+mn-cs"/>
              </a:defRPr>
            </a:lvl3pPr>
            <a:lvl4pPr marL="1371600" algn="l" rtl="0" fontAlgn="base">
              <a:lnSpc>
                <a:spcPct val="90000"/>
              </a:lnSpc>
              <a:spcBef>
                <a:spcPct val="0"/>
              </a:spcBef>
              <a:spcAft>
                <a:spcPct val="0"/>
              </a:spcAft>
              <a:defRPr kumimoji="1" sz="4800" b="1" kern="1200">
                <a:solidFill>
                  <a:srgbClr val="FF0000"/>
                </a:solidFill>
                <a:latin typeface="隶书" panose="02010509060101010101" pitchFamily="49" charset="-122"/>
                <a:ea typeface="隶书" panose="02010509060101010101" pitchFamily="49" charset="-122"/>
                <a:cs typeface="+mn-cs"/>
              </a:defRPr>
            </a:lvl4pPr>
            <a:lvl5pPr marL="1828800" algn="l" rtl="0" fontAlgn="base">
              <a:lnSpc>
                <a:spcPct val="90000"/>
              </a:lnSpc>
              <a:spcBef>
                <a:spcPct val="0"/>
              </a:spcBef>
              <a:spcAft>
                <a:spcPct val="0"/>
              </a:spcAft>
              <a:defRPr kumimoji="1" sz="4800" b="1" kern="1200">
                <a:solidFill>
                  <a:srgbClr val="FF0000"/>
                </a:solidFill>
                <a:latin typeface="隶书" panose="02010509060101010101" pitchFamily="49" charset="-122"/>
                <a:ea typeface="隶书" panose="02010509060101010101" pitchFamily="49" charset="-122"/>
                <a:cs typeface="+mn-cs"/>
              </a:defRPr>
            </a:lvl5pPr>
            <a:lvl6pPr marL="2286000" algn="l" defTabSz="914400" rtl="0" eaLnBrk="1" latinLnBrk="0" hangingPunct="1">
              <a:defRPr kumimoji="1" sz="4800" b="1" kern="1200">
                <a:solidFill>
                  <a:srgbClr val="FF0000"/>
                </a:solidFill>
                <a:latin typeface="隶书" panose="02010509060101010101" pitchFamily="49" charset="-122"/>
                <a:ea typeface="隶书" panose="02010509060101010101" pitchFamily="49" charset="-122"/>
                <a:cs typeface="+mn-cs"/>
              </a:defRPr>
            </a:lvl6pPr>
            <a:lvl7pPr marL="2743200" algn="l" defTabSz="914400" rtl="0" eaLnBrk="1" latinLnBrk="0" hangingPunct="1">
              <a:defRPr kumimoji="1" sz="4800" b="1" kern="1200">
                <a:solidFill>
                  <a:srgbClr val="FF0000"/>
                </a:solidFill>
                <a:latin typeface="隶书" panose="02010509060101010101" pitchFamily="49" charset="-122"/>
                <a:ea typeface="隶书" panose="02010509060101010101" pitchFamily="49" charset="-122"/>
                <a:cs typeface="+mn-cs"/>
              </a:defRPr>
            </a:lvl7pPr>
            <a:lvl8pPr marL="3200400" algn="l" defTabSz="914400" rtl="0" eaLnBrk="1" latinLnBrk="0" hangingPunct="1">
              <a:defRPr kumimoji="1" sz="4800" b="1" kern="1200">
                <a:solidFill>
                  <a:srgbClr val="FF0000"/>
                </a:solidFill>
                <a:latin typeface="隶书" panose="02010509060101010101" pitchFamily="49" charset="-122"/>
                <a:ea typeface="隶书" panose="02010509060101010101" pitchFamily="49" charset="-122"/>
                <a:cs typeface="+mn-cs"/>
              </a:defRPr>
            </a:lvl8pPr>
            <a:lvl9pPr marL="3657600" algn="l" defTabSz="914400" rtl="0" eaLnBrk="1" latinLnBrk="0" hangingPunct="1">
              <a:defRPr kumimoji="1" sz="4800" b="1" kern="1200">
                <a:solidFill>
                  <a:srgbClr val="FF0000"/>
                </a:solidFill>
                <a:latin typeface="隶书" panose="02010509060101010101" pitchFamily="49" charset="-122"/>
                <a:ea typeface="隶书" panose="02010509060101010101" pitchFamily="49" charset="-122"/>
                <a:cs typeface="+mn-cs"/>
              </a:defRPr>
            </a:lvl9pPr>
          </a:lstStyle>
          <a:p>
            <a:pPr algn="ctr" eaLnBrk="1" hangingPunct="1">
              <a:lnSpc>
                <a:spcPct val="120000"/>
              </a:lnSpc>
              <a:spcBef>
                <a:spcPct val="20000"/>
              </a:spcBef>
              <a:buClr>
                <a:schemeClr val="folHlink"/>
              </a:buClr>
              <a:buSzPct val="60000"/>
              <a:buFont typeface="Wingdings" panose="05000000000000000000" pitchFamily="2" charset="2"/>
              <a:buNone/>
              <a:defRPr/>
            </a:pPr>
            <a:r>
              <a:rPr lang="zh-CN" altLang="en-US" sz="5910"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网络空间安全技术</a:t>
            </a:r>
            <a:endParaRPr lang="en-US" altLang="zh-CN" sz="5910"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373924" y="2100385"/>
            <a:ext cx="7942384" cy="1406769"/>
          </a:xfrm>
          <a:prstGeom prst="rect">
            <a:avLst/>
          </a:prstGeom>
          <a:ln>
            <a:miter lim="800000"/>
          </a:ln>
        </p:spPr>
        <p:txBody>
          <a:bodyPr/>
          <a:lstStyle/>
          <a:p>
            <a:pPr eaLnBrk="1" hangingPunct="1">
              <a:defRPr/>
            </a:pPr>
            <a:r>
              <a:rPr lang="en-US" altLang="zh-CN" sz="5415" b="1" kern="0" dirty="0">
                <a:solidFill>
                  <a:srgbClr val="000000"/>
                </a:solidFill>
                <a:latin typeface="Times New Roman" panose="02020603050405020304" pitchFamily="18" charset="0"/>
                <a:ea typeface="+mn-ea"/>
                <a:cs typeface="Times New Roman" panose="02020603050405020304" pitchFamily="18" charset="0"/>
              </a:rPr>
              <a:t>CH1</a:t>
            </a:r>
            <a:r>
              <a:rPr lang="en-US" altLang="zh-CN" sz="5415" b="1" kern="0" dirty="0">
                <a:solidFill>
                  <a:srgbClr val="000000"/>
                </a:solidFill>
                <a:latin typeface="+mn-ea"/>
                <a:ea typeface="+mn-ea"/>
                <a:cs typeface="+mj-cs"/>
              </a:rPr>
              <a:t> </a:t>
            </a:r>
            <a:r>
              <a:rPr lang="zh-CN" altLang="en-US" sz="5415" b="1" kern="0" dirty="0">
                <a:solidFill>
                  <a:srgbClr val="000000"/>
                </a:solidFill>
                <a:latin typeface="+mn-ea"/>
                <a:ea typeface="+mn-ea"/>
                <a:cs typeface="+mj-cs"/>
              </a:rPr>
              <a:t>网络空间安全概述</a:t>
            </a:r>
            <a:endParaRPr lang="zh-CN" altLang="en-US" sz="5415" b="1" kern="0" dirty="0">
              <a:solidFill>
                <a:srgbClr val="000000"/>
              </a:solidFill>
              <a:latin typeface="+mn-ea"/>
              <a:ea typeface="+mn-ea"/>
              <a:cs typeface="+mj-cs"/>
            </a:endParaRPr>
          </a:p>
        </p:txBody>
      </p:sp>
    </p:spTree>
  </p:cSld>
  <p:clrMapOvr>
    <a:masterClrMapping/>
  </p:clrMapOvr>
  <mc:AlternateContent xmlns:mc="http://schemas.openxmlformats.org/markup-compatibility/2006">
    <mc:Choice xmlns:p14="http://schemas.microsoft.com/office/powerpoint/2010/main" Requires="p14">
      <p:transition p14:dur="10">
        <p:random/>
      </p:transition>
    </mc:Choice>
    <mc:Fallback>
      <p:transition>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488831" y="82062"/>
            <a:ext cx="8684847" cy="599830"/>
          </a:xfrm>
        </p:spPr>
        <p:txBody>
          <a:bodyPr/>
          <a:lstStyle/>
          <a:p>
            <a:r>
              <a:rPr lang="zh-CN" altLang="en-US">
                <a:solidFill>
                  <a:schemeClr val="tx1"/>
                </a:solidFill>
              </a:rPr>
              <a:t>目录</a:t>
            </a:r>
            <a:endParaRPr lang="zh-CN" altLang="en-US">
              <a:solidFill>
                <a:schemeClr val="tx1"/>
              </a:solidFill>
            </a:endParaRPr>
          </a:p>
        </p:txBody>
      </p:sp>
      <p:sp>
        <p:nvSpPr>
          <p:cNvPr id="324611" name="AutoShape 3"/>
          <p:cNvSpPr>
            <a:spLocks noChangeArrowheads="1"/>
          </p:cNvSpPr>
          <p:nvPr/>
        </p:nvSpPr>
        <p:spPr bwMode="ltGray">
          <a:xfrm rot="5400000">
            <a:off x="-3040185" y="592015"/>
            <a:ext cx="5937739" cy="6359770"/>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ln>
          <a:effectLst/>
        </p:spPr>
        <p:txBody>
          <a:bodyPr wrap="none" anchor="ctr"/>
          <a:lstStyle/>
          <a:p>
            <a:pPr eaLnBrk="1" hangingPunct="1">
              <a:defRPr/>
            </a:pPr>
            <a:endParaRPr lang="zh-CN" altLang="en-US" sz="100"/>
          </a:p>
        </p:txBody>
      </p:sp>
      <p:sp>
        <p:nvSpPr>
          <p:cNvPr id="324612" name="AutoShape 4"/>
          <p:cNvSpPr>
            <a:spLocks noChangeArrowheads="1"/>
          </p:cNvSpPr>
          <p:nvPr/>
        </p:nvSpPr>
        <p:spPr bwMode="ltGray">
          <a:xfrm rot="5400000" flipH="1">
            <a:off x="-2539023" y="1171331"/>
            <a:ext cx="4962769" cy="5238262"/>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bg2">
                  <a:alpha val="56000"/>
                </a:schemeClr>
              </a:gs>
              <a:gs pos="100000">
                <a:schemeClr val="bg2">
                  <a:gamma/>
                  <a:tint val="0"/>
                  <a:invGamma/>
                  <a:alpha val="48000"/>
                </a:schemeClr>
              </a:gs>
            </a:gsLst>
            <a:lin ang="5400000" scaled="1"/>
          </a:gradFill>
          <a:ln w="0" algn="ctr">
            <a:noFill/>
            <a:miter lim="800000"/>
          </a:ln>
          <a:effectLst/>
        </p:spPr>
        <p:txBody>
          <a:bodyPr wrap="none" anchor="ctr"/>
          <a:lstStyle/>
          <a:p>
            <a:pPr eaLnBrk="1" hangingPunct="1">
              <a:defRPr/>
            </a:pPr>
            <a:endParaRPr lang="zh-CN" altLang="en-US" sz="100"/>
          </a:p>
        </p:txBody>
      </p:sp>
      <p:sp>
        <p:nvSpPr>
          <p:cNvPr id="15365" name="AutoShape 5"/>
          <p:cNvSpPr>
            <a:spLocks noChangeArrowheads="1"/>
          </p:cNvSpPr>
          <p:nvPr/>
        </p:nvSpPr>
        <p:spPr bwMode="gray">
          <a:xfrm>
            <a:off x="2371969" y="5208954"/>
            <a:ext cx="6471138" cy="625231"/>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chemeClr val="tx2"/>
                </a:solidFill>
                <a:latin typeface="Arial" panose="020B0604020202020204" pitchFamily="34" charset="0"/>
                <a:ea typeface="宋体" panose="02010600030101010101" pitchFamily="2" charset="-122"/>
              </a:rPr>
              <a:t>三、网络空间安全涉及的内容</a:t>
            </a:r>
            <a:endParaRPr lang="zh-CN" altLang="en-US" sz="3445" b="1">
              <a:solidFill>
                <a:schemeClr val="tx2"/>
              </a:solidFill>
              <a:latin typeface="Arial" panose="020B0604020202020204" pitchFamily="34" charset="0"/>
              <a:ea typeface="宋体" panose="02010600030101010101" pitchFamily="2" charset="-122"/>
            </a:endParaRPr>
          </a:p>
        </p:txBody>
      </p:sp>
      <p:sp>
        <p:nvSpPr>
          <p:cNvPr id="15366" name="AutoShape 7"/>
          <p:cNvSpPr>
            <a:spLocks noChangeArrowheads="1"/>
          </p:cNvSpPr>
          <p:nvPr/>
        </p:nvSpPr>
        <p:spPr bwMode="gray">
          <a:xfrm>
            <a:off x="3194539" y="3251201"/>
            <a:ext cx="6535615" cy="652585"/>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chemeClr val="tx2"/>
                </a:solidFill>
                <a:latin typeface="Arial" panose="020B0604020202020204" pitchFamily="34" charset="0"/>
                <a:ea typeface="宋体" panose="02010600030101010101" pitchFamily="2" charset="-122"/>
              </a:rPr>
              <a:t>二、</a:t>
            </a:r>
            <a:r>
              <a:rPr lang="zh-CN" altLang="en-US" sz="3445" b="1">
                <a:solidFill>
                  <a:schemeClr val="tx2"/>
                </a:solidFill>
                <a:latin typeface="Arial" panose="020B0604020202020204" pitchFamily="34" charset="0"/>
                <a:ea typeface="宋体" panose="02010600030101010101" pitchFamily="2" charset="-122"/>
              </a:rPr>
              <a:t>信息安全形势和任务</a:t>
            </a:r>
            <a:endParaRPr lang="en-US" altLang="zh-CN" sz="3445" b="1">
              <a:solidFill>
                <a:schemeClr val="tx2"/>
              </a:solidFill>
              <a:latin typeface="Arial" panose="020B0604020202020204" pitchFamily="34" charset="0"/>
              <a:ea typeface="宋体" panose="02010600030101010101" pitchFamily="2" charset="-122"/>
            </a:endParaRPr>
          </a:p>
        </p:txBody>
      </p:sp>
      <p:grpSp>
        <p:nvGrpSpPr>
          <p:cNvPr id="15367" name="Group 9"/>
          <p:cNvGrpSpPr/>
          <p:nvPr/>
        </p:nvGrpSpPr>
        <p:grpSpPr bwMode="auto">
          <a:xfrm>
            <a:off x="1873739" y="1336177"/>
            <a:ext cx="508000" cy="540060"/>
            <a:chOff x="2078" y="1558"/>
            <a:chExt cx="1615" cy="1860"/>
          </a:xfrm>
        </p:grpSpPr>
        <p:sp>
          <p:nvSpPr>
            <p:cNvPr id="15383"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5384"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0" name="Oval 12"/>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5386" name="Oval 13"/>
            <p:cNvSpPr>
              <a:spLocks noChangeArrowheads="1"/>
            </p:cNvSpPr>
            <p:nvPr/>
          </p:nvSpPr>
          <p:spPr bwMode="gray">
            <a:xfrm>
              <a:off x="2254" y="1558"/>
              <a:ext cx="1355" cy="1860"/>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2" name="Oval 14"/>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5388" name="Oval 15"/>
            <p:cNvSpPr>
              <a:spLocks noChangeArrowheads="1"/>
            </p:cNvSpPr>
            <p:nvPr/>
          </p:nvSpPr>
          <p:spPr bwMode="gray">
            <a:xfrm>
              <a:off x="2337" y="1583"/>
              <a:ext cx="1096" cy="1811"/>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15368" name="Group 23"/>
          <p:cNvGrpSpPr/>
          <p:nvPr/>
        </p:nvGrpSpPr>
        <p:grpSpPr bwMode="auto">
          <a:xfrm>
            <a:off x="2788139" y="3336916"/>
            <a:ext cx="508000" cy="540060"/>
            <a:chOff x="2078" y="1558"/>
            <a:chExt cx="1615" cy="1860"/>
          </a:xfrm>
        </p:grpSpPr>
        <p:sp>
          <p:nvSpPr>
            <p:cNvPr id="15377" name="Oval 2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5378" name="Oval 2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4" name="Oval 26"/>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5380" name="Oval 27"/>
            <p:cNvSpPr>
              <a:spLocks noChangeArrowheads="1"/>
            </p:cNvSpPr>
            <p:nvPr/>
          </p:nvSpPr>
          <p:spPr bwMode="gray">
            <a:xfrm>
              <a:off x="2254" y="1558"/>
              <a:ext cx="1355" cy="1860"/>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6" name="Oval 28"/>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5382" name="Oval 29"/>
            <p:cNvSpPr>
              <a:spLocks noChangeArrowheads="1"/>
            </p:cNvSpPr>
            <p:nvPr/>
          </p:nvSpPr>
          <p:spPr bwMode="gray">
            <a:xfrm>
              <a:off x="2337" y="1583"/>
              <a:ext cx="1096" cy="1811"/>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15369" name="Group 37"/>
          <p:cNvGrpSpPr/>
          <p:nvPr/>
        </p:nvGrpSpPr>
        <p:grpSpPr bwMode="auto">
          <a:xfrm>
            <a:off x="1975339" y="5322023"/>
            <a:ext cx="474784" cy="540060"/>
            <a:chOff x="2078" y="1558"/>
            <a:chExt cx="1615" cy="1860"/>
          </a:xfrm>
        </p:grpSpPr>
        <p:sp>
          <p:nvSpPr>
            <p:cNvPr id="15371" name="Oval 3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5372" name="Oval 3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48" name="Oval 40"/>
            <p:cNvSpPr>
              <a:spLocks noChangeArrowheads="1"/>
            </p:cNvSpPr>
            <p:nvPr/>
          </p:nvSpPr>
          <p:spPr bwMode="gray">
            <a:xfrm>
              <a:off x="2251" y="2119"/>
              <a:ext cx="1424"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5374" name="Oval 41"/>
            <p:cNvSpPr>
              <a:spLocks noChangeArrowheads="1"/>
            </p:cNvSpPr>
            <p:nvPr/>
          </p:nvSpPr>
          <p:spPr bwMode="gray">
            <a:xfrm>
              <a:off x="2254" y="1558"/>
              <a:ext cx="1424" cy="1860"/>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50" name="Oval 42"/>
            <p:cNvSpPr>
              <a:spLocks noChangeArrowheads="1"/>
            </p:cNvSpPr>
            <p:nvPr/>
          </p:nvSpPr>
          <p:spPr bwMode="gray">
            <a:xfrm>
              <a:off x="2337" y="2143"/>
              <a:ext cx="1097"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5376" name="Oval 43"/>
            <p:cNvSpPr>
              <a:spLocks noChangeArrowheads="1"/>
            </p:cNvSpPr>
            <p:nvPr/>
          </p:nvSpPr>
          <p:spPr bwMode="gray">
            <a:xfrm>
              <a:off x="2337" y="1583"/>
              <a:ext cx="1096" cy="1811"/>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sp>
        <p:nvSpPr>
          <p:cNvPr id="15370" name="AutoShape 44"/>
          <p:cNvSpPr>
            <a:spLocks noChangeArrowheads="1"/>
          </p:cNvSpPr>
          <p:nvPr/>
        </p:nvSpPr>
        <p:spPr bwMode="gray">
          <a:xfrm>
            <a:off x="2336800" y="1301262"/>
            <a:ext cx="6418385" cy="595922"/>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chemeClr val="tx2"/>
                </a:solidFill>
                <a:latin typeface="Arial" panose="020B0604020202020204" pitchFamily="34" charset="0"/>
                <a:ea typeface="宋体" panose="02010600030101010101" pitchFamily="2" charset="-122"/>
              </a:rPr>
              <a:t>一、</a:t>
            </a:r>
            <a:r>
              <a:rPr lang="zh-CN" altLang="en-US" sz="3445" b="1">
                <a:solidFill>
                  <a:schemeClr val="tx2"/>
                </a:solidFill>
                <a:latin typeface="Arial" panose="020B0604020202020204" pitchFamily="34" charset="0"/>
                <a:ea typeface="宋体" panose="02010600030101010101" pitchFamily="2" charset="-122"/>
              </a:rPr>
              <a:t>信息安全基本常识</a:t>
            </a:r>
            <a:endParaRPr lang="en-US" altLang="zh-CN" sz="3445" b="1">
              <a:solidFill>
                <a:schemeClr val="tx2"/>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5" descr="祥云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6847" y="5378755"/>
            <a:ext cx="3057769" cy="149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1842478" y="504093"/>
            <a:ext cx="3161323" cy="772795"/>
          </a:xfrm>
          <a:prstGeom prst="rect">
            <a:avLst/>
          </a:prstGeom>
          <a:noFill/>
          <a:ln w="9525">
            <a:noFill/>
            <a:miter lim="800000"/>
          </a:ln>
          <a:effectLst/>
        </p:spPr>
        <p:txBody>
          <a:bodyPr>
            <a:spAutoFit/>
          </a:bodyPr>
          <a:lstStyle/>
          <a:p>
            <a:pPr eaLnBrk="1" hangingPunct="1">
              <a:spcBef>
                <a:spcPct val="50000"/>
              </a:spcBef>
              <a:defRPr/>
            </a:pPr>
            <a:r>
              <a:rPr kumimoji="1" lang="zh-CN" altLang="en-US" sz="4430" b="1" dirty="0">
                <a:effectLst>
                  <a:outerShdw blurRad="38100" dist="38100" dir="2700000" algn="tl">
                    <a:srgbClr val="C0C0C0"/>
                  </a:outerShdw>
                </a:effectLst>
                <a:latin typeface="Verdana" panose="020B0604030504040204" pitchFamily="34" charset="0"/>
                <a:ea typeface="华文新魏" panose="02010800040101010101" pitchFamily="2" charset="-122"/>
              </a:rPr>
              <a:t>授之以鱼</a:t>
            </a:r>
            <a:endParaRPr kumimoji="1" lang="zh-CN" altLang="en-US" sz="4430" b="1" dirty="0">
              <a:effectLst>
                <a:outerShdw blurRad="38100" dist="38100" dir="2700000" algn="tl">
                  <a:srgbClr val="C0C0C0"/>
                </a:outerShdw>
              </a:effectLst>
              <a:latin typeface="Verdana" panose="020B0604030504040204" pitchFamily="34" charset="0"/>
              <a:ea typeface="华文新魏" panose="02010800040101010101" pitchFamily="2" charset="-122"/>
            </a:endParaRPr>
          </a:p>
        </p:txBody>
      </p:sp>
      <p:sp>
        <p:nvSpPr>
          <p:cNvPr id="7" name="Text Box 7"/>
          <p:cNvSpPr txBox="1">
            <a:spLocks noChangeArrowheads="1"/>
          </p:cNvSpPr>
          <p:nvPr/>
        </p:nvSpPr>
        <p:spPr bwMode="auto">
          <a:xfrm>
            <a:off x="2286000" y="1629508"/>
            <a:ext cx="3989754" cy="772795"/>
          </a:xfrm>
          <a:prstGeom prst="rect">
            <a:avLst/>
          </a:prstGeom>
          <a:noFill/>
          <a:ln w="9525">
            <a:noFill/>
            <a:miter lim="800000"/>
          </a:ln>
          <a:effectLst/>
        </p:spPr>
        <p:txBody>
          <a:bodyPr>
            <a:spAutoFit/>
          </a:bodyPr>
          <a:lstStyle/>
          <a:p>
            <a:pPr eaLnBrk="1" hangingPunct="1">
              <a:spcBef>
                <a:spcPct val="50000"/>
              </a:spcBef>
              <a:defRPr/>
            </a:pPr>
            <a:r>
              <a:rPr kumimoji="1" lang="zh-CN" altLang="en-US" sz="4430" b="1" dirty="0">
                <a:effectLst>
                  <a:outerShdw blurRad="38100" dist="38100" dir="2700000" algn="tl">
                    <a:srgbClr val="C0C0C0"/>
                  </a:outerShdw>
                </a:effectLst>
                <a:latin typeface="Times New Roman" panose="02020603050405020304" pitchFamily="18" charset="0"/>
                <a:ea typeface="华文新魏" panose="02010800040101010101" pitchFamily="2" charset="-122"/>
              </a:rPr>
              <a:t>不如授之以渔</a:t>
            </a:r>
            <a:endParaRPr kumimoji="1" lang="zh-CN" altLang="en-US" sz="4430" b="1" dirty="0">
              <a:effectLst>
                <a:outerShdw blurRad="38100" dist="38100" dir="2700000" algn="tl">
                  <a:srgbClr val="C0C0C0"/>
                </a:outerShdw>
              </a:effectLst>
              <a:latin typeface="Times New Roman" panose="02020603050405020304" pitchFamily="18" charset="0"/>
              <a:ea typeface="华文新魏" panose="02010800040101010101" pitchFamily="2" charset="-122"/>
            </a:endParaRPr>
          </a:p>
        </p:txBody>
      </p:sp>
      <p:sp>
        <p:nvSpPr>
          <p:cNvPr id="8" name="Text Box 8"/>
          <p:cNvSpPr txBox="1">
            <a:spLocks noChangeArrowheads="1"/>
          </p:cNvSpPr>
          <p:nvPr/>
        </p:nvSpPr>
        <p:spPr bwMode="auto">
          <a:xfrm>
            <a:off x="4501662" y="504093"/>
            <a:ext cx="3100754" cy="772795"/>
          </a:xfrm>
          <a:prstGeom prst="rect">
            <a:avLst/>
          </a:prstGeom>
          <a:noFill/>
          <a:ln w="9525">
            <a:noFill/>
            <a:miter lim="800000"/>
          </a:ln>
          <a:effectLst/>
        </p:spPr>
        <p:txBody>
          <a:bodyPr>
            <a:spAutoFit/>
          </a:bodyPr>
          <a:lstStyle/>
          <a:p>
            <a:pPr eaLnBrk="1" hangingPunct="1">
              <a:spcBef>
                <a:spcPct val="50000"/>
              </a:spcBef>
              <a:defRPr/>
            </a:pPr>
            <a:r>
              <a:rPr kumimoji="1" lang="en-US" altLang="zh-CN" sz="4430" b="1" i="1" dirty="0">
                <a:solidFill>
                  <a:srgbClr val="3333FF"/>
                </a:solidFill>
                <a:effectLst>
                  <a:outerShdw blurRad="38100" dist="38100" dir="2700000" algn="tl">
                    <a:srgbClr val="C0C0C0"/>
                  </a:outerShdw>
                </a:effectLst>
                <a:latin typeface="Times New Roman" panose="02020603050405020304" pitchFamily="18" charset="0"/>
              </a:rPr>
              <a:t>——</a:t>
            </a:r>
            <a:r>
              <a:rPr kumimoji="1" lang="zh-CN" altLang="en-US" sz="4430" b="1" i="1" dirty="0">
                <a:solidFill>
                  <a:srgbClr val="3333FF"/>
                </a:solidFill>
                <a:effectLst>
                  <a:outerShdw blurRad="38100" dist="38100" dir="2700000" algn="tl">
                    <a:srgbClr val="C0C0C0"/>
                  </a:outerShdw>
                </a:effectLst>
                <a:latin typeface="Times New Roman" panose="02020603050405020304" pitchFamily="18" charset="0"/>
              </a:rPr>
              <a:t>产品</a:t>
            </a:r>
            <a:endParaRPr kumimoji="1" lang="zh-CN" altLang="en-US" sz="4430" b="1" i="1" dirty="0">
              <a:solidFill>
                <a:srgbClr val="3333FF"/>
              </a:solidFill>
              <a:effectLst>
                <a:outerShdw blurRad="38100" dist="38100" dir="2700000" algn="tl">
                  <a:srgbClr val="C0C0C0"/>
                </a:outerShdw>
              </a:effectLst>
              <a:latin typeface="Times New Roman" panose="02020603050405020304" pitchFamily="18" charset="0"/>
            </a:endParaRPr>
          </a:p>
        </p:txBody>
      </p:sp>
      <p:sp>
        <p:nvSpPr>
          <p:cNvPr id="9" name="Text Box 9"/>
          <p:cNvSpPr txBox="1">
            <a:spLocks noChangeArrowheads="1"/>
          </p:cNvSpPr>
          <p:nvPr/>
        </p:nvSpPr>
        <p:spPr bwMode="auto">
          <a:xfrm>
            <a:off x="5957278" y="1629508"/>
            <a:ext cx="2569307" cy="772795"/>
          </a:xfrm>
          <a:prstGeom prst="rect">
            <a:avLst/>
          </a:prstGeom>
          <a:noFill/>
          <a:ln w="9525">
            <a:noFill/>
            <a:miter lim="800000"/>
          </a:ln>
          <a:effectLst/>
        </p:spPr>
        <p:txBody>
          <a:bodyPr>
            <a:spAutoFit/>
          </a:bodyPr>
          <a:lstStyle/>
          <a:p>
            <a:pPr eaLnBrk="1" hangingPunct="1">
              <a:spcBef>
                <a:spcPct val="50000"/>
              </a:spcBef>
              <a:defRPr/>
            </a:pPr>
            <a:r>
              <a:rPr kumimoji="1" lang="en-US" altLang="zh-CN" sz="4430" b="1" i="1" dirty="0">
                <a:solidFill>
                  <a:srgbClr val="3333FF"/>
                </a:solidFill>
                <a:effectLst>
                  <a:outerShdw blurRad="38100" dist="38100" dir="2700000" algn="tl">
                    <a:srgbClr val="C0C0C0"/>
                  </a:outerShdw>
                </a:effectLst>
                <a:latin typeface="Times New Roman" panose="02020603050405020304" pitchFamily="18" charset="0"/>
              </a:rPr>
              <a:t>——</a:t>
            </a:r>
            <a:r>
              <a:rPr kumimoji="1" lang="zh-CN" altLang="en-US" sz="4430" b="1" i="1" dirty="0">
                <a:solidFill>
                  <a:srgbClr val="3333FF"/>
                </a:solidFill>
                <a:effectLst>
                  <a:outerShdw blurRad="38100" dist="38100" dir="2700000" algn="tl">
                    <a:srgbClr val="C0C0C0"/>
                  </a:outerShdw>
                </a:effectLst>
                <a:latin typeface="Times New Roman" panose="02020603050405020304" pitchFamily="18" charset="0"/>
              </a:rPr>
              <a:t>技术</a:t>
            </a:r>
            <a:endParaRPr kumimoji="1" lang="zh-CN" altLang="en-US" sz="4430" b="1" i="1" dirty="0">
              <a:solidFill>
                <a:srgbClr val="3333FF"/>
              </a:solidFill>
              <a:effectLst>
                <a:outerShdw blurRad="38100" dist="38100" dir="2700000" algn="tl">
                  <a:srgbClr val="C0C0C0"/>
                </a:outerShdw>
              </a:effectLst>
              <a:latin typeface="Times New Roman" panose="02020603050405020304" pitchFamily="18" charset="0"/>
            </a:endParaRPr>
          </a:p>
        </p:txBody>
      </p:sp>
      <p:sp>
        <p:nvSpPr>
          <p:cNvPr id="10" name="Text Box 10"/>
          <p:cNvSpPr txBox="1">
            <a:spLocks noChangeArrowheads="1"/>
          </p:cNvSpPr>
          <p:nvPr/>
        </p:nvSpPr>
        <p:spPr bwMode="auto">
          <a:xfrm>
            <a:off x="2979616" y="2770554"/>
            <a:ext cx="4419600" cy="772795"/>
          </a:xfrm>
          <a:prstGeom prst="rect">
            <a:avLst/>
          </a:prstGeom>
          <a:noFill/>
          <a:ln w="9525">
            <a:noFill/>
            <a:miter lim="800000"/>
          </a:ln>
          <a:effectLst/>
        </p:spPr>
        <p:txBody>
          <a:bodyPr>
            <a:spAutoFit/>
          </a:bodyPr>
          <a:lstStyle/>
          <a:p>
            <a:pPr eaLnBrk="1" hangingPunct="1">
              <a:spcBef>
                <a:spcPct val="50000"/>
              </a:spcBef>
              <a:defRPr/>
            </a:pPr>
            <a:r>
              <a:rPr kumimoji="1" lang="zh-CN" altLang="en-US" sz="4430" b="1" dirty="0">
                <a:effectLst>
                  <a:outerShdw blurRad="38100" dist="38100" dir="2700000" algn="tl">
                    <a:srgbClr val="C0C0C0"/>
                  </a:outerShdw>
                </a:effectLst>
                <a:latin typeface="Times New Roman" panose="02020603050405020304" pitchFamily="18" charset="0"/>
                <a:ea typeface="华文新魏" panose="02010800040101010101" pitchFamily="2" charset="-122"/>
              </a:rPr>
              <a:t>更不如激之其欲</a:t>
            </a:r>
            <a:endParaRPr kumimoji="1" lang="zh-CN" altLang="en-US" sz="4430" b="1" dirty="0">
              <a:effectLst>
                <a:outerShdw blurRad="38100" dist="38100" dir="2700000" algn="tl">
                  <a:srgbClr val="C0C0C0"/>
                </a:outerShdw>
              </a:effectLst>
              <a:latin typeface="Times New Roman" panose="02020603050405020304" pitchFamily="18" charset="0"/>
              <a:ea typeface="华文新魏" panose="02010800040101010101" pitchFamily="2" charset="-122"/>
            </a:endParaRPr>
          </a:p>
        </p:txBody>
      </p:sp>
      <p:sp>
        <p:nvSpPr>
          <p:cNvPr id="11" name="Text Box 11"/>
          <p:cNvSpPr txBox="1">
            <a:spLocks noChangeArrowheads="1"/>
          </p:cNvSpPr>
          <p:nvPr/>
        </p:nvSpPr>
        <p:spPr bwMode="auto">
          <a:xfrm>
            <a:off x="6986954" y="2719754"/>
            <a:ext cx="2797908" cy="772795"/>
          </a:xfrm>
          <a:prstGeom prst="rect">
            <a:avLst/>
          </a:prstGeom>
          <a:noFill/>
          <a:ln w="9525">
            <a:noFill/>
            <a:miter lim="800000"/>
          </a:ln>
          <a:effectLst/>
        </p:spPr>
        <p:txBody>
          <a:bodyPr>
            <a:spAutoFit/>
          </a:bodyPr>
          <a:lstStyle/>
          <a:p>
            <a:pPr eaLnBrk="1" hangingPunct="1">
              <a:spcBef>
                <a:spcPct val="50000"/>
              </a:spcBef>
              <a:defRPr/>
            </a:pPr>
            <a:r>
              <a:rPr kumimoji="1" lang="en-US" altLang="zh-CN" sz="4430" b="1" i="1" dirty="0">
                <a:solidFill>
                  <a:srgbClr val="3333FF"/>
                </a:solidFill>
                <a:effectLst>
                  <a:outerShdw blurRad="38100" dist="38100" dir="2700000" algn="tl">
                    <a:srgbClr val="C0C0C0"/>
                  </a:outerShdw>
                </a:effectLst>
                <a:latin typeface="Times New Roman" panose="02020603050405020304" pitchFamily="18" charset="0"/>
              </a:rPr>
              <a:t>——</a:t>
            </a:r>
            <a:r>
              <a:rPr kumimoji="1" lang="zh-CN" altLang="en-US" sz="4430" b="1" i="1" dirty="0">
                <a:solidFill>
                  <a:srgbClr val="3333FF"/>
                </a:solidFill>
                <a:effectLst>
                  <a:outerShdw blurRad="38100" dist="38100" dir="2700000" algn="tl">
                    <a:srgbClr val="C0C0C0"/>
                  </a:outerShdw>
                </a:effectLst>
                <a:latin typeface="Times New Roman" panose="02020603050405020304" pitchFamily="18" charset="0"/>
              </a:rPr>
              <a:t>意识</a:t>
            </a:r>
            <a:endParaRPr kumimoji="1" lang="zh-CN" altLang="en-US" sz="4430" b="1" i="1" dirty="0">
              <a:solidFill>
                <a:srgbClr val="3333FF"/>
              </a:solidFill>
              <a:effectLst>
                <a:outerShdw blurRad="38100" dist="38100" dir="2700000" algn="tl">
                  <a:srgbClr val="C0C0C0"/>
                </a:outerShdw>
              </a:effectLst>
              <a:latin typeface="Times New Roman" panose="02020603050405020304" pitchFamily="18" charset="0"/>
            </a:endParaRPr>
          </a:p>
        </p:txBody>
      </p:sp>
      <p:pic>
        <p:nvPicPr>
          <p:cNvPr id="16397" name="Picture 13" descr="古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4677" y="3560298"/>
            <a:ext cx="3402037" cy="251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94" name="Group 17"/>
          <p:cNvGrpSpPr/>
          <p:nvPr/>
        </p:nvGrpSpPr>
        <p:grpSpPr bwMode="auto">
          <a:xfrm>
            <a:off x="8755185" y="504093"/>
            <a:ext cx="2661138" cy="1660769"/>
            <a:chOff x="4195" y="527"/>
            <a:chExt cx="1362" cy="850"/>
          </a:xfrm>
        </p:grpSpPr>
        <p:pic>
          <p:nvPicPr>
            <p:cNvPr id="16395" name="Picture 4" descr="祥云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7" y="527"/>
              <a:ext cx="1180"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Rectangle 16"/>
            <p:cNvSpPr>
              <a:spLocks noChangeArrowheads="1"/>
            </p:cNvSpPr>
            <p:nvPr/>
          </p:nvSpPr>
          <p:spPr bwMode="auto">
            <a:xfrm>
              <a:off x="4195" y="527"/>
              <a:ext cx="454" cy="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ppt_x</p:attrName>
                                        </p:attrNameLst>
                                      </p:cBhvr>
                                      <p:tavLst>
                                        <p:tav tm="0">
                                          <p:val>
                                            <p:strVal val="#ppt_x-.2"/>
                                          </p:val>
                                        </p:tav>
                                        <p:tav tm="100000">
                                          <p:val>
                                            <p:strVal val="#ppt_x"/>
                                          </p:val>
                                        </p:tav>
                                      </p:tavLst>
                                    </p:anim>
                                    <p:anim calcmode="lin" valueType="num">
                                      <p:cBhvr>
                                        <p:cTn id="15"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9"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1000" fill="hold"/>
                                        <p:tgtEl>
                                          <p:spTgt spid="10"/>
                                        </p:tgtEl>
                                        <p:attrNameLst>
                                          <p:attrName>ppt_x</p:attrName>
                                        </p:attrNameLst>
                                      </p:cBhvr>
                                      <p:tavLst>
                                        <p:tav tm="0">
                                          <p:val>
                                            <p:strVal val="#ppt_x-.2"/>
                                          </p:val>
                                        </p:tav>
                                        <p:tav tm="100000">
                                          <p:val>
                                            <p:strVal val="#ppt_x"/>
                                          </p:val>
                                        </p:tav>
                                      </p:tavLst>
                                    </p:anim>
                                    <p:anim calcmode="lin" valueType="num">
                                      <p:cBhvr>
                                        <p:cTn id="32"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33" dur="10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0" grpId="0" bldLvl="0" animBg="1"/>
      <p:bldP spid="11"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488831" y="82062"/>
            <a:ext cx="8684847" cy="599830"/>
          </a:xfrm>
        </p:spPr>
        <p:txBody>
          <a:bodyPr/>
          <a:lstStyle/>
          <a:p>
            <a:r>
              <a:rPr lang="zh-CN" altLang="en-US">
                <a:solidFill>
                  <a:schemeClr val="tx1"/>
                </a:solidFill>
              </a:rPr>
              <a:t>内容</a:t>
            </a:r>
            <a:endParaRPr lang="zh-CN" altLang="en-US">
              <a:solidFill>
                <a:schemeClr val="tx1"/>
              </a:solidFill>
            </a:endParaRPr>
          </a:p>
        </p:txBody>
      </p:sp>
      <p:sp>
        <p:nvSpPr>
          <p:cNvPr id="324611" name="AutoShape 3"/>
          <p:cNvSpPr>
            <a:spLocks noChangeArrowheads="1"/>
          </p:cNvSpPr>
          <p:nvPr/>
        </p:nvSpPr>
        <p:spPr bwMode="ltGray">
          <a:xfrm rot="5400000">
            <a:off x="-3040185" y="592015"/>
            <a:ext cx="5937739" cy="6359770"/>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ln>
          <a:effectLst/>
        </p:spPr>
        <p:txBody>
          <a:bodyPr wrap="none" anchor="ctr"/>
          <a:lstStyle/>
          <a:p>
            <a:pPr eaLnBrk="1" hangingPunct="1">
              <a:defRPr/>
            </a:pPr>
            <a:endParaRPr lang="zh-CN" altLang="en-US" sz="100"/>
          </a:p>
        </p:txBody>
      </p:sp>
      <p:sp>
        <p:nvSpPr>
          <p:cNvPr id="324612" name="AutoShape 4"/>
          <p:cNvSpPr>
            <a:spLocks noChangeArrowheads="1"/>
          </p:cNvSpPr>
          <p:nvPr/>
        </p:nvSpPr>
        <p:spPr bwMode="ltGray">
          <a:xfrm rot="5400000" flipH="1">
            <a:off x="-2539023" y="1171331"/>
            <a:ext cx="4962769" cy="5238262"/>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bg2">
                  <a:alpha val="56000"/>
                </a:schemeClr>
              </a:gs>
              <a:gs pos="100000">
                <a:schemeClr val="bg2">
                  <a:gamma/>
                  <a:tint val="0"/>
                  <a:invGamma/>
                  <a:alpha val="48000"/>
                </a:schemeClr>
              </a:gs>
            </a:gsLst>
            <a:lin ang="5400000" scaled="1"/>
          </a:gradFill>
          <a:ln w="0" algn="ctr">
            <a:noFill/>
            <a:miter lim="800000"/>
          </a:ln>
          <a:effectLst/>
        </p:spPr>
        <p:txBody>
          <a:bodyPr wrap="none" anchor="ctr"/>
          <a:lstStyle/>
          <a:p>
            <a:pPr eaLnBrk="1" hangingPunct="1">
              <a:defRPr/>
            </a:pPr>
            <a:endParaRPr lang="zh-CN" altLang="en-US" sz="100"/>
          </a:p>
        </p:txBody>
      </p:sp>
      <p:sp>
        <p:nvSpPr>
          <p:cNvPr id="17413" name="AutoShape 5"/>
          <p:cNvSpPr>
            <a:spLocks noChangeArrowheads="1"/>
          </p:cNvSpPr>
          <p:nvPr/>
        </p:nvSpPr>
        <p:spPr bwMode="gray">
          <a:xfrm>
            <a:off x="2371969" y="5296877"/>
            <a:ext cx="6471138" cy="625231"/>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chemeClr val="tx2"/>
                </a:solidFill>
                <a:latin typeface="Arial" panose="020B0604020202020204" pitchFamily="34" charset="0"/>
                <a:ea typeface="宋体" panose="02010600030101010101" pitchFamily="2" charset="-122"/>
              </a:rPr>
              <a:t>三、网络空间安全涉及的内容</a:t>
            </a:r>
            <a:endParaRPr lang="zh-CN" altLang="en-US" sz="3445" b="1">
              <a:solidFill>
                <a:schemeClr val="tx2"/>
              </a:solidFill>
              <a:latin typeface="Arial" panose="020B0604020202020204" pitchFamily="34" charset="0"/>
              <a:ea typeface="宋体" panose="02010600030101010101" pitchFamily="2" charset="-122"/>
            </a:endParaRPr>
          </a:p>
        </p:txBody>
      </p:sp>
      <p:sp>
        <p:nvSpPr>
          <p:cNvPr id="17414" name="AutoShape 7"/>
          <p:cNvSpPr>
            <a:spLocks noChangeArrowheads="1"/>
          </p:cNvSpPr>
          <p:nvPr/>
        </p:nvSpPr>
        <p:spPr bwMode="gray">
          <a:xfrm>
            <a:off x="3194539" y="3251201"/>
            <a:ext cx="6535615" cy="652585"/>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chemeClr val="tx2"/>
                </a:solidFill>
                <a:latin typeface="Arial" panose="020B0604020202020204" pitchFamily="34" charset="0"/>
                <a:ea typeface="宋体" panose="02010600030101010101" pitchFamily="2" charset="-122"/>
              </a:rPr>
              <a:t>二、</a:t>
            </a:r>
            <a:r>
              <a:rPr lang="zh-CN" altLang="en-US" sz="3445" b="1">
                <a:solidFill>
                  <a:schemeClr val="tx2"/>
                </a:solidFill>
                <a:latin typeface="Arial" panose="020B0604020202020204" pitchFamily="34" charset="0"/>
                <a:ea typeface="宋体" panose="02010600030101010101" pitchFamily="2" charset="-122"/>
              </a:rPr>
              <a:t>信息安全形势和任务</a:t>
            </a:r>
            <a:endParaRPr lang="en-US" altLang="zh-CN" sz="3445" b="1">
              <a:solidFill>
                <a:schemeClr val="tx2"/>
              </a:solidFill>
              <a:latin typeface="Arial" panose="020B0604020202020204" pitchFamily="34" charset="0"/>
              <a:ea typeface="宋体" panose="02010600030101010101" pitchFamily="2" charset="-122"/>
            </a:endParaRPr>
          </a:p>
        </p:txBody>
      </p:sp>
      <p:grpSp>
        <p:nvGrpSpPr>
          <p:cNvPr id="17415" name="Group 9"/>
          <p:cNvGrpSpPr/>
          <p:nvPr/>
        </p:nvGrpSpPr>
        <p:grpSpPr bwMode="auto">
          <a:xfrm>
            <a:off x="1873739" y="1336177"/>
            <a:ext cx="508000" cy="540060"/>
            <a:chOff x="2078" y="1558"/>
            <a:chExt cx="1615" cy="1860"/>
          </a:xfrm>
        </p:grpSpPr>
        <p:sp>
          <p:nvSpPr>
            <p:cNvPr id="17431"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7432"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0" name="Oval 12"/>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7434" name="Oval 13"/>
            <p:cNvSpPr>
              <a:spLocks noChangeArrowheads="1"/>
            </p:cNvSpPr>
            <p:nvPr/>
          </p:nvSpPr>
          <p:spPr bwMode="gray">
            <a:xfrm>
              <a:off x="2254" y="1558"/>
              <a:ext cx="1355" cy="1860"/>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2" name="Oval 14"/>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7436" name="Oval 15"/>
            <p:cNvSpPr>
              <a:spLocks noChangeArrowheads="1"/>
            </p:cNvSpPr>
            <p:nvPr/>
          </p:nvSpPr>
          <p:spPr bwMode="gray">
            <a:xfrm>
              <a:off x="2337" y="1583"/>
              <a:ext cx="1096" cy="1811"/>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17416" name="Group 23"/>
          <p:cNvGrpSpPr/>
          <p:nvPr/>
        </p:nvGrpSpPr>
        <p:grpSpPr bwMode="auto">
          <a:xfrm>
            <a:off x="2788139" y="3336916"/>
            <a:ext cx="508000" cy="540060"/>
            <a:chOff x="2078" y="1558"/>
            <a:chExt cx="1615" cy="1860"/>
          </a:xfrm>
        </p:grpSpPr>
        <p:sp>
          <p:nvSpPr>
            <p:cNvPr id="17425" name="Oval 2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7426" name="Oval 2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4" name="Oval 26"/>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7428" name="Oval 27"/>
            <p:cNvSpPr>
              <a:spLocks noChangeArrowheads="1"/>
            </p:cNvSpPr>
            <p:nvPr/>
          </p:nvSpPr>
          <p:spPr bwMode="gray">
            <a:xfrm>
              <a:off x="2254" y="1558"/>
              <a:ext cx="1355" cy="1860"/>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6" name="Oval 28"/>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7430" name="Oval 29"/>
            <p:cNvSpPr>
              <a:spLocks noChangeArrowheads="1"/>
            </p:cNvSpPr>
            <p:nvPr/>
          </p:nvSpPr>
          <p:spPr bwMode="gray">
            <a:xfrm>
              <a:off x="2337" y="1583"/>
              <a:ext cx="1096" cy="1811"/>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17417" name="Group 37"/>
          <p:cNvGrpSpPr/>
          <p:nvPr/>
        </p:nvGrpSpPr>
        <p:grpSpPr bwMode="auto">
          <a:xfrm>
            <a:off x="1975339" y="5322023"/>
            <a:ext cx="474784" cy="540060"/>
            <a:chOff x="2078" y="1558"/>
            <a:chExt cx="1615" cy="1860"/>
          </a:xfrm>
        </p:grpSpPr>
        <p:sp>
          <p:nvSpPr>
            <p:cNvPr id="17419" name="Oval 3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7420" name="Oval 3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48" name="Oval 40"/>
            <p:cNvSpPr>
              <a:spLocks noChangeArrowheads="1"/>
            </p:cNvSpPr>
            <p:nvPr/>
          </p:nvSpPr>
          <p:spPr bwMode="gray">
            <a:xfrm>
              <a:off x="2251" y="2119"/>
              <a:ext cx="1424"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7422" name="Oval 41"/>
            <p:cNvSpPr>
              <a:spLocks noChangeArrowheads="1"/>
            </p:cNvSpPr>
            <p:nvPr/>
          </p:nvSpPr>
          <p:spPr bwMode="gray">
            <a:xfrm>
              <a:off x="2254" y="1558"/>
              <a:ext cx="1424" cy="1860"/>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50" name="Oval 42"/>
            <p:cNvSpPr>
              <a:spLocks noChangeArrowheads="1"/>
            </p:cNvSpPr>
            <p:nvPr/>
          </p:nvSpPr>
          <p:spPr bwMode="gray">
            <a:xfrm>
              <a:off x="2337" y="2143"/>
              <a:ext cx="1097"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7424" name="Oval 43"/>
            <p:cNvSpPr>
              <a:spLocks noChangeArrowheads="1"/>
            </p:cNvSpPr>
            <p:nvPr/>
          </p:nvSpPr>
          <p:spPr bwMode="gray">
            <a:xfrm>
              <a:off x="2337" y="1583"/>
              <a:ext cx="1096" cy="1811"/>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sp>
        <p:nvSpPr>
          <p:cNvPr id="17418" name="AutoShape 44"/>
          <p:cNvSpPr>
            <a:spLocks noChangeArrowheads="1"/>
          </p:cNvSpPr>
          <p:nvPr/>
        </p:nvSpPr>
        <p:spPr bwMode="gray">
          <a:xfrm>
            <a:off x="2336800" y="1301262"/>
            <a:ext cx="6418385" cy="595922"/>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chemeClr val="tx2"/>
                </a:solidFill>
                <a:latin typeface="Arial" panose="020B0604020202020204" pitchFamily="34" charset="0"/>
                <a:ea typeface="宋体" panose="02010600030101010101" pitchFamily="2" charset="-122"/>
              </a:rPr>
              <a:t>一、</a:t>
            </a:r>
            <a:r>
              <a:rPr lang="zh-CN" altLang="en-US" sz="3445" b="1">
                <a:solidFill>
                  <a:srgbClr val="FF0000"/>
                </a:solidFill>
                <a:latin typeface="Arial" panose="020B0604020202020204" pitchFamily="34" charset="0"/>
                <a:ea typeface="宋体" panose="02010600030101010101" pitchFamily="2" charset="-122"/>
              </a:rPr>
              <a:t>信息安全基本常识</a:t>
            </a:r>
            <a:endParaRPr lang="en-US" altLang="zh-CN" sz="3445" b="1">
              <a:solidFill>
                <a:srgbClr val="FF0000"/>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病毒"/>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6785" y="1123462"/>
            <a:ext cx="2594708" cy="2424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5" descr="黑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493" y="4337539"/>
            <a:ext cx="2436446" cy="188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Rectangle 6"/>
          <p:cNvSpPr>
            <a:spLocks noChangeArrowheads="1"/>
          </p:cNvSpPr>
          <p:nvPr/>
        </p:nvSpPr>
        <p:spPr bwMode="auto">
          <a:xfrm>
            <a:off x="1195754" y="6310924"/>
            <a:ext cx="3823678" cy="75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427" tIns="58212" rIns="116427" bIns="58212"/>
          <a:lstStyle>
            <a:lvl1pPr defTabSz="9461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9461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94615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 typeface="Wingdings" panose="05000000000000000000" pitchFamily="2" charset="2"/>
              <a:buNone/>
            </a:pPr>
            <a:r>
              <a:rPr lang="zh-CN" altLang="en-US" sz="2955" b="1">
                <a:latin typeface="Arial" panose="020B0604020202020204" pitchFamily="34" charset="0"/>
                <a:ea typeface="宋体" panose="02010600030101010101" pitchFamily="2" charset="-122"/>
              </a:rPr>
              <a:t>因为有黑客吗？</a:t>
            </a:r>
            <a:endParaRPr lang="zh-CN" altLang="en-US" sz="2955" b="1">
              <a:latin typeface="Arial" panose="020B0604020202020204" pitchFamily="34" charset="0"/>
              <a:ea typeface="宋体" panose="02010600030101010101" pitchFamily="2" charset="-122"/>
            </a:endParaRPr>
          </a:p>
        </p:txBody>
      </p:sp>
      <p:pic>
        <p:nvPicPr>
          <p:cNvPr id="18439" name="Picture 7" descr="漏洞"/>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9524" y="914401"/>
            <a:ext cx="3522784" cy="337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Rectangle 8"/>
          <p:cNvSpPr>
            <a:spLocks noChangeArrowheads="1"/>
          </p:cNvSpPr>
          <p:nvPr/>
        </p:nvSpPr>
        <p:spPr bwMode="auto">
          <a:xfrm>
            <a:off x="6893169" y="3868616"/>
            <a:ext cx="4366847" cy="75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427" tIns="58212" rIns="116427" bIns="58212"/>
          <a:lstStyle>
            <a:lvl1pPr defTabSz="9461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9461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94615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 typeface="Wingdings" panose="05000000000000000000" pitchFamily="2" charset="2"/>
              <a:buNone/>
            </a:pPr>
            <a:r>
              <a:rPr lang="zh-CN" altLang="en-US" sz="2955" b="1">
                <a:latin typeface="Arial" panose="020B0604020202020204" pitchFamily="34" charset="0"/>
                <a:ea typeface="宋体" panose="02010600030101010101" pitchFamily="2" charset="-122"/>
              </a:rPr>
              <a:t>因为有漏洞吗？</a:t>
            </a:r>
            <a:endParaRPr lang="zh-CN" altLang="en-US" sz="2955" b="1">
              <a:latin typeface="Arial" panose="020B0604020202020204" pitchFamily="34" charset="0"/>
              <a:ea typeface="宋体" panose="02010600030101010101" pitchFamily="2" charset="-122"/>
            </a:endParaRPr>
          </a:p>
        </p:txBody>
      </p:sp>
      <p:sp>
        <p:nvSpPr>
          <p:cNvPr id="2" name="Rectangle 9"/>
          <p:cNvSpPr>
            <a:spLocks noChangeArrowheads="1"/>
          </p:cNvSpPr>
          <p:nvPr/>
        </p:nvSpPr>
        <p:spPr bwMode="auto">
          <a:xfrm>
            <a:off x="5552831" y="5375031"/>
            <a:ext cx="6209323" cy="75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427" tIns="58212" rIns="116427" bIns="58212"/>
          <a:lstStyle>
            <a:lvl1pPr marL="352425" indent="-352425" defTabSz="9461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9461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94615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Tx/>
              <a:buNone/>
            </a:pPr>
            <a:endParaRPr lang="zh-CN" altLang="en-US" sz="3570">
              <a:latin typeface="Arial" panose="020B0604020202020204" pitchFamily="34" charset="0"/>
              <a:ea typeface="宋体" panose="02010600030101010101" pitchFamily="2" charset="-122"/>
            </a:endParaRPr>
          </a:p>
        </p:txBody>
      </p:sp>
      <p:grpSp>
        <p:nvGrpSpPr>
          <p:cNvPr id="674826" name="Group 10"/>
          <p:cNvGrpSpPr/>
          <p:nvPr/>
        </p:nvGrpSpPr>
        <p:grpSpPr bwMode="auto">
          <a:xfrm>
            <a:off x="10161954" y="5937738"/>
            <a:ext cx="877276" cy="730738"/>
            <a:chOff x="2061" y="1529"/>
            <a:chExt cx="1384" cy="917"/>
          </a:xfrm>
        </p:grpSpPr>
        <p:sp>
          <p:nvSpPr>
            <p:cNvPr id="18444" name="Freeform 11"/>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45" name="Freeform 12"/>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46" name="Freeform 13"/>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47" name="Freeform 14"/>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18448" name="Freeform 15"/>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18449" name="Freeform 16"/>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18450" name="Freeform 17"/>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18451" name="Freeform 18"/>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27" tIns="58212" rIns="116427" bIns="58212"/>
            <a:lstStyle/>
            <a:p>
              <a:endParaRPr lang="zh-CN" altLang="en-US" sz="100"/>
            </a:p>
          </p:txBody>
        </p:sp>
        <p:sp>
          <p:nvSpPr>
            <p:cNvPr id="18452" name="Freeform 19"/>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53" name="Freeform 20"/>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54" name="Freeform 21"/>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55" name="Freeform 22"/>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56" name="Freeform 23"/>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57" name="Freeform 24"/>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58" name="Freeform 25"/>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59" name="Freeform 26"/>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0" name="Freeform 27"/>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1" name="Freeform 28"/>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2" name="Freeform 29"/>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3" name="Freeform 30"/>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4" name="Freeform 31"/>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5" name="Freeform 32"/>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6" name="Freeform 33"/>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67" name="Line 34"/>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8468" name="Line 35"/>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8469" name="Freeform 36"/>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70" name="Freeform 37"/>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71" name="Freeform 38"/>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72" name="Freeform 39"/>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18473" name="Freeform 40"/>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18474" name="Freeform 41"/>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18475" name="Freeform 42"/>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grpSp>
      <p:sp>
        <p:nvSpPr>
          <p:cNvPr id="674859" name="AutoShape 43"/>
          <p:cNvSpPr>
            <a:spLocks noChangeArrowheads="1"/>
          </p:cNvSpPr>
          <p:nvPr/>
        </p:nvSpPr>
        <p:spPr bwMode="auto">
          <a:xfrm>
            <a:off x="7088554" y="5281246"/>
            <a:ext cx="3073401" cy="1127370"/>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484" tIns="56243" rIns="112484" bIns="56243"/>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这些都是原因，</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但没有说到根源</a:t>
            </a:r>
            <a:endParaRPr lang="zh-CN" altLang="en-US" sz="2955" b="1">
              <a:solidFill>
                <a:srgbClr val="0000CC"/>
              </a:solidFill>
              <a:latin typeface="Arial" panose="020B0604020202020204" pitchFamily="34" charset="0"/>
              <a:ea typeface="宋体" panose="02010600030101010101" pitchFamily="2" charset="-122"/>
            </a:endParaRPr>
          </a:p>
        </p:txBody>
      </p:sp>
      <p:sp>
        <p:nvSpPr>
          <p:cNvPr id="44" name="Rectangle 8"/>
          <p:cNvSpPr>
            <a:spLocks noChangeArrowheads="1"/>
          </p:cNvSpPr>
          <p:nvPr/>
        </p:nvSpPr>
        <p:spPr bwMode="auto">
          <a:xfrm>
            <a:off x="1185985" y="3559908"/>
            <a:ext cx="4366846" cy="75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427" tIns="58212" rIns="116427" bIns="58212"/>
          <a:lstStyle>
            <a:lvl1pPr defTabSz="9461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9461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94615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 typeface="Wingdings" panose="05000000000000000000" pitchFamily="2" charset="2"/>
              <a:buNone/>
            </a:pPr>
            <a:r>
              <a:rPr lang="zh-CN" altLang="en-US" sz="2955" b="1">
                <a:latin typeface="Arial" panose="020B0604020202020204" pitchFamily="34" charset="0"/>
                <a:ea typeface="宋体" panose="02010600030101010101" pitchFamily="2" charset="-122"/>
              </a:rPr>
              <a:t>因为有病毒吗？</a:t>
            </a:r>
            <a:endParaRPr lang="zh-CN" altLang="en-US" sz="2955" b="1">
              <a:latin typeface="Arial" panose="020B0604020202020204" pitchFamily="34" charset="0"/>
              <a:ea typeface="宋体" panose="02010600030101010101" pitchFamily="2" charset="-122"/>
            </a:endParaRPr>
          </a:p>
        </p:txBody>
      </p:sp>
      <p:sp>
        <p:nvSpPr>
          <p:cNvPr id="18443" name="Rectangle 8"/>
          <p:cNvSpPr>
            <a:spLocks noChangeArrowheads="1"/>
          </p:cNvSpPr>
          <p:nvPr/>
        </p:nvSpPr>
        <p:spPr bwMode="auto">
          <a:xfrm>
            <a:off x="552939" y="89878"/>
            <a:ext cx="6340230" cy="75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427" tIns="58212" rIns="116427" bIns="58212"/>
          <a:lstStyle>
            <a:lvl1pPr defTabSz="9461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9461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94615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 typeface="Wingdings" panose="05000000000000000000" pitchFamily="2" charset="2"/>
              <a:buNone/>
            </a:pPr>
            <a:r>
              <a:rPr lang="zh-CN" altLang="en-US" sz="3445" b="1">
                <a:solidFill>
                  <a:srgbClr val="FF0000"/>
                </a:solidFill>
              </a:rPr>
              <a:t>为什么会有信息安全问题？</a:t>
            </a:r>
            <a:endParaRPr lang="zh-CN" altLang="en-US" sz="3445"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ppt_x"/>
                                          </p:val>
                                        </p:tav>
                                        <p:tav tm="100000">
                                          <p:val>
                                            <p:strVal val="#ppt_x"/>
                                          </p:val>
                                        </p:tav>
                                      </p:tavLst>
                                    </p:anim>
                                    <p:anim calcmode="lin" valueType="num">
                                      <p:cBhvr additive="base">
                                        <p:cTn id="8" dur="500" fill="hold"/>
                                        <p:tgtEl>
                                          <p:spTgt spid="184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ppt_x"/>
                                          </p:val>
                                        </p:tav>
                                        <p:tav tm="100000">
                                          <p:val>
                                            <p:strVal val="#ppt_x"/>
                                          </p:val>
                                        </p:tav>
                                      </p:tavLst>
                                    </p:anim>
                                    <p:anim calcmode="lin" valueType="num">
                                      <p:cBhvr additive="base">
                                        <p:cTn id="1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439"/>
                                        </p:tgtEl>
                                        <p:attrNameLst>
                                          <p:attrName>style.visibility</p:attrName>
                                        </p:attrNameLst>
                                      </p:cBhvr>
                                      <p:to>
                                        <p:strVal val="visible"/>
                                      </p:to>
                                    </p:set>
                                    <p:animEffect transition="in" filter="fade">
                                      <p:cBhvr>
                                        <p:cTn id="17" dur="500"/>
                                        <p:tgtEl>
                                          <p:spTgt spid="1843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440"/>
                                        </p:tgtEl>
                                        <p:attrNameLst>
                                          <p:attrName>style.visibility</p:attrName>
                                        </p:attrNameLst>
                                      </p:cBhvr>
                                      <p:to>
                                        <p:strVal val="visible"/>
                                      </p:to>
                                    </p:set>
                                    <p:animEffect transition="in" filter="fade">
                                      <p:cBhvr>
                                        <p:cTn id="20" dur="500"/>
                                        <p:tgtEl>
                                          <p:spTgt spid="18440"/>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18437"/>
                                        </p:tgtEl>
                                        <p:attrNameLst>
                                          <p:attrName>style.visibility</p:attrName>
                                        </p:attrNameLst>
                                      </p:cBhvr>
                                      <p:to>
                                        <p:strVal val="visible"/>
                                      </p:to>
                                    </p:set>
                                    <p:animEffect transition="in" filter="barn(inVertical)">
                                      <p:cBhvr>
                                        <p:cTn id="25" dur="500"/>
                                        <p:tgtEl>
                                          <p:spTgt spid="18437"/>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8438"/>
                                        </p:tgtEl>
                                        <p:attrNameLst>
                                          <p:attrName>style.visibility</p:attrName>
                                        </p:attrNameLst>
                                      </p:cBhvr>
                                      <p:to>
                                        <p:strVal val="visible"/>
                                      </p:to>
                                    </p:set>
                                    <p:animEffect transition="in" filter="barn(inVertical)">
                                      <p:cBhvr>
                                        <p:cTn id="28" dur="500"/>
                                        <p:tgtEl>
                                          <p:spTgt spid="18438"/>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674826"/>
                                        </p:tgtEl>
                                        <p:attrNameLst>
                                          <p:attrName>style.visibility</p:attrName>
                                        </p:attrNameLst>
                                      </p:cBhvr>
                                      <p:to>
                                        <p:strVal val="visible"/>
                                      </p:to>
                                    </p:set>
                                    <p:animEffect transition="in" filter="circle(in)">
                                      <p:cBhvr>
                                        <p:cTn id="33" dur="2000"/>
                                        <p:tgtEl>
                                          <p:spTgt spid="674826"/>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674859"/>
                                        </p:tgtEl>
                                        <p:attrNameLst>
                                          <p:attrName>style.visibility</p:attrName>
                                        </p:attrNameLst>
                                      </p:cBhvr>
                                      <p:to>
                                        <p:strVal val="visible"/>
                                      </p:to>
                                    </p:set>
                                    <p:animEffect transition="in" filter="circle(in)">
                                      <p:cBhvr>
                                        <p:cTn id="36" dur="2000"/>
                                        <p:tgtEl>
                                          <p:spTgt spid="674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p:bldP spid="18440" grpId="0"/>
      <p:bldP spid="674859" grpId="0" bldLvl="0" animBg="1"/>
      <p:bldP spid="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777631" y="82062"/>
            <a:ext cx="3368431" cy="599830"/>
          </a:xfrm>
        </p:spPr>
        <p:txBody>
          <a:bodyPr lIns="116427" tIns="58212" rIns="116427" bIns="58212"/>
          <a:lstStyle/>
          <a:p>
            <a:r>
              <a:rPr lang="zh-CN" altLang="en-US" sz="3445">
                <a:solidFill>
                  <a:schemeClr val="tx1"/>
                </a:solidFill>
              </a:rPr>
              <a:t>安全问题根源</a:t>
            </a:r>
            <a:r>
              <a:rPr lang="en-US" altLang="zh-CN" sz="3445">
                <a:solidFill>
                  <a:schemeClr val="tx1"/>
                </a:solidFill>
              </a:rPr>
              <a:t>—</a:t>
            </a:r>
            <a:endParaRPr lang="zh-CN" altLang="en-US" sz="3445">
              <a:solidFill>
                <a:srgbClr val="FF0000"/>
              </a:solidFill>
            </a:endParaRPr>
          </a:p>
        </p:txBody>
      </p:sp>
      <p:grpSp>
        <p:nvGrpSpPr>
          <p:cNvPr id="680963" name="Group 3"/>
          <p:cNvGrpSpPr/>
          <p:nvPr/>
        </p:nvGrpSpPr>
        <p:grpSpPr bwMode="auto">
          <a:xfrm>
            <a:off x="4448908" y="1606062"/>
            <a:ext cx="1525953" cy="750277"/>
            <a:chOff x="1248" y="1104"/>
            <a:chExt cx="720" cy="384"/>
          </a:xfrm>
        </p:grpSpPr>
        <p:grpSp>
          <p:nvGrpSpPr>
            <p:cNvPr id="19620" name="Group 4"/>
            <p:cNvGrpSpPr/>
            <p:nvPr/>
          </p:nvGrpSpPr>
          <p:grpSpPr bwMode="auto">
            <a:xfrm>
              <a:off x="1584" y="1104"/>
              <a:ext cx="384" cy="384"/>
              <a:chOff x="1584" y="1104"/>
              <a:chExt cx="384" cy="384"/>
            </a:xfrm>
          </p:grpSpPr>
          <p:sp>
            <p:nvSpPr>
              <p:cNvPr id="19623" name="AutoShape 5"/>
              <p:cNvSpPr>
                <a:spLocks noChangeArrowheads="1"/>
              </p:cNvSpPr>
              <p:nvPr/>
            </p:nvSpPr>
            <p:spPr bwMode="auto">
              <a:xfrm>
                <a:off x="1632" y="1104"/>
                <a:ext cx="288" cy="230"/>
              </a:xfrm>
              <a:prstGeom prst="roundRect">
                <a:avLst>
                  <a:gd name="adj" fmla="val 16667"/>
                </a:avLst>
              </a:prstGeom>
              <a:solidFill>
                <a:srgbClr val="FFCC00"/>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24" name="Rectangle 6"/>
              <p:cNvSpPr>
                <a:spLocks noChangeArrowheads="1"/>
              </p:cNvSpPr>
              <p:nvPr/>
            </p:nvSpPr>
            <p:spPr bwMode="auto">
              <a:xfrm>
                <a:off x="1584" y="1392"/>
                <a:ext cx="384" cy="96"/>
              </a:xfrm>
              <a:prstGeom prst="rect">
                <a:avLst/>
              </a:prstGeom>
              <a:solidFill>
                <a:srgbClr val="FFCC00"/>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621" name="AutoShape 7"/>
            <p:cNvSpPr>
              <a:spLocks noChangeArrowheads="1"/>
            </p:cNvSpPr>
            <p:nvPr/>
          </p:nvSpPr>
          <p:spPr bwMode="auto">
            <a:xfrm>
              <a:off x="1248" y="1104"/>
              <a:ext cx="192" cy="240"/>
            </a:xfrm>
            <a:prstGeom prst="can">
              <a:avLst>
                <a:gd name="adj" fmla="val 31250"/>
              </a:avLst>
            </a:prstGeom>
            <a:solidFill>
              <a:srgbClr val="FFCC00"/>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22" name="Line 8"/>
            <p:cNvSpPr>
              <a:spLocks noChangeShapeType="1"/>
            </p:cNvSpPr>
            <p:nvPr/>
          </p:nvSpPr>
          <p:spPr bwMode="auto">
            <a:xfrm flipH="1">
              <a:off x="1440" y="1248"/>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680969" name="Group 9"/>
          <p:cNvGrpSpPr/>
          <p:nvPr/>
        </p:nvGrpSpPr>
        <p:grpSpPr bwMode="auto">
          <a:xfrm>
            <a:off x="3841262" y="1512278"/>
            <a:ext cx="257908" cy="744415"/>
            <a:chOff x="816" y="912"/>
            <a:chExt cx="122" cy="381"/>
          </a:xfrm>
        </p:grpSpPr>
        <p:sp>
          <p:nvSpPr>
            <p:cNvPr id="19618" name="Oval 10"/>
            <p:cNvSpPr>
              <a:spLocks noChangeArrowheads="1"/>
            </p:cNvSpPr>
            <p:nvPr/>
          </p:nvSpPr>
          <p:spPr bwMode="auto">
            <a:xfrm>
              <a:off x="816" y="912"/>
              <a:ext cx="122" cy="122"/>
            </a:xfrm>
            <a:prstGeom prst="ellipse">
              <a:avLst/>
            </a:prstGeom>
            <a:solidFill>
              <a:schemeClr val="accent1"/>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19" name="Freeform 11"/>
            <p:cNvSpPr/>
            <p:nvPr/>
          </p:nvSpPr>
          <p:spPr bwMode="auto">
            <a:xfrm>
              <a:off x="816" y="1104"/>
              <a:ext cx="109" cy="189"/>
            </a:xfrm>
            <a:custGeom>
              <a:avLst/>
              <a:gdLst>
                <a:gd name="T0" fmla="*/ 0 w 116"/>
                <a:gd name="T1" fmla="*/ 0 h 232"/>
                <a:gd name="T2" fmla="*/ 8 w 116"/>
                <a:gd name="T3" fmla="*/ 0 h 232"/>
                <a:gd name="T4" fmla="*/ 0 w 116"/>
                <a:gd name="T5" fmla="*/ 2 h 232"/>
                <a:gd name="T6" fmla="*/ 0 w 116"/>
                <a:gd name="T7" fmla="*/ 0 h 232"/>
                <a:gd name="T8" fmla="*/ 0 60000 65536"/>
                <a:gd name="T9" fmla="*/ 0 60000 65536"/>
                <a:gd name="T10" fmla="*/ 0 60000 65536"/>
                <a:gd name="T11" fmla="*/ 0 60000 65536"/>
                <a:gd name="T12" fmla="*/ 0 w 116"/>
                <a:gd name="T13" fmla="*/ 0 h 232"/>
                <a:gd name="T14" fmla="*/ 116 w 116"/>
                <a:gd name="T15" fmla="*/ 232 h 232"/>
              </a:gdLst>
              <a:ahLst/>
              <a:cxnLst>
                <a:cxn ang="T8">
                  <a:pos x="T0" y="T1"/>
                </a:cxn>
                <a:cxn ang="T9">
                  <a:pos x="T2" y="T3"/>
                </a:cxn>
                <a:cxn ang="T10">
                  <a:pos x="T4" y="T5"/>
                </a:cxn>
                <a:cxn ang="T11">
                  <a:pos x="T6" y="T7"/>
                </a:cxn>
              </a:cxnLst>
              <a:rect l="T12" t="T13" r="T14" b="T15"/>
              <a:pathLst>
                <a:path w="116" h="232">
                  <a:moveTo>
                    <a:pt x="0" y="0"/>
                  </a:moveTo>
                  <a:lnTo>
                    <a:pt x="116" y="0"/>
                  </a:lnTo>
                  <a:lnTo>
                    <a:pt x="0" y="232"/>
                  </a:lnTo>
                  <a:lnTo>
                    <a:pt x="0" y="0"/>
                  </a:lnTo>
                  <a:close/>
                </a:path>
              </a:pathLst>
            </a:custGeom>
            <a:solidFill>
              <a:schemeClr val="accent1"/>
            </a:solidFill>
            <a:ln w="19050">
              <a:solidFill>
                <a:schemeClr val="tx1"/>
              </a:solidFill>
              <a:round/>
            </a:ln>
          </p:spPr>
          <p:txBody>
            <a:bodyPr wrap="none" lIns="116427" tIns="58212" rIns="116427" bIns="58212" anchor="ctr"/>
            <a:lstStyle/>
            <a:p>
              <a:endParaRPr lang="zh-CN" altLang="en-US" sz="100"/>
            </a:p>
          </p:txBody>
        </p:sp>
      </p:grpSp>
      <p:grpSp>
        <p:nvGrpSpPr>
          <p:cNvPr id="680972" name="Group 12"/>
          <p:cNvGrpSpPr/>
          <p:nvPr/>
        </p:nvGrpSpPr>
        <p:grpSpPr bwMode="auto">
          <a:xfrm>
            <a:off x="4351216" y="947615"/>
            <a:ext cx="506046" cy="1969477"/>
            <a:chOff x="1200" y="768"/>
            <a:chExt cx="240" cy="1007"/>
          </a:xfrm>
        </p:grpSpPr>
        <p:grpSp>
          <p:nvGrpSpPr>
            <p:cNvPr id="19611" name="Group 13"/>
            <p:cNvGrpSpPr/>
            <p:nvPr/>
          </p:nvGrpSpPr>
          <p:grpSpPr bwMode="auto">
            <a:xfrm>
              <a:off x="1200" y="1536"/>
              <a:ext cx="240" cy="239"/>
              <a:chOff x="1152" y="1584"/>
              <a:chExt cx="240" cy="239"/>
            </a:xfrm>
          </p:grpSpPr>
          <p:sp>
            <p:nvSpPr>
              <p:cNvPr id="19616" name="AutoShape 14"/>
              <p:cNvSpPr>
                <a:spLocks noChangeArrowheads="1"/>
              </p:cNvSpPr>
              <p:nvPr/>
            </p:nvSpPr>
            <p:spPr bwMode="auto">
              <a:xfrm>
                <a:off x="1152" y="1584"/>
                <a:ext cx="240" cy="239"/>
              </a:xfrm>
              <a:prstGeom prst="roundRect">
                <a:avLst>
                  <a:gd name="adj" fmla="val 16667"/>
                </a:avLst>
              </a:prstGeom>
              <a:solidFill>
                <a:srgbClr val="008000"/>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17" name="AutoShape 15"/>
              <p:cNvSpPr>
                <a:spLocks noChangeArrowheads="1"/>
              </p:cNvSpPr>
              <p:nvPr/>
            </p:nvSpPr>
            <p:spPr bwMode="auto">
              <a:xfrm>
                <a:off x="1200" y="1584"/>
                <a:ext cx="108" cy="74"/>
              </a:xfrm>
              <a:prstGeom prst="roundRect">
                <a:avLst>
                  <a:gd name="adj" fmla="val 16667"/>
                </a:avLst>
              </a:prstGeom>
              <a:solidFill>
                <a:srgbClr val="008000"/>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19612" name="Group 16"/>
            <p:cNvGrpSpPr/>
            <p:nvPr/>
          </p:nvGrpSpPr>
          <p:grpSpPr bwMode="auto">
            <a:xfrm>
              <a:off x="1200" y="768"/>
              <a:ext cx="240" cy="144"/>
              <a:chOff x="1104" y="816"/>
              <a:chExt cx="240" cy="144"/>
            </a:xfrm>
          </p:grpSpPr>
          <p:sp>
            <p:nvSpPr>
              <p:cNvPr id="19613" name="AutoShape 17"/>
              <p:cNvSpPr>
                <a:spLocks noChangeArrowheads="1"/>
              </p:cNvSpPr>
              <p:nvPr/>
            </p:nvSpPr>
            <p:spPr bwMode="auto">
              <a:xfrm>
                <a:off x="1104" y="816"/>
                <a:ext cx="240" cy="144"/>
              </a:xfrm>
              <a:prstGeom prst="roundRect">
                <a:avLst>
                  <a:gd name="adj" fmla="val 16667"/>
                </a:avLst>
              </a:prstGeom>
              <a:solidFill>
                <a:srgbClr val="008000"/>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14" name="Oval 18"/>
              <p:cNvSpPr>
                <a:spLocks noChangeArrowheads="1"/>
              </p:cNvSpPr>
              <p:nvPr/>
            </p:nvSpPr>
            <p:spPr bwMode="auto">
              <a:xfrm>
                <a:off x="1152" y="864"/>
                <a:ext cx="48" cy="48"/>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15" name="Oval 19"/>
              <p:cNvSpPr>
                <a:spLocks noChangeArrowheads="1"/>
              </p:cNvSpPr>
              <p:nvPr/>
            </p:nvSpPr>
            <p:spPr bwMode="auto">
              <a:xfrm>
                <a:off x="1248" y="864"/>
                <a:ext cx="48" cy="48"/>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grpSp>
        <p:nvGrpSpPr>
          <p:cNvPr id="680980" name="Group 20"/>
          <p:cNvGrpSpPr/>
          <p:nvPr/>
        </p:nvGrpSpPr>
        <p:grpSpPr bwMode="auto">
          <a:xfrm>
            <a:off x="2934677" y="2379785"/>
            <a:ext cx="5181600" cy="2157046"/>
            <a:chOff x="528" y="1488"/>
            <a:chExt cx="2448" cy="1104"/>
          </a:xfrm>
        </p:grpSpPr>
        <p:sp useBgFill="1">
          <p:nvSpPr>
            <p:cNvPr id="19596" name="Oval 21"/>
            <p:cNvSpPr>
              <a:spLocks noChangeArrowheads="1"/>
            </p:cNvSpPr>
            <p:nvPr/>
          </p:nvSpPr>
          <p:spPr bwMode="auto">
            <a:xfrm>
              <a:off x="1632" y="1872"/>
              <a:ext cx="288" cy="288"/>
            </a:xfrm>
            <a:prstGeom prst="ellipse">
              <a:avLst/>
            </a:prstGeom>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97" name="Line 22"/>
            <p:cNvSpPr>
              <a:spLocks noChangeShapeType="1"/>
            </p:cNvSpPr>
            <p:nvPr/>
          </p:nvSpPr>
          <p:spPr bwMode="auto">
            <a:xfrm>
              <a:off x="2784" y="2016"/>
              <a:ext cx="0"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98" name="Line 23"/>
            <p:cNvSpPr>
              <a:spLocks noChangeShapeType="1"/>
            </p:cNvSpPr>
            <p:nvPr/>
          </p:nvSpPr>
          <p:spPr bwMode="auto">
            <a:xfrm flipV="1">
              <a:off x="864" y="2016"/>
              <a:ext cx="76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19599" name="Group 24"/>
            <p:cNvGrpSpPr/>
            <p:nvPr/>
          </p:nvGrpSpPr>
          <p:grpSpPr bwMode="auto">
            <a:xfrm>
              <a:off x="528" y="1872"/>
              <a:ext cx="384" cy="384"/>
              <a:chOff x="1584" y="1104"/>
              <a:chExt cx="384" cy="384"/>
            </a:xfrm>
          </p:grpSpPr>
          <p:sp>
            <p:nvSpPr>
              <p:cNvPr id="19609" name="AutoShape 25"/>
              <p:cNvSpPr>
                <a:spLocks noChangeArrowheads="1"/>
              </p:cNvSpPr>
              <p:nvPr/>
            </p:nvSpPr>
            <p:spPr bwMode="auto">
              <a:xfrm>
                <a:off x="1632" y="1104"/>
                <a:ext cx="288" cy="230"/>
              </a:xfrm>
              <a:prstGeom prst="roundRect">
                <a:avLst>
                  <a:gd name="adj" fmla="val 16667"/>
                </a:avLst>
              </a:prstGeom>
              <a:solidFill>
                <a:schemeClr val="hlink"/>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10" name="Rectangle 26"/>
              <p:cNvSpPr>
                <a:spLocks noChangeArrowheads="1"/>
              </p:cNvSpPr>
              <p:nvPr/>
            </p:nvSpPr>
            <p:spPr bwMode="auto">
              <a:xfrm>
                <a:off x="1584" y="1392"/>
                <a:ext cx="384" cy="96"/>
              </a:xfrm>
              <a:prstGeom prst="rect">
                <a:avLst/>
              </a:prstGeom>
              <a:solidFill>
                <a:schemeClr val="hlink"/>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600" name="Line 27"/>
            <p:cNvSpPr>
              <a:spLocks noChangeShapeType="1"/>
            </p:cNvSpPr>
            <p:nvPr/>
          </p:nvSpPr>
          <p:spPr bwMode="auto">
            <a:xfrm>
              <a:off x="1776" y="1488"/>
              <a:ext cx="0" cy="38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601" name="Line 28"/>
            <p:cNvSpPr>
              <a:spLocks noChangeShapeType="1"/>
            </p:cNvSpPr>
            <p:nvPr/>
          </p:nvSpPr>
          <p:spPr bwMode="auto">
            <a:xfrm>
              <a:off x="2304" y="2016"/>
              <a:ext cx="0"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19602" name="Group 29"/>
            <p:cNvGrpSpPr/>
            <p:nvPr/>
          </p:nvGrpSpPr>
          <p:grpSpPr bwMode="auto">
            <a:xfrm>
              <a:off x="2112" y="2208"/>
              <a:ext cx="384" cy="384"/>
              <a:chOff x="1584" y="1104"/>
              <a:chExt cx="384" cy="384"/>
            </a:xfrm>
          </p:grpSpPr>
          <p:sp>
            <p:nvSpPr>
              <p:cNvPr id="19607" name="AutoShape 30"/>
              <p:cNvSpPr>
                <a:spLocks noChangeArrowheads="1"/>
              </p:cNvSpPr>
              <p:nvPr/>
            </p:nvSpPr>
            <p:spPr bwMode="auto">
              <a:xfrm>
                <a:off x="1632" y="1104"/>
                <a:ext cx="288" cy="230"/>
              </a:xfrm>
              <a:prstGeom prst="roundRect">
                <a:avLst>
                  <a:gd name="adj" fmla="val 16667"/>
                </a:avLst>
              </a:prstGeom>
              <a:solidFill>
                <a:schemeClr val="hlink"/>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08" name="Rectangle 31"/>
              <p:cNvSpPr>
                <a:spLocks noChangeArrowheads="1"/>
              </p:cNvSpPr>
              <p:nvPr/>
            </p:nvSpPr>
            <p:spPr bwMode="auto">
              <a:xfrm>
                <a:off x="1584" y="1392"/>
                <a:ext cx="384" cy="96"/>
              </a:xfrm>
              <a:prstGeom prst="rect">
                <a:avLst/>
              </a:prstGeom>
              <a:solidFill>
                <a:schemeClr val="hlink"/>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19603" name="Group 32"/>
            <p:cNvGrpSpPr/>
            <p:nvPr/>
          </p:nvGrpSpPr>
          <p:grpSpPr bwMode="auto">
            <a:xfrm>
              <a:off x="2592" y="2208"/>
              <a:ext cx="384" cy="384"/>
              <a:chOff x="1584" y="1104"/>
              <a:chExt cx="384" cy="384"/>
            </a:xfrm>
          </p:grpSpPr>
          <p:sp>
            <p:nvSpPr>
              <p:cNvPr id="19605" name="AutoShape 33"/>
              <p:cNvSpPr>
                <a:spLocks noChangeArrowheads="1"/>
              </p:cNvSpPr>
              <p:nvPr/>
            </p:nvSpPr>
            <p:spPr bwMode="auto">
              <a:xfrm>
                <a:off x="1632" y="1104"/>
                <a:ext cx="288" cy="230"/>
              </a:xfrm>
              <a:prstGeom prst="roundRect">
                <a:avLst>
                  <a:gd name="adj" fmla="val 16667"/>
                </a:avLst>
              </a:prstGeom>
              <a:solidFill>
                <a:schemeClr val="hlink"/>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606" name="Rectangle 34"/>
              <p:cNvSpPr>
                <a:spLocks noChangeArrowheads="1"/>
              </p:cNvSpPr>
              <p:nvPr/>
            </p:nvSpPr>
            <p:spPr bwMode="auto">
              <a:xfrm>
                <a:off x="1584" y="1392"/>
                <a:ext cx="384" cy="96"/>
              </a:xfrm>
              <a:prstGeom prst="rect">
                <a:avLst/>
              </a:prstGeom>
              <a:solidFill>
                <a:schemeClr val="hlink"/>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604" name="Line 35"/>
            <p:cNvSpPr>
              <a:spLocks noChangeShapeType="1"/>
            </p:cNvSpPr>
            <p:nvPr/>
          </p:nvSpPr>
          <p:spPr bwMode="auto">
            <a:xfrm flipV="1">
              <a:off x="1920" y="2016"/>
              <a:ext cx="86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680996" name="Group 36"/>
          <p:cNvGrpSpPr/>
          <p:nvPr/>
        </p:nvGrpSpPr>
        <p:grpSpPr bwMode="auto">
          <a:xfrm>
            <a:off x="6787662" y="2637693"/>
            <a:ext cx="2235200" cy="1664677"/>
            <a:chOff x="2352" y="1632"/>
            <a:chExt cx="1056" cy="852"/>
          </a:xfrm>
        </p:grpSpPr>
        <p:sp>
          <p:nvSpPr>
            <p:cNvPr id="19591" name="Line 37"/>
            <p:cNvSpPr>
              <a:spLocks noChangeShapeType="1"/>
            </p:cNvSpPr>
            <p:nvPr/>
          </p:nvSpPr>
          <p:spPr bwMode="auto">
            <a:xfrm>
              <a:off x="2784" y="2016"/>
              <a:ext cx="48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92" name="Line 38"/>
            <p:cNvSpPr>
              <a:spLocks noChangeShapeType="1"/>
            </p:cNvSpPr>
            <p:nvPr/>
          </p:nvSpPr>
          <p:spPr bwMode="auto">
            <a:xfrm>
              <a:off x="3264" y="2016"/>
              <a:ext cx="0"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93" name="Line 39"/>
            <p:cNvSpPr>
              <a:spLocks noChangeShapeType="1"/>
            </p:cNvSpPr>
            <p:nvPr/>
          </p:nvSpPr>
          <p:spPr bwMode="auto">
            <a:xfrm>
              <a:off x="2544" y="1824"/>
              <a:ext cx="0"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94" name="Freeform 40"/>
            <p:cNvSpPr/>
            <p:nvPr/>
          </p:nvSpPr>
          <p:spPr bwMode="auto">
            <a:xfrm>
              <a:off x="2352" y="1632"/>
              <a:ext cx="384" cy="192"/>
            </a:xfrm>
            <a:custGeom>
              <a:avLst/>
              <a:gdLst>
                <a:gd name="T0" fmla="*/ 0 w 384"/>
                <a:gd name="T1" fmla="*/ 192 h 192"/>
                <a:gd name="T2" fmla="*/ 384 w 384"/>
                <a:gd name="T3" fmla="*/ 192 h 192"/>
                <a:gd name="T4" fmla="*/ 384 w 384"/>
                <a:gd name="T5" fmla="*/ 0 h 192"/>
                <a:gd name="T6" fmla="*/ 336 w 384"/>
                <a:gd name="T7" fmla="*/ 0 h 192"/>
                <a:gd name="T8" fmla="*/ 96 w 384"/>
                <a:gd name="T9" fmla="*/ 48 h 192"/>
                <a:gd name="T10" fmla="*/ 96 w 384"/>
                <a:gd name="T11" fmla="*/ 0 h 192"/>
                <a:gd name="T12" fmla="*/ 0 w 384"/>
                <a:gd name="T13" fmla="*/ 0 h 192"/>
                <a:gd name="T14" fmla="*/ 0 w 384"/>
                <a:gd name="T15" fmla="*/ 192 h 192"/>
                <a:gd name="T16" fmla="*/ 0 60000 65536"/>
                <a:gd name="T17" fmla="*/ 0 60000 65536"/>
                <a:gd name="T18" fmla="*/ 0 60000 65536"/>
                <a:gd name="T19" fmla="*/ 0 60000 65536"/>
                <a:gd name="T20" fmla="*/ 0 60000 65536"/>
                <a:gd name="T21" fmla="*/ 0 60000 65536"/>
                <a:gd name="T22" fmla="*/ 0 60000 65536"/>
                <a:gd name="T23" fmla="*/ 0 60000 65536"/>
                <a:gd name="T24" fmla="*/ 0 w 384"/>
                <a:gd name="T25" fmla="*/ 0 h 192"/>
                <a:gd name="T26" fmla="*/ 384 w 384"/>
                <a:gd name="T27" fmla="*/ 192 h 1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4" h="192">
                  <a:moveTo>
                    <a:pt x="0" y="192"/>
                  </a:moveTo>
                  <a:lnTo>
                    <a:pt x="384" y="192"/>
                  </a:lnTo>
                  <a:lnTo>
                    <a:pt x="384" y="0"/>
                  </a:lnTo>
                  <a:lnTo>
                    <a:pt x="336" y="0"/>
                  </a:lnTo>
                  <a:lnTo>
                    <a:pt x="96" y="48"/>
                  </a:lnTo>
                  <a:lnTo>
                    <a:pt x="96" y="0"/>
                  </a:lnTo>
                  <a:lnTo>
                    <a:pt x="0" y="0"/>
                  </a:lnTo>
                  <a:lnTo>
                    <a:pt x="0" y="192"/>
                  </a:lnTo>
                  <a:close/>
                </a:path>
              </a:pathLst>
            </a:custGeom>
            <a:solidFill>
              <a:srgbClr val="FF7F00"/>
            </a:solidFill>
            <a:ln w="19050">
              <a:solidFill>
                <a:schemeClr val="tx1"/>
              </a:solidFill>
              <a:round/>
            </a:ln>
          </p:spPr>
          <p:txBody>
            <a:bodyPr wrap="none" lIns="116427" tIns="58212" rIns="116427" bIns="58212" anchor="ctr"/>
            <a:lstStyle/>
            <a:p>
              <a:endParaRPr lang="zh-CN" altLang="en-US" sz="100"/>
            </a:p>
          </p:txBody>
        </p:sp>
        <p:sp>
          <p:nvSpPr>
            <p:cNvPr id="19595" name="AutoShape 41"/>
            <p:cNvSpPr>
              <a:spLocks noChangeArrowheads="1"/>
            </p:cNvSpPr>
            <p:nvPr/>
          </p:nvSpPr>
          <p:spPr bwMode="auto">
            <a:xfrm>
              <a:off x="3120" y="2208"/>
              <a:ext cx="288" cy="276"/>
            </a:xfrm>
            <a:prstGeom prst="pentagon">
              <a:avLst/>
            </a:prstGeom>
            <a:solidFill>
              <a:srgbClr val="FE7F00"/>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681002" name="Group 42"/>
          <p:cNvGrpSpPr/>
          <p:nvPr/>
        </p:nvGrpSpPr>
        <p:grpSpPr bwMode="auto">
          <a:xfrm>
            <a:off x="8718062" y="1606062"/>
            <a:ext cx="1801446" cy="1781908"/>
            <a:chOff x="3264" y="1104"/>
            <a:chExt cx="851" cy="912"/>
          </a:xfrm>
        </p:grpSpPr>
        <p:grpSp>
          <p:nvGrpSpPr>
            <p:cNvPr id="19580" name="Group 43"/>
            <p:cNvGrpSpPr/>
            <p:nvPr/>
          </p:nvGrpSpPr>
          <p:grpSpPr bwMode="auto">
            <a:xfrm>
              <a:off x="3744" y="1104"/>
              <a:ext cx="371" cy="283"/>
              <a:chOff x="4236" y="485"/>
              <a:chExt cx="607" cy="463"/>
            </a:xfrm>
          </p:grpSpPr>
          <p:sp>
            <p:nvSpPr>
              <p:cNvPr id="19584" name="Oval 44"/>
              <p:cNvSpPr>
                <a:spLocks noChangeArrowheads="1"/>
              </p:cNvSpPr>
              <p:nvPr/>
            </p:nvSpPr>
            <p:spPr bwMode="auto">
              <a:xfrm>
                <a:off x="4395" y="485"/>
                <a:ext cx="282" cy="260"/>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85" name="Oval 45"/>
              <p:cNvSpPr>
                <a:spLocks noChangeArrowheads="1"/>
              </p:cNvSpPr>
              <p:nvPr/>
            </p:nvSpPr>
            <p:spPr bwMode="auto">
              <a:xfrm>
                <a:off x="4561" y="587"/>
                <a:ext cx="282" cy="216"/>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86" name="Oval 46"/>
              <p:cNvSpPr>
                <a:spLocks noChangeArrowheads="1"/>
              </p:cNvSpPr>
              <p:nvPr/>
            </p:nvSpPr>
            <p:spPr bwMode="auto">
              <a:xfrm>
                <a:off x="4424" y="666"/>
                <a:ext cx="232" cy="260"/>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87" name="Oval 47"/>
              <p:cNvSpPr>
                <a:spLocks noChangeArrowheads="1"/>
              </p:cNvSpPr>
              <p:nvPr/>
            </p:nvSpPr>
            <p:spPr bwMode="auto">
              <a:xfrm>
                <a:off x="4367" y="709"/>
                <a:ext cx="253" cy="239"/>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88" name="Oval 48"/>
              <p:cNvSpPr>
                <a:spLocks noChangeArrowheads="1"/>
              </p:cNvSpPr>
              <p:nvPr/>
            </p:nvSpPr>
            <p:spPr bwMode="auto">
              <a:xfrm>
                <a:off x="4244" y="565"/>
                <a:ext cx="217" cy="216"/>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89" name="Oval 49"/>
              <p:cNvSpPr>
                <a:spLocks noChangeArrowheads="1"/>
              </p:cNvSpPr>
              <p:nvPr/>
            </p:nvSpPr>
            <p:spPr bwMode="auto">
              <a:xfrm>
                <a:off x="4236" y="695"/>
                <a:ext cx="253" cy="217"/>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90" name="Oval 50"/>
              <p:cNvSpPr>
                <a:spLocks noChangeArrowheads="1"/>
              </p:cNvSpPr>
              <p:nvPr/>
            </p:nvSpPr>
            <p:spPr bwMode="auto">
              <a:xfrm>
                <a:off x="4574" y="744"/>
                <a:ext cx="217" cy="158"/>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581" name="AutoShape 51"/>
            <p:cNvSpPr>
              <a:spLocks noChangeArrowheads="1"/>
            </p:cNvSpPr>
            <p:nvPr/>
          </p:nvSpPr>
          <p:spPr bwMode="auto">
            <a:xfrm>
              <a:off x="3264" y="1104"/>
              <a:ext cx="288"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5898240 60000 65536"/>
                <a:gd name="T10" fmla="*/ 11796480 60000 65536"/>
                <a:gd name="T11" fmla="*/ 17694720 60000 65536"/>
                <a:gd name="T12" fmla="*/ 5400 w 21600"/>
                <a:gd name="T13" fmla="*/ 5400 h 21600"/>
                <a:gd name="T14" fmla="*/ 16200 w 21600"/>
                <a:gd name="T15" fmla="*/ 16200 h 21600"/>
              </a:gdLst>
              <a:ahLst/>
              <a:cxnLst>
                <a:cxn ang="T8">
                  <a:pos x="T0" y="T1"/>
                </a:cxn>
                <a:cxn ang="T9">
                  <a:pos x="T2" y="T3"/>
                </a:cxn>
                <a:cxn ang="T10">
                  <a:pos x="T4" y="T5"/>
                </a:cxn>
                <a:cxn ang="T11">
                  <a:pos x="T6" y="T7"/>
                </a:cxn>
              </a:cxnLst>
              <a:rect l="T12" t="T13" r="T14" b="T15"/>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lnTo>
                    <a:pt x="5400" y="5400"/>
                  </a:lnTo>
                  <a:close/>
                </a:path>
              </a:pathLst>
            </a:custGeom>
            <a:solidFill>
              <a:srgbClr val="008000"/>
            </a:solidFill>
            <a:ln w="19050">
              <a:solidFill>
                <a:schemeClr val="tx1"/>
              </a:solidFill>
              <a:miter lim="800000"/>
            </a:ln>
          </p:spPr>
          <p:txBody>
            <a:bodyPr wrap="none" lIns="116427" tIns="58212" rIns="116427" bIns="58212" anchor="ctr"/>
            <a:lstStyle/>
            <a:p>
              <a:endParaRPr lang="zh-CN" altLang="en-US" sz="100"/>
            </a:p>
          </p:txBody>
        </p:sp>
        <p:sp>
          <p:nvSpPr>
            <p:cNvPr id="19582" name="Line 52"/>
            <p:cNvSpPr>
              <a:spLocks noChangeShapeType="1"/>
            </p:cNvSpPr>
            <p:nvPr/>
          </p:nvSpPr>
          <p:spPr bwMode="auto">
            <a:xfrm>
              <a:off x="3552" y="1248"/>
              <a:ext cx="24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83" name="Freeform 53"/>
            <p:cNvSpPr/>
            <p:nvPr/>
          </p:nvSpPr>
          <p:spPr bwMode="auto">
            <a:xfrm>
              <a:off x="3264" y="1392"/>
              <a:ext cx="144" cy="624"/>
            </a:xfrm>
            <a:custGeom>
              <a:avLst/>
              <a:gdLst>
                <a:gd name="T0" fmla="*/ 144 w 144"/>
                <a:gd name="T1" fmla="*/ 0 h 624"/>
                <a:gd name="T2" fmla="*/ 144 w 144"/>
                <a:gd name="T3" fmla="*/ 624 h 624"/>
                <a:gd name="T4" fmla="*/ 0 w 144"/>
                <a:gd name="T5" fmla="*/ 624 h 624"/>
                <a:gd name="T6" fmla="*/ 0 60000 65536"/>
                <a:gd name="T7" fmla="*/ 0 60000 65536"/>
                <a:gd name="T8" fmla="*/ 0 60000 65536"/>
                <a:gd name="T9" fmla="*/ 0 w 144"/>
                <a:gd name="T10" fmla="*/ 0 h 624"/>
                <a:gd name="T11" fmla="*/ 144 w 144"/>
                <a:gd name="T12" fmla="*/ 624 h 624"/>
              </a:gdLst>
              <a:ahLst/>
              <a:cxnLst>
                <a:cxn ang="T6">
                  <a:pos x="T0" y="T1"/>
                </a:cxn>
                <a:cxn ang="T7">
                  <a:pos x="T2" y="T3"/>
                </a:cxn>
                <a:cxn ang="T8">
                  <a:pos x="T4" y="T5"/>
                </a:cxn>
              </a:cxnLst>
              <a:rect l="T9" t="T10" r="T11" b="T12"/>
              <a:pathLst>
                <a:path w="144" h="624">
                  <a:moveTo>
                    <a:pt x="144" y="0"/>
                  </a:moveTo>
                  <a:lnTo>
                    <a:pt x="144" y="624"/>
                  </a:lnTo>
                  <a:lnTo>
                    <a:pt x="0" y="624"/>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lIns="116427" tIns="58212" rIns="116427" bIns="58212" anchor="ctr"/>
            <a:lstStyle/>
            <a:p>
              <a:endParaRPr lang="zh-CN" altLang="en-US" sz="100"/>
            </a:p>
          </p:txBody>
        </p:sp>
      </p:grpSp>
      <p:grpSp>
        <p:nvGrpSpPr>
          <p:cNvPr id="681037" name="Group 77"/>
          <p:cNvGrpSpPr/>
          <p:nvPr/>
        </p:nvGrpSpPr>
        <p:grpSpPr bwMode="auto">
          <a:xfrm>
            <a:off x="1580662" y="1545492"/>
            <a:ext cx="1219200" cy="1209431"/>
            <a:chOff x="480" y="2880"/>
            <a:chExt cx="576" cy="619"/>
          </a:xfrm>
        </p:grpSpPr>
        <p:grpSp>
          <p:nvGrpSpPr>
            <p:cNvPr id="19564" name="Group 78"/>
            <p:cNvGrpSpPr/>
            <p:nvPr/>
          </p:nvGrpSpPr>
          <p:grpSpPr bwMode="auto">
            <a:xfrm>
              <a:off x="480" y="2880"/>
              <a:ext cx="432" cy="144"/>
              <a:chOff x="480" y="2880"/>
              <a:chExt cx="432" cy="144"/>
            </a:xfrm>
          </p:grpSpPr>
          <p:sp>
            <p:nvSpPr>
              <p:cNvPr id="19575" name="AutoShape 79"/>
              <p:cNvSpPr>
                <a:spLocks noChangeArrowheads="1"/>
              </p:cNvSpPr>
              <p:nvPr/>
            </p:nvSpPr>
            <p:spPr bwMode="auto">
              <a:xfrm>
                <a:off x="480" y="2880"/>
                <a:ext cx="432" cy="144"/>
              </a:xfrm>
              <a:prstGeom prst="roundRect">
                <a:avLst>
                  <a:gd name="adj" fmla="val 22222"/>
                </a:avLst>
              </a:prstGeom>
              <a:solidFill>
                <a:srgbClr val="FE7F00"/>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6" name="Oval 80"/>
              <p:cNvSpPr>
                <a:spLocks noChangeArrowheads="1"/>
              </p:cNvSpPr>
              <p:nvPr/>
            </p:nvSpPr>
            <p:spPr bwMode="auto">
              <a:xfrm>
                <a:off x="528" y="2928"/>
                <a:ext cx="48" cy="48"/>
              </a:xfrm>
              <a:prstGeom prst="ellipse">
                <a:avLst/>
              </a:prstGeom>
              <a:solidFill>
                <a:schemeClr val="tx2"/>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7" name="Oval 81"/>
              <p:cNvSpPr>
                <a:spLocks noChangeArrowheads="1"/>
              </p:cNvSpPr>
              <p:nvPr/>
            </p:nvSpPr>
            <p:spPr bwMode="auto">
              <a:xfrm>
                <a:off x="624" y="2928"/>
                <a:ext cx="48" cy="48"/>
              </a:xfrm>
              <a:prstGeom prst="ellipse">
                <a:avLst/>
              </a:prstGeom>
              <a:solidFill>
                <a:schemeClr val="tx2"/>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8" name="Oval 82"/>
              <p:cNvSpPr>
                <a:spLocks noChangeArrowheads="1"/>
              </p:cNvSpPr>
              <p:nvPr/>
            </p:nvSpPr>
            <p:spPr bwMode="auto">
              <a:xfrm>
                <a:off x="720" y="2928"/>
                <a:ext cx="48" cy="48"/>
              </a:xfrm>
              <a:prstGeom prst="ellipse">
                <a:avLst/>
              </a:prstGeom>
              <a:solidFill>
                <a:schemeClr val="tx2"/>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9" name="Oval 83"/>
              <p:cNvSpPr>
                <a:spLocks noChangeArrowheads="1"/>
              </p:cNvSpPr>
              <p:nvPr/>
            </p:nvSpPr>
            <p:spPr bwMode="auto">
              <a:xfrm>
                <a:off x="816" y="2928"/>
                <a:ext cx="48" cy="48"/>
              </a:xfrm>
              <a:prstGeom prst="ellipse">
                <a:avLst/>
              </a:prstGeom>
              <a:solidFill>
                <a:schemeClr val="tx2"/>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19565" name="Group 84"/>
            <p:cNvGrpSpPr/>
            <p:nvPr/>
          </p:nvGrpSpPr>
          <p:grpSpPr bwMode="auto">
            <a:xfrm>
              <a:off x="528" y="3216"/>
              <a:ext cx="371" cy="283"/>
              <a:chOff x="4236" y="485"/>
              <a:chExt cx="607" cy="463"/>
            </a:xfrm>
          </p:grpSpPr>
          <p:sp>
            <p:nvSpPr>
              <p:cNvPr id="19568" name="Oval 85"/>
              <p:cNvSpPr>
                <a:spLocks noChangeArrowheads="1"/>
              </p:cNvSpPr>
              <p:nvPr/>
            </p:nvSpPr>
            <p:spPr bwMode="auto">
              <a:xfrm>
                <a:off x="4395" y="485"/>
                <a:ext cx="282" cy="260"/>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69" name="Oval 86"/>
              <p:cNvSpPr>
                <a:spLocks noChangeArrowheads="1"/>
              </p:cNvSpPr>
              <p:nvPr/>
            </p:nvSpPr>
            <p:spPr bwMode="auto">
              <a:xfrm>
                <a:off x="4561" y="587"/>
                <a:ext cx="282" cy="216"/>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0" name="Oval 87"/>
              <p:cNvSpPr>
                <a:spLocks noChangeArrowheads="1"/>
              </p:cNvSpPr>
              <p:nvPr/>
            </p:nvSpPr>
            <p:spPr bwMode="auto">
              <a:xfrm>
                <a:off x="4424" y="666"/>
                <a:ext cx="232" cy="260"/>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1" name="Oval 88"/>
              <p:cNvSpPr>
                <a:spLocks noChangeArrowheads="1"/>
              </p:cNvSpPr>
              <p:nvPr/>
            </p:nvSpPr>
            <p:spPr bwMode="auto">
              <a:xfrm>
                <a:off x="4367" y="709"/>
                <a:ext cx="253" cy="239"/>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2" name="Oval 89"/>
              <p:cNvSpPr>
                <a:spLocks noChangeArrowheads="1"/>
              </p:cNvSpPr>
              <p:nvPr/>
            </p:nvSpPr>
            <p:spPr bwMode="auto">
              <a:xfrm>
                <a:off x="4244" y="565"/>
                <a:ext cx="217" cy="216"/>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3" name="Oval 90"/>
              <p:cNvSpPr>
                <a:spLocks noChangeArrowheads="1"/>
              </p:cNvSpPr>
              <p:nvPr/>
            </p:nvSpPr>
            <p:spPr bwMode="auto">
              <a:xfrm>
                <a:off x="4236" y="695"/>
                <a:ext cx="253" cy="217"/>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74" name="Oval 91"/>
              <p:cNvSpPr>
                <a:spLocks noChangeArrowheads="1"/>
              </p:cNvSpPr>
              <p:nvPr/>
            </p:nvSpPr>
            <p:spPr bwMode="auto">
              <a:xfrm>
                <a:off x="4574" y="744"/>
                <a:ext cx="217" cy="158"/>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566" name="Line 92"/>
            <p:cNvSpPr>
              <a:spLocks noChangeShapeType="1"/>
            </p:cNvSpPr>
            <p:nvPr/>
          </p:nvSpPr>
          <p:spPr bwMode="auto">
            <a:xfrm>
              <a:off x="720" y="3024"/>
              <a:ext cx="0"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67" name="Line 93"/>
            <p:cNvSpPr>
              <a:spLocks noChangeShapeType="1"/>
            </p:cNvSpPr>
            <p:nvPr/>
          </p:nvSpPr>
          <p:spPr bwMode="auto">
            <a:xfrm flipH="1">
              <a:off x="912" y="2976"/>
              <a:ext cx="1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681054" name="Group 94"/>
          <p:cNvGrpSpPr/>
          <p:nvPr/>
        </p:nvGrpSpPr>
        <p:grpSpPr bwMode="auto">
          <a:xfrm>
            <a:off x="2825262" y="1535724"/>
            <a:ext cx="609600" cy="375138"/>
            <a:chOff x="576" y="1680"/>
            <a:chExt cx="288" cy="192"/>
          </a:xfrm>
        </p:grpSpPr>
        <p:sp>
          <p:nvSpPr>
            <p:cNvPr id="19562" name="AutoShape 95"/>
            <p:cNvSpPr>
              <a:spLocks noChangeArrowheads="1"/>
            </p:cNvSpPr>
            <p:nvPr/>
          </p:nvSpPr>
          <p:spPr bwMode="auto">
            <a:xfrm>
              <a:off x="624" y="1728"/>
              <a:ext cx="192" cy="144"/>
            </a:xfrm>
            <a:prstGeom prst="roundRect">
              <a:avLst>
                <a:gd name="adj" fmla="val 16667"/>
              </a:avLst>
            </a:prstGeom>
            <a:solidFill>
              <a:srgbClr val="FE7F00"/>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63" name="Freeform 96"/>
            <p:cNvSpPr/>
            <p:nvPr/>
          </p:nvSpPr>
          <p:spPr bwMode="auto">
            <a:xfrm>
              <a:off x="576" y="1680"/>
              <a:ext cx="288" cy="96"/>
            </a:xfrm>
            <a:custGeom>
              <a:avLst/>
              <a:gdLst>
                <a:gd name="T0" fmla="*/ 0 w 288"/>
                <a:gd name="T1" fmla="*/ 96 h 96"/>
                <a:gd name="T2" fmla="*/ 96 w 288"/>
                <a:gd name="T3" fmla="*/ 96 h 96"/>
                <a:gd name="T4" fmla="*/ 96 w 288"/>
                <a:gd name="T5" fmla="*/ 48 h 96"/>
                <a:gd name="T6" fmla="*/ 192 w 288"/>
                <a:gd name="T7" fmla="*/ 48 h 96"/>
                <a:gd name="T8" fmla="*/ 192 w 288"/>
                <a:gd name="T9" fmla="*/ 96 h 96"/>
                <a:gd name="T10" fmla="*/ 288 w 288"/>
                <a:gd name="T11" fmla="*/ 96 h 96"/>
                <a:gd name="T12" fmla="*/ 288 w 288"/>
                <a:gd name="T13" fmla="*/ 48 h 96"/>
                <a:gd name="T14" fmla="*/ 240 w 288"/>
                <a:gd name="T15" fmla="*/ 0 h 96"/>
                <a:gd name="T16" fmla="*/ 48 w 288"/>
                <a:gd name="T17" fmla="*/ 0 h 96"/>
                <a:gd name="T18" fmla="*/ 0 w 288"/>
                <a:gd name="T19" fmla="*/ 48 h 96"/>
                <a:gd name="T20" fmla="*/ 0 w 288"/>
                <a:gd name="T21" fmla="*/ 96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8"/>
                <a:gd name="T34" fmla="*/ 0 h 96"/>
                <a:gd name="T35" fmla="*/ 288 w 288"/>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8" h="96">
                  <a:moveTo>
                    <a:pt x="0" y="96"/>
                  </a:moveTo>
                  <a:lnTo>
                    <a:pt x="96" y="96"/>
                  </a:lnTo>
                  <a:lnTo>
                    <a:pt x="96" y="48"/>
                  </a:lnTo>
                  <a:lnTo>
                    <a:pt x="192" y="48"/>
                  </a:lnTo>
                  <a:lnTo>
                    <a:pt x="192" y="96"/>
                  </a:lnTo>
                  <a:lnTo>
                    <a:pt x="288" y="96"/>
                  </a:lnTo>
                  <a:lnTo>
                    <a:pt x="288" y="48"/>
                  </a:lnTo>
                  <a:lnTo>
                    <a:pt x="240" y="0"/>
                  </a:lnTo>
                  <a:lnTo>
                    <a:pt x="48" y="0"/>
                  </a:lnTo>
                  <a:lnTo>
                    <a:pt x="0" y="48"/>
                  </a:lnTo>
                  <a:lnTo>
                    <a:pt x="0" y="96"/>
                  </a:lnTo>
                  <a:close/>
                </a:path>
              </a:pathLst>
            </a:custGeom>
            <a:solidFill>
              <a:srgbClr val="FE7F00"/>
            </a:solidFill>
            <a:ln w="19050">
              <a:solidFill>
                <a:schemeClr val="tx1"/>
              </a:solidFill>
              <a:round/>
            </a:ln>
          </p:spPr>
          <p:txBody>
            <a:bodyPr wrap="none" lIns="116427" tIns="58212" rIns="116427" bIns="58212" anchor="ctr"/>
            <a:lstStyle/>
            <a:p>
              <a:endParaRPr lang="zh-CN" altLang="en-US" sz="100"/>
            </a:p>
          </p:txBody>
        </p:sp>
      </p:grpSp>
      <p:grpSp>
        <p:nvGrpSpPr>
          <p:cNvPr id="681072" name="Group 112"/>
          <p:cNvGrpSpPr/>
          <p:nvPr/>
        </p:nvGrpSpPr>
        <p:grpSpPr bwMode="auto">
          <a:xfrm>
            <a:off x="9734062" y="2074985"/>
            <a:ext cx="812800" cy="1125415"/>
            <a:chOff x="3744" y="1344"/>
            <a:chExt cx="384" cy="576"/>
          </a:xfrm>
        </p:grpSpPr>
        <p:sp>
          <p:nvSpPr>
            <p:cNvPr id="19558" name="Line 113"/>
            <p:cNvSpPr>
              <a:spLocks noChangeShapeType="1"/>
            </p:cNvSpPr>
            <p:nvPr/>
          </p:nvSpPr>
          <p:spPr bwMode="auto">
            <a:xfrm flipV="1">
              <a:off x="3936" y="1344"/>
              <a:ext cx="0"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19559" name="Group 114"/>
            <p:cNvGrpSpPr/>
            <p:nvPr/>
          </p:nvGrpSpPr>
          <p:grpSpPr bwMode="auto">
            <a:xfrm>
              <a:off x="3744" y="1536"/>
              <a:ext cx="384" cy="384"/>
              <a:chOff x="1584" y="1104"/>
              <a:chExt cx="384" cy="384"/>
            </a:xfrm>
          </p:grpSpPr>
          <p:sp>
            <p:nvSpPr>
              <p:cNvPr id="19560" name="AutoShape 115"/>
              <p:cNvSpPr>
                <a:spLocks noChangeArrowheads="1"/>
              </p:cNvSpPr>
              <p:nvPr/>
            </p:nvSpPr>
            <p:spPr bwMode="auto">
              <a:xfrm>
                <a:off x="1632" y="1104"/>
                <a:ext cx="288" cy="230"/>
              </a:xfrm>
              <a:prstGeom prst="roundRect">
                <a:avLst>
                  <a:gd name="adj" fmla="val 16667"/>
                </a:avLst>
              </a:prstGeom>
              <a:solidFill>
                <a:srgbClr val="009999"/>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61" name="Rectangle 116"/>
              <p:cNvSpPr>
                <a:spLocks noChangeArrowheads="1"/>
              </p:cNvSpPr>
              <p:nvPr/>
            </p:nvSpPr>
            <p:spPr bwMode="auto">
              <a:xfrm>
                <a:off x="1584" y="1392"/>
                <a:ext cx="384" cy="96"/>
              </a:xfrm>
              <a:prstGeom prst="rect">
                <a:avLst/>
              </a:prstGeom>
              <a:solidFill>
                <a:srgbClr val="009999"/>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grpSp>
        <p:nvGrpSpPr>
          <p:cNvPr id="681127" name="Group 167"/>
          <p:cNvGrpSpPr/>
          <p:nvPr/>
        </p:nvGrpSpPr>
        <p:grpSpPr bwMode="auto">
          <a:xfrm>
            <a:off x="4044462" y="3669324"/>
            <a:ext cx="7620000" cy="2625969"/>
            <a:chOff x="2031" y="2302"/>
            <a:chExt cx="3827" cy="1270"/>
          </a:xfrm>
        </p:grpSpPr>
        <p:grpSp>
          <p:nvGrpSpPr>
            <p:cNvPr id="19510" name="Group 54"/>
            <p:cNvGrpSpPr/>
            <p:nvPr/>
          </p:nvGrpSpPr>
          <p:grpSpPr bwMode="auto">
            <a:xfrm>
              <a:off x="2031" y="2302"/>
              <a:ext cx="970" cy="1270"/>
              <a:chOff x="1056" y="2160"/>
              <a:chExt cx="912" cy="1344"/>
            </a:xfrm>
          </p:grpSpPr>
          <p:sp>
            <p:nvSpPr>
              <p:cNvPr id="19547" name="Line 55"/>
              <p:cNvSpPr>
                <a:spLocks noChangeShapeType="1"/>
              </p:cNvSpPr>
              <p:nvPr/>
            </p:nvSpPr>
            <p:spPr bwMode="auto">
              <a:xfrm>
                <a:off x="1776" y="2160"/>
                <a:ext cx="0" cy="48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48" name="AutoShape 56"/>
              <p:cNvSpPr>
                <a:spLocks noChangeArrowheads="1"/>
              </p:cNvSpPr>
              <p:nvPr/>
            </p:nvSpPr>
            <p:spPr bwMode="auto">
              <a:xfrm>
                <a:off x="1632" y="2256"/>
                <a:ext cx="288"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5898240 60000 65536"/>
                  <a:gd name="T10" fmla="*/ 11796480 60000 65536"/>
                  <a:gd name="T11" fmla="*/ 17694720 60000 65536"/>
                  <a:gd name="T12" fmla="*/ 5400 w 21600"/>
                  <a:gd name="T13" fmla="*/ 5400 h 21600"/>
                  <a:gd name="T14" fmla="*/ 16200 w 21600"/>
                  <a:gd name="T15" fmla="*/ 16200 h 21600"/>
                </a:gdLst>
                <a:ahLst/>
                <a:cxnLst>
                  <a:cxn ang="T8">
                    <a:pos x="T0" y="T1"/>
                  </a:cxn>
                  <a:cxn ang="T9">
                    <a:pos x="T2" y="T3"/>
                  </a:cxn>
                  <a:cxn ang="T10">
                    <a:pos x="T4" y="T5"/>
                  </a:cxn>
                  <a:cxn ang="T11">
                    <a:pos x="T6" y="T7"/>
                  </a:cxn>
                </a:cxnLst>
                <a:rect l="T12" t="T13" r="T14" b="T15"/>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lnTo>
                      <a:pt x="5400" y="5400"/>
                    </a:lnTo>
                    <a:close/>
                  </a:path>
                </a:pathLst>
              </a:custGeom>
              <a:solidFill>
                <a:srgbClr val="008000"/>
              </a:solidFill>
              <a:ln w="19050">
                <a:solidFill>
                  <a:schemeClr val="tx1"/>
                </a:solidFill>
                <a:miter lim="800000"/>
              </a:ln>
            </p:spPr>
            <p:txBody>
              <a:bodyPr wrap="none" lIns="116427" tIns="58212" rIns="116427" bIns="58212" anchor="ctr"/>
              <a:lstStyle/>
              <a:p>
                <a:endParaRPr lang="zh-CN" altLang="en-US" sz="100"/>
              </a:p>
            </p:txBody>
          </p:sp>
          <p:sp useBgFill="1">
            <p:nvSpPr>
              <p:cNvPr id="19549" name="Oval 57"/>
              <p:cNvSpPr>
                <a:spLocks noChangeArrowheads="1"/>
              </p:cNvSpPr>
              <p:nvPr/>
            </p:nvSpPr>
            <p:spPr bwMode="auto">
              <a:xfrm>
                <a:off x="1632" y="2640"/>
                <a:ext cx="288" cy="288"/>
              </a:xfrm>
              <a:prstGeom prst="ellipse">
                <a:avLst/>
              </a:prstGeom>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nvGrpSpPr>
              <p:cNvPr id="19550" name="Group 58"/>
              <p:cNvGrpSpPr/>
              <p:nvPr/>
            </p:nvGrpSpPr>
            <p:grpSpPr bwMode="auto">
              <a:xfrm>
                <a:off x="1056" y="2640"/>
                <a:ext cx="384" cy="384"/>
                <a:chOff x="1584" y="1104"/>
                <a:chExt cx="384" cy="384"/>
              </a:xfrm>
            </p:grpSpPr>
            <p:sp>
              <p:nvSpPr>
                <p:cNvPr id="19556" name="AutoShape 59"/>
                <p:cNvSpPr>
                  <a:spLocks noChangeArrowheads="1"/>
                </p:cNvSpPr>
                <p:nvPr/>
              </p:nvSpPr>
              <p:spPr bwMode="auto">
                <a:xfrm>
                  <a:off x="1632" y="1104"/>
                  <a:ext cx="288" cy="230"/>
                </a:xfrm>
                <a:prstGeom prst="roundRect">
                  <a:avLst>
                    <a:gd name="adj" fmla="val 16667"/>
                  </a:avLst>
                </a:prstGeom>
                <a:solidFill>
                  <a:srgbClr val="CC00CC"/>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57" name="Rectangle 60"/>
                <p:cNvSpPr>
                  <a:spLocks noChangeArrowheads="1"/>
                </p:cNvSpPr>
                <p:nvPr/>
              </p:nvSpPr>
              <p:spPr bwMode="auto">
                <a:xfrm>
                  <a:off x="1584" y="1392"/>
                  <a:ext cx="384" cy="96"/>
                </a:xfrm>
                <a:prstGeom prst="rect">
                  <a:avLst/>
                </a:prstGeom>
                <a:solidFill>
                  <a:srgbClr val="CC00CC"/>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19551" name="Group 61"/>
              <p:cNvGrpSpPr/>
              <p:nvPr/>
            </p:nvGrpSpPr>
            <p:grpSpPr bwMode="auto">
              <a:xfrm>
                <a:off x="1584" y="3120"/>
                <a:ext cx="384" cy="384"/>
                <a:chOff x="1584" y="1104"/>
                <a:chExt cx="384" cy="384"/>
              </a:xfrm>
            </p:grpSpPr>
            <p:sp>
              <p:nvSpPr>
                <p:cNvPr id="19554" name="AutoShape 62"/>
                <p:cNvSpPr>
                  <a:spLocks noChangeArrowheads="1"/>
                </p:cNvSpPr>
                <p:nvPr/>
              </p:nvSpPr>
              <p:spPr bwMode="auto">
                <a:xfrm>
                  <a:off x="1632" y="1104"/>
                  <a:ext cx="288" cy="230"/>
                </a:xfrm>
                <a:prstGeom prst="roundRect">
                  <a:avLst>
                    <a:gd name="adj" fmla="val 16667"/>
                  </a:avLst>
                </a:prstGeom>
                <a:solidFill>
                  <a:srgbClr val="CC00CC"/>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55" name="Rectangle 63"/>
                <p:cNvSpPr>
                  <a:spLocks noChangeArrowheads="1"/>
                </p:cNvSpPr>
                <p:nvPr/>
              </p:nvSpPr>
              <p:spPr bwMode="auto">
                <a:xfrm>
                  <a:off x="1584" y="1392"/>
                  <a:ext cx="384" cy="96"/>
                </a:xfrm>
                <a:prstGeom prst="rect">
                  <a:avLst/>
                </a:prstGeom>
                <a:solidFill>
                  <a:srgbClr val="CC00CC"/>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552" name="Line 64"/>
              <p:cNvSpPr>
                <a:spLocks noChangeShapeType="1"/>
              </p:cNvSpPr>
              <p:nvPr/>
            </p:nvSpPr>
            <p:spPr bwMode="auto">
              <a:xfrm>
                <a:off x="1776" y="2928"/>
                <a:ext cx="0" cy="19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53" name="Line 65"/>
              <p:cNvSpPr>
                <a:spLocks noChangeShapeType="1"/>
              </p:cNvSpPr>
              <p:nvPr/>
            </p:nvSpPr>
            <p:spPr bwMode="auto">
              <a:xfrm flipH="1">
                <a:off x="1392" y="2784"/>
                <a:ext cx="24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19511" name="Group 66"/>
            <p:cNvGrpSpPr/>
            <p:nvPr/>
          </p:nvGrpSpPr>
          <p:grpSpPr bwMode="auto">
            <a:xfrm>
              <a:off x="2950" y="2755"/>
              <a:ext cx="2384" cy="272"/>
              <a:chOff x="1920" y="2640"/>
              <a:chExt cx="2243" cy="288"/>
            </a:xfrm>
          </p:grpSpPr>
          <p:sp>
            <p:nvSpPr>
              <p:cNvPr id="19537" name="Line 67"/>
              <p:cNvSpPr>
                <a:spLocks noChangeShapeType="1"/>
              </p:cNvSpPr>
              <p:nvPr/>
            </p:nvSpPr>
            <p:spPr bwMode="auto">
              <a:xfrm>
                <a:off x="1920" y="2784"/>
                <a:ext cx="192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38" name="AutoShape 68"/>
              <p:cNvSpPr>
                <a:spLocks noChangeArrowheads="1"/>
              </p:cNvSpPr>
              <p:nvPr/>
            </p:nvSpPr>
            <p:spPr bwMode="auto">
              <a:xfrm>
                <a:off x="2976" y="2640"/>
                <a:ext cx="288"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5898240 60000 65536"/>
                  <a:gd name="T10" fmla="*/ 11796480 60000 65536"/>
                  <a:gd name="T11" fmla="*/ 17694720 60000 65536"/>
                  <a:gd name="T12" fmla="*/ 5400 w 21600"/>
                  <a:gd name="T13" fmla="*/ 5400 h 21600"/>
                  <a:gd name="T14" fmla="*/ 16200 w 21600"/>
                  <a:gd name="T15" fmla="*/ 16200 h 21600"/>
                </a:gdLst>
                <a:ahLst/>
                <a:cxnLst>
                  <a:cxn ang="T8">
                    <a:pos x="T0" y="T1"/>
                  </a:cxn>
                  <a:cxn ang="T9">
                    <a:pos x="T2" y="T3"/>
                  </a:cxn>
                  <a:cxn ang="T10">
                    <a:pos x="T4" y="T5"/>
                  </a:cxn>
                  <a:cxn ang="T11">
                    <a:pos x="T6" y="T7"/>
                  </a:cxn>
                </a:cxnLst>
                <a:rect l="T12" t="T13" r="T14" b="T15"/>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lnTo>
                      <a:pt x="5400" y="5400"/>
                    </a:lnTo>
                    <a:close/>
                  </a:path>
                </a:pathLst>
              </a:custGeom>
              <a:solidFill>
                <a:srgbClr val="008000"/>
              </a:solidFill>
              <a:ln w="19050">
                <a:solidFill>
                  <a:schemeClr val="tx1"/>
                </a:solidFill>
                <a:miter lim="800000"/>
              </a:ln>
            </p:spPr>
            <p:txBody>
              <a:bodyPr wrap="none" lIns="116427" tIns="58212" rIns="116427" bIns="58212" anchor="ctr"/>
              <a:lstStyle/>
              <a:p>
                <a:endParaRPr lang="zh-CN" altLang="en-US" sz="100"/>
              </a:p>
            </p:txBody>
          </p:sp>
          <p:grpSp>
            <p:nvGrpSpPr>
              <p:cNvPr id="19539" name="Group 69"/>
              <p:cNvGrpSpPr/>
              <p:nvPr/>
            </p:nvGrpSpPr>
            <p:grpSpPr bwMode="auto">
              <a:xfrm>
                <a:off x="3792" y="2640"/>
                <a:ext cx="371" cy="283"/>
                <a:chOff x="4236" y="485"/>
                <a:chExt cx="607" cy="463"/>
              </a:xfrm>
            </p:grpSpPr>
            <p:sp>
              <p:nvSpPr>
                <p:cNvPr id="19540" name="Oval 70"/>
                <p:cNvSpPr>
                  <a:spLocks noChangeArrowheads="1"/>
                </p:cNvSpPr>
                <p:nvPr/>
              </p:nvSpPr>
              <p:spPr bwMode="auto">
                <a:xfrm>
                  <a:off x="4395" y="485"/>
                  <a:ext cx="282" cy="260"/>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41" name="Oval 71"/>
                <p:cNvSpPr>
                  <a:spLocks noChangeArrowheads="1"/>
                </p:cNvSpPr>
                <p:nvPr/>
              </p:nvSpPr>
              <p:spPr bwMode="auto">
                <a:xfrm>
                  <a:off x="4561" y="587"/>
                  <a:ext cx="282" cy="216"/>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42" name="Oval 72"/>
                <p:cNvSpPr>
                  <a:spLocks noChangeArrowheads="1"/>
                </p:cNvSpPr>
                <p:nvPr/>
              </p:nvSpPr>
              <p:spPr bwMode="auto">
                <a:xfrm>
                  <a:off x="4424" y="666"/>
                  <a:ext cx="232" cy="260"/>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43" name="Oval 73"/>
                <p:cNvSpPr>
                  <a:spLocks noChangeArrowheads="1"/>
                </p:cNvSpPr>
                <p:nvPr/>
              </p:nvSpPr>
              <p:spPr bwMode="auto">
                <a:xfrm>
                  <a:off x="4367" y="709"/>
                  <a:ext cx="253" cy="239"/>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44" name="Oval 74"/>
                <p:cNvSpPr>
                  <a:spLocks noChangeArrowheads="1"/>
                </p:cNvSpPr>
                <p:nvPr/>
              </p:nvSpPr>
              <p:spPr bwMode="auto">
                <a:xfrm>
                  <a:off x="4244" y="565"/>
                  <a:ext cx="217" cy="216"/>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45" name="Oval 75"/>
                <p:cNvSpPr>
                  <a:spLocks noChangeArrowheads="1"/>
                </p:cNvSpPr>
                <p:nvPr/>
              </p:nvSpPr>
              <p:spPr bwMode="auto">
                <a:xfrm>
                  <a:off x="4236" y="695"/>
                  <a:ext cx="253" cy="217"/>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46" name="Oval 76"/>
                <p:cNvSpPr>
                  <a:spLocks noChangeArrowheads="1"/>
                </p:cNvSpPr>
                <p:nvPr/>
              </p:nvSpPr>
              <p:spPr bwMode="auto">
                <a:xfrm>
                  <a:off x="4574" y="744"/>
                  <a:ext cx="217" cy="158"/>
                </a:xfrm>
                <a:prstGeom prst="ellipse">
                  <a:avLst/>
                </a:prstGeom>
                <a:solidFill>
                  <a:srgbClr val="FFFF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grpSp>
          <p:nvGrpSpPr>
            <p:cNvPr id="19512" name="Group 97"/>
            <p:cNvGrpSpPr/>
            <p:nvPr/>
          </p:nvGrpSpPr>
          <p:grpSpPr bwMode="auto">
            <a:xfrm>
              <a:off x="2185" y="2302"/>
              <a:ext cx="2041" cy="1224"/>
              <a:chOff x="1200" y="2160"/>
              <a:chExt cx="1920" cy="1296"/>
            </a:xfrm>
          </p:grpSpPr>
          <p:sp>
            <p:nvSpPr>
              <p:cNvPr id="19523" name="Line 98"/>
              <p:cNvSpPr>
                <a:spLocks noChangeShapeType="1"/>
              </p:cNvSpPr>
              <p:nvPr/>
            </p:nvSpPr>
            <p:spPr bwMode="auto">
              <a:xfrm flipH="1">
                <a:off x="2544" y="3024"/>
                <a:ext cx="57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19524" name="Group 99"/>
              <p:cNvGrpSpPr/>
              <p:nvPr/>
            </p:nvGrpSpPr>
            <p:grpSpPr bwMode="auto">
              <a:xfrm>
                <a:off x="2448" y="3168"/>
                <a:ext cx="192" cy="288"/>
                <a:chOff x="2448" y="3168"/>
                <a:chExt cx="192" cy="288"/>
              </a:xfrm>
            </p:grpSpPr>
            <p:sp>
              <p:nvSpPr>
                <p:cNvPr id="19535" name="Rectangle 100"/>
                <p:cNvSpPr>
                  <a:spLocks noChangeArrowheads="1"/>
                </p:cNvSpPr>
                <p:nvPr/>
              </p:nvSpPr>
              <p:spPr bwMode="auto">
                <a:xfrm>
                  <a:off x="2448" y="3168"/>
                  <a:ext cx="192" cy="288"/>
                </a:xfrm>
                <a:prstGeom prst="rect">
                  <a:avLst/>
                </a:prstGeom>
                <a:solidFill>
                  <a:srgbClr val="808080"/>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36" name="Rectangle 101"/>
                <p:cNvSpPr>
                  <a:spLocks noChangeArrowheads="1"/>
                </p:cNvSpPr>
                <p:nvPr/>
              </p:nvSpPr>
              <p:spPr bwMode="auto">
                <a:xfrm>
                  <a:off x="2496" y="3360"/>
                  <a:ext cx="96" cy="48"/>
                </a:xfrm>
                <a:prstGeom prst="rect">
                  <a:avLst/>
                </a:prstGeom>
                <a:solidFill>
                  <a:schemeClr val="tx2"/>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19525" name="Group 102"/>
              <p:cNvGrpSpPr/>
              <p:nvPr/>
            </p:nvGrpSpPr>
            <p:grpSpPr bwMode="auto">
              <a:xfrm>
                <a:off x="2832" y="3168"/>
                <a:ext cx="192" cy="288"/>
                <a:chOff x="2832" y="3168"/>
                <a:chExt cx="192" cy="288"/>
              </a:xfrm>
            </p:grpSpPr>
            <p:sp>
              <p:nvSpPr>
                <p:cNvPr id="19533" name="Rectangle 103"/>
                <p:cNvSpPr>
                  <a:spLocks noChangeArrowheads="1"/>
                </p:cNvSpPr>
                <p:nvPr/>
              </p:nvSpPr>
              <p:spPr bwMode="auto">
                <a:xfrm>
                  <a:off x="2832" y="3168"/>
                  <a:ext cx="192" cy="288"/>
                </a:xfrm>
                <a:prstGeom prst="rect">
                  <a:avLst/>
                </a:prstGeom>
                <a:solidFill>
                  <a:srgbClr val="808080"/>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34" name="Rectangle 104"/>
                <p:cNvSpPr>
                  <a:spLocks noChangeArrowheads="1"/>
                </p:cNvSpPr>
                <p:nvPr/>
              </p:nvSpPr>
              <p:spPr bwMode="auto">
                <a:xfrm>
                  <a:off x="2880" y="3360"/>
                  <a:ext cx="96" cy="48"/>
                </a:xfrm>
                <a:prstGeom prst="rect">
                  <a:avLst/>
                </a:prstGeom>
                <a:solidFill>
                  <a:schemeClr val="tx2"/>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526" name="Line 105"/>
              <p:cNvSpPr>
                <a:spLocks noChangeShapeType="1"/>
              </p:cNvSpPr>
              <p:nvPr/>
            </p:nvSpPr>
            <p:spPr bwMode="auto">
              <a:xfrm>
                <a:off x="3120" y="2928"/>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27" name="Line 106"/>
              <p:cNvSpPr>
                <a:spLocks noChangeShapeType="1"/>
              </p:cNvSpPr>
              <p:nvPr/>
            </p:nvSpPr>
            <p:spPr bwMode="auto">
              <a:xfrm>
                <a:off x="2544" y="3024"/>
                <a:ext cx="0" cy="14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28" name="Line 107"/>
              <p:cNvSpPr>
                <a:spLocks noChangeShapeType="1"/>
              </p:cNvSpPr>
              <p:nvPr/>
            </p:nvSpPr>
            <p:spPr bwMode="auto">
              <a:xfrm>
                <a:off x="2928" y="3024"/>
                <a:ext cx="0" cy="14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19529" name="Group 108"/>
              <p:cNvGrpSpPr/>
              <p:nvPr/>
            </p:nvGrpSpPr>
            <p:grpSpPr bwMode="auto">
              <a:xfrm>
                <a:off x="1200" y="2160"/>
                <a:ext cx="192" cy="288"/>
                <a:chOff x="2448" y="3168"/>
                <a:chExt cx="192" cy="288"/>
              </a:xfrm>
            </p:grpSpPr>
            <p:sp>
              <p:nvSpPr>
                <p:cNvPr id="19531" name="Rectangle 109"/>
                <p:cNvSpPr>
                  <a:spLocks noChangeArrowheads="1"/>
                </p:cNvSpPr>
                <p:nvPr/>
              </p:nvSpPr>
              <p:spPr bwMode="auto">
                <a:xfrm>
                  <a:off x="2448" y="3168"/>
                  <a:ext cx="192" cy="288"/>
                </a:xfrm>
                <a:prstGeom prst="rect">
                  <a:avLst/>
                </a:prstGeom>
                <a:solidFill>
                  <a:srgbClr val="808080"/>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32" name="Rectangle 110"/>
                <p:cNvSpPr>
                  <a:spLocks noChangeArrowheads="1"/>
                </p:cNvSpPr>
                <p:nvPr/>
              </p:nvSpPr>
              <p:spPr bwMode="auto">
                <a:xfrm>
                  <a:off x="2496" y="3360"/>
                  <a:ext cx="96" cy="48"/>
                </a:xfrm>
                <a:prstGeom prst="rect">
                  <a:avLst/>
                </a:prstGeom>
                <a:solidFill>
                  <a:schemeClr val="tx2"/>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530" name="Line 111"/>
              <p:cNvSpPr>
                <a:spLocks noChangeShapeType="1"/>
              </p:cNvSpPr>
              <p:nvPr/>
            </p:nvSpPr>
            <p:spPr bwMode="auto">
              <a:xfrm flipH="1">
                <a:off x="1392" y="2400"/>
                <a:ext cx="24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19513" name="Group 117"/>
            <p:cNvGrpSpPr/>
            <p:nvPr/>
          </p:nvGrpSpPr>
          <p:grpSpPr bwMode="auto">
            <a:xfrm>
              <a:off x="4736" y="2710"/>
              <a:ext cx="1122" cy="805"/>
              <a:chOff x="3600" y="2592"/>
              <a:chExt cx="1056" cy="852"/>
            </a:xfrm>
          </p:grpSpPr>
          <p:sp>
            <p:nvSpPr>
              <p:cNvPr id="19514" name="Line 118"/>
              <p:cNvSpPr>
                <a:spLocks noChangeShapeType="1"/>
              </p:cNvSpPr>
              <p:nvPr/>
            </p:nvSpPr>
            <p:spPr bwMode="auto">
              <a:xfrm>
                <a:off x="3744" y="3024"/>
                <a:ext cx="76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15" name="Line 119"/>
              <p:cNvSpPr>
                <a:spLocks noChangeShapeType="1"/>
              </p:cNvSpPr>
              <p:nvPr/>
            </p:nvSpPr>
            <p:spPr bwMode="auto">
              <a:xfrm>
                <a:off x="3744" y="3024"/>
                <a:ext cx="0" cy="14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16" name="Line 120"/>
              <p:cNvSpPr>
                <a:spLocks noChangeShapeType="1"/>
              </p:cNvSpPr>
              <p:nvPr/>
            </p:nvSpPr>
            <p:spPr bwMode="auto">
              <a:xfrm>
                <a:off x="4128" y="3024"/>
                <a:ext cx="0" cy="14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17" name="Line 121"/>
              <p:cNvSpPr>
                <a:spLocks noChangeShapeType="1"/>
              </p:cNvSpPr>
              <p:nvPr/>
            </p:nvSpPr>
            <p:spPr bwMode="auto">
              <a:xfrm>
                <a:off x="4512" y="2832"/>
                <a:ext cx="0" cy="3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18" name="Line 122"/>
              <p:cNvSpPr>
                <a:spLocks noChangeShapeType="1"/>
              </p:cNvSpPr>
              <p:nvPr/>
            </p:nvSpPr>
            <p:spPr bwMode="auto">
              <a:xfrm>
                <a:off x="3984" y="2880"/>
                <a:ext cx="0" cy="14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19" name="AutoShape 123"/>
              <p:cNvSpPr>
                <a:spLocks noChangeArrowheads="1"/>
              </p:cNvSpPr>
              <p:nvPr/>
            </p:nvSpPr>
            <p:spPr bwMode="auto">
              <a:xfrm>
                <a:off x="3600" y="3168"/>
                <a:ext cx="288" cy="276"/>
              </a:xfrm>
              <a:prstGeom prst="pentagon">
                <a:avLst/>
              </a:prstGeom>
              <a:solidFill>
                <a:schemeClr val="accent1"/>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20" name="AutoShape 124"/>
              <p:cNvSpPr>
                <a:spLocks noChangeArrowheads="1"/>
              </p:cNvSpPr>
              <p:nvPr/>
            </p:nvSpPr>
            <p:spPr bwMode="auto">
              <a:xfrm>
                <a:off x="3984" y="3168"/>
                <a:ext cx="288" cy="276"/>
              </a:xfrm>
              <a:prstGeom prst="pentagon">
                <a:avLst/>
              </a:prstGeom>
              <a:solidFill>
                <a:schemeClr val="accent1"/>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21" name="AutoShape 125"/>
              <p:cNvSpPr>
                <a:spLocks noChangeArrowheads="1"/>
              </p:cNvSpPr>
              <p:nvPr/>
            </p:nvSpPr>
            <p:spPr bwMode="auto">
              <a:xfrm>
                <a:off x="4368" y="3168"/>
                <a:ext cx="288" cy="276"/>
              </a:xfrm>
              <a:prstGeom prst="pentagon">
                <a:avLst/>
              </a:prstGeom>
              <a:solidFill>
                <a:schemeClr val="accent1"/>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22" name="AutoShape 126"/>
              <p:cNvSpPr>
                <a:spLocks noChangeArrowheads="1"/>
              </p:cNvSpPr>
              <p:nvPr/>
            </p:nvSpPr>
            <p:spPr bwMode="auto">
              <a:xfrm>
                <a:off x="4368" y="2592"/>
                <a:ext cx="288" cy="276"/>
              </a:xfrm>
              <a:prstGeom prst="pentagon">
                <a:avLst/>
              </a:prstGeom>
              <a:solidFill>
                <a:schemeClr val="accent1"/>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grpSp>
        <p:nvGrpSpPr>
          <p:cNvPr id="681087" name="Group 127"/>
          <p:cNvGrpSpPr/>
          <p:nvPr/>
        </p:nvGrpSpPr>
        <p:grpSpPr bwMode="auto">
          <a:xfrm>
            <a:off x="9937262" y="947615"/>
            <a:ext cx="1533770" cy="1836615"/>
            <a:chOff x="3840" y="768"/>
            <a:chExt cx="723" cy="939"/>
          </a:xfrm>
        </p:grpSpPr>
        <p:sp>
          <p:nvSpPr>
            <p:cNvPr id="19501" name="Line 128"/>
            <p:cNvSpPr>
              <a:spLocks noChangeShapeType="1"/>
            </p:cNvSpPr>
            <p:nvPr/>
          </p:nvSpPr>
          <p:spPr bwMode="auto">
            <a:xfrm>
              <a:off x="3936" y="1008"/>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02" name="Line 129"/>
            <p:cNvSpPr>
              <a:spLocks noChangeShapeType="1"/>
            </p:cNvSpPr>
            <p:nvPr/>
          </p:nvSpPr>
          <p:spPr bwMode="auto">
            <a:xfrm flipV="1">
              <a:off x="4080" y="1056"/>
              <a:ext cx="240" cy="14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503" name="Line 130"/>
            <p:cNvSpPr>
              <a:spLocks noChangeShapeType="1"/>
            </p:cNvSpPr>
            <p:nvPr/>
          </p:nvSpPr>
          <p:spPr bwMode="auto">
            <a:xfrm>
              <a:off x="4080" y="1296"/>
              <a:ext cx="192"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19504" name="Group 131"/>
            <p:cNvGrpSpPr/>
            <p:nvPr/>
          </p:nvGrpSpPr>
          <p:grpSpPr bwMode="auto">
            <a:xfrm>
              <a:off x="4272" y="1344"/>
              <a:ext cx="291" cy="363"/>
              <a:chOff x="4416" y="1440"/>
              <a:chExt cx="291" cy="363"/>
            </a:xfrm>
          </p:grpSpPr>
          <p:sp>
            <p:nvSpPr>
              <p:cNvPr id="19507" name="Rectangle 132"/>
              <p:cNvSpPr>
                <a:spLocks noChangeArrowheads="1"/>
              </p:cNvSpPr>
              <p:nvPr/>
            </p:nvSpPr>
            <p:spPr bwMode="auto">
              <a:xfrm>
                <a:off x="4416" y="1440"/>
                <a:ext cx="195" cy="267"/>
              </a:xfrm>
              <a:prstGeom prst="rect">
                <a:avLst/>
              </a:prstGeom>
              <a:solidFill>
                <a:srgbClr val="009999"/>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08" name="Rectangle 133"/>
              <p:cNvSpPr>
                <a:spLocks noChangeArrowheads="1"/>
              </p:cNvSpPr>
              <p:nvPr/>
            </p:nvSpPr>
            <p:spPr bwMode="auto">
              <a:xfrm>
                <a:off x="4464" y="1488"/>
                <a:ext cx="195" cy="267"/>
              </a:xfrm>
              <a:prstGeom prst="rect">
                <a:avLst/>
              </a:prstGeom>
              <a:solidFill>
                <a:srgbClr val="009999"/>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09" name="Rectangle 134"/>
              <p:cNvSpPr>
                <a:spLocks noChangeArrowheads="1"/>
              </p:cNvSpPr>
              <p:nvPr/>
            </p:nvSpPr>
            <p:spPr bwMode="auto">
              <a:xfrm>
                <a:off x="4512" y="1536"/>
                <a:ext cx="195" cy="267"/>
              </a:xfrm>
              <a:prstGeom prst="rect">
                <a:avLst/>
              </a:prstGeom>
              <a:solidFill>
                <a:srgbClr val="009999"/>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505" name="AutoShape 135"/>
            <p:cNvSpPr>
              <a:spLocks noChangeArrowheads="1"/>
            </p:cNvSpPr>
            <p:nvPr/>
          </p:nvSpPr>
          <p:spPr bwMode="auto">
            <a:xfrm>
              <a:off x="3840" y="768"/>
              <a:ext cx="181" cy="240"/>
            </a:xfrm>
            <a:prstGeom prst="can">
              <a:avLst>
                <a:gd name="adj" fmla="val 33149"/>
              </a:avLst>
            </a:prstGeom>
            <a:solidFill>
              <a:srgbClr val="009999"/>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06" name="AutoShape 136"/>
            <p:cNvSpPr>
              <a:spLocks noChangeArrowheads="1"/>
            </p:cNvSpPr>
            <p:nvPr/>
          </p:nvSpPr>
          <p:spPr bwMode="auto">
            <a:xfrm>
              <a:off x="4272" y="864"/>
              <a:ext cx="288" cy="276"/>
            </a:xfrm>
            <a:prstGeom prst="pentagon">
              <a:avLst/>
            </a:prstGeom>
            <a:solidFill>
              <a:srgbClr val="009999"/>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681097" name="Group 137"/>
          <p:cNvGrpSpPr/>
          <p:nvPr/>
        </p:nvGrpSpPr>
        <p:grpSpPr bwMode="auto">
          <a:xfrm>
            <a:off x="6584462" y="947615"/>
            <a:ext cx="2133600" cy="1408724"/>
            <a:chOff x="2304" y="768"/>
            <a:chExt cx="1008" cy="720"/>
          </a:xfrm>
        </p:grpSpPr>
        <p:grpSp>
          <p:nvGrpSpPr>
            <p:cNvPr id="19490" name="Group 138"/>
            <p:cNvGrpSpPr/>
            <p:nvPr/>
          </p:nvGrpSpPr>
          <p:grpSpPr bwMode="auto">
            <a:xfrm>
              <a:off x="2736" y="1104"/>
              <a:ext cx="384" cy="384"/>
              <a:chOff x="1584" y="1104"/>
              <a:chExt cx="384" cy="384"/>
            </a:xfrm>
          </p:grpSpPr>
          <p:sp>
            <p:nvSpPr>
              <p:cNvPr id="19499" name="AutoShape 139"/>
              <p:cNvSpPr>
                <a:spLocks noChangeArrowheads="1"/>
              </p:cNvSpPr>
              <p:nvPr/>
            </p:nvSpPr>
            <p:spPr bwMode="auto">
              <a:xfrm>
                <a:off x="1632" y="1104"/>
                <a:ext cx="288" cy="230"/>
              </a:xfrm>
              <a:prstGeom prst="roundRect">
                <a:avLst>
                  <a:gd name="adj" fmla="val 16667"/>
                </a:avLst>
              </a:prstGeom>
              <a:solidFill>
                <a:srgbClr val="0000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500" name="Rectangle 140"/>
              <p:cNvSpPr>
                <a:spLocks noChangeArrowheads="1"/>
              </p:cNvSpPr>
              <p:nvPr/>
            </p:nvSpPr>
            <p:spPr bwMode="auto">
              <a:xfrm>
                <a:off x="1584" y="1392"/>
                <a:ext cx="384" cy="96"/>
              </a:xfrm>
              <a:prstGeom prst="rect">
                <a:avLst/>
              </a:prstGeom>
              <a:solidFill>
                <a:srgbClr val="0000FF"/>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491" name="Line 141"/>
            <p:cNvSpPr>
              <a:spLocks noChangeShapeType="1"/>
            </p:cNvSpPr>
            <p:nvPr/>
          </p:nvSpPr>
          <p:spPr bwMode="auto">
            <a:xfrm flipH="1">
              <a:off x="3072" y="1248"/>
              <a:ext cx="24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492" name="Line 142"/>
            <p:cNvSpPr>
              <a:spLocks noChangeShapeType="1"/>
            </p:cNvSpPr>
            <p:nvPr/>
          </p:nvSpPr>
          <p:spPr bwMode="auto">
            <a:xfrm flipH="1">
              <a:off x="2592" y="1248"/>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19493" name="Group 143"/>
            <p:cNvGrpSpPr/>
            <p:nvPr/>
          </p:nvGrpSpPr>
          <p:grpSpPr bwMode="auto">
            <a:xfrm>
              <a:off x="2304" y="1104"/>
              <a:ext cx="291" cy="363"/>
              <a:chOff x="4416" y="1440"/>
              <a:chExt cx="291" cy="363"/>
            </a:xfrm>
          </p:grpSpPr>
          <p:sp>
            <p:nvSpPr>
              <p:cNvPr id="19496" name="Rectangle 144"/>
              <p:cNvSpPr>
                <a:spLocks noChangeArrowheads="1"/>
              </p:cNvSpPr>
              <p:nvPr/>
            </p:nvSpPr>
            <p:spPr bwMode="auto">
              <a:xfrm>
                <a:off x="4416" y="1440"/>
                <a:ext cx="195" cy="267"/>
              </a:xfrm>
              <a:prstGeom prst="rect">
                <a:avLst/>
              </a:prstGeom>
              <a:solidFill>
                <a:srgbClr val="0000FF"/>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497" name="Rectangle 145"/>
              <p:cNvSpPr>
                <a:spLocks noChangeArrowheads="1"/>
              </p:cNvSpPr>
              <p:nvPr/>
            </p:nvSpPr>
            <p:spPr bwMode="auto">
              <a:xfrm>
                <a:off x="4464" y="1488"/>
                <a:ext cx="195" cy="267"/>
              </a:xfrm>
              <a:prstGeom prst="rect">
                <a:avLst/>
              </a:prstGeom>
              <a:solidFill>
                <a:srgbClr val="0000FF"/>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19498" name="Rectangle 146"/>
              <p:cNvSpPr>
                <a:spLocks noChangeArrowheads="1"/>
              </p:cNvSpPr>
              <p:nvPr/>
            </p:nvSpPr>
            <p:spPr bwMode="auto">
              <a:xfrm>
                <a:off x="4512" y="1536"/>
                <a:ext cx="195" cy="267"/>
              </a:xfrm>
              <a:prstGeom prst="rect">
                <a:avLst/>
              </a:prstGeom>
              <a:solidFill>
                <a:srgbClr val="0000FF"/>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494" name="Line 147"/>
            <p:cNvSpPr>
              <a:spLocks noChangeShapeType="1"/>
            </p:cNvSpPr>
            <p:nvPr/>
          </p:nvSpPr>
          <p:spPr bwMode="auto">
            <a:xfrm>
              <a:off x="2928" y="1008"/>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495" name="AutoShape 148"/>
            <p:cNvSpPr>
              <a:spLocks noChangeArrowheads="1"/>
            </p:cNvSpPr>
            <p:nvPr/>
          </p:nvSpPr>
          <p:spPr bwMode="auto">
            <a:xfrm>
              <a:off x="2832" y="768"/>
              <a:ext cx="181" cy="240"/>
            </a:xfrm>
            <a:prstGeom prst="can">
              <a:avLst>
                <a:gd name="adj" fmla="val 33149"/>
              </a:avLst>
            </a:prstGeom>
            <a:solidFill>
              <a:srgbClr val="0000FF"/>
            </a:solidFill>
            <a:ln w="19050">
              <a:solidFill>
                <a:schemeClr val="tx1"/>
              </a:solidFill>
              <a:round/>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grpSp>
        <p:nvGrpSpPr>
          <p:cNvPr id="681109" name="Group 149"/>
          <p:cNvGrpSpPr/>
          <p:nvPr/>
        </p:nvGrpSpPr>
        <p:grpSpPr bwMode="auto">
          <a:xfrm>
            <a:off x="9530862" y="3575539"/>
            <a:ext cx="1930400" cy="562708"/>
            <a:chOff x="3648" y="2112"/>
            <a:chExt cx="912" cy="288"/>
          </a:xfrm>
        </p:grpSpPr>
        <p:grpSp>
          <p:nvGrpSpPr>
            <p:cNvPr id="19481" name="Group 150"/>
            <p:cNvGrpSpPr/>
            <p:nvPr/>
          </p:nvGrpSpPr>
          <p:grpSpPr bwMode="auto">
            <a:xfrm>
              <a:off x="3648" y="2160"/>
              <a:ext cx="624" cy="240"/>
              <a:chOff x="2064" y="1536"/>
              <a:chExt cx="624" cy="240"/>
            </a:xfrm>
          </p:grpSpPr>
          <p:sp>
            <p:nvSpPr>
              <p:cNvPr id="19483" name="Freeform 151"/>
              <p:cNvSpPr/>
              <p:nvPr/>
            </p:nvSpPr>
            <p:spPr bwMode="auto">
              <a:xfrm>
                <a:off x="2064" y="1680"/>
                <a:ext cx="144" cy="72"/>
              </a:xfrm>
              <a:custGeom>
                <a:avLst/>
                <a:gdLst>
                  <a:gd name="T0" fmla="*/ 144 w 144"/>
                  <a:gd name="T1" fmla="*/ 0 h 72"/>
                  <a:gd name="T2" fmla="*/ 94 w 144"/>
                  <a:gd name="T3" fmla="*/ 7 h 72"/>
                  <a:gd name="T4" fmla="*/ 0 w 144"/>
                  <a:gd name="T5" fmla="*/ 72 h 72"/>
                  <a:gd name="T6" fmla="*/ 0 60000 65536"/>
                  <a:gd name="T7" fmla="*/ 0 60000 65536"/>
                  <a:gd name="T8" fmla="*/ 0 60000 65536"/>
                  <a:gd name="T9" fmla="*/ 0 w 144"/>
                  <a:gd name="T10" fmla="*/ 0 h 72"/>
                  <a:gd name="T11" fmla="*/ 144 w 144"/>
                  <a:gd name="T12" fmla="*/ 72 h 72"/>
                </a:gdLst>
                <a:ahLst/>
                <a:cxnLst>
                  <a:cxn ang="T6">
                    <a:pos x="T0" y="T1"/>
                  </a:cxn>
                  <a:cxn ang="T7">
                    <a:pos x="T2" y="T3"/>
                  </a:cxn>
                  <a:cxn ang="T8">
                    <a:pos x="T4" y="T5"/>
                  </a:cxn>
                </a:cxnLst>
                <a:rect l="T9" t="T10" r="T11" b="T12"/>
                <a:pathLst>
                  <a:path w="144" h="72">
                    <a:moveTo>
                      <a:pt x="144" y="0"/>
                    </a:moveTo>
                    <a:cubicBezTo>
                      <a:pt x="127" y="2"/>
                      <a:pt x="110" y="2"/>
                      <a:pt x="94" y="7"/>
                    </a:cubicBezTo>
                    <a:cubicBezTo>
                      <a:pt x="57" y="19"/>
                      <a:pt x="60" y="72"/>
                      <a:pt x="0" y="72"/>
                    </a:cubicBezTo>
                  </a:path>
                </a:pathLst>
              </a:custGeom>
              <a:solidFill>
                <a:srgbClr val="808080"/>
              </a:solidFill>
              <a:ln w="19050">
                <a:solidFill>
                  <a:schemeClr val="tx1"/>
                </a:solidFill>
                <a:round/>
              </a:ln>
            </p:spPr>
            <p:txBody>
              <a:bodyPr wrap="none" lIns="116427" tIns="58212" rIns="116427" bIns="58212" anchor="ctr"/>
              <a:lstStyle/>
              <a:p>
                <a:endParaRPr lang="zh-CN" altLang="en-US" sz="100"/>
              </a:p>
            </p:txBody>
          </p:sp>
          <p:sp>
            <p:nvSpPr>
              <p:cNvPr id="19484" name="Freeform 152"/>
              <p:cNvSpPr/>
              <p:nvPr/>
            </p:nvSpPr>
            <p:spPr bwMode="auto">
              <a:xfrm>
                <a:off x="2064" y="1632"/>
                <a:ext cx="167" cy="49"/>
              </a:xfrm>
              <a:custGeom>
                <a:avLst/>
                <a:gdLst>
                  <a:gd name="T0" fmla="*/ 167 w 167"/>
                  <a:gd name="T1" fmla="*/ 27 h 49"/>
                  <a:gd name="T2" fmla="*/ 0 w 167"/>
                  <a:gd name="T3" fmla="*/ 49 h 49"/>
                  <a:gd name="T4" fmla="*/ 0 60000 65536"/>
                  <a:gd name="T5" fmla="*/ 0 60000 65536"/>
                  <a:gd name="T6" fmla="*/ 0 w 167"/>
                  <a:gd name="T7" fmla="*/ 0 h 49"/>
                  <a:gd name="T8" fmla="*/ 167 w 167"/>
                  <a:gd name="T9" fmla="*/ 49 h 49"/>
                </a:gdLst>
                <a:ahLst/>
                <a:cxnLst>
                  <a:cxn ang="T4">
                    <a:pos x="T0" y="T1"/>
                  </a:cxn>
                  <a:cxn ang="T5">
                    <a:pos x="T2" y="T3"/>
                  </a:cxn>
                </a:cxnLst>
                <a:rect l="T6" t="T7" r="T8" b="T9"/>
                <a:pathLst>
                  <a:path w="167" h="49">
                    <a:moveTo>
                      <a:pt x="167" y="27"/>
                    </a:moveTo>
                    <a:cubicBezTo>
                      <a:pt x="81" y="0"/>
                      <a:pt x="68" y="49"/>
                      <a:pt x="0" y="49"/>
                    </a:cubicBezTo>
                  </a:path>
                </a:pathLst>
              </a:custGeom>
              <a:solidFill>
                <a:srgbClr val="808080"/>
              </a:solidFill>
              <a:ln w="19050">
                <a:solidFill>
                  <a:schemeClr val="tx1"/>
                </a:solidFill>
                <a:round/>
              </a:ln>
            </p:spPr>
            <p:txBody>
              <a:bodyPr wrap="none" lIns="116427" tIns="58212" rIns="116427" bIns="58212" anchor="ctr"/>
              <a:lstStyle/>
              <a:p>
                <a:endParaRPr lang="zh-CN" altLang="en-US" sz="100"/>
              </a:p>
            </p:txBody>
          </p:sp>
          <p:sp>
            <p:nvSpPr>
              <p:cNvPr id="19485" name="Freeform 153"/>
              <p:cNvSpPr/>
              <p:nvPr/>
            </p:nvSpPr>
            <p:spPr bwMode="auto">
              <a:xfrm>
                <a:off x="2064" y="1584"/>
                <a:ext cx="159" cy="42"/>
              </a:xfrm>
              <a:custGeom>
                <a:avLst/>
                <a:gdLst>
                  <a:gd name="T0" fmla="*/ 159 w 159"/>
                  <a:gd name="T1" fmla="*/ 42 h 42"/>
                  <a:gd name="T2" fmla="*/ 72 w 159"/>
                  <a:gd name="T3" fmla="*/ 35 h 42"/>
                  <a:gd name="T4" fmla="*/ 58 w 159"/>
                  <a:gd name="T5" fmla="*/ 20 h 42"/>
                  <a:gd name="T6" fmla="*/ 0 w 159"/>
                  <a:gd name="T7" fmla="*/ 13 h 42"/>
                  <a:gd name="T8" fmla="*/ 0 60000 65536"/>
                  <a:gd name="T9" fmla="*/ 0 60000 65536"/>
                  <a:gd name="T10" fmla="*/ 0 60000 65536"/>
                  <a:gd name="T11" fmla="*/ 0 60000 65536"/>
                  <a:gd name="T12" fmla="*/ 0 w 159"/>
                  <a:gd name="T13" fmla="*/ 0 h 42"/>
                  <a:gd name="T14" fmla="*/ 159 w 159"/>
                  <a:gd name="T15" fmla="*/ 42 h 42"/>
                </a:gdLst>
                <a:ahLst/>
                <a:cxnLst>
                  <a:cxn ang="T8">
                    <a:pos x="T0" y="T1"/>
                  </a:cxn>
                  <a:cxn ang="T9">
                    <a:pos x="T2" y="T3"/>
                  </a:cxn>
                  <a:cxn ang="T10">
                    <a:pos x="T4" y="T5"/>
                  </a:cxn>
                  <a:cxn ang="T11">
                    <a:pos x="T6" y="T7"/>
                  </a:cxn>
                </a:cxnLst>
                <a:rect l="T12" t="T13" r="T14" b="T15"/>
                <a:pathLst>
                  <a:path w="159" h="42">
                    <a:moveTo>
                      <a:pt x="159" y="42"/>
                    </a:moveTo>
                    <a:cubicBezTo>
                      <a:pt x="130" y="40"/>
                      <a:pt x="100" y="41"/>
                      <a:pt x="72" y="35"/>
                    </a:cubicBezTo>
                    <a:cubicBezTo>
                      <a:pt x="65" y="34"/>
                      <a:pt x="64" y="23"/>
                      <a:pt x="58" y="20"/>
                    </a:cubicBezTo>
                    <a:cubicBezTo>
                      <a:pt x="18" y="0"/>
                      <a:pt x="25" y="1"/>
                      <a:pt x="0" y="13"/>
                    </a:cubicBezTo>
                  </a:path>
                </a:pathLst>
              </a:custGeom>
              <a:solidFill>
                <a:srgbClr val="808080"/>
              </a:solidFill>
              <a:ln w="19050">
                <a:solidFill>
                  <a:schemeClr val="tx1"/>
                </a:solidFill>
                <a:round/>
              </a:ln>
            </p:spPr>
            <p:txBody>
              <a:bodyPr wrap="none" lIns="116427" tIns="58212" rIns="116427" bIns="58212" anchor="ctr"/>
              <a:lstStyle/>
              <a:p>
                <a:endParaRPr lang="zh-CN" altLang="en-US" sz="100"/>
              </a:p>
            </p:txBody>
          </p:sp>
          <p:sp>
            <p:nvSpPr>
              <p:cNvPr id="19486" name="Freeform 154"/>
              <p:cNvSpPr/>
              <p:nvPr/>
            </p:nvSpPr>
            <p:spPr bwMode="auto">
              <a:xfrm>
                <a:off x="2208" y="1632"/>
                <a:ext cx="159" cy="47"/>
              </a:xfrm>
              <a:custGeom>
                <a:avLst/>
                <a:gdLst>
                  <a:gd name="T0" fmla="*/ 0 w 1143"/>
                  <a:gd name="T1" fmla="*/ 0 h 398"/>
                  <a:gd name="T2" fmla="*/ 0 w 1143"/>
                  <a:gd name="T3" fmla="*/ 0 h 398"/>
                  <a:gd name="T4" fmla="*/ 0 w 1143"/>
                  <a:gd name="T5" fmla="*/ 0 h 398"/>
                  <a:gd name="T6" fmla="*/ 0 w 1143"/>
                  <a:gd name="T7" fmla="*/ 0 h 398"/>
                  <a:gd name="T8" fmla="*/ 0 w 1143"/>
                  <a:gd name="T9" fmla="*/ 0 h 398"/>
                  <a:gd name="T10" fmla="*/ 0 w 1143"/>
                  <a:gd name="T11" fmla="*/ 0 h 398"/>
                  <a:gd name="T12" fmla="*/ 0 w 1143"/>
                  <a:gd name="T13" fmla="*/ 0 h 398"/>
                  <a:gd name="T14" fmla="*/ 0 w 1143"/>
                  <a:gd name="T15" fmla="*/ 0 h 398"/>
                  <a:gd name="T16" fmla="*/ 0 w 1143"/>
                  <a:gd name="T17" fmla="*/ 0 h 398"/>
                  <a:gd name="T18" fmla="*/ 0 w 1143"/>
                  <a:gd name="T19" fmla="*/ 0 h 3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3"/>
                  <a:gd name="T31" fmla="*/ 0 h 398"/>
                  <a:gd name="T32" fmla="*/ 1143 w 1143"/>
                  <a:gd name="T33" fmla="*/ 398 h 3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3" h="398">
                    <a:moveTo>
                      <a:pt x="37" y="0"/>
                    </a:moveTo>
                    <a:lnTo>
                      <a:pt x="91" y="94"/>
                    </a:lnTo>
                    <a:lnTo>
                      <a:pt x="22" y="163"/>
                    </a:lnTo>
                    <a:lnTo>
                      <a:pt x="102" y="243"/>
                    </a:lnTo>
                    <a:lnTo>
                      <a:pt x="67" y="303"/>
                    </a:lnTo>
                    <a:lnTo>
                      <a:pt x="103" y="339"/>
                    </a:lnTo>
                    <a:lnTo>
                      <a:pt x="0" y="398"/>
                    </a:lnTo>
                    <a:lnTo>
                      <a:pt x="1143" y="398"/>
                    </a:lnTo>
                    <a:lnTo>
                      <a:pt x="1143" y="0"/>
                    </a:lnTo>
                    <a:lnTo>
                      <a:pt x="37" y="0"/>
                    </a:lnTo>
                    <a:close/>
                  </a:path>
                </a:pathLst>
              </a:custGeom>
              <a:solidFill>
                <a:srgbClr val="808080"/>
              </a:solidFill>
              <a:ln w="19050">
                <a:solidFill>
                  <a:schemeClr val="tx1"/>
                </a:solidFill>
                <a:round/>
              </a:ln>
            </p:spPr>
            <p:txBody>
              <a:bodyPr wrap="none" lIns="116427" tIns="58212" rIns="116427" bIns="58212" anchor="ctr"/>
              <a:lstStyle/>
              <a:p>
                <a:endParaRPr lang="zh-CN" altLang="en-US" sz="100"/>
              </a:p>
            </p:txBody>
          </p:sp>
          <p:sp>
            <p:nvSpPr>
              <p:cNvPr id="19487" name="Line 155"/>
              <p:cNvSpPr>
                <a:spLocks noChangeShapeType="1"/>
              </p:cNvSpPr>
              <p:nvPr/>
            </p:nvSpPr>
            <p:spPr bwMode="auto">
              <a:xfrm>
                <a:off x="2592" y="1728"/>
                <a:ext cx="9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488" name="Line 156"/>
              <p:cNvSpPr>
                <a:spLocks noChangeShapeType="1"/>
              </p:cNvSpPr>
              <p:nvPr/>
            </p:nvSpPr>
            <p:spPr bwMode="auto">
              <a:xfrm>
                <a:off x="2592" y="1584"/>
                <a:ext cx="9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9489" name="AutoShape 157"/>
              <p:cNvSpPr>
                <a:spLocks noChangeArrowheads="1"/>
              </p:cNvSpPr>
              <p:nvPr/>
            </p:nvSpPr>
            <p:spPr bwMode="auto">
              <a:xfrm flipH="1">
                <a:off x="2352" y="1536"/>
                <a:ext cx="240" cy="240"/>
              </a:xfrm>
              <a:prstGeom prst="flowChartDelay">
                <a:avLst/>
              </a:prstGeom>
              <a:solidFill>
                <a:srgbClr val="808080"/>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19482" name="AutoShape 158"/>
            <p:cNvSpPr>
              <a:spLocks noChangeArrowheads="1"/>
            </p:cNvSpPr>
            <p:nvPr/>
          </p:nvSpPr>
          <p:spPr bwMode="auto">
            <a:xfrm flipH="1">
              <a:off x="4272" y="2112"/>
              <a:ext cx="288" cy="288"/>
            </a:xfrm>
            <a:prstGeom prst="lightningBolt">
              <a:avLst/>
            </a:prstGeom>
            <a:solidFill>
              <a:srgbClr val="FFCC00"/>
            </a:solidFill>
            <a:ln w="19050">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sp>
        <p:nvSpPr>
          <p:cNvPr id="681121" name="WordArt 161"/>
          <p:cNvSpPr>
            <a:spLocks noChangeArrowheads="1" noChangeShapeType="1" noTextEdit="1"/>
          </p:cNvSpPr>
          <p:nvPr/>
        </p:nvSpPr>
        <p:spPr bwMode="auto">
          <a:xfrm>
            <a:off x="1129323" y="3130062"/>
            <a:ext cx="1434123" cy="298938"/>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100" b="1" kern="10">
                <a:effectLst>
                  <a:outerShdw dist="45791" dir="2021404" algn="ctr" rotWithShape="0">
                    <a:srgbClr val="B2B2B2">
                      <a:alpha val="79999"/>
                    </a:srgbClr>
                  </a:outerShdw>
                </a:effectLst>
                <a:latin typeface="宋体" panose="02010600030101010101" pitchFamily="2" charset="-122"/>
              </a:rPr>
              <a:t>工作计算机</a:t>
            </a:r>
            <a:endParaRPr lang="zh-CN" altLang="en-US" sz="100" b="1" kern="10">
              <a:effectLst>
                <a:outerShdw dist="45791" dir="2021404" algn="ctr" rotWithShape="0">
                  <a:srgbClr val="B2B2B2">
                    <a:alpha val="79999"/>
                  </a:srgbClr>
                </a:outerShdw>
              </a:effectLst>
              <a:latin typeface="宋体" panose="02010600030101010101" pitchFamily="2" charset="-122"/>
            </a:endParaRPr>
          </a:p>
        </p:txBody>
      </p:sp>
      <p:sp>
        <p:nvSpPr>
          <p:cNvPr id="681122" name="WordArt 162"/>
          <p:cNvSpPr>
            <a:spLocks noChangeArrowheads="1" noChangeShapeType="1" noTextEdit="1"/>
          </p:cNvSpPr>
          <p:nvPr/>
        </p:nvSpPr>
        <p:spPr bwMode="auto">
          <a:xfrm>
            <a:off x="1129323" y="3563816"/>
            <a:ext cx="1434123" cy="298938"/>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100" b="1" kern="10">
                <a:effectLst>
                  <a:outerShdw dist="45791" dir="2021404" algn="ctr" rotWithShape="0">
                    <a:srgbClr val="B2B2B2">
                      <a:alpha val="79999"/>
                    </a:srgbClr>
                  </a:outerShdw>
                </a:effectLst>
                <a:latin typeface="宋体" panose="02010600030101010101" pitchFamily="2" charset="-122"/>
              </a:rPr>
              <a:t>员工在使用</a:t>
            </a:r>
            <a:endParaRPr lang="zh-CN" altLang="en-US" sz="100" b="1" kern="10">
              <a:effectLst>
                <a:outerShdw dist="45791" dir="2021404" algn="ctr" rotWithShape="0">
                  <a:srgbClr val="B2B2B2">
                    <a:alpha val="79999"/>
                  </a:srgbClr>
                </a:outerShdw>
              </a:effectLst>
              <a:latin typeface="宋体" panose="02010600030101010101" pitchFamily="2" charset="-122"/>
            </a:endParaRPr>
          </a:p>
        </p:txBody>
      </p:sp>
      <p:sp>
        <p:nvSpPr>
          <p:cNvPr id="681123" name="WordArt 163"/>
          <p:cNvSpPr>
            <a:spLocks noChangeArrowheads="1" noChangeShapeType="1" noTextEdit="1"/>
          </p:cNvSpPr>
          <p:nvPr/>
        </p:nvSpPr>
        <p:spPr bwMode="auto">
          <a:xfrm>
            <a:off x="1219200" y="4032739"/>
            <a:ext cx="1146908" cy="298938"/>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100" b="1" kern="10">
                <a:effectLst>
                  <a:outerShdw dist="45791" dir="2021404" algn="ctr" rotWithShape="0">
                    <a:srgbClr val="B2B2B2">
                      <a:alpha val="79999"/>
                    </a:srgbClr>
                  </a:outerShdw>
                </a:effectLst>
                <a:latin typeface="宋体" panose="02010600030101010101" pitchFamily="2" charset="-122"/>
              </a:rPr>
              <a:t>移动介质</a:t>
            </a:r>
            <a:endParaRPr lang="zh-CN" altLang="en-US" sz="100" b="1" kern="10">
              <a:effectLst>
                <a:outerShdw dist="45791" dir="2021404" algn="ctr" rotWithShape="0">
                  <a:srgbClr val="B2B2B2">
                    <a:alpha val="79999"/>
                  </a:srgbClr>
                </a:outerShdw>
              </a:effectLst>
              <a:latin typeface="宋体" panose="02010600030101010101" pitchFamily="2" charset="-122"/>
            </a:endParaRPr>
          </a:p>
        </p:txBody>
      </p:sp>
      <p:sp>
        <p:nvSpPr>
          <p:cNvPr id="681124" name="WordArt 164"/>
          <p:cNvSpPr>
            <a:spLocks noChangeArrowheads="1" noChangeShapeType="1" noTextEdit="1"/>
          </p:cNvSpPr>
          <p:nvPr/>
        </p:nvSpPr>
        <p:spPr bwMode="auto">
          <a:xfrm>
            <a:off x="676031" y="4460631"/>
            <a:ext cx="2295770" cy="296985"/>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100" b="1" kern="10">
                <a:effectLst>
                  <a:outerShdw dist="45791" dir="2021404" algn="ctr" rotWithShape="0">
                    <a:srgbClr val="B2B2B2">
                      <a:alpha val="79999"/>
                    </a:srgbClr>
                  </a:outerShdw>
                </a:effectLst>
                <a:latin typeface="宋体" panose="02010600030101010101" pitchFamily="2" charset="-122"/>
              </a:rPr>
              <a:t>内网中的其它系统</a:t>
            </a:r>
            <a:endParaRPr lang="zh-CN" altLang="en-US" sz="100" b="1" kern="10">
              <a:effectLst>
                <a:outerShdw dist="45791" dir="2021404" algn="ctr" rotWithShape="0">
                  <a:srgbClr val="B2B2B2">
                    <a:alpha val="79999"/>
                  </a:srgbClr>
                </a:outerShdw>
              </a:effectLst>
              <a:latin typeface="宋体" panose="02010600030101010101" pitchFamily="2" charset="-122"/>
            </a:endParaRPr>
          </a:p>
        </p:txBody>
      </p:sp>
      <p:sp>
        <p:nvSpPr>
          <p:cNvPr id="681125" name="WordArt 165"/>
          <p:cNvSpPr>
            <a:spLocks noChangeArrowheads="1" noChangeShapeType="1" noTextEdit="1"/>
          </p:cNvSpPr>
          <p:nvPr/>
        </p:nvSpPr>
        <p:spPr bwMode="auto">
          <a:xfrm>
            <a:off x="947616" y="4847492"/>
            <a:ext cx="1897184" cy="281354"/>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100" b="1" kern="10">
                <a:effectLst>
                  <a:outerShdw dist="45791" dir="2021404" algn="ctr" rotWithShape="0">
                    <a:srgbClr val="B2B2B2">
                      <a:alpha val="79999"/>
                    </a:srgbClr>
                  </a:outerShdw>
                </a:effectLst>
                <a:latin typeface="宋体" panose="02010600030101010101" pitchFamily="2" charset="-122"/>
              </a:rPr>
              <a:t>单位连接因特网</a:t>
            </a:r>
            <a:endParaRPr lang="zh-CN" altLang="en-US" sz="100" b="1" kern="10">
              <a:effectLst>
                <a:outerShdw dist="45791" dir="2021404" algn="ctr" rotWithShape="0">
                  <a:srgbClr val="B2B2B2">
                    <a:alpha val="79999"/>
                  </a:srgbClr>
                </a:outerShdw>
              </a:effectLst>
              <a:latin typeface="宋体" panose="02010600030101010101" pitchFamily="2" charset="-122"/>
            </a:endParaRPr>
          </a:p>
        </p:txBody>
      </p:sp>
      <p:sp>
        <p:nvSpPr>
          <p:cNvPr id="681126" name="WordArt 166"/>
          <p:cNvSpPr>
            <a:spLocks noChangeArrowheads="1" noChangeShapeType="1" noTextEdit="1"/>
          </p:cNvSpPr>
          <p:nvPr/>
        </p:nvSpPr>
        <p:spPr bwMode="auto">
          <a:xfrm>
            <a:off x="857739" y="5291016"/>
            <a:ext cx="1721338" cy="29503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100" b="1" kern="10">
                <a:effectLst>
                  <a:outerShdw dist="45791" dir="2021404" algn="ctr" rotWithShape="0">
                    <a:srgbClr val="B2B2B2">
                      <a:alpha val="79999"/>
                    </a:srgbClr>
                  </a:outerShdw>
                </a:effectLst>
                <a:latin typeface="宋体" panose="02010600030101010101" pitchFamily="2" charset="-122"/>
              </a:rPr>
              <a:t>电话拨号上网</a:t>
            </a:r>
            <a:endParaRPr lang="zh-CN" altLang="en-US" sz="100" b="1" kern="10">
              <a:effectLst>
                <a:outerShdw dist="45791" dir="2021404" algn="ctr" rotWithShape="0">
                  <a:srgbClr val="B2B2B2">
                    <a:alpha val="79999"/>
                  </a:srgbClr>
                </a:outerShdw>
              </a:effectLst>
              <a:latin typeface="宋体" panose="02010600030101010101" pitchFamily="2" charset="-122"/>
            </a:endParaRPr>
          </a:p>
        </p:txBody>
      </p:sp>
      <p:sp>
        <p:nvSpPr>
          <p:cNvPr id="681128" name="WordArt 168"/>
          <p:cNvSpPr>
            <a:spLocks noChangeArrowheads="1" noChangeShapeType="1" noTextEdit="1"/>
          </p:cNvSpPr>
          <p:nvPr/>
        </p:nvSpPr>
        <p:spPr bwMode="auto">
          <a:xfrm>
            <a:off x="406400" y="5754077"/>
            <a:ext cx="2581031" cy="334108"/>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2460" b="1" kern="10">
                <a:effectLst>
                  <a:outerShdw dist="45791" dir="2021404" algn="ctr" rotWithShape="0">
                    <a:srgbClr val="B2B2B2">
                      <a:alpha val="79999"/>
                    </a:srgbClr>
                  </a:outerShdw>
                </a:effectLst>
                <a:latin typeface="宋体" panose="02010600030101010101" pitchFamily="2" charset="-122"/>
              </a:rPr>
              <a:t>连接其它单位网络</a:t>
            </a:r>
            <a:endParaRPr lang="zh-CN" altLang="en-US" sz="2460" b="1" kern="10">
              <a:effectLst>
                <a:outerShdw dist="45791" dir="2021404" algn="ctr" rotWithShape="0">
                  <a:srgbClr val="B2B2B2">
                    <a:alpha val="79999"/>
                  </a:srgbClr>
                </a:outerShdw>
              </a:effectLst>
              <a:latin typeface="宋体" panose="02010600030101010101" pitchFamily="2" charset="-122"/>
            </a:endParaRPr>
          </a:p>
        </p:txBody>
      </p:sp>
      <p:sp>
        <p:nvSpPr>
          <p:cNvPr id="681129" name="WordArt 169"/>
          <p:cNvSpPr>
            <a:spLocks noChangeArrowheads="1" noChangeShapeType="1" noTextEdit="1"/>
          </p:cNvSpPr>
          <p:nvPr/>
        </p:nvSpPr>
        <p:spPr bwMode="auto">
          <a:xfrm>
            <a:off x="947616" y="6232770"/>
            <a:ext cx="1146907" cy="298938"/>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zh-CN" altLang="en-US" sz="100" b="1" kern="10">
                <a:effectLst>
                  <a:outerShdw dist="45791" dir="2021404" algn="ctr" rotWithShape="0">
                    <a:srgbClr val="B2B2B2">
                      <a:alpha val="79999"/>
                    </a:srgbClr>
                  </a:outerShdw>
                </a:effectLst>
                <a:latin typeface="宋体" panose="02010600030101010101" pitchFamily="2" charset="-122"/>
              </a:rPr>
              <a:t>无线网络</a:t>
            </a:r>
            <a:endParaRPr lang="zh-CN" altLang="en-US" sz="100" b="1" kern="10">
              <a:effectLst>
                <a:outerShdw dist="45791" dir="2021404" algn="ctr" rotWithShape="0">
                  <a:srgbClr val="B2B2B2">
                    <a:alpha val="79999"/>
                  </a:srgbClr>
                </a:outerShdw>
              </a:effectLst>
              <a:latin typeface="宋体" panose="02010600030101010101" pitchFamily="2" charset="-122"/>
            </a:endParaRPr>
          </a:p>
        </p:txBody>
      </p:sp>
      <p:sp>
        <p:nvSpPr>
          <p:cNvPr id="2" name="矩形 1"/>
          <p:cNvSpPr/>
          <p:nvPr/>
        </p:nvSpPr>
        <p:spPr>
          <a:xfrm>
            <a:off x="4276970" y="72292"/>
            <a:ext cx="4143375" cy="622300"/>
          </a:xfrm>
          <a:prstGeom prst="rect">
            <a:avLst/>
          </a:prstGeom>
        </p:spPr>
        <p:txBody>
          <a:bodyPr wrap="none">
            <a:spAutoFit/>
          </a:bodyPr>
          <a:lstStyle/>
          <a:p>
            <a:pPr>
              <a:defRPr/>
            </a:pPr>
            <a:r>
              <a:rPr lang="zh-CN" altLang="en-US" sz="3445" b="1" dirty="0">
                <a:solidFill>
                  <a:srgbClr val="FF0000"/>
                </a:solidFill>
                <a:latin typeface="+mj-lt"/>
                <a:ea typeface="+mj-ea"/>
                <a:cs typeface="+mj-cs"/>
              </a:rPr>
              <a:t>内因系统越来越复杂</a:t>
            </a:r>
            <a:endParaRPr lang="zh-CN" altLang="en-US" sz="3445" b="1" dirty="0">
              <a:solidFill>
                <a:srgbClr val="FF0000"/>
              </a:solidFill>
              <a:latin typeface="+mj-lt"/>
              <a:ea typeface="+mj-ea"/>
              <a:cs typeface="+mj-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1121"/>
                                        </p:tgtEl>
                                        <p:attrNameLst>
                                          <p:attrName>style.visibility</p:attrName>
                                        </p:attrNameLst>
                                      </p:cBhvr>
                                      <p:to>
                                        <p:strVal val="visible"/>
                                      </p:to>
                                    </p:set>
                                    <p:anim calcmode="lin" valueType="num">
                                      <p:cBhvr additive="base">
                                        <p:cTn id="7" dur="500" fill="hold"/>
                                        <p:tgtEl>
                                          <p:spTgt spid="681121"/>
                                        </p:tgtEl>
                                        <p:attrNameLst>
                                          <p:attrName>ppt_x</p:attrName>
                                        </p:attrNameLst>
                                      </p:cBhvr>
                                      <p:tavLst>
                                        <p:tav tm="0">
                                          <p:val>
                                            <p:strVal val="#ppt_x"/>
                                          </p:val>
                                        </p:tav>
                                        <p:tav tm="100000">
                                          <p:val>
                                            <p:strVal val="#ppt_x"/>
                                          </p:val>
                                        </p:tav>
                                      </p:tavLst>
                                    </p:anim>
                                    <p:anim calcmode="lin" valueType="num">
                                      <p:cBhvr additive="base">
                                        <p:cTn id="8" dur="500" fill="hold"/>
                                        <p:tgtEl>
                                          <p:spTgt spid="68112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0963"/>
                                        </p:tgtEl>
                                        <p:attrNameLst>
                                          <p:attrName>style.visibility</p:attrName>
                                        </p:attrNameLst>
                                      </p:cBhvr>
                                      <p:to>
                                        <p:strVal val="visible"/>
                                      </p:to>
                                    </p:set>
                                    <p:anim calcmode="lin" valueType="num">
                                      <p:cBhvr additive="base">
                                        <p:cTn id="11" dur="500" fill="hold"/>
                                        <p:tgtEl>
                                          <p:spTgt spid="680963"/>
                                        </p:tgtEl>
                                        <p:attrNameLst>
                                          <p:attrName>ppt_x</p:attrName>
                                        </p:attrNameLst>
                                      </p:cBhvr>
                                      <p:tavLst>
                                        <p:tav tm="0">
                                          <p:val>
                                            <p:strVal val="#ppt_x"/>
                                          </p:val>
                                        </p:tav>
                                        <p:tav tm="100000">
                                          <p:val>
                                            <p:strVal val="#ppt_x"/>
                                          </p:val>
                                        </p:tav>
                                      </p:tavLst>
                                    </p:anim>
                                    <p:anim calcmode="lin" valueType="num">
                                      <p:cBhvr additive="base">
                                        <p:cTn id="12" dur="500" fill="hold"/>
                                        <p:tgtEl>
                                          <p:spTgt spid="68096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81122"/>
                                        </p:tgtEl>
                                        <p:attrNameLst>
                                          <p:attrName>style.visibility</p:attrName>
                                        </p:attrNameLst>
                                      </p:cBhvr>
                                      <p:to>
                                        <p:strVal val="visible"/>
                                      </p:to>
                                    </p:set>
                                    <p:anim calcmode="lin" valueType="num">
                                      <p:cBhvr additive="base">
                                        <p:cTn id="17" dur="500" fill="hold"/>
                                        <p:tgtEl>
                                          <p:spTgt spid="681122"/>
                                        </p:tgtEl>
                                        <p:attrNameLst>
                                          <p:attrName>ppt_x</p:attrName>
                                        </p:attrNameLst>
                                      </p:cBhvr>
                                      <p:tavLst>
                                        <p:tav tm="0">
                                          <p:val>
                                            <p:strVal val="#ppt_x"/>
                                          </p:val>
                                        </p:tav>
                                        <p:tav tm="100000">
                                          <p:val>
                                            <p:strVal val="#ppt_x"/>
                                          </p:val>
                                        </p:tav>
                                      </p:tavLst>
                                    </p:anim>
                                    <p:anim calcmode="lin" valueType="num">
                                      <p:cBhvr additive="base">
                                        <p:cTn id="18" dur="500" fill="hold"/>
                                        <p:tgtEl>
                                          <p:spTgt spid="68112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80969"/>
                                        </p:tgtEl>
                                        <p:attrNameLst>
                                          <p:attrName>style.visibility</p:attrName>
                                        </p:attrNameLst>
                                      </p:cBhvr>
                                      <p:to>
                                        <p:strVal val="visible"/>
                                      </p:to>
                                    </p:set>
                                    <p:anim calcmode="lin" valueType="num">
                                      <p:cBhvr additive="base">
                                        <p:cTn id="21" dur="500" fill="hold"/>
                                        <p:tgtEl>
                                          <p:spTgt spid="680969"/>
                                        </p:tgtEl>
                                        <p:attrNameLst>
                                          <p:attrName>ppt_x</p:attrName>
                                        </p:attrNameLst>
                                      </p:cBhvr>
                                      <p:tavLst>
                                        <p:tav tm="0">
                                          <p:val>
                                            <p:strVal val="#ppt_x"/>
                                          </p:val>
                                        </p:tav>
                                        <p:tav tm="100000">
                                          <p:val>
                                            <p:strVal val="#ppt_x"/>
                                          </p:val>
                                        </p:tav>
                                      </p:tavLst>
                                    </p:anim>
                                    <p:anim calcmode="lin" valueType="num">
                                      <p:cBhvr additive="base">
                                        <p:cTn id="22" dur="500" fill="hold"/>
                                        <p:tgtEl>
                                          <p:spTgt spid="68096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81123"/>
                                        </p:tgtEl>
                                        <p:attrNameLst>
                                          <p:attrName>style.visibility</p:attrName>
                                        </p:attrNameLst>
                                      </p:cBhvr>
                                      <p:to>
                                        <p:strVal val="visible"/>
                                      </p:to>
                                    </p:set>
                                    <p:anim calcmode="lin" valueType="num">
                                      <p:cBhvr additive="base">
                                        <p:cTn id="27" dur="500" fill="hold"/>
                                        <p:tgtEl>
                                          <p:spTgt spid="681123"/>
                                        </p:tgtEl>
                                        <p:attrNameLst>
                                          <p:attrName>ppt_x</p:attrName>
                                        </p:attrNameLst>
                                      </p:cBhvr>
                                      <p:tavLst>
                                        <p:tav tm="0">
                                          <p:val>
                                            <p:strVal val="#ppt_x"/>
                                          </p:val>
                                        </p:tav>
                                        <p:tav tm="100000">
                                          <p:val>
                                            <p:strVal val="#ppt_x"/>
                                          </p:val>
                                        </p:tav>
                                      </p:tavLst>
                                    </p:anim>
                                    <p:anim calcmode="lin" valueType="num">
                                      <p:cBhvr additive="base">
                                        <p:cTn id="28" dur="500" fill="hold"/>
                                        <p:tgtEl>
                                          <p:spTgt spid="68112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80972"/>
                                        </p:tgtEl>
                                        <p:attrNameLst>
                                          <p:attrName>style.visibility</p:attrName>
                                        </p:attrNameLst>
                                      </p:cBhvr>
                                      <p:to>
                                        <p:strVal val="visible"/>
                                      </p:to>
                                    </p:set>
                                    <p:anim calcmode="lin" valueType="num">
                                      <p:cBhvr additive="base">
                                        <p:cTn id="31" dur="500" fill="hold"/>
                                        <p:tgtEl>
                                          <p:spTgt spid="680972"/>
                                        </p:tgtEl>
                                        <p:attrNameLst>
                                          <p:attrName>ppt_x</p:attrName>
                                        </p:attrNameLst>
                                      </p:cBhvr>
                                      <p:tavLst>
                                        <p:tav tm="0">
                                          <p:val>
                                            <p:strVal val="#ppt_x"/>
                                          </p:val>
                                        </p:tav>
                                        <p:tav tm="100000">
                                          <p:val>
                                            <p:strVal val="#ppt_x"/>
                                          </p:val>
                                        </p:tav>
                                      </p:tavLst>
                                    </p:anim>
                                    <p:anim calcmode="lin" valueType="num">
                                      <p:cBhvr additive="base">
                                        <p:cTn id="32" dur="500" fill="hold"/>
                                        <p:tgtEl>
                                          <p:spTgt spid="68097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81124"/>
                                        </p:tgtEl>
                                        <p:attrNameLst>
                                          <p:attrName>style.visibility</p:attrName>
                                        </p:attrNameLst>
                                      </p:cBhvr>
                                      <p:to>
                                        <p:strVal val="visible"/>
                                      </p:to>
                                    </p:set>
                                    <p:anim calcmode="lin" valueType="num">
                                      <p:cBhvr additive="base">
                                        <p:cTn id="37" dur="500" fill="hold"/>
                                        <p:tgtEl>
                                          <p:spTgt spid="681124"/>
                                        </p:tgtEl>
                                        <p:attrNameLst>
                                          <p:attrName>ppt_x</p:attrName>
                                        </p:attrNameLst>
                                      </p:cBhvr>
                                      <p:tavLst>
                                        <p:tav tm="0">
                                          <p:val>
                                            <p:strVal val="#ppt_x"/>
                                          </p:val>
                                        </p:tav>
                                        <p:tav tm="100000">
                                          <p:val>
                                            <p:strVal val="#ppt_x"/>
                                          </p:val>
                                        </p:tav>
                                      </p:tavLst>
                                    </p:anim>
                                    <p:anim calcmode="lin" valueType="num">
                                      <p:cBhvr additive="base">
                                        <p:cTn id="38" dur="500" fill="hold"/>
                                        <p:tgtEl>
                                          <p:spTgt spid="68112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80980"/>
                                        </p:tgtEl>
                                        <p:attrNameLst>
                                          <p:attrName>style.visibility</p:attrName>
                                        </p:attrNameLst>
                                      </p:cBhvr>
                                      <p:to>
                                        <p:strVal val="visible"/>
                                      </p:to>
                                    </p:set>
                                    <p:anim calcmode="lin" valueType="num">
                                      <p:cBhvr additive="base">
                                        <p:cTn id="41" dur="500" fill="hold"/>
                                        <p:tgtEl>
                                          <p:spTgt spid="680980"/>
                                        </p:tgtEl>
                                        <p:attrNameLst>
                                          <p:attrName>ppt_x</p:attrName>
                                        </p:attrNameLst>
                                      </p:cBhvr>
                                      <p:tavLst>
                                        <p:tav tm="0">
                                          <p:val>
                                            <p:strVal val="#ppt_x"/>
                                          </p:val>
                                        </p:tav>
                                        <p:tav tm="100000">
                                          <p:val>
                                            <p:strVal val="#ppt_x"/>
                                          </p:val>
                                        </p:tav>
                                      </p:tavLst>
                                    </p:anim>
                                    <p:anim calcmode="lin" valueType="num">
                                      <p:cBhvr additive="base">
                                        <p:cTn id="42" dur="500" fill="hold"/>
                                        <p:tgtEl>
                                          <p:spTgt spid="680980"/>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80996"/>
                                        </p:tgtEl>
                                        <p:attrNameLst>
                                          <p:attrName>style.visibility</p:attrName>
                                        </p:attrNameLst>
                                      </p:cBhvr>
                                      <p:to>
                                        <p:strVal val="visible"/>
                                      </p:to>
                                    </p:set>
                                    <p:anim calcmode="lin" valueType="num">
                                      <p:cBhvr additive="base">
                                        <p:cTn id="45" dur="500" fill="hold"/>
                                        <p:tgtEl>
                                          <p:spTgt spid="680996"/>
                                        </p:tgtEl>
                                        <p:attrNameLst>
                                          <p:attrName>ppt_x</p:attrName>
                                        </p:attrNameLst>
                                      </p:cBhvr>
                                      <p:tavLst>
                                        <p:tav tm="0">
                                          <p:val>
                                            <p:strVal val="#ppt_x"/>
                                          </p:val>
                                        </p:tav>
                                        <p:tav tm="100000">
                                          <p:val>
                                            <p:strVal val="#ppt_x"/>
                                          </p:val>
                                        </p:tav>
                                      </p:tavLst>
                                    </p:anim>
                                    <p:anim calcmode="lin" valueType="num">
                                      <p:cBhvr additive="base">
                                        <p:cTn id="46" dur="500" fill="hold"/>
                                        <p:tgtEl>
                                          <p:spTgt spid="68099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681097"/>
                                        </p:tgtEl>
                                        <p:attrNameLst>
                                          <p:attrName>style.visibility</p:attrName>
                                        </p:attrNameLst>
                                      </p:cBhvr>
                                      <p:to>
                                        <p:strVal val="visible"/>
                                      </p:to>
                                    </p:set>
                                    <p:anim calcmode="lin" valueType="num">
                                      <p:cBhvr additive="base">
                                        <p:cTn id="51" dur="500" fill="hold"/>
                                        <p:tgtEl>
                                          <p:spTgt spid="681097"/>
                                        </p:tgtEl>
                                        <p:attrNameLst>
                                          <p:attrName>ppt_x</p:attrName>
                                        </p:attrNameLst>
                                      </p:cBhvr>
                                      <p:tavLst>
                                        <p:tav tm="0">
                                          <p:val>
                                            <p:strVal val="#ppt_x"/>
                                          </p:val>
                                        </p:tav>
                                        <p:tav tm="100000">
                                          <p:val>
                                            <p:strVal val="#ppt_x"/>
                                          </p:val>
                                        </p:tav>
                                      </p:tavLst>
                                    </p:anim>
                                    <p:anim calcmode="lin" valueType="num">
                                      <p:cBhvr additive="base">
                                        <p:cTn id="52" dur="500" fill="hold"/>
                                        <p:tgtEl>
                                          <p:spTgt spid="68109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681002"/>
                                        </p:tgtEl>
                                        <p:attrNameLst>
                                          <p:attrName>style.visibility</p:attrName>
                                        </p:attrNameLst>
                                      </p:cBhvr>
                                      <p:to>
                                        <p:strVal val="visible"/>
                                      </p:to>
                                    </p:set>
                                    <p:anim calcmode="lin" valueType="num">
                                      <p:cBhvr additive="base">
                                        <p:cTn id="55" dur="500" fill="hold"/>
                                        <p:tgtEl>
                                          <p:spTgt spid="681002"/>
                                        </p:tgtEl>
                                        <p:attrNameLst>
                                          <p:attrName>ppt_x</p:attrName>
                                        </p:attrNameLst>
                                      </p:cBhvr>
                                      <p:tavLst>
                                        <p:tav tm="0">
                                          <p:val>
                                            <p:strVal val="#ppt_x"/>
                                          </p:val>
                                        </p:tav>
                                        <p:tav tm="100000">
                                          <p:val>
                                            <p:strVal val="#ppt_x"/>
                                          </p:val>
                                        </p:tav>
                                      </p:tavLst>
                                    </p:anim>
                                    <p:anim calcmode="lin" valueType="num">
                                      <p:cBhvr additive="base">
                                        <p:cTn id="56" dur="500" fill="hold"/>
                                        <p:tgtEl>
                                          <p:spTgt spid="681002"/>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681072"/>
                                        </p:tgtEl>
                                        <p:attrNameLst>
                                          <p:attrName>style.visibility</p:attrName>
                                        </p:attrNameLst>
                                      </p:cBhvr>
                                      <p:to>
                                        <p:strVal val="visible"/>
                                      </p:to>
                                    </p:set>
                                    <p:anim calcmode="lin" valueType="num">
                                      <p:cBhvr additive="base">
                                        <p:cTn id="59" dur="500" fill="hold"/>
                                        <p:tgtEl>
                                          <p:spTgt spid="681072"/>
                                        </p:tgtEl>
                                        <p:attrNameLst>
                                          <p:attrName>ppt_x</p:attrName>
                                        </p:attrNameLst>
                                      </p:cBhvr>
                                      <p:tavLst>
                                        <p:tav tm="0">
                                          <p:val>
                                            <p:strVal val="#ppt_x"/>
                                          </p:val>
                                        </p:tav>
                                        <p:tav tm="100000">
                                          <p:val>
                                            <p:strVal val="#ppt_x"/>
                                          </p:val>
                                        </p:tav>
                                      </p:tavLst>
                                    </p:anim>
                                    <p:anim calcmode="lin" valueType="num">
                                      <p:cBhvr additive="base">
                                        <p:cTn id="60" dur="500" fill="hold"/>
                                        <p:tgtEl>
                                          <p:spTgt spid="681072"/>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681087"/>
                                        </p:tgtEl>
                                        <p:attrNameLst>
                                          <p:attrName>style.visibility</p:attrName>
                                        </p:attrNameLst>
                                      </p:cBhvr>
                                      <p:to>
                                        <p:strVal val="visible"/>
                                      </p:to>
                                    </p:set>
                                    <p:anim calcmode="lin" valueType="num">
                                      <p:cBhvr additive="base">
                                        <p:cTn id="63" dur="500" fill="hold"/>
                                        <p:tgtEl>
                                          <p:spTgt spid="681087"/>
                                        </p:tgtEl>
                                        <p:attrNameLst>
                                          <p:attrName>ppt_x</p:attrName>
                                        </p:attrNameLst>
                                      </p:cBhvr>
                                      <p:tavLst>
                                        <p:tav tm="0">
                                          <p:val>
                                            <p:strVal val="#ppt_x"/>
                                          </p:val>
                                        </p:tav>
                                        <p:tav tm="100000">
                                          <p:val>
                                            <p:strVal val="#ppt_x"/>
                                          </p:val>
                                        </p:tav>
                                      </p:tavLst>
                                    </p:anim>
                                    <p:anim calcmode="lin" valueType="num">
                                      <p:cBhvr additive="base">
                                        <p:cTn id="64" dur="500" fill="hold"/>
                                        <p:tgtEl>
                                          <p:spTgt spid="68108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81125"/>
                                        </p:tgtEl>
                                        <p:attrNameLst>
                                          <p:attrName>style.visibility</p:attrName>
                                        </p:attrNameLst>
                                      </p:cBhvr>
                                      <p:to>
                                        <p:strVal val="visible"/>
                                      </p:to>
                                    </p:set>
                                    <p:anim calcmode="lin" valueType="num">
                                      <p:cBhvr additive="base">
                                        <p:cTn id="67" dur="500" fill="hold"/>
                                        <p:tgtEl>
                                          <p:spTgt spid="681125"/>
                                        </p:tgtEl>
                                        <p:attrNameLst>
                                          <p:attrName>ppt_x</p:attrName>
                                        </p:attrNameLst>
                                      </p:cBhvr>
                                      <p:tavLst>
                                        <p:tav tm="0">
                                          <p:val>
                                            <p:strVal val="#ppt_x"/>
                                          </p:val>
                                        </p:tav>
                                        <p:tav tm="100000">
                                          <p:val>
                                            <p:strVal val="#ppt_x"/>
                                          </p:val>
                                        </p:tav>
                                      </p:tavLst>
                                    </p:anim>
                                    <p:anim calcmode="lin" valueType="num">
                                      <p:cBhvr additive="base">
                                        <p:cTn id="68" dur="500" fill="hold"/>
                                        <p:tgtEl>
                                          <p:spTgt spid="68112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81126"/>
                                        </p:tgtEl>
                                        <p:attrNameLst>
                                          <p:attrName>style.visibility</p:attrName>
                                        </p:attrNameLst>
                                      </p:cBhvr>
                                      <p:to>
                                        <p:strVal val="visible"/>
                                      </p:to>
                                    </p:set>
                                    <p:anim calcmode="lin" valueType="num">
                                      <p:cBhvr additive="base">
                                        <p:cTn id="73" dur="500" fill="hold"/>
                                        <p:tgtEl>
                                          <p:spTgt spid="681126"/>
                                        </p:tgtEl>
                                        <p:attrNameLst>
                                          <p:attrName>ppt_x</p:attrName>
                                        </p:attrNameLst>
                                      </p:cBhvr>
                                      <p:tavLst>
                                        <p:tav tm="0">
                                          <p:val>
                                            <p:strVal val="#ppt_x"/>
                                          </p:val>
                                        </p:tav>
                                        <p:tav tm="100000">
                                          <p:val>
                                            <p:strVal val="#ppt_x"/>
                                          </p:val>
                                        </p:tav>
                                      </p:tavLst>
                                    </p:anim>
                                    <p:anim calcmode="lin" valueType="num">
                                      <p:cBhvr additive="base">
                                        <p:cTn id="74" dur="500" fill="hold"/>
                                        <p:tgtEl>
                                          <p:spTgt spid="681126"/>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681054"/>
                                        </p:tgtEl>
                                        <p:attrNameLst>
                                          <p:attrName>style.visibility</p:attrName>
                                        </p:attrNameLst>
                                      </p:cBhvr>
                                      <p:to>
                                        <p:strVal val="visible"/>
                                      </p:to>
                                    </p:set>
                                    <p:anim calcmode="lin" valueType="num">
                                      <p:cBhvr additive="base">
                                        <p:cTn id="77" dur="500" fill="hold"/>
                                        <p:tgtEl>
                                          <p:spTgt spid="681054"/>
                                        </p:tgtEl>
                                        <p:attrNameLst>
                                          <p:attrName>ppt_x</p:attrName>
                                        </p:attrNameLst>
                                      </p:cBhvr>
                                      <p:tavLst>
                                        <p:tav tm="0">
                                          <p:val>
                                            <p:strVal val="#ppt_x"/>
                                          </p:val>
                                        </p:tav>
                                        <p:tav tm="100000">
                                          <p:val>
                                            <p:strVal val="#ppt_x"/>
                                          </p:val>
                                        </p:tav>
                                      </p:tavLst>
                                    </p:anim>
                                    <p:anim calcmode="lin" valueType="num">
                                      <p:cBhvr additive="base">
                                        <p:cTn id="78" dur="500" fill="hold"/>
                                        <p:tgtEl>
                                          <p:spTgt spid="681054"/>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681037"/>
                                        </p:tgtEl>
                                        <p:attrNameLst>
                                          <p:attrName>style.visibility</p:attrName>
                                        </p:attrNameLst>
                                      </p:cBhvr>
                                      <p:to>
                                        <p:strVal val="visible"/>
                                      </p:to>
                                    </p:set>
                                    <p:anim calcmode="lin" valueType="num">
                                      <p:cBhvr additive="base">
                                        <p:cTn id="81" dur="500" fill="hold"/>
                                        <p:tgtEl>
                                          <p:spTgt spid="681037"/>
                                        </p:tgtEl>
                                        <p:attrNameLst>
                                          <p:attrName>ppt_x</p:attrName>
                                        </p:attrNameLst>
                                      </p:cBhvr>
                                      <p:tavLst>
                                        <p:tav tm="0">
                                          <p:val>
                                            <p:strVal val="#ppt_x"/>
                                          </p:val>
                                        </p:tav>
                                        <p:tav tm="100000">
                                          <p:val>
                                            <p:strVal val="#ppt_x"/>
                                          </p:val>
                                        </p:tav>
                                      </p:tavLst>
                                    </p:anim>
                                    <p:anim calcmode="lin" valueType="num">
                                      <p:cBhvr additive="base">
                                        <p:cTn id="82" dur="500" fill="hold"/>
                                        <p:tgtEl>
                                          <p:spTgt spid="681037"/>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681128"/>
                                        </p:tgtEl>
                                        <p:attrNameLst>
                                          <p:attrName>style.visibility</p:attrName>
                                        </p:attrNameLst>
                                      </p:cBhvr>
                                      <p:to>
                                        <p:strVal val="visible"/>
                                      </p:to>
                                    </p:set>
                                    <p:anim calcmode="lin" valueType="num">
                                      <p:cBhvr additive="base">
                                        <p:cTn id="87" dur="500" fill="hold"/>
                                        <p:tgtEl>
                                          <p:spTgt spid="681128"/>
                                        </p:tgtEl>
                                        <p:attrNameLst>
                                          <p:attrName>ppt_x</p:attrName>
                                        </p:attrNameLst>
                                      </p:cBhvr>
                                      <p:tavLst>
                                        <p:tav tm="0">
                                          <p:val>
                                            <p:strVal val="#ppt_x"/>
                                          </p:val>
                                        </p:tav>
                                        <p:tav tm="100000">
                                          <p:val>
                                            <p:strVal val="#ppt_x"/>
                                          </p:val>
                                        </p:tav>
                                      </p:tavLst>
                                    </p:anim>
                                    <p:anim calcmode="lin" valueType="num">
                                      <p:cBhvr additive="base">
                                        <p:cTn id="88" dur="500" fill="hold"/>
                                        <p:tgtEl>
                                          <p:spTgt spid="681128"/>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681127"/>
                                        </p:tgtEl>
                                        <p:attrNameLst>
                                          <p:attrName>style.visibility</p:attrName>
                                        </p:attrNameLst>
                                      </p:cBhvr>
                                      <p:to>
                                        <p:strVal val="visible"/>
                                      </p:to>
                                    </p:set>
                                    <p:anim calcmode="lin" valueType="num">
                                      <p:cBhvr additive="base">
                                        <p:cTn id="91" dur="500" fill="hold"/>
                                        <p:tgtEl>
                                          <p:spTgt spid="681127"/>
                                        </p:tgtEl>
                                        <p:attrNameLst>
                                          <p:attrName>ppt_x</p:attrName>
                                        </p:attrNameLst>
                                      </p:cBhvr>
                                      <p:tavLst>
                                        <p:tav tm="0">
                                          <p:val>
                                            <p:strVal val="#ppt_x"/>
                                          </p:val>
                                        </p:tav>
                                        <p:tav tm="100000">
                                          <p:val>
                                            <p:strVal val="#ppt_x"/>
                                          </p:val>
                                        </p:tav>
                                      </p:tavLst>
                                    </p:anim>
                                    <p:anim calcmode="lin" valueType="num">
                                      <p:cBhvr additive="base">
                                        <p:cTn id="92" dur="500" fill="hold"/>
                                        <p:tgtEl>
                                          <p:spTgt spid="68112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81129"/>
                                        </p:tgtEl>
                                        <p:attrNameLst>
                                          <p:attrName>style.visibility</p:attrName>
                                        </p:attrNameLst>
                                      </p:cBhvr>
                                      <p:to>
                                        <p:strVal val="visible"/>
                                      </p:to>
                                    </p:set>
                                    <p:anim calcmode="lin" valueType="num">
                                      <p:cBhvr additive="base">
                                        <p:cTn id="97" dur="500" fill="hold"/>
                                        <p:tgtEl>
                                          <p:spTgt spid="681129"/>
                                        </p:tgtEl>
                                        <p:attrNameLst>
                                          <p:attrName>ppt_x</p:attrName>
                                        </p:attrNameLst>
                                      </p:cBhvr>
                                      <p:tavLst>
                                        <p:tav tm="0">
                                          <p:val>
                                            <p:strVal val="#ppt_x"/>
                                          </p:val>
                                        </p:tav>
                                        <p:tav tm="100000">
                                          <p:val>
                                            <p:strVal val="#ppt_x"/>
                                          </p:val>
                                        </p:tav>
                                      </p:tavLst>
                                    </p:anim>
                                    <p:anim calcmode="lin" valueType="num">
                                      <p:cBhvr additive="base">
                                        <p:cTn id="98" dur="500" fill="hold"/>
                                        <p:tgtEl>
                                          <p:spTgt spid="681129"/>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681109"/>
                                        </p:tgtEl>
                                        <p:attrNameLst>
                                          <p:attrName>style.visibility</p:attrName>
                                        </p:attrNameLst>
                                      </p:cBhvr>
                                      <p:to>
                                        <p:strVal val="visible"/>
                                      </p:to>
                                    </p:set>
                                    <p:anim calcmode="lin" valueType="num">
                                      <p:cBhvr additive="base">
                                        <p:cTn id="101" dur="500" fill="hold"/>
                                        <p:tgtEl>
                                          <p:spTgt spid="681109"/>
                                        </p:tgtEl>
                                        <p:attrNameLst>
                                          <p:attrName>ppt_x</p:attrName>
                                        </p:attrNameLst>
                                      </p:cBhvr>
                                      <p:tavLst>
                                        <p:tav tm="0">
                                          <p:val>
                                            <p:strVal val="#ppt_x"/>
                                          </p:val>
                                        </p:tav>
                                        <p:tav tm="100000">
                                          <p:val>
                                            <p:strVal val="#ppt_x"/>
                                          </p:val>
                                        </p:tav>
                                      </p:tavLst>
                                    </p:anim>
                                    <p:anim calcmode="lin" valueType="num">
                                      <p:cBhvr additive="base">
                                        <p:cTn id="102" dur="500" fill="hold"/>
                                        <p:tgtEl>
                                          <p:spTgt spid="6811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121" grpId="0" animBg="1"/>
      <p:bldP spid="681122" grpId="0" animBg="1"/>
      <p:bldP spid="681123" grpId="0" animBg="1"/>
      <p:bldP spid="681124" grpId="0" animBg="1"/>
      <p:bldP spid="681125" grpId="0" animBg="1"/>
      <p:bldP spid="681126" grpId="0" animBg="1"/>
      <p:bldP spid="681128" grpId="0" animBg="1"/>
      <p:bldP spid="6811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601785" y="39078"/>
            <a:ext cx="8684847" cy="599830"/>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chemeClr val="tx1"/>
                </a:solidFill>
              </a:rPr>
              <a:t>安全问题根源</a:t>
            </a:r>
            <a:r>
              <a:rPr lang="en-US" altLang="zh-CN" sz="3445" kern="0" dirty="0">
                <a:solidFill>
                  <a:schemeClr val="tx1"/>
                </a:solidFill>
              </a:rPr>
              <a:t>—</a:t>
            </a:r>
            <a:r>
              <a:rPr lang="zh-CN" altLang="en-US" sz="3445" kern="0" dirty="0">
                <a:solidFill>
                  <a:schemeClr val="tx1"/>
                </a:solidFill>
              </a:rPr>
              <a:t>外因来自对手的威胁</a:t>
            </a:r>
            <a:endParaRPr lang="en-US" altLang="zh-CN" sz="3445" kern="0" dirty="0">
              <a:solidFill>
                <a:schemeClr val="tx1"/>
              </a:solidFill>
            </a:endParaRPr>
          </a:p>
        </p:txBody>
      </p:sp>
      <p:grpSp>
        <p:nvGrpSpPr>
          <p:cNvPr id="17" name="组合 16"/>
          <p:cNvGrpSpPr/>
          <p:nvPr/>
        </p:nvGrpSpPr>
        <p:grpSpPr bwMode="auto">
          <a:xfrm>
            <a:off x="867508" y="922216"/>
            <a:ext cx="1150816" cy="1418492"/>
            <a:chOff x="848544" y="1584484"/>
            <a:chExt cx="936104" cy="1152128"/>
          </a:xfrm>
        </p:grpSpPr>
        <p:sp>
          <p:nvSpPr>
            <p:cNvPr id="3" name="Rectangle 2"/>
            <p:cNvSpPr txBox="1">
              <a:spLocks noChangeArrowheads="1"/>
            </p:cNvSpPr>
            <p:nvPr/>
          </p:nvSpPr>
          <p:spPr bwMode="gray">
            <a:xfrm>
              <a:off x="848544" y="1584484"/>
              <a:ext cx="910675" cy="1152128"/>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0000FF"/>
                  </a:solidFill>
                </a:rPr>
                <a:t>国家</a:t>
              </a:r>
              <a:endParaRPr lang="en-US" altLang="zh-CN" sz="2955" kern="0" dirty="0">
                <a:solidFill>
                  <a:srgbClr val="0000FF"/>
                </a:solidFill>
              </a:endParaRPr>
            </a:p>
            <a:p>
              <a:pPr>
                <a:defRPr/>
              </a:pPr>
              <a:r>
                <a:rPr lang="zh-CN" altLang="en-US" sz="2955" kern="0" dirty="0">
                  <a:solidFill>
                    <a:srgbClr val="0000FF"/>
                  </a:solidFill>
                </a:rPr>
                <a:t>安全</a:t>
              </a:r>
              <a:endParaRPr lang="en-US" altLang="zh-CN" sz="2955" kern="0" dirty="0">
                <a:solidFill>
                  <a:srgbClr val="0000FF"/>
                </a:solidFill>
              </a:endParaRPr>
            </a:p>
            <a:p>
              <a:pPr>
                <a:defRPr/>
              </a:pPr>
              <a:r>
                <a:rPr lang="zh-CN" altLang="en-US" sz="2955" kern="0" dirty="0">
                  <a:solidFill>
                    <a:srgbClr val="0000FF"/>
                  </a:solidFill>
                </a:rPr>
                <a:t>威胁</a:t>
              </a:r>
              <a:endParaRPr lang="en-US" altLang="zh-CN" sz="2955" kern="0" dirty="0">
                <a:solidFill>
                  <a:srgbClr val="0000FF"/>
                </a:solidFill>
              </a:endParaRPr>
            </a:p>
          </p:txBody>
        </p:sp>
        <p:sp>
          <p:nvSpPr>
            <p:cNvPr id="5" name="左大括号 4"/>
            <p:cNvSpPr/>
            <p:nvPr/>
          </p:nvSpPr>
          <p:spPr>
            <a:xfrm>
              <a:off x="1568502" y="1844744"/>
              <a:ext cx="216146" cy="647477"/>
            </a:xfrm>
            <a:prstGeom prst="leftBrace">
              <a:avLst>
                <a:gd name="adj1" fmla="val 29497"/>
                <a:gd name="adj2" fmla="val 50000"/>
              </a:avLst>
            </a:prstGeom>
            <a:ln w="571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00"/>
            </a:p>
          </p:txBody>
        </p:sp>
      </p:grpSp>
      <p:sp>
        <p:nvSpPr>
          <p:cNvPr id="6" name="Rectangle 2"/>
          <p:cNvSpPr txBox="1">
            <a:spLocks noChangeArrowheads="1"/>
          </p:cNvSpPr>
          <p:nvPr/>
        </p:nvSpPr>
        <p:spPr bwMode="gray">
          <a:xfrm>
            <a:off x="1989015" y="889000"/>
            <a:ext cx="9335477" cy="621323"/>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FF0000"/>
                </a:solidFill>
              </a:rPr>
              <a:t>信息战士：</a:t>
            </a:r>
            <a:r>
              <a:rPr lang="zh-CN" altLang="en-US" sz="2215" kern="0" dirty="0">
                <a:solidFill>
                  <a:schemeClr val="tx1"/>
                </a:solidFill>
              </a:rPr>
              <a:t>减小国家决策空间、战略优势，制造混乱，进行目标破坏</a:t>
            </a:r>
            <a:endParaRPr lang="en-US" altLang="zh-CN" sz="2215" kern="0" dirty="0">
              <a:solidFill>
                <a:schemeClr val="tx1"/>
              </a:solidFill>
            </a:endParaRPr>
          </a:p>
        </p:txBody>
      </p:sp>
      <p:sp>
        <p:nvSpPr>
          <p:cNvPr id="7" name="Rectangle 2"/>
          <p:cNvSpPr txBox="1">
            <a:spLocks noChangeArrowheads="1"/>
          </p:cNvSpPr>
          <p:nvPr/>
        </p:nvSpPr>
        <p:spPr bwMode="gray">
          <a:xfrm>
            <a:off x="2018324" y="1641231"/>
            <a:ext cx="8952523" cy="621323"/>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FF0000"/>
                </a:solidFill>
              </a:rPr>
              <a:t>情报机构：</a:t>
            </a:r>
            <a:r>
              <a:rPr lang="zh-CN" altLang="en-US" sz="2215" kern="0" dirty="0">
                <a:solidFill>
                  <a:schemeClr val="tx1"/>
                </a:solidFill>
              </a:rPr>
              <a:t>收集政治、军事、经济情报</a:t>
            </a:r>
            <a:endParaRPr lang="en-US" altLang="zh-CN" sz="2215" kern="0" dirty="0">
              <a:solidFill>
                <a:schemeClr val="tx1"/>
              </a:solidFill>
            </a:endParaRPr>
          </a:p>
        </p:txBody>
      </p:sp>
      <p:grpSp>
        <p:nvGrpSpPr>
          <p:cNvPr id="18" name="组合 17"/>
          <p:cNvGrpSpPr/>
          <p:nvPr/>
        </p:nvGrpSpPr>
        <p:grpSpPr bwMode="auto">
          <a:xfrm>
            <a:off x="822570" y="2573215"/>
            <a:ext cx="1328615" cy="1418492"/>
            <a:chOff x="812486" y="2924943"/>
            <a:chExt cx="1080120" cy="1152128"/>
          </a:xfrm>
        </p:grpSpPr>
        <p:sp>
          <p:nvSpPr>
            <p:cNvPr id="8" name="Rectangle 2"/>
            <p:cNvSpPr txBox="1">
              <a:spLocks noChangeArrowheads="1"/>
            </p:cNvSpPr>
            <p:nvPr/>
          </p:nvSpPr>
          <p:spPr bwMode="gray">
            <a:xfrm>
              <a:off x="812486" y="2924943"/>
              <a:ext cx="1080120" cy="1152128"/>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0000FF"/>
                  </a:solidFill>
                </a:rPr>
                <a:t>共同</a:t>
              </a:r>
              <a:endParaRPr lang="en-US" altLang="zh-CN" sz="2955" kern="0" dirty="0">
                <a:solidFill>
                  <a:srgbClr val="0000FF"/>
                </a:solidFill>
              </a:endParaRPr>
            </a:p>
            <a:p>
              <a:pPr>
                <a:defRPr/>
              </a:pPr>
              <a:r>
                <a:rPr lang="zh-CN" altLang="en-US" sz="2955" kern="0" dirty="0">
                  <a:solidFill>
                    <a:srgbClr val="0000FF"/>
                  </a:solidFill>
                </a:rPr>
                <a:t>威胁</a:t>
              </a:r>
              <a:endParaRPr lang="en-US" altLang="zh-CN" sz="2955" kern="0" dirty="0">
                <a:solidFill>
                  <a:srgbClr val="0000FF"/>
                </a:solidFill>
              </a:endParaRPr>
            </a:p>
          </p:txBody>
        </p:sp>
        <p:sp>
          <p:nvSpPr>
            <p:cNvPr id="9" name="左大括号 8"/>
            <p:cNvSpPr/>
            <p:nvPr/>
          </p:nvSpPr>
          <p:spPr>
            <a:xfrm>
              <a:off x="1497091" y="3059835"/>
              <a:ext cx="287503" cy="1017236"/>
            </a:xfrm>
            <a:prstGeom prst="leftBrace">
              <a:avLst>
                <a:gd name="adj1" fmla="val 29497"/>
                <a:gd name="adj2" fmla="val 50000"/>
              </a:avLst>
            </a:prstGeom>
            <a:ln w="571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00"/>
            </a:p>
          </p:txBody>
        </p:sp>
      </p:grpSp>
      <p:sp>
        <p:nvSpPr>
          <p:cNvPr id="10" name="Rectangle 2"/>
          <p:cNvSpPr txBox="1">
            <a:spLocks noChangeArrowheads="1"/>
          </p:cNvSpPr>
          <p:nvPr/>
        </p:nvSpPr>
        <p:spPr bwMode="gray">
          <a:xfrm>
            <a:off x="2074985" y="2346569"/>
            <a:ext cx="6856047" cy="621323"/>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FF0000"/>
                </a:solidFill>
              </a:rPr>
              <a:t>恐怖分子：</a:t>
            </a:r>
            <a:r>
              <a:rPr lang="zh-CN" altLang="en-US" sz="2215" kern="0" dirty="0">
                <a:solidFill>
                  <a:schemeClr val="tx1"/>
                </a:solidFill>
              </a:rPr>
              <a:t>破坏公共秩序，制造混乱，发动政变</a:t>
            </a:r>
            <a:endParaRPr lang="en-US" altLang="zh-CN" sz="2215" kern="0" dirty="0">
              <a:solidFill>
                <a:schemeClr val="tx1"/>
              </a:solidFill>
            </a:endParaRPr>
          </a:p>
        </p:txBody>
      </p:sp>
      <p:sp>
        <p:nvSpPr>
          <p:cNvPr id="11" name="Rectangle 2"/>
          <p:cNvSpPr txBox="1">
            <a:spLocks noChangeArrowheads="1"/>
          </p:cNvSpPr>
          <p:nvPr/>
        </p:nvSpPr>
        <p:spPr bwMode="gray">
          <a:xfrm>
            <a:off x="2018324" y="2948354"/>
            <a:ext cx="8952523" cy="621323"/>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FF0000"/>
                </a:solidFill>
              </a:rPr>
              <a:t>商业间谍：</a:t>
            </a:r>
            <a:r>
              <a:rPr lang="zh-CN" altLang="en-US" sz="2215" kern="0" dirty="0">
                <a:solidFill>
                  <a:schemeClr val="tx1"/>
                </a:solidFill>
              </a:rPr>
              <a:t>掠夺竞争优势，恐吓</a:t>
            </a:r>
            <a:endParaRPr lang="en-US" altLang="zh-CN" sz="2215" kern="0" dirty="0">
              <a:solidFill>
                <a:schemeClr val="tx1"/>
              </a:solidFill>
            </a:endParaRPr>
          </a:p>
        </p:txBody>
      </p:sp>
      <p:sp>
        <p:nvSpPr>
          <p:cNvPr id="12" name="Rectangle 2"/>
          <p:cNvSpPr txBox="1">
            <a:spLocks noChangeArrowheads="1"/>
          </p:cNvSpPr>
          <p:nvPr/>
        </p:nvSpPr>
        <p:spPr bwMode="gray">
          <a:xfrm>
            <a:off x="2073031" y="3595078"/>
            <a:ext cx="6858000" cy="621323"/>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FF0000"/>
                </a:solidFill>
              </a:rPr>
              <a:t>犯罪团伙：</a:t>
            </a:r>
            <a:r>
              <a:rPr lang="zh-CN" altLang="en-US" sz="2215" kern="0" dirty="0">
                <a:solidFill>
                  <a:schemeClr val="tx1"/>
                </a:solidFill>
              </a:rPr>
              <a:t>实施报复，实现经济目标，破坏制度</a:t>
            </a:r>
            <a:endParaRPr lang="en-US" altLang="zh-CN" sz="2215" kern="0" dirty="0">
              <a:solidFill>
                <a:schemeClr val="tx1"/>
              </a:solidFill>
            </a:endParaRPr>
          </a:p>
        </p:txBody>
      </p:sp>
      <p:grpSp>
        <p:nvGrpSpPr>
          <p:cNvPr id="19" name="组合 18"/>
          <p:cNvGrpSpPr/>
          <p:nvPr/>
        </p:nvGrpSpPr>
        <p:grpSpPr bwMode="auto">
          <a:xfrm>
            <a:off x="826478" y="4581769"/>
            <a:ext cx="1191846" cy="1416539"/>
            <a:chOff x="815353" y="4556670"/>
            <a:chExt cx="969295" cy="1152128"/>
          </a:xfrm>
        </p:grpSpPr>
        <p:sp>
          <p:nvSpPr>
            <p:cNvPr id="13" name="Rectangle 2"/>
            <p:cNvSpPr txBox="1">
              <a:spLocks noChangeArrowheads="1"/>
            </p:cNvSpPr>
            <p:nvPr/>
          </p:nvSpPr>
          <p:spPr bwMode="gray">
            <a:xfrm>
              <a:off x="815353" y="4556670"/>
              <a:ext cx="943871" cy="1152128"/>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0000FF"/>
                  </a:solidFill>
                </a:rPr>
                <a:t>局部威胁</a:t>
              </a:r>
              <a:endParaRPr lang="en-US" altLang="zh-CN" sz="2955" kern="0" dirty="0">
                <a:solidFill>
                  <a:srgbClr val="0000FF"/>
                </a:solidFill>
              </a:endParaRPr>
            </a:p>
          </p:txBody>
        </p:sp>
        <p:sp>
          <p:nvSpPr>
            <p:cNvPr id="14" name="左大括号 13"/>
            <p:cNvSpPr/>
            <p:nvPr/>
          </p:nvSpPr>
          <p:spPr>
            <a:xfrm>
              <a:off x="1533585" y="4858607"/>
              <a:ext cx="251063" cy="586394"/>
            </a:xfrm>
            <a:prstGeom prst="leftBrace">
              <a:avLst>
                <a:gd name="adj1" fmla="val 29497"/>
                <a:gd name="adj2" fmla="val 50000"/>
              </a:avLst>
            </a:prstGeom>
            <a:ln w="571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00"/>
            </a:p>
          </p:txBody>
        </p:sp>
      </p:grpSp>
      <p:sp>
        <p:nvSpPr>
          <p:cNvPr id="15" name="Rectangle 2"/>
          <p:cNvSpPr txBox="1">
            <a:spLocks noChangeArrowheads="1"/>
          </p:cNvSpPr>
          <p:nvPr/>
        </p:nvSpPr>
        <p:spPr bwMode="gray">
          <a:xfrm>
            <a:off x="2047631" y="4570046"/>
            <a:ext cx="7504724" cy="619370"/>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FF0000"/>
                </a:solidFill>
              </a:rPr>
              <a:t>社会型黑客：</a:t>
            </a:r>
            <a:r>
              <a:rPr lang="zh-CN" altLang="en-US" sz="2460" kern="0" dirty="0">
                <a:solidFill>
                  <a:schemeClr val="tx1"/>
                </a:solidFill>
              </a:rPr>
              <a:t>摄取金钱，恐吓，挑战，获取声望</a:t>
            </a:r>
            <a:endParaRPr lang="en-US" altLang="zh-CN" sz="2215" kern="0" dirty="0">
              <a:solidFill>
                <a:schemeClr val="tx1"/>
              </a:solidFill>
            </a:endParaRPr>
          </a:p>
        </p:txBody>
      </p:sp>
      <p:sp>
        <p:nvSpPr>
          <p:cNvPr id="16" name="Rectangle 2"/>
          <p:cNvSpPr txBox="1">
            <a:spLocks noChangeArrowheads="1"/>
          </p:cNvSpPr>
          <p:nvPr/>
        </p:nvSpPr>
        <p:spPr bwMode="gray">
          <a:xfrm>
            <a:off x="2018324" y="5291016"/>
            <a:ext cx="8952523" cy="619369"/>
          </a:xfrm>
          <a:prstGeom prst="rect">
            <a:avLst/>
          </a:prstGeom>
          <a:noFill/>
          <a:ln>
            <a:noFill/>
          </a:ln>
        </p:spPr>
        <p:txBody>
          <a:bodyPr lIns="116427" tIns="58212" rIns="116427" bIns="5821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955" kern="0" dirty="0">
                <a:solidFill>
                  <a:srgbClr val="FF0000"/>
                </a:solidFill>
              </a:rPr>
              <a:t>娱乐型黑客：</a:t>
            </a:r>
            <a:r>
              <a:rPr lang="zh-CN" altLang="en-US" sz="2460" kern="0" dirty="0">
                <a:solidFill>
                  <a:schemeClr val="tx1"/>
                </a:solidFill>
              </a:rPr>
              <a:t>以吓人为乐，喜欢挑战</a:t>
            </a:r>
            <a:endParaRPr lang="en-US" altLang="zh-CN" sz="2215" kern="0" dirty="0">
              <a:solidFill>
                <a:schemeClr val="tx1"/>
              </a:solidFill>
            </a:endParaRPr>
          </a:p>
        </p:txBody>
      </p:sp>
      <p:pic>
        <p:nvPicPr>
          <p:cNvPr id="25613" name="图片 1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108831" y="2948354"/>
            <a:ext cx="2897554" cy="39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1000" fill="hold"/>
                                        <p:tgtEl>
                                          <p:spTgt spid="6"/>
                                        </p:tgtEl>
                                        <p:attrNameLst>
                                          <p:attrName>ppt_x</p:attrName>
                                        </p:attrNameLst>
                                      </p:cBhvr>
                                      <p:tavLst>
                                        <p:tav tm="0">
                                          <p:val>
                                            <p:strVal val="#ppt_x"/>
                                          </p:val>
                                        </p:tav>
                                        <p:tav tm="100000">
                                          <p:val>
                                            <p:strVal val="#ppt_x"/>
                                          </p:val>
                                        </p:tav>
                                      </p:tavLst>
                                    </p:anim>
                                    <p:anim calcmode="lin" valueType="num">
                                      <p:cBhvr additive="base">
                                        <p:cTn id="14" dur="1000" fill="hold"/>
                                        <p:tgtEl>
                                          <p:spTgt spid="6"/>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1000" fill="hold"/>
                                        <p:tgtEl>
                                          <p:spTgt spid="7"/>
                                        </p:tgtEl>
                                        <p:attrNameLst>
                                          <p:attrName>ppt_x</p:attrName>
                                        </p:attrNameLst>
                                      </p:cBhvr>
                                      <p:tavLst>
                                        <p:tav tm="0">
                                          <p:val>
                                            <p:strVal val="#ppt_x"/>
                                          </p:val>
                                        </p:tav>
                                        <p:tav tm="100000">
                                          <p:val>
                                            <p:strVal val="#ppt_x"/>
                                          </p:val>
                                        </p:tav>
                                      </p:tavLst>
                                    </p:anim>
                                    <p:anim calcmode="lin" valueType="num">
                                      <p:cBhvr additive="base">
                                        <p:cTn id="19"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additive="base">
                                        <p:cTn id="24" dur="500" fill="hold"/>
                                        <p:tgtEl>
                                          <p:spTgt spid="18"/>
                                        </p:tgtEl>
                                        <p:attrNameLst>
                                          <p:attrName>ppt_x</p:attrName>
                                        </p:attrNameLst>
                                      </p:cBhvr>
                                      <p:tavLst>
                                        <p:tav tm="0">
                                          <p:val>
                                            <p:strVal val="#ppt_x"/>
                                          </p:val>
                                        </p:tav>
                                        <p:tav tm="100000">
                                          <p:val>
                                            <p:strVal val="#ppt_x"/>
                                          </p:val>
                                        </p:tav>
                                      </p:tavLst>
                                    </p:anim>
                                    <p:anim calcmode="lin" valueType="num">
                                      <p:cBhvr additive="base">
                                        <p:cTn id="25" dur="500" fill="hold"/>
                                        <p:tgtEl>
                                          <p:spTgt spid="18"/>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53" presetClass="entr" presetSubtype="16"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1000" fill="hold"/>
                                        <p:tgtEl>
                                          <p:spTgt spid="10"/>
                                        </p:tgtEl>
                                        <p:attrNameLst>
                                          <p:attrName>ppt_w</p:attrName>
                                        </p:attrNameLst>
                                      </p:cBhvr>
                                      <p:tavLst>
                                        <p:tav tm="0">
                                          <p:val>
                                            <p:fltVal val="0"/>
                                          </p:val>
                                        </p:tav>
                                        <p:tav tm="100000">
                                          <p:val>
                                            <p:strVal val="#ppt_w"/>
                                          </p:val>
                                        </p:tav>
                                      </p:tavLst>
                                    </p:anim>
                                    <p:anim calcmode="lin" valueType="num">
                                      <p:cBhvr>
                                        <p:cTn id="30" dur="1000" fill="hold"/>
                                        <p:tgtEl>
                                          <p:spTgt spid="10"/>
                                        </p:tgtEl>
                                        <p:attrNameLst>
                                          <p:attrName>ppt_h</p:attrName>
                                        </p:attrNameLst>
                                      </p:cBhvr>
                                      <p:tavLst>
                                        <p:tav tm="0">
                                          <p:val>
                                            <p:fltVal val="0"/>
                                          </p:val>
                                        </p:tav>
                                        <p:tav tm="100000">
                                          <p:val>
                                            <p:strVal val="#ppt_h"/>
                                          </p:val>
                                        </p:tav>
                                      </p:tavLst>
                                    </p:anim>
                                    <p:animEffect transition="in" filter="fade">
                                      <p:cBhvr>
                                        <p:cTn id="31" dur="1000"/>
                                        <p:tgtEl>
                                          <p:spTgt spid="10"/>
                                        </p:tgtEl>
                                      </p:cBhvr>
                                    </p:animEffect>
                                  </p:childTnLst>
                                </p:cTn>
                              </p:par>
                            </p:childTnLst>
                          </p:cTn>
                        </p:par>
                        <p:par>
                          <p:cTn id="32" fill="hold">
                            <p:stCondLst>
                              <p:cond delay="1500"/>
                            </p:stCondLst>
                            <p:childTnLst>
                              <p:par>
                                <p:cTn id="33" presetID="53" presetClass="entr" presetSubtype="16"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1000" fill="hold"/>
                                        <p:tgtEl>
                                          <p:spTgt spid="11"/>
                                        </p:tgtEl>
                                        <p:attrNameLst>
                                          <p:attrName>ppt_w</p:attrName>
                                        </p:attrNameLst>
                                      </p:cBhvr>
                                      <p:tavLst>
                                        <p:tav tm="0">
                                          <p:val>
                                            <p:fltVal val="0"/>
                                          </p:val>
                                        </p:tav>
                                        <p:tav tm="100000">
                                          <p:val>
                                            <p:strVal val="#ppt_w"/>
                                          </p:val>
                                        </p:tav>
                                      </p:tavLst>
                                    </p:anim>
                                    <p:anim calcmode="lin" valueType="num">
                                      <p:cBhvr>
                                        <p:cTn id="36" dur="1000" fill="hold"/>
                                        <p:tgtEl>
                                          <p:spTgt spid="11"/>
                                        </p:tgtEl>
                                        <p:attrNameLst>
                                          <p:attrName>ppt_h</p:attrName>
                                        </p:attrNameLst>
                                      </p:cBhvr>
                                      <p:tavLst>
                                        <p:tav tm="0">
                                          <p:val>
                                            <p:fltVal val="0"/>
                                          </p:val>
                                        </p:tav>
                                        <p:tav tm="100000">
                                          <p:val>
                                            <p:strVal val="#ppt_h"/>
                                          </p:val>
                                        </p:tav>
                                      </p:tavLst>
                                    </p:anim>
                                    <p:animEffect transition="in" filter="fade">
                                      <p:cBhvr>
                                        <p:cTn id="37" dur="1000"/>
                                        <p:tgtEl>
                                          <p:spTgt spid="11"/>
                                        </p:tgtEl>
                                      </p:cBhvr>
                                    </p:animEffect>
                                  </p:childTnLst>
                                </p:cTn>
                              </p:par>
                            </p:childTnLst>
                          </p:cTn>
                        </p:par>
                        <p:par>
                          <p:cTn id="38" fill="hold">
                            <p:stCondLst>
                              <p:cond delay="25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1000" fill="hold"/>
                                        <p:tgtEl>
                                          <p:spTgt spid="12"/>
                                        </p:tgtEl>
                                        <p:attrNameLst>
                                          <p:attrName>ppt_w</p:attrName>
                                        </p:attrNameLst>
                                      </p:cBhvr>
                                      <p:tavLst>
                                        <p:tav tm="0">
                                          <p:val>
                                            <p:fltVal val="0"/>
                                          </p:val>
                                        </p:tav>
                                        <p:tav tm="100000">
                                          <p:val>
                                            <p:strVal val="#ppt_w"/>
                                          </p:val>
                                        </p:tav>
                                      </p:tavLst>
                                    </p:anim>
                                    <p:anim calcmode="lin" valueType="num">
                                      <p:cBhvr>
                                        <p:cTn id="42" dur="1000" fill="hold"/>
                                        <p:tgtEl>
                                          <p:spTgt spid="12"/>
                                        </p:tgtEl>
                                        <p:attrNameLst>
                                          <p:attrName>ppt_h</p:attrName>
                                        </p:attrNameLst>
                                      </p:cBhvr>
                                      <p:tavLst>
                                        <p:tav tm="0">
                                          <p:val>
                                            <p:fltVal val="0"/>
                                          </p:val>
                                        </p:tav>
                                        <p:tav tm="100000">
                                          <p:val>
                                            <p:strVal val="#ppt_h"/>
                                          </p:val>
                                        </p:tav>
                                      </p:tavLst>
                                    </p:anim>
                                    <p:animEffect transition="in" filter="fade">
                                      <p:cBhvr>
                                        <p:cTn id="43" dur="10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1+#ppt_h/2"/>
                                          </p:val>
                                        </p:tav>
                                        <p:tav tm="100000">
                                          <p:val>
                                            <p:strVal val="#ppt_y"/>
                                          </p:val>
                                        </p:tav>
                                      </p:tavLst>
                                    </p:anim>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1000" fill="hold"/>
                                        <p:tgtEl>
                                          <p:spTgt spid="15"/>
                                        </p:tgtEl>
                                        <p:attrNameLst>
                                          <p:attrName>ppt_x</p:attrName>
                                        </p:attrNameLst>
                                      </p:cBhvr>
                                      <p:tavLst>
                                        <p:tav tm="0">
                                          <p:val>
                                            <p:strVal val="#ppt_x"/>
                                          </p:val>
                                        </p:tav>
                                        <p:tav tm="100000">
                                          <p:val>
                                            <p:strVal val="#ppt_x"/>
                                          </p:val>
                                        </p:tav>
                                      </p:tavLst>
                                    </p:anim>
                                    <p:anim calcmode="lin" valueType="num">
                                      <p:cBhvr additive="base">
                                        <p:cTn id="54" dur="1000" fill="hold"/>
                                        <p:tgtEl>
                                          <p:spTgt spid="15"/>
                                        </p:tgtEl>
                                        <p:attrNameLst>
                                          <p:attrName>ppt_y</p:attrName>
                                        </p:attrNameLst>
                                      </p:cBhvr>
                                      <p:tavLst>
                                        <p:tav tm="0">
                                          <p:val>
                                            <p:strVal val="1+#ppt_h/2"/>
                                          </p:val>
                                        </p:tav>
                                        <p:tav tm="100000">
                                          <p:val>
                                            <p:strVal val="#ppt_y"/>
                                          </p:val>
                                        </p:tav>
                                      </p:tavLst>
                                    </p:anim>
                                  </p:childTnLst>
                                </p:cTn>
                              </p:par>
                            </p:childTnLst>
                          </p:cTn>
                        </p:par>
                        <p:par>
                          <p:cTn id="55" fill="hold">
                            <p:stCondLst>
                              <p:cond delay="1500"/>
                            </p:stCondLst>
                            <p:childTnLst>
                              <p:par>
                                <p:cTn id="56" presetID="2" presetClass="entr" presetSubtype="4"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1000" fill="hold"/>
                                        <p:tgtEl>
                                          <p:spTgt spid="16"/>
                                        </p:tgtEl>
                                        <p:attrNameLst>
                                          <p:attrName>ppt_x</p:attrName>
                                        </p:attrNameLst>
                                      </p:cBhvr>
                                      <p:tavLst>
                                        <p:tav tm="0">
                                          <p:val>
                                            <p:strVal val="#ppt_x"/>
                                          </p:val>
                                        </p:tav>
                                        <p:tav tm="100000">
                                          <p:val>
                                            <p:strVal val="#ppt_x"/>
                                          </p:val>
                                        </p:tav>
                                      </p:tavLst>
                                    </p:anim>
                                    <p:anim calcmode="lin" valueType="num">
                                      <p:cBhvr additive="base">
                                        <p:cTn id="59"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2"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1488831" y="150446"/>
            <a:ext cx="8684847" cy="599831"/>
          </a:xfrm>
        </p:spPr>
        <p:txBody>
          <a:bodyPr lIns="116427" tIns="58212" rIns="116427" bIns="58212"/>
          <a:lstStyle/>
          <a:p>
            <a:r>
              <a:rPr lang="zh-CN" altLang="en-US" sz="3445">
                <a:solidFill>
                  <a:schemeClr val="tx1"/>
                </a:solidFill>
              </a:rPr>
              <a:t>安全问题根源</a:t>
            </a:r>
            <a:r>
              <a:rPr lang="en-US" altLang="zh-CN" sz="3445">
                <a:solidFill>
                  <a:schemeClr val="tx1"/>
                </a:solidFill>
              </a:rPr>
              <a:t>—</a:t>
            </a:r>
            <a:r>
              <a:rPr lang="zh-CN" altLang="en-US" sz="3445">
                <a:solidFill>
                  <a:schemeClr val="tx1"/>
                </a:solidFill>
              </a:rPr>
              <a:t>外因来自自然的破坏</a:t>
            </a:r>
            <a:endParaRPr lang="en-US" altLang="zh-CN" sz="3445">
              <a:solidFill>
                <a:schemeClr val="tx1"/>
              </a:solidFill>
            </a:endParaRPr>
          </a:p>
        </p:txBody>
      </p:sp>
      <p:pic>
        <p:nvPicPr>
          <p:cNvPr id="684036"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83169" y="947615"/>
            <a:ext cx="5148385" cy="333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4037" name="Picture 5"/>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9708" y="3516924"/>
            <a:ext cx="5421922" cy="334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4038"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32231" y="3163277"/>
            <a:ext cx="5103446" cy="347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84036"/>
                                        </p:tgtEl>
                                        <p:attrNameLst>
                                          <p:attrName>style.visibility</p:attrName>
                                        </p:attrNameLst>
                                      </p:cBhvr>
                                      <p:to>
                                        <p:strVal val="visible"/>
                                      </p:to>
                                    </p:set>
                                    <p:animEffect transition="in" filter="blinds(horizontal)">
                                      <p:cBhvr>
                                        <p:cTn id="7" dur="500"/>
                                        <p:tgtEl>
                                          <p:spTgt spid="684036"/>
                                        </p:tgtEl>
                                      </p:cBhvr>
                                    </p:animEffect>
                                  </p:childTnLst>
                                </p:cTn>
                              </p:par>
                              <p:par>
                                <p:cTn id="8" presetID="3" presetClass="entr" presetSubtype="10" fill="hold" nodeType="withEffect">
                                  <p:stCondLst>
                                    <p:cond delay="0"/>
                                  </p:stCondLst>
                                  <p:childTnLst>
                                    <p:set>
                                      <p:cBhvr>
                                        <p:cTn id="9" dur="1" fill="hold">
                                          <p:stCondLst>
                                            <p:cond delay="0"/>
                                          </p:stCondLst>
                                        </p:cTn>
                                        <p:tgtEl>
                                          <p:spTgt spid="684037"/>
                                        </p:tgtEl>
                                        <p:attrNameLst>
                                          <p:attrName>style.visibility</p:attrName>
                                        </p:attrNameLst>
                                      </p:cBhvr>
                                      <p:to>
                                        <p:strVal val="visible"/>
                                      </p:to>
                                    </p:set>
                                    <p:animEffect transition="in" filter="blinds(horizontal)">
                                      <p:cBhvr>
                                        <p:cTn id="10" dur="500"/>
                                        <p:tgtEl>
                                          <p:spTgt spid="684037"/>
                                        </p:tgtEl>
                                      </p:cBhvr>
                                    </p:animEffect>
                                  </p:childTnLst>
                                </p:cTn>
                              </p:par>
                              <p:par>
                                <p:cTn id="11" presetID="3" presetClass="entr" presetSubtype="10" fill="hold" nodeType="withEffect">
                                  <p:stCondLst>
                                    <p:cond delay="0"/>
                                  </p:stCondLst>
                                  <p:childTnLst>
                                    <p:set>
                                      <p:cBhvr>
                                        <p:cTn id="12" dur="1" fill="hold">
                                          <p:stCondLst>
                                            <p:cond delay="0"/>
                                          </p:stCondLst>
                                        </p:cTn>
                                        <p:tgtEl>
                                          <p:spTgt spid="684038"/>
                                        </p:tgtEl>
                                        <p:attrNameLst>
                                          <p:attrName>style.visibility</p:attrName>
                                        </p:attrNameLst>
                                      </p:cBhvr>
                                      <p:to>
                                        <p:strVal val="visible"/>
                                      </p:to>
                                    </p:set>
                                    <p:animEffect transition="in" filter="blinds(horizontal)">
                                      <p:cBhvr>
                                        <p:cTn id="13" dur="500"/>
                                        <p:tgtEl>
                                          <p:spTgt spid="68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402754" y="947615"/>
            <a:ext cx="5488353" cy="471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2" descr="mitni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8615" y="947615"/>
            <a:ext cx="5625124" cy="46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p:cNvSpPr>
            <a:spLocks noChangeArrowheads="1"/>
          </p:cNvSpPr>
          <p:nvPr/>
        </p:nvSpPr>
        <p:spPr bwMode="auto">
          <a:xfrm>
            <a:off x="1281723" y="947615"/>
            <a:ext cx="4962769" cy="4872892"/>
          </a:xfrm>
          <a:prstGeom prst="rect">
            <a:avLst/>
          </a:prstGeom>
          <a:noFill/>
          <a:ln w="12700">
            <a:noFill/>
            <a:miter lim="800000"/>
            <a:headEnd type="none" w="sm" len="sm"/>
            <a:tailEnd type="none" w="sm" len="sm"/>
          </a:ln>
          <a:effectLst/>
        </p:spPr>
        <p:txBody>
          <a:bodyPr/>
          <a:lstStyle/>
          <a:p>
            <a:pPr eaLnBrk="1" hangingPunct="1">
              <a:defRPr/>
            </a:pPr>
            <a:r>
              <a:rPr lang="zh-CN" altLang="en-US" sz="3940" b="1" dirty="0">
                <a:solidFill>
                  <a:srgbClr val="CC0000"/>
                </a:solidFill>
                <a:effectLst>
                  <a:outerShdw blurRad="38100" dist="38100" dir="2700000" algn="tl">
                    <a:srgbClr val="C0C0C0"/>
                  </a:outerShdw>
                </a:effectLst>
                <a:latin typeface="Times New Roman" panose="02020603050405020304" pitchFamily="18" charset="0"/>
                <a:ea typeface="方正舒体" panose="02010601030101010101" pitchFamily="2" charset="-122"/>
              </a:rPr>
              <a:t>       </a:t>
            </a:r>
            <a:r>
              <a:rPr lang="zh-CN" altLang="en-US" sz="3940" b="1" dirty="0">
                <a:solidFill>
                  <a:srgbClr val="CC0000"/>
                </a:solidFill>
                <a:effectLst>
                  <a:outerShdw blurRad="38100" dist="38100" dir="2700000" algn="tl">
                    <a:srgbClr val="C0C0C0"/>
                  </a:outerShdw>
                </a:effectLst>
                <a:latin typeface="华文行楷" panose="02010800040101010101" pitchFamily="2" charset="-122"/>
                <a:ea typeface="华文行楷" panose="02010800040101010101" pitchFamily="2" charset="-122"/>
              </a:rPr>
              <a:t>“人是最薄弱的环节。你可能拥有最好的技术、防火墙、入侵检测系统、生物鉴别设备，可只要有人给毫无戒心的员工打个电话</a:t>
            </a:r>
            <a:r>
              <a:rPr lang="en-US" altLang="zh-CN" sz="3940" b="1" dirty="0">
                <a:solidFill>
                  <a:srgbClr val="CC0000"/>
                </a:solidFill>
                <a:effectLst>
                  <a:outerShdw blurRad="38100" dist="38100" dir="2700000" algn="tl">
                    <a:srgbClr val="C0C0C0"/>
                  </a:outerShdw>
                </a:effectLst>
                <a:latin typeface="华文行楷" panose="02010800040101010101" pitchFamily="2" charset="-122"/>
                <a:ea typeface="华文行楷" panose="02010800040101010101" pitchFamily="2" charset="-122"/>
              </a:rPr>
              <a:t>……”</a:t>
            </a:r>
            <a:endParaRPr lang="en-US" altLang="zh-CN" sz="3940" b="1" dirty="0">
              <a:solidFill>
                <a:srgbClr val="CC0000"/>
              </a:solidFill>
              <a:effectLst>
                <a:outerShdw blurRad="38100" dist="38100" dir="2700000" algn="tl">
                  <a:srgbClr val="C0C0C0"/>
                </a:outerShdw>
              </a:effectLst>
              <a:latin typeface="华文行楷" panose="02010800040101010101" pitchFamily="2" charset="-122"/>
              <a:ea typeface="华文行楷" panose="02010800040101010101" pitchFamily="2" charset="-122"/>
            </a:endParaRPr>
          </a:p>
          <a:p>
            <a:pPr eaLnBrk="1" hangingPunct="1">
              <a:defRPr/>
            </a:pPr>
            <a:r>
              <a:rPr lang="en-US" altLang="zh-CN" sz="3940" b="1" dirty="0">
                <a:solidFill>
                  <a:srgbClr val="CC0000"/>
                </a:solidFill>
                <a:effectLst>
                  <a:outerShdw blurRad="38100" dist="38100" dir="2700000" algn="tl">
                    <a:srgbClr val="C0C0C0"/>
                  </a:outerShdw>
                </a:effectLst>
                <a:latin typeface="华文行楷" panose="02010800040101010101" pitchFamily="2" charset="-122"/>
                <a:ea typeface="华文行楷" panose="02010800040101010101" pitchFamily="2" charset="-122"/>
              </a:rPr>
              <a:t>            </a:t>
            </a:r>
            <a:r>
              <a:rPr lang="en-US" altLang="zh-CN" sz="2955" b="1" dirty="0">
                <a:effectLst>
                  <a:outerShdw blurRad="38100" dist="38100" dir="2700000" algn="tl">
                    <a:srgbClr val="C0C0C0"/>
                  </a:outerShdw>
                </a:effectLst>
                <a:latin typeface="Times New Roman" panose="02020603050405020304" pitchFamily="18" charset="0"/>
              </a:rPr>
              <a:t>—— Kevin </a:t>
            </a:r>
            <a:r>
              <a:rPr lang="en-US" altLang="zh-CN" sz="2955" b="1" dirty="0" err="1">
                <a:effectLst>
                  <a:outerShdw blurRad="38100" dist="38100" dir="2700000" algn="tl">
                    <a:srgbClr val="C0C0C0"/>
                  </a:outerShdw>
                </a:effectLst>
                <a:latin typeface="Times New Roman" panose="02020603050405020304" pitchFamily="18" charset="0"/>
              </a:rPr>
              <a:t>Mitnick</a:t>
            </a:r>
            <a:endParaRPr lang="en-US" altLang="zh-CN" sz="2955" b="1" dirty="0">
              <a:effectLst>
                <a:outerShdw blurRad="38100" dist="38100" dir="2700000" algn="tl">
                  <a:srgbClr val="C0C0C0"/>
                </a:outerShdw>
              </a:effectLst>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500" fill="hold"/>
                                        <p:tgtEl>
                                          <p:spTgt spid="23555"/>
                                        </p:tgtEl>
                                        <p:attrNameLst>
                                          <p:attrName>ppt_w</p:attrName>
                                        </p:attrNameLst>
                                      </p:cBhvr>
                                      <p:tavLst>
                                        <p:tav tm="0">
                                          <p:val>
                                            <p:fltVal val="0"/>
                                          </p:val>
                                        </p:tav>
                                        <p:tav tm="100000">
                                          <p:val>
                                            <p:strVal val="#ppt_w"/>
                                          </p:val>
                                        </p:tav>
                                      </p:tavLst>
                                    </p:anim>
                                    <p:anim calcmode="lin" valueType="num">
                                      <p:cBhvr>
                                        <p:cTn id="8" dur="500" fill="hold"/>
                                        <p:tgtEl>
                                          <p:spTgt spid="23555"/>
                                        </p:tgtEl>
                                        <p:attrNameLst>
                                          <p:attrName>ppt_h</p:attrName>
                                        </p:attrNameLst>
                                      </p:cBhvr>
                                      <p:tavLst>
                                        <p:tav tm="0">
                                          <p:val>
                                            <p:fltVal val="0"/>
                                          </p:val>
                                        </p:tav>
                                        <p:tav tm="100000">
                                          <p:val>
                                            <p:strVal val="#ppt_h"/>
                                          </p:val>
                                        </p:tav>
                                      </p:tavLst>
                                    </p:anim>
                                    <p:animEffect transition="in" filter="fade">
                                      <p:cBhvr>
                                        <p:cTn id="9" dur="500"/>
                                        <p:tgtEl>
                                          <p:spTgt spid="23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8262" y="1150815"/>
            <a:ext cx="5228492" cy="3184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矩形 3"/>
          <p:cNvSpPr>
            <a:spLocks noChangeArrowheads="1"/>
          </p:cNvSpPr>
          <p:nvPr/>
        </p:nvSpPr>
        <p:spPr bwMode="auto">
          <a:xfrm>
            <a:off x="511908" y="326292"/>
            <a:ext cx="102694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dirty="0"/>
              <a:t>人物小传：</a:t>
            </a:r>
            <a:r>
              <a:rPr lang="zh-CN" altLang="en-US" sz="3445" b="1" dirty="0">
                <a:solidFill>
                  <a:srgbClr val="0000FF"/>
                </a:solidFill>
              </a:rPr>
              <a:t>凯文</a:t>
            </a:r>
            <a:r>
              <a:rPr lang="en-US" altLang="zh-CN" sz="3445" b="1" dirty="0">
                <a:solidFill>
                  <a:srgbClr val="0000FF"/>
                </a:solidFill>
              </a:rPr>
              <a:t>·</a:t>
            </a:r>
            <a:r>
              <a:rPr lang="zh-CN" altLang="en-US" sz="3445" b="1" dirty="0">
                <a:solidFill>
                  <a:srgbClr val="0000FF"/>
                </a:solidFill>
              </a:rPr>
              <a:t>米特尼克</a:t>
            </a:r>
            <a:endParaRPr lang="zh-CN" altLang="en-US" sz="3445" b="1" dirty="0">
              <a:solidFill>
                <a:srgbClr val="FF0000"/>
              </a:solidFill>
            </a:endParaRPr>
          </a:p>
        </p:txBody>
      </p:sp>
      <p:sp>
        <p:nvSpPr>
          <p:cNvPr id="5" name="矩形 4"/>
          <p:cNvSpPr/>
          <p:nvPr/>
        </p:nvSpPr>
        <p:spPr>
          <a:xfrm>
            <a:off x="6581346" y="848702"/>
            <a:ext cx="371475" cy="106680"/>
          </a:xfrm>
          <a:prstGeom prst="rect">
            <a:avLst/>
          </a:prstGeom>
        </p:spPr>
        <p:txBody>
          <a:bodyPr wrap="none">
            <a:spAutoFit/>
          </a:bodyPr>
          <a:lstStyle/>
          <a:p>
            <a:pPr>
              <a:defRPr/>
            </a:pPr>
            <a:r>
              <a:rPr lang="en-US" altLang="zh-CN" sz="100" b="1" dirty="0">
                <a:solidFill>
                  <a:srgbClr val="0000FF"/>
                </a:solidFill>
                <a:latin typeface="+mn-ea"/>
                <a:ea typeface="+mn-ea"/>
              </a:rPr>
              <a:t>1963</a:t>
            </a:r>
            <a:r>
              <a:rPr lang="zh-CN" altLang="en-US" sz="100" b="1" dirty="0">
                <a:solidFill>
                  <a:srgbClr val="0000FF"/>
                </a:solidFill>
                <a:latin typeface="+mn-ea"/>
                <a:ea typeface="+mn-ea"/>
              </a:rPr>
              <a:t>年</a:t>
            </a:r>
            <a:r>
              <a:rPr lang="en-US" altLang="zh-CN" sz="100" b="1" dirty="0">
                <a:solidFill>
                  <a:srgbClr val="0000FF"/>
                </a:solidFill>
                <a:latin typeface="+mn-ea"/>
                <a:ea typeface="+mn-ea"/>
              </a:rPr>
              <a:t>8</a:t>
            </a:r>
            <a:r>
              <a:rPr lang="zh-CN" altLang="en-US" sz="100" b="1" dirty="0">
                <a:solidFill>
                  <a:srgbClr val="0000FF"/>
                </a:solidFill>
                <a:latin typeface="+mn-ea"/>
                <a:ea typeface="+mn-ea"/>
              </a:rPr>
              <a:t>月</a:t>
            </a:r>
            <a:r>
              <a:rPr lang="en-US" altLang="zh-CN" sz="100" b="1" dirty="0">
                <a:solidFill>
                  <a:srgbClr val="0000FF"/>
                </a:solidFill>
                <a:latin typeface="+mn-ea"/>
                <a:ea typeface="+mn-ea"/>
              </a:rPr>
              <a:t>6</a:t>
            </a:r>
            <a:r>
              <a:rPr lang="zh-CN" altLang="en-US" sz="100" b="1" dirty="0">
                <a:solidFill>
                  <a:srgbClr val="0000FF"/>
                </a:solidFill>
                <a:latin typeface="+mn-ea"/>
                <a:ea typeface="+mn-ea"/>
              </a:rPr>
              <a:t>日出生在美国洛杉矶</a:t>
            </a:r>
            <a:endParaRPr lang="zh-CN" altLang="en-US" sz="100" b="1" dirty="0">
              <a:solidFill>
                <a:srgbClr val="0000FF"/>
              </a:solidFill>
              <a:latin typeface="+mn-ea"/>
              <a:ea typeface="+mn-ea"/>
            </a:endParaRPr>
          </a:p>
        </p:txBody>
      </p:sp>
      <p:sp>
        <p:nvSpPr>
          <p:cNvPr id="6" name="矩形 5"/>
          <p:cNvSpPr/>
          <p:nvPr/>
        </p:nvSpPr>
        <p:spPr>
          <a:xfrm>
            <a:off x="5904523" y="1805354"/>
            <a:ext cx="6096000" cy="106680"/>
          </a:xfrm>
          <a:prstGeom prst="rect">
            <a:avLst/>
          </a:prstGeom>
        </p:spPr>
        <p:txBody>
          <a:bodyPr>
            <a:spAutoFit/>
          </a:bodyPr>
          <a:lstStyle/>
          <a:p>
            <a:pPr>
              <a:defRPr/>
            </a:pPr>
            <a:r>
              <a:rPr lang="en-US" altLang="zh-CN" sz="100" b="1" dirty="0">
                <a:latin typeface="+mn-ea"/>
                <a:ea typeface="+mn-ea"/>
              </a:rPr>
              <a:t>1978</a:t>
            </a:r>
            <a:r>
              <a:rPr lang="zh-CN" altLang="en-US" sz="100" b="1" dirty="0">
                <a:latin typeface="+mn-ea"/>
                <a:ea typeface="+mn-ea"/>
              </a:rPr>
              <a:t>年，入侵北美空中防务指挥部计算机系统</a:t>
            </a:r>
            <a:endParaRPr lang="zh-CN" altLang="en-US" sz="100" b="1" dirty="0">
              <a:latin typeface="+mn-ea"/>
              <a:ea typeface="+mn-ea"/>
            </a:endParaRPr>
          </a:p>
        </p:txBody>
      </p:sp>
      <p:sp>
        <p:nvSpPr>
          <p:cNvPr id="7" name="矩形 6"/>
          <p:cNvSpPr/>
          <p:nvPr/>
        </p:nvSpPr>
        <p:spPr>
          <a:xfrm>
            <a:off x="5904523" y="2260600"/>
            <a:ext cx="464185" cy="106680"/>
          </a:xfrm>
          <a:prstGeom prst="rect">
            <a:avLst/>
          </a:prstGeom>
        </p:spPr>
        <p:txBody>
          <a:bodyPr wrap="none">
            <a:spAutoFit/>
          </a:bodyPr>
          <a:lstStyle/>
          <a:p>
            <a:pPr>
              <a:defRPr/>
            </a:pPr>
            <a:r>
              <a:rPr lang="en-US" altLang="zh-CN" sz="100" b="1" dirty="0">
                <a:latin typeface="+mn-ea"/>
                <a:ea typeface="+mn-ea"/>
              </a:rPr>
              <a:t>1981</a:t>
            </a:r>
            <a:r>
              <a:rPr lang="zh-CN" altLang="en-US" sz="100" b="1" dirty="0">
                <a:latin typeface="+mn-ea"/>
                <a:ea typeface="+mn-ea"/>
              </a:rPr>
              <a:t>年，潜入洛杉矶市电话中心，破坏电话系统</a:t>
            </a:r>
            <a:endParaRPr lang="zh-CN" altLang="en-US" sz="100" b="1" dirty="0">
              <a:latin typeface="+mn-ea"/>
              <a:ea typeface="+mn-ea"/>
            </a:endParaRPr>
          </a:p>
        </p:txBody>
      </p:sp>
      <p:sp>
        <p:nvSpPr>
          <p:cNvPr id="9" name="矩形 8"/>
          <p:cNvSpPr/>
          <p:nvPr/>
        </p:nvSpPr>
        <p:spPr>
          <a:xfrm>
            <a:off x="5904523" y="2754924"/>
            <a:ext cx="410845" cy="106680"/>
          </a:xfrm>
          <a:prstGeom prst="rect">
            <a:avLst/>
          </a:prstGeom>
        </p:spPr>
        <p:txBody>
          <a:bodyPr wrap="none">
            <a:spAutoFit/>
          </a:bodyPr>
          <a:lstStyle/>
          <a:p>
            <a:pPr>
              <a:defRPr/>
            </a:pPr>
            <a:r>
              <a:rPr lang="en-US" altLang="zh-CN" sz="100" b="1" dirty="0">
                <a:latin typeface="+mn-ea"/>
                <a:ea typeface="+mn-ea"/>
              </a:rPr>
              <a:t>1983</a:t>
            </a:r>
            <a:r>
              <a:rPr lang="zh-CN" altLang="en-US" sz="100" b="1" dirty="0">
                <a:latin typeface="+mn-ea"/>
                <a:ea typeface="+mn-ea"/>
              </a:rPr>
              <a:t>年，入侵美国五角大楼计算机系统</a:t>
            </a:r>
            <a:endParaRPr lang="zh-CN" altLang="en-US" sz="100" b="1" dirty="0">
              <a:latin typeface="+mn-ea"/>
              <a:ea typeface="+mn-ea"/>
            </a:endParaRPr>
          </a:p>
        </p:txBody>
      </p:sp>
      <p:sp>
        <p:nvSpPr>
          <p:cNvPr id="10" name="矩形 9"/>
          <p:cNvSpPr/>
          <p:nvPr/>
        </p:nvSpPr>
        <p:spPr>
          <a:xfrm>
            <a:off x="5945554" y="3270739"/>
            <a:ext cx="412750" cy="106680"/>
          </a:xfrm>
          <a:prstGeom prst="rect">
            <a:avLst/>
          </a:prstGeom>
        </p:spPr>
        <p:txBody>
          <a:bodyPr wrap="none">
            <a:spAutoFit/>
          </a:bodyPr>
          <a:lstStyle/>
          <a:p>
            <a:pPr>
              <a:defRPr/>
            </a:pPr>
            <a:r>
              <a:rPr lang="en-US" altLang="zh-CN" sz="100" b="1" dirty="0">
                <a:latin typeface="+mn-ea"/>
                <a:ea typeface="+mn-ea"/>
              </a:rPr>
              <a:t>1988</a:t>
            </a:r>
            <a:r>
              <a:rPr lang="zh-CN" altLang="en-US" sz="100" b="1" dirty="0">
                <a:latin typeface="+mn-ea"/>
                <a:ea typeface="+mn-ea"/>
              </a:rPr>
              <a:t>年，入侵</a:t>
            </a:r>
            <a:r>
              <a:rPr lang="en-US" altLang="zh-CN" sz="100" b="1" dirty="0">
                <a:latin typeface="+mn-ea"/>
                <a:ea typeface="+mn-ea"/>
              </a:rPr>
              <a:t>DEC</a:t>
            </a:r>
            <a:r>
              <a:rPr lang="zh-CN" altLang="en-US" sz="100" b="1" dirty="0">
                <a:latin typeface="+mn-ea"/>
                <a:ea typeface="+mn-ea"/>
              </a:rPr>
              <a:t>盗取</a:t>
            </a:r>
            <a:r>
              <a:rPr lang="en-US" altLang="zh-CN" sz="100" b="1" dirty="0">
                <a:latin typeface="+mn-ea"/>
                <a:ea typeface="+mn-ea"/>
              </a:rPr>
              <a:t>100</a:t>
            </a:r>
            <a:r>
              <a:rPr lang="zh-CN" altLang="en-US" sz="100" b="1" dirty="0">
                <a:latin typeface="+mn-ea"/>
                <a:ea typeface="+mn-ea"/>
              </a:rPr>
              <a:t>万美元的软件</a:t>
            </a:r>
            <a:endParaRPr lang="zh-CN" altLang="en-US" sz="100" b="1" dirty="0">
              <a:latin typeface="+mn-ea"/>
              <a:ea typeface="+mn-ea"/>
            </a:endParaRPr>
          </a:p>
        </p:txBody>
      </p:sp>
      <p:sp>
        <p:nvSpPr>
          <p:cNvPr id="11" name="矩形 10"/>
          <p:cNvSpPr/>
          <p:nvPr/>
        </p:nvSpPr>
        <p:spPr>
          <a:xfrm>
            <a:off x="5945554" y="3763108"/>
            <a:ext cx="397510" cy="106680"/>
          </a:xfrm>
          <a:prstGeom prst="rect">
            <a:avLst/>
          </a:prstGeom>
        </p:spPr>
        <p:txBody>
          <a:bodyPr wrap="none">
            <a:spAutoFit/>
          </a:bodyPr>
          <a:lstStyle/>
          <a:p>
            <a:pPr>
              <a:defRPr/>
            </a:pPr>
            <a:r>
              <a:rPr lang="en-US" altLang="zh-CN" sz="100" b="1" dirty="0">
                <a:latin typeface="+mn-ea"/>
                <a:ea typeface="+mn-ea"/>
              </a:rPr>
              <a:t>1989</a:t>
            </a:r>
            <a:r>
              <a:rPr lang="zh-CN" altLang="en-US" sz="100" b="1" dirty="0">
                <a:latin typeface="+mn-ea"/>
                <a:ea typeface="+mn-ea"/>
              </a:rPr>
              <a:t>年，入侵多家世界知名科技公司</a:t>
            </a:r>
            <a:endParaRPr lang="zh-CN" altLang="en-US" sz="100" b="1" dirty="0">
              <a:latin typeface="+mn-ea"/>
              <a:ea typeface="+mn-ea"/>
            </a:endParaRPr>
          </a:p>
        </p:txBody>
      </p:sp>
      <p:sp>
        <p:nvSpPr>
          <p:cNvPr id="12" name="矩形 11"/>
          <p:cNvSpPr/>
          <p:nvPr/>
        </p:nvSpPr>
        <p:spPr>
          <a:xfrm>
            <a:off x="5969001" y="4257431"/>
            <a:ext cx="411480" cy="106680"/>
          </a:xfrm>
          <a:prstGeom prst="rect">
            <a:avLst/>
          </a:prstGeom>
        </p:spPr>
        <p:txBody>
          <a:bodyPr wrap="none">
            <a:spAutoFit/>
          </a:bodyPr>
          <a:lstStyle/>
          <a:p>
            <a:pPr>
              <a:defRPr/>
            </a:pPr>
            <a:r>
              <a:rPr lang="en-US" altLang="zh-CN" sz="100" b="1" dirty="0">
                <a:latin typeface="+mn-ea"/>
                <a:ea typeface="+mn-ea"/>
              </a:rPr>
              <a:t>1992</a:t>
            </a:r>
            <a:r>
              <a:rPr lang="zh-CN" altLang="en-US" sz="100" b="1" dirty="0">
                <a:latin typeface="+mn-ea"/>
                <a:ea typeface="+mn-ea"/>
              </a:rPr>
              <a:t>年，入狱，从</a:t>
            </a:r>
            <a:r>
              <a:rPr lang="en-US" altLang="zh-CN" sz="100" b="1" dirty="0">
                <a:latin typeface="+mn-ea"/>
                <a:ea typeface="+mn-ea"/>
              </a:rPr>
              <a:t>17</a:t>
            </a:r>
            <a:r>
              <a:rPr lang="zh-CN" altLang="en-US" sz="100" b="1" dirty="0">
                <a:latin typeface="+mn-ea"/>
                <a:ea typeface="+mn-ea"/>
              </a:rPr>
              <a:t>岁开始已多次入狱</a:t>
            </a:r>
            <a:endParaRPr lang="zh-CN" altLang="en-US" sz="100" b="1" dirty="0">
              <a:latin typeface="+mn-ea"/>
              <a:ea typeface="+mn-ea"/>
            </a:endParaRPr>
          </a:p>
        </p:txBody>
      </p:sp>
      <p:sp>
        <p:nvSpPr>
          <p:cNvPr id="13" name="矩形 12"/>
          <p:cNvSpPr/>
          <p:nvPr/>
        </p:nvSpPr>
        <p:spPr>
          <a:xfrm>
            <a:off x="5969001" y="4712678"/>
            <a:ext cx="264160" cy="106680"/>
          </a:xfrm>
          <a:prstGeom prst="rect">
            <a:avLst/>
          </a:prstGeom>
        </p:spPr>
        <p:txBody>
          <a:bodyPr wrap="none">
            <a:spAutoFit/>
          </a:bodyPr>
          <a:lstStyle/>
          <a:p>
            <a:pPr>
              <a:defRPr/>
            </a:pPr>
            <a:r>
              <a:rPr lang="en-US" altLang="zh-CN" sz="100" b="1" dirty="0">
                <a:latin typeface="+mn-ea"/>
                <a:ea typeface="+mn-ea"/>
              </a:rPr>
              <a:t>2000</a:t>
            </a:r>
            <a:r>
              <a:rPr lang="zh-CN" altLang="en-US" sz="100" b="1" dirty="0">
                <a:latin typeface="+mn-ea"/>
                <a:ea typeface="+mn-ea"/>
              </a:rPr>
              <a:t>年，出狱</a:t>
            </a:r>
            <a:endParaRPr lang="zh-CN" altLang="en-US" sz="100" b="1" dirty="0">
              <a:latin typeface="+mn-ea"/>
              <a:ea typeface="+mn-ea"/>
            </a:endParaRPr>
          </a:p>
        </p:txBody>
      </p:sp>
      <p:sp>
        <p:nvSpPr>
          <p:cNvPr id="14" name="矩形 13"/>
          <p:cNvSpPr/>
          <p:nvPr/>
        </p:nvSpPr>
        <p:spPr>
          <a:xfrm>
            <a:off x="5969001" y="5183554"/>
            <a:ext cx="372110" cy="121920"/>
          </a:xfrm>
          <a:prstGeom prst="rect">
            <a:avLst/>
          </a:prstGeom>
        </p:spPr>
        <p:txBody>
          <a:bodyPr wrap="none">
            <a:spAutoFit/>
          </a:bodyPr>
          <a:lstStyle/>
          <a:p>
            <a:pPr>
              <a:defRPr/>
            </a:pPr>
            <a:r>
              <a:rPr lang="en-US" altLang="zh-CN" sz="100" b="1" dirty="0">
                <a:latin typeface="+mn-ea"/>
                <a:ea typeface="+mn-ea"/>
              </a:rPr>
              <a:t>2002</a:t>
            </a:r>
            <a:r>
              <a:rPr lang="zh-CN" altLang="en-US" sz="100" b="1" dirty="0">
                <a:latin typeface="+mn-ea"/>
                <a:ea typeface="+mn-ea"/>
              </a:rPr>
              <a:t>年后，</a:t>
            </a:r>
            <a:r>
              <a:rPr lang="en-US" altLang="zh-CN" sz="100" b="1" dirty="0">
                <a:latin typeface="+mn-ea"/>
                <a:ea typeface="+mn-ea"/>
              </a:rPr>
              <a:t>FBI </a:t>
            </a:r>
            <a:r>
              <a:rPr lang="zh-CN" altLang="en-US" sz="100" b="1" dirty="0">
                <a:latin typeface="+mn-ea"/>
                <a:ea typeface="+mn-ea"/>
              </a:rPr>
              <a:t>的高级安全顾问</a:t>
            </a:r>
            <a:endParaRPr lang="en-US" altLang="zh-CN" sz="100" b="1" dirty="0">
              <a:latin typeface="+mn-ea"/>
              <a:ea typeface="+mn-ea"/>
            </a:endParaRPr>
          </a:p>
          <a:p>
            <a:pPr>
              <a:defRPr/>
            </a:pPr>
            <a:r>
              <a:rPr lang="en-US" altLang="zh-CN" sz="100" b="1" dirty="0">
                <a:latin typeface="+mn-ea"/>
                <a:ea typeface="+mn-ea"/>
              </a:rPr>
              <a:t>          </a:t>
            </a:r>
            <a:r>
              <a:rPr lang="zh-CN" altLang="en-US" sz="100" b="1" dirty="0">
                <a:latin typeface="+mn-ea"/>
                <a:ea typeface="+mn-ea"/>
              </a:rPr>
              <a:t>成立安全公司</a:t>
            </a:r>
            <a:endParaRPr lang="zh-CN" altLang="en-US" sz="100" b="1" dirty="0">
              <a:latin typeface="+mn-ea"/>
              <a:ea typeface="+mn-ea"/>
            </a:endParaRPr>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0878" y="4049377"/>
            <a:ext cx="3399692" cy="2309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46869" y="1301994"/>
            <a:ext cx="7233138" cy="48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4057620" y="6282751"/>
            <a:ext cx="7922388" cy="623570"/>
          </a:xfrm>
          <a:prstGeom prst="rect">
            <a:avLst/>
          </a:prstGeom>
          <a:noFill/>
        </p:spPr>
        <p:txBody>
          <a:bodyPr wrap="square" rtlCol="0">
            <a:spAutoFit/>
          </a:bodyPr>
          <a:lstStyle/>
          <a:p>
            <a:r>
              <a:rPr kumimoji="1" lang="en-GB" altLang="zh-CN" sz="1725" dirty="0"/>
              <a:t>https://</a:t>
            </a:r>
            <a:r>
              <a:rPr kumimoji="1" lang="en-GB" altLang="zh-CN" sz="1725" dirty="0" err="1"/>
              <a:t>www.bilibili.com</a:t>
            </a:r>
            <a:r>
              <a:rPr kumimoji="1" lang="en-GB" altLang="zh-CN" sz="1725" dirty="0"/>
              <a:t>/video/BV17y4y1W73W/?</a:t>
            </a:r>
            <a:r>
              <a:rPr kumimoji="1" lang="en-GB" altLang="zh-CN" sz="1725" dirty="0" err="1"/>
              <a:t>spm_id_from</a:t>
            </a:r>
            <a:r>
              <a:rPr kumimoji="1" lang="en-GB" altLang="zh-CN" sz="1725" dirty="0"/>
              <a:t>=333.337.search-card.all.click&amp;vd_source=0991c0bfd7ce6d8c34ea5d7729eaded5</a:t>
            </a:r>
            <a:endParaRPr kumimoji="1" lang="zh-CN" altLang="en-US" sz="1725"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P spid="11" grpId="0"/>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bwMode="auto">
          <a:xfrm>
            <a:off x="3171093" y="3516924"/>
            <a:ext cx="3788507" cy="3276559"/>
            <a:chOff x="2563397" y="3439560"/>
            <a:chExt cx="3077964" cy="2662279"/>
          </a:xfrm>
        </p:grpSpPr>
        <p:pic>
          <p:nvPicPr>
            <p:cNvPr id="27662"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63397" y="3439560"/>
              <a:ext cx="3077964" cy="2415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3" name="Rectangle 26"/>
            <p:cNvSpPr>
              <a:spLocks noChangeArrowheads="1"/>
            </p:cNvSpPr>
            <p:nvPr/>
          </p:nvSpPr>
          <p:spPr bwMode="auto">
            <a:xfrm>
              <a:off x="3417124" y="5733965"/>
              <a:ext cx="1697050" cy="36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215" b="1">
                  <a:solidFill>
                    <a:srgbClr val="0000FF"/>
                  </a:solidFill>
                  <a:latin typeface="Arial" panose="020B0604020202020204" pitchFamily="34" charset="0"/>
                  <a:ea typeface="宋体" panose="02010600030101010101" pitchFamily="2" charset="-122"/>
                </a:rPr>
                <a:t>网络互联时代</a:t>
              </a:r>
              <a:endParaRPr lang="en-US" altLang="zh-CN" sz="2215" b="1">
                <a:solidFill>
                  <a:srgbClr val="0000FF"/>
                </a:solidFill>
                <a:latin typeface="Arial" panose="020B0604020202020204" pitchFamily="34" charset="0"/>
                <a:ea typeface="宋体" panose="02010600030101010101" pitchFamily="2" charset="-122"/>
              </a:endParaRPr>
            </a:p>
          </p:txBody>
        </p:sp>
      </p:grpSp>
      <p:sp>
        <p:nvSpPr>
          <p:cNvPr id="27651" name="Rectangle 2"/>
          <p:cNvSpPr>
            <a:spLocks noGrp="1" noChangeArrowheads="1"/>
          </p:cNvSpPr>
          <p:nvPr>
            <p:ph type="title" idx="4294967295"/>
          </p:nvPr>
        </p:nvSpPr>
        <p:spPr>
          <a:xfrm>
            <a:off x="904631" y="87923"/>
            <a:ext cx="8684846" cy="599831"/>
          </a:xfrm>
        </p:spPr>
        <p:txBody>
          <a:bodyPr lIns="116427" tIns="58212" rIns="116427" bIns="58212"/>
          <a:lstStyle/>
          <a:p>
            <a:r>
              <a:rPr lang="zh-CN" altLang="en-US">
                <a:solidFill>
                  <a:schemeClr val="tx1"/>
                </a:solidFill>
              </a:rPr>
              <a:t>信息技术的发展</a:t>
            </a:r>
            <a:endParaRPr lang="en-US" altLang="zh-CN">
              <a:solidFill>
                <a:schemeClr val="tx1"/>
              </a:solidFill>
            </a:endParaRPr>
          </a:p>
        </p:txBody>
      </p:sp>
      <p:sp>
        <p:nvSpPr>
          <p:cNvPr id="685076" name="AutoShape 20"/>
          <p:cNvSpPr>
            <a:spLocks noChangeArrowheads="1"/>
          </p:cNvSpPr>
          <p:nvPr/>
        </p:nvSpPr>
        <p:spPr bwMode="auto">
          <a:xfrm rot="-871389">
            <a:off x="3802185" y="1406770"/>
            <a:ext cx="3132016" cy="742462"/>
          </a:xfrm>
          <a:prstGeom prst="curvedDownArrow">
            <a:avLst>
              <a:gd name="adj1" fmla="val 170123"/>
              <a:gd name="adj2" fmla="val 170123"/>
              <a:gd name="adj3" fmla="val 33333"/>
            </a:avLst>
          </a:prstGeom>
          <a:solidFill>
            <a:srgbClr val="00B8FF"/>
          </a:solidFill>
          <a:ln w="9525">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sp>
        <p:nvSpPr>
          <p:cNvPr id="685079" name="AutoShape 23"/>
          <p:cNvSpPr>
            <a:spLocks noChangeArrowheads="1"/>
          </p:cNvSpPr>
          <p:nvPr/>
        </p:nvSpPr>
        <p:spPr bwMode="auto">
          <a:xfrm rot="2148766">
            <a:off x="7430478" y="3507154"/>
            <a:ext cx="887046" cy="2862385"/>
          </a:xfrm>
          <a:prstGeom prst="curvedLeftArrow">
            <a:avLst>
              <a:gd name="adj1" fmla="val 40829"/>
              <a:gd name="adj2" fmla="val 113762"/>
              <a:gd name="adj3" fmla="val 33333"/>
            </a:avLst>
          </a:prstGeom>
          <a:solidFill>
            <a:srgbClr val="00B8FF"/>
          </a:solidFill>
          <a:ln w="9525">
            <a:solidFill>
              <a:schemeClr val="tx1"/>
            </a:solidFill>
            <a:miter lim="800000"/>
          </a:ln>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a:latin typeface="Bitstream Vera Sans"/>
              <a:ea typeface="MS Gothic" panose="020B0609070205080204" pitchFamily="49" charset="-128"/>
            </a:endParaRPr>
          </a:p>
        </p:txBody>
      </p:sp>
      <p:grpSp>
        <p:nvGrpSpPr>
          <p:cNvPr id="2" name="组合 1"/>
          <p:cNvGrpSpPr/>
          <p:nvPr/>
        </p:nvGrpSpPr>
        <p:grpSpPr bwMode="auto">
          <a:xfrm>
            <a:off x="422031" y="1160585"/>
            <a:ext cx="3432908" cy="3001410"/>
            <a:chOff x="330200" y="1524000"/>
            <a:chExt cx="2789388" cy="2439285"/>
          </a:xfrm>
        </p:grpSpPr>
        <p:pic>
          <p:nvPicPr>
            <p:cNvPr id="27659" name="Picture 8" descr="电报"/>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200" y="1524000"/>
              <a:ext cx="1467503" cy="207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0" name="Picture 9" descr="电话"/>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4894" y="1524000"/>
              <a:ext cx="1394694" cy="207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1" name="Rectangle 24"/>
            <p:cNvSpPr>
              <a:spLocks noChangeArrowheads="1"/>
            </p:cNvSpPr>
            <p:nvPr/>
          </p:nvSpPr>
          <p:spPr bwMode="auto">
            <a:xfrm>
              <a:off x="699034" y="3595325"/>
              <a:ext cx="1907071" cy="367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215" b="1">
                  <a:solidFill>
                    <a:srgbClr val="0000FF"/>
                  </a:solidFill>
                  <a:latin typeface="Arial" panose="020B0604020202020204" pitchFamily="34" charset="0"/>
                  <a:ea typeface="宋体" panose="02010600030101010101" pitchFamily="2" charset="-122"/>
                </a:rPr>
                <a:t>电报电话通信</a:t>
              </a:r>
              <a:endParaRPr lang="zh-CN" altLang="en-US" sz="2215" b="1">
                <a:solidFill>
                  <a:srgbClr val="0000FF"/>
                </a:solidFill>
                <a:latin typeface="Arial" panose="020B0604020202020204" pitchFamily="34" charset="0"/>
                <a:ea typeface="宋体" panose="02010600030101010101" pitchFamily="2" charset="-122"/>
              </a:endParaRPr>
            </a:p>
          </p:txBody>
        </p:sp>
      </p:grpSp>
      <p:grpSp>
        <p:nvGrpSpPr>
          <p:cNvPr id="5" name="组合 4"/>
          <p:cNvGrpSpPr/>
          <p:nvPr/>
        </p:nvGrpSpPr>
        <p:grpSpPr bwMode="auto">
          <a:xfrm>
            <a:off x="6912708" y="896815"/>
            <a:ext cx="4429370" cy="2727292"/>
            <a:chOff x="5603178" y="1310023"/>
            <a:chExt cx="3599462" cy="2215376"/>
          </a:xfrm>
        </p:grpSpPr>
        <p:sp>
          <p:nvSpPr>
            <p:cNvPr id="27656" name="Rectangle 25"/>
            <p:cNvSpPr>
              <a:spLocks noChangeArrowheads="1"/>
            </p:cNvSpPr>
            <p:nvPr/>
          </p:nvSpPr>
          <p:spPr bwMode="auto">
            <a:xfrm>
              <a:off x="6403604" y="3157627"/>
              <a:ext cx="1862509" cy="36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215" b="1">
                  <a:solidFill>
                    <a:srgbClr val="0000FF"/>
                  </a:solidFill>
                  <a:latin typeface="Arial" panose="020B0604020202020204" pitchFamily="34" charset="0"/>
                  <a:ea typeface="宋体" panose="02010600030101010101" pitchFamily="2" charset="-122"/>
                </a:rPr>
                <a:t>计算机加工存储</a:t>
              </a:r>
              <a:endParaRPr lang="zh-CN" altLang="en-US" sz="2215" b="1">
                <a:solidFill>
                  <a:srgbClr val="0000FF"/>
                </a:solidFill>
                <a:latin typeface="Arial" panose="020B0604020202020204" pitchFamily="34" charset="0"/>
                <a:ea typeface="宋体" panose="02010600030101010101" pitchFamily="2" charset="-122"/>
              </a:endParaRPr>
            </a:p>
          </p:txBody>
        </p:sp>
        <p:pic>
          <p:nvPicPr>
            <p:cNvPr id="27657"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03178" y="1320305"/>
              <a:ext cx="1723981" cy="1827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8"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12392" y="1310023"/>
              <a:ext cx="1890248" cy="1827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685076"/>
                                        </p:tgtEl>
                                        <p:attrNameLst>
                                          <p:attrName>style.visibility</p:attrName>
                                        </p:attrNameLst>
                                      </p:cBhvr>
                                      <p:to>
                                        <p:strVal val="visible"/>
                                      </p:to>
                                    </p:set>
                                    <p:anim calcmode="lin" valueType="num">
                                      <p:cBhvr>
                                        <p:cTn id="12" dur="1000" fill="hold"/>
                                        <p:tgtEl>
                                          <p:spTgt spid="685076"/>
                                        </p:tgtEl>
                                        <p:attrNameLst>
                                          <p:attrName>ppt_w</p:attrName>
                                        </p:attrNameLst>
                                      </p:cBhvr>
                                      <p:tavLst>
                                        <p:tav tm="0">
                                          <p:val>
                                            <p:fltVal val="0"/>
                                          </p:val>
                                        </p:tav>
                                        <p:tav tm="100000">
                                          <p:val>
                                            <p:strVal val="#ppt_w"/>
                                          </p:val>
                                        </p:tav>
                                      </p:tavLst>
                                    </p:anim>
                                    <p:anim calcmode="lin" valueType="num">
                                      <p:cBhvr>
                                        <p:cTn id="13" dur="1000" fill="hold"/>
                                        <p:tgtEl>
                                          <p:spTgt spid="685076"/>
                                        </p:tgtEl>
                                        <p:attrNameLst>
                                          <p:attrName>ppt_h</p:attrName>
                                        </p:attrNameLst>
                                      </p:cBhvr>
                                      <p:tavLst>
                                        <p:tav tm="0">
                                          <p:val>
                                            <p:strVal val="#ppt_h"/>
                                          </p:val>
                                        </p:tav>
                                        <p:tav tm="100000">
                                          <p:val>
                                            <p:strVal val="#ppt_h"/>
                                          </p:val>
                                        </p:tav>
                                      </p:tavLst>
                                    </p:anim>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2000" fill="hold"/>
                                        <p:tgtEl>
                                          <p:spTgt spid="5"/>
                                        </p:tgtEl>
                                        <p:attrNameLst>
                                          <p:attrName>ppt_w</p:attrName>
                                        </p:attrNameLst>
                                      </p:cBhvr>
                                      <p:tavLst>
                                        <p:tav tm="0">
                                          <p:val>
                                            <p:fltVal val="0"/>
                                          </p:val>
                                        </p:tav>
                                        <p:tav tm="100000">
                                          <p:val>
                                            <p:strVal val="#ppt_w"/>
                                          </p:val>
                                        </p:tav>
                                      </p:tavLst>
                                    </p:anim>
                                    <p:anim calcmode="lin" valueType="num">
                                      <p:cBhvr>
                                        <p:cTn id="18" dur="2000" fill="hold"/>
                                        <p:tgtEl>
                                          <p:spTgt spid="5"/>
                                        </p:tgtEl>
                                        <p:attrNameLst>
                                          <p:attrName>ppt_h</p:attrName>
                                        </p:attrNameLst>
                                      </p:cBhvr>
                                      <p:tavLst>
                                        <p:tav tm="0">
                                          <p:val>
                                            <p:fltVal val="0"/>
                                          </p:val>
                                        </p:tav>
                                        <p:tav tm="100000">
                                          <p:val>
                                            <p:strVal val="#ppt_h"/>
                                          </p:val>
                                        </p:tav>
                                      </p:tavLst>
                                    </p:anim>
                                    <p:animEffect transition="in" filter="fade">
                                      <p:cBhvr>
                                        <p:cTn id="19" dur="2000"/>
                                        <p:tgtEl>
                                          <p:spTgt spid="5"/>
                                        </p:tgtEl>
                                      </p:cBhvr>
                                    </p:animEffect>
                                  </p:childTnLst>
                                </p:cTn>
                              </p:par>
                            </p:childTnLst>
                          </p:cTn>
                        </p:par>
                        <p:par>
                          <p:cTn id="20" fill="hold">
                            <p:stCondLst>
                              <p:cond delay="3500"/>
                            </p:stCondLst>
                            <p:childTnLst>
                              <p:par>
                                <p:cTn id="21" presetID="17" presetClass="entr" presetSubtype="10" fill="hold" grpId="0" nodeType="afterEffect">
                                  <p:stCondLst>
                                    <p:cond delay="0"/>
                                  </p:stCondLst>
                                  <p:childTnLst>
                                    <p:set>
                                      <p:cBhvr>
                                        <p:cTn id="22" dur="1" fill="hold">
                                          <p:stCondLst>
                                            <p:cond delay="0"/>
                                          </p:stCondLst>
                                        </p:cTn>
                                        <p:tgtEl>
                                          <p:spTgt spid="685079"/>
                                        </p:tgtEl>
                                        <p:attrNameLst>
                                          <p:attrName>style.visibility</p:attrName>
                                        </p:attrNameLst>
                                      </p:cBhvr>
                                      <p:to>
                                        <p:strVal val="visible"/>
                                      </p:to>
                                    </p:set>
                                    <p:anim calcmode="lin" valueType="num">
                                      <p:cBhvr>
                                        <p:cTn id="23" dur="2000" fill="hold"/>
                                        <p:tgtEl>
                                          <p:spTgt spid="685079"/>
                                        </p:tgtEl>
                                        <p:attrNameLst>
                                          <p:attrName>ppt_w</p:attrName>
                                        </p:attrNameLst>
                                      </p:cBhvr>
                                      <p:tavLst>
                                        <p:tav tm="0">
                                          <p:val>
                                            <p:fltVal val="0"/>
                                          </p:val>
                                        </p:tav>
                                        <p:tav tm="100000">
                                          <p:val>
                                            <p:strVal val="#ppt_w"/>
                                          </p:val>
                                        </p:tav>
                                      </p:tavLst>
                                    </p:anim>
                                    <p:anim calcmode="lin" valueType="num">
                                      <p:cBhvr>
                                        <p:cTn id="24" dur="2000" fill="hold"/>
                                        <p:tgtEl>
                                          <p:spTgt spid="685079"/>
                                        </p:tgtEl>
                                        <p:attrNameLst>
                                          <p:attrName>ppt_h</p:attrName>
                                        </p:attrNameLst>
                                      </p:cBhvr>
                                      <p:tavLst>
                                        <p:tav tm="0">
                                          <p:val>
                                            <p:strVal val="#ppt_h"/>
                                          </p:val>
                                        </p:tav>
                                        <p:tav tm="100000">
                                          <p:val>
                                            <p:strVal val="#ppt_h"/>
                                          </p:val>
                                        </p:tav>
                                      </p:tavLst>
                                    </p:anim>
                                  </p:childTnLst>
                                </p:cTn>
                              </p:par>
                            </p:childTnLst>
                          </p:cTn>
                        </p:par>
                        <p:par>
                          <p:cTn id="25" fill="hold">
                            <p:stCondLst>
                              <p:cond delay="5500"/>
                            </p:stCondLst>
                            <p:childTnLst>
                              <p:par>
                                <p:cTn id="26" presetID="53" presetClass="entr" presetSubtype="16"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2000" fill="hold"/>
                                        <p:tgtEl>
                                          <p:spTgt spid="9"/>
                                        </p:tgtEl>
                                        <p:attrNameLst>
                                          <p:attrName>ppt_w</p:attrName>
                                        </p:attrNameLst>
                                      </p:cBhvr>
                                      <p:tavLst>
                                        <p:tav tm="0">
                                          <p:val>
                                            <p:fltVal val="0"/>
                                          </p:val>
                                        </p:tav>
                                        <p:tav tm="100000">
                                          <p:val>
                                            <p:strVal val="#ppt_w"/>
                                          </p:val>
                                        </p:tav>
                                      </p:tavLst>
                                    </p:anim>
                                    <p:anim calcmode="lin" valueType="num">
                                      <p:cBhvr>
                                        <p:cTn id="29" dur="2000" fill="hold"/>
                                        <p:tgtEl>
                                          <p:spTgt spid="9"/>
                                        </p:tgtEl>
                                        <p:attrNameLst>
                                          <p:attrName>ppt_h</p:attrName>
                                        </p:attrNameLst>
                                      </p:cBhvr>
                                      <p:tavLst>
                                        <p:tav tm="0">
                                          <p:val>
                                            <p:fltVal val="0"/>
                                          </p:val>
                                        </p:tav>
                                        <p:tav tm="100000">
                                          <p:val>
                                            <p:strVal val="#ppt_h"/>
                                          </p:val>
                                        </p:tav>
                                      </p:tavLst>
                                    </p:anim>
                                    <p:animEffect transition="in" filter="fade">
                                      <p:cBhvr>
                                        <p:cTn id="30"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76" grpId="0" bldLvl="0" animBg="1"/>
      <p:bldP spid="68507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1488831" y="169985"/>
            <a:ext cx="8684847" cy="599831"/>
          </a:xfrm>
        </p:spPr>
        <p:txBody>
          <a:bodyPr lIns="112484" tIns="56243" rIns="112484" bIns="56243"/>
          <a:lstStyle/>
          <a:p>
            <a:r>
              <a:rPr lang="zh-CN" altLang="en-US" sz="3445">
                <a:solidFill>
                  <a:schemeClr val="tx1"/>
                </a:solidFill>
              </a:rPr>
              <a:t>信息安全问题的诞生</a:t>
            </a:r>
            <a:endParaRPr lang="zh-CN" altLang="en-US" sz="2215">
              <a:solidFill>
                <a:schemeClr val="tx1"/>
              </a:solidFill>
            </a:endParaRPr>
          </a:p>
        </p:txBody>
      </p:sp>
      <p:sp>
        <p:nvSpPr>
          <p:cNvPr id="28675" name="Rectangle 3"/>
          <p:cNvSpPr>
            <a:spLocks noChangeArrowheads="1"/>
          </p:cNvSpPr>
          <p:nvPr/>
        </p:nvSpPr>
        <p:spPr bwMode="auto">
          <a:xfrm>
            <a:off x="765908" y="947615"/>
            <a:ext cx="10470662" cy="2668954"/>
          </a:xfrm>
          <a:prstGeom prst="rect">
            <a:avLst/>
          </a:prstGeom>
          <a:noFill/>
          <a:ln>
            <a:noFill/>
          </a:ln>
        </p:spPr>
        <p:txBody>
          <a:bodyPr lIns="112484" tIns="56243" rIns="112484" bIns="56243"/>
          <a:lstStyle>
            <a:lvl1pPr marL="352425" indent="-352425" defTabSz="9461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68350" indent="-295275" defTabSz="9461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94615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Tx/>
              <a:buChar char="•"/>
              <a:defRPr/>
            </a:pPr>
            <a:r>
              <a:rPr lang="zh-CN" altLang="en-US" sz="3570" b="1" dirty="0">
                <a:latin typeface="+mn-ea"/>
                <a:ea typeface="+mn-ea"/>
              </a:rPr>
              <a:t>人类开始信息的通信，信息安全的历史就开始了</a:t>
            </a:r>
            <a:endParaRPr lang="zh-CN" altLang="en-US" sz="3570" b="1" dirty="0">
              <a:latin typeface="+mn-ea"/>
              <a:ea typeface="+mn-ea"/>
            </a:endParaRPr>
          </a:p>
          <a:p>
            <a:pPr lvl="1" eaLnBrk="1" hangingPunct="1">
              <a:buClrTx/>
              <a:buFontTx/>
              <a:buChar char="–"/>
              <a:defRPr/>
            </a:pPr>
            <a:r>
              <a:rPr lang="zh-CN" altLang="en-US" sz="3200" b="1" dirty="0">
                <a:solidFill>
                  <a:srgbClr val="0000FF"/>
                </a:solidFill>
                <a:latin typeface="+mn-ea"/>
                <a:ea typeface="+mn-ea"/>
              </a:rPr>
              <a:t>公元前</a:t>
            </a:r>
            <a:r>
              <a:rPr lang="en-US" altLang="zh-CN" sz="3200" b="1" dirty="0">
                <a:solidFill>
                  <a:srgbClr val="0000FF"/>
                </a:solidFill>
                <a:latin typeface="+mn-ea"/>
                <a:ea typeface="+mn-ea"/>
              </a:rPr>
              <a:t>500</a:t>
            </a:r>
            <a:r>
              <a:rPr lang="zh-CN" altLang="en-US" sz="3200" b="1" dirty="0">
                <a:solidFill>
                  <a:srgbClr val="0000FF"/>
                </a:solidFill>
                <a:latin typeface="+mn-ea"/>
                <a:ea typeface="+mn-ea"/>
              </a:rPr>
              <a:t>年，斯巴达人用于加解密的一种军事设备。发送者把一条羊皮螺旋形地缠在一个圆柱形棒上。</a:t>
            </a:r>
            <a:endParaRPr lang="en-US" altLang="zh-CN" sz="2710" b="1" dirty="0">
              <a:solidFill>
                <a:srgbClr val="0000FF"/>
              </a:solidFill>
              <a:latin typeface="+mn-ea"/>
              <a:ea typeface="+mn-ea"/>
            </a:endParaRPr>
          </a:p>
          <a:p>
            <a:pPr lvl="1" eaLnBrk="1" hangingPunct="1">
              <a:buClrTx/>
              <a:buFontTx/>
              <a:buChar char="–"/>
              <a:defRPr/>
            </a:pPr>
            <a:endParaRPr lang="zh-CN" altLang="en-US" sz="2710" b="1" dirty="0">
              <a:latin typeface="+mn-ea"/>
              <a:ea typeface="+mn-ea"/>
            </a:endParaRPr>
          </a:p>
        </p:txBody>
      </p:sp>
      <p:pic>
        <p:nvPicPr>
          <p:cNvPr id="286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49647" y="3429000"/>
            <a:ext cx="5318369" cy="150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4631" y="3075354"/>
            <a:ext cx="5545015" cy="3546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68" name="Picture 4" descr="斯巴达棒"/>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5002" y="4929554"/>
            <a:ext cx="4698054" cy="16667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021862" y="82062"/>
            <a:ext cx="8684846" cy="601785"/>
          </a:xfrm>
        </p:spPr>
        <p:txBody>
          <a:bodyPr lIns="116427" tIns="58212" rIns="116427" bIns="58212"/>
          <a:lstStyle/>
          <a:p>
            <a:r>
              <a:rPr lang="zh-CN" altLang="en-US">
                <a:solidFill>
                  <a:schemeClr val="tx1"/>
                </a:solidFill>
              </a:rPr>
              <a:t>通信安全</a:t>
            </a:r>
            <a:endParaRPr lang="zh-CN" altLang="en-US">
              <a:solidFill>
                <a:schemeClr val="tx1"/>
              </a:solidFill>
            </a:endParaRPr>
          </a:p>
        </p:txBody>
      </p:sp>
      <p:sp>
        <p:nvSpPr>
          <p:cNvPr id="30723" name="Rectangle 3"/>
          <p:cNvSpPr>
            <a:spLocks noGrp="1" noChangeArrowheads="1"/>
          </p:cNvSpPr>
          <p:nvPr>
            <p:ph type="body" idx="4294967295"/>
          </p:nvPr>
        </p:nvSpPr>
        <p:spPr>
          <a:xfrm>
            <a:off x="1008185" y="5050692"/>
            <a:ext cx="10296769" cy="1518139"/>
          </a:xfrm>
        </p:spPr>
        <p:txBody>
          <a:bodyPr lIns="116427" tIns="58212" rIns="116427" bIns="58212"/>
          <a:lstStyle/>
          <a:p>
            <a:r>
              <a:rPr lang="en-US" altLang="zh-CN">
                <a:solidFill>
                  <a:srgbClr val="0000FF"/>
                </a:solidFill>
              </a:rPr>
              <a:t>20</a:t>
            </a:r>
            <a:r>
              <a:rPr lang="zh-CN" altLang="en-US">
                <a:solidFill>
                  <a:srgbClr val="0000FF"/>
                </a:solidFill>
              </a:rPr>
              <a:t>世纪，</a:t>
            </a:r>
            <a:r>
              <a:rPr lang="en-US" altLang="zh-CN">
                <a:solidFill>
                  <a:srgbClr val="0000FF"/>
                </a:solidFill>
              </a:rPr>
              <a:t>40</a:t>
            </a:r>
            <a:r>
              <a:rPr lang="zh-CN" altLang="en-US">
                <a:solidFill>
                  <a:srgbClr val="0000FF"/>
                </a:solidFill>
              </a:rPr>
              <a:t>年代</a:t>
            </a:r>
            <a:r>
              <a:rPr lang="en-US" altLang="zh-CN">
                <a:solidFill>
                  <a:srgbClr val="0000FF"/>
                </a:solidFill>
              </a:rPr>
              <a:t>-70</a:t>
            </a:r>
            <a:r>
              <a:rPr lang="zh-CN" altLang="en-US">
                <a:solidFill>
                  <a:srgbClr val="0000FF"/>
                </a:solidFill>
              </a:rPr>
              <a:t>年代</a:t>
            </a:r>
            <a:endParaRPr lang="zh-CN" altLang="en-US">
              <a:solidFill>
                <a:srgbClr val="0000FF"/>
              </a:solidFill>
            </a:endParaRPr>
          </a:p>
          <a:p>
            <a:pPr lvl="1">
              <a:buFont typeface="Wingdings" panose="05000000000000000000" pitchFamily="2" charset="2"/>
              <a:buChar char="n"/>
            </a:pPr>
            <a:r>
              <a:rPr lang="zh-CN" altLang="en-US"/>
              <a:t>通过密码技术解决通信保密，内容篡改</a:t>
            </a:r>
            <a:endParaRPr lang="zh-CN" altLang="en-US"/>
          </a:p>
          <a:p>
            <a:pPr lvl="1"/>
            <a:endParaRPr lang="zh-CN" altLang="en-US" sz="2830"/>
          </a:p>
        </p:txBody>
      </p:sp>
      <p:grpSp>
        <p:nvGrpSpPr>
          <p:cNvPr id="2" name="组合 1"/>
          <p:cNvGrpSpPr/>
          <p:nvPr/>
        </p:nvGrpSpPr>
        <p:grpSpPr bwMode="auto">
          <a:xfrm>
            <a:off x="754185" y="814754"/>
            <a:ext cx="10943493" cy="4024923"/>
            <a:chOff x="612775" y="1304925"/>
            <a:chExt cx="8891588" cy="3270250"/>
          </a:xfrm>
        </p:grpSpPr>
        <p:sp>
          <p:nvSpPr>
            <p:cNvPr id="30725" name="Picture 4" descr="enigmagr"/>
            <p:cNvSpPr>
              <a:spLocks noChangeAspect="1" noChangeArrowheads="1"/>
            </p:cNvSpPr>
            <p:nvPr/>
          </p:nvSpPr>
          <p:spPr bwMode="auto">
            <a:xfrm>
              <a:off x="6180138" y="1304925"/>
              <a:ext cx="24415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0726" name="Rectangle 6"/>
            <p:cNvSpPr>
              <a:spLocks noChangeArrowheads="1"/>
            </p:cNvSpPr>
            <p:nvPr/>
          </p:nvSpPr>
          <p:spPr bwMode="auto">
            <a:xfrm>
              <a:off x="4808538" y="3886200"/>
              <a:ext cx="4695825" cy="36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215" b="1">
                  <a:latin typeface="Arial" panose="020B0604020202020204" pitchFamily="34" charset="0"/>
                  <a:ea typeface="宋体" panose="02010600030101010101" pitchFamily="2" charset="-122"/>
                </a:rPr>
                <a:t>转轮密码机</a:t>
              </a:r>
              <a:r>
                <a:rPr lang="en-US" altLang="zh-CN" sz="2215" b="1">
                  <a:latin typeface="Arial" panose="020B0604020202020204" pitchFamily="34" charset="0"/>
                  <a:ea typeface="宋体" panose="02010600030101010101" pitchFamily="2" charset="-122"/>
                </a:rPr>
                <a:t>ENIGMA</a:t>
              </a:r>
              <a:r>
                <a:rPr lang="zh-CN" altLang="en-US" sz="2215" b="1">
                  <a:latin typeface="Arial" panose="020B0604020202020204" pitchFamily="34" charset="0"/>
                  <a:ea typeface="宋体" panose="02010600030101010101" pitchFamily="2" charset="-122"/>
                </a:rPr>
                <a:t>，</a:t>
              </a:r>
              <a:r>
                <a:rPr lang="en-US" altLang="zh-CN" sz="2215" b="1">
                  <a:latin typeface="Arial" panose="020B0604020202020204" pitchFamily="34" charset="0"/>
                  <a:ea typeface="宋体" panose="02010600030101010101" pitchFamily="2" charset="-122"/>
                </a:rPr>
                <a:t>1944</a:t>
              </a:r>
              <a:r>
                <a:rPr lang="zh-CN" altLang="en-US" sz="2215" b="1">
                  <a:latin typeface="Arial" panose="020B0604020202020204" pitchFamily="34" charset="0"/>
                  <a:ea typeface="宋体" panose="02010600030101010101" pitchFamily="2" charset="-122"/>
                </a:rPr>
                <a:t>年装备德国海军</a:t>
              </a:r>
              <a:endParaRPr lang="zh-CN" altLang="en-US" sz="2215" b="1">
                <a:latin typeface="Arial" panose="020B0604020202020204" pitchFamily="34" charset="0"/>
                <a:ea typeface="宋体" panose="02010600030101010101" pitchFamily="2" charset="-122"/>
              </a:endParaRPr>
            </a:p>
          </p:txBody>
        </p:sp>
        <p:sp>
          <p:nvSpPr>
            <p:cNvPr id="30727" name="Rectangle 8"/>
            <p:cNvSpPr>
              <a:spLocks noChangeArrowheads="1"/>
            </p:cNvSpPr>
            <p:nvPr/>
          </p:nvSpPr>
          <p:spPr bwMode="auto">
            <a:xfrm>
              <a:off x="3265488" y="1600200"/>
              <a:ext cx="2336800" cy="132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latin typeface="Arial" panose="020B0604020202020204" pitchFamily="34" charset="0"/>
                  <a:ea typeface="宋体" panose="02010600030101010101" pitchFamily="2" charset="-122"/>
                </a:rPr>
                <a:t>以二战时期真实历史为背景的，关于电报密文窃听和密码破解的故事</a:t>
              </a:r>
              <a:endParaRPr lang="en-US" altLang="zh-CN" sz="2460" b="1">
                <a:latin typeface="Arial" panose="020B0604020202020204" pitchFamily="34" charset="0"/>
                <a:ea typeface="宋体" panose="02010600030101010101" pitchFamily="2" charset="-122"/>
              </a:endParaRPr>
            </a:p>
          </p:txBody>
        </p:sp>
        <p:pic>
          <p:nvPicPr>
            <p:cNvPr id="30728"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2775" y="1600200"/>
              <a:ext cx="2652713" cy="297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kx="-3284103" algn="br" rotWithShape="0">
                      <a:srgbClr val="636363">
                        <a:alpha val="50000"/>
                      </a:srgbClr>
                    </a:outerShdw>
                  </a:effectLst>
                </a14:hiddenEffects>
              </a:ext>
            </a:extLst>
          </p:spPr>
        </p:pic>
        <p:pic>
          <p:nvPicPr>
            <p:cNvPr id="30729" name="Picture 4" descr="enigmag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32538" y="1457325"/>
              <a:ext cx="24415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488831" y="82062"/>
            <a:ext cx="8684847" cy="599830"/>
          </a:xfrm>
        </p:spPr>
        <p:txBody>
          <a:bodyPr lIns="116427" tIns="58212" rIns="116427" bIns="58212"/>
          <a:lstStyle/>
          <a:p>
            <a:r>
              <a:rPr lang="zh-CN" altLang="en-US">
                <a:solidFill>
                  <a:schemeClr val="tx1"/>
                </a:solidFill>
              </a:rPr>
              <a:t>信息系统安全</a:t>
            </a:r>
            <a:endParaRPr lang="en-US" altLang="zh-CN">
              <a:solidFill>
                <a:schemeClr val="tx1"/>
              </a:solidFill>
            </a:endParaRPr>
          </a:p>
        </p:txBody>
      </p:sp>
      <p:sp>
        <p:nvSpPr>
          <p:cNvPr id="31747" name="Rectangle 3"/>
          <p:cNvSpPr>
            <a:spLocks noGrp="1" noChangeArrowheads="1"/>
          </p:cNvSpPr>
          <p:nvPr>
            <p:ph type="body" idx="4294967295"/>
          </p:nvPr>
        </p:nvSpPr>
        <p:spPr>
          <a:xfrm>
            <a:off x="711200" y="803031"/>
            <a:ext cx="10922000" cy="1738923"/>
          </a:xfrm>
        </p:spPr>
        <p:txBody>
          <a:bodyPr lIns="116427" tIns="58212" rIns="116427" bIns="58212"/>
          <a:lstStyle/>
          <a:p>
            <a:r>
              <a:rPr lang="en-US" altLang="zh-CN" dirty="0">
                <a:solidFill>
                  <a:srgbClr val="0000FF"/>
                </a:solidFill>
              </a:rPr>
              <a:t>20</a:t>
            </a:r>
            <a:r>
              <a:rPr lang="zh-CN" altLang="en-US" dirty="0">
                <a:solidFill>
                  <a:srgbClr val="0000FF"/>
                </a:solidFill>
              </a:rPr>
              <a:t>世纪，</a:t>
            </a:r>
            <a:r>
              <a:rPr lang="en-US" altLang="zh-CN" dirty="0">
                <a:solidFill>
                  <a:srgbClr val="0000FF"/>
                </a:solidFill>
              </a:rPr>
              <a:t>70-90</a:t>
            </a:r>
            <a:r>
              <a:rPr lang="zh-CN" altLang="en-US" dirty="0">
                <a:solidFill>
                  <a:srgbClr val="0000FF"/>
                </a:solidFill>
              </a:rPr>
              <a:t>年代后，计算机和网络改变了一切</a:t>
            </a:r>
            <a:endParaRPr lang="en-US" altLang="zh-CN" dirty="0">
              <a:solidFill>
                <a:srgbClr val="0000FF"/>
              </a:solidFill>
            </a:endParaRPr>
          </a:p>
          <a:p>
            <a:pPr lvl="1"/>
            <a:r>
              <a:rPr lang="zh-CN" altLang="en-US" dirty="0"/>
              <a:t>确保信息在网络信息系统中的存储、处理和传输过程中免受非授权的访问，防止授权用户的拒绝服务</a:t>
            </a:r>
            <a:endParaRPr lang="zh-CN" altLang="en-US" b="1" dirty="0"/>
          </a:p>
          <a:p>
            <a:endParaRPr lang="zh-CN" altLang="en-US" dirty="0"/>
          </a:p>
        </p:txBody>
      </p:sp>
      <p:pic>
        <p:nvPicPr>
          <p:cNvPr id="31748" name="Picture 7" descr="sl1195_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4677" y="2719754"/>
            <a:ext cx="9218246" cy="417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anim calcmode="lin" valueType="num">
                                      <p:cBhvr additive="base">
                                        <p:cTn id="7" dur="500" fill="hold"/>
                                        <p:tgtEl>
                                          <p:spTgt spid="31748"/>
                                        </p:tgtEl>
                                        <p:attrNameLst>
                                          <p:attrName>ppt_x</p:attrName>
                                        </p:attrNameLst>
                                      </p:cBhvr>
                                      <p:tavLst>
                                        <p:tav tm="0">
                                          <p:val>
                                            <p:strVal val="#ppt_x"/>
                                          </p:val>
                                        </p:tav>
                                        <p:tav tm="100000">
                                          <p:val>
                                            <p:strVal val="#ppt_x"/>
                                          </p:val>
                                        </p:tav>
                                      </p:tavLst>
                                    </p:anim>
                                    <p:anim calcmode="lin" valueType="num">
                                      <p:cBhvr additive="base">
                                        <p:cTn id="8" dur="500" fill="hold"/>
                                        <p:tgtEl>
                                          <p:spTgt spid="317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601785" y="-7815"/>
            <a:ext cx="8684847" cy="601785"/>
          </a:xfrm>
        </p:spPr>
        <p:txBody>
          <a:bodyPr lIns="116427" tIns="58212" rIns="116427" bIns="58212"/>
          <a:lstStyle/>
          <a:p>
            <a:r>
              <a:rPr lang="zh-CN" altLang="en-US">
                <a:solidFill>
                  <a:schemeClr val="tx1"/>
                </a:solidFill>
              </a:rPr>
              <a:t>信息安全保障</a:t>
            </a:r>
            <a:endParaRPr lang="zh-CN" altLang="en-US">
              <a:solidFill>
                <a:schemeClr val="tx1"/>
              </a:solidFill>
            </a:endParaRPr>
          </a:p>
        </p:txBody>
      </p:sp>
      <p:grpSp>
        <p:nvGrpSpPr>
          <p:cNvPr id="2" name="组合 1"/>
          <p:cNvGrpSpPr/>
          <p:nvPr/>
        </p:nvGrpSpPr>
        <p:grpSpPr bwMode="auto">
          <a:xfrm>
            <a:off x="2721708" y="416169"/>
            <a:ext cx="9046308" cy="5066324"/>
            <a:chOff x="2211388" y="981075"/>
            <a:chExt cx="7350125" cy="4116388"/>
          </a:xfrm>
        </p:grpSpPr>
        <p:grpSp>
          <p:nvGrpSpPr>
            <p:cNvPr id="32807" name="Group 3"/>
            <p:cNvGrpSpPr/>
            <p:nvPr/>
          </p:nvGrpSpPr>
          <p:grpSpPr bwMode="auto">
            <a:xfrm>
              <a:off x="2211388" y="981075"/>
              <a:ext cx="7350125" cy="4116388"/>
              <a:chOff x="880" y="1365"/>
              <a:chExt cx="4274" cy="2592"/>
            </a:xfrm>
          </p:grpSpPr>
          <p:grpSp>
            <p:nvGrpSpPr>
              <p:cNvPr id="32850" name="Group 4"/>
              <p:cNvGrpSpPr/>
              <p:nvPr/>
            </p:nvGrpSpPr>
            <p:grpSpPr bwMode="auto">
              <a:xfrm>
                <a:off x="880" y="1365"/>
                <a:ext cx="4274" cy="2592"/>
                <a:chOff x="880" y="1365"/>
                <a:chExt cx="4274" cy="2592"/>
              </a:xfrm>
            </p:grpSpPr>
            <p:sp>
              <p:nvSpPr>
                <p:cNvPr id="32854" name="Freeform 5"/>
                <p:cNvSpPr/>
                <p:nvPr/>
              </p:nvSpPr>
              <p:spPr bwMode="auto">
                <a:xfrm>
                  <a:off x="936" y="1440"/>
                  <a:ext cx="4218" cy="2517"/>
                </a:xfrm>
                <a:custGeom>
                  <a:avLst/>
                  <a:gdLst>
                    <a:gd name="T0" fmla="*/ 1654 w 4218"/>
                    <a:gd name="T1" fmla="*/ 49 h 2517"/>
                    <a:gd name="T2" fmla="*/ 1539 w 4218"/>
                    <a:gd name="T3" fmla="*/ 69 h 2517"/>
                    <a:gd name="T4" fmla="*/ 1335 w 4218"/>
                    <a:gd name="T5" fmla="*/ 69 h 2517"/>
                    <a:gd name="T6" fmla="*/ 1034 w 4218"/>
                    <a:gd name="T7" fmla="*/ 29 h 2517"/>
                    <a:gd name="T8" fmla="*/ 910 w 4218"/>
                    <a:gd name="T9" fmla="*/ 69 h 2517"/>
                    <a:gd name="T10" fmla="*/ 742 w 4218"/>
                    <a:gd name="T11" fmla="*/ 131 h 2517"/>
                    <a:gd name="T12" fmla="*/ 565 w 4218"/>
                    <a:gd name="T13" fmla="*/ 252 h 2517"/>
                    <a:gd name="T14" fmla="*/ 450 w 4218"/>
                    <a:gd name="T15" fmla="*/ 333 h 2517"/>
                    <a:gd name="T16" fmla="*/ 352 w 4218"/>
                    <a:gd name="T17" fmla="*/ 394 h 2517"/>
                    <a:gd name="T18" fmla="*/ 263 w 4218"/>
                    <a:gd name="T19" fmla="*/ 454 h 2517"/>
                    <a:gd name="T20" fmla="*/ 193 w 4218"/>
                    <a:gd name="T21" fmla="*/ 636 h 2517"/>
                    <a:gd name="T22" fmla="*/ 122 w 4218"/>
                    <a:gd name="T23" fmla="*/ 778 h 2517"/>
                    <a:gd name="T24" fmla="*/ 69 w 4218"/>
                    <a:gd name="T25" fmla="*/ 960 h 2517"/>
                    <a:gd name="T26" fmla="*/ 25 w 4218"/>
                    <a:gd name="T27" fmla="*/ 1182 h 2517"/>
                    <a:gd name="T28" fmla="*/ 0 w 4218"/>
                    <a:gd name="T29" fmla="*/ 1444 h 2517"/>
                    <a:gd name="T30" fmla="*/ 0 w 4218"/>
                    <a:gd name="T31" fmla="*/ 1587 h 2517"/>
                    <a:gd name="T32" fmla="*/ 0 w 4218"/>
                    <a:gd name="T33" fmla="*/ 1728 h 2517"/>
                    <a:gd name="T34" fmla="*/ 0 w 4218"/>
                    <a:gd name="T35" fmla="*/ 1912 h 2517"/>
                    <a:gd name="T36" fmla="*/ 52 w 4218"/>
                    <a:gd name="T37" fmla="*/ 2051 h 2517"/>
                    <a:gd name="T38" fmla="*/ 140 w 4218"/>
                    <a:gd name="T39" fmla="*/ 2133 h 2517"/>
                    <a:gd name="T40" fmla="*/ 299 w 4218"/>
                    <a:gd name="T41" fmla="*/ 2174 h 2517"/>
                    <a:gd name="T42" fmla="*/ 441 w 4218"/>
                    <a:gd name="T43" fmla="*/ 2275 h 2517"/>
                    <a:gd name="T44" fmla="*/ 636 w 4218"/>
                    <a:gd name="T45" fmla="*/ 2355 h 2517"/>
                    <a:gd name="T46" fmla="*/ 760 w 4218"/>
                    <a:gd name="T47" fmla="*/ 2355 h 2517"/>
                    <a:gd name="T48" fmla="*/ 1008 w 4218"/>
                    <a:gd name="T49" fmla="*/ 2396 h 2517"/>
                    <a:gd name="T50" fmla="*/ 1168 w 4218"/>
                    <a:gd name="T51" fmla="*/ 2437 h 2517"/>
                    <a:gd name="T52" fmla="*/ 1326 w 4218"/>
                    <a:gd name="T53" fmla="*/ 2457 h 2517"/>
                    <a:gd name="T54" fmla="*/ 1433 w 4218"/>
                    <a:gd name="T55" fmla="*/ 2478 h 2517"/>
                    <a:gd name="T56" fmla="*/ 1628 w 4218"/>
                    <a:gd name="T57" fmla="*/ 2478 h 2517"/>
                    <a:gd name="T58" fmla="*/ 1822 w 4218"/>
                    <a:gd name="T59" fmla="*/ 2478 h 2517"/>
                    <a:gd name="T60" fmla="*/ 2086 w 4218"/>
                    <a:gd name="T61" fmla="*/ 2478 h 2517"/>
                    <a:gd name="T62" fmla="*/ 2370 w 4218"/>
                    <a:gd name="T63" fmla="*/ 2498 h 2517"/>
                    <a:gd name="T64" fmla="*/ 2529 w 4218"/>
                    <a:gd name="T65" fmla="*/ 2498 h 2517"/>
                    <a:gd name="T66" fmla="*/ 2725 w 4218"/>
                    <a:gd name="T67" fmla="*/ 2498 h 2517"/>
                    <a:gd name="T68" fmla="*/ 2883 w 4218"/>
                    <a:gd name="T69" fmla="*/ 2498 h 2517"/>
                    <a:gd name="T70" fmla="*/ 3078 w 4218"/>
                    <a:gd name="T71" fmla="*/ 2498 h 2517"/>
                    <a:gd name="T72" fmla="*/ 3290 w 4218"/>
                    <a:gd name="T73" fmla="*/ 2517 h 2517"/>
                    <a:gd name="T74" fmla="*/ 3415 w 4218"/>
                    <a:gd name="T75" fmla="*/ 2498 h 2517"/>
                    <a:gd name="T76" fmla="*/ 3609 w 4218"/>
                    <a:gd name="T77" fmla="*/ 2478 h 2517"/>
                    <a:gd name="T78" fmla="*/ 3769 w 4218"/>
                    <a:gd name="T79" fmla="*/ 2437 h 2517"/>
                    <a:gd name="T80" fmla="*/ 3955 w 4218"/>
                    <a:gd name="T81" fmla="*/ 2346 h 2517"/>
                    <a:gd name="T82" fmla="*/ 4024 w 4218"/>
                    <a:gd name="T83" fmla="*/ 2224 h 2517"/>
                    <a:gd name="T84" fmla="*/ 4077 w 4218"/>
                    <a:gd name="T85" fmla="*/ 2103 h 2517"/>
                    <a:gd name="T86" fmla="*/ 4148 w 4218"/>
                    <a:gd name="T87" fmla="*/ 2021 h 2517"/>
                    <a:gd name="T88" fmla="*/ 4210 w 4218"/>
                    <a:gd name="T89" fmla="*/ 1840 h 2517"/>
                    <a:gd name="T90" fmla="*/ 4175 w 4218"/>
                    <a:gd name="T91" fmla="*/ 1355 h 2517"/>
                    <a:gd name="T92" fmla="*/ 4139 w 4218"/>
                    <a:gd name="T93" fmla="*/ 1062 h 2517"/>
                    <a:gd name="T94" fmla="*/ 4086 w 4218"/>
                    <a:gd name="T95" fmla="*/ 869 h 2517"/>
                    <a:gd name="T96" fmla="*/ 4007 w 4218"/>
                    <a:gd name="T97" fmla="*/ 728 h 2517"/>
                    <a:gd name="T98" fmla="*/ 3901 w 4218"/>
                    <a:gd name="T99" fmla="*/ 596 h 2517"/>
                    <a:gd name="T100" fmla="*/ 3805 w 4218"/>
                    <a:gd name="T101" fmla="*/ 495 h 2517"/>
                    <a:gd name="T102" fmla="*/ 3690 w 4218"/>
                    <a:gd name="T103" fmla="*/ 383 h 2517"/>
                    <a:gd name="T104" fmla="*/ 3520 w 4218"/>
                    <a:gd name="T105" fmla="*/ 312 h 2517"/>
                    <a:gd name="T106" fmla="*/ 3398 w 4218"/>
                    <a:gd name="T107" fmla="*/ 233 h 2517"/>
                    <a:gd name="T108" fmla="*/ 3273 w 4218"/>
                    <a:gd name="T109" fmla="*/ 171 h 2517"/>
                    <a:gd name="T110" fmla="*/ 3113 w 4218"/>
                    <a:gd name="T111" fmla="*/ 120 h 2517"/>
                    <a:gd name="T112" fmla="*/ 2955 w 4218"/>
                    <a:gd name="T113" fmla="*/ 79 h 2517"/>
                    <a:gd name="T114" fmla="*/ 2786 w 4218"/>
                    <a:gd name="T115" fmla="*/ 49 h 2517"/>
                    <a:gd name="T116" fmla="*/ 2663 w 4218"/>
                    <a:gd name="T117" fmla="*/ 19 h 2517"/>
                    <a:gd name="T118" fmla="*/ 2538 w 4218"/>
                    <a:gd name="T119" fmla="*/ 8 h 2517"/>
                    <a:gd name="T120" fmla="*/ 2414 w 4218"/>
                    <a:gd name="T121" fmla="*/ 8 h 2517"/>
                    <a:gd name="T122" fmla="*/ 2290 w 4218"/>
                    <a:gd name="T123" fmla="*/ 0 h 2517"/>
                    <a:gd name="T124" fmla="*/ 2167 w 4218"/>
                    <a:gd name="T125" fmla="*/ 0 h 251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218"/>
                    <a:gd name="T190" fmla="*/ 0 h 2517"/>
                    <a:gd name="T191" fmla="*/ 4218 w 4218"/>
                    <a:gd name="T192" fmla="*/ 2517 h 251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218" h="2517">
                      <a:moveTo>
                        <a:pt x="2096" y="8"/>
                      </a:moveTo>
                      <a:lnTo>
                        <a:pt x="1788" y="29"/>
                      </a:lnTo>
                      <a:lnTo>
                        <a:pt x="1725" y="29"/>
                      </a:lnTo>
                      <a:lnTo>
                        <a:pt x="1707" y="29"/>
                      </a:lnTo>
                      <a:lnTo>
                        <a:pt x="1690" y="29"/>
                      </a:lnTo>
                      <a:lnTo>
                        <a:pt x="1671" y="49"/>
                      </a:lnTo>
                      <a:lnTo>
                        <a:pt x="1654" y="49"/>
                      </a:lnTo>
                      <a:lnTo>
                        <a:pt x="1637" y="49"/>
                      </a:lnTo>
                      <a:lnTo>
                        <a:pt x="1628" y="69"/>
                      </a:lnTo>
                      <a:lnTo>
                        <a:pt x="1610" y="69"/>
                      </a:lnTo>
                      <a:lnTo>
                        <a:pt x="1592" y="69"/>
                      </a:lnTo>
                      <a:lnTo>
                        <a:pt x="1575" y="69"/>
                      </a:lnTo>
                      <a:lnTo>
                        <a:pt x="1556" y="69"/>
                      </a:lnTo>
                      <a:lnTo>
                        <a:pt x="1539" y="69"/>
                      </a:lnTo>
                      <a:lnTo>
                        <a:pt x="1486" y="69"/>
                      </a:lnTo>
                      <a:lnTo>
                        <a:pt x="1468" y="69"/>
                      </a:lnTo>
                      <a:lnTo>
                        <a:pt x="1450" y="69"/>
                      </a:lnTo>
                      <a:lnTo>
                        <a:pt x="1388" y="69"/>
                      </a:lnTo>
                      <a:lnTo>
                        <a:pt x="1371" y="69"/>
                      </a:lnTo>
                      <a:lnTo>
                        <a:pt x="1353" y="69"/>
                      </a:lnTo>
                      <a:lnTo>
                        <a:pt x="1335" y="69"/>
                      </a:lnTo>
                      <a:lnTo>
                        <a:pt x="1318" y="60"/>
                      </a:lnTo>
                      <a:lnTo>
                        <a:pt x="1300" y="49"/>
                      </a:lnTo>
                      <a:lnTo>
                        <a:pt x="1247" y="49"/>
                      </a:lnTo>
                      <a:lnTo>
                        <a:pt x="1185" y="39"/>
                      </a:lnTo>
                      <a:lnTo>
                        <a:pt x="1113" y="39"/>
                      </a:lnTo>
                      <a:lnTo>
                        <a:pt x="1053" y="29"/>
                      </a:lnTo>
                      <a:lnTo>
                        <a:pt x="1034" y="29"/>
                      </a:lnTo>
                      <a:lnTo>
                        <a:pt x="1017" y="29"/>
                      </a:lnTo>
                      <a:lnTo>
                        <a:pt x="998" y="29"/>
                      </a:lnTo>
                      <a:lnTo>
                        <a:pt x="981" y="29"/>
                      </a:lnTo>
                      <a:lnTo>
                        <a:pt x="964" y="29"/>
                      </a:lnTo>
                      <a:lnTo>
                        <a:pt x="945" y="49"/>
                      </a:lnTo>
                      <a:lnTo>
                        <a:pt x="928" y="49"/>
                      </a:lnTo>
                      <a:lnTo>
                        <a:pt x="910" y="69"/>
                      </a:lnTo>
                      <a:lnTo>
                        <a:pt x="893" y="69"/>
                      </a:lnTo>
                      <a:lnTo>
                        <a:pt x="875" y="90"/>
                      </a:lnTo>
                      <a:lnTo>
                        <a:pt x="857" y="90"/>
                      </a:lnTo>
                      <a:lnTo>
                        <a:pt x="857" y="110"/>
                      </a:lnTo>
                      <a:lnTo>
                        <a:pt x="804" y="110"/>
                      </a:lnTo>
                      <a:lnTo>
                        <a:pt x="795" y="131"/>
                      </a:lnTo>
                      <a:lnTo>
                        <a:pt x="742" y="131"/>
                      </a:lnTo>
                      <a:lnTo>
                        <a:pt x="725" y="131"/>
                      </a:lnTo>
                      <a:lnTo>
                        <a:pt x="672" y="151"/>
                      </a:lnTo>
                      <a:lnTo>
                        <a:pt x="653" y="151"/>
                      </a:lnTo>
                      <a:lnTo>
                        <a:pt x="644" y="171"/>
                      </a:lnTo>
                      <a:lnTo>
                        <a:pt x="627" y="192"/>
                      </a:lnTo>
                      <a:lnTo>
                        <a:pt x="574" y="192"/>
                      </a:lnTo>
                      <a:lnTo>
                        <a:pt x="565" y="252"/>
                      </a:lnTo>
                      <a:lnTo>
                        <a:pt x="512" y="252"/>
                      </a:lnTo>
                      <a:lnTo>
                        <a:pt x="503" y="272"/>
                      </a:lnTo>
                      <a:lnTo>
                        <a:pt x="495" y="292"/>
                      </a:lnTo>
                      <a:lnTo>
                        <a:pt x="485" y="312"/>
                      </a:lnTo>
                      <a:lnTo>
                        <a:pt x="468" y="312"/>
                      </a:lnTo>
                      <a:lnTo>
                        <a:pt x="468" y="333"/>
                      </a:lnTo>
                      <a:lnTo>
                        <a:pt x="450" y="333"/>
                      </a:lnTo>
                      <a:lnTo>
                        <a:pt x="433" y="353"/>
                      </a:lnTo>
                      <a:lnTo>
                        <a:pt x="414" y="353"/>
                      </a:lnTo>
                      <a:lnTo>
                        <a:pt x="414" y="372"/>
                      </a:lnTo>
                      <a:lnTo>
                        <a:pt x="397" y="372"/>
                      </a:lnTo>
                      <a:lnTo>
                        <a:pt x="380" y="372"/>
                      </a:lnTo>
                      <a:lnTo>
                        <a:pt x="370" y="394"/>
                      </a:lnTo>
                      <a:lnTo>
                        <a:pt x="352" y="394"/>
                      </a:lnTo>
                      <a:lnTo>
                        <a:pt x="344" y="413"/>
                      </a:lnTo>
                      <a:lnTo>
                        <a:pt x="335" y="435"/>
                      </a:lnTo>
                      <a:lnTo>
                        <a:pt x="318" y="435"/>
                      </a:lnTo>
                      <a:lnTo>
                        <a:pt x="318" y="454"/>
                      </a:lnTo>
                      <a:lnTo>
                        <a:pt x="299" y="454"/>
                      </a:lnTo>
                      <a:lnTo>
                        <a:pt x="282" y="454"/>
                      </a:lnTo>
                      <a:lnTo>
                        <a:pt x="263" y="454"/>
                      </a:lnTo>
                      <a:lnTo>
                        <a:pt x="255" y="474"/>
                      </a:lnTo>
                      <a:lnTo>
                        <a:pt x="237" y="495"/>
                      </a:lnTo>
                      <a:lnTo>
                        <a:pt x="229" y="515"/>
                      </a:lnTo>
                      <a:lnTo>
                        <a:pt x="220" y="536"/>
                      </a:lnTo>
                      <a:lnTo>
                        <a:pt x="220" y="556"/>
                      </a:lnTo>
                      <a:lnTo>
                        <a:pt x="203" y="615"/>
                      </a:lnTo>
                      <a:lnTo>
                        <a:pt x="193" y="636"/>
                      </a:lnTo>
                      <a:lnTo>
                        <a:pt x="184" y="656"/>
                      </a:lnTo>
                      <a:lnTo>
                        <a:pt x="175" y="676"/>
                      </a:lnTo>
                      <a:lnTo>
                        <a:pt x="167" y="697"/>
                      </a:lnTo>
                      <a:lnTo>
                        <a:pt x="158" y="717"/>
                      </a:lnTo>
                      <a:lnTo>
                        <a:pt x="148" y="738"/>
                      </a:lnTo>
                      <a:lnTo>
                        <a:pt x="140" y="758"/>
                      </a:lnTo>
                      <a:lnTo>
                        <a:pt x="122" y="778"/>
                      </a:lnTo>
                      <a:lnTo>
                        <a:pt x="114" y="799"/>
                      </a:lnTo>
                      <a:lnTo>
                        <a:pt x="105" y="819"/>
                      </a:lnTo>
                      <a:lnTo>
                        <a:pt x="96" y="878"/>
                      </a:lnTo>
                      <a:lnTo>
                        <a:pt x="88" y="899"/>
                      </a:lnTo>
                      <a:lnTo>
                        <a:pt x="88" y="919"/>
                      </a:lnTo>
                      <a:lnTo>
                        <a:pt x="78" y="940"/>
                      </a:lnTo>
                      <a:lnTo>
                        <a:pt x="69" y="960"/>
                      </a:lnTo>
                      <a:lnTo>
                        <a:pt x="60" y="980"/>
                      </a:lnTo>
                      <a:lnTo>
                        <a:pt x="60" y="1001"/>
                      </a:lnTo>
                      <a:lnTo>
                        <a:pt x="43" y="1062"/>
                      </a:lnTo>
                      <a:lnTo>
                        <a:pt x="33" y="1081"/>
                      </a:lnTo>
                      <a:lnTo>
                        <a:pt x="33" y="1102"/>
                      </a:lnTo>
                      <a:lnTo>
                        <a:pt x="33" y="1121"/>
                      </a:lnTo>
                      <a:lnTo>
                        <a:pt x="25" y="1182"/>
                      </a:lnTo>
                      <a:lnTo>
                        <a:pt x="25" y="1203"/>
                      </a:lnTo>
                      <a:lnTo>
                        <a:pt x="25" y="1223"/>
                      </a:lnTo>
                      <a:lnTo>
                        <a:pt x="25" y="1283"/>
                      </a:lnTo>
                      <a:lnTo>
                        <a:pt x="16" y="1304"/>
                      </a:lnTo>
                      <a:lnTo>
                        <a:pt x="7" y="1365"/>
                      </a:lnTo>
                      <a:lnTo>
                        <a:pt x="0" y="1424"/>
                      </a:lnTo>
                      <a:lnTo>
                        <a:pt x="0" y="1444"/>
                      </a:lnTo>
                      <a:lnTo>
                        <a:pt x="0" y="1465"/>
                      </a:lnTo>
                      <a:lnTo>
                        <a:pt x="0" y="1485"/>
                      </a:lnTo>
                      <a:lnTo>
                        <a:pt x="0" y="1506"/>
                      </a:lnTo>
                      <a:lnTo>
                        <a:pt x="0" y="1526"/>
                      </a:lnTo>
                      <a:lnTo>
                        <a:pt x="0" y="1546"/>
                      </a:lnTo>
                      <a:lnTo>
                        <a:pt x="0" y="1567"/>
                      </a:lnTo>
                      <a:lnTo>
                        <a:pt x="0" y="1587"/>
                      </a:lnTo>
                      <a:lnTo>
                        <a:pt x="0" y="1608"/>
                      </a:lnTo>
                      <a:lnTo>
                        <a:pt x="0" y="1628"/>
                      </a:lnTo>
                      <a:lnTo>
                        <a:pt x="0" y="1648"/>
                      </a:lnTo>
                      <a:lnTo>
                        <a:pt x="0" y="1669"/>
                      </a:lnTo>
                      <a:lnTo>
                        <a:pt x="0" y="1687"/>
                      </a:lnTo>
                      <a:lnTo>
                        <a:pt x="0" y="1708"/>
                      </a:lnTo>
                      <a:lnTo>
                        <a:pt x="0" y="1728"/>
                      </a:lnTo>
                      <a:lnTo>
                        <a:pt x="0" y="1748"/>
                      </a:lnTo>
                      <a:lnTo>
                        <a:pt x="0" y="1769"/>
                      </a:lnTo>
                      <a:lnTo>
                        <a:pt x="0" y="1789"/>
                      </a:lnTo>
                      <a:lnTo>
                        <a:pt x="0" y="1850"/>
                      </a:lnTo>
                      <a:lnTo>
                        <a:pt x="0" y="1871"/>
                      </a:lnTo>
                      <a:lnTo>
                        <a:pt x="0" y="1890"/>
                      </a:lnTo>
                      <a:lnTo>
                        <a:pt x="0" y="1912"/>
                      </a:lnTo>
                      <a:lnTo>
                        <a:pt x="0" y="1971"/>
                      </a:lnTo>
                      <a:lnTo>
                        <a:pt x="16" y="1991"/>
                      </a:lnTo>
                      <a:lnTo>
                        <a:pt x="16" y="2012"/>
                      </a:lnTo>
                      <a:lnTo>
                        <a:pt x="33" y="2012"/>
                      </a:lnTo>
                      <a:lnTo>
                        <a:pt x="33" y="2032"/>
                      </a:lnTo>
                      <a:lnTo>
                        <a:pt x="33" y="2051"/>
                      </a:lnTo>
                      <a:lnTo>
                        <a:pt x="52" y="2051"/>
                      </a:lnTo>
                      <a:lnTo>
                        <a:pt x="52" y="2073"/>
                      </a:lnTo>
                      <a:lnTo>
                        <a:pt x="69" y="2073"/>
                      </a:lnTo>
                      <a:lnTo>
                        <a:pt x="88" y="2092"/>
                      </a:lnTo>
                      <a:lnTo>
                        <a:pt x="105" y="2114"/>
                      </a:lnTo>
                      <a:lnTo>
                        <a:pt x="122" y="2114"/>
                      </a:lnTo>
                      <a:lnTo>
                        <a:pt x="140" y="2114"/>
                      </a:lnTo>
                      <a:lnTo>
                        <a:pt x="140" y="2133"/>
                      </a:lnTo>
                      <a:lnTo>
                        <a:pt x="193" y="2133"/>
                      </a:lnTo>
                      <a:lnTo>
                        <a:pt x="211" y="2133"/>
                      </a:lnTo>
                      <a:lnTo>
                        <a:pt x="263" y="2133"/>
                      </a:lnTo>
                      <a:lnTo>
                        <a:pt x="282" y="2133"/>
                      </a:lnTo>
                      <a:lnTo>
                        <a:pt x="282" y="2153"/>
                      </a:lnTo>
                      <a:lnTo>
                        <a:pt x="299" y="2153"/>
                      </a:lnTo>
                      <a:lnTo>
                        <a:pt x="299" y="2174"/>
                      </a:lnTo>
                      <a:lnTo>
                        <a:pt x="318" y="2174"/>
                      </a:lnTo>
                      <a:lnTo>
                        <a:pt x="318" y="2194"/>
                      </a:lnTo>
                      <a:lnTo>
                        <a:pt x="370" y="2194"/>
                      </a:lnTo>
                      <a:lnTo>
                        <a:pt x="370" y="2253"/>
                      </a:lnTo>
                      <a:lnTo>
                        <a:pt x="388" y="2253"/>
                      </a:lnTo>
                      <a:lnTo>
                        <a:pt x="388" y="2275"/>
                      </a:lnTo>
                      <a:lnTo>
                        <a:pt x="441" y="2275"/>
                      </a:lnTo>
                      <a:lnTo>
                        <a:pt x="495" y="2335"/>
                      </a:lnTo>
                      <a:lnTo>
                        <a:pt x="512" y="2335"/>
                      </a:lnTo>
                      <a:lnTo>
                        <a:pt x="529" y="2355"/>
                      </a:lnTo>
                      <a:lnTo>
                        <a:pt x="548" y="2355"/>
                      </a:lnTo>
                      <a:lnTo>
                        <a:pt x="600" y="2355"/>
                      </a:lnTo>
                      <a:lnTo>
                        <a:pt x="618" y="2355"/>
                      </a:lnTo>
                      <a:lnTo>
                        <a:pt x="636" y="2355"/>
                      </a:lnTo>
                      <a:lnTo>
                        <a:pt x="653" y="2355"/>
                      </a:lnTo>
                      <a:lnTo>
                        <a:pt x="672" y="2355"/>
                      </a:lnTo>
                      <a:lnTo>
                        <a:pt x="689" y="2355"/>
                      </a:lnTo>
                      <a:lnTo>
                        <a:pt x="706" y="2355"/>
                      </a:lnTo>
                      <a:lnTo>
                        <a:pt x="725" y="2355"/>
                      </a:lnTo>
                      <a:lnTo>
                        <a:pt x="742" y="2355"/>
                      </a:lnTo>
                      <a:lnTo>
                        <a:pt x="760" y="2355"/>
                      </a:lnTo>
                      <a:lnTo>
                        <a:pt x="760" y="2376"/>
                      </a:lnTo>
                      <a:lnTo>
                        <a:pt x="813" y="2376"/>
                      </a:lnTo>
                      <a:lnTo>
                        <a:pt x="866" y="2376"/>
                      </a:lnTo>
                      <a:lnTo>
                        <a:pt x="883" y="2376"/>
                      </a:lnTo>
                      <a:lnTo>
                        <a:pt x="938" y="2376"/>
                      </a:lnTo>
                      <a:lnTo>
                        <a:pt x="955" y="2396"/>
                      </a:lnTo>
                      <a:lnTo>
                        <a:pt x="1008" y="2396"/>
                      </a:lnTo>
                      <a:lnTo>
                        <a:pt x="1025" y="2396"/>
                      </a:lnTo>
                      <a:lnTo>
                        <a:pt x="1043" y="2396"/>
                      </a:lnTo>
                      <a:lnTo>
                        <a:pt x="1061" y="2396"/>
                      </a:lnTo>
                      <a:lnTo>
                        <a:pt x="1079" y="2417"/>
                      </a:lnTo>
                      <a:lnTo>
                        <a:pt x="1096" y="2417"/>
                      </a:lnTo>
                      <a:lnTo>
                        <a:pt x="1149" y="2417"/>
                      </a:lnTo>
                      <a:lnTo>
                        <a:pt x="1168" y="2437"/>
                      </a:lnTo>
                      <a:lnTo>
                        <a:pt x="1185" y="2437"/>
                      </a:lnTo>
                      <a:lnTo>
                        <a:pt x="1202" y="2437"/>
                      </a:lnTo>
                      <a:lnTo>
                        <a:pt x="1220" y="2437"/>
                      </a:lnTo>
                      <a:lnTo>
                        <a:pt x="1273" y="2437"/>
                      </a:lnTo>
                      <a:lnTo>
                        <a:pt x="1291" y="2437"/>
                      </a:lnTo>
                      <a:lnTo>
                        <a:pt x="1309" y="2457"/>
                      </a:lnTo>
                      <a:lnTo>
                        <a:pt x="1326" y="2457"/>
                      </a:lnTo>
                      <a:lnTo>
                        <a:pt x="1345" y="2457"/>
                      </a:lnTo>
                      <a:lnTo>
                        <a:pt x="1362" y="2457"/>
                      </a:lnTo>
                      <a:lnTo>
                        <a:pt x="1379" y="2457"/>
                      </a:lnTo>
                      <a:lnTo>
                        <a:pt x="1398" y="2457"/>
                      </a:lnTo>
                      <a:lnTo>
                        <a:pt x="1415" y="2457"/>
                      </a:lnTo>
                      <a:lnTo>
                        <a:pt x="1433" y="2457"/>
                      </a:lnTo>
                      <a:lnTo>
                        <a:pt x="1433" y="2478"/>
                      </a:lnTo>
                      <a:lnTo>
                        <a:pt x="1450" y="2478"/>
                      </a:lnTo>
                      <a:lnTo>
                        <a:pt x="1468" y="2478"/>
                      </a:lnTo>
                      <a:lnTo>
                        <a:pt x="1522" y="2478"/>
                      </a:lnTo>
                      <a:lnTo>
                        <a:pt x="1539" y="2478"/>
                      </a:lnTo>
                      <a:lnTo>
                        <a:pt x="1556" y="2478"/>
                      </a:lnTo>
                      <a:lnTo>
                        <a:pt x="1610" y="2478"/>
                      </a:lnTo>
                      <a:lnTo>
                        <a:pt x="1628" y="2478"/>
                      </a:lnTo>
                      <a:lnTo>
                        <a:pt x="1680" y="2478"/>
                      </a:lnTo>
                      <a:lnTo>
                        <a:pt x="1699" y="2478"/>
                      </a:lnTo>
                      <a:lnTo>
                        <a:pt x="1716" y="2478"/>
                      </a:lnTo>
                      <a:lnTo>
                        <a:pt x="1769" y="2478"/>
                      </a:lnTo>
                      <a:lnTo>
                        <a:pt x="1788" y="2478"/>
                      </a:lnTo>
                      <a:lnTo>
                        <a:pt x="1805" y="2478"/>
                      </a:lnTo>
                      <a:lnTo>
                        <a:pt x="1822" y="2478"/>
                      </a:lnTo>
                      <a:lnTo>
                        <a:pt x="1875" y="2478"/>
                      </a:lnTo>
                      <a:lnTo>
                        <a:pt x="1929" y="2478"/>
                      </a:lnTo>
                      <a:lnTo>
                        <a:pt x="1982" y="2478"/>
                      </a:lnTo>
                      <a:lnTo>
                        <a:pt x="1998" y="2478"/>
                      </a:lnTo>
                      <a:lnTo>
                        <a:pt x="2016" y="2478"/>
                      </a:lnTo>
                      <a:lnTo>
                        <a:pt x="2069" y="2478"/>
                      </a:lnTo>
                      <a:lnTo>
                        <a:pt x="2086" y="2478"/>
                      </a:lnTo>
                      <a:lnTo>
                        <a:pt x="2105" y="2478"/>
                      </a:lnTo>
                      <a:lnTo>
                        <a:pt x="2158" y="2478"/>
                      </a:lnTo>
                      <a:lnTo>
                        <a:pt x="2175" y="2478"/>
                      </a:lnTo>
                      <a:lnTo>
                        <a:pt x="2228" y="2498"/>
                      </a:lnTo>
                      <a:lnTo>
                        <a:pt x="2246" y="2498"/>
                      </a:lnTo>
                      <a:lnTo>
                        <a:pt x="2316" y="2498"/>
                      </a:lnTo>
                      <a:lnTo>
                        <a:pt x="2370" y="2498"/>
                      </a:lnTo>
                      <a:lnTo>
                        <a:pt x="2388" y="2498"/>
                      </a:lnTo>
                      <a:lnTo>
                        <a:pt x="2405" y="2498"/>
                      </a:lnTo>
                      <a:lnTo>
                        <a:pt x="2423" y="2498"/>
                      </a:lnTo>
                      <a:lnTo>
                        <a:pt x="2476" y="2498"/>
                      </a:lnTo>
                      <a:lnTo>
                        <a:pt x="2493" y="2498"/>
                      </a:lnTo>
                      <a:lnTo>
                        <a:pt x="2512" y="2498"/>
                      </a:lnTo>
                      <a:lnTo>
                        <a:pt x="2529" y="2498"/>
                      </a:lnTo>
                      <a:lnTo>
                        <a:pt x="2548" y="2498"/>
                      </a:lnTo>
                      <a:lnTo>
                        <a:pt x="2565" y="2498"/>
                      </a:lnTo>
                      <a:lnTo>
                        <a:pt x="2618" y="2498"/>
                      </a:lnTo>
                      <a:lnTo>
                        <a:pt x="2636" y="2498"/>
                      </a:lnTo>
                      <a:lnTo>
                        <a:pt x="2689" y="2498"/>
                      </a:lnTo>
                      <a:lnTo>
                        <a:pt x="2706" y="2498"/>
                      </a:lnTo>
                      <a:lnTo>
                        <a:pt x="2725" y="2498"/>
                      </a:lnTo>
                      <a:lnTo>
                        <a:pt x="2742" y="2498"/>
                      </a:lnTo>
                      <a:lnTo>
                        <a:pt x="2759" y="2498"/>
                      </a:lnTo>
                      <a:lnTo>
                        <a:pt x="2812" y="2498"/>
                      </a:lnTo>
                      <a:lnTo>
                        <a:pt x="2830" y="2498"/>
                      </a:lnTo>
                      <a:lnTo>
                        <a:pt x="2848" y="2498"/>
                      </a:lnTo>
                      <a:lnTo>
                        <a:pt x="2866" y="2498"/>
                      </a:lnTo>
                      <a:lnTo>
                        <a:pt x="2883" y="2498"/>
                      </a:lnTo>
                      <a:lnTo>
                        <a:pt x="2901" y="2498"/>
                      </a:lnTo>
                      <a:lnTo>
                        <a:pt x="2919" y="2498"/>
                      </a:lnTo>
                      <a:lnTo>
                        <a:pt x="2972" y="2498"/>
                      </a:lnTo>
                      <a:lnTo>
                        <a:pt x="2989" y="2498"/>
                      </a:lnTo>
                      <a:lnTo>
                        <a:pt x="3008" y="2498"/>
                      </a:lnTo>
                      <a:lnTo>
                        <a:pt x="3025" y="2498"/>
                      </a:lnTo>
                      <a:lnTo>
                        <a:pt x="3078" y="2498"/>
                      </a:lnTo>
                      <a:lnTo>
                        <a:pt x="3078" y="2517"/>
                      </a:lnTo>
                      <a:lnTo>
                        <a:pt x="3096" y="2517"/>
                      </a:lnTo>
                      <a:lnTo>
                        <a:pt x="3149" y="2517"/>
                      </a:lnTo>
                      <a:lnTo>
                        <a:pt x="3166" y="2517"/>
                      </a:lnTo>
                      <a:lnTo>
                        <a:pt x="3185" y="2517"/>
                      </a:lnTo>
                      <a:lnTo>
                        <a:pt x="3238" y="2517"/>
                      </a:lnTo>
                      <a:lnTo>
                        <a:pt x="3290" y="2517"/>
                      </a:lnTo>
                      <a:lnTo>
                        <a:pt x="3309" y="2517"/>
                      </a:lnTo>
                      <a:lnTo>
                        <a:pt x="3326" y="2517"/>
                      </a:lnTo>
                      <a:lnTo>
                        <a:pt x="3343" y="2517"/>
                      </a:lnTo>
                      <a:lnTo>
                        <a:pt x="3362" y="2517"/>
                      </a:lnTo>
                      <a:lnTo>
                        <a:pt x="3379" y="2508"/>
                      </a:lnTo>
                      <a:lnTo>
                        <a:pt x="3398" y="2508"/>
                      </a:lnTo>
                      <a:lnTo>
                        <a:pt x="3415" y="2498"/>
                      </a:lnTo>
                      <a:lnTo>
                        <a:pt x="3432" y="2498"/>
                      </a:lnTo>
                      <a:lnTo>
                        <a:pt x="3450" y="2487"/>
                      </a:lnTo>
                      <a:lnTo>
                        <a:pt x="3468" y="2487"/>
                      </a:lnTo>
                      <a:lnTo>
                        <a:pt x="3520" y="2487"/>
                      </a:lnTo>
                      <a:lnTo>
                        <a:pt x="3575" y="2478"/>
                      </a:lnTo>
                      <a:lnTo>
                        <a:pt x="3592" y="2478"/>
                      </a:lnTo>
                      <a:lnTo>
                        <a:pt x="3609" y="2478"/>
                      </a:lnTo>
                      <a:lnTo>
                        <a:pt x="3628" y="2467"/>
                      </a:lnTo>
                      <a:lnTo>
                        <a:pt x="3645" y="2467"/>
                      </a:lnTo>
                      <a:lnTo>
                        <a:pt x="3662" y="2467"/>
                      </a:lnTo>
                      <a:lnTo>
                        <a:pt x="3716" y="2457"/>
                      </a:lnTo>
                      <a:lnTo>
                        <a:pt x="3733" y="2447"/>
                      </a:lnTo>
                      <a:lnTo>
                        <a:pt x="3750" y="2447"/>
                      </a:lnTo>
                      <a:lnTo>
                        <a:pt x="3769" y="2437"/>
                      </a:lnTo>
                      <a:lnTo>
                        <a:pt x="3786" y="2426"/>
                      </a:lnTo>
                      <a:lnTo>
                        <a:pt x="3839" y="2417"/>
                      </a:lnTo>
                      <a:lnTo>
                        <a:pt x="3893" y="2407"/>
                      </a:lnTo>
                      <a:lnTo>
                        <a:pt x="3910" y="2385"/>
                      </a:lnTo>
                      <a:lnTo>
                        <a:pt x="3928" y="2376"/>
                      </a:lnTo>
                      <a:lnTo>
                        <a:pt x="3937" y="2355"/>
                      </a:lnTo>
                      <a:lnTo>
                        <a:pt x="3955" y="2346"/>
                      </a:lnTo>
                      <a:lnTo>
                        <a:pt x="3955" y="2325"/>
                      </a:lnTo>
                      <a:lnTo>
                        <a:pt x="3973" y="2315"/>
                      </a:lnTo>
                      <a:lnTo>
                        <a:pt x="3973" y="2294"/>
                      </a:lnTo>
                      <a:lnTo>
                        <a:pt x="3990" y="2284"/>
                      </a:lnTo>
                      <a:lnTo>
                        <a:pt x="4007" y="2264"/>
                      </a:lnTo>
                      <a:lnTo>
                        <a:pt x="4024" y="2244"/>
                      </a:lnTo>
                      <a:lnTo>
                        <a:pt x="4024" y="2224"/>
                      </a:lnTo>
                      <a:lnTo>
                        <a:pt x="4043" y="2215"/>
                      </a:lnTo>
                      <a:lnTo>
                        <a:pt x="4043" y="2194"/>
                      </a:lnTo>
                      <a:lnTo>
                        <a:pt x="4060" y="2183"/>
                      </a:lnTo>
                      <a:lnTo>
                        <a:pt x="4060" y="2164"/>
                      </a:lnTo>
                      <a:lnTo>
                        <a:pt x="4077" y="2144"/>
                      </a:lnTo>
                      <a:lnTo>
                        <a:pt x="4077" y="2123"/>
                      </a:lnTo>
                      <a:lnTo>
                        <a:pt x="4077" y="2103"/>
                      </a:lnTo>
                      <a:lnTo>
                        <a:pt x="4077" y="2082"/>
                      </a:lnTo>
                      <a:lnTo>
                        <a:pt x="4077" y="2062"/>
                      </a:lnTo>
                      <a:lnTo>
                        <a:pt x="4095" y="2051"/>
                      </a:lnTo>
                      <a:lnTo>
                        <a:pt x="4095" y="2032"/>
                      </a:lnTo>
                      <a:lnTo>
                        <a:pt x="4113" y="2021"/>
                      </a:lnTo>
                      <a:lnTo>
                        <a:pt x="4131" y="2021"/>
                      </a:lnTo>
                      <a:lnTo>
                        <a:pt x="4148" y="2021"/>
                      </a:lnTo>
                      <a:lnTo>
                        <a:pt x="4166" y="1962"/>
                      </a:lnTo>
                      <a:lnTo>
                        <a:pt x="4218" y="1942"/>
                      </a:lnTo>
                      <a:lnTo>
                        <a:pt x="4218" y="1921"/>
                      </a:lnTo>
                      <a:lnTo>
                        <a:pt x="4218" y="1901"/>
                      </a:lnTo>
                      <a:lnTo>
                        <a:pt x="4218" y="1880"/>
                      </a:lnTo>
                      <a:lnTo>
                        <a:pt x="4210" y="1860"/>
                      </a:lnTo>
                      <a:lnTo>
                        <a:pt x="4210" y="1840"/>
                      </a:lnTo>
                      <a:lnTo>
                        <a:pt x="4201" y="1769"/>
                      </a:lnTo>
                      <a:lnTo>
                        <a:pt x="4192" y="1698"/>
                      </a:lnTo>
                      <a:lnTo>
                        <a:pt x="4192" y="1638"/>
                      </a:lnTo>
                      <a:lnTo>
                        <a:pt x="4184" y="1567"/>
                      </a:lnTo>
                      <a:lnTo>
                        <a:pt x="4184" y="1506"/>
                      </a:lnTo>
                      <a:lnTo>
                        <a:pt x="4175" y="1435"/>
                      </a:lnTo>
                      <a:lnTo>
                        <a:pt x="4175" y="1355"/>
                      </a:lnTo>
                      <a:lnTo>
                        <a:pt x="4166" y="1294"/>
                      </a:lnTo>
                      <a:lnTo>
                        <a:pt x="4166" y="1212"/>
                      </a:lnTo>
                      <a:lnTo>
                        <a:pt x="4158" y="1141"/>
                      </a:lnTo>
                      <a:lnTo>
                        <a:pt x="4158" y="1121"/>
                      </a:lnTo>
                      <a:lnTo>
                        <a:pt x="4148" y="1102"/>
                      </a:lnTo>
                      <a:lnTo>
                        <a:pt x="4148" y="1081"/>
                      </a:lnTo>
                      <a:lnTo>
                        <a:pt x="4139" y="1062"/>
                      </a:lnTo>
                      <a:lnTo>
                        <a:pt x="4131" y="1040"/>
                      </a:lnTo>
                      <a:lnTo>
                        <a:pt x="4122" y="1021"/>
                      </a:lnTo>
                      <a:lnTo>
                        <a:pt x="4122" y="1001"/>
                      </a:lnTo>
                      <a:lnTo>
                        <a:pt x="4113" y="980"/>
                      </a:lnTo>
                      <a:lnTo>
                        <a:pt x="4103" y="908"/>
                      </a:lnTo>
                      <a:lnTo>
                        <a:pt x="4095" y="889"/>
                      </a:lnTo>
                      <a:lnTo>
                        <a:pt x="4086" y="869"/>
                      </a:lnTo>
                      <a:lnTo>
                        <a:pt x="4077" y="848"/>
                      </a:lnTo>
                      <a:lnTo>
                        <a:pt x="4069" y="829"/>
                      </a:lnTo>
                      <a:lnTo>
                        <a:pt x="4051" y="808"/>
                      </a:lnTo>
                      <a:lnTo>
                        <a:pt x="4043" y="788"/>
                      </a:lnTo>
                      <a:lnTo>
                        <a:pt x="4033" y="768"/>
                      </a:lnTo>
                      <a:lnTo>
                        <a:pt x="4015" y="747"/>
                      </a:lnTo>
                      <a:lnTo>
                        <a:pt x="4007" y="728"/>
                      </a:lnTo>
                      <a:lnTo>
                        <a:pt x="3990" y="717"/>
                      </a:lnTo>
                      <a:lnTo>
                        <a:pt x="3982" y="697"/>
                      </a:lnTo>
                      <a:lnTo>
                        <a:pt x="3963" y="676"/>
                      </a:lnTo>
                      <a:lnTo>
                        <a:pt x="3955" y="656"/>
                      </a:lnTo>
                      <a:lnTo>
                        <a:pt x="3937" y="636"/>
                      </a:lnTo>
                      <a:lnTo>
                        <a:pt x="3920" y="615"/>
                      </a:lnTo>
                      <a:lnTo>
                        <a:pt x="3901" y="596"/>
                      </a:lnTo>
                      <a:lnTo>
                        <a:pt x="3893" y="574"/>
                      </a:lnTo>
                      <a:lnTo>
                        <a:pt x="3875" y="565"/>
                      </a:lnTo>
                      <a:lnTo>
                        <a:pt x="3858" y="556"/>
                      </a:lnTo>
                      <a:lnTo>
                        <a:pt x="3848" y="536"/>
                      </a:lnTo>
                      <a:lnTo>
                        <a:pt x="3831" y="526"/>
                      </a:lnTo>
                      <a:lnTo>
                        <a:pt x="3822" y="504"/>
                      </a:lnTo>
                      <a:lnTo>
                        <a:pt x="3805" y="495"/>
                      </a:lnTo>
                      <a:lnTo>
                        <a:pt x="3786" y="474"/>
                      </a:lnTo>
                      <a:lnTo>
                        <a:pt x="3769" y="454"/>
                      </a:lnTo>
                      <a:lnTo>
                        <a:pt x="3750" y="435"/>
                      </a:lnTo>
                      <a:lnTo>
                        <a:pt x="3733" y="424"/>
                      </a:lnTo>
                      <a:lnTo>
                        <a:pt x="3724" y="403"/>
                      </a:lnTo>
                      <a:lnTo>
                        <a:pt x="3707" y="394"/>
                      </a:lnTo>
                      <a:lnTo>
                        <a:pt x="3690" y="383"/>
                      </a:lnTo>
                      <a:lnTo>
                        <a:pt x="3671" y="363"/>
                      </a:lnTo>
                      <a:lnTo>
                        <a:pt x="3654" y="353"/>
                      </a:lnTo>
                      <a:lnTo>
                        <a:pt x="3635" y="342"/>
                      </a:lnTo>
                      <a:lnTo>
                        <a:pt x="3618" y="333"/>
                      </a:lnTo>
                      <a:lnTo>
                        <a:pt x="3601" y="333"/>
                      </a:lnTo>
                      <a:lnTo>
                        <a:pt x="3583" y="322"/>
                      </a:lnTo>
                      <a:lnTo>
                        <a:pt x="3520" y="312"/>
                      </a:lnTo>
                      <a:lnTo>
                        <a:pt x="3503" y="301"/>
                      </a:lnTo>
                      <a:lnTo>
                        <a:pt x="3486" y="292"/>
                      </a:lnTo>
                      <a:lnTo>
                        <a:pt x="3468" y="281"/>
                      </a:lnTo>
                      <a:lnTo>
                        <a:pt x="3450" y="272"/>
                      </a:lnTo>
                      <a:lnTo>
                        <a:pt x="3432" y="252"/>
                      </a:lnTo>
                      <a:lnTo>
                        <a:pt x="3415" y="252"/>
                      </a:lnTo>
                      <a:lnTo>
                        <a:pt x="3398" y="233"/>
                      </a:lnTo>
                      <a:lnTo>
                        <a:pt x="3379" y="222"/>
                      </a:lnTo>
                      <a:lnTo>
                        <a:pt x="3362" y="211"/>
                      </a:lnTo>
                      <a:lnTo>
                        <a:pt x="3343" y="201"/>
                      </a:lnTo>
                      <a:lnTo>
                        <a:pt x="3326" y="192"/>
                      </a:lnTo>
                      <a:lnTo>
                        <a:pt x="3309" y="192"/>
                      </a:lnTo>
                      <a:lnTo>
                        <a:pt x="3290" y="181"/>
                      </a:lnTo>
                      <a:lnTo>
                        <a:pt x="3273" y="171"/>
                      </a:lnTo>
                      <a:lnTo>
                        <a:pt x="3220" y="171"/>
                      </a:lnTo>
                      <a:lnTo>
                        <a:pt x="3202" y="161"/>
                      </a:lnTo>
                      <a:lnTo>
                        <a:pt x="3185" y="161"/>
                      </a:lnTo>
                      <a:lnTo>
                        <a:pt x="3166" y="151"/>
                      </a:lnTo>
                      <a:lnTo>
                        <a:pt x="3149" y="140"/>
                      </a:lnTo>
                      <a:lnTo>
                        <a:pt x="3132" y="131"/>
                      </a:lnTo>
                      <a:lnTo>
                        <a:pt x="3113" y="120"/>
                      </a:lnTo>
                      <a:lnTo>
                        <a:pt x="3096" y="110"/>
                      </a:lnTo>
                      <a:lnTo>
                        <a:pt x="3078" y="101"/>
                      </a:lnTo>
                      <a:lnTo>
                        <a:pt x="3060" y="90"/>
                      </a:lnTo>
                      <a:lnTo>
                        <a:pt x="3043" y="90"/>
                      </a:lnTo>
                      <a:lnTo>
                        <a:pt x="3025" y="79"/>
                      </a:lnTo>
                      <a:lnTo>
                        <a:pt x="3008" y="79"/>
                      </a:lnTo>
                      <a:lnTo>
                        <a:pt x="2955" y="79"/>
                      </a:lnTo>
                      <a:lnTo>
                        <a:pt x="2893" y="79"/>
                      </a:lnTo>
                      <a:lnTo>
                        <a:pt x="2874" y="79"/>
                      </a:lnTo>
                      <a:lnTo>
                        <a:pt x="2857" y="69"/>
                      </a:lnTo>
                      <a:lnTo>
                        <a:pt x="2840" y="69"/>
                      </a:lnTo>
                      <a:lnTo>
                        <a:pt x="2821" y="60"/>
                      </a:lnTo>
                      <a:lnTo>
                        <a:pt x="2804" y="60"/>
                      </a:lnTo>
                      <a:lnTo>
                        <a:pt x="2786" y="49"/>
                      </a:lnTo>
                      <a:lnTo>
                        <a:pt x="2768" y="49"/>
                      </a:lnTo>
                      <a:lnTo>
                        <a:pt x="2751" y="49"/>
                      </a:lnTo>
                      <a:lnTo>
                        <a:pt x="2733" y="39"/>
                      </a:lnTo>
                      <a:lnTo>
                        <a:pt x="2715" y="29"/>
                      </a:lnTo>
                      <a:lnTo>
                        <a:pt x="2697" y="29"/>
                      </a:lnTo>
                      <a:lnTo>
                        <a:pt x="2680" y="19"/>
                      </a:lnTo>
                      <a:lnTo>
                        <a:pt x="2663" y="19"/>
                      </a:lnTo>
                      <a:lnTo>
                        <a:pt x="2644" y="19"/>
                      </a:lnTo>
                      <a:lnTo>
                        <a:pt x="2627" y="8"/>
                      </a:lnTo>
                      <a:lnTo>
                        <a:pt x="2608" y="8"/>
                      </a:lnTo>
                      <a:lnTo>
                        <a:pt x="2591" y="8"/>
                      </a:lnTo>
                      <a:lnTo>
                        <a:pt x="2574" y="8"/>
                      </a:lnTo>
                      <a:lnTo>
                        <a:pt x="2556" y="8"/>
                      </a:lnTo>
                      <a:lnTo>
                        <a:pt x="2538" y="8"/>
                      </a:lnTo>
                      <a:lnTo>
                        <a:pt x="2520" y="8"/>
                      </a:lnTo>
                      <a:lnTo>
                        <a:pt x="2503" y="8"/>
                      </a:lnTo>
                      <a:lnTo>
                        <a:pt x="2485" y="8"/>
                      </a:lnTo>
                      <a:lnTo>
                        <a:pt x="2467" y="8"/>
                      </a:lnTo>
                      <a:lnTo>
                        <a:pt x="2450" y="8"/>
                      </a:lnTo>
                      <a:lnTo>
                        <a:pt x="2431" y="8"/>
                      </a:lnTo>
                      <a:lnTo>
                        <a:pt x="2414" y="8"/>
                      </a:lnTo>
                      <a:lnTo>
                        <a:pt x="2397" y="8"/>
                      </a:lnTo>
                      <a:lnTo>
                        <a:pt x="2378" y="8"/>
                      </a:lnTo>
                      <a:lnTo>
                        <a:pt x="2361" y="8"/>
                      </a:lnTo>
                      <a:lnTo>
                        <a:pt x="2344" y="0"/>
                      </a:lnTo>
                      <a:lnTo>
                        <a:pt x="2326" y="0"/>
                      </a:lnTo>
                      <a:lnTo>
                        <a:pt x="2308" y="0"/>
                      </a:lnTo>
                      <a:lnTo>
                        <a:pt x="2290" y="0"/>
                      </a:lnTo>
                      <a:lnTo>
                        <a:pt x="2273" y="0"/>
                      </a:lnTo>
                      <a:lnTo>
                        <a:pt x="2255" y="0"/>
                      </a:lnTo>
                      <a:lnTo>
                        <a:pt x="2237" y="0"/>
                      </a:lnTo>
                      <a:lnTo>
                        <a:pt x="2220" y="0"/>
                      </a:lnTo>
                      <a:lnTo>
                        <a:pt x="2201" y="0"/>
                      </a:lnTo>
                      <a:lnTo>
                        <a:pt x="2184" y="0"/>
                      </a:lnTo>
                      <a:lnTo>
                        <a:pt x="2167" y="0"/>
                      </a:lnTo>
                      <a:lnTo>
                        <a:pt x="2148" y="0"/>
                      </a:lnTo>
                      <a:lnTo>
                        <a:pt x="2131" y="0"/>
                      </a:lnTo>
                      <a:lnTo>
                        <a:pt x="2113" y="0"/>
                      </a:lnTo>
                      <a:lnTo>
                        <a:pt x="2096" y="0"/>
                      </a:lnTo>
                      <a:lnTo>
                        <a:pt x="2096" y="8"/>
                      </a:lnTo>
                      <a:close/>
                    </a:path>
                  </a:pathLst>
                </a:custGeom>
                <a:solidFill>
                  <a:srgbClr val="9999FF"/>
                </a:solidFill>
                <a:ln w="0">
                  <a:solidFill>
                    <a:srgbClr val="000000"/>
                  </a:solidFill>
                  <a:round/>
                </a:ln>
              </p:spPr>
              <p:txBody>
                <a:bodyPr lIns="112503" tIns="56252" rIns="112503" bIns="56252"/>
                <a:lstStyle/>
                <a:p>
                  <a:endParaRPr lang="zh-CN" altLang="en-US" sz="100"/>
                </a:p>
              </p:txBody>
            </p:sp>
            <p:sp>
              <p:nvSpPr>
                <p:cNvPr id="32855" name="Freeform 6"/>
                <p:cNvSpPr/>
                <p:nvPr/>
              </p:nvSpPr>
              <p:spPr bwMode="auto">
                <a:xfrm>
                  <a:off x="880" y="1365"/>
                  <a:ext cx="4218" cy="2517"/>
                </a:xfrm>
                <a:custGeom>
                  <a:avLst/>
                  <a:gdLst>
                    <a:gd name="T0" fmla="*/ 1653 w 4218"/>
                    <a:gd name="T1" fmla="*/ 48 h 2517"/>
                    <a:gd name="T2" fmla="*/ 1538 w 4218"/>
                    <a:gd name="T3" fmla="*/ 68 h 2517"/>
                    <a:gd name="T4" fmla="*/ 1335 w 4218"/>
                    <a:gd name="T5" fmla="*/ 68 h 2517"/>
                    <a:gd name="T6" fmla="*/ 1033 w 4218"/>
                    <a:gd name="T7" fmla="*/ 29 h 2517"/>
                    <a:gd name="T8" fmla="*/ 909 w 4218"/>
                    <a:gd name="T9" fmla="*/ 68 h 2517"/>
                    <a:gd name="T10" fmla="*/ 741 w 4218"/>
                    <a:gd name="T11" fmla="*/ 130 h 2517"/>
                    <a:gd name="T12" fmla="*/ 564 w 4218"/>
                    <a:gd name="T13" fmla="*/ 252 h 2517"/>
                    <a:gd name="T14" fmla="*/ 449 w 4218"/>
                    <a:gd name="T15" fmla="*/ 332 h 2517"/>
                    <a:gd name="T16" fmla="*/ 351 w 4218"/>
                    <a:gd name="T17" fmla="*/ 393 h 2517"/>
                    <a:gd name="T18" fmla="*/ 263 w 4218"/>
                    <a:gd name="T19" fmla="*/ 454 h 2517"/>
                    <a:gd name="T20" fmla="*/ 193 w 4218"/>
                    <a:gd name="T21" fmla="*/ 636 h 2517"/>
                    <a:gd name="T22" fmla="*/ 121 w 4218"/>
                    <a:gd name="T23" fmla="*/ 777 h 2517"/>
                    <a:gd name="T24" fmla="*/ 68 w 4218"/>
                    <a:gd name="T25" fmla="*/ 959 h 2517"/>
                    <a:gd name="T26" fmla="*/ 25 w 4218"/>
                    <a:gd name="T27" fmla="*/ 1181 h 2517"/>
                    <a:gd name="T28" fmla="*/ 0 w 4218"/>
                    <a:gd name="T29" fmla="*/ 1444 h 2517"/>
                    <a:gd name="T30" fmla="*/ 0 w 4218"/>
                    <a:gd name="T31" fmla="*/ 1586 h 2517"/>
                    <a:gd name="T32" fmla="*/ 0 w 4218"/>
                    <a:gd name="T33" fmla="*/ 1727 h 2517"/>
                    <a:gd name="T34" fmla="*/ 0 w 4218"/>
                    <a:gd name="T35" fmla="*/ 1911 h 2517"/>
                    <a:gd name="T36" fmla="*/ 51 w 4218"/>
                    <a:gd name="T37" fmla="*/ 2051 h 2517"/>
                    <a:gd name="T38" fmla="*/ 140 w 4218"/>
                    <a:gd name="T39" fmla="*/ 2133 h 2517"/>
                    <a:gd name="T40" fmla="*/ 298 w 4218"/>
                    <a:gd name="T41" fmla="*/ 2174 h 2517"/>
                    <a:gd name="T42" fmla="*/ 440 w 4218"/>
                    <a:gd name="T43" fmla="*/ 2274 h 2517"/>
                    <a:gd name="T44" fmla="*/ 635 w 4218"/>
                    <a:gd name="T45" fmla="*/ 2354 h 2517"/>
                    <a:gd name="T46" fmla="*/ 760 w 4218"/>
                    <a:gd name="T47" fmla="*/ 2354 h 2517"/>
                    <a:gd name="T48" fmla="*/ 1007 w 4218"/>
                    <a:gd name="T49" fmla="*/ 2395 h 2517"/>
                    <a:gd name="T50" fmla="*/ 1167 w 4218"/>
                    <a:gd name="T51" fmla="*/ 2436 h 2517"/>
                    <a:gd name="T52" fmla="*/ 1325 w 4218"/>
                    <a:gd name="T53" fmla="*/ 2456 h 2517"/>
                    <a:gd name="T54" fmla="*/ 1432 w 4218"/>
                    <a:gd name="T55" fmla="*/ 2477 h 2517"/>
                    <a:gd name="T56" fmla="*/ 1627 w 4218"/>
                    <a:gd name="T57" fmla="*/ 2477 h 2517"/>
                    <a:gd name="T58" fmla="*/ 1821 w 4218"/>
                    <a:gd name="T59" fmla="*/ 2477 h 2517"/>
                    <a:gd name="T60" fmla="*/ 2085 w 4218"/>
                    <a:gd name="T61" fmla="*/ 2477 h 2517"/>
                    <a:gd name="T62" fmla="*/ 2370 w 4218"/>
                    <a:gd name="T63" fmla="*/ 2497 h 2517"/>
                    <a:gd name="T64" fmla="*/ 2528 w 4218"/>
                    <a:gd name="T65" fmla="*/ 2497 h 2517"/>
                    <a:gd name="T66" fmla="*/ 2724 w 4218"/>
                    <a:gd name="T67" fmla="*/ 2497 h 2517"/>
                    <a:gd name="T68" fmla="*/ 2883 w 4218"/>
                    <a:gd name="T69" fmla="*/ 2497 h 2517"/>
                    <a:gd name="T70" fmla="*/ 3077 w 4218"/>
                    <a:gd name="T71" fmla="*/ 2497 h 2517"/>
                    <a:gd name="T72" fmla="*/ 3290 w 4218"/>
                    <a:gd name="T73" fmla="*/ 2517 h 2517"/>
                    <a:gd name="T74" fmla="*/ 3414 w 4218"/>
                    <a:gd name="T75" fmla="*/ 2497 h 2517"/>
                    <a:gd name="T76" fmla="*/ 3608 w 4218"/>
                    <a:gd name="T77" fmla="*/ 2477 h 2517"/>
                    <a:gd name="T78" fmla="*/ 3768 w 4218"/>
                    <a:gd name="T79" fmla="*/ 2436 h 2517"/>
                    <a:gd name="T80" fmla="*/ 3955 w 4218"/>
                    <a:gd name="T81" fmla="*/ 2345 h 2517"/>
                    <a:gd name="T82" fmla="*/ 4023 w 4218"/>
                    <a:gd name="T83" fmla="*/ 2224 h 2517"/>
                    <a:gd name="T84" fmla="*/ 4076 w 4218"/>
                    <a:gd name="T85" fmla="*/ 2102 h 2517"/>
                    <a:gd name="T86" fmla="*/ 4148 w 4218"/>
                    <a:gd name="T87" fmla="*/ 2020 h 2517"/>
                    <a:gd name="T88" fmla="*/ 4210 w 4218"/>
                    <a:gd name="T89" fmla="*/ 1840 h 2517"/>
                    <a:gd name="T90" fmla="*/ 4174 w 4218"/>
                    <a:gd name="T91" fmla="*/ 1354 h 2517"/>
                    <a:gd name="T92" fmla="*/ 4138 w 4218"/>
                    <a:gd name="T93" fmla="*/ 1061 h 2517"/>
                    <a:gd name="T94" fmla="*/ 4085 w 4218"/>
                    <a:gd name="T95" fmla="*/ 868 h 2517"/>
                    <a:gd name="T96" fmla="*/ 4006 w 4218"/>
                    <a:gd name="T97" fmla="*/ 727 h 2517"/>
                    <a:gd name="T98" fmla="*/ 3900 w 4218"/>
                    <a:gd name="T99" fmla="*/ 595 h 2517"/>
                    <a:gd name="T100" fmla="*/ 3804 w 4218"/>
                    <a:gd name="T101" fmla="*/ 495 h 2517"/>
                    <a:gd name="T102" fmla="*/ 3689 w 4218"/>
                    <a:gd name="T103" fmla="*/ 382 h 2517"/>
                    <a:gd name="T104" fmla="*/ 3520 w 4218"/>
                    <a:gd name="T105" fmla="*/ 311 h 2517"/>
                    <a:gd name="T106" fmla="*/ 3397 w 4218"/>
                    <a:gd name="T107" fmla="*/ 232 h 2517"/>
                    <a:gd name="T108" fmla="*/ 3273 w 4218"/>
                    <a:gd name="T109" fmla="*/ 170 h 2517"/>
                    <a:gd name="T110" fmla="*/ 3113 w 4218"/>
                    <a:gd name="T111" fmla="*/ 120 h 2517"/>
                    <a:gd name="T112" fmla="*/ 2954 w 4218"/>
                    <a:gd name="T113" fmla="*/ 79 h 2517"/>
                    <a:gd name="T114" fmla="*/ 2785 w 4218"/>
                    <a:gd name="T115" fmla="*/ 48 h 2517"/>
                    <a:gd name="T116" fmla="*/ 2662 w 4218"/>
                    <a:gd name="T117" fmla="*/ 18 h 2517"/>
                    <a:gd name="T118" fmla="*/ 2538 w 4218"/>
                    <a:gd name="T119" fmla="*/ 7 h 2517"/>
                    <a:gd name="T120" fmla="*/ 2413 w 4218"/>
                    <a:gd name="T121" fmla="*/ 7 h 2517"/>
                    <a:gd name="T122" fmla="*/ 2289 w 4218"/>
                    <a:gd name="T123" fmla="*/ 0 h 2517"/>
                    <a:gd name="T124" fmla="*/ 2166 w 4218"/>
                    <a:gd name="T125" fmla="*/ 0 h 251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218"/>
                    <a:gd name="T190" fmla="*/ 0 h 2517"/>
                    <a:gd name="T191" fmla="*/ 4218 w 4218"/>
                    <a:gd name="T192" fmla="*/ 2517 h 251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218" h="2517">
                      <a:moveTo>
                        <a:pt x="2095" y="7"/>
                      </a:moveTo>
                      <a:lnTo>
                        <a:pt x="1787" y="29"/>
                      </a:lnTo>
                      <a:lnTo>
                        <a:pt x="1725" y="29"/>
                      </a:lnTo>
                      <a:lnTo>
                        <a:pt x="1706" y="29"/>
                      </a:lnTo>
                      <a:lnTo>
                        <a:pt x="1689" y="29"/>
                      </a:lnTo>
                      <a:lnTo>
                        <a:pt x="1670" y="48"/>
                      </a:lnTo>
                      <a:lnTo>
                        <a:pt x="1653" y="48"/>
                      </a:lnTo>
                      <a:lnTo>
                        <a:pt x="1636" y="48"/>
                      </a:lnTo>
                      <a:lnTo>
                        <a:pt x="1627" y="68"/>
                      </a:lnTo>
                      <a:lnTo>
                        <a:pt x="1610" y="68"/>
                      </a:lnTo>
                      <a:lnTo>
                        <a:pt x="1591" y="68"/>
                      </a:lnTo>
                      <a:lnTo>
                        <a:pt x="1574" y="68"/>
                      </a:lnTo>
                      <a:lnTo>
                        <a:pt x="1555" y="68"/>
                      </a:lnTo>
                      <a:lnTo>
                        <a:pt x="1538" y="68"/>
                      </a:lnTo>
                      <a:lnTo>
                        <a:pt x="1485" y="68"/>
                      </a:lnTo>
                      <a:lnTo>
                        <a:pt x="1467" y="68"/>
                      </a:lnTo>
                      <a:lnTo>
                        <a:pt x="1450" y="68"/>
                      </a:lnTo>
                      <a:lnTo>
                        <a:pt x="1388" y="68"/>
                      </a:lnTo>
                      <a:lnTo>
                        <a:pt x="1370" y="68"/>
                      </a:lnTo>
                      <a:lnTo>
                        <a:pt x="1352" y="68"/>
                      </a:lnTo>
                      <a:lnTo>
                        <a:pt x="1335" y="68"/>
                      </a:lnTo>
                      <a:lnTo>
                        <a:pt x="1317" y="59"/>
                      </a:lnTo>
                      <a:lnTo>
                        <a:pt x="1299" y="48"/>
                      </a:lnTo>
                      <a:lnTo>
                        <a:pt x="1246" y="48"/>
                      </a:lnTo>
                      <a:lnTo>
                        <a:pt x="1184" y="38"/>
                      </a:lnTo>
                      <a:lnTo>
                        <a:pt x="1113" y="38"/>
                      </a:lnTo>
                      <a:lnTo>
                        <a:pt x="1052" y="29"/>
                      </a:lnTo>
                      <a:lnTo>
                        <a:pt x="1033" y="29"/>
                      </a:lnTo>
                      <a:lnTo>
                        <a:pt x="1016" y="29"/>
                      </a:lnTo>
                      <a:lnTo>
                        <a:pt x="998" y="29"/>
                      </a:lnTo>
                      <a:lnTo>
                        <a:pt x="980" y="29"/>
                      </a:lnTo>
                      <a:lnTo>
                        <a:pt x="963" y="29"/>
                      </a:lnTo>
                      <a:lnTo>
                        <a:pt x="945" y="48"/>
                      </a:lnTo>
                      <a:lnTo>
                        <a:pt x="928" y="48"/>
                      </a:lnTo>
                      <a:lnTo>
                        <a:pt x="909" y="68"/>
                      </a:lnTo>
                      <a:lnTo>
                        <a:pt x="892" y="68"/>
                      </a:lnTo>
                      <a:lnTo>
                        <a:pt x="875" y="89"/>
                      </a:lnTo>
                      <a:lnTo>
                        <a:pt x="856" y="89"/>
                      </a:lnTo>
                      <a:lnTo>
                        <a:pt x="856" y="109"/>
                      </a:lnTo>
                      <a:lnTo>
                        <a:pt x="803" y="109"/>
                      </a:lnTo>
                      <a:lnTo>
                        <a:pt x="794" y="130"/>
                      </a:lnTo>
                      <a:lnTo>
                        <a:pt x="741" y="130"/>
                      </a:lnTo>
                      <a:lnTo>
                        <a:pt x="724" y="130"/>
                      </a:lnTo>
                      <a:lnTo>
                        <a:pt x="671" y="150"/>
                      </a:lnTo>
                      <a:lnTo>
                        <a:pt x="653" y="150"/>
                      </a:lnTo>
                      <a:lnTo>
                        <a:pt x="643" y="170"/>
                      </a:lnTo>
                      <a:lnTo>
                        <a:pt x="626" y="191"/>
                      </a:lnTo>
                      <a:lnTo>
                        <a:pt x="573" y="191"/>
                      </a:lnTo>
                      <a:lnTo>
                        <a:pt x="564" y="252"/>
                      </a:lnTo>
                      <a:lnTo>
                        <a:pt x="511" y="252"/>
                      </a:lnTo>
                      <a:lnTo>
                        <a:pt x="502" y="271"/>
                      </a:lnTo>
                      <a:lnTo>
                        <a:pt x="494" y="291"/>
                      </a:lnTo>
                      <a:lnTo>
                        <a:pt x="485" y="311"/>
                      </a:lnTo>
                      <a:lnTo>
                        <a:pt x="468" y="311"/>
                      </a:lnTo>
                      <a:lnTo>
                        <a:pt x="468" y="332"/>
                      </a:lnTo>
                      <a:lnTo>
                        <a:pt x="449" y="332"/>
                      </a:lnTo>
                      <a:lnTo>
                        <a:pt x="432" y="352"/>
                      </a:lnTo>
                      <a:lnTo>
                        <a:pt x="413" y="352"/>
                      </a:lnTo>
                      <a:lnTo>
                        <a:pt x="413" y="372"/>
                      </a:lnTo>
                      <a:lnTo>
                        <a:pt x="396" y="372"/>
                      </a:lnTo>
                      <a:lnTo>
                        <a:pt x="379" y="372"/>
                      </a:lnTo>
                      <a:lnTo>
                        <a:pt x="370" y="393"/>
                      </a:lnTo>
                      <a:lnTo>
                        <a:pt x="351" y="393"/>
                      </a:lnTo>
                      <a:lnTo>
                        <a:pt x="343" y="413"/>
                      </a:lnTo>
                      <a:lnTo>
                        <a:pt x="334" y="434"/>
                      </a:lnTo>
                      <a:lnTo>
                        <a:pt x="317" y="434"/>
                      </a:lnTo>
                      <a:lnTo>
                        <a:pt x="317" y="454"/>
                      </a:lnTo>
                      <a:lnTo>
                        <a:pt x="298" y="454"/>
                      </a:lnTo>
                      <a:lnTo>
                        <a:pt x="281" y="454"/>
                      </a:lnTo>
                      <a:lnTo>
                        <a:pt x="263" y="454"/>
                      </a:lnTo>
                      <a:lnTo>
                        <a:pt x="255" y="473"/>
                      </a:lnTo>
                      <a:lnTo>
                        <a:pt x="236" y="495"/>
                      </a:lnTo>
                      <a:lnTo>
                        <a:pt x="228" y="514"/>
                      </a:lnTo>
                      <a:lnTo>
                        <a:pt x="219" y="535"/>
                      </a:lnTo>
                      <a:lnTo>
                        <a:pt x="219" y="555"/>
                      </a:lnTo>
                      <a:lnTo>
                        <a:pt x="202" y="615"/>
                      </a:lnTo>
                      <a:lnTo>
                        <a:pt x="193" y="636"/>
                      </a:lnTo>
                      <a:lnTo>
                        <a:pt x="183" y="656"/>
                      </a:lnTo>
                      <a:lnTo>
                        <a:pt x="174" y="675"/>
                      </a:lnTo>
                      <a:lnTo>
                        <a:pt x="166" y="697"/>
                      </a:lnTo>
                      <a:lnTo>
                        <a:pt x="157" y="716"/>
                      </a:lnTo>
                      <a:lnTo>
                        <a:pt x="148" y="737"/>
                      </a:lnTo>
                      <a:lnTo>
                        <a:pt x="140" y="757"/>
                      </a:lnTo>
                      <a:lnTo>
                        <a:pt x="121" y="777"/>
                      </a:lnTo>
                      <a:lnTo>
                        <a:pt x="113" y="798"/>
                      </a:lnTo>
                      <a:lnTo>
                        <a:pt x="104" y="818"/>
                      </a:lnTo>
                      <a:lnTo>
                        <a:pt x="95" y="877"/>
                      </a:lnTo>
                      <a:lnTo>
                        <a:pt x="87" y="898"/>
                      </a:lnTo>
                      <a:lnTo>
                        <a:pt x="87" y="918"/>
                      </a:lnTo>
                      <a:lnTo>
                        <a:pt x="78" y="939"/>
                      </a:lnTo>
                      <a:lnTo>
                        <a:pt x="68" y="959"/>
                      </a:lnTo>
                      <a:lnTo>
                        <a:pt x="59" y="979"/>
                      </a:lnTo>
                      <a:lnTo>
                        <a:pt x="59" y="1000"/>
                      </a:lnTo>
                      <a:lnTo>
                        <a:pt x="42" y="1061"/>
                      </a:lnTo>
                      <a:lnTo>
                        <a:pt x="33" y="1081"/>
                      </a:lnTo>
                      <a:lnTo>
                        <a:pt x="33" y="1102"/>
                      </a:lnTo>
                      <a:lnTo>
                        <a:pt x="33" y="1120"/>
                      </a:lnTo>
                      <a:lnTo>
                        <a:pt x="25" y="1181"/>
                      </a:lnTo>
                      <a:lnTo>
                        <a:pt x="25" y="1202"/>
                      </a:lnTo>
                      <a:lnTo>
                        <a:pt x="25" y="1222"/>
                      </a:lnTo>
                      <a:lnTo>
                        <a:pt x="25" y="1283"/>
                      </a:lnTo>
                      <a:lnTo>
                        <a:pt x="15" y="1304"/>
                      </a:lnTo>
                      <a:lnTo>
                        <a:pt x="6" y="1364"/>
                      </a:lnTo>
                      <a:lnTo>
                        <a:pt x="0" y="1424"/>
                      </a:lnTo>
                      <a:lnTo>
                        <a:pt x="0" y="1444"/>
                      </a:lnTo>
                      <a:lnTo>
                        <a:pt x="0" y="1465"/>
                      </a:lnTo>
                      <a:lnTo>
                        <a:pt x="0" y="1485"/>
                      </a:lnTo>
                      <a:lnTo>
                        <a:pt x="0" y="1506"/>
                      </a:lnTo>
                      <a:lnTo>
                        <a:pt x="0" y="1525"/>
                      </a:lnTo>
                      <a:lnTo>
                        <a:pt x="0" y="1545"/>
                      </a:lnTo>
                      <a:lnTo>
                        <a:pt x="0" y="1566"/>
                      </a:lnTo>
                      <a:lnTo>
                        <a:pt x="0" y="1586"/>
                      </a:lnTo>
                      <a:lnTo>
                        <a:pt x="0" y="1607"/>
                      </a:lnTo>
                      <a:lnTo>
                        <a:pt x="0" y="1627"/>
                      </a:lnTo>
                      <a:lnTo>
                        <a:pt x="0" y="1647"/>
                      </a:lnTo>
                      <a:lnTo>
                        <a:pt x="0" y="1668"/>
                      </a:lnTo>
                      <a:lnTo>
                        <a:pt x="0" y="1686"/>
                      </a:lnTo>
                      <a:lnTo>
                        <a:pt x="0" y="1708"/>
                      </a:lnTo>
                      <a:lnTo>
                        <a:pt x="0" y="1727"/>
                      </a:lnTo>
                      <a:lnTo>
                        <a:pt x="0" y="1747"/>
                      </a:lnTo>
                      <a:lnTo>
                        <a:pt x="0" y="1768"/>
                      </a:lnTo>
                      <a:lnTo>
                        <a:pt x="0" y="1788"/>
                      </a:lnTo>
                      <a:lnTo>
                        <a:pt x="0" y="1849"/>
                      </a:lnTo>
                      <a:lnTo>
                        <a:pt x="0" y="1870"/>
                      </a:lnTo>
                      <a:lnTo>
                        <a:pt x="0" y="1890"/>
                      </a:lnTo>
                      <a:lnTo>
                        <a:pt x="0" y="1911"/>
                      </a:lnTo>
                      <a:lnTo>
                        <a:pt x="0" y="1970"/>
                      </a:lnTo>
                      <a:lnTo>
                        <a:pt x="15" y="1990"/>
                      </a:lnTo>
                      <a:lnTo>
                        <a:pt x="15" y="2011"/>
                      </a:lnTo>
                      <a:lnTo>
                        <a:pt x="33" y="2011"/>
                      </a:lnTo>
                      <a:lnTo>
                        <a:pt x="33" y="2031"/>
                      </a:lnTo>
                      <a:lnTo>
                        <a:pt x="33" y="2051"/>
                      </a:lnTo>
                      <a:lnTo>
                        <a:pt x="51" y="2051"/>
                      </a:lnTo>
                      <a:lnTo>
                        <a:pt x="51" y="2072"/>
                      </a:lnTo>
                      <a:lnTo>
                        <a:pt x="68" y="2072"/>
                      </a:lnTo>
                      <a:lnTo>
                        <a:pt x="87" y="2092"/>
                      </a:lnTo>
                      <a:lnTo>
                        <a:pt x="104" y="2113"/>
                      </a:lnTo>
                      <a:lnTo>
                        <a:pt x="121" y="2113"/>
                      </a:lnTo>
                      <a:lnTo>
                        <a:pt x="140" y="2113"/>
                      </a:lnTo>
                      <a:lnTo>
                        <a:pt x="140" y="2133"/>
                      </a:lnTo>
                      <a:lnTo>
                        <a:pt x="193" y="2133"/>
                      </a:lnTo>
                      <a:lnTo>
                        <a:pt x="210" y="2133"/>
                      </a:lnTo>
                      <a:lnTo>
                        <a:pt x="263" y="2133"/>
                      </a:lnTo>
                      <a:lnTo>
                        <a:pt x="281" y="2133"/>
                      </a:lnTo>
                      <a:lnTo>
                        <a:pt x="281" y="2152"/>
                      </a:lnTo>
                      <a:lnTo>
                        <a:pt x="298" y="2152"/>
                      </a:lnTo>
                      <a:lnTo>
                        <a:pt x="298" y="2174"/>
                      </a:lnTo>
                      <a:lnTo>
                        <a:pt x="317" y="2174"/>
                      </a:lnTo>
                      <a:lnTo>
                        <a:pt x="317" y="2193"/>
                      </a:lnTo>
                      <a:lnTo>
                        <a:pt x="370" y="2193"/>
                      </a:lnTo>
                      <a:lnTo>
                        <a:pt x="370" y="2253"/>
                      </a:lnTo>
                      <a:lnTo>
                        <a:pt x="387" y="2253"/>
                      </a:lnTo>
                      <a:lnTo>
                        <a:pt x="387" y="2274"/>
                      </a:lnTo>
                      <a:lnTo>
                        <a:pt x="440" y="2274"/>
                      </a:lnTo>
                      <a:lnTo>
                        <a:pt x="494" y="2335"/>
                      </a:lnTo>
                      <a:lnTo>
                        <a:pt x="511" y="2335"/>
                      </a:lnTo>
                      <a:lnTo>
                        <a:pt x="528" y="2354"/>
                      </a:lnTo>
                      <a:lnTo>
                        <a:pt x="547" y="2354"/>
                      </a:lnTo>
                      <a:lnTo>
                        <a:pt x="600" y="2354"/>
                      </a:lnTo>
                      <a:lnTo>
                        <a:pt x="617" y="2354"/>
                      </a:lnTo>
                      <a:lnTo>
                        <a:pt x="635" y="2354"/>
                      </a:lnTo>
                      <a:lnTo>
                        <a:pt x="653" y="2354"/>
                      </a:lnTo>
                      <a:lnTo>
                        <a:pt x="671" y="2354"/>
                      </a:lnTo>
                      <a:lnTo>
                        <a:pt x="688" y="2354"/>
                      </a:lnTo>
                      <a:lnTo>
                        <a:pt x="705" y="2354"/>
                      </a:lnTo>
                      <a:lnTo>
                        <a:pt x="724" y="2354"/>
                      </a:lnTo>
                      <a:lnTo>
                        <a:pt x="741" y="2354"/>
                      </a:lnTo>
                      <a:lnTo>
                        <a:pt x="760" y="2354"/>
                      </a:lnTo>
                      <a:lnTo>
                        <a:pt x="760" y="2376"/>
                      </a:lnTo>
                      <a:lnTo>
                        <a:pt x="813" y="2376"/>
                      </a:lnTo>
                      <a:lnTo>
                        <a:pt x="865" y="2376"/>
                      </a:lnTo>
                      <a:lnTo>
                        <a:pt x="883" y="2376"/>
                      </a:lnTo>
                      <a:lnTo>
                        <a:pt x="937" y="2376"/>
                      </a:lnTo>
                      <a:lnTo>
                        <a:pt x="954" y="2395"/>
                      </a:lnTo>
                      <a:lnTo>
                        <a:pt x="1007" y="2395"/>
                      </a:lnTo>
                      <a:lnTo>
                        <a:pt x="1024" y="2395"/>
                      </a:lnTo>
                      <a:lnTo>
                        <a:pt x="1043" y="2395"/>
                      </a:lnTo>
                      <a:lnTo>
                        <a:pt x="1060" y="2395"/>
                      </a:lnTo>
                      <a:lnTo>
                        <a:pt x="1078" y="2416"/>
                      </a:lnTo>
                      <a:lnTo>
                        <a:pt x="1095" y="2416"/>
                      </a:lnTo>
                      <a:lnTo>
                        <a:pt x="1148" y="2416"/>
                      </a:lnTo>
                      <a:lnTo>
                        <a:pt x="1167" y="2436"/>
                      </a:lnTo>
                      <a:lnTo>
                        <a:pt x="1184" y="2436"/>
                      </a:lnTo>
                      <a:lnTo>
                        <a:pt x="1201" y="2436"/>
                      </a:lnTo>
                      <a:lnTo>
                        <a:pt x="1220" y="2436"/>
                      </a:lnTo>
                      <a:lnTo>
                        <a:pt x="1273" y="2436"/>
                      </a:lnTo>
                      <a:lnTo>
                        <a:pt x="1290" y="2436"/>
                      </a:lnTo>
                      <a:lnTo>
                        <a:pt x="1308" y="2456"/>
                      </a:lnTo>
                      <a:lnTo>
                        <a:pt x="1325" y="2456"/>
                      </a:lnTo>
                      <a:lnTo>
                        <a:pt x="1344" y="2456"/>
                      </a:lnTo>
                      <a:lnTo>
                        <a:pt x="1361" y="2456"/>
                      </a:lnTo>
                      <a:lnTo>
                        <a:pt x="1378" y="2456"/>
                      </a:lnTo>
                      <a:lnTo>
                        <a:pt x="1397" y="2456"/>
                      </a:lnTo>
                      <a:lnTo>
                        <a:pt x="1414" y="2456"/>
                      </a:lnTo>
                      <a:lnTo>
                        <a:pt x="1432" y="2456"/>
                      </a:lnTo>
                      <a:lnTo>
                        <a:pt x="1432" y="2477"/>
                      </a:lnTo>
                      <a:lnTo>
                        <a:pt x="1450" y="2477"/>
                      </a:lnTo>
                      <a:lnTo>
                        <a:pt x="1467" y="2477"/>
                      </a:lnTo>
                      <a:lnTo>
                        <a:pt x="1521" y="2477"/>
                      </a:lnTo>
                      <a:lnTo>
                        <a:pt x="1538" y="2477"/>
                      </a:lnTo>
                      <a:lnTo>
                        <a:pt x="1555" y="2477"/>
                      </a:lnTo>
                      <a:lnTo>
                        <a:pt x="1610" y="2477"/>
                      </a:lnTo>
                      <a:lnTo>
                        <a:pt x="1627" y="2477"/>
                      </a:lnTo>
                      <a:lnTo>
                        <a:pt x="1680" y="2477"/>
                      </a:lnTo>
                      <a:lnTo>
                        <a:pt x="1698" y="2477"/>
                      </a:lnTo>
                      <a:lnTo>
                        <a:pt x="1715" y="2477"/>
                      </a:lnTo>
                      <a:lnTo>
                        <a:pt x="1768" y="2477"/>
                      </a:lnTo>
                      <a:lnTo>
                        <a:pt x="1787" y="2477"/>
                      </a:lnTo>
                      <a:lnTo>
                        <a:pt x="1804" y="2477"/>
                      </a:lnTo>
                      <a:lnTo>
                        <a:pt x="1821" y="2477"/>
                      </a:lnTo>
                      <a:lnTo>
                        <a:pt x="1874" y="2477"/>
                      </a:lnTo>
                      <a:lnTo>
                        <a:pt x="1928" y="2477"/>
                      </a:lnTo>
                      <a:lnTo>
                        <a:pt x="1981" y="2477"/>
                      </a:lnTo>
                      <a:lnTo>
                        <a:pt x="1997" y="2477"/>
                      </a:lnTo>
                      <a:lnTo>
                        <a:pt x="2015" y="2477"/>
                      </a:lnTo>
                      <a:lnTo>
                        <a:pt x="2068" y="2477"/>
                      </a:lnTo>
                      <a:lnTo>
                        <a:pt x="2085" y="2477"/>
                      </a:lnTo>
                      <a:lnTo>
                        <a:pt x="2104" y="2477"/>
                      </a:lnTo>
                      <a:lnTo>
                        <a:pt x="2157" y="2477"/>
                      </a:lnTo>
                      <a:lnTo>
                        <a:pt x="2174" y="2477"/>
                      </a:lnTo>
                      <a:lnTo>
                        <a:pt x="2227" y="2497"/>
                      </a:lnTo>
                      <a:lnTo>
                        <a:pt x="2245" y="2497"/>
                      </a:lnTo>
                      <a:lnTo>
                        <a:pt x="2315" y="2497"/>
                      </a:lnTo>
                      <a:lnTo>
                        <a:pt x="2370" y="2497"/>
                      </a:lnTo>
                      <a:lnTo>
                        <a:pt x="2387" y="2497"/>
                      </a:lnTo>
                      <a:lnTo>
                        <a:pt x="2404" y="2497"/>
                      </a:lnTo>
                      <a:lnTo>
                        <a:pt x="2423" y="2497"/>
                      </a:lnTo>
                      <a:lnTo>
                        <a:pt x="2475" y="2497"/>
                      </a:lnTo>
                      <a:lnTo>
                        <a:pt x="2493" y="2497"/>
                      </a:lnTo>
                      <a:lnTo>
                        <a:pt x="2511" y="2497"/>
                      </a:lnTo>
                      <a:lnTo>
                        <a:pt x="2528" y="2497"/>
                      </a:lnTo>
                      <a:lnTo>
                        <a:pt x="2547" y="2497"/>
                      </a:lnTo>
                      <a:lnTo>
                        <a:pt x="2564" y="2497"/>
                      </a:lnTo>
                      <a:lnTo>
                        <a:pt x="2617" y="2497"/>
                      </a:lnTo>
                      <a:lnTo>
                        <a:pt x="2635" y="2497"/>
                      </a:lnTo>
                      <a:lnTo>
                        <a:pt x="2688" y="2497"/>
                      </a:lnTo>
                      <a:lnTo>
                        <a:pt x="2705" y="2497"/>
                      </a:lnTo>
                      <a:lnTo>
                        <a:pt x="2724" y="2497"/>
                      </a:lnTo>
                      <a:lnTo>
                        <a:pt x="2741" y="2497"/>
                      </a:lnTo>
                      <a:lnTo>
                        <a:pt x="2758" y="2497"/>
                      </a:lnTo>
                      <a:lnTo>
                        <a:pt x="2811" y="2497"/>
                      </a:lnTo>
                      <a:lnTo>
                        <a:pt x="2830" y="2497"/>
                      </a:lnTo>
                      <a:lnTo>
                        <a:pt x="2847" y="2497"/>
                      </a:lnTo>
                      <a:lnTo>
                        <a:pt x="2865" y="2497"/>
                      </a:lnTo>
                      <a:lnTo>
                        <a:pt x="2883" y="2497"/>
                      </a:lnTo>
                      <a:lnTo>
                        <a:pt x="2900" y="2497"/>
                      </a:lnTo>
                      <a:lnTo>
                        <a:pt x="2918" y="2497"/>
                      </a:lnTo>
                      <a:lnTo>
                        <a:pt x="2971" y="2497"/>
                      </a:lnTo>
                      <a:lnTo>
                        <a:pt x="2988" y="2497"/>
                      </a:lnTo>
                      <a:lnTo>
                        <a:pt x="3007" y="2497"/>
                      </a:lnTo>
                      <a:lnTo>
                        <a:pt x="3024" y="2497"/>
                      </a:lnTo>
                      <a:lnTo>
                        <a:pt x="3077" y="2497"/>
                      </a:lnTo>
                      <a:lnTo>
                        <a:pt x="3077" y="2517"/>
                      </a:lnTo>
                      <a:lnTo>
                        <a:pt x="3095" y="2517"/>
                      </a:lnTo>
                      <a:lnTo>
                        <a:pt x="3148" y="2517"/>
                      </a:lnTo>
                      <a:lnTo>
                        <a:pt x="3165" y="2517"/>
                      </a:lnTo>
                      <a:lnTo>
                        <a:pt x="3184" y="2517"/>
                      </a:lnTo>
                      <a:lnTo>
                        <a:pt x="3237" y="2517"/>
                      </a:lnTo>
                      <a:lnTo>
                        <a:pt x="3290" y="2517"/>
                      </a:lnTo>
                      <a:lnTo>
                        <a:pt x="3308" y="2517"/>
                      </a:lnTo>
                      <a:lnTo>
                        <a:pt x="3325" y="2517"/>
                      </a:lnTo>
                      <a:lnTo>
                        <a:pt x="3343" y="2517"/>
                      </a:lnTo>
                      <a:lnTo>
                        <a:pt x="3361" y="2517"/>
                      </a:lnTo>
                      <a:lnTo>
                        <a:pt x="3378" y="2508"/>
                      </a:lnTo>
                      <a:lnTo>
                        <a:pt x="3397" y="2508"/>
                      </a:lnTo>
                      <a:lnTo>
                        <a:pt x="3414" y="2497"/>
                      </a:lnTo>
                      <a:lnTo>
                        <a:pt x="3431" y="2497"/>
                      </a:lnTo>
                      <a:lnTo>
                        <a:pt x="3450" y="2486"/>
                      </a:lnTo>
                      <a:lnTo>
                        <a:pt x="3467" y="2486"/>
                      </a:lnTo>
                      <a:lnTo>
                        <a:pt x="3520" y="2486"/>
                      </a:lnTo>
                      <a:lnTo>
                        <a:pt x="3574" y="2477"/>
                      </a:lnTo>
                      <a:lnTo>
                        <a:pt x="3591" y="2477"/>
                      </a:lnTo>
                      <a:lnTo>
                        <a:pt x="3608" y="2477"/>
                      </a:lnTo>
                      <a:lnTo>
                        <a:pt x="3627" y="2467"/>
                      </a:lnTo>
                      <a:lnTo>
                        <a:pt x="3644" y="2467"/>
                      </a:lnTo>
                      <a:lnTo>
                        <a:pt x="3661" y="2467"/>
                      </a:lnTo>
                      <a:lnTo>
                        <a:pt x="3715" y="2456"/>
                      </a:lnTo>
                      <a:lnTo>
                        <a:pt x="3733" y="2447"/>
                      </a:lnTo>
                      <a:lnTo>
                        <a:pt x="3750" y="2447"/>
                      </a:lnTo>
                      <a:lnTo>
                        <a:pt x="3768" y="2436"/>
                      </a:lnTo>
                      <a:lnTo>
                        <a:pt x="3785" y="2426"/>
                      </a:lnTo>
                      <a:lnTo>
                        <a:pt x="3838" y="2416"/>
                      </a:lnTo>
                      <a:lnTo>
                        <a:pt x="3892" y="2406"/>
                      </a:lnTo>
                      <a:lnTo>
                        <a:pt x="3910" y="2385"/>
                      </a:lnTo>
                      <a:lnTo>
                        <a:pt x="3927" y="2376"/>
                      </a:lnTo>
                      <a:lnTo>
                        <a:pt x="3936" y="2354"/>
                      </a:lnTo>
                      <a:lnTo>
                        <a:pt x="3955" y="2345"/>
                      </a:lnTo>
                      <a:lnTo>
                        <a:pt x="3955" y="2324"/>
                      </a:lnTo>
                      <a:lnTo>
                        <a:pt x="3972" y="2315"/>
                      </a:lnTo>
                      <a:lnTo>
                        <a:pt x="3972" y="2294"/>
                      </a:lnTo>
                      <a:lnTo>
                        <a:pt x="3989" y="2283"/>
                      </a:lnTo>
                      <a:lnTo>
                        <a:pt x="4006" y="2263"/>
                      </a:lnTo>
                      <a:lnTo>
                        <a:pt x="4023" y="2244"/>
                      </a:lnTo>
                      <a:lnTo>
                        <a:pt x="4023" y="2224"/>
                      </a:lnTo>
                      <a:lnTo>
                        <a:pt x="4042" y="2214"/>
                      </a:lnTo>
                      <a:lnTo>
                        <a:pt x="4042" y="2193"/>
                      </a:lnTo>
                      <a:lnTo>
                        <a:pt x="4059" y="2183"/>
                      </a:lnTo>
                      <a:lnTo>
                        <a:pt x="4059" y="2163"/>
                      </a:lnTo>
                      <a:lnTo>
                        <a:pt x="4076" y="2143"/>
                      </a:lnTo>
                      <a:lnTo>
                        <a:pt x="4076" y="2122"/>
                      </a:lnTo>
                      <a:lnTo>
                        <a:pt x="4076" y="2102"/>
                      </a:lnTo>
                      <a:lnTo>
                        <a:pt x="4076" y="2081"/>
                      </a:lnTo>
                      <a:lnTo>
                        <a:pt x="4076" y="2061"/>
                      </a:lnTo>
                      <a:lnTo>
                        <a:pt x="4095" y="2051"/>
                      </a:lnTo>
                      <a:lnTo>
                        <a:pt x="4095" y="2031"/>
                      </a:lnTo>
                      <a:lnTo>
                        <a:pt x="4112" y="2020"/>
                      </a:lnTo>
                      <a:lnTo>
                        <a:pt x="4130" y="2020"/>
                      </a:lnTo>
                      <a:lnTo>
                        <a:pt x="4148" y="2020"/>
                      </a:lnTo>
                      <a:lnTo>
                        <a:pt x="4165" y="1961"/>
                      </a:lnTo>
                      <a:lnTo>
                        <a:pt x="4218" y="1941"/>
                      </a:lnTo>
                      <a:lnTo>
                        <a:pt x="4218" y="1920"/>
                      </a:lnTo>
                      <a:lnTo>
                        <a:pt x="4218" y="1900"/>
                      </a:lnTo>
                      <a:lnTo>
                        <a:pt x="4218" y="1879"/>
                      </a:lnTo>
                      <a:lnTo>
                        <a:pt x="4210" y="1859"/>
                      </a:lnTo>
                      <a:lnTo>
                        <a:pt x="4210" y="1840"/>
                      </a:lnTo>
                      <a:lnTo>
                        <a:pt x="4200" y="1768"/>
                      </a:lnTo>
                      <a:lnTo>
                        <a:pt x="4191" y="1697"/>
                      </a:lnTo>
                      <a:lnTo>
                        <a:pt x="4191" y="1638"/>
                      </a:lnTo>
                      <a:lnTo>
                        <a:pt x="4183" y="1566"/>
                      </a:lnTo>
                      <a:lnTo>
                        <a:pt x="4183" y="1506"/>
                      </a:lnTo>
                      <a:lnTo>
                        <a:pt x="4174" y="1434"/>
                      </a:lnTo>
                      <a:lnTo>
                        <a:pt x="4174" y="1354"/>
                      </a:lnTo>
                      <a:lnTo>
                        <a:pt x="4165" y="1293"/>
                      </a:lnTo>
                      <a:lnTo>
                        <a:pt x="4165" y="1211"/>
                      </a:lnTo>
                      <a:lnTo>
                        <a:pt x="4157" y="1140"/>
                      </a:lnTo>
                      <a:lnTo>
                        <a:pt x="4157" y="1120"/>
                      </a:lnTo>
                      <a:lnTo>
                        <a:pt x="4148" y="1102"/>
                      </a:lnTo>
                      <a:lnTo>
                        <a:pt x="4148" y="1081"/>
                      </a:lnTo>
                      <a:lnTo>
                        <a:pt x="4138" y="1061"/>
                      </a:lnTo>
                      <a:lnTo>
                        <a:pt x="4130" y="1040"/>
                      </a:lnTo>
                      <a:lnTo>
                        <a:pt x="4121" y="1020"/>
                      </a:lnTo>
                      <a:lnTo>
                        <a:pt x="4121" y="1000"/>
                      </a:lnTo>
                      <a:lnTo>
                        <a:pt x="4112" y="979"/>
                      </a:lnTo>
                      <a:lnTo>
                        <a:pt x="4103" y="908"/>
                      </a:lnTo>
                      <a:lnTo>
                        <a:pt x="4095" y="888"/>
                      </a:lnTo>
                      <a:lnTo>
                        <a:pt x="4085" y="868"/>
                      </a:lnTo>
                      <a:lnTo>
                        <a:pt x="4076" y="847"/>
                      </a:lnTo>
                      <a:lnTo>
                        <a:pt x="4068" y="829"/>
                      </a:lnTo>
                      <a:lnTo>
                        <a:pt x="4050" y="807"/>
                      </a:lnTo>
                      <a:lnTo>
                        <a:pt x="4042" y="788"/>
                      </a:lnTo>
                      <a:lnTo>
                        <a:pt x="4033" y="768"/>
                      </a:lnTo>
                      <a:lnTo>
                        <a:pt x="4014" y="747"/>
                      </a:lnTo>
                      <a:lnTo>
                        <a:pt x="4006" y="727"/>
                      </a:lnTo>
                      <a:lnTo>
                        <a:pt x="3989" y="716"/>
                      </a:lnTo>
                      <a:lnTo>
                        <a:pt x="3981" y="697"/>
                      </a:lnTo>
                      <a:lnTo>
                        <a:pt x="3963" y="675"/>
                      </a:lnTo>
                      <a:lnTo>
                        <a:pt x="3955" y="656"/>
                      </a:lnTo>
                      <a:lnTo>
                        <a:pt x="3936" y="636"/>
                      </a:lnTo>
                      <a:lnTo>
                        <a:pt x="3919" y="615"/>
                      </a:lnTo>
                      <a:lnTo>
                        <a:pt x="3900" y="595"/>
                      </a:lnTo>
                      <a:lnTo>
                        <a:pt x="3892" y="574"/>
                      </a:lnTo>
                      <a:lnTo>
                        <a:pt x="3874" y="565"/>
                      </a:lnTo>
                      <a:lnTo>
                        <a:pt x="3857" y="555"/>
                      </a:lnTo>
                      <a:lnTo>
                        <a:pt x="3848" y="535"/>
                      </a:lnTo>
                      <a:lnTo>
                        <a:pt x="3830" y="525"/>
                      </a:lnTo>
                      <a:lnTo>
                        <a:pt x="3821" y="504"/>
                      </a:lnTo>
                      <a:lnTo>
                        <a:pt x="3804" y="495"/>
                      </a:lnTo>
                      <a:lnTo>
                        <a:pt x="3785" y="473"/>
                      </a:lnTo>
                      <a:lnTo>
                        <a:pt x="3768" y="454"/>
                      </a:lnTo>
                      <a:lnTo>
                        <a:pt x="3750" y="434"/>
                      </a:lnTo>
                      <a:lnTo>
                        <a:pt x="3733" y="423"/>
                      </a:lnTo>
                      <a:lnTo>
                        <a:pt x="3723" y="402"/>
                      </a:lnTo>
                      <a:lnTo>
                        <a:pt x="3706" y="393"/>
                      </a:lnTo>
                      <a:lnTo>
                        <a:pt x="3689" y="382"/>
                      </a:lnTo>
                      <a:lnTo>
                        <a:pt x="3670" y="363"/>
                      </a:lnTo>
                      <a:lnTo>
                        <a:pt x="3653" y="352"/>
                      </a:lnTo>
                      <a:lnTo>
                        <a:pt x="3635" y="341"/>
                      </a:lnTo>
                      <a:lnTo>
                        <a:pt x="3618" y="332"/>
                      </a:lnTo>
                      <a:lnTo>
                        <a:pt x="3600" y="332"/>
                      </a:lnTo>
                      <a:lnTo>
                        <a:pt x="3582" y="322"/>
                      </a:lnTo>
                      <a:lnTo>
                        <a:pt x="3520" y="311"/>
                      </a:lnTo>
                      <a:lnTo>
                        <a:pt x="3503" y="301"/>
                      </a:lnTo>
                      <a:lnTo>
                        <a:pt x="3485" y="291"/>
                      </a:lnTo>
                      <a:lnTo>
                        <a:pt x="3467" y="281"/>
                      </a:lnTo>
                      <a:lnTo>
                        <a:pt x="3450" y="271"/>
                      </a:lnTo>
                      <a:lnTo>
                        <a:pt x="3431" y="252"/>
                      </a:lnTo>
                      <a:lnTo>
                        <a:pt x="3414" y="252"/>
                      </a:lnTo>
                      <a:lnTo>
                        <a:pt x="3397" y="232"/>
                      </a:lnTo>
                      <a:lnTo>
                        <a:pt x="3378" y="221"/>
                      </a:lnTo>
                      <a:lnTo>
                        <a:pt x="3361" y="211"/>
                      </a:lnTo>
                      <a:lnTo>
                        <a:pt x="3343" y="200"/>
                      </a:lnTo>
                      <a:lnTo>
                        <a:pt x="3325" y="191"/>
                      </a:lnTo>
                      <a:lnTo>
                        <a:pt x="3308" y="191"/>
                      </a:lnTo>
                      <a:lnTo>
                        <a:pt x="3290" y="180"/>
                      </a:lnTo>
                      <a:lnTo>
                        <a:pt x="3273" y="170"/>
                      </a:lnTo>
                      <a:lnTo>
                        <a:pt x="3220" y="170"/>
                      </a:lnTo>
                      <a:lnTo>
                        <a:pt x="3201" y="161"/>
                      </a:lnTo>
                      <a:lnTo>
                        <a:pt x="3184" y="161"/>
                      </a:lnTo>
                      <a:lnTo>
                        <a:pt x="3165" y="150"/>
                      </a:lnTo>
                      <a:lnTo>
                        <a:pt x="3148" y="139"/>
                      </a:lnTo>
                      <a:lnTo>
                        <a:pt x="3131" y="130"/>
                      </a:lnTo>
                      <a:lnTo>
                        <a:pt x="3113" y="120"/>
                      </a:lnTo>
                      <a:lnTo>
                        <a:pt x="3095" y="109"/>
                      </a:lnTo>
                      <a:lnTo>
                        <a:pt x="3077" y="100"/>
                      </a:lnTo>
                      <a:lnTo>
                        <a:pt x="3060" y="89"/>
                      </a:lnTo>
                      <a:lnTo>
                        <a:pt x="3042" y="89"/>
                      </a:lnTo>
                      <a:lnTo>
                        <a:pt x="3024" y="79"/>
                      </a:lnTo>
                      <a:lnTo>
                        <a:pt x="3007" y="79"/>
                      </a:lnTo>
                      <a:lnTo>
                        <a:pt x="2954" y="79"/>
                      </a:lnTo>
                      <a:lnTo>
                        <a:pt x="2892" y="79"/>
                      </a:lnTo>
                      <a:lnTo>
                        <a:pt x="2873" y="79"/>
                      </a:lnTo>
                      <a:lnTo>
                        <a:pt x="2856" y="68"/>
                      </a:lnTo>
                      <a:lnTo>
                        <a:pt x="2839" y="68"/>
                      </a:lnTo>
                      <a:lnTo>
                        <a:pt x="2820" y="59"/>
                      </a:lnTo>
                      <a:lnTo>
                        <a:pt x="2803" y="59"/>
                      </a:lnTo>
                      <a:lnTo>
                        <a:pt x="2785" y="48"/>
                      </a:lnTo>
                      <a:lnTo>
                        <a:pt x="2768" y="48"/>
                      </a:lnTo>
                      <a:lnTo>
                        <a:pt x="2750" y="48"/>
                      </a:lnTo>
                      <a:lnTo>
                        <a:pt x="2732" y="38"/>
                      </a:lnTo>
                      <a:lnTo>
                        <a:pt x="2715" y="29"/>
                      </a:lnTo>
                      <a:lnTo>
                        <a:pt x="2696" y="29"/>
                      </a:lnTo>
                      <a:lnTo>
                        <a:pt x="2679" y="18"/>
                      </a:lnTo>
                      <a:lnTo>
                        <a:pt x="2662" y="18"/>
                      </a:lnTo>
                      <a:lnTo>
                        <a:pt x="2643" y="18"/>
                      </a:lnTo>
                      <a:lnTo>
                        <a:pt x="2626" y="7"/>
                      </a:lnTo>
                      <a:lnTo>
                        <a:pt x="2608" y="7"/>
                      </a:lnTo>
                      <a:lnTo>
                        <a:pt x="2590" y="7"/>
                      </a:lnTo>
                      <a:lnTo>
                        <a:pt x="2573" y="7"/>
                      </a:lnTo>
                      <a:lnTo>
                        <a:pt x="2555" y="7"/>
                      </a:lnTo>
                      <a:lnTo>
                        <a:pt x="2538" y="7"/>
                      </a:lnTo>
                      <a:lnTo>
                        <a:pt x="2519" y="7"/>
                      </a:lnTo>
                      <a:lnTo>
                        <a:pt x="2502" y="7"/>
                      </a:lnTo>
                      <a:lnTo>
                        <a:pt x="2485" y="7"/>
                      </a:lnTo>
                      <a:lnTo>
                        <a:pt x="2466" y="7"/>
                      </a:lnTo>
                      <a:lnTo>
                        <a:pt x="2449" y="7"/>
                      </a:lnTo>
                      <a:lnTo>
                        <a:pt x="2430" y="7"/>
                      </a:lnTo>
                      <a:lnTo>
                        <a:pt x="2413" y="7"/>
                      </a:lnTo>
                      <a:lnTo>
                        <a:pt x="2396" y="7"/>
                      </a:lnTo>
                      <a:lnTo>
                        <a:pt x="2378" y="7"/>
                      </a:lnTo>
                      <a:lnTo>
                        <a:pt x="2360" y="7"/>
                      </a:lnTo>
                      <a:lnTo>
                        <a:pt x="2343" y="0"/>
                      </a:lnTo>
                      <a:lnTo>
                        <a:pt x="2325" y="0"/>
                      </a:lnTo>
                      <a:lnTo>
                        <a:pt x="2308" y="0"/>
                      </a:lnTo>
                      <a:lnTo>
                        <a:pt x="2289" y="0"/>
                      </a:lnTo>
                      <a:lnTo>
                        <a:pt x="2272" y="0"/>
                      </a:lnTo>
                      <a:lnTo>
                        <a:pt x="2255" y="0"/>
                      </a:lnTo>
                      <a:lnTo>
                        <a:pt x="2236" y="0"/>
                      </a:lnTo>
                      <a:lnTo>
                        <a:pt x="2219" y="0"/>
                      </a:lnTo>
                      <a:lnTo>
                        <a:pt x="2200" y="0"/>
                      </a:lnTo>
                      <a:lnTo>
                        <a:pt x="2183" y="0"/>
                      </a:lnTo>
                      <a:lnTo>
                        <a:pt x="2166" y="0"/>
                      </a:lnTo>
                      <a:lnTo>
                        <a:pt x="2148" y="0"/>
                      </a:lnTo>
                      <a:lnTo>
                        <a:pt x="2130" y="0"/>
                      </a:lnTo>
                      <a:lnTo>
                        <a:pt x="2112" y="0"/>
                      </a:lnTo>
                      <a:lnTo>
                        <a:pt x="2095" y="0"/>
                      </a:lnTo>
                      <a:lnTo>
                        <a:pt x="2095" y="7"/>
                      </a:lnTo>
                      <a:close/>
                    </a:path>
                  </a:pathLst>
                </a:custGeom>
                <a:solidFill>
                  <a:srgbClr val="CCCCFF"/>
                </a:solidFill>
                <a:ln w="0">
                  <a:solidFill>
                    <a:srgbClr val="000000"/>
                  </a:solidFill>
                  <a:round/>
                </a:ln>
              </p:spPr>
              <p:txBody>
                <a:bodyPr lIns="112503" tIns="56252" rIns="112503" bIns="56252"/>
                <a:lstStyle/>
                <a:p>
                  <a:endParaRPr lang="zh-CN" altLang="en-US" sz="100"/>
                </a:p>
              </p:txBody>
            </p:sp>
          </p:grpSp>
          <p:grpSp>
            <p:nvGrpSpPr>
              <p:cNvPr id="32851" name="Group 7"/>
              <p:cNvGrpSpPr/>
              <p:nvPr/>
            </p:nvGrpSpPr>
            <p:grpSpPr bwMode="auto">
              <a:xfrm>
                <a:off x="2760" y="3478"/>
                <a:ext cx="724" cy="251"/>
                <a:chOff x="2760" y="3478"/>
                <a:chExt cx="724" cy="251"/>
              </a:xfrm>
            </p:grpSpPr>
            <p:sp>
              <p:nvSpPr>
                <p:cNvPr id="32852" name="Rectangle 8"/>
                <p:cNvSpPr>
                  <a:spLocks noChangeArrowheads="1"/>
                </p:cNvSpPr>
                <p:nvPr/>
              </p:nvSpPr>
              <p:spPr bwMode="auto">
                <a:xfrm>
                  <a:off x="3101" y="3478"/>
                  <a:ext cx="6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endParaRPr lang="en-US" altLang="zh-CN" sz="2460" b="1">
                    <a:latin typeface="Times New Roman" panose="02020603050405020304" pitchFamily="18" charset="0"/>
                    <a:ea typeface="宋体" panose="02010600030101010101" pitchFamily="2" charset="-122"/>
                  </a:endParaRPr>
                </a:p>
              </p:txBody>
            </p:sp>
            <p:sp>
              <p:nvSpPr>
                <p:cNvPr id="32853" name="Rectangle 9"/>
                <p:cNvSpPr>
                  <a:spLocks noChangeArrowheads="1"/>
                </p:cNvSpPr>
                <p:nvPr/>
              </p:nvSpPr>
              <p:spPr bwMode="auto">
                <a:xfrm>
                  <a:off x="2760" y="3603"/>
                  <a:ext cx="724"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组织内部环境”</a:t>
                  </a:r>
                  <a:endParaRPr lang="zh-CN" altLang="en-US" sz="2460" b="1">
                    <a:latin typeface="Times New Roman" panose="02020603050405020304" pitchFamily="18" charset="0"/>
                    <a:ea typeface="宋体" panose="02010600030101010101" pitchFamily="2" charset="-122"/>
                  </a:endParaRPr>
                </a:p>
              </p:txBody>
            </p:sp>
          </p:grpSp>
        </p:grpSp>
        <p:grpSp>
          <p:nvGrpSpPr>
            <p:cNvPr id="32808" name="Group 10"/>
            <p:cNvGrpSpPr/>
            <p:nvPr/>
          </p:nvGrpSpPr>
          <p:grpSpPr bwMode="auto">
            <a:xfrm>
              <a:off x="3100388" y="1452563"/>
              <a:ext cx="5521325" cy="2890837"/>
              <a:chOff x="1381" y="1623"/>
              <a:chExt cx="3209" cy="1821"/>
            </a:xfrm>
          </p:grpSpPr>
          <p:grpSp>
            <p:nvGrpSpPr>
              <p:cNvPr id="32846" name="Group 11"/>
              <p:cNvGrpSpPr/>
              <p:nvPr/>
            </p:nvGrpSpPr>
            <p:grpSpPr bwMode="auto">
              <a:xfrm>
                <a:off x="1381" y="1623"/>
                <a:ext cx="3209" cy="1821"/>
                <a:chOff x="1381" y="1623"/>
                <a:chExt cx="3209" cy="1821"/>
              </a:xfrm>
            </p:grpSpPr>
            <p:sp>
              <p:nvSpPr>
                <p:cNvPr id="32848" name="Oval 12"/>
                <p:cNvSpPr>
                  <a:spLocks noChangeArrowheads="1"/>
                </p:cNvSpPr>
                <p:nvPr/>
              </p:nvSpPr>
              <p:spPr bwMode="auto">
                <a:xfrm>
                  <a:off x="1388" y="1655"/>
                  <a:ext cx="3202" cy="1789"/>
                </a:xfrm>
                <a:prstGeom prst="ellipse">
                  <a:avLst/>
                </a:prstGeom>
                <a:solidFill>
                  <a:srgbClr val="CC6600"/>
                </a:solidFill>
                <a:ln w="0">
                  <a:solidFill>
                    <a:srgbClr val="000000"/>
                  </a:solidFill>
                  <a:round/>
                </a:ln>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sp>
              <p:nvSpPr>
                <p:cNvPr id="32849" name="Oval 13"/>
                <p:cNvSpPr>
                  <a:spLocks noChangeArrowheads="1"/>
                </p:cNvSpPr>
                <p:nvPr/>
              </p:nvSpPr>
              <p:spPr bwMode="auto">
                <a:xfrm>
                  <a:off x="1381" y="1623"/>
                  <a:ext cx="3201" cy="1789"/>
                </a:xfrm>
                <a:prstGeom prst="ellipse">
                  <a:avLst/>
                </a:prstGeom>
                <a:solidFill>
                  <a:srgbClr val="FFCCFF"/>
                </a:solidFill>
                <a:ln w="0">
                  <a:solidFill>
                    <a:srgbClr val="000000"/>
                  </a:solidFill>
                  <a:round/>
                </a:ln>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grpSp>
          <p:sp>
            <p:nvSpPr>
              <p:cNvPr id="32847" name="Rectangle 14"/>
              <p:cNvSpPr>
                <a:spLocks noChangeArrowheads="1"/>
              </p:cNvSpPr>
              <p:nvPr/>
            </p:nvSpPr>
            <p:spPr bwMode="auto">
              <a:xfrm>
                <a:off x="2569" y="3072"/>
                <a:ext cx="772"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600" b="1">
                    <a:solidFill>
                      <a:srgbClr val="000000"/>
                    </a:solidFill>
                    <a:latin typeface="Times New Roman" panose="02020603050405020304" pitchFamily="18" charset="0"/>
                    <a:ea typeface="宋体" panose="02010600030101010101" pitchFamily="2" charset="-122"/>
                  </a:rPr>
                  <a:t>信息系统安全问题</a:t>
                </a:r>
                <a:endParaRPr lang="en-US" altLang="zh-CN" sz="2460" b="1">
                  <a:latin typeface="Times New Roman" panose="02020603050405020304" pitchFamily="18" charset="0"/>
                  <a:ea typeface="宋体" panose="02010600030101010101" pitchFamily="2" charset="-122"/>
                </a:endParaRPr>
              </a:p>
            </p:txBody>
          </p:sp>
        </p:grpSp>
        <p:sp>
          <p:nvSpPr>
            <p:cNvPr id="32809" name="Rectangle 15"/>
            <p:cNvSpPr>
              <a:spLocks noChangeArrowheads="1"/>
            </p:cNvSpPr>
            <p:nvPr/>
          </p:nvSpPr>
          <p:spPr bwMode="auto">
            <a:xfrm>
              <a:off x="4606925" y="1744663"/>
              <a:ext cx="2349500" cy="1817687"/>
            </a:xfrm>
            <a:prstGeom prst="rect">
              <a:avLst/>
            </a:prstGeom>
            <a:solidFill>
              <a:srgbClr val="FFFFFF"/>
            </a:solidFill>
            <a:ln w="0">
              <a:solidFill>
                <a:srgbClr val="000000"/>
              </a:solidFill>
              <a:miter lim="800000"/>
            </a:ln>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grpSp>
          <p:nvGrpSpPr>
            <p:cNvPr id="32810" name="Group 16"/>
            <p:cNvGrpSpPr/>
            <p:nvPr/>
          </p:nvGrpSpPr>
          <p:grpSpPr bwMode="auto">
            <a:xfrm>
              <a:off x="4791075" y="2325688"/>
              <a:ext cx="509588" cy="542925"/>
              <a:chOff x="2312" y="1954"/>
              <a:chExt cx="296" cy="342"/>
            </a:xfrm>
          </p:grpSpPr>
          <p:sp>
            <p:nvSpPr>
              <p:cNvPr id="32836" name="Freeform 17"/>
              <p:cNvSpPr/>
              <p:nvPr/>
            </p:nvSpPr>
            <p:spPr bwMode="auto">
              <a:xfrm>
                <a:off x="2337" y="2198"/>
                <a:ext cx="246" cy="90"/>
              </a:xfrm>
              <a:custGeom>
                <a:avLst/>
                <a:gdLst>
                  <a:gd name="T0" fmla="*/ 123 w 246"/>
                  <a:gd name="T1" fmla="*/ 90 h 90"/>
                  <a:gd name="T2" fmla="*/ 146 w 246"/>
                  <a:gd name="T3" fmla="*/ 89 h 90"/>
                  <a:gd name="T4" fmla="*/ 169 w 246"/>
                  <a:gd name="T5" fmla="*/ 86 h 90"/>
                  <a:gd name="T6" fmla="*/ 190 w 246"/>
                  <a:gd name="T7" fmla="*/ 81 h 90"/>
                  <a:gd name="T8" fmla="*/ 210 w 246"/>
                  <a:gd name="T9" fmla="*/ 75 h 90"/>
                  <a:gd name="T10" fmla="*/ 224 w 246"/>
                  <a:gd name="T11" fmla="*/ 69 h 90"/>
                  <a:gd name="T12" fmla="*/ 235 w 246"/>
                  <a:gd name="T13" fmla="*/ 62 h 90"/>
                  <a:gd name="T14" fmla="*/ 243 w 246"/>
                  <a:gd name="T15" fmla="*/ 54 h 90"/>
                  <a:gd name="T16" fmla="*/ 246 w 246"/>
                  <a:gd name="T17" fmla="*/ 45 h 90"/>
                  <a:gd name="T18" fmla="*/ 243 w 246"/>
                  <a:gd name="T19" fmla="*/ 37 h 90"/>
                  <a:gd name="T20" fmla="*/ 235 w 246"/>
                  <a:gd name="T21" fmla="*/ 27 h 90"/>
                  <a:gd name="T22" fmla="*/ 224 w 246"/>
                  <a:gd name="T23" fmla="*/ 20 h 90"/>
                  <a:gd name="T24" fmla="*/ 210 w 246"/>
                  <a:gd name="T25" fmla="*/ 12 h 90"/>
                  <a:gd name="T26" fmla="*/ 190 w 246"/>
                  <a:gd name="T27" fmla="*/ 8 h 90"/>
                  <a:gd name="T28" fmla="*/ 169 w 246"/>
                  <a:gd name="T29" fmla="*/ 4 h 90"/>
                  <a:gd name="T30" fmla="*/ 146 w 246"/>
                  <a:gd name="T31" fmla="*/ 1 h 90"/>
                  <a:gd name="T32" fmla="*/ 123 w 246"/>
                  <a:gd name="T33" fmla="*/ 0 h 90"/>
                  <a:gd name="T34" fmla="*/ 97 w 246"/>
                  <a:gd name="T35" fmla="*/ 1 h 90"/>
                  <a:gd name="T36" fmla="*/ 75 w 246"/>
                  <a:gd name="T37" fmla="*/ 4 h 90"/>
                  <a:gd name="T38" fmla="*/ 54 w 246"/>
                  <a:gd name="T39" fmla="*/ 8 h 90"/>
                  <a:gd name="T40" fmla="*/ 35 w 246"/>
                  <a:gd name="T41" fmla="*/ 12 h 90"/>
                  <a:gd name="T42" fmla="*/ 21 w 246"/>
                  <a:gd name="T43" fmla="*/ 20 h 90"/>
                  <a:gd name="T44" fmla="*/ 10 w 246"/>
                  <a:gd name="T45" fmla="*/ 27 h 90"/>
                  <a:gd name="T46" fmla="*/ 2 w 246"/>
                  <a:gd name="T47" fmla="*/ 37 h 90"/>
                  <a:gd name="T48" fmla="*/ 0 w 246"/>
                  <a:gd name="T49" fmla="*/ 45 h 90"/>
                  <a:gd name="T50" fmla="*/ 2 w 246"/>
                  <a:gd name="T51" fmla="*/ 54 h 90"/>
                  <a:gd name="T52" fmla="*/ 10 w 246"/>
                  <a:gd name="T53" fmla="*/ 62 h 90"/>
                  <a:gd name="T54" fmla="*/ 21 w 246"/>
                  <a:gd name="T55" fmla="*/ 69 h 90"/>
                  <a:gd name="T56" fmla="*/ 35 w 246"/>
                  <a:gd name="T57" fmla="*/ 75 h 90"/>
                  <a:gd name="T58" fmla="*/ 54 w 246"/>
                  <a:gd name="T59" fmla="*/ 81 h 90"/>
                  <a:gd name="T60" fmla="*/ 75 w 246"/>
                  <a:gd name="T61" fmla="*/ 86 h 90"/>
                  <a:gd name="T62" fmla="*/ 97 w 246"/>
                  <a:gd name="T63" fmla="*/ 89 h 90"/>
                  <a:gd name="T64" fmla="*/ 123 w 246"/>
                  <a:gd name="T65" fmla="*/ 90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6"/>
                  <a:gd name="T100" fmla="*/ 0 h 90"/>
                  <a:gd name="T101" fmla="*/ 246 w 246"/>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6" h="90">
                    <a:moveTo>
                      <a:pt x="123" y="90"/>
                    </a:moveTo>
                    <a:lnTo>
                      <a:pt x="146" y="89"/>
                    </a:lnTo>
                    <a:lnTo>
                      <a:pt x="169" y="86"/>
                    </a:lnTo>
                    <a:lnTo>
                      <a:pt x="190" y="81"/>
                    </a:lnTo>
                    <a:lnTo>
                      <a:pt x="210" y="75"/>
                    </a:lnTo>
                    <a:lnTo>
                      <a:pt x="224" y="69"/>
                    </a:lnTo>
                    <a:lnTo>
                      <a:pt x="235" y="62"/>
                    </a:lnTo>
                    <a:lnTo>
                      <a:pt x="243" y="54"/>
                    </a:lnTo>
                    <a:lnTo>
                      <a:pt x="246" y="45"/>
                    </a:lnTo>
                    <a:lnTo>
                      <a:pt x="243" y="37"/>
                    </a:lnTo>
                    <a:lnTo>
                      <a:pt x="235" y="27"/>
                    </a:lnTo>
                    <a:lnTo>
                      <a:pt x="224" y="20"/>
                    </a:lnTo>
                    <a:lnTo>
                      <a:pt x="210" y="12"/>
                    </a:lnTo>
                    <a:lnTo>
                      <a:pt x="190" y="8"/>
                    </a:lnTo>
                    <a:lnTo>
                      <a:pt x="169" y="4"/>
                    </a:lnTo>
                    <a:lnTo>
                      <a:pt x="146" y="1"/>
                    </a:lnTo>
                    <a:lnTo>
                      <a:pt x="123" y="0"/>
                    </a:lnTo>
                    <a:lnTo>
                      <a:pt x="97" y="1"/>
                    </a:lnTo>
                    <a:lnTo>
                      <a:pt x="75" y="4"/>
                    </a:lnTo>
                    <a:lnTo>
                      <a:pt x="54" y="8"/>
                    </a:lnTo>
                    <a:lnTo>
                      <a:pt x="35" y="12"/>
                    </a:lnTo>
                    <a:lnTo>
                      <a:pt x="21" y="20"/>
                    </a:lnTo>
                    <a:lnTo>
                      <a:pt x="10" y="27"/>
                    </a:lnTo>
                    <a:lnTo>
                      <a:pt x="2" y="37"/>
                    </a:lnTo>
                    <a:lnTo>
                      <a:pt x="0" y="45"/>
                    </a:lnTo>
                    <a:lnTo>
                      <a:pt x="2" y="54"/>
                    </a:lnTo>
                    <a:lnTo>
                      <a:pt x="10" y="62"/>
                    </a:lnTo>
                    <a:lnTo>
                      <a:pt x="21" y="69"/>
                    </a:lnTo>
                    <a:lnTo>
                      <a:pt x="35" y="75"/>
                    </a:lnTo>
                    <a:lnTo>
                      <a:pt x="54" y="81"/>
                    </a:lnTo>
                    <a:lnTo>
                      <a:pt x="75" y="86"/>
                    </a:lnTo>
                    <a:lnTo>
                      <a:pt x="97" y="89"/>
                    </a:lnTo>
                    <a:lnTo>
                      <a:pt x="123" y="90"/>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37" name="Freeform 18"/>
              <p:cNvSpPr/>
              <p:nvPr/>
            </p:nvSpPr>
            <p:spPr bwMode="auto">
              <a:xfrm>
                <a:off x="2337" y="2240"/>
                <a:ext cx="246" cy="56"/>
              </a:xfrm>
              <a:custGeom>
                <a:avLst/>
                <a:gdLst>
                  <a:gd name="T0" fmla="*/ 0 w 246"/>
                  <a:gd name="T1" fmla="*/ 0 h 56"/>
                  <a:gd name="T2" fmla="*/ 2 w 246"/>
                  <a:gd name="T3" fmla="*/ 11 h 56"/>
                  <a:gd name="T4" fmla="*/ 10 w 246"/>
                  <a:gd name="T5" fmla="*/ 19 h 56"/>
                  <a:gd name="T6" fmla="*/ 21 w 246"/>
                  <a:gd name="T7" fmla="*/ 27 h 56"/>
                  <a:gd name="T8" fmla="*/ 35 w 246"/>
                  <a:gd name="T9" fmla="*/ 32 h 56"/>
                  <a:gd name="T10" fmla="*/ 54 w 246"/>
                  <a:gd name="T11" fmla="*/ 39 h 56"/>
                  <a:gd name="T12" fmla="*/ 75 w 246"/>
                  <a:gd name="T13" fmla="*/ 43 h 56"/>
                  <a:gd name="T14" fmla="*/ 97 w 246"/>
                  <a:gd name="T15" fmla="*/ 47 h 56"/>
                  <a:gd name="T16" fmla="*/ 123 w 246"/>
                  <a:gd name="T17" fmla="*/ 47 h 56"/>
                  <a:gd name="T18" fmla="*/ 146 w 246"/>
                  <a:gd name="T19" fmla="*/ 47 h 56"/>
                  <a:gd name="T20" fmla="*/ 169 w 246"/>
                  <a:gd name="T21" fmla="*/ 43 h 56"/>
                  <a:gd name="T22" fmla="*/ 190 w 246"/>
                  <a:gd name="T23" fmla="*/ 39 h 56"/>
                  <a:gd name="T24" fmla="*/ 210 w 246"/>
                  <a:gd name="T25" fmla="*/ 32 h 56"/>
                  <a:gd name="T26" fmla="*/ 224 w 246"/>
                  <a:gd name="T27" fmla="*/ 27 h 56"/>
                  <a:gd name="T28" fmla="*/ 235 w 246"/>
                  <a:gd name="T29" fmla="*/ 19 h 56"/>
                  <a:gd name="T30" fmla="*/ 243 w 246"/>
                  <a:gd name="T31" fmla="*/ 11 h 56"/>
                  <a:gd name="T32" fmla="*/ 246 w 246"/>
                  <a:gd name="T33" fmla="*/ 0 h 56"/>
                  <a:gd name="T34" fmla="*/ 246 w 246"/>
                  <a:gd name="T35" fmla="*/ 14 h 56"/>
                  <a:gd name="T36" fmla="*/ 243 w 246"/>
                  <a:gd name="T37" fmla="*/ 21 h 56"/>
                  <a:gd name="T38" fmla="*/ 235 w 246"/>
                  <a:gd name="T39" fmla="*/ 29 h 56"/>
                  <a:gd name="T40" fmla="*/ 224 w 246"/>
                  <a:gd name="T41" fmla="*/ 37 h 56"/>
                  <a:gd name="T42" fmla="*/ 210 w 246"/>
                  <a:gd name="T43" fmla="*/ 44 h 56"/>
                  <a:gd name="T44" fmla="*/ 190 w 246"/>
                  <a:gd name="T45" fmla="*/ 49 h 56"/>
                  <a:gd name="T46" fmla="*/ 169 w 246"/>
                  <a:gd name="T47" fmla="*/ 53 h 56"/>
                  <a:gd name="T48" fmla="*/ 146 w 246"/>
                  <a:gd name="T49" fmla="*/ 56 h 56"/>
                  <a:gd name="T50" fmla="*/ 123 w 246"/>
                  <a:gd name="T51" fmla="*/ 56 h 56"/>
                  <a:gd name="T52" fmla="*/ 97 w 246"/>
                  <a:gd name="T53" fmla="*/ 56 h 56"/>
                  <a:gd name="T54" fmla="*/ 75 w 246"/>
                  <a:gd name="T55" fmla="*/ 53 h 56"/>
                  <a:gd name="T56" fmla="*/ 54 w 246"/>
                  <a:gd name="T57" fmla="*/ 49 h 56"/>
                  <a:gd name="T58" fmla="*/ 35 w 246"/>
                  <a:gd name="T59" fmla="*/ 44 h 56"/>
                  <a:gd name="T60" fmla="*/ 21 w 246"/>
                  <a:gd name="T61" fmla="*/ 37 h 56"/>
                  <a:gd name="T62" fmla="*/ 10 w 246"/>
                  <a:gd name="T63" fmla="*/ 29 h 56"/>
                  <a:gd name="T64" fmla="*/ 2 w 246"/>
                  <a:gd name="T65" fmla="*/ 21 h 56"/>
                  <a:gd name="T66" fmla="*/ 0 w 246"/>
                  <a:gd name="T67" fmla="*/ 14 h 56"/>
                  <a:gd name="T68" fmla="*/ 0 w 246"/>
                  <a:gd name="T69" fmla="*/ 0 h 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6"/>
                  <a:gd name="T106" fmla="*/ 0 h 56"/>
                  <a:gd name="T107" fmla="*/ 246 w 246"/>
                  <a:gd name="T108" fmla="*/ 56 h 5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6" h="56">
                    <a:moveTo>
                      <a:pt x="0" y="0"/>
                    </a:moveTo>
                    <a:lnTo>
                      <a:pt x="2" y="11"/>
                    </a:lnTo>
                    <a:lnTo>
                      <a:pt x="10" y="19"/>
                    </a:lnTo>
                    <a:lnTo>
                      <a:pt x="21" y="27"/>
                    </a:lnTo>
                    <a:lnTo>
                      <a:pt x="35" y="32"/>
                    </a:lnTo>
                    <a:lnTo>
                      <a:pt x="54" y="39"/>
                    </a:lnTo>
                    <a:lnTo>
                      <a:pt x="75" y="43"/>
                    </a:lnTo>
                    <a:lnTo>
                      <a:pt x="97" y="47"/>
                    </a:lnTo>
                    <a:lnTo>
                      <a:pt x="123" y="47"/>
                    </a:lnTo>
                    <a:lnTo>
                      <a:pt x="146" y="47"/>
                    </a:lnTo>
                    <a:lnTo>
                      <a:pt x="169" y="43"/>
                    </a:lnTo>
                    <a:lnTo>
                      <a:pt x="190" y="39"/>
                    </a:lnTo>
                    <a:lnTo>
                      <a:pt x="210" y="32"/>
                    </a:lnTo>
                    <a:lnTo>
                      <a:pt x="224" y="27"/>
                    </a:lnTo>
                    <a:lnTo>
                      <a:pt x="235" y="19"/>
                    </a:lnTo>
                    <a:lnTo>
                      <a:pt x="243" y="11"/>
                    </a:lnTo>
                    <a:lnTo>
                      <a:pt x="246" y="0"/>
                    </a:lnTo>
                    <a:lnTo>
                      <a:pt x="246" y="14"/>
                    </a:lnTo>
                    <a:lnTo>
                      <a:pt x="243" y="21"/>
                    </a:lnTo>
                    <a:lnTo>
                      <a:pt x="235" y="29"/>
                    </a:lnTo>
                    <a:lnTo>
                      <a:pt x="224" y="37"/>
                    </a:lnTo>
                    <a:lnTo>
                      <a:pt x="210" y="44"/>
                    </a:lnTo>
                    <a:lnTo>
                      <a:pt x="190" y="49"/>
                    </a:lnTo>
                    <a:lnTo>
                      <a:pt x="169" y="53"/>
                    </a:lnTo>
                    <a:lnTo>
                      <a:pt x="146" y="56"/>
                    </a:lnTo>
                    <a:lnTo>
                      <a:pt x="123" y="56"/>
                    </a:lnTo>
                    <a:lnTo>
                      <a:pt x="97" y="56"/>
                    </a:lnTo>
                    <a:lnTo>
                      <a:pt x="75" y="53"/>
                    </a:lnTo>
                    <a:lnTo>
                      <a:pt x="54" y="49"/>
                    </a:lnTo>
                    <a:lnTo>
                      <a:pt x="35" y="44"/>
                    </a:lnTo>
                    <a:lnTo>
                      <a:pt x="21" y="37"/>
                    </a:lnTo>
                    <a:lnTo>
                      <a:pt x="10" y="29"/>
                    </a:lnTo>
                    <a:lnTo>
                      <a:pt x="2" y="21"/>
                    </a:lnTo>
                    <a:lnTo>
                      <a:pt x="0" y="14"/>
                    </a:lnTo>
                    <a:lnTo>
                      <a:pt x="0" y="0"/>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38" name="Freeform 19"/>
              <p:cNvSpPr/>
              <p:nvPr/>
            </p:nvSpPr>
            <p:spPr bwMode="auto">
              <a:xfrm>
                <a:off x="2387" y="2195"/>
                <a:ext cx="144" cy="61"/>
              </a:xfrm>
              <a:custGeom>
                <a:avLst/>
                <a:gdLst>
                  <a:gd name="T0" fmla="*/ 0 w 144"/>
                  <a:gd name="T1" fmla="*/ 0 h 61"/>
                  <a:gd name="T2" fmla="*/ 0 w 144"/>
                  <a:gd name="T3" fmla="*/ 2 h 61"/>
                  <a:gd name="T4" fmla="*/ 0 w 144"/>
                  <a:gd name="T5" fmla="*/ 8 h 61"/>
                  <a:gd name="T6" fmla="*/ 0 w 144"/>
                  <a:gd name="T7" fmla="*/ 18 h 61"/>
                  <a:gd name="T8" fmla="*/ 0 w 144"/>
                  <a:gd name="T9" fmla="*/ 35 h 61"/>
                  <a:gd name="T10" fmla="*/ 3 w 144"/>
                  <a:gd name="T11" fmla="*/ 41 h 61"/>
                  <a:gd name="T12" fmla="*/ 5 w 144"/>
                  <a:gd name="T13" fmla="*/ 45 h 61"/>
                  <a:gd name="T14" fmla="*/ 13 w 144"/>
                  <a:gd name="T15" fmla="*/ 49 h 61"/>
                  <a:gd name="T16" fmla="*/ 21 w 144"/>
                  <a:gd name="T17" fmla="*/ 53 h 61"/>
                  <a:gd name="T18" fmla="*/ 32 w 144"/>
                  <a:gd name="T19" fmla="*/ 57 h 61"/>
                  <a:gd name="T20" fmla="*/ 44 w 144"/>
                  <a:gd name="T21" fmla="*/ 59 h 61"/>
                  <a:gd name="T22" fmla="*/ 58 w 144"/>
                  <a:gd name="T23" fmla="*/ 60 h 61"/>
                  <a:gd name="T24" fmla="*/ 73 w 144"/>
                  <a:gd name="T25" fmla="*/ 61 h 61"/>
                  <a:gd name="T26" fmla="*/ 86 w 144"/>
                  <a:gd name="T27" fmla="*/ 60 h 61"/>
                  <a:gd name="T28" fmla="*/ 100 w 144"/>
                  <a:gd name="T29" fmla="*/ 59 h 61"/>
                  <a:gd name="T30" fmla="*/ 114 w 144"/>
                  <a:gd name="T31" fmla="*/ 57 h 61"/>
                  <a:gd name="T32" fmla="*/ 123 w 144"/>
                  <a:gd name="T33" fmla="*/ 53 h 61"/>
                  <a:gd name="T34" fmla="*/ 132 w 144"/>
                  <a:gd name="T35" fmla="*/ 49 h 61"/>
                  <a:gd name="T36" fmla="*/ 139 w 144"/>
                  <a:gd name="T37" fmla="*/ 45 h 61"/>
                  <a:gd name="T38" fmla="*/ 143 w 144"/>
                  <a:gd name="T39" fmla="*/ 41 h 61"/>
                  <a:gd name="T40" fmla="*/ 144 w 144"/>
                  <a:gd name="T41" fmla="*/ 35 h 61"/>
                  <a:gd name="T42" fmla="*/ 144 w 144"/>
                  <a:gd name="T43" fmla="*/ 19 h 61"/>
                  <a:gd name="T44" fmla="*/ 144 w 144"/>
                  <a:gd name="T45" fmla="*/ 8 h 61"/>
                  <a:gd name="T46" fmla="*/ 144 w 144"/>
                  <a:gd name="T47" fmla="*/ 3 h 61"/>
                  <a:gd name="T48" fmla="*/ 144 w 144"/>
                  <a:gd name="T49" fmla="*/ 0 h 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
                  <a:gd name="T76" fmla="*/ 0 h 61"/>
                  <a:gd name="T77" fmla="*/ 144 w 144"/>
                  <a:gd name="T78" fmla="*/ 61 h 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 h="61">
                    <a:moveTo>
                      <a:pt x="0" y="0"/>
                    </a:moveTo>
                    <a:lnTo>
                      <a:pt x="0" y="2"/>
                    </a:lnTo>
                    <a:lnTo>
                      <a:pt x="0" y="8"/>
                    </a:lnTo>
                    <a:lnTo>
                      <a:pt x="0" y="18"/>
                    </a:lnTo>
                    <a:lnTo>
                      <a:pt x="0" y="35"/>
                    </a:lnTo>
                    <a:lnTo>
                      <a:pt x="3" y="41"/>
                    </a:lnTo>
                    <a:lnTo>
                      <a:pt x="5" y="45"/>
                    </a:lnTo>
                    <a:lnTo>
                      <a:pt x="13" y="49"/>
                    </a:lnTo>
                    <a:lnTo>
                      <a:pt x="21" y="53"/>
                    </a:lnTo>
                    <a:lnTo>
                      <a:pt x="32" y="57"/>
                    </a:lnTo>
                    <a:lnTo>
                      <a:pt x="44" y="59"/>
                    </a:lnTo>
                    <a:lnTo>
                      <a:pt x="58" y="60"/>
                    </a:lnTo>
                    <a:lnTo>
                      <a:pt x="73" y="61"/>
                    </a:lnTo>
                    <a:lnTo>
                      <a:pt x="86" y="60"/>
                    </a:lnTo>
                    <a:lnTo>
                      <a:pt x="100" y="59"/>
                    </a:lnTo>
                    <a:lnTo>
                      <a:pt x="114" y="57"/>
                    </a:lnTo>
                    <a:lnTo>
                      <a:pt x="123" y="53"/>
                    </a:lnTo>
                    <a:lnTo>
                      <a:pt x="132" y="49"/>
                    </a:lnTo>
                    <a:lnTo>
                      <a:pt x="139" y="45"/>
                    </a:lnTo>
                    <a:lnTo>
                      <a:pt x="143" y="41"/>
                    </a:lnTo>
                    <a:lnTo>
                      <a:pt x="144" y="35"/>
                    </a:lnTo>
                    <a:lnTo>
                      <a:pt x="144" y="19"/>
                    </a:lnTo>
                    <a:lnTo>
                      <a:pt x="144" y="8"/>
                    </a:lnTo>
                    <a:lnTo>
                      <a:pt x="144" y="3"/>
                    </a:lnTo>
                    <a:lnTo>
                      <a:pt x="144" y="0"/>
                    </a:lnTo>
                  </a:path>
                </a:pathLst>
              </a:custGeom>
              <a:noFill/>
              <a:ln w="0">
                <a:solidFill>
                  <a:srgbClr val="000000"/>
                </a:solidFill>
                <a:round/>
              </a:ln>
              <a:extLst>
                <a:ext uri="{909E8E84-426E-40DD-AFC4-6F175D3DCCD1}">
                  <a14:hiddenFill xmlns:a14="http://schemas.microsoft.com/office/drawing/2010/main">
                    <a:solidFill>
                      <a:srgbClr val="FFFFFF"/>
                    </a:solidFill>
                  </a14:hiddenFill>
                </a:ext>
              </a:extLst>
            </p:spPr>
            <p:txBody>
              <a:bodyPr lIns="112503" tIns="56252" rIns="112503" bIns="56252"/>
              <a:lstStyle/>
              <a:p>
                <a:endParaRPr lang="zh-CN" altLang="en-US" sz="100"/>
              </a:p>
            </p:txBody>
          </p:sp>
          <p:sp>
            <p:nvSpPr>
              <p:cNvPr id="32839" name="Freeform 20"/>
              <p:cNvSpPr/>
              <p:nvPr/>
            </p:nvSpPr>
            <p:spPr bwMode="auto">
              <a:xfrm>
                <a:off x="2312" y="1990"/>
                <a:ext cx="296" cy="231"/>
              </a:xfrm>
              <a:custGeom>
                <a:avLst/>
                <a:gdLst>
                  <a:gd name="T0" fmla="*/ 281 w 296"/>
                  <a:gd name="T1" fmla="*/ 219 h 231"/>
                  <a:gd name="T2" fmla="*/ 264 w 296"/>
                  <a:gd name="T3" fmla="*/ 220 h 231"/>
                  <a:gd name="T4" fmla="*/ 247 w 296"/>
                  <a:gd name="T5" fmla="*/ 223 h 231"/>
                  <a:gd name="T6" fmla="*/ 231 w 296"/>
                  <a:gd name="T7" fmla="*/ 225 h 231"/>
                  <a:gd name="T8" fmla="*/ 214 w 296"/>
                  <a:gd name="T9" fmla="*/ 228 h 231"/>
                  <a:gd name="T10" fmla="*/ 198 w 296"/>
                  <a:gd name="T11" fmla="*/ 229 h 231"/>
                  <a:gd name="T12" fmla="*/ 181 w 296"/>
                  <a:gd name="T13" fmla="*/ 229 h 231"/>
                  <a:gd name="T14" fmla="*/ 166 w 296"/>
                  <a:gd name="T15" fmla="*/ 231 h 231"/>
                  <a:gd name="T16" fmla="*/ 150 w 296"/>
                  <a:gd name="T17" fmla="*/ 231 h 231"/>
                  <a:gd name="T18" fmla="*/ 134 w 296"/>
                  <a:gd name="T19" fmla="*/ 231 h 231"/>
                  <a:gd name="T20" fmla="*/ 119 w 296"/>
                  <a:gd name="T21" fmla="*/ 231 h 231"/>
                  <a:gd name="T22" fmla="*/ 101 w 296"/>
                  <a:gd name="T23" fmla="*/ 229 h 231"/>
                  <a:gd name="T24" fmla="*/ 84 w 296"/>
                  <a:gd name="T25" fmla="*/ 229 h 231"/>
                  <a:gd name="T26" fmla="*/ 68 w 296"/>
                  <a:gd name="T27" fmla="*/ 228 h 231"/>
                  <a:gd name="T28" fmla="*/ 50 w 296"/>
                  <a:gd name="T29" fmla="*/ 225 h 231"/>
                  <a:gd name="T30" fmla="*/ 33 w 296"/>
                  <a:gd name="T31" fmla="*/ 221 h 231"/>
                  <a:gd name="T32" fmla="*/ 13 w 296"/>
                  <a:gd name="T33" fmla="*/ 219 h 231"/>
                  <a:gd name="T34" fmla="*/ 2 w 296"/>
                  <a:gd name="T35" fmla="*/ 175 h 231"/>
                  <a:gd name="T36" fmla="*/ 0 w 296"/>
                  <a:gd name="T37" fmla="*/ 113 h 231"/>
                  <a:gd name="T38" fmla="*/ 1 w 296"/>
                  <a:gd name="T39" fmla="*/ 52 h 231"/>
                  <a:gd name="T40" fmla="*/ 7 w 296"/>
                  <a:gd name="T41" fmla="*/ 13 h 231"/>
                  <a:gd name="T42" fmla="*/ 26 w 296"/>
                  <a:gd name="T43" fmla="*/ 9 h 231"/>
                  <a:gd name="T44" fmla="*/ 46 w 296"/>
                  <a:gd name="T45" fmla="*/ 6 h 231"/>
                  <a:gd name="T46" fmla="*/ 63 w 296"/>
                  <a:gd name="T47" fmla="*/ 2 h 231"/>
                  <a:gd name="T48" fmla="*/ 82 w 296"/>
                  <a:gd name="T49" fmla="*/ 1 h 231"/>
                  <a:gd name="T50" fmla="*/ 100 w 296"/>
                  <a:gd name="T51" fmla="*/ 0 h 231"/>
                  <a:gd name="T52" fmla="*/ 116 w 296"/>
                  <a:gd name="T53" fmla="*/ 0 h 231"/>
                  <a:gd name="T54" fmla="*/ 133 w 296"/>
                  <a:gd name="T55" fmla="*/ 0 h 231"/>
                  <a:gd name="T56" fmla="*/ 150 w 296"/>
                  <a:gd name="T57" fmla="*/ 0 h 231"/>
                  <a:gd name="T58" fmla="*/ 169 w 296"/>
                  <a:gd name="T59" fmla="*/ 0 h 231"/>
                  <a:gd name="T60" fmla="*/ 185 w 296"/>
                  <a:gd name="T61" fmla="*/ 0 h 231"/>
                  <a:gd name="T62" fmla="*/ 200 w 296"/>
                  <a:gd name="T63" fmla="*/ 1 h 231"/>
                  <a:gd name="T64" fmla="*/ 216 w 296"/>
                  <a:gd name="T65" fmla="*/ 2 h 231"/>
                  <a:gd name="T66" fmla="*/ 235 w 296"/>
                  <a:gd name="T67" fmla="*/ 5 h 231"/>
                  <a:gd name="T68" fmla="*/ 252 w 296"/>
                  <a:gd name="T69" fmla="*/ 6 h 231"/>
                  <a:gd name="T70" fmla="*/ 271 w 296"/>
                  <a:gd name="T71" fmla="*/ 10 h 231"/>
                  <a:gd name="T72" fmla="*/ 286 w 296"/>
                  <a:gd name="T73" fmla="*/ 13 h 231"/>
                  <a:gd name="T74" fmla="*/ 293 w 296"/>
                  <a:gd name="T75" fmla="*/ 52 h 231"/>
                  <a:gd name="T76" fmla="*/ 296 w 296"/>
                  <a:gd name="T77" fmla="*/ 113 h 231"/>
                  <a:gd name="T78" fmla="*/ 292 w 296"/>
                  <a:gd name="T79" fmla="*/ 175 h 231"/>
                  <a:gd name="T80" fmla="*/ 281 w 296"/>
                  <a:gd name="T81" fmla="*/ 219 h 23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96"/>
                  <a:gd name="T124" fmla="*/ 0 h 231"/>
                  <a:gd name="T125" fmla="*/ 296 w 296"/>
                  <a:gd name="T126" fmla="*/ 231 h 23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96" h="231">
                    <a:moveTo>
                      <a:pt x="281" y="219"/>
                    </a:moveTo>
                    <a:lnTo>
                      <a:pt x="264" y="220"/>
                    </a:lnTo>
                    <a:lnTo>
                      <a:pt x="247" y="223"/>
                    </a:lnTo>
                    <a:lnTo>
                      <a:pt x="231" y="225"/>
                    </a:lnTo>
                    <a:lnTo>
                      <a:pt x="214" y="228"/>
                    </a:lnTo>
                    <a:lnTo>
                      <a:pt x="198" y="229"/>
                    </a:lnTo>
                    <a:lnTo>
                      <a:pt x="181" y="229"/>
                    </a:lnTo>
                    <a:lnTo>
                      <a:pt x="166" y="231"/>
                    </a:lnTo>
                    <a:lnTo>
                      <a:pt x="150" y="231"/>
                    </a:lnTo>
                    <a:lnTo>
                      <a:pt x="134" y="231"/>
                    </a:lnTo>
                    <a:lnTo>
                      <a:pt x="119" y="231"/>
                    </a:lnTo>
                    <a:lnTo>
                      <a:pt x="101" y="229"/>
                    </a:lnTo>
                    <a:lnTo>
                      <a:pt x="84" y="229"/>
                    </a:lnTo>
                    <a:lnTo>
                      <a:pt x="68" y="228"/>
                    </a:lnTo>
                    <a:lnTo>
                      <a:pt x="50" y="225"/>
                    </a:lnTo>
                    <a:lnTo>
                      <a:pt x="33" y="221"/>
                    </a:lnTo>
                    <a:lnTo>
                      <a:pt x="13" y="219"/>
                    </a:lnTo>
                    <a:lnTo>
                      <a:pt x="2" y="175"/>
                    </a:lnTo>
                    <a:lnTo>
                      <a:pt x="0" y="113"/>
                    </a:lnTo>
                    <a:lnTo>
                      <a:pt x="1" y="52"/>
                    </a:lnTo>
                    <a:lnTo>
                      <a:pt x="7" y="13"/>
                    </a:lnTo>
                    <a:lnTo>
                      <a:pt x="26" y="9"/>
                    </a:lnTo>
                    <a:lnTo>
                      <a:pt x="46" y="6"/>
                    </a:lnTo>
                    <a:lnTo>
                      <a:pt x="63" y="2"/>
                    </a:lnTo>
                    <a:lnTo>
                      <a:pt x="82" y="1"/>
                    </a:lnTo>
                    <a:lnTo>
                      <a:pt x="100" y="0"/>
                    </a:lnTo>
                    <a:lnTo>
                      <a:pt x="116" y="0"/>
                    </a:lnTo>
                    <a:lnTo>
                      <a:pt x="133" y="0"/>
                    </a:lnTo>
                    <a:lnTo>
                      <a:pt x="150" y="0"/>
                    </a:lnTo>
                    <a:lnTo>
                      <a:pt x="169" y="0"/>
                    </a:lnTo>
                    <a:lnTo>
                      <a:pt x="185" y="0"/>
                    </a:lnTo>
                    <a:lnTo>
                      <a:pt x="200" y="1"/>
                    </a:lnTo>
                    <a:lnTo>
                      <a:pt x="216" y="2"/>
                    </a:lnTo>
                    <a:lnTo>
                      <a:pt x="235" y="5"/>
                    </a:lnTo>
                    <a:lnTo>
                      <a:pt x="252" y="6"/>
                    </a:lnTo>
                    <a:lnTo>
                      <a:pt x="271" y="10"/>
                    </a:lnTo>
                    <a:lnTo>
                      <a:pt x="286" y="13"/>
                    </a:lnTo>
                    <a:lnTo>
                      <a:pt x="293" y="52"/>
                    </a:lnTo>
                    <a:lnTo>
                      <a:pt x="296" y="113"/>
                    </a:lnTo>
                    <a:lnTo>
                      <a:pt x="292" y="175"/>
                    </a:lnTo>
                    <a:lnTo>
                      <a:pt x="281" y="219"/>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40" name="Freeform 21"/>
              <p:cNvSpPr/>
              <p:nvPr/>
            </p:nvSpPr>
            <p:spPr bwMode="auto">
              <a:xfrm>
                <a:off x="2319" y="1954"/>
                <a:ext cx="279" cy="49"/>
              </a:xfrm>
              <a:custGeom>
                <a:avLst/>
                <a:gdLst>
                  <a:gd name="T0" fmla="*/ 245 w 279"/>
                  <a:gd name="T1" fmla="*/ 8 h 49"/>
                  <a:gd name="T2" fmla="*/ 230 w 279"/>
                  <a:gd name="T3" fmla="*/ 5 h 49"/>
                  <a:gd name="T4" fmla="*/ 217 w 279"/>
                  <a:gd name="T5" fmla="*/ 4 h 49"/>
                  <a:gd name="T6" fmla="*/ 205 w 279"/>
                  <a:gd name="T7" fmla="*/ 3 h 49"/>
                  <a:gd name="T8" fmla="*/ 191 w 279"/>
                  <a:gd name="T9" fmla="*/ 1 h 49"/>
                  <a:gd name="T10" fmla="*/ 180 w 279"/>
                  <a:gd name="T11" fmla="*/ 0 h 49"/>
                  <a:gd name="T12" fmla="*/ 166 w 279"/>
                  <a:gd name="T13" fmla="*/ 0 h 49"/>
                  <a:gd name="T14" fmla="*/ 153 w 279"/>
                  <a:gd name="T15" fmla="*/ 0 h 49"/>
                  <a:gd name="T16" fmla="*/ 141 w 279"/>
                  <a:gd name="T17" fmla="*/ 0 h 49"/>
                  <a:gd name="T18" fmla="*/ 129 w 279"/>
                  <a:gd name="T19" fmla="*/ 0 h 49"/>
                  <a:gd name="T20" fmla="*/ 117 w 279"/>
                  <a:gd name="T21" fmla="*/ 0 h 49"/>
                  <a:gd name="T22" fmla="*/ 104 w 279"/>
                  <a:gd name="T23" fmla="*/ 0 h 49"/>
                  <a:gd name="T24" fmla="*/ 90 w 279"/>
                  <a:gd name="T25" fmla="*/ 0 h 49"/>
                  <a:gd name="T26" fmla="*/ 77 w 279"/>
                  <a:gd name="T27" fmla="*/ 1 h 49"/>
                  <a:gd name="T28" fmla="*/ 63 w 279"/>
                  <a:gd name="T29" fmla="*/ 3 h 49"/>
                  <a:gd name="T30" fmla="*/ 48 w 279"/>
                  <a:gd name="T31" fmla="*/ 5 h 49"/>
                  <a:gd name="T32" fmla="*/ 35 w 279"/>
                  <a:gd name="T33" fmla="*/ 8 h 49"/>
                  <a:gd name="T34" fmla="*/ 0 w 279"/>
                  <a:gd name="T35" fmla="*/ 49 h 49"/>
                  <a:gd name="T36" fmla="*/ 19 w 279"/>
                  <a:gd name="T37" fmla="*/ 45 h 49"/>
                  <a:gd name="T38" fmla="*/ 39 w 279"/>
                  <a:gd name="T39" fmla="*/ 42 h 49"/>
                  <a:gd name="T40" fmla="*/ 56 w 279"/>
                  <a:gd name="T41" fmla="*/ 38 h 49"/>
                  <a:gd name="T42" fmla="*/ 75 w 279"/>
                  <a:gd name="T43" fmla="*/ 37 h 49"/>
                  <a:gd name="T44" fmla="*/ 93 w 279"/>
                  <a:gd name="T45" fmla="*/ 36 h 49"/>
                  <a:gd name="T46" fmla="*/ 109 w 279"/>
                  <a:gd name="T47" fmla="*/ 36 h 49"/>
                  <a:gd name="T48" fmla="*/ 126 w 279"/>
                  <a:gd name="T49" fmla="*/ 36 h 49"/>
                  <a:gd name="T50" fmla="*/ 143 w 279"/>
                  <a:gd name="T51" fmla="*/ 36 h 49"/>
                  <a:gd name="T52" fmla="*/ 162 w 279"/>
                  <a:gd name="T53" fmla="*/ 36 h 49"/>
                  <a:gd name="T54" fmla="*/ 178 w 279"/>
                  <a:gd name="T55" fmla="*/ 36 h 49"/>
                  <a:gd name="T56" fmla="*/ 193 w 279"/>
                  <a:gd name="T57" fmla="*/ 37 h 49"/>
                  <a:gd name="T58" fmla="*/ 209 w 279"/>
                  <a:gd name="T59" fmla="*/ 38 h 49"/>
                  <a:gd name="T60" fmla="*/ 228 w 279"/>
                  <a:gd name="T61" fmla="*/ 41 h 49"/>
                  <a:gd name="T62" fmla="*/ 245 w 279"/>
                  <a:gd name="T63" fmla="*/ 42 h 49"/>
                  <a:gd name="T64" fmla="*/ 264 w 279"/>
                  <a:gd name="T65" fmla="*/ 46 h 49"/>
                  <a:gd name="T66" fmla="*/ 279 w 279"/>
                  <a:gd name="T67" fmla="*/ 49 h 49"/>
                  <a:gd name="T68" fmla="*/ 245 w 279"/>
                  <a:gd name="T69" fmla="*/ 8 h 4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79"/>
                  <a:gd name="T106" fmla="*/ 0 h 49"/>
                  <a:gd name="T107" fmla="*/ 279 w 279"/>
                  <a:gd name="T108" fmla="*/ 49 h 4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79" h="49">
                    <a:moveTo>
                      <a:pt x="245" y="8"/>
                    </a:moveTo>
                    <a:lnTo>
                      <a:pt x="230" y="5"/>
                    </a:lnTo>
                    <a:lnTo>
                      <a:pt x="217" y="4"/>
                    </a:lnTo>
                    <a:lnTo>
                      <a:pt x="205" y="3"/>
                    </a:lnTo>
                    <a:lnTo>
                      <a:pt x="191" y="1"/>
                    </a:lnTo>
                    <a:lnTo>
                      <a:pt x="180" y="0"/>
                    </a:lnTo>
                    <a:lnTo>
                      <a:pt x="166" y="0"/>
                    </a:lnTo>
                    <a:lnTo>
                      <a:pt x="153" y="0"/>
                    </a:lnTo>
                    <a:lnTo>
                      <a:pt x="141" y="0"/>
                    </a:lnTo>
                    <a:lnTo>
                      <a:pt x="129" y="0"/>
                    </a:lnTo>
                    <a:lnTo>
                      <a:pt x="117" y="0"/>
                    </a:lnTo>
                    <a:lnTo>
                      <a:pt x="104" y="0"/>
                    </a:lnTo>
                    <a:lnTo>
                      <a:pt x="90" y="0"/>
                    </a:lnTo>
                    <a:lnTo>
                      <a:pt x="77" y="1"/>
                    </a:lnTo>
                    <a:lnTo>
                      <a:pt x="63" y="3"/>
                    </a:lnTo>
                    <a:lnTo>
                      <a:pt x="48" y="5"/>
                    </a:lnTo>
                    <a:lnTo>
                      <a:pt x="35" y="8"/>
                    </a:lnTo>
                    <a:lnTo>
                      <a:pt x="0" y="49"/>
                    </a:lnTo>
                    <a:lnTo>
                      <a:pt x="19" y="45"/>
                    </a:lnTo>
                    <a:lnTo>
                      <a:pt x="39" y="42"/>
                    </a:lnTo>
                    <a:lnTo>
                      <a:pt x="56" y="38"/>
                    </a:lnTo>
                    <a:lnTo>
                      <a:pt x="75" y="37"/>
                    </a:lnTo>
                    <a:lnTo>
                      <a:pt x="93" y="36"/>
                    </a:lnTo>
                    <a:lnTo>
                      <a:pt x="109" y="36"/>
                    </a:lnTo>
                    <a:lnTo>
                      <a:pt x="126" y="36"/>
                    </a:lnTo>
                    <a:lnTo>
                      <a:pt x="143" y="36"/>
                    </a:lnTo>
                    <a:lnTo>
                      <a:pt x="162" y="36"/>
                    </a:lnTo>
                    <a:lnTo>
                      <a:pt x="178" y="36"/>
                    </a:lnTo>
                    <a:lnTo>
                      <a:pt x="193" y="37"/>
                    </a:lnTo>
                    <a:lnTo>
                      <a:pt x="209" y="38"/>
                    </a:lnTo>
                    <a:lnTo>
                      <a:pt x="228" y="41"/>
                    </a:lnTo>
                    <a:lnTo>
                      <a:pt x="245" y="42"/>
                    </a:lnTo>
                    <a:lnTo>
                      <a:pt x="264" y="46"/>
                    </a:lnTo>
                    <a:lnTo>
                      <a:pt x="279" y="49"/>
                    </a:lnTo>
                    <a:lnTo>
                      <a:pt x="245" y="8"/>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41" name="Freeform 22"/>
              <p:cNvSpPr/>
              <p:nvPr/>
            </p:nvSpPr>
            <p:spPr bwMode="auto">
              <a:xfrm>
                <a:off x="2334" y="2005"/>
                <a:ext cx="251" cy="198"/>
              </a:xfrm>
              <a:custGeom>
                <a:avLst/>
                <a:gdLst>
                  <a:gd name="T0" fmla="*/ 238 w 251"/>
                  <a:gd name="T1" fmla="*/ 188 h 198"/>
                  <a:gd name="T2" fmla="*/ 222 w 251"/>
                  <a:gd name="T3" fmla="*/ 189 h 198"/>
                  <a:gd name="T4" fmla="*/ 210 w 251"/>
                  <a:gd name="T5" fmla="*/ 192 h 198"/>
                  <a:gd name="T6" fmla="*/ 194 w 251"/>
                  <a:gd name="T7" fmla="*/ 194 h 198"/>
                  <a:gd name="T8" fmla="*/ 180 w 251"/>
                  <a:gd name="T9" fmla="*/ 197 h 198"/>
                  <a:gd name="T10" fmla="*/ 168 w 251"/>
                  <a:gd name="T11" fmla="*/ 197 h 198"/>
                  <a:gd name="T12" fmla="*/ 155 w 251"/>
                  <a:gd name="T13" fmla="*/ 198 h 198"/>
                  <a:gd name="T14" fmla="*/ 141 w 251"/>
                  <a:gd name="T15" fmla="*/ 198 h 198"/>
                  <a:gd name="T16" fmla="*/ 127 w 251"/>
                  <a:gd name="T17" fmla="*/ 198 h 198"/>
                  <a:gd name="T18" fmla="*/ 115 w 251"/>
                  <a:gd name="T19" fmla="*/ 198 h 198"/>
                  <a:gd name="T20" fmla="*/ 102 w 251"/>
                  <a:gd name="T21" fmla="*/ 198 h 198"/>
                  <a:gd name="T22" fmla="*/ 87 w 251"/>
                  <a:gd name="T23" fmla="*/ 198 h 198"/>
                  <a:gd name="T24" fmla="*/ 74 w 251"/>
                  <a:gd name="T25" fmla="*/ 197 h 198"/>
                  <a:gd name="T26" fmla="*/ 58 w 251"/>
                  <a:gd name="T27" fmla="*/ 196 h 198"/>
                  <a:gd name="T28" fmla="*/ 44 w 251"/>
                  <a:gd name="T29" fmla="*/ 193 h 198"/>
                  <a:gd name="T30" fmla="*/ 28 w 251"/>
                  <a:gd name="T31" fmla="*/ 190 h 198"/>
                  <a:gd name="T32" fmla="*/ 13 w 251"/>
                  <a:gd name="T33" fmla="*/ 188 h 198"/>
                  <a:gd name="T34" fmla="*/ 3 w 251"/>
                  <a:gd name="T35" fmla="*/ 150 h 198"/>
                  <a:gd name="T36" fmla="*/ 0 w 251"/>
                  <a:gd name="T37" fmla="*/ 98 h 198"/>
                  <a:gd name="T38" fmla="*/ 3 w 251"/>
                  <a:gd name="T39" fmla="*/ 48 h 198"/>
                  <a:gd name="T40" fmla="*/ 7 w 251"/>
                  <a:gd name="T41" fmla="*/ 14 h 198"/>
                  <a:gd name="T42" fmla="*/ 24 w 251"/>
                  <a:gd name="T43" fmla="*/ 10 h 198"/>
                  <a:gd name="T44" fmla="*/ 40 w 251"/>
                  <a:gd name="T45" fmla="*/ 7 h 198"/>
                  <a:gd name="T46" fmla="*/ 56 w 251"/>
                  <a:gd name="T47" fmla="*/ 6 h 198"/>
                  <a:gd name="T48" fmla="*/ 70 w 251"/>
                  <a:gd name="T49" fmla="*/ 3 h 198"/>
                  <a:gd name="T50" fmla="*/ 85 w 251"/>
                  <a:gd name="T51" fmla="*/ 3 h 198"/>
                  <a:gd name="T52" fmla="*/ 99 w 251"/>
                  <a:gd name="T53" fmla="*/ 2 h 198"/>
                  <a:gd name="T54" fmla="*/ 112 w 251"/>
                  <a:gd name="T55" fmla="*/ 0 h 198"/>
                  <a:gd name="T56" fmla="*/ 127 w 251"/>
                  <a:gd name="T57" fmla="*/ 0 h 198"/>
                  <a:gd name="T58" fmla="*/ 143 w 251"/>
                  <a:gd name="T59" fmla="*/ 2 h 198"/>
                  <a:gd name="T60" fmla="*/ 155 w 251"/>
                  <a:gd name="T61" fmla="*/ 3 h 198"/>
                  <a:gd name="T62" fmla="*/ 169 w 251"/>
                  <a:gd name="T63" fmla="*/ 3 h 198"/>
                  <a:gd name="T64" fmla="*/ 185 w 251"/>
                  <a:gd name="T65" fmla="*/ 6 h 198"/>
                  <a:gd name="T66" fmla="*/ 198 w 251"/>
                  <a:gd name="T67" fmla="*/ 7 h 198"/>
                  <a:gd name="T68" fmla="*/ 214 w 251"/>
                  <a:gd name="T69" fmla="*/ 8 h 198"/>
                  <a:gd name="T70" fmla="*/ 229 w 251"/>
                  <a:gd name="T71" fmla="*/ 10 h 198"/>
                  <a:gd name="T72" fmla="*/ 243 w 251"/>
                  <a:gd name="T73" fmla="*/ 14 h 198"/>
                  <a:gd name="T74" fmla="*/ 249 w 251"/>
                  <a:gd name="T75" fmla="*/ 48 h 198"/>
                  <a:gd name="T76" fmla="*/ 251 w 251"/>
                  <a:gd name="T77" fmla="*/ 98 h 198"/>
                  <a:gd name="T78" fmla="*/ 249 w 251"/>
                  <a:gd name="T79" fmla="*/ 150 h 198"/>
                  <a:gd name="T80" fmla="*/ 238 w 251"/>
                  <a:gd name="T81" fmla="*/ 188 h 1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1"/>
                  <a:gd name="T124" fmla="*/ 0 h 198"/>
                  <a:gd name="T125" fmla="*/ 251 w 251"/>
                  <a:gd name="T126" fmla="*/ 198 h 1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1" h="198">
                    <a:moveTo>
                      <a:pt x="238" y="188"/>
                    </a:moveTo>
                    <a:lnTo>
                      <a:pt x="222" y="189"/>
                    </a:lnTo>
                    <a:lnTo>
                      <a:pt x="210" y="192"/>
                    </a:lnTo>
                    <a:lnTo>
                      <a:pt x="194" y="194"/>
                    </a:lnTo>
                    <a:lnTo>
                      <a:pt x="180" y="197"/>
                    </a:lnTo>
                    <a:lnTo>
                      <a:pt x="168" y="197"/>
                    </a:lnTo>
                    <a:lnTo>
                      <a:pt x="155" y="198"/>
                    </a:lnTo>
                    <a:lnTo>
                      <a:pt x="141" y="198"/>
                    </a:lnTo>
                    <a:lnTo>
                      <a:pt x="127" y="198"/>
                    </a:lnTo>
                    <a:lnTo>
                      <a:pt x="115" y="198"/>
                    </a:lnTo>
                    <a:lnTo>
                      <a:pt x="102" y="198"/>
                    </a:lnTo>
                    <a:lnTo>
                      <a:pt x="87" y="198"/>
                    </a:lnTo>
                    <a:lnTo>
                      <a:pt x="74" y="197"/>
                    </a:lnTo>
                    <a:lnTo>
                      <a:pt x="58" y="196"/>
                    </a:lnTo>
                    <a:lnTo>
                      <a:pt x="44" y="193"/>
                    </a:lnTo>
                    <a:lnTo>
                      <a:pt x="28" y="190"/>
                    </a:lnTo>
                    <a:lnTo>
                      <a:pt x="13" y="188"/>
                    </a:lnTo>
                    <a:lnTo>
                      <a:pt x="3" y="150"/>
                    </a:lnTo>
                    <a:lnTo>
                      <a:pt x="0" y="98"/>
                    </a:lnTo>
                    <a:lnTo>
                      <a:pt x="3" y="48"/>
                    </a:lnTo>
                    <a:lnTo>
                      <a:pt x="7" y="14"/>
                    </a:lnTo>
                    <a:lnTo>
                      <a:pt x="24" y="10"/>
                    </a:lnTo>
                    <a:lnTo>
                      <a:pt x="40" y="7"/>
                    </a:lnTo>
                    <a:lnTo>
                      <a:pt x="56" y="6"/>
                    </a:lnTo>
                    <a:lnTo>
                      <a:pt x="70" y="3"/>
                    </a:lnTo>
                    <a:lnTo>
                      <a:pt x="85" y="3"/>
                    </a:lnTo>
                    <a:lnTo>
                      <a:pt x="99" y="2"/>
                    </a:lnTo>
                    <a:lnTo>
                      <a:pt x="112" y="0"/>
                    </a:lnTo>
                    <a:lnTo>
                      <a:pt x="127" y="0"/>
                    </a:lnTo>
                    <a:lnTo>
                      <a:pt x="143" y="2"/>
                    </a:lnTo>
                    <a:lnTo>
                      <a:pt x="155" y="3"/>
                    </a:lnTo>
                    <a:lnTo>
                      <a:pt x="169" y="3"/>
                    </a:lnTo>
                    <a:lnTo>
                      <a:pt x="185" y="6"/>
                    </a:lnTo>
                    <a:lnTo>
                      <a:pt x="198" y="7"/>
                    </a:lnTo>
                    <a:lnTo>
                      <a:pt x="214" y="8"/>
                    </a:lnTo>
                    <a:lnTo>
                      <a:pt x="229" y="10"/>
                    </a:lnTo>
                    <a:lnTo>
                      <a:pt x="243" y="14"/>
                    </a:lnTo>
                    <a:lnTo>
                      <a:pt x="249" y="48"/>
                    </a:lnTo>
                    <a:lnTo>
                      <a:pt x="251" y="98"/>
                    </a:lnTo>
                    <a:lnTo>
                      <a:pt x="249" y="150"/>
                    </a:lnTo>
                    <a:lnTo>
                      <a:pt x="238" y="18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lIns="112503" tIns="56252" rIns="112503" bIns="56252"/>
              <a:lstStyle/>
              <a:p>
                <a:endParaRPr lang="zh-CN" altLang="en-US" sz="100"/>
              </a:p>
            </p:txBody>
          </p:sp>
          <p:sp>
            <p:nvSpPr>
              <p:cNvPr id="32842" name="Rectangle 23"/>
              <p:cNvSpPr>
                <a:spLocks noChangeArrowheads="1"/>
              </p:cNvSpPr>
              <p:nvPr/>
            </p:nvSpPr>
            <p:spPr bwMode="auto">
              <a:xfrm>
                <a:off x="2374" y="2054"/>
                <a:ext cx="153" cy="21"/>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sp>
            <p:nvSpPr>
              <p:cNvPr id="32843" name="Rectangle 24"/>
              <p:cNvSpPr>
                <a:spLocks noChangeArrowheads="1"/>
              </p:cNvSpPr>
              <p:nvPr/>
            </p:nvSpPr>
            <p:spPr bwMode="auto">
              <a:xfrm>
                <a:off x="2374" y="2083"/>
                <a:ext cx="128" cy="21"/>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sp>
            <p:nvSpPr>
              <p:cNvPr id="32844" name="Rectangle 25"/>
              <p:cNvSpPr>
                <a:spLocks noChangeArrowheads="1"/>
              </p:cNvSpPr>
              <p:nvPr/>
            </p:nvSpPr>
            <p:spPr bwMode="auto">
              <a:xfrm>
                <a:off x="2374" y="2112"/>
                <a:ext cx="86" cy="21"/>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sp>
            <p:nvSpPr>
              <p:cNvPr id="32845" name="Rectangle 26"/>
              <p:cNvSpPr>
                <a:spLocks noChangeArrowheads="1"/>
              </p:cNvSpPr>
              <p:nvPr/>
            </p:nvSpPr>
            <p:spPr bwMode="auto">
              <a:xfrm>
                <a:off x="2374" y="2141"/>
                <a:ext cx="49" cy="20"/>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grpSp>
        <p:sp>
          <p:nvSpPr>
            <p:cNvPr id="32811" name="Rectangle 27"/>
            <p:cNvSpPr>
              <a:spLocks noChangeArrowheads="1"/>
            </p:cNvSpPr>
            <p:nvPr/>
          </p:nvSpPr>
          <p:spPr bwMode="auto">
            <a:xfrm>
              <a:off x="5468461" y="1825625"/>
              <a:ext cx="664528" cy="19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600" b="1">
                  <a:solidFill>
                    <a:srgbClr val="000000"/>
                  </a:solidFill>
                  <a:latin typeface="Times New Roman" panose="02020603050405020304" pitchFamily="18" charset="0"/>
                  <a:ea typeface="宋体" panose="02010600030101010101" pitchFamily="2" charset="-122"/>
                </a:rPr>
                <a:t>通信安全</a:t>
              </a:r>
              <a:endParaRPr lang="en-US" altLang="zh-CN" sz="2460" b="1">
                <a:latin typeface="Times New Roman" panose="02020603050405020304" pitchFamily="18" charset="0"/>
                <a:ea typeface="宋体" panose="02010600030101010101" pitchFamily="2" charset="-122"/>
              </a:endParaRPr>
            </a:p>
          </p:txBody>
        </p:sp>
        <p:sp>
          <p:nvSpPr>
            <p:cNvPr id="32812" name="Rectangle 28"/>
            <p:cNvSpPr>
              <a:spLocks noChangeArrowheads="1"/>
            </p:cNvSpPr>
            <p:nvPr/>
          </p:nvSpPr>
          <p:spPr bwMode="auto">
            <a:xfrm>
              <a:off x="5477986" y="2892425"/>
              <a:ext cx="664528" cy="19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600" b="1">
                  <a:solidFill>
                    <a:srgbClr val="000000"/>
                  </a:solidFill>
                  <a:latin typeface="Times New Roman" panose="02020603050405020304" pitchFamily="18" charset="0"/>
                  <a:ea typeface="宋体" panose="02010600030101010101" pitchFamily="2" charset="-122"/>
                </a:rPr>
                <a:t>数据安全</a:t>
              </a:r>
              <a:endParaRPr lang="zh-CN" altLang="en-US" sz="1600" b="1">
                <a:solidFill>
                  <a:srgbClr val="000000"/>
                </a:solidFill>
                <a:latin typeface="Times New Roman" panose="02020603050405020304" pitchFamily="18" charset="0"/>
                <a:ea typeface="宋体" panose="02010600030101010101" pitchFamily="2" charset="-122"/>
              </a:endParaRPr>
            </a:p>
          </p:txBody>
        </p:sp>
        <p:grpSp>
          <p:nvGrpSpPr>
            <p:cNvPr id="32813" name="Group 29"/>
            <p:cNvGrpSpPr/>
            <p:nvPr/>
          </p:nvGrpSpPr>
          <p:grpSpPr bwMode="auto">
            <a:xfrm>
              <a:off x="5105149" y="3114675"/>
              <a:ext cx="1329240" cy="371489"/>
              <a:chOff x="2545" y="2688"/>
              <a:chExt cx="776" cy="232"/>
            </a:xfrm>
          </p:grpSpPr>
          <p:sp>
            <p:nvSpPr>
              <p:cNvPr id="32834" name="Rectangle 30"/>
              <p:cNvSpPr>
                <a:spLocks noChangeArrowheads="1"/>
              </p:cNvSpPr>
              <p:nvPr/>
            </p:nvSpPr>
            <p:spPr bwMode="auto">
              <a:xfrm>
                <a:off x="2914" y="2688"/>
                <a:ext cx="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endParaRPr lang="en-US" altLang="zh-CN" sz="2460" b="1">
                  <a:latin typeface="Times New Roman" panose="02020603050405020304" pitchFamily="18" charset="0"/>
                  <a:ea typeface="宋体" panose="02010600030101010101" pitchFamily="2" charset="-122"/>
                </a:endParaRPr>
              </a:p>
            </p:txBody>
          </p:sp>
          <p:sp>
            <p:nvSpPr>
              <p:cNvPr id="32835" name="Rectangle 31"/>
              <p:cNvSpPr>
                <a:spLocks noChangeArrowheads="1"/>
              </p:cNvSpPr>
              <p:nvPr/>
            </p:nvSpPr>
            <p:spPr bwMode="auto">
              <a:xfrm>
                <a:off x="2545" y="2795"/>
                <a:ext cx="77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600" b="1">
                    <a:solidFill>
                      <a:srgbClr val="000000"/>
                    </a:solidFill>
                    <a:latin typeface="Times New Roman" panose="02020603050405020304" pitchFamily="18" charset="0"/>
                    <a:ea typeface="宋体" panose="02010600030101010101" pitchFamily="2" charset="-122"/>
                  </a:rPr>
                  <a:t>技术系统安全问题</a:t>
                </a:r>
                <a:endParaRPr lang="en-US" altLang="zh-CN" sz="2460" b="1">
                  <a:latin typeface="Times New Roman" panose="02020603050405020304" pitchFamily="18" charset="0"/>
                  <a:ea typeface="宋体" panose="02010600030101010101" pitchFamily="2" charset="-122"/>
                </a:endParaRPr>
              </a:p>
            </p:txBody>
          </p:sp>
        </p:grpSp>
        <p:grpSp>
          <p:nvGrpSpPr>
            <p:cNvPr id="32814" name="Group 32"/>
            <p:cNvGrpSpPr/>
            <p:nvPr/>
          </p:nvGrpSpPr>
          <p:grpSpPr bwMode="auto">
            <a:xfrm>
              <a:off x="6208713" y="2325688"/>
              <a:ext cx="509587" cy="542925"/>
              <a:chOff x="3136" y="1954"/>
              <a:chExt cx="297" cy="342"/>
            </a:xfrm>
          </p:grpSpPr>
          <p:sp>
            <p:nvSpPr>
              <p:cNvPr id="32824" name="Freeform 33"/>
              <p:cNvSpPr/>
              <p:nvPr/>
            </p:nvSpPr>
            <p:spPr bwMode="auto">
              <a:xfrm>
                <a:off x="3162" y="2198"/>
                <a:ext cx="245" cy="90"/>
              </a:xfrm>
              <a:custGeom>
                <a:avLst/>
                <a:gdLst>
                  <a:gd name="T0" fmla="*/ 122 w 245"/>
                  <a:gd name="T1" fmla="*/ 90 h 90"/>
                  <a:gd name="T2" fmla="*/ 146 w 245"/>
                  <a:gd name="T3" fmla="*/ 89 h 90"/>
                  <a:gd name="T4" fmla="*/ 169 w 245"/>
                  <a:gd name="T5" fmla="*/ 86 h 90"/>
                  <a:gd name="T6" fmla="*/ 190 w 245"/>
                  <a:gd name="T7" fmla="*/ 81 h 90"/>
                  <a:gd name="T8" fmla="*/ 210 w 245"/>
                  <a:gd name="T9" fmla="*/ 75 h 90"/>
                  <a:gd name="T10" fmla="*/ 224 w 245"/>
                  <a:gd name="T11" fmla="*/ 69 h 90"/>
                  <a:gd name="T12" fmla="*/ 235 w 245"/>
                  <a:gd name="T13" fmla="*/ 62 h 90"/>
                  <a:gd name="T14" fmla="*/ 243 w 245"/>
                  <a:gd name="T15" fmla="*/ 54 h 90"/>
                  <a:gd name="T16" fmla="*/ 245 w 245"/>
                  <a:gd name="T17" fmla="*/ 45 h 90"/>
                  <a:gd name="T18" fmla="*/ 243 w 245"/>
                  <a:gd name="T19" fmla="*/ 37 h 90"/>
                  <a:gd name="T20" fmla="*/ 235 w 245"/>
                  <a:gd name="T21" fmla="*/ 27 h 90"/>
                  <a:gd name="T22" fmla="*/ 224 w 245"/>
                  <a:gd name="T23" fmla="*/ 20 h 90"/>
                  <a:gd name="T24" fmla="*/ 210 w 245"/>
                  <a:gd name="T25" fmla="*/ 12 h 90"/>
                  <a:gd name="T26" fmla="*/ 190 w 245"/>
                  <a:gd name="T27" fmla="*/ 8 h 90"/>
                  <a:gd name="T28" fmla="*/ 169 w 245"/>
                  <a:gd name="T29" fmla="*/ 4 h 90"/>
                  <a:gd name="T30" fmla="*/ 146 w 245"/>
                  <a:gd name="T31" fmla="*/ 1 h 90"/>
                  <a:gd name="T32" fmla="*/ 122 w 245"/>
                  <a:gd name="T33" fmla="*/ 0 h 90"/>
                  <a:gd name="T34" fmla="*/ 97 w 245"/>
                  <a:gd name="T35" fmla="*/ 1 h 90"/>
                  <a:gd name="T36" fmla="*/ 75 w 245"/>
                  <a:gd name="T37" fmla="*/ 4 h 90"/>
                  <a:gd name="T38" fmla="*/ 54 w 245"/>
                  <a:gd name="T39" fmla="*/ 8 h 90"/>
                  <a:gd name="T40" fmla="*/ 35 w 245"/>
                  <a:gd name="T41" fmla="*/ 12 h 90"/>
                  <a:gd name="T42" fmla="*/ 21 w 245"/>
                  <a:gd name="T43" fmla="*/ 20 h 90"/>
                  <a:gd name="T44" fmla="*/ 10 w 245"/>
                  <a:gd name="T45" fmla="*/ 27 h 90"/>
                  <a:gd name="T46" fmla="*/ 2 w 245"/>
                  <a:gd name="T47" fmla="*/ 37 h 90"/>
                  <a:gd name="T48" fmla="*/ 0 w 245"/>
                  <a:gd name="T49" fmla="*/ 45 h 90"/>
                  <a:gd name="T50" fmla="*/ 2 w 245"/>
                  <a:gd name="T51" fmla="*/ 54 h 90"/>
                  <a:gd name="T52" fmla="*/ 10 w 245"/>
                  <a:gd name="T53" fmla="*/ 62 h 90"/>
                  <a:gd name="T54" fmla="*/ 21 w 245"/>
                  <a:gd name="T55" fmla="*/ 69 h 90"/>
                  <a:gd name="T56" fmla="*/ 35 w 245"/>
                  <a:gd name="T57" fmla="*/ 75 h 90"/>
                  <a:gd name="T58" fmla="*/ 54 w 245"/>
                  <a:gd name="T59" fmla="*/ 81 h 90"/>
                  <a:gd name="T60" fmla="*/ 75 w 245"/>
                  <a:gd name="T61" fmla="*/ 86 h 90"/>
                  <a:gd name="T62" fmla="*/ 97 w 245"/>
                  <a:gd name="T63" fmla="*/ 89 h 90"/>
                  <a:gd name="T64" fmla="*/ 122 w 245"/>
                  <a:gd name="T65" fmla="*/ 90 h 9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5"/>
                  <a:gd name="T100" fmla="*/ 0 h 90"/>
                  <a:gd name="T101" fmla="*/ 245 w 245"/>
                  <a:gd name="T102" fmla="*/ 90 h 9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5" h="90">
                    <a:moveTo>
                      <a:pt x="122" y="90"/>
                    </a:moveTo>
                    <a:lnTo>
                      <a:pt x="146" y="89"/>
                    </a:lnTo>
                    <a:lnTo>
                      <a:pt x="169" y="86"/>
                    </a:lnTo>
                    <a:lnTo>
                      <a:pt x="190" y="81"/>
                    </a:lnTo>
                    <a:lnTo>
                      <a:pt x="210" y="75"/>
                    </a:lnTo>
                    <a:lnTo>
                      <a:pt x="224" y="69"/>
                    </a:lnTo>
                    <a:lnTo>
                      <a:pt x="235" y="62"/>
                    </a:lnTo>
                    <a:lnTo>
                      <a:pt x="243" y="54"/>
                    </a:lnTo>
                    <a:lnTo>
                      <a:pt x="245" y="45"/>
                    </a:lnTo>
                    <a:lnTo>
                      <a:pt x="243" y="37"/>
                    </a:lnTo>
                    <a:lnTo>
                      <a:pt x="235" y="27"/>
                    </a:lnTo>
                    <a:lnTo>
                      <a:pt x="224" y="20"/>
                    </a:lnTo>
                    <a:lnTo>
                      <a:pt x="210" y="12"/>
                    </a:lnTo>
                    <a:lnTo>
                      <a:pt x="190" y="8"/>
                    </a:lnTo>
                    <a:lnTo>
                      <a:pt x="169" y="4"/>
                    </a:lnTo>
                    <a:lnTo>
                      <a:pt x="146" y="1"/>
                    </a:lnTo>
                    <a:lnTo>
                      <a:pt x="122" y="0"/>
                    </a:lnTo>
                    <a:lnTo>
                      <a:pt x="97" y="1"/>
                    </a:lnTo>
                    <a:lnTo>
                      <a:pt x="75" y="4"/>
                    </a:lnTo>
                    <a:lnTo>
                      <a:pt x="54" y="8"/>
                    </a:lnTo>
                    <a:lnTo>
                      <a:pt x="35" y="12"/>
                    </a:lnTo>
                    <a:lnTo>
                      <a:pt x="21" y="20"/>
                    </a:lnTo>
                    <a:lnTo>
                      <a:pt x="10" y="27"/>
                    </a:lnTo>
                    <a:lnTo>
                      <a:pt x="2" y="37"/>
                    </a:lnTo>
                    <a:lnTo>
                      <a:pt x="0" y="45"/>
                    </a:lnTo>
                    <a:lnTo>
                      <a:pt x="2" y="54"/>
                    </a:lnTo>
                    <a:lnTo>
                      <a:pt x="10" y="62"/>
                    </a:lnTo>
                    <a:lnTo>
                      <a:pt x="21" y="69"/>
                    </a:lnTo>
                    <a:lnTo>
                      <a:pt x="35" y="75"/>
                    </a:lnTo>
                    <a:lnTo>
                      <a:pt x="54" y="81"/>
                    </a:lnTo>
                    <a:lnTo>
                      <a:pt x="75" y="86"/>
                    </a:lnTo>
                    <a:lnTo>
                      <a:pt x="97" y="89"/>
                    </a:lnTo>
                    <a:lnTo>
                      <a:pt x="122" y="90"/>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25" name="Freeform 34"/>
              <p:cNvSpPr/>
              <p:nvPr/>
            </p:nvSpPr>
            <p:spPr bwMode="auto">
              <a:xfrm>
                <a:off x="3162" y="2240"/>
                <a:ext cx="245" cy="56"/>
              </a:xfrm>
              <a:custGeom>
                <a:avLst/>
                <a:gdLst>
                  <a:gd name="T0" fmla="*/ 0 w 245"/>
                  <a:gd name="T1" fmla="*/ 0 h 56"/>
                  <a:gd name="T2" fmla="*/ 2 w 245"/>
                  <a:gd name="T3" fmla="*/ 11 h 56"/>
                  <a:gd name="T4" fmla="*/ 10 w 245"/>
                  <a:gd name="T5" fmla="*/ 19 h 56"/>
                  <a:gd name="T6" fmla="*/ 21 w 245"/>
                  <a:gd name="T7" fmla="*/ 27 h 56"/>
                  <a:gd name="T8" fmla="*/ 35 w 245"/>
                  <a:gd name="T9" fmla="*/ 32 h 56"/>
                  <a:gd name="T10" fmla="*/ 54 w 245"/>
                  <a:gd name="T11" fmla="*/ 39 h 56"/>
                  <a:gd name="T12" fmla="*/ 75 w 245"/>
                  <a:gd name="T13" fmla="*/ 43 h 56"/>
                  <a:gd name="T14" fmla="*/ 97 w 245"/>
                  <a:gd name="T15" fmla="*/ 47 h 56"/>
                  <a:gd name="T16" fmla="*/ 122 w 245"/>
                  <a:gd name="T17" fmla="*/ 47 h 56"/>
                  <a:gd name="T18" fmla="*/ 146 w 245"/>
                  <a:gd name="T19" fmla="*/ 47 h 56"/>
                  <a:gd name="T20" fmla="*/ 169 w 245"/>
                  <a:gd name="T21" fmla="*/ 43 h 56"/>
                  <a:gd name="T22" fmla="*/ 190 w 245"/>
                  <a:gd name="T23" fmla="*/ 39 h 56"/>
                  <a:gd name="T24" fmla="*/ 210 w 245"/>
                  <a:gd name="T25" fmla="*/ 32 h 56"/>
                  <a:gd name="T26" fmla="*/ 224 w 245"/>
                  <a:gd name="T27" fmla="*/ 27 h 56"/>
                  <a:gd name="T28" fmla="*/ 235 w 245"/>
                  <a:gd name="T29" fmla="*/ 19 h 56"/>
                  <a:gd name="T30" fmla="*/ 243 w 245"/>
                  <a:gd name="T31" fmla="*/ 11 h 56"/>
                  <a:gd name="T32" fmla="*/ 245 w 245"/>
                  <a:gd name="T33" fmla="*/ 0 h 56"/>
                  <a:gd name="T34" fmla="*/ 245 w 245"/>
                  <a:gd name="T35" fmla="*/ 14 h 56"/>
                  <a:gd name="T36" fmla="*/ 243 w 245"/>
                  <a:gd name="T37" fmla="*/ 21 h 56"/>
                  <a:gd name="T38" fmla="*/ 235 w 245"/>
                  <a:gd name="T39" fmla="*/ 29 h 56"/>
                  <a:gd name="T40" fmla="*/ 224 w 245"/>
                  <a:gd name="T41" fmla="*/ 37 h 56"/>
                  <a:gd name="T42" fmla="*/ 210 w 245"/>
                  <a:gd name="T43" fmla="*/ 44 h 56"/>
                  <a:gd name="T44" fmla="*/ 190 w 245"/>
                  <a:gd name="T45" fmla="*/ 49 h 56"/>
                  <a:gd name="T46" fmla="*/ 169 w 245"/>
                  <a:gd name="T47" fmla="*/ 53 h 56"/>
                  <a:gd name="T48" fmla="*/ 146 w 245"/>
                  <a:gd name="T49" fmla="*/ 56 h 56"/>
                  <a:gd name="T50" fmla="*/ 122 w 245"/>
                  <a:gd name="T51" fmla="*/ 56 h 56"/>
                  <a:gd name="T52" fmla="*/ 97 w 245"/>
                  <a:gd name="T53" fmla="*/ 56 h 56"/>
                  <a:gd name="T54" fmla="*/ 75 w 245"/>
                  <a:gd name="T55" fmla="*/ 53 h 56"/>
                  <a:gd name="T56" fmla="*/ 54 w 245"/>
                  <a:gd name="T57" fmla="*/ 49 h 56"/>
                  <a:gd name="T58" fmla="*/ 35 w 245"/>
                  <a:gd name="T59" fmla="*/ 44 h 56"/>
                  <a:gd name="T60" fmla="*/ 21 w 245"/>
                  <a:gd name="T61" fmla="*/ 37 h 56"/>
                  <a:gd name="T62" fmla="*/ 10 w 245"/>
                  <a:gd name="T63" fmla="*/ 29 h 56"/>
                  <a:gd name="T64" fmla="*/ 2 w 245"/>
                  <a:gd name="T65" fmla="*/ 21 h 56"/>
                  <a:gd name="T66" fmla="*/ 0 w 245"/>
                  <a:gd name="T67" fmla="*/ 14 h 56"/>
                  <a:gd name="T68" fmla="*/ 0 w 245"/>
                  <a:gd name="T69" fmla="*/ 0 h 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5"/>
                  <a:gd name="T106" fmla="*/ 0 h 56"/>
                  <a:gd name="T107" fmla="*/ 245 w 245"/>
                  <a:gd name="T108" fmla="*/ 56 h 5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5" h="56">
                    <a:moveTo>
                      <a:pt x="0" y="0"/>
                    </a:moveTo>
                    <a:lnTo>
                      <a:pt x="2" y="11"/>
                    </a:lnTo>
                    <a:lnTo>
                      <a:pt x="10" y="19"/>
                    </a:lnTo>
                    <a:lnTo>
                      <a:pt x="21" y="27"/>
                    </a:lnTo>
                    <a:lnTo>
                      <a:pt x="35" y="32"/>
                    </a:lnTo>
                    <a:lnTo>
                      <a:pt x="54" y="39"/>
                    </a:lnTo>
                    <a:lnTo>
                      <a:pt x="75" y="43"/>
                    </a:lnTo>
                    <a:lnTo>
                      <a:pt x="97" y="47"/>
                    </a:lnTo>
                    <a:lnTo>
                      <a:pt x="122" y="47"/>
                    </a:lnTo>
                    <a:lnTo>
                      <a:pt x="146" y="47"/>
                    </a:lnTo>
                    <a:lnTo>
                      <a:pt x="169" y="43"/>
                    </a:lnTo>
                    <a:lnTo>
                      <a:pt x="190" y="39"/>
                    </a:lnTo>
                    <a:lnTo>
                      <a:pt x="210" y="32"/>
                    </a:lnTo>
                    <a:lnTo>
                      <a:pt x="224" y="27"/>
                    </a:lnTo>
                    <a:lnTo>
                      <a:pt x="235" y="19"/>
                    </a:lnTo>
                    <a:lnTo>
                      <a:pt x="243" y="11"/>
                    </a:lnTo>
                    <a:lnTo>
                      <a:pt x="245" y="0"/>
                    </a:lnTo>
                    <a:lnTo>
                      <a:pt x="245" y="14"/>
                    </a:lnTo>
                    <a:lnTo>
                      <a:pt x="243" y="21"/>
                    </a:lnTo>
                    <a:lnTo>
                      <a:pt x="235" y="29"/>
                    </a:lnTo>
                    <a:lnTo>
                      <a:pt x="224" y="37"/>
                    </a:lnTo>
                    <a:lnTo>
                      <a:pt x="210" y="44"/>
                    </a:lnTo>
                    <a:lnTo>
                      <a:pt x="190" y="49"/>
                    </a:lnTo>
                    <a:lnTo>
                      <a:pt x="169" y="53"/>
                    </a:lnTo>
                    <a:lnTo>
                      <a:pt x="146" y="56"/>
                    </a:lnTo>
                    <a:lnTo>
                      <a:pt x="122" y="56"/>
                    </a:lnTo>
                    <a:lnTo>
                      <a:pt x="97" y="56"/>
                    </a:lnTo>
                    <a:lnTo>
                      <a:pt x="75" y="53"/>
                    </a:lnTo>
                    <a:lnTo>
                      <a:pt x="54" y="49"/>
                    </a:lnTo>
                    <a:lnTo>
                      <a:pt x="35" y="44"/>
                    </a:lnTo>
                    <a:lnTo>
                      <a:pt x="21" y="37"/>
                    </a:lnTo>
                    <a:lnTo>
                      <a:pt x="10" y="29"/>
                    </a:lnTo>
                    <a:lnTo>
                      <a:pt x="2" y="21"/>
                    </a:lnTo>
                    <a:lnTo>
                      <a:pt x="0" y="14"/>
                    </a:lnTo>
                    <a:lnTo>
                      <a:pt x="0" y="0"/>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26" name="Freeform 35"/>
              <p:cNvSpPr/>
              <p:nvPr/>
            </p:nvSpPr>
            <p:spPr bwMode="auto">
              <a:xfrm>
                <a:off x="3212" y="2195"/>
                <a:ext cx="144" cy="61"/>
              </a:xfrm>
              <a:custGeom>
                <a:avLst/>
                <a:gdLst>
                  <a:gd name="T0" fmla="*/ 0 w 144"/>
                  <a:gd name="T1" fmla="*/ 0 h 61"/>
                  <a:gd name="T2" fmla="*/ 0 w 144"/>
                  <a:gd name="T3" fmla="*/ 2 h 61"/>
                  <a:gd name="T4" fmla="*/ 0 w 144"/>
                  <a:gd name="T5" fmla="*/ 8 h 61"/>
                  <a:gd name="T6" fmla="*/ 0 w 144"/>
                  <a:gd name="T7" fmla="*/ 18 h 61"/>
                  <a:gd name="T8" fmla="*/ 0 w 144"/>
                  <a:gd name="T9" fmla="*/ 35 h 61"/>
                  <a:gd name="T10" fmla="*/ 2 w 144"/>
                  <a:gd name="T11" fmla="*/ 41 h 61"/>
                  <a:gd name="T12" fmla="*/ 5 w 144"/>
                  <a:gd name="T13" fmla="*/ 45 h 61"/>
                  <a:gd name="T14" fmla="*/ 13 w 144"/>
                  <a:gd name="T15" fmla="*/ 49 h 61"/>
                  <a:gd name="T16" fmla="*/ 21 w 144"/>
                  <a:gd name="T17" fmla="*/ 53 h 61"/>
                  <a:gd name="T18" fmla="*/ 31 w 144"/>
                  <a:gd name="T19" fmla="*/ 57 h 61"/>
                  <a:gd name="T20" fmla="*/ 43 w 144"/>
                  <a:gd name="T21" fmla="*/ 59 h 61"/>
                  <a:gd name="T22" fmla="*/ 58 w 144"/>
                  <a:gd name="T23" fmla="*/ 60 h 61"/>
                  <a:gd name="T24" fmla="*/ 72 w 144"/>
                  <a:gd name="T25" fmla="*/ 61 h 61"/>
                  <a:gd name="T26" fmla="*/ 86 w 144"/>
                  <a:gd name="T27" fmla="*/ 60 h 61"/>
                  <a:gd name="T28" fmla="*/ 100 w 144"/>
                  <a:gd name="T29" fmla="*/ 59 h 61"/>
                  <a:gd name="T30" fmla="*/ 113 w 144"/>
                  <a:gd name="T31" fmla="*/ 57 h 61"/>
                  <a:gd name="T32" fmla="*/ 123 w 144"/>
                  <a:gd name="T33" fmla="*/ 53 h 61"/>
                  <a:gd name="T34" fmla="*/ 132 w 144"/>
                  <a:gd name="T35" fmla="*/ 49 h 61"/>
                  <a:gd name="T36" fmla="*/ 139 w 144"/>
                  <a:gd name="T37" fmla="*/ 45 h 61"/>
                  <a:gd name="T38" fmla="*/ 143 w 144"/>
                  <a:gd name="T39" fmla="*/ 41 h 61"/>
                  <a:gd name="T40" fmla="*/ 144 w 144"/>
                  <a:gd name="T41" fmla="*/ 35 h 61"/>
                  <a:gd name="T42" fmla="*/ 144 w 144"/>
                  <a:gd name="T43" fmla="*/ 19 h 61"/>
                  <a:gd name="T44" fmla="*/ 144 w 144"/>
                  <a:gd name="T45" fmla="*/ 8 h 61"/>
                  <a:gd name="T46" fmla="*/ 144 w 144"/>
                  <a:gd name="T47" fmla="*/ 3 h 61"/>
                  <a:gd name="T48" fmla="*/ 144 w 144"/>
                  <a:gd name="T49" fmla="*/ 0 h 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
                  <a:gd name="T76" fmla="*/ 0 h 61"/>
                  <a:gd name="T77" fmla="*/ 144 w 144"/>
                  <a:gd name="T78" fmla="*/ 61 h 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 h="61">
                    <a:moveTo>
                      <a:pt x="0" y="0"/>
                    </a:moveTo>
                    <a:lnTo>
                      <a:pt x="0" y="2"/>
                    </a:lnTo>
                    <a:lnTo>
                      <a:pt x="0" y="8"/>
                    </a:lnTo>
                    <a:lnTo>
                      <a:pt x="0" y="18"/>
                    </a:lnTo>
                    <a:lnTo>
                      <a:pt x="0" y="35"/>
                    </a:lnTo>
                    <a:lnTo>
                      <a:pt x="2" y="41"/>
                    </a:lnTo>
                    <a:lnTo>
                      <a:pt x="5" y="45"/>
                    </a:lnTo>
                    <a:lnTo>
                      <a:pt x="13" y="49"/>
                    </a:lnTo>
                    <a:lnTo>
                      <a:pt x="21" y="53"/>
                    </a:lnTo>
                    <a:lnTo>
                      <a:pt x="31" y="57"/>
                    </a:lnTo>
                    <a:lnTo>
                      <a:pt x="43" y="59"/>
                    </a:lnTo>
                    <a:lnTo>
                      <a:pt x="58" y="60"/>
                    </a:lnTo>
                    <a:lnTo>
                      <a:pt x="72" y="61"/>
                    </a:lnTo>
                    <a:lnTo>
                      <a:pt x="86" y="60"/>
                    </a:lnTo>
                    <a:lnTo>
                      <a:pt x="100" y="59"/>
                    </a:lnTo>
                    <a:lnTo>
                      <a:pt x="113" y="57"/>
                    </a:lnTo>
                    <a:lnTo>
                      <a:pt x="123" y="53"/>
                    </a:lnTo>
                    <a:lnTo>
                      <a:pt x="132" y="49"/>
                    </a:lnTo>
                    <a:lnTo>
                      <a:pt x="139" y="45"/>
                    </a:lnTo>
                    <a:lnTo>
                      <a:pt x="143" y="41"/>
                    </a:lnTo>
                    <a:lnTo>
                      <a:pt x="144" y="35"/>
                    </a:lnTo>
                    <a:lnTo>
                      <a:pt x="144" y="19"/>
                    </a:lnTo>
                    <a:lnTo>
                      <a:pt x="144" y="8"/>
                    </a:lnTo>
                    <a:lnTo>
                      <a:pt x="144" y="3"/>
                    </a:lnTo>
                    <a:lnTo>
                      <a:pt x="144" y="0"/>
                    </a:lnTo>
                  </a:path>
                </a:pathLst>
              </a:custGeom>
              <a:noFill/>
              <a:ln w="0">
                <a:solidFill>
                  <a:srgbClr val="000000"/>
                </a:solidFill>
                <a:round/>
              </a:ln>
              <a:extLst>
                <a:ext uri="{909E8E84-426E-40DD-AFC4-6F175D3DCCD1}">
                  <a14:hiddenFill xmlns:a14="http://schemas.microsoft.com/office/drawing/2010/main">
                    <a:solidFill>
                      <a:srgbClr val="FFFFFF"/>
                    </a:solidFill>
                  </a14:hiddenFill>
                </a:ext>
              </a:extLst>
            </p:spPr>
            <p:txBody>
              <a:bodyPr lIns="112503" tIns="56252" rIns="112503" bIns="56252"/>
              <a:lstStyle/>
              <a:p>
                <a:endParaRPr lang="zh-CN" altLang="en-US" sz="100"/>
              </a:p>
            </p:txBody>
          </p:sp>
          <p:sp>
            <p:nvSpPr>
              <p:cNvPr id="32827" name="Freeform 36"/>
              <p:cNvSpPr/>
              <p:nvPr/>
            </p:nvSpPr>
            <p:spPr bwMode="auto">
              <a:xfrm>
                <a:off x="3136" y="1990"/>
                <a:ext cx="297" cy="231"/>
              </a:xfrm>
              <a:custGeom>
                <a:avLst/>
                <a:gdLst>
                  <a:gd name="T0" fmla="*/ 282 w 297"/>
                  <a:gd name="T1" fmla="*/ 219 h 231"/>
                  <a:gd name="T2" fmla="*/ 265 w 297"/>
                  <a:gd name="T3" fmla="*/ 220 h 231"/>
                  <a:gd name="T4" fmla="*/ 248 w 297"/>
                  <a:gd name="T5" fmla="*/ 223 h 231"/>
                  <a:gd name="T6" fmla="*/ 232 w 297"/>
                  <a:gd name="T7" fmla="*/ 225 h 231"/>
                  <a:gd name="T8" fmla="*/ 215 w 297"/>
                  <a:gd name="T9" fmla="*/ 228 h 231"/>
                  <a:gd name="T10" fmla="*/ 199 w 297"/>
                  <a:gd name="T11" fmla="*/ 229 h 231"/>
                  <a:gd name="T12" fmla="*/ 182 w 297"/>
                  <a:gd name="T13" fmla="*/ 229 h 231"/>
                  <a:gd name="T14" fmla="*/ 167 w 297"/>
                  <a:gd name="T15" fmla="*/ 231 h 231"/>
                  <a:gd name="T16" fmla="*/ 151 w 297"/>
                  <a:gd name="T17" fmla="*/ 231 h 231"/>
                  <a:gd name="T18" fmla="*/ 135 w 297"/>
                  <a:gd name="T19" fmla="*/ 231 h 231"/>
                  <a:gd name="T20" fmla="*/ 119 w 297"/>
                  <a:gd name="T21" fmla="*/ 231 h 231"/>
                  <a:gd name="T22" fmla="*/ 102 w 297"/>
                  <a:gd name="T23" fmla="*/ 229 h 231"/>
                  <a:gd name="T24" fmla="*/ 85 w 297"/>
                  <a:gd name="T25" fmla="*/ 229 h 231"/>
                  <a:gd name="T26" fmla="*/ 69 w 297"/>
                  <a:gd name="T27" fmla="*/ 228 h 231"/>
                  <a:gd name="T28" fmla="*/ 51 w 297"/>
                  <a:gd name="T29" fmla="*/ 225 h 231"/>
                  <a:gd name="T30" fmla="*/ 33 w 297"/>
                  <a:gd name="T31" fmla="*/ 221 h 231"/>
                  <a:gd name="T32" fmla="*/ 14 w 297"/>
                  <a:gd name="T33" fmla="*/ 219 h 231"/>
                  <a:gd name="T34" fmla="*/ 3 w 297"/>
                  <a:gd name="T35" fmla="*/ 175 h 231"/>
                  <a:gd name="T36" fmla="*/ 0 w 297"/>
                  <a:gd name="T37" fmla="*/ 113 h 231"/>
                  <a:gd name="T38" fmla="*/ 2 w 297"/>
                  <a:gd name="T39" fmla="*/ 52 h 231"/>
                  <a:gd name="T40" fmla="*/ 8 w 297"/>
                  <a:gd name="T41" fmla="*/ 13 h 231"/>
                  <a:gd name="T42" fmla="*/ 27 w 297"/>
                  <a:gd name="T43" fmla="*/ 9 h 231"/>
                  <a:gd name="T44" fmla="*/ 47 w 297"/>
                  <a:gd name="T45" fmla="*/ 6 h 231"/>
                  <a:gd name="T46" fmla="*/ 64 w 297"/>
                  <a:gd name="T47" fmla="*/ 2 h 231"/>
                  <a:gd name="T48" fmla="*/ 82 w 297"/>
                  <a:gd name="T49" fmla="*/ 1 h 231"/>
                  <a:gd name="T50" fmla="*/ 101 w 297"/>
                  <a:gd name="T51" fmla="*/ 0 h 231"/>
                  <a:gd name="T52" fmla="*/ 117 w 297"/>
                  <a:gd name="T53" fmla="*/ 0 h 231"/>
                  <a:gd name="T54" fmla="*/ 134 w 297"/>
                  <a:gd name="T55" fmla="*/ 0 h 231"/>
                  <a:gd name="T56" fmla="*/ 151 w 297"/>
                  <a:gd name="T57" fmla="*/ 0 h 231"/>
                  <a:gd name="T58" fmla="*/ 170 w 297"/>
                  <a:gd name="T59" fmla="*/ 0 h 231"/>
                  <a:gd name="T60" fmla="*/ 185 w 297"/>
                  <a:gd name="T61" fmla="*/ 0 h 231"/>
                  <a:gd name="T62" fmla="*/ 201 w 297"/>
                  <a:gd name="T63" fmla="*/ 1 h 231"/>
                  <a:gd name="T64" fmla="*/ 217 w 297"/>
                  <a:gd name="T65" fmla="*/ 2 h 231"/>
                  <a:gd name="T66" fmla="*/ 236 w 297"/>
                  <a:gd name="T67" fmla="*/ 5 h 231"/>
                  <a:gd name="T68" fmla="*/ 253 w 297"/>
                  <a:gd name="T69" fmla="*/ 6 h 231"/>
                  <a:gd name="T70" fmla="*/ 271 w 297"/>
                  <a:gd name="T71" fmla="*/ 10 h 231"/>
                  <a:gd name="T72" fmla="*/ 287 w 297"/>
                  <a:gd name="T73" fmla="*/ 13 h 231"/>
                  <a:gd name="T74" fmla="*/ 294 w 297"/>
                  <a:gd name="T75" fmla="*/ 52 h 231"/>
                  <a:gd name="T76" fmla="*/ 297 w 297"/>
                  <a:gd name="T77" fmla="*/ 113 h 231"/>
                  <a:gd name="T78" fmla="*/ 293 w 297"/>
                  <a:gd name="T79" fmla="*/ 175 h 231"/>
                  <a:gd name="T80" fmla="*/ 282 w 297"/>
                  <a:gd name="T81" fmla="*/ 219 h 23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97"/>
                  <a:gd name="T124" fmla="*/ 0 h 231"/>
                  <a:gd name="T125" fmla="*/ 297 w 297"/>
                  <a:gd name="T126" fmla="*/ 231 h 23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97" h="231">
                    <a:moveTo>
                      <a:pt x="282" y="219"/>
                    </a:moveTo>
                    <a:lnTo>
                      <a:pt x="265" y="220"/>
                    </a:lnTo>
                    <a:lnTo>
                      <a:pt x="248" y="223"/>
                    </a:lnTo>
                    <a:lnTo>
                      <a:pt x="232" y="225"/>
                    </a:lnTo>
                    <a:lnTo>
                      <a:pt x="215" y="228"/>
                    </a:lnTo>
                    <a:lnTo>
                      <a:pt x="199" y="229"/>
                    </a:lnTo>
                    <a:lnTo>
                      <a:pt x="182" y="229"/>
                    </a:lnTo>
                    <a:lnTo>
                      <a:pt x="167" y="231"/>
                    </a:lnTo>
                    <a:lnTo>
                      <a:pt x="151" y="231"/>
                    </a:lnTo>
                    <a:lnTo>
                      <a:pt x="135" y="231"/>
                    </a:lnTo>
                    <a:lnTo>
                      <a:pt x="119" y="231"/>
                    </a:lnTo>
                    <a:lnTo>
                      <a:pt x="102" y="229"/>
                    </a:lnTo>
                    <a:lnTo>
                      <a:pt x="85" y="229"/>
                    </a:lnTo>
                    <a:lnTo>
                      <a:pt x="69" y="228"/>
                    </a:lnTo>
                    <a:lnTo>
                      <a:pt x="51" y="225"/>
                    </a:lnTo>
                    <a:lnTo>
                      <a:pt x="33" y="221"/>
                    </a:lnTo>
                    <a:lnTo>
                      <a:pt x="14" y="219"/>
                    </a:lnTo>
                    <a:lnTo>
                      <a:pt x="3" y="175"/>
                    </a:lnTo>
                    <a:lnTo>
                      <a:pt x="0" y="113"/>
                    </a:lnTo>
                    <a:lnTo>
                      <a:pt x="2" y="52"/>
                    </a:lnTo>
                    <a:lnTo>
                      <a:pt x="8" y="13"/>
                    </a:lnTo>
                    <a:lnTo>
                      <a:pt x="27" y="9"/>
                    </a:lnTo>
                    <a:lnTo>
                      <a:pt x="47" y="6"/>
                    </a:lnTo>
                    <a:lnTo>
                      <a:pt x="64" y="2"/>
                    </a:lnTo>
                    <a:lnTo>
                      <a:pt x="82" y="1"/>
                    </a:lnTo>
                    <a:lnTo>
                      <a:pt x="101" y="0"/>
                    </a:lnTo>
                    <a:lnTo>
                      <a:pt x="117" y="0"/>
                    </a:lnTo>
                    <a:lnTo>
                      <a:pt x="134" y="0"/>
                    </a:lnTo>
                    <a:lnTo>
                      <a:pt x="151" y="0"/>
                    </a:lnTo>
                    <a:lnTo>
                      <a:pt x="170" y="0"/>
                    </a:lnTo>
                    <a:lnTo>
                      <a:pt x="185" y="0"/>
                    </a:lnTo>
                    <a:lnTo>
                      <a:pt x="201" y="1"/>
                    </a:lnTo>
                    <a:lnTo>
                      <a:pt x="217" y="2"/>
                    </a:lnTo>
                    <a:lnTo>
                      <a:pt x="236" y="5"/>
                    </a:lnTo>
                    <a:lnTo>
                      <a:pt x="253" y="6"/>
                    </a:lnTo>
                    <a:lnTo>
                      <a:pt x="271" y="10"/>
                    </a:lnTo>
                    <a:lnTo>
                      <a:pt x="287" y="13"/>
                    </a:lnTo>
                    <a:lnTo>
                      <a:pt x="294" y="52"/>
                    </a:lnTo>
                    <a:lnTo>
                      <a:pt x="297" y="113"/>
                    </a:lnTo>
                    <a:lnTo>
                      <a:pt x="293" y="175"/>
                    </a:lnTo>
                    <a:lnTo>
                      <a:pt x="282" y="219"/>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28" name="Freeform 37"/>
              <p:cNvSpPr/>
              <p:nvPr/>
            </p:nvSpPr>
            <p:spPr bwMode="auto">
              <a:xfrm>
                <a:off x="3144" y="1954"/>
                <a:ext cx="279" cy="49"/>
              </a:xfrm>
              <a:custGeom>
                <a:avLst/>
                <a:gdLst>
                  <a:gd name="T0" fmla="*/ 245 w 279"/>
                  <a:gd name="T1" fmla="*/ 8 h 49"/>
                  <a:gd name="T2" fmla="*/ 230 w 279"/>
                  <a:gd name="T3" fmla="*/ 5 h 49"/>
                  <a:gd name="T4" fmla="*/ 217 w 279"/>
                  <a:gd name="T5" fmla="*/ 4 h 49"/>
                  <a:gd name="T6" fmla="*/ 205 w 279"/>
                  <a:gd name="T7" fmla="*/ 3 h 49"/>
                  <a:gd name="T8" fmla="*/ 191 w 279"/>
                  <a:gd name="T9" fmla="*/ 1 h 49"/>
                  <a:gd name="T10" fmla="*/ 180 w 279"/>
                  <a:gd name="T11" fmla="*/ 0 h 49"/>
                  <a:gd name="T12" fmla="*/ 166 w 279"/>
                  <a:gd name="T13" fmla="*/ 0 h 49"/>
                  <a:gd name="T14" fmla="*/ 152 w 279"/>
                  <a:gd name="T15" fmla="*/ 0 h 49"/>
                  <a:gd name="T16" fmla="*/ 140 w 279"/>
                  <a:gd name="T17" fmla="*/ 0 h 49"/>
                  <a:gd name="T18" fmla="*/ 129 w 279"/>
                  <a:gd name="T19" fmla="*/ 0 h 49"/>
                  <a:gd name="T20" fmla="*/ 117 w 279"/>
                  <a:gd name="T21" fmla="*/ 0 h 49"/>
                  <a:gd name="T22" fmla="*/ 103 w 279"/>
                  <a:gd name="T23" fmla="*/ 0 h 49"/>
                  <a:gd name="T24" fmla="*/ 90 w 279"/>
                  <a:gd name="T25" fmla="*/ 0 h 49"/>
                  <a:gd name="T26" fmla="*/ 77 w 279"/>
                  <a:gd name="T27" fmla="*/ 1 h 49"/>
                  <a:gd name="T28" fmla="*/ 62 w 279"/>
                  <a:gd name="T29" fmla="*/ 3 h 49"/>
                  <a:gd name="T30" fmla="*/ 48 w 279"/>
                  <a:gd name="T31" fmla="*/ 5 h 49"/>
                  <a:gd name="T32" fmla="*/ 35 w 279"/>
                  <a:gd name="T33" fmla="*/ 8 h 49"/>
                  <a:gd name="T34" fmla="*/ 0 w 279"/>
                  <a:gd name="T35" fmla="*/ 49 h 49"/>
                  <a:gd name="T36" fmla="*/ 19 w 279"/>
                  <a:gd name="T37" fmla="*/ 45 h 49"/>
                  <a:gd name="T38" fmla="*/ 39 w 279"/>
                  <a:gd name="T39" fmla="*/ 42 h 49"/>
                  <a:gd name="T40" fmla="*/ 56 w 279"/>
                  <a:gd name="T41" fmla="*/ 38 h 49"/>
                  <a:gd name="T42" fmla="*/ 74 w 279"/>
                  <a:gd name="T43" fmla="*/ 37 h 49"/>
                  <a:gd name="T44" fmla="*/ 93 w 279"/>
                  <a:gd name="T45" fmla="*/ 36 h 49"/>
                  <a:gd name="T46" fmla="*/ 109 w 279"/>
                  <a:gd name="T47" fmla="*/ 36 h 49"/>
                  <a:gd name="T48" fmla="*/ 126 w 279"/>
                  <a:gd name="T49" fmla="*/ 36 h 49"/>
                  <a:gd name="T50" fmla="*/ 143 w 279"/>
                  <a:gd name="T51" fmla="*/ 36 h 49"/>
                  <a:gd name="T52" fmla="*/ 162 w 279"/>
                  <a:gd name="T53" fmla="*/ 36 h 49"/>
                  <a:gd name="T54" fmla="*/ 177 w 279"/>
                  <a:gd name="T55" fmla="*/ 36 h 49"/>
                  <a:gd name="T56" fmla="*/ 193 w 279"/>
                  <a:gd name="T57" fmla="*/ 37 h 49"/>
                  <a:gd name="T58" fmla="*/ 209 w 279"/>
                  <a:gd name="T59" fmla="*/ 38 h 49"/>
                  <a:gd name="T60" fmla="*/ 228 w 279"/>
                  <a:gd name="T61" fmla="*/ 41 h 49"/>
                  <a:gd name="T62" fmla="*/ 245 w 279"/>
                  <a:gd name="T63" fmla="*/ 42 h 49"/>
                  <a:gd name="T64" fmla="*/ 263 w 279"/>
                  <a:gd name="T65" fmla="*/ 46 h 49"/>
                  <a:gd name="T66" fmla="*/ 279 w 279"/>
                  <a:gd name="T67" fmla="*/ 49 h 49"/>
                  <a:gd name="T68" fmla="*/ 245 w 279"/>
                  <a:gd name="T69" fmla="*/ 8 h 4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79"/>
                  <a:gd name="T106" fmla="*/ 0 h 49"/>
                  <a:gd name="T107" fmla="*/ 279 w 279"/>
                  <a:gd name="T108" fmla="*/ 49 h 4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79" h="49">
                    <a:moveTo>
                      <a:pt x="245" y="8"/>
                    </a:moveTo>
                    <a:lnTo>
                      <a:pt x="230" y="5"/>
                    </a:lnTo>
                    <a:lnTo>
                      <a:pt x="217" y="4"/>
                    </a:lnTo>
                    <a:lnTo>
                      <a:pt x="205" y="3"/>
                    </a:lnTo>
                    <a:lnTo>
                      <a:pt x="191" y="1"/>
                    </a:lnTo>
                    <a:lnTo>
                      <a:pt x="180" y="0"/>
                    </a:lnTo>
                    <a:lnTo>
                      <a:pt x="166" y="0"/>
                    </a:lnTo>
                    <a:lnTo>
                      <a:pt x="152" y="0"/>
                    </a:lnTo>
                    <a:lnTo>
                      <a:pt x="140" y="0"/>
                    </a:lnTo>
                    <a:lnTo>
                      <a:pt x="129" y="0"/>
                    </a:lnTo>
                    <a:lnTo>
                      <a:pt x="117" y="0"/>
                    </a:lnTo>
                    <a:lnTo>
                      <a:pt x="103" y="0"/>
                    </a:lnTo>
                    <a:lnTo>
                      <a:pt x="90" y="0"/>
                    </a:lnTo>
                    <a:lnTo>
                      <a:pt x="77" y="1"/>
                    </a:lnTo>
                    <a:lnTo>
                      <a:pt x="62" y="3"/>
                    </a:lnTo>
                    <a:lnTo>
                      <a:pt x="48" y="5"/>
                    </a:lnTo>
                    <a:lnTo>
                      <a:pt x="35" y="8"/>
                    </a:lnTo>
                    <a:lnTo>
                      <a:pt x="0" y="49"/>
                    </a:lnTo>
                    <a:lnTo>
                      <a:pt x="19" y="45"/>
                    </a:lnTo>
                    <a:lnTo>
                      <a:pt x="39" y="42"/>
                    </a:lnTo>
                    <a:lnTo>
                      <a:pt x="56" y="38"/>
                    </a:lnTo>
                    <a:lnTo>
                      <a:pt x="74" y="37"/>
                    </a:lnTo>
                    <a:lnTo>
                      <a:pt x="93" y="36"/>
                    </a:lnTo>
                    <a:lnTo>
                      <a:pt x="109" y="36"/>
                    </a:lnTo>
                    <a:lnTo>
                      <a:pt x="126" y="36"/>
                    </a:lnTo>
                    <a:lnTo>
                      <a:pt x="143" y="36"/>
                    </a:lnTo>
                    <a:lnTo>
                      <a:pt x="162" y="36"/>
                    </a:lnTo>
                    <a:lnTo>
                      <a:pt x="177" y="36"/>
                    </a:lnTo>
                    <a:lnTo>
                      <a:pt x="193" y="37"/>
                    </a:lnTo>
                    <a:lnTo>
                      <a:pt x="209" y="38"/>
                    </a:lnTo>
                    <a:lnTo>
                      <a:pt x="228" y="41"/>
                    </a:lnTo>
                    <a:lnTo>
                      <a:pt x="245" y="42"/>
                    </a:lnTo>
                    <a:lnTo>
                      <a:pt x="263" y="46"/>
                    </a:lnTo>
                    <a:lnTo>
                      <a:pt x="279" y="49"/>
                    </a:lnTo>
                    <a:lnTo>
                      <a:pt x="245" y="8"/>
                    </a:lnTo>
                    <a:close/>
                  </a:path>
                </a:pathLst>
              </a:custGeom>
              <a:solidFill>
                <a:srgbClr val="FFFFFF"/>
              </a:solidFill>
              <a:ln w="0">
                <a:solidFill>
                  <a:srgbClr val="000000"/>
                </a:solidFill>
                <a:round/>
              </a:ln>
            </p:spPr>
            <p:txBody>
              <a:bodyPr lIns="112503" tIns="56252" rIns="112503" bIns="56252"/>
              <a:lstStyle/>
              <a:p>
                <a:endParaRPr lang="zh-CN" altLang="en-US" sz="100"/>
              </a:p>
            </p:txBody>
          </p:sp>
          <p:sp>
            <p:nvSpPr>
              <p:cNvPr id="32829" name="Freeform 38"/>
              <p:cNvSpPr/>
              <p:nvPr/>
            </p:nvSpPr>
            <p:spPr bwMode="auto">
              <a:xfrm>
                <a:off x="3159" y="2005"/>
                <a:ext cx="251" cy="198"/>
              </a:xfrm>
              <a:custGeom>
                <a:avLst/>
                <a:gdLst>
                  <a:gd name="T0" fmla="*/ 238 w 251"/>
                  <a:gd name="T1" fmla="*/ 188 h 198"/>
                  <a:gd name="T2" fmla="*/ 222 w 251"/>
                  <a:gd name="T3" fmla="*/ 189 h 198"/>
                  <a:gd name="T4" fmla="*/ 210 w 251"/>
                  <a:gd name="T5" fmla="*/ 192 h 198"/>
                  <a:gd name="T6" fmla="*/ 194 w 251"/>
                  <a:gd name="T7" fmla="*/ 194 h 198"/>
                  <a:gd name="T8" fmla="*/ 180 w 251"/>
                  <a:gd name="T9" fmla="*/ 197 h 198"/>
                  <a:gd name="T10" fmla="*/ 168 w 251"/>
                  <a:gd name="T11" fmla="*/ 197 h 198"/>
                  <a:gd name="T12" fmla="*/ 155 w 251"/>
                  <a:gd name="T13" fmla="*/ 198 h 198"/>
                  <a:gd name="T14" fmla="*/ 141 w 251"/>
                  <a:gd name="T15" fmla="*/ 198 h 198"/>
                  <a:gd name="T16" fmla="*/ 127 w 251"/>
                  <a:gd name="T17" fmla="*/ 198 h 198"/>
                  <a:gd name="T18" fmla="*/ 115 w 251"/>
                  <a:gd name="T19" fmla="*/ 198 h 198"/>
                  <a:gd name="T20" fmla="*/ 102 w 251"/>
                  <a:gd name="T21" fmla="*/ 198 h 198"/>
                  <a:gd name="T22" fmla="*/ 87 w 251"/>
                  <a:gd name="T23" fmla="*/ 198 h 198"/>
                  <a:gd name="T24" fmla="*/ 74 w 251"/>
                  <a:gd name="T25" fmla="*/ 197 h 198"/>
                  <a:gd name="T26" fmla="*/ 58 w 251"/>
                  <a:gd name="T27" fmla="*/ 196 h 198"/>
                  <a:gd name="T28" fmla="*/ 43 w 251"/>
                  <a:gd name="T29" fmla="*/ 193 h 198"/>
                  <a:gd name="T30" fmla="*/ 28 w 251"/>
                  <a:gd name="T31" fmla="*/ 190 h 198"/>
                  <a:gd name="T32" fmla="*/ 13 w 251"/>
                  <a:gd name="T33" fmla="*/ 188 h 198"/>
                  <a:gd name="T34" fmla="*/ 3 w 251"/>
                  <a:gd name="T35" fmla="*/ 150 h 198"/>
                  <a:gd name="T36" fmla="*/ 0 w 251"/>
                  <a:gd name="T37" fmla="*/ 98 h 198"/>
                  <a:gd name="T38" fmla="*/ 3 w 251"/>
                  <a:gd name="T39" fmla="*/ 48 h 198"/>
                  <a:gd name="T40" fmla="*/ 6 w 251"/>
                  <a:gd name="T41" fmla="*/ 14 h 198"/>
                  <a:gd name="T42" fmla="*/ 24 w 251"/>
                  <a:gd name="T43" fmla="*/ 10 h 198"/>
                  <a:gd name="T44" fmla="*/ 40 w 251"/>
                  <a:gd name="T45" fmla="*/ 7 h 198"/>
                  <a:gd name="T46" fmla="*/ 55 w 251"/>
                  <a:gd name="T47" fmla="*/ 6 h 198"/>
                  <a:gd name="T48" fmla="*/ 70 w 251"/>
                  <a:gd name="T49" fmla="*/ 3 h 198"/>
                  <a:gd name="T50" fmla="*/ 84 w 251"/>
                  <a:gd name="T51" fmla="*/ 3 h 198"/>
                  <a:gd name="T52" fmla="*/ 99 w 251"/>
                  <a:gd name="T53" fmla="*/ 2 h 198"/>
                  <a:gd name="T54" fmla="*/ 112 w 251"/>
                  <a:gd name="T55" fmla="*/ 0 h 198"/>
                  <a:gd name="T56" fmla="*/ 127 w 251"/>
                  <a:gd name="T57" fmla="*/ 0 h 198"/>
                  <a:gd name="T58" fmla="*/ 143 w 251"/>
                  <a:gd name="T59" fmla="*/ 2 h 198"/>
                  <a:gd name="T60" fmla="*/ 155 w 251"/>
                  <a:gd name="T61" fmla="*/ 3 h 198"/>
                  <a:gd name="T62" fmla="*/ 169 w 251"/>
                  <a:gd name="T63" fmla="*/ 3 h 198"/>
                  <a:gd name="T64" fmla="*/ 185 w 251"/>
                  <a:gd name="T65" fmla="*/ 6 h 198"/>
                  <a:gd name="T66" fmla="*/ 198 w 251"/>
                  <a:gd name="T67" fmla="*/ 7 h 198"/>
                  <a:gd name="T68" fmla="*/ 214 w 251"/>
                  <a:gd name="T69" fmla="*/ 8 h 198"/>
                  <a:gd name="T70" fmla="*/ 229 w 251"/>
                  <a:gd name="T71" fmla="*/ 10 h 198"/>
                  <a:gd name="T72" fmla="*/ 243 w 251"/>
                  <a:gd name="T73" fmla="*/ 14 h 198"/>
                  <a:gd name="T74" fmla="*/ 248 w 251"/>
                  <a:gd name="T75" fmla="*/ 48 h 198"/>
                  <a:gd name="T76" fmla="*/ 251 w 251"/>
                  <a:gd name="T77" fmla="*/ 98 h 198"/>
                  <a:gd name="T78" fmla="*/ 248 w 251"/>
                  <a:gd name="T79" fmla="*/ 150 h 198"/>
                  <a:gd name="T80" fmla="*/ 238 w 251"/>
                  <a:gd name="T81" fmla="*/ 188 h 1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1"/>
                  <a:gd name="T124" fmla="*/ 0 h 198"/>
                  <a:gd name="T125" fmla="*/ 251 w 251"/>
                  <a:gd name="T126" fmla="*/ 198 h 1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1" h="198">
                    <a:moveTo>
                      <a:pt x="238" y="188"/>
                    </a:moveTo>
                    <a:lnTo>
                      <a:pt x="222" y="189"/>
                    </a:lnTo>
                    <a:lnTo>
                      <a:pt x="210" y="192"/>
                    </a:lnTo>
                    <a:lnTo>
                      <a:pt x="194" y="194"/>
                    </a:lnTo>
                    <a:lnTo>
                      <a:pt x="180" y="197"/>
                    </a:lnTo>
                    <a:lnTo>
                      <a:pt x="168" y="197"/>
                    </a:lnTo>
                    <a:lnTo>
                      <a:pt x="155" y="198"/>
                    </a:lnTo>
                    <a:lnTo>
                      <a:pt x="141" y="198"/>
                    </a:lnTo>
                    <a:lnTo>
                      <a:pt x="127" y="198"/>
                    </a:lnTo>
                    <a:lnTo>
                      <a:pt x="115" y="198"/>
                    </a:lnTo>
                    <a:lnTo>
                      <a:pt x="102" y="198"/>
                    </a:lnTo>
                    <a:lnTo>
                      <a:pt x="87" y="198"/>
                    </a:lnTo>
                    <a:lnTo>
                      <a:pt x="74" y="197"/>
                    </a:lnTo>
                    <a:lnTo>
                      <a:pt x="58" y="196"/>
                    </a:lnTo>
                    <a:lnTo>
                      <a:pt x="43" y="193"/>
                    </a:lnTo>
                    <a:lnTo>
                      <a:pt x="28" y="190"/>
                    </a:lnTo>
                    <a:lnTo>
                      <a:pt x="13" y="188"/>
                    </a:lnTo>
                    <a:lnTo>
                      <a:pt x="3" y="150"/>
                    </a:lnTo>
                    <a:lnTo>
                      <a:pt x="0" y="98"/>
                    </a:lnTo>
                    <a:lnTo>
                      <a:pt x="3" y="48"/>
                    </a:lnTo>
                    <a:lnTo>
                      <a:pt x="6" y="14"/>
                    </a:lnTo>
                    <a:lnTo>
                      <a:pt x="24" y="10"/>
                    </a:lnTo>
                    <a:lnTo>
                      <a:pt x="40" y="7"/>
                    </a:lnTo>
                    <a:lnTo>
                      <a:pt x="55" y="6"/>
                    </a:lnTo>
                    <a:lnTo>
                      <a:pt x="70" y="3"/>
                    </a:lnTo>
                    <a:lnTo>
                      <a:pt x="84" y="3"/>
                    </a:lnTo>
                    <a:lnTo>
                      <a:pt x="99" y="2"/>
                    </a:lnTo>
                    <a:lnTo>
                      <a:pt x="112" y="0"/>
                    </a:lnTo>
                    <a:lnTo>
                      <a:pt x="127" y="0"/>
                    </a:lnTo>
                    <a:lnTo>
                      <a:pt x="143" y="2"/>
                    </a:lnTo>
                    <a:lnTo>
                      <a:pt x="155" y="3"/>
                    </a:lnTo>
                    <a:lnTo>
                      <a:pt x="169" y="3"/>
                    </a:lnTo>
                    <a:lnTo>
                      <a:pt x="185" y="6"/>
                    </a:lnTo>
                    <a:lnTo>
                      <a:pt x="198" y="7"/>
                    </a:lnTo>
                    <a:lnTo>
                      <a:pt x="214" y="8"/>
                    </a:lnTo>
                    <a:lnTo>
                      <a:pt x="229" y="10"/>
                    </a:lnTo>
                    <a:lnTo>
                      <a:pt x="243" y="14"/>
                    </a:lnTo>
                    <a:lnTo>
                      <a:pt x="248" y="48"/>
                    </a:lnTo>
                    <a:lnTo>
                      <a:pt x="251" y="98"/>
                    </a:lnTo>
                    <a:lnTo>
                      <a:pt x="248" y="150"/>
                    </a:lnTo>
                    <a:lnTo>
                      <a:pt x="238" y="18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lIns="112503" tIns="56252" rIns="112503" bIns="56252"/>
              <a:lstStyle/>
              <a:p>
                <a:endParaRPr lang="zh-CN" altLang="en-US" sz="100"/>
              </a:p>
            </p:txBody>
          </p:sp>
          <p:sp>
            <p:nvSpPr>
              <p:cNvPr id="32830" name="Rectangle 39"/>
              <p:cNvSpPr>
                <a:spLocks noChangeArrowheads="1"/>
              </p:cNvSpPr>
              <p:nvPr/>
            </p:nvSpPr>
            <p:spPr bwMode="auto">
              <a:xfrm>
                <a:off x="3199" y="2054"/>
                <a:ext cx="153" cy="21"/>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sp>
            <p:nvSpPr>
              <p:cNvPr id="32831" name="Rectangle 40"/>
              <p:cNvSpPr>
                <a:spLocks noChangeArrowheads="1"/>
              </p:cNvSpPr>
              <p:nvPr/>
            </p:nvSpPr>
            <p:spPr bwMode="auto">
              <a:xfrm>
                <a:off x="3199" y="2083"/>
                <a:ext cx="128" cy="21"/>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sp>
            <p:nvSpPr>
              <p:cNvPr id="32832" name="Rectangle 41"/>
              <p:cNvSpPr>
                <a:spLocks noChangeArrowheads="1"/>
              </p:cNvSpPr>
              <p:nvPr/>
            </p:nvSpPr>
            <p:spPr bwMode="auto">
              <a:xfrm>
                <a:off x="3199" y="2112"/>
                <a:ext cx="85" cy="21"/>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sp>
            <p:nvSpPr>
              <p:cNvPr id="32833" name="Rectangle 42"/>
              <p:cNvSpPr>
                <a:spLocks noChangeArrowheads="1"/>
              </p:cNvSpPr>
              <p:nvPr/>
            </p:nvSpPr>
            <p:spPr bwMode="auto">
              <a:xfrm>
                <a:off x="3199" y="2141"/>
                <a:ext cx="48" cy="20"/>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12503" tIns="56252" rIns="112503" bIns="56252"/>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b="1">
                  <a:latin typeface="Arial" panose="020B0604020202020204" pitchFamily="34" charset="0"/>
                  <a:ea typeface="宋体" panose="02010600030101010101" pitchFamily="2" charset="-122"/>
                </a:endParaRPr>
              </a:p>
            </p:txBody>
          </p:sp>
        </p:grpSp>
        <p:sp>
          <p:nvSpPr>
            <p:cNvPr id="32815" name="Rectangle 43"/>
            <p:cNvSpPr>
              <a:spLocks noChangeArrowheads="1"/>
            </p:cNvSpPr>
            <p:nvPr/>
          </p:nvSpPr>
          <p:spPr bwMode="auto">
            <a:xfrm>
              <a:off x="5457349" y="2054225"/>
              <a:ext cx="664528" cy="19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600" b="1">
                  <a:solidFill>
                    <a:srgbClr val="000000"/>
                  </a:solidFill>
                  <a:latin typeface="Times New Roman" panose="02020603050405020304" pitchFamily="18" charset="0"/>
                  <a:ea typeface="宋体" panose="02010600030101010101" pitchFamily="2" charset="-122"/>
                </a:rPr>
                <a:t>网络安全</a:t>
              </a:r>
              <a:endParaRPr lang="zh-CN" altLang="en-US" sz="1600" b="1">
                <a:solidFill>
                  <a:srgbClr val="000000"/>
                </a:solidFill>
                <a:latin typeface="Times New Roman" panose="02020603050405020304" pitchFamily="18" charset="0"/>
                <a:ea typeface="宋体" panose="02010600030101010101" pitchFamily="2" charset="-122"/>
              </a:endParaRPr>
            </a:p>
          </p:txBody>
        </p:sp>
        <p:sp>
          <p:nvSpPr>
            <p:cNvPr id="32816" name="Freeform 44"/>
            <p:cNvSpPr/>
            <p:nvPr/>
          </p:nvSpPr>
          <p:spPr bwMode="auto">
            <a:xfrm>
              <a:off x="4991100" y="2054225"/>
              <a:ext cx="1570038" cy="227013"/>
            </a:xfrm>
            <a:custGeom>
              <a:avLst/>
              <a:gdLst>
                <a:gd name="T0" fmla="*/ 0 w 912"/>
                <a:gd name="T1" fmla="*/ 2147483646 h 144"/>
                <a:gd name="T2" fmla="*/ 0 w 912"/>
                <a:gd name="T3" fmla="*/ 0 h 144"/>
                <a:gd name="T4" fmla="*/ 2147483646 w 912"/>
                <a:gd name="T5" fmla="*/ 0 h 144"/>
                <a:gd name="T6" fmla="*/ 2147483646 w 912"/>
                <a:gd name="T7" fmla="*/ 2147483646 h 144"/>
                <a:gd name="T8" fmla="*/ 0 60000 65536"/>
                <a:gd name="T9" fmla="*/ 0 60000 65536"/>
                <a:gd name="T10" fmla="*/ 0 60000 65536"/>
                <a:gd name="T11" fmla="*/ 0 60000 65536"/>
                <a:gd name="T12" fmla="*/ 0 w 912"/>
                <a:gd name="T13" fmla="*/ 0 h 144"/>
                <a:gd name="T14" fmla="*/ 912 w 912"/>
                <a:gd name="T15" fmla="*/ 144 h 144"/>
              </a:gdLst>
              <a:ahLst/>
              <a:cxnLst>
                <a:cxn ang="T8">
                  <a:pos x="T0" y="T1"/>
                </a:cxn>
                <a:cxn ang="T9">
                  <a:pos x="T2" y="T3"/>
                </a:cxn>
                <a:cxn ang="T10">
                  <a:pos x="T4" y="T5"/>
                </a:cxn>
                <a:cxn ang="T11">
                  <a:pos x="T6" y="T7"/>
                </a:cxn>
              </a:cxnLst>
              <a:rect l="T12" t="T13" r="T14" b="T15"/>
              <a:pathLst>
                <a:path w="912" h="144">
                  <a:moveTo>
                    <a:pt x="0" y="144"/>
                  </a:moveTo>
                  <a:lnTo>
                    <a:pt x="0" y="0"/>
                  </a:lnTo>
                  <a:lnTo>
                    <a:pt x="912" y="0"/>
                  </a:lnTo>
                  <a:lnTo>
                    <a:pt x="912" y="144"/>
                  </a:lnTo>
                </a:path>
              </a:pathLst>
            </a:custGeom>
            <a:noFill/>
            <a:ln w="9525">
              <a:solidFill>
                <a:schemeClr val="bg2"/>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112503" tIns="56252" rIns="112503" bIns="56252"/>
            <a:lstStyle/>
            <a:p>
              <a:endParaRPr lang="zh-CN" altLang="en-US" sz="100"/>
            </a:p>
          </p:txBody>
        </p:sp>
        <p:grpSp>
          <p:nvGrpSpPr>
            <p:cNvPr id="32817" name="Group 45"/>
            <p:cNvGrpSpPr/>
            <p:nvPr/>
          </p:nvGrpSpPr>
          <p:grpSpPr bwMode="auto">
            <a:xfrm>
              <a:off x="2954338" y="2125663"/>
              <a:ext cx="5829300" cy="1276350"/>
              <a:chOff x="1296" y="2064"/>
              <a:chExt cx="3388" cy="805"/>
            </a:xfrm>
          </p:grpSpPr>
          <p:grpSp>
            <p:nvGrpSpPr>
              <p:cNvPr id="32818" name="Group 46"/>
              <p:cNvGrpSpPr/>
              <p:nvPr/>
            </p:nvGrpSpPr>
            <p:grpSpPr bwMode="auto">
              <a:xfrm>
                <a:off x="3696" y="2064"/>
                <a:ext cx="988" cy="805"/>
                <a:chOff x="3696" y="2064"/>
                <a:chExt cx="988" cy="805"/>
              </a:xfrm>
            </p:grpSpPr>
            <p:sp>
              <p:nvSpPr>
                <p:cNvPr id="32822" name="Freeform 47"/>
                <p:cNvSpPr/>
                <p:nvPr/>
              </p:nvSpPr>
              <p:spPr bwMode="auto">
                <a:xfrm>
                  <a:off x="4464" y="2064"/>
                  <a:ext cx="220" cy="805"/>
                </a:xfrm>
                <a:custGeom>
                  <a:avLst/>
                  <a:gdLst>
                    <a:gd name="T0" fmla="*/ 82 w 220"/>
                    <a:gd name="T1" fmla="*/ 0 h 805"/>
                    <a:gd name="T2" fmla="*/ 130 w 220"/>
                    <a:gd name="T3" fmla="*/ 25 h 805"/>
                    <a:gd name="T4" fmla="*/ 132 w 220"/>
                    <a:gd name="T5" fmla="*/ 78 h 805"/>
                    <a:gd name="T6" fmla="*/ 154 w 220"/>
                    <a:gd name="T7" fmla="*/ 104 h 805"/>
                    <a:gd name="T8" fmla="*/ 202 w 220"/>
                    <a:gd name="T9" fmla="*/ 135 h 805"/>
                    <a:gd name="T10" fmla="*/ 213 w 220"/>
                    <a:gd name="T11" fmla="*/ 292 h 805"/>
                    <a:gd name="T12" fmla="*/ 180 w 220"/>
                    <a:gd name="T13" fmla="*/ 422 h 805"/>
                    <a:gd name="T14" fmla="*/ 143 w 220"/>
                    <a:gd name="T15" fmla="*/ 523 h 805"/>
                    <a:gd name="T16" fmla="*/ 154 w 220"/>
                    <a:gd name="T17" fmla="*/ 766 h 805"/>
                    <a:gd name="T18" fmla="*/ 143 w 220"/>
                    <a:gd name="T19" fmla="*/ 776 h 805"/>
                    <a:gd name="T20" fmla="*/ 110 w 220"/>
                    <a:gd name="T21" fmla="*/ 801 h 805"/>
                    <a:gd name="T22" fmla="*/ 91 w 220"/>
                    <a:gd name="T23" fmla="*/ 805 h 805"/>
                    <a:gd name="T24" fmla="*/ 78 w 220"/>
                    <a:gd name="T25" fmla="*/ 801 h 805"/>
                    <a:gd name="T26" fmla="*/ 85 w 220"/>
                    <a:gd name="T27" fmla="*/ 784 h 805"/>
                    <a:gd name="T28" fmla="*/ 103 w 220"/>
                    <a:gd name="T29" fmla="*/ 766 h 805"/>
                    <a:gd name="T30" fmla="*/ 94 w 220"/>
                    <a:gd name="T31" fmla="*/ 758 h 805"/>
                    <a:gd name="T32" fmla="*/ 53 w 220"/>
                    <a:gd name="T33" fmla="*/ 776 h 805"/>
                    <a:gd name="T34" fmla="*/ 48 w 220"/>
                    <a:gd name="T35" fmla="*/ 766 h 805"/>
                    <a:gd name="T36" fmla="*/ 53 w 220"/>
                    <a:gd name="T37" fmla="*/ 754 h 805"/>
                    <a:gd name="T38" fmla="*/ 65 w 220"/>
                    <a:gd name="T39" fmla="*/ 739 h 805"/>
                    <a:gd name="T40" fmla="*/ 50 w 220"/>
                    <a:gd name="T41" fmla="*/ 663 h 805"/>
                    <a:gd name="T42" fmla="*/ 36 w 220"/>
                    <a:gd name="T43" fmla="*/ 440 h 805"/>
                    <a:gd name="T44" fmla="*/ 28 w 220"/>
                    <a:gd name="T45" fmla="*/ 396 h 805"/>
                    <a:gd name="T46" fmla="*/ 41 w 220"/>
                    <a:gd name="T47" fmla="*/ 309 h 805"/>
                    <a:gd name="T48" fmla="*/ 31 w 220"/>
                    <a:gd name="T49" fmla="*/ 309 h 805"/>
                    <a:gd name="T50" fmla="*/ 21 w 220"/>
                    <a:gd name="T51" fmla="*/ 304 h 805"/>
                    <a:gd name="T52" fmla="*/ 15 w 220"/>
                    <a:gd name="T53" fmla="*/ 301 h 805"/>
                    <a:gd name="T54" fmla="*/ 8 w 220"/>
                    <a:gd name="T55" fmla="*/ 296 h 805"/>
                    <a:gd name="T56" fmla="*/ 0 w 220"/>
                    <a:gd name="T57" fmla="*/ 283 h 805"/>
                    <a:gd name="T58" fmla="*/ 5 w 220"/>
                    <a:gd name="T59" fmla="*/ 239 h 805"/>
                    <a:gd name="T60" fmla="*/ 58 w 220"/>
                    <a:gd name="T61" fmla="*/ 139 h 805"/>
                    <a:gd name="T62" fmla="*/ 78 w 220"/>
                    <a:gd name="T63" fmla="*/ 108 h 805"/>
                    <a:gd name="T64" fmla="*/ 56 w 220"/>
                    <a:gd name="T65" fmla="*/ 86 h 805"/>
                    <a:gd name="T66" fmla="*/ 53 w 220"/>
                    <a:gd name="T67" fmla="*/ 86 h 805"/>
                    <a:gd name="T68" fmla="*/ 46 w 220"/>
                    <a:gd name="T69" fmla="*/ 78 h 805"/>
                    <a:gd name="T70" fmla="*/ 48 w 220"/>
                    <a:gd name="T71" fmla="*/ 55 h 805"/>
                    <a:gd name="T72" fmla="*/ 46 w 220"/>
                    <a:gd name="T73" fmla="*/ 25 h 80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0"/>
                    <a:gd name="T112" fmla="*/ 0 h 805"/>
                    <a:gd name="T113" fmla="*/ 220 w 220"/>
                    <a:gd name="T114" fmla="*/ 805 h 80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0" h="805">
                      <a:moveTo>
                        <a:pt x="56" y="9"/>
                      </a:moveTo>
                      <a:lnTo>
                        <a:pt x="82" y="0"/>
                      </a:lnTo>
                      <a:lnTo>
                        <a:pt x="110" y="4"/>
                      </a:lnTo>
                      <a:lnTo>
                        <a:pt x="130" y="25"/>
                      </a:lnTo>
                      <a:lnTo>
                        <a:pt x="136" y="50"/>
                      </a:lnTo>
                      <a:lnTo>
                        <a:pt x="132" y="78"/>
                      </a:lnTo>
                      <a:lnTo>
                        <a:pt x="142" y="95"/>
                      </a:lnTo>
                      <a:lnTo>
                        <a:pt x="154" y="104"/>
                      </a:lnTo>
                      <a:lnTo>
                        <a:pt x="193" y="120"/>
                      </a:lnTo>
                      <a:lnTo>
                        <a:pt x="202" y="135"/>
                      </a:lnTo>
                      <a:lnTo>
                        <a:pt x="220" y="261"/>
                      </a:lnTo>
                      <a:lnTo>
                        <a:pt x="213" y="292"/>
                      </a:lnTo>
                      <a:lnTo>
                        <a:pt x="173" y="301"/>
                      </a:lnTo>
                      <a:lnTo>
                        <a:pt x="180" y="422"/>
                      </a:lnTo>
                      <a:lnTo>
                        <a:pt x="154" y="434"/>
                      </a:lnTo>
                      <a:lnTo>
                        <a:pt x="143" y="523"/>
                      </a:lnTo>
                      <a:lnTo>
                        <a:pt x="151" y="684"/>
                      </a:lnTo>
                      <a:lnTo>
                        <a:pt x="154" y="766"/>
                      </a:lnTo>
                      <a:lnTo>
                        <a:pt x="143" y="771"/>
                      </a:lnTo>
                      <a:lnTo>
                        <a:pt x="143" y="776"/>
                      </a:lnTo>
                      <a:lnTo>
                        <a:pt x="123" y="792"/>
                      </a:lnTo>
                      <a:lnTo>
                        <a:pt x="110" y="801"/>
                      </a:lnTo>
                      <a:lnTo>
                        <a:pt x="103" y="805"/>
                      </a:lnTo>
                      <a:lnTo>
                        <a:pt x="91" y="805"/>
                      </a:lnTo>
                      <a:lnTo>
                        <a:pt x="80" y="805"/>
                      </a:lnTo>
                      <a:lnTo>
                        <a:pt x="78" y="801"/>
                      </a:lnTo>
                      <a:lnTo>
                        <a:pt x="80" y="792"/>
                      </a:lnTo>
                      <a:lnTo>
                        <a:pt x="85" y="784"/>
                      </a:lnTo>
                      <a:lnTo>
                        <a:pt x="91" y="776"/>
                      </a:lnTo>
                      <a:lnTo>
                        <a:pt x="103" y="766"/>
                      </a:lnTo>
                      <a:lnTo>
                        <a:pt x="94" y="771"/>
                      </a:lnTo>
                      <a:lnTo>
                        <a:pt x="94" y="758"/>
                      </a:lnTo>
                      <a:lnTo>
                        <a:pt x="65" y="776"/>
                      </a:lnTo>
                      <a:lnTo>
                        <a:pt x="53" y="776"/>
                      </a:lnTo>
                      <a:lnTo>
                        <a:pt x="48" y="771"/>
                      </a:lnTo>
                      <a:lnTo>
                        <a:pt x="48" y="766"/>
                      </a:lnTo>
                      <a:lnTo>
                        <a:pt x="48" y="762"/>
                      </a:lnTo>
                      <a:lnTo>
                        <a:pt x="53" y="754"/>
                      </a:lnTo>
                      <a:lnTo>
                        <a:pt x="60" y="744"/>
                      </a:lnTo>
                      <a:lnTo>
                        <a:pt x="65" y="739"/>
                      </a:lnTo>
                      <a:lnTo>
                        <a:pt x="58" y="735"/>
                      </a:lnTo>
                      <a:lnTo>
                        <a:pt x="50" y="663"/>
                      </a:lnTo>
                      <a:lnTo>
                        <a:pt x="48" y="540"/>
                      </a:lnTo>
                      <a:lnTo>
                        <a:pt x="36" y="440"/>
                      </a:lnTo>
                      <a:lnTo>
                        <a:pt x="31" y="413"/>
                      </a:lnTo>
                      <a:lnTo>
                        <a:pt x="28" y="396"/>
                      </a:lnTo>
                      <a:lnTo>
                        <a:pt x="39" y="339"/>
                      </a:lnTo>
                      <a:lnTo>
                        <a:pt x="41" y="309"/>
                      </a:lnTo>
                      <a:lnTo>
                        <a:pt x="36" y="313"/>
                      </a:lnTo>
                      <a:lnTo>
                        <a:pt x="31" y="309"/>
                      </a:lnTo>
                      <a:lnTo>
                        <a:pt x="28" y="309"/>
                      </a:lnTo>
                      <a:lnTo>
                        <a:pt x="21" y="304"/>
                      </a:lnTo>
                      <a:lnTo>
                        <a:pt x="17" y="304"/>
                      </a:lnTo>
                      <a:lnTo>
                        <a:pt x="15" y="301"/>
                      </a:lnTo>
                      <a:lnTo>
                        <a:pt x="8" y="301"/>
                      </a:lnTo>
                      <a:lnTo>
                        <a:pt x="8" y="296"/>
                      </a:lnTo>
                      <a:lnTo>
                        <a:pt x="3" y="292"/>
                      </a:lnTo>
                      <a:lnTo>
                        <a:pt x="0" y="283"/>
                      </a:lnTo>
                      <a:lnTo>
                        <a:pt x="12" y="256"/>
                      </a:lnTo>
                      <a:lnTo>
                        <a:pt x="5" y="239"/>
                      </a:lnTo>
                      <a:lnTo>
                        <a:pt x="25" y="256"/>
                      </a:lnTo>
                      <a:lnTo>
                        <a:pt x="58" y="139"/>
                      </a:lnTo>
                      <a:lnTo>
                        <a:pt x="82" y="112"/>
                      </a:lnTo>
                      <a:lnTo>
                        <a:pt x="78" y="108"/>
                      </a:lnTo>
                      <a:lnTo>
                        <a:pt x="58" y="104"/>
                      </a:lnTo>
                      <a:lnTo>
                        <a:pt x="56" y="86"/>
                      </a:lnTo>
                      <a:lnTo>
                        <a:pt x="62" y="86"/>
                      </a:lnTo>
                      <a:lnTo>
                        <a:pt x="53" y="86"/>
                      </a:lnTo>
                      <a:lnTo>
                        <a:pt x="56" y="78"/>
                      </a:lnTo>
                      <a:lnTo>
                        <a:pt x="46" y="78"/>
                      </a:lnTo>
                      <a:lnTo>
                        <a:pt x="53" y="55"/>
                      </a:lnTo>
                      <a:lnTo>
                        <a:pt x="48" y="55"/>
                      </a:lnTo>
                      <a:lnTo>
                        <a:pt x="50" y="29"/>
                      </a:lnTo>
                      <a:lnTo>
                        <a:pt x="46" y="25"/>
                      </a:lnTo>
                      <a:lnTo>
                        <a:pt x="56" y="9"/>
                      </a:lnTo>
                      <a:close/>
                    </a:path>
                  </a:pathLst>
                </a:custGeom>
                <a:solidFill>
                  <a:srgbClr val="CC6600"/>
                </a:solidFill>
                <a:ln w="9525">
                  <a:solidFill>
                    <a:srgbClr val="CC0000"/>
                  </a:solidFill>
                  <a:round/>
                </a:ln>
              </p:spPr>
              <p:txBody>
                <a:bodyPr lIns="112503" tIns="56252" rIns="112503" bIns="56252"/>
                <a:lstStyle/>
                <a:p>
                  <a:endParaRPr lang="zh-CN" altLang="en-US" sz="100"/>
                </a:p>
              </p:txBody>
            </p:sp>
            <p:sp>
              <p:nvSpPr>
                <p:cNvPr id="32823" name="Line 48"/>
                <p:cNvSpPr>
                  <a:spLocks noChangeShapeType="1"/>
                </p:cNvSpPr>
                <p:nvPr/>
              </p:nvSpPr>
              <p:spPr bwMode="auto">
                <a:xfrm>
                  <a:off x="3696" y="2355"/>
                  <a:ext cx="624" cy="0"/>
                </a:xfrm>
                <a:prstGeom prst="line">
                  <a:avLst/>
                </a:prstGeom>
                <a:noFill/>
                <a:ln w="28575">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sz="100"/>
                </a:p>
              </p:txBody>
            </p:sp>
          </p:grpSp>
          <p:grpSp>
            <p:nvGrpSpPr>
              <p:cNvPr id="32819" name="Group 49"/>
              <p:cNvGrpSpPr/>
              <p:nvPr/>
            </p:nvGrpSpPr>
            <p:grpSpPr bwMode="auto">
              <a:xfrm>
                <a:off x="1296" y="2064"/>
                <a:ext cx="912" cy="767"/>
                <a:chOff x="1296" y="2064"/>
                <a:chExt cx="912" cy="767"/>
              </a:xfrm>
            </p:grpSpPr>
            <p:sp>
              <p:nvSpPr>
                <p:cNvPr id="32820" name="Line 50"/>
                <p:cNvSpPr>
                  <a:spLocks noChangeShapeType="1"/>
                </p:cNvSpPr>
                <p:nvPr/>
              </p:nvSpPr>
              <p:spPr bwMode="auto">
                <a:xfrm>
                  <a:off x="1584" y="2307"/>
                  <a:ext cx="624" cy="0"/>
                </a:xfrm>
                <a:prstGeom prst="line">
                  <a:avLst/>
                </a:prstGeom>
                <a:noFill/>
                <a:ln w="28575">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sz="100"/>
                </a:p>
              </p:txBody>
            </p:sp>
            <p:sp>
              <p:nvSpPr>
                <p:cNvPr id="32821" name="Freeform 51"/>
                <p:cNvSpPr/>
                <p:nvPr/>
              </p:nvSpPr>
              <p:spPr bwMode="auto">
                <a:xfrm>
                  <a:off x="1296" y="2064"/>
                  <a:ext cx="205" cy="767"/>
                </a:xfrm>
                <a:custGeom>
                  <a:avLst/>
                  <a:gdLst>
                    <a:gd name="T0" fmla="*/ 78 w 205"/>
                    <a:gd name="T1" fmla="*/ 12 h 767"/>
                    <a:gd name="T2" fmla="*/ 69 w 205"/>
                    <a:gd name="T3" fmla="*/ 53 h 767"/>
                    <a:gd name="T4" fmla="*/ 76 w 205"/>
                    <a:gd name="T5" fmla="*/ 57 h 767"/>
                    <a:gd name="T6" fmla="*/ 82 w 205"/>
                    <a:gd name="T7" fmla="*/ 75 h 767"/>
                    <a:gd name="T8" fmla="*/ 93 w 205"/>
                    <a:gd name="T9" fmla="*/ 99 h 767"/>
                    <a:gd name="T10" fmla="*/ 82 w 205"/>
                    <a:gd name="T11" fmla="*/ 108 h 767"/>
                    <a:gd name="T12" fmla="*/ 35 w 205"/>
                    <a:gd name="T13" fmla="*/ 145 h 767"/>
                    <a:gd name="T14" fmla="*/ 6 w 205"/>
                    <a:gd name="T15" fmla="*/ 378 h 767"/>
                    <a:gd name="T16" fmla="*/ 0 w 205"/>
                    <a:gd name="T17" fmla="*/ 420 h 767"/>
                    <a:gd name="T18" fmla="*/ 14 w 205"/>
                    <a:gd name="T19" fmla="*/ 440 h 767"/>
                    <a:gd name="T20" fmla="*/ 23 w 205"/>
                    <a:gd name="T21" fmla="*/ 449 h 767"/>
                    <a:gd name="T22" fmla="*/ 23 w 205"/>
                    <a:gd name="T23" fmla="*/ 411 h 767"/>
                    <a:gd name="T24" fmla="*/ 23 w 205"/>
                    <a:gd name="T25" fmla="*/ 426 h 767"/>
                    <a:gd name="T26" fmla="*/ 31 w 205"/>
                    <a:gd name="T27" fmla="*/ 415 h 767"/>
                    <a:gd name="T28" fmla="*/ 40 w 205"/>
                    <a:gd name="T29" fmla="*/ 387 h 767"/>
                    <a:gd name="T30" fmla="*/ 68 w 205"/>
                    <a:gd name="T31" fmla="*/ 590 h 767"/>
                    <a:gd name="T32" fmla="*/ 78 w 205"/>
                    <a:gd name="T33" fmla="*/ 709 h 767"/>
                    <a:gd name="T34" fmla="*/ 72 w 205"/>
                    <a:gd name="T35" fmla="*/ 763 h 767"/>
                    <a:gd name="T36" fmla="*/ 106 w 205"/>
                    <a:gd name="T37" fmla="*/ 760 h 767"/>
                    <a:gd name="T38" fmla="*/ 97 w 205"/>
                    <a:gd name="T39" fmla="*/ 689 h 767"/>
                    <a:gd name="T40" fmla="*/ 108 w 205"/>
                    <a:gd name="T41" fmla="*/ 593 h 767"/>
                    <a:gd name="T42" fmla="*/ 113 w 205"/>
                    <a:gd name="T43" fmla="*/ 684 h 767"/>
                    <a:gd name="T44" fmla="*/ 119 w 205"/>
                    <a:gd name="T45" fmla="*/ 746 h 767"/>
                    <a:gd name="T46" fmla="*/ 146 w 205"/>
                    <a:gd name="T47" fmla="*/ 751 h 767"/>
                    <a:gd name="T48" fmla="*/ 158 w 205"/>
                    <a:gd name="T49" fmla="*/ 590 h 767"/>
                    <a:gd name="T50" fmla="*/ 167 w 205"/>
                    <a:gd name="T51" fmla="*/ 572 h 767"/>
                    <a:gd name="T52" fmla="*/ 200 w 205"/>
                    <a:gd name="T53" fmla="*/ 590 h 767"/>
                    <a:gd name="T54" fmla="*/ 182 w 205"/>
                    <a:gd name="T55" fmla="*/ 393 h 767"/>
                    <a:gd name="T56" fmla="*/ 187 w 205"/>
                    <a:gd name="T57" fmla="*/ 357 h 767"/>
                    <a:gd name="T58" fmla="*/ 182 w 205"/>
                    <a:gd name="T59" fmla="*/ 260 h 767"/>
                    <a:gd name="T60" fmla="*/ 137 w 205"/>
                    <a:gd name="T61" fmla="*/ 128 h 767"/>
                    <a:gd name="T62" fmla="*/ 137 w 205"/>
                    <a:gd name="T63" fmla="*/ 82 h 767"/>
                    <a:gd name="T64" fmla="*/ 146 w 205"/>
                    <a:gd name="T65" fmla="*/ 78 h 767"/>
                    <a:gd name="T66" fmla="*/ 158 w 205"/>
                    <a:gd name="T67" fmla="*/ 62 h 767"/>
                    <a:gd name="T68" fmla="*/ 151 w 205"/>
                    <a:gd name="T69" fmla="*/ 12 h 767"/>
                    <a:gd name="T70" fmla="*/ 125 w 205"/>
                    <a:gd name="T71" fmla="*/ 4 h 767"/>
                    <a:gd name="T72" fmla="*/ 104 w 205"/>
                    <a:gd name="T73" fmla="*/ 8 h 76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05"/>
                    <a:gd name="T112" fmla="*/ 0 h 767"/>
                    <a:gd name="T113" fmla="*/ 205 w 205"/>
                    <a:gd name="T114" fmla="*/ 767 h 76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05" h="767">
                      <a:moveTo>
                        <a:pt x="104" y="8"/>
                      </a:moveTo>
                      <a:lnTo>
                        <a:pt x="78" y="12"/>
                      </a:lnTo>
                      <a:lnTo>
                        <a:pt x="69" y="42"/>
                      </a:lnTo>
                      <a:lnTo>
                        <a:pt x="69" y="53"/>
                      </a:lnTo>
                      <a:lnTo>
                        <a:pt x="80" y="53"/>
                      </a:lnTo>
                      <a:lnTo>
                        <a:pt x="76" y="57"/>
                      </a:lnTo>
                      <a:lnTo>
                        <a:pt x="78" y="62"/>
                      </a:lnTo>
                      <a:lnTo>
                        <a:pt x="82" y="75"/>
                      </a:lnTo>
                      <a:lnTo>
                        <a:pt x="85" y="75"/>
                      </a:lnTo>
                      <a:lnTo>
                        <a:pt x="93" y="99"/>
                      </a:lnTo>
                      <a:lnTo>
                        <a:pt x="93" y="108"/>
                      </a:lnTo>
                      <a:lnTo>
                        <a:pt x="82" y="108"/>
                      </a:lnTo>
                      <a:lnTo>
                        <a:pt x="68" y="137"/>
                      </a:lnTo>
                      <a:lnTo>
                        <a:pt x="35" y="145"/>
                      </a:lnTo>
                      <a:lnTo>
                        <a:pt x="23" y="169"/>
                      </a:lnTo>
                      <a:lnTo>
                        <a:pt x="6" y="378"/>
                      </a:lnTo>
                      <a:lnTo>
                        <a:pt x="14" y="382"/>
                      </a:lnTo>
                      <a:lnTo>
                        <a:pt x="0" y="420"/>
                      </a:lnTo>
                      <a:lnTo>
                        <a:pt x="6" y="440"/>
                      </a:lnTo>
                      <a:lnTo>
                        <a:pt x="14" y="440"/>
                      </a:lnTo>
                      <a:lnTo>
                        <a:pt x="16" y="449"/>
                      </a:lnTo>
                      <a:lnTo>
                        <a:pt x="23" y="449"/>
                      </a:lnTo>
                      <a:lnTo>
                        <a:pt x="19" y="423"/>
                      </a:lnTo>
                      <a:lnTo>
                        <a:pt x="23" y="411"/>
                      </a:lnTo>
                      <a:lnTo>
                        <a:pt x="26" y="423"/>
                      </a:lnTo>
                      <a:lnTo>
                        <a:pt x="23" y="426"/>
                      </a:lnTo>
                      <a:lnTo>
                        <a:pt x="26" y="430"/>
                      </a:lnTo>
                      <a:lnTo>
                        <a:pt x="31" y="415"/>
                      </a:lnTo>
                      <a:lnTo>
                        <a:pt x="30" y="387"/>
                      </a:lnTo>
                      <a:lnTo>
                        <a:pt x="40" y="387"/>
                      </a:lnTo>
                      <a:lnTo>
                        <a:pt x="31" y="577"/>
                      </a:lnTo>
                      <a:lnTo>
                        <a:pt x="68" y="590"/>
                      </a:lnTo>
                      <a:lnTo>
                        <a:pt x="82" y="697"/>
                      </a:lnTo>
                      <a:lnTo>
                        <a:pt x="78" y="709"/>
                      </a:lnTo>
                      <a:lnTo>
                        <a:pt x="72" y="755"/>
                      </a:lnTo>
                      <a:lnTo>
                        <a:pt x="72" y="763"/>
                      </a:lnTo>
                      <a:lnTo>
                        <a:pt x="97" y="767"/>
                      </a:lnTo>
                      <a:lnTo>
                        <a:pt x="106" y="760"/>
                      </a:lnTo>
                      <a:lnTo>
                        <a:pt x="100" y="713"/>
                      </a:lnTo>
                      <a:lnTo>
                        <a:pt x="97" y="689"/>
                      </a:lnTo>
                      <a:lnTo>
                        <a:pt x="106" y="593"/>
                      </a:lnTo>
                      <a:lnTo>
                        <a:pt x="108" y="593"/>
                      </a:lnTo>
                      <a:lnTo>
                        <a:pt x="119" y="626"/>
                      </a:lnTo>
                      <a:lnTo>
                        <a:pt x="113" y="684"/>
                      </a:lnTo>
                      <a:lnTo>
                        <a:pt x="106" y="689"/>
                      </a:lnTo>
                      <a:lnTo>
                        <a:pt x="119" y="746"/>
                      </a:lnTo>
                      <a:lnTo>
                        <a:pt x="142" y="755"/>
                      </a:lnTo>
                      <a:lnTo>
                        <a:pt x="146" y="751"/>
                      </a:lnTo>
                      <a:lnTo>
                        <a:pt x="130" y="689"/>
                      </a:lnTo>
                      <a:lnTo>
                        <a:pt x="158" y="590"/>
                      </a:lnTo>
                      <a:lnTo>
                        <a:pt x="167" y="581"/>
                      </a:lnTo>
                      <a:lnTo>
                        <a:pt x="167" y="572"/>
                      </a:lnTo>
                      <a:lnTo>
                        <a:pt x="191" y="572"/>
                      </a:lnTo>
                      <a:lnTo>
                        <a:pt x="200" y="590"/>
                      </a:lnTo>
                      <a:lnTo>
                        <a:pt x="205" y="581"/>
                      </a:lnTo>
                      <a:lnTo>
                        <a:pt x="182" y="393"/>
                      </a:lnTo>
                      <a:lnTo>
                        <a:pt x="187" y="393"/>
                      </a:lnTo>
                      <a:lnTo>
                        <a:pt x="187" y="357"/>
                      </a:lnTo>
                      <a:lnTo>
                        <a:pt x="188" y="349"/>
                      </a:lnTo>
                      <a:lnTo>
                        <a:pt x="182" y="260"/>
                      </a:lnTo>
                      <a:lnTo>
                        <a:pt x="176" y="148"/>
                      </a:lnTo>
                      <a:lnTo>
                        <a:pt x="137" y="128"/>
                      </a:lnTo>
                      <a:lnTo>
                        <a:pt x="125" y="108"/>
                      </a:lnTo>
                      <a:lnTo>
                        <a:pt x="137" y="82"/>
                      </a:lnTo>
                      <a:lnTo>
                        <a:pt x="142" y="86"/>
                      </a:lnTo>
                      <a:lnTo>
                        <a:pt x="146" y="78"/>
                      </a:lnTo>
                      <a:lnTo>
                        <a:pt x="146" y="66"/>
                      </a:lnTo>
                      <a:lnTo>
                        <a:pt x="158" y="62"/>
                      </a:lnTo>
                      <a:lnTo>
                        <a:pt x="159" y="33"/>
                      </a:lnTo>
                      <a:lnTo>
                        <a:pt x="151" y="12"/>
                      </a:lnTo>
                      <a:lnTo>
                        <a:pt x="138" y="4"/>
                      </a:lnTo>
                      <a:lnTo>
                        <a:pt x="125" y="4"/>
                      </a:lnTo>
                      <a:lnTo>
                        <a:pt x="113" y="0"/>
                      </a:lnTo>
                      <a:lnTo>
                        <a:pt x="104" y="8"/>
                      </a:lnTo>
                      <a:close/>
                    </a:path>
                  </a:pathLst>
                </a:custGeom>
                <a:solidFill>
                  <a:srgbClr val="CC6600"/>
                </a:solidFill>
                <a:ln w="9525">
                  <a:solidFill>
                    <a:srgbClr val="CC0000"/>
                  </a:solidFill>
                  <a:round/>
                </a:ln>
              </p:spPr>
              <p:txBody>
                <a:bodyPr lIns="112503" tIns="56252" rIns="112503" bIns="56252"/>
                <a:lstStyle/>
                <a:p>
                  <a:endParaRPr lang="zh-CN" altLang="en-US" sz="100"/>
                </a:p>
              </p:txBody>
            </p:sp>
          </p:grpSp>
        </p:grpSp>
      </p:grpSp>
      <p:grpSp>
        <p:nvGrpSpPr>
          <p:cNvPr id="3" name="组合 2"/>
          <p:cNvGrpSpPr/>
          <p:nvPr/>
        </p:nvGrpSpPr>
        <p:grpSpPr bwMode="auto">
          <a:xfrm>
            <a:off x="576385" y="5644662"/>
            <a:ext cx="10849707" cy="1260231"/>
            <a:chOff x="468798" y="5229365"/>
            <a:chExt cx="8814902" cy="1023798"/>
          </a:xfrm>
        </p:grpSpPr>
        <p:grpSp>
          <p:nvGrpSpPr>
            <p:cNvPr id="32773" name="Group 53"/>
            <p:cNvGrpSpPr/>
            <p:nvPr/>
          </p:nvGrpSpPr>
          <p:grpSpPr bwMode="auto">
            <a:xfrm>
              <a:off x="7583488" y="5661025"/>
              <a:ext cx="1700212" cy="592138"/>
              <a:chOff x="2061" y="1529"/>
              <a:chExt cx="1384" cy="917"/>
            </a:xfrm>
          </p:grpSpPr>
          <p:sp>
            <p:nvSpPr>
              <p:cNvPr id="32775" name="Freeform 54"/>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76" name="Freeform 55"/>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77" name="Freeform 56"/>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78" name="Freeform 57"/>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32779" name="Freeform 58"/>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32780" name="Freeform 59"/>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32781" name="Freeform 60"/>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32782" name="Freeform 61"/>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27" tIns="58212" rIns="116427" bIns="58212"/>
              <a:lstStyle/>
              <a:p>
                <a:endParaRPr lang="zh-CN" altLang="en-US" sz="100"/>
              </a:p>
            </p:txBody>
          </p:sp>
          <p:sp>
            <p:nvSpPr>
              <p:cNvPr id="32783" name="Freeform 62"/>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84" name="Freeform 63"/>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85" name="Freeform 64"/>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86" name="Freeform 65"/>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87" name="Freeform 66"/>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88" name="Freeform 67"/>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89" name="Freeform 68"/>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0" name="Freeform 69"/>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1" name="Freeform 70"/>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2" name="Freeform 71"/>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3" name="Freeform 72"/>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4" name="Freeform 73"/>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5" name="Freeform 74"/>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6" name="Freeform 75"/>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7" name="Freeform 76"/>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798" name="Line 77"/>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32799" name="Line 78"/>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32800" name="Freeform 79"/>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801" name="Freeform 80"/>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802" name="Freeform 81"/>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803" name="Freeform 82"/>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32804" name="Freeform 83"/>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32805" name="Freeform 84"/>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32806" name="Freeform 85"/>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grpSp>
        <p:sp>
          <p:nvSpPr>
            <p:cNvPr id="32774" name="AutoShape 86"/>
            <p:cNvSpPr>
              <a:spLocks noChangeArrowheads="1"/>
            </p:cNvSpPr>
            <p:nvPr/>
          </p:nvSpPr>
          <p:spPr bwMode="auto">
            <a:xfrm>
              <a:off x="468798" y="5229365"/>
              <a:ext cx="7408863" cy="915987"/>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484" tIns="56243" rIns="112484" bIns="56243"/>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现在人们意识到：技术很重要，但技术不是一切；信息系统很重要，只有服务于组织业务使命才有意义</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en-US" altLang="zh-CN" sz="2955" b="1">
                <a:solidFill>
                  <a:srgbClr val="0000CC"/>
                </a:solidFill>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1221154" y="169985"/>
            <a:ext cx="8684846" cy="599831"/>
          </a:xfrm>
        </p:spPr>
        <p:txBody>
          <a:bodyPr lIns="116427" tIns="58212" rIns="116427" bIns="58212"/>
          <a:lstStyle/>
          <a:p>
            <a:r>
              <a:rPr lang="zh-CN" altLang="en-US">
                <a:solidFill>
                  <a:srgbClr val="FF0000"/>
                </a:solidFill>
              </a:rPr>
              <a:t>什么是信息安全？</a:t>
            </a:r>
            <a:endParaRPr lang="en-US" altLang="zh-CN">
              <a:solidFill>
                <a:srgbClr val="FF0000"/>
              </a:solidFill>
            </a:endParaRPr>
          </a:p>
        </p:txBody>
      </p:sp>
      <p:sp>
        <p:nvSpPr>
          <p:cNvPr id="33795" name="WordArt 5"/>
          <p:cNvSpPr>
            <a:spLocks noChangeArrowheads="1" noChangeShapeType="1" noTextEdit="1"/>
          </p:cNvSpPr>
          <p:nvPr/>
        </p:nvSpPr>
        <p:spPr bwMode="auto">
          <a:xfrm>
            <a:off x="7407031" y="1553308"/>
            <a:ext cx="3296138" cy="1895231"/>
          </a:xfrm>
          <a:prstGeom prst="rect">
            <a:avLst/>
          </a:prstGeom>
        </p:spPr>
        <p:txBody>
          <a:bodyPr wrap="none" fromWordArt="1">
            <a:prstTxWarp prst="textPlain">
              <a:avLst>
                <a:gd name="adj" fmla="val 50000"/>
              </a:avLst>
            </a:prstTxWarp>
          </a:bodyPr>
          <a:lstStyle/>
          <a:p>
            <a:pPr algn="ctr"/>
            <a:r>
              <a:rPr lang="zh-CN" altLang="en-US" sz="4430" kern="1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rPr>
              <a:t>机密！</a:t>
            </a:r>
            <a:endParaRPr lang="zh-CN" altLang="en-US" sz="4430" kern="1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endParaRPr>
          </a:p>
        </p:txBody>
      </p:sp>
      <p:sp>
        <p:nvSpPr>
          <p:cNvPr id="33796" name="Text Box 6"/>
          <p:cNvSpPr txBox="1">
            <a:spLocks noChangeArrowheads="1"/>
          </p:cNvSpPr>
          <p:nvPr/>
        </p:nvSpPr>
        <p:spPr bwMode="auto">
          <a:xfrm>
            <a:off x="6457462" y="4273062"/>
            <a:ext cx="5779477"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427" tIns="58212" rIns="116427" bIns="58212">
            <a:spAutoFit/>
          </a:bodyP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50000"/>
              </a:spcBef>
              <a:buClr>
                <a:srgbClr val="000000"/>
              </a:buClr>
              <a:buSzPct val="45000"/>
              <a:buFont typeface="Wingdings" panose="05000000000000000000" pitchFamily="2" charset="2"/>
              <a:buNone/>
            </a:pPr>
            <a:r>
              <a:rPr lang="zh-CN" altLang="en-US" sz="3325" b="1">
                <a:latin typeface="Bitstream Vera Sans"/>
                <a:ea typeface="宋体" panose="02010600030101010101" pitchFamily="2" charset="-122"/>
              </a:rPr>
              <a:t>不该知道的人，不让他知道！</a:t>
            </a:r>
            <a:endParaRPr lang="en-US" altLang="zh-CN" sz="3325" b="1">
              <a:latin typeface="Bitstream Vera Sans"/>
              <a:ea typeface="宋体" panose="02010600030101010101" pitchFamily="2" charset="-122"/>
            </a:endParaRPr>
          </a:p>
        </p:txBody>
      </p:sp>
      <p:pic>
        <p:nvPicPr>
          <p:cNvPr id="33797"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6400" y="1170354"/>
            <a:ext cx="5455138" cy="5627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3797"/>
                                        </p:tgtEl>
                                        <p:attrNameLst>
                                          <p:attrName>style.visibility</p:attrName>
                                        </p:attrNameLst>
                                      </p:cBhvr>
                                      <p:to>
                                        <p:strVal val="visible"/>
                                      </p:to>
                                    </p:set>
                                    <p:anim calcmode="lin" valueType="num">
                                      <p:cBhvr>
                                        <p:cTn id="7" dur="500" fill="hold"/>
                                        <p:tgtEl>
                                          <p:spTgt spid="33797"/>
                                        </p:tgtEl>
                                        <p:attrNameLst>
                                          <p:attrName>ppt_w</p:attrName>
                                        </p:attrNameLst>
                                      </p:cBhvr>
                                      <p:tavLst>
                                        <p:tav tm="0">
                                          <p:val>
                                            <p:fltVal val="0"/>
                                          </p:val>
                                        </p:tav>
                                        <p:tav tm="100000">
                                          <p:val>
                                            <p:strVal val="#ppt_w"/>
                                          </p:val>
                                        </p:tav>
                                      </p:tavLst>
                                    </p:anim>
                                    <p:anim calcmode="lin" valueType="num">
                                      <p:cBhvr>
                                        <p:cTn id="8" dur="500" fill="hold"/>
                                        <p:tgtEl>
                                          <p:spTgt spid="33797"/>
                                        </p:tgtEl>
                                        <p:attrNameLst>
                                          <p:attrName>ppt_h</p:attrName>
                                        </p:attrNameLst>
                                      </p:cBhvr>
                                      <p:tavLst>
                                        <p:tav tm="0">
                                          <p:val>
                                            <p:fltVal val="0"/>
                                          </p:val>
                                        </p:tav>
                                        <p:tav tm="100000">
                                          <p:val>
                                            <p:strVal val="#ppt_h"/>
                                          </p:val>
                                        </p:tav>
                                      </p:tavLst>
                                    </p:anim>
                                    <p:animEffect transition="in" filter="fade">
                                      <p:cBhvr>
                                        <p:cTn id="9" dur="500"/>
                                        <p:tgtEl>
                                          <p:spTgt spid="33797"/>
                                        </p:tgtEl>
                                      </p:cBhvr>
                                    </p:animEffect>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33795"/>
                                        </p:tgtEl>
                                        <p:attrNameLst>
                                          <p:attrName>style.visibility</p:attrName>
                                        </p:attrNameLst>
                                      </p:cBhvr>
                                      <p:to>
                                        <p:strVal val="visible"/>
                                      </p:to>
                                    </p:set>
                                    <p:anim calcmode="lin" valueType="num">
                                      <p:cBhvr additive="base">
                                        <p:cTn id="13" dur="1000" fill="hold"/>
                                        <p:tgtEl>
                                          <p:spTgt spid="33795"/>
                                        </p:tgtEl>
                                        <p:attrNameLst>
                                          <p:attrName>ppt_x</p:attrName>
                                        </p:attrNameLst>
                                      </p:cBhvr>
                                      <p:tavLst>
                                        <p:tav tm="0">
                                          <p:val>
                                            <p:strVal val="#ppt_x"/>
                                          </p:val>
                                        </p:tav>
                                        <p:tav tm="100000">
                                          <p:val>
                                            <p:strVal val="#ppt_x"/>
                                          </p:val>
                                        </p:tav>
                                      </p:tavLst>
                                    </p:anim>
                                    <p:anim calcmode="lin" valueType="num">
                                      <p:cBhvr additive="base">
                                        <p:cTn id="14" dur="1000" fill="hold"/>
                                        <p:tgtEl>
                                          <p:spTgt spid="33795"/>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33796"/>
                                        </p:tgtEl>
                                        <p:attrNameLst>
                                          <p:attrName>style.visibility</p:attrName>
                                        </p:attrNameLst>
                                      </p:cBhvr>
                                      <p:to>
                                        <p:strVal val="visible"/>
                                      </p:to>
                                    </p:set>
                                    <p:anim calcmode="lin" valueType="num">
                                      <p:cBhvr>
                                        <p:cTn id="18" dur="2000" fill="hold"/>
                                        <p:tgtEl>
                                          <p:spTgt spid="33796"/>
                                        </p:tgtEl>
                                        <p:attrNameLst>
                                          <p:attrName>ppt_w</p:attrName>
                                        </p:attrNameLst>
                                      </p:cBhvr>
                                      <p:tavLst>
                                        <p:tav tm="0">
                                          <p:val>
                                            <p:fltVal val="0"/>
                                          </p:val>
                                        </p:tav>
                                        <p:tav tm="100000">
                                          <p:val>
                                            <p:strVal val="#ppt_w"/>
                                          </p:val>
                                        </p:tav>
                                      </p:tavLst>
                                    </p:anim>
                                    <p:anim calcmode="lin" valueType="num">
                                      <p:cBhvr>
                                        <p:cTn id="19" dur="2000" fill="hold"/>
                                        <p:tgtEl>
                                          <p:spTgt spid="33796"/>
                                        </p:tgtEl>
                                        <p:attrNameLst>
                                          <p:attrName>ppt_h</p:attrName>
                                        </p:attrNameLst>
                                      </p:cBhvr>
                                      <p:tavLst>
                                        <p:tav tm="0">
                                          <p:val>
                                            <p:fltVal val="0"/>
                                          </p:val>
                                        </p:tav>
                                        <p:tav tm="100000">
                                          <p:val>
                                            <p:strVal val="#ppt_h"/>
                                          </p:val>
                                        </p:tav>
                                      </p:tavLst>
                                    </p:anim>
                                    <p:animEffect transition="in" filter="fade">
                                      <p:cBhvr>
                                        <p:cTn id="20" dur="20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p:bldP spid="3379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5"/>
          <p:cNvSpPr txBox="1">
            <a:spLocks noChangeArrowheads="1"/>
          </p:cNvSpPr>
          <p:nvPr/>
        </p:nvSpPr>
        <p:spPr bwMode="auto">
          <a:xfrm>
            <a:off x="8399585" y="1213338"/>
            <a:ext cx="3430954" cy="4580255"/>
          </a:xfrm>
          <a:prstGeom prst="rect">
            <a:avLst/>
          </a:prstGeom>
          <a:noFill/>
          <a:ln>
            <a:noFill/>
          </a:ln>
        </p:spPr>
        <p:txBody>
          <a:bodyPr lIns="108748" tIns="54374" rIns="108748" bIns="54374">
            <a:spAutoFit/>
          </a:bodyPr>
          <a:lstStyle>
            <a:lvl1pPr defTabSz="4337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337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337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337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337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lang="zh-CN" altLang="en-US" sz="3940" b="1" dirty="0">
                <a:solidFill>
                  <a:srgbClr val="FF0000"/>
                </a:solidFill>
                <a:latin typeface="+mn-ea"/>
                <a:ea typeface="+mn-ea"/>
              </a:rPr>
              <a:t>保证信息的机密性是很重要的：</a:t>
            </a:r>
            <a:r>
              <a:rPr lang="zh-CN" altLang="en-US" sz="3445" b="1" dirty="0">
                <a:latin typeface="Arial" panose="020B0604020202020204" pitchFamily="34" charset="0"/>
                <a:ea typeface="宋体" panose="02010600030101010101" pitchFamily="2" charset="-122"/>
              </a:rPr>
              <a:t>确保重要信息没有非授权的泄漏，不被非授权的个人、组织和计算机程序使用</a:t>
            </a:r>
            <a:r>
              <a:rPr lang="zh-CN" altLang="en-US" sz="3445" dirty="0">
                <a:latin typeface="Arial" panose="020B0604020202020204" pitchFamily="34" charset="0"/>
                <a:ea typeface="宋体" panose="02010600030101010101" pitchFamily="2" charset="-122"/>
              </a:rPr>
              <a:t>。</a:t>
            </a:r>
            <a:endParaRPr lang="zh-CN" altLang="en-US" sz="3445" dirty="0">
              <a:latin typeface="Arial" panose="020B0604020202020204" pitchFamily="34" charset="0"/>
              <a:ea typeface="宋体" panose="02010600030101010101" pitchFamily="2" charset="-122"/>
            </a:endParaRPr>
          </a:p>
        </p:txBody>
      </p:sp>
      <p:sp>
        <p:nvSpPr>
          <p:cNvPr id="6" name="Rectangle 2"/>
          <p:cNvSpPr txBox="1">
            <a:spLocks noChangeArrowheads="1"/>
          </p:cNvSpPr>
          <p:nvPr/>
        </p:nvSpPr>
        <p:spPr bwMode="gray">
          <a:xfrm>
            <a:off x="1221154" y="169985"/>
            <a:ext cx="8684846" cy="599831"/>
          </a:xfrm>
          <a:prstGeom prst="rect">
            <a:avLst/>
          </a:prstGeom>
          <a:noFill/>
          <a:ln w="9525">
            <a:noFill/>
            <a:miter lim="800000"/>
          </a:ln>
        </p:spPr>
        <p:txBody>
          <a:bodyPr lIns="116427" tIns="58212" rIns="116427" bIns="58212" anchor="ctr"/>
          <a:lstStyle/>
          <a:p>
            <a:pPr>
              <a:defRPr/>
            </a:pPr>
            <a:r>
              <a:rPr lang="zh-CN" altLang="en-US" sz="3940" b="1" kern="0" dirty="0">
                <a:solidFill>
                  <a:srgbClr val="FF0000"/>
                </a:solidFill>
                <a:latin typeface="+mj-lt"/>
                <a:ea typeface="+mj-ea"/>
                <a:cs typeface="+mj-cs"/>
              </a:rPr>
              <a:t>什么是信息安全？</a:t>
            </a:r>
            <a:endParaRPr lang="en-US" altLang="zh-CN" sz="3940" b="1" kern="0" dirty="0">
              <a:solidFill>
                <a:srgbClr val="FF0000"/>
              </a:solidFill>
              <a:latin typeface="+mj-lt"/>
              <a:ea typeface="+mj-ea"/>
              <a:cs typeface="+mj-cs"/>
            </a:endParaRPr>
          </a:p>
        </p:txBody>
      </p:sp>
      <p:pic>
        <p:nvPicPr>
          <p:cNvPr id="8"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4847" y="858868"/>
            <a:ext cx="5455138" cy="5627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p:cTn id="7" dur="1000" fill="hold"/>
                                        <p:tgtEl>
                                          <p:spTgt spid="34819"/>
                                        </p:tgtEl>
                                        <p:attrNameLst>
                                          <p:attrName>ppt_w</p:attrName>
                                        </p:attrNameLst>
                                      </p:cBhvr>
                                      <p:tavLst>
                                        <p:tav tm="0">
                                          <p:val>
                                            <p:fltVal val="0"/>
                                          </p:val>
                                        </p:tav>
                                        <p:tav tm="100000">
                                          <p:val>
                                            <p:strVal val="#ppt_w"/>
                                          </p:val>
                                        </p:tav>
                                      </p:tavLst>
                                    </p:anim>
                                    <p:anim calcmode="lin" valueType="num">
                                      <p:cBhvr>
                                        <p:cTn id="8" dur="1000" fill="hold"/>
                                        <p:tgtEl>
                                          <p:spTgt spid="34819"/>
                                        </p:tgtEl>
                                        <p:attrNameLst>
                                          <p:attrName>ppt_h</p:attrName>
                                        </p:attrNameLst>
                                      </p:cBhvr>
                                      <p:tavLst>
                                        <p:tav tm="0">
                                          <p:val>
                                            <p:fltVal val="0"/>
                                          </p:val>
                                        </p:tav>
                                        <p:tav tm="100000">
                                          <p:val>
                                            <p:strVal val="#ppt_h"/>
                                          </p:val>
                                        </p:tav>
                                      </p:tavLst>
                                    </p:anim>
                                    <p:animEffect transition="in" filter="fade">
                                      <p:cBhvr>
                                        <p:cTn id="9" dur="1000"/>
                                        <p:tgtEl>
                                          <p:spTgt spid="3481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955431" y="123092"/>
            <a:ext cx="8684846" cy="601785"/>
          </a:xfrm>
        </p:spPr>
        <p:txBody>
          <a:bodyPr lIns="116427" tIns="58212" rIns="116427" bIns="58212"/>
          <a:lstStyle/>
          <a:p>
            <a:r>
              <a:rPr lang="zh-CN" altLang="en-US">
                <a:solidFill>
                  <a:srgbClr val="FF0000"/>
                </a:solidFill>
              </a:rPr>
              <a:t>什么是信息安全？</a:t>
            </a:r>
            <a:endParaRPr lang="en-US" altLang="zh-CN">
              <a:solidFill>
                <a:srgbClr val="FF0000"/>
              </a:solidFill>
            </a:endParaRPr>
          </a:p>
        </p:txBody>
      </p:sp>
      <p:sp>
        <p:nvSpPr>
          <p:cNvPr id="35843" name="WordArt 4"/>
          <p:cNvSpPr>
            <a:spLocks noChangeArrowheads="1" noChangeShapeType="1" noTextEdit="1"/>
          </p:cNvSpPr>
          <p:nvPr/>
        </p:nvSpPr>
        <p:spPr bwMode="auto">
          <a:xfrm>
            <a:off x="7240954" y="1041400"/>
            <a:ext cx="3296139" cy="1895231"/>
          </a:xfrm>
          <a:prstGeom prst="rect">
            <a:avLst/>
          </a:prstGeom>
        </p:spPr>
        <p:txBody>
          <a:bodyPr wrap="none" fromWordArt="1">
            <a:prstTxWarp prst="textPlain">
              <a:avLst>
                <a:gd name="adj" fmla="val 50000"/>
              </a:avLst>
            </a:prstTxWarp>
          </a:bodyPr>
          <a:lstStyle/>
          <a:p>
            <a:pPr algn="ctr"/>
            <a:r>
              <a:rPr lang="zh-CN" altLang="en-US" sz="4430" kern="1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rPr>
              <a:t>完整！</a:t>
            </a:r>
            <a:endParaRPr lang="zh-CN" altLang="en-US" sz="4430" kern="1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endParaRPr>
          </a:p>
        </p:txBody>
      </p:sp>
      <p:sp>
        <p:nvSpPr>
          <p:cNvPr id="35844" name="Text Box 5"/>
          <p:cNvSpPr txBox="1">
            <a:spLocks noChangeArrowheads="1"/>
          </p:cNvSpPr>
          <p:nvPr/>
        </p:nvSpPr>
        <p:spPr bwMode="auto">
          <a:xfrm>
            <a:off x="6983046" y="3421185"/>
            <a:ext cx="4341446" cy="1385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427" tIns="58212" rIns="116427" bIns="58212">
            <a:spAutoFit/>
          </a:bodyP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50000"/>
              </a:spcBef>
              <a:buClr>
                <a:srgbClr val="000000"/>
              </a:buClr>
              <a:buSzPct val="45000"/>
              <a:buFont typeface="Wingdings" panose="05000000000000000000" pitchFamily="2" charset="2"/>
              <a:buNone/>
            </a:pPr>
            <a:r>
              <a:rPr lang="zh-CN" altLang="en-US" sz="3325" b="1">
                <a:latin typeface="Bitstream Vera Sans"/>
                <a:ea typeface="宋体" panose="02010600030101010101" pitchFamily="2" charset="-122"/>
              </a:rPr>
              <a:t>信息不是维纳斯！</a:t>
            </a:r>
            <a:endParaRPr lang="en-US" altLang="zh-CN" sz="3325" b="1">
              <a:latin typeface="Bitstream Vera Sans"/>
              <a:ea typeface="宋体" panose="02010600030101010101" pitchFamily="2" charset="-122"/>
            </a:endParaRPr>
          </a:p>
          <a:p>
            <a:pPr eaLnBrk="1">
              <a:lnSpc>
                <a:spcPct val="99000"/>
              </a:lnSpc>
              <a:spcBef>
                <a:spcPct val="50000"/>
              </a:spcBef>
              <a:buClr>
                <a:srgbClr val="000000"/>
              </a:buClr>
              <a:buSzPct val="45000"/>
              <a:buFont typeface="Wingdings" panose="05000000000000000000" pitchFamily="2" charset="2"/>
              <a:buNone/>
            </a:pPr>
            <a:r>
              <a:rPr lang="zh-CN" altLang="en-US" sz="3325" b="1">
                <a:latin typeface="Bitstream Vera Sans"/>
                <a:ea typeface="宋体" panose="02010600030101010101" pitchFamily="2" charset="-122"/>
              </a:rPr>
              <a:t>不能追求残缺美！</a:t>
            </a:r>
            <a:endParaRPr lang="en-US" altLang="zh-CN" sz="3325" b="1">
              <a:latin typeface="Bitstream Vera Sans"/>
              <a:ea typeface="宋体" panose="02010600030101010101" pitchFamily="2" charset="-122"/>
            </a:endParaRPr>
          </a:p>
        </p:txBody>
      </p:sp>
      <p:pic>
        <p:nvPicPr>
          <p:cNvPr id="35845" name="Picture 10" descr="完整"/>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8385" y="947615"/>
            <a:ext cx="4810369" cy="584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Text Box 5"/>
          <p:cNvSpPr txBox="1">
            <a:spLocks noChangeArrowheads="1"/>
          </p:cNvSpPr>
          <p:nvPr/>
        </p:nvSpPr>
        <p:spPr bwMode="auto">
          <a:xfrm>
            <a:off x="6539524" y="5259754"/>
            <a:ext cx="5404338" cy="1169670"/>
          </a:xfrm>
          <a:prstGeom prst="rect">
            <a:avLst/>
          </a:prstGeom>
          <a:noFill/>
          <a:ln>
            <a:noFill/>
          </a:ln>
        </p:spPr>
        <p:txBody>
          <a:bodyPr lIns="108748" tIns="54374" rIns="108748" bIns="54374">
            <a:spAutoFit/>
          </a:bodyPr>
          <a:lstStyle>
            <a:lvl1pPr defTabSz="4337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337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337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337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337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33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lang="zh-CN" altLang="en-US" sz="3445" b="1" dirty="0">
                <a:solidFill>
                  <a:srgbClr val="CC0000"/>
                </a:solidFill>
                <a:latin typeface="+mn-ea"/>
                <a:ea typeface="+mn-ea"/>
              </a:rPr>
              <a:t>完整性：</a:t>
            </a:r>
            <a:r>
              <a:rPr lang="zh-CN" altLang="en-US" sz="3445" b="1" dirty="0">
                <a:latin typeface="+mn-ea"/>
                <a:ea typeface="+mn-ea"/>
              </a:rPr>
              <a:t>确保信息没有遭到篡改和破坏</a:t>
            </a:r>
            <a:endParaRPr lang="zh-CN" altLang="en-US" sz="3445" b="1" dirty="0">
              <a:latin typeface="+mn-ea"/>
              <a:ea typeface="+mn-ea"/>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77831" y="949570"/>
            <a:ext cx="3733799" cy="5617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5845"/>
                                        </p:tgtEl>
                                        <p:attrNameLst>
                                          <p:attrName>style.visibility</p:attrName>
                                        </p:attrNameLst>
                                      </p:cBhvr>
                                      <p:to>
                                        <p:strVal val="visible"/>
                                      </p:to>
                                    </p:set>
                                    <p:anim calcmode="lin" valueType="num">
                                      <p:cBhvr additive="base">
                                        <p:cTn id="7" dur="500" fill="hold"/>
                                        <p:tgtEl>
                                          <p:spTgt spid="35845"/>
                                        </p:tgtEl>
                                        <p:attrNameLst>
                                          <p:attrName>ppt_x</p:attrName>
                                        </p:attrNameLst>
                                      </p:cBhvr>
                                      <p:tavLst>
                                        <p:tav tm="0">
                                          <p:val>
                                            <p:strVal val="#ppt_x"/>
                                          </p:val>
                                        </p:tav>
                                        <p:tav tm="100000">
                                          <p:val>
                                            <p:strVal val="#ppt_x"/>
                                          </p:val>
                                        </p:tav>
                                      </p:tavLst>
                                    </p:anim>
                                    <p:anim calcmode="lin" valueType="num">
                                      <p:cBhvr additive="base">
                                        <p:cTn id="8" dur="500" fill="hold"/>
                                        <p:tgtEl>
                                          <p:spTgt spid="3584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5843"/>
                                        </p:tgtEl>
                                        <p:attrNameLst>
                                          <p:attrName>style.visibility</p:attrName>
                                        </p:attrNameLst>
                                      </p:cBhvr>
                                      <p:to>
                                        <p:strVal val="visible"/>
                                      </p:to>
                                    </p:set>
                                    <p:anim calcmode="lin" valueType="num">
                                      <p:cBhvr>
                                        <p:cTn id="12" dur="1000" fill="hold"/>
                                        <p:tgtEl>
                                          <p:spTgt spid="35843"/>
                                        </p:tgtEl>
                                        <p:attrNameLst>
                                          <p:attrName>ppt_w</p:attrName>
                                        </p:attrNameLst>
                                      </p:cBhvr>
                                      <p:tavLst>
                                        <p:tav tm="0">
                                          <p:val>
                                            <p:fltVal val="0"/>
                                          </p:val>
                                        </p:tav>
                                        <p:tav tm="100000">
                                          <p:val>
                                            <p:strVal val="#ppt_w"/>
                                          </p:val>
                                        </p:tav>
                                      </p:tavLst>
                                    </p:anim>
                                    <p:anim calcmode="lin" valueType="num">
                                      <p:cBhvr>
                                        <p:cTn id="13" dur="1000" fill="hold"/>
                                        <p:tgtEl>
                                          <p:spTgt spid="35843"/>
                                        </p:tgtEl>
                                        <p:attrNameLst>
                                          <p:attrName>ppt_h</p:attrName>
                                        </p:attrNameLst>
                                      </p:cBhvr>
                                      <p:tavLst>
                                        <p:tav tm="0">
                                          <p:val>
                                            <p:fltVal val="0"/>
                                          </p:val>
                                        </p:tav>
                                        <p:tav tm="100000">
                                          <p:val>
                                            <p:strVal val="#ppt_h"/>
                                          </p:val>
                                        </p:tav>
                                      </p:tavLst>
                                    </p:anim>
                                    <p:animEffect transition="in" filter="fade">
                                      <p:cBhvr>
                                        <p:cTn id="14" dur="1000"/>
                                        <p:tgtEl>
                                          <p:spTgt spid="35843"/>
                                        </p:tgtEl>
                                      </p:cBhvr>
                                    </p:animEffect>
                                  </p:childTnLst>
                                </p:cTn>
                              </p:par>
                            </p:childTnLst>
                          </p:cTn>
                        </p:par>
                        <p:par>
                          <p:cTn id="15" fill="hold">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35844"/>
                                        </p:tgtEl>
                                        <p:attrNameLst>
                                          <p:attrName>style.visibility</p:attrName>
                                        </p:attrNameLst>
                                      </p:cBhvr>
                                      <p:to>
                                        <p:strVal val="visible"/>
                                      </p:to>
                                    </p:set>
                                    <p:anim calcmode="lin" valueType="num">
                                      <p:cBhvr>
                                        <p:cTn id="18" dur="1000" fill="hold"/>
                                        <p:tgtEl>
                                          <p:spTgt spid="35844"/>
                                        </p:tgtEl>
                                        <p:attrNameLst>
                                          <p:attrName>ppt_w</p:attrName>
                                        </p:attrNameLst>
                                      </p:cBhvr>
                                      <p:tavLst>
                                        <p:tav tm="0">
                                          <p:val>
                                            <p:fltVal val="0"/>
                                          </p:val>
                                        </p:tav>
                                        <p:tav tm="100000">
                                          <p:val>
                                            <p:strVal val="#ppt_w"/>
                                          </p:val>
                                        </p:tav>
                                      </p:tavLst>
                                    </p:anim>
                                    <p:anim calcmode="lin" valueType="num">
                                      <p:cBhvr>
                                        <p:cTn id="19" dur="1000" fill="hold"/>
                                        <p:tgtEl>
                                          <p:spTgt spid="35844"/>
                                        </p:tgtEl>
                                        <p:attrNameLst>
                                          <p:attrName>ppt_h</p:attrName>
                                        </p:attrNameLst>
                                      </p:cBhvr>
                                      <p:tavLst>
                                        <p:tav tm="0">
                                          <p:val>
                                            <p:fltVal val="0"/>
                                          </p:val>
                                        </p:tav>
                                        <p:tav tm="100000">
                                          <p:val>
                                            <p:strVal val="#ppt_h"/>
                                          </p:val>
                                        </p:tav>
                                      </p:tavLst>
                                    </p:anim>
                                    <p:animEffect transition="in" filter="fade">
                                      <p:cBhvr>
                                        <p:cTn id="20" dur="1000"/>
                                        <p:tgtEl>
                                          <p:spTgt spid="35844"/>
                                        </p:tgtEl>
                                      </p:cBhvr>
                                    </p:animEffect>
                                  </p:childTnLst>
                                </p:cTn>
                              </p:par>
                            </p:childTnLst>
                          </p:cTn>
                        </p:par>
                        <p:par>
                          <p:cTn id="21" fill="hold">
                            <p:stCondLst>
                              <p:cond delay="2500"/>
                            </p:stCondLst>
                            <p:childTnLst>
                              <p:par>
                                <p:cTn id="22" presetID="53" presetClass="entr" presetSubtype="16"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2500" fill="hold"/>
                                        <p:tgtEl>
                                          <p:spTgt spid="2"/>
                                        </p:tgtEl>
                                        <p:attrNameLst>
                                          <p:attrName>ppt_w</p:attrName>
                                        </p:attrNameLst>
                                      </p:cBhvr>
                                      <p:tavLst>
                                        <p:tav tm="0">
                                          <p:val>
                                            <p:fltVal val="0"/>
                                          </p:val>
                                        </p:tav>
                                        <p:tav tm="100000">
                                          <p:val>
                                            <p:strVal val="#ppt_w"/>
                                          </p:val>
                                        </p:tav>
                                      </p:tavLst>
                                    </p:anim>
                                    <p:anim calcmode="lin" valueType="num">
                                      <p:cBhvr>
                                        <p:cTn id="25" dur="2500" fill="hold"/>
                                        <p:tgtEl>
                                          <p:spTgt spid="2"/>
                                        </p:tgtEl>
                                        <p:attrNameLst>
                                          <p:attrName>ppt_h</p:attrName>
                                        </p:attrNameLst>
                                      </p:cBhvr>
                                      <p:tavLst>
                                        <p:tav tm="0">
                                          <p:val>
                                            <p:fltVal val="0"/>
                                          </p:val>
                                        </p:tav>
                                        <p:tav tm="100000">
                                          <p:val>
                                            <p:strVal val="#ppt_h"/>
                                          </p:val>
                                        </p:tav>
                                      </p:tavLst>
                                    </p:anim>
                                    <p:animEffect transition="in" filter="fade">
                                      <p:cBhvr>
                                        <p:cTn id="26" dur="2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par>
                          <p:cTn id="27" fill="hold">
                            <p:stCondLst>
                              <p:cond delay="5000"/>
                            </p:stCondLst>
                            <p:childTnLst>
                              <p:par>
                                <p:cTn id="28" presetID="2" presetClass="entr" presetSubtype="4" fill="hold" grpId="0" nodeType="afterEffect">
                                  <p:stCondLst>
                                    <p:cond delay="0"/>
                                  </p:stCondLst>
                                  <p:childTnLst>
                                    <p:set>
                                      <p:cBhvr>
                                        <p:cTn id="29" dur="1" fill="hold">
                                          <p:stCondLst>
                                            <p:cond delay="0"/>
                                          </p:stCondLst>
                                        </p:cTn>
                                        <p:tgtEl>
                                          <p:spTgt spid="35846"/>
                                        </p:tgtEl>
                                        <p:attrNameLst>
                                          <p:attrName>style.visibility</p:attrName>
                                        </p:attrNameLst>
                                      </p:cBhvr>
                                      <p:to>
                                        <p:strVal val="visible"/>
                                      </p:to>
                                    </p:set>
                                    <p:anim calcmode="lin" valueType="num">
                                      <p:cBhvr additive="base">
                                        <p:cTn id="30" dur="500" fill="hold"/>
                                        <p:tgtEl>
                                          <p:spTgt spid="35846"/>
                                        </p:tgtEl>
                                        <p:attrNameLst>
                                          <p:attrName>ppt_x</p:attrName>
                                        </p:attrNameLst>
                                      </p:cBhvr>
                                      <p:tavLst>
                                        <p:tav tm="0">
                                          <p:val>
                                            <p:strVal val="#ppt_x"/>
                                          </p:val>
                                        </p:tav>
                                        <p:tav tm="100000">
                                          <p:val>
                                            <p:strVal val="#ppt_x"/>
                                          </p:val>
                                        </p:tav>
                                      </p:tavLst>
                                    </p:anim>
                                    <p:anim calcmode="lin" valueType="num">
                                      <p:cBhvr additive="base">
                                        <p:cTn id="31" dur="500" fill="hold"/>
                                        <p:tgtEl>
                                          <p:spTgt spid="358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nimBg="1"/>
      <p:bldP spid="35844" grpId="0"/>
      <p:bldP spid="3584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40324" y="195385"/>
            <a:ext cx="456565" cy="106680"/>
          </a:xfrm>
          <a:prstGeom prst="rect">
            <a:avLst/>
          </a:prstGeom>
        </p:spPr>
        <p:txBody>
          <a:bodyPr wrap="none">
            <a:spAutoFit/>
          </a:bodyPr>
          <a:lstStyle/>
          <a:p>
            <a:pPr>
              <a:defRPr/>
            </a:pPr>
            <a:r>
              <a:rPr lang="zh-CN" altLang="en-US" sz="100" b="1" dirty="0">
                <a:solidFill>
                  <a:srgbClr val="FF0000"/>
                </a:solidFill>
                <a:latin typeface="+mn-ea"/>
                <a:ea typeface="+mn-ea"/>
              </a:rPr>
              <a:t>骗局一：“水银计划”布局迷魂大阵 声东击西</a:t>
            </a:r>
            <a:endParaRPr lang="zh-CN" altLang="en-US" sz="100" b="1" dirty="0">
              <a:solidFill>
                <a:srgbClr val="FF0000"/>
              </a:solidFill>
              <a:latin typeface="+mn-ea"/>
              <a:ea typeface="+mn-ea"/>
            </a:endParaRPr>
          </a:p>
        </p:txBody>
      </p:sp>
      <p:sp>
        <p:nvSpPr>
          <p:cNvPr id="8" name="矩形 7"/>
          <p:cNvSpPr/>
          <p:nvPr/>
        </p:nvSpPr>
        <p:spPr>
          <a:xfrm>
            <a:off x="224693" y="3315677"/>
            <a:ext cx="7709877" cy="106680"/>
          </a:xfrm>
          <a:prstGeom prst="rect">
            <a:avLst/>
          </a:prstGeom>
        </p:spPr>
        <p:txBody>
          <a:bodyPr>
            <a:spAutoFit/>
          </a:bodyPr>
          <a:lstStyle/>
          <a:p>
            <a:pPr>
              <a:defRPr/>
            </a:pPr>
            <a:r>
              <a:rPr lang="zh-CN" altLang="en-US" sz="100" b="1" dirty="0">
                <a:solidFill>
                  <a:srgbClr val="FF0000"/>
                </a:solidFill>
                <a:latin typeface="+mn-ea"/>
                <a:ea typeface="+mn-ea"/>
              </a:rPr>
              <a:t>骗局二：“铜头蛇计划”打造替身司令 金蝉脱壳</a:t>
            </a:r>
            <a:endParaRPr lang="zh-CN" altLang="en-US" sz="100" b="1" dirty="0">
              <a:solidFill>
                <a:srgbClr val="FF0000"/>
              </a:solidFill>
              <a:latin typeface="+mn-ea"/>
              <a:ea typeface="+mn-ea"/>
            </a:endParaRPr>
          </a:p>
        </p:txBody>
      </p:sp>
      <p:grpSp>
        <p:nvGrpSpPr>
          <p:cNvPr id="2" name="组合 1"/>
          <p:cNvGrpSpPr/>
          <p:nvPr/>
        </p:nvGrpSpPr>
        <p:grpSpPr bwMode="auto">
          <a:xfrm>
            <a:off x="240324" y="3698631"/>
            <a:ext cx="11601938" cy="3300389"/>
            <a:chOff x="195263" y="3648075"/>
            <a:chExt cx="9426575" cy="2681566"/>
          </a:xfrm>
        </p:grpSpPr>
        <p:sp>
          <p:nvSpPr>
            <p:cNvPr id="36878" name="矩形 12"/>
            <p:cNvSpPr>
              <a:spLocks noChangeArrowheads="1"/>
            </p:cNvSpPr>
            <p:nvPr/>
          </p:nvSpPr>
          <p:spPr bwMode="auto">
            <a:xfrm>
              <a:off x="547688" y="5948363"/>
              <a:ext cx="2892425" cy="38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蒙哥马利将军利用替身克利夫顿</a:t>
              </a:r>
              <a:r>
                <a:rPr lang="en-US" altLang="zh-CN" sz="1230" b="1">
                  <a:latin typeface="Arial" panose="020B0604020202020204" pitchFamily="34" charset="0"/>
                  <a:ea typeface="宋体" panose="02010600030101010101" pitchFamily="2" charset="-122"/>
                </a:rPr>
                <a:t>·</a:t>
              </a:r>
              <a:r>
                <a:rPr lang="zh-CN" altLang="en-US" sz="1230" b="1">
                  <a:latin typeface="Arial" panose="020B0604020202020204" pitchFamily="34" charset="0"/>
                  <a:ea typeface="宋体" panose="02010600030101010101" pitchFamily="2" charset="-122"/>
                </a:rPr>
                <a:t>詹姆斯在各地出现，自己率领英军已在剑滩和金滩登陆</a:t>
              </a:r>
              <a:endParaRPr lang="zh-CN" altLang="en-US" sz="1230" b="1">
                <a:latin typeface="Arial" panose="020B0604020202020204" pitchFamily="34" charset="0"/>
                <a:ea typeface="宋体" panose="02010600030101010101" pitchFamily="2" charset="-122"/>
              </a:endParaRPr>
            </a:p>
          </p:txBody>
        </p:sp>
        <p:grpSp>
          <p:nvGrpSpPr>
            <p:cNvPr id="36879" name="组合 20"/>
            <p:cNvGrpSpPr/>
            <p:nvPr/>
          </p:nvGrpSpPr>
          <p:grpSpPr bwMode="auto">
            <a:xfrm>
              <a:off x="195263" y="3648075"/>
              <a:ext cx="9426575" cy="2668730"/>
              <a:chOff x="195282" y="3648430"/>
              <a:chExt cx="9426974" cy="2668229"/>
            </a:xfrm>
          </p:grpSpPr>
          <p:pic>
            <p:nvPicPr>
              <p:cNvPr id="36880"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5282" y="3699905"/>
                <a:ext cx="3533582"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1" name="图片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0761" y="3674629"/>
                <a:ext cx="2832920"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2" name="图片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25208" y="3648430"/>
                <a:ext cx="2792453" cy="218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83" name="矩形 13"/>
              <p:cNvSpPr>
                <a:spLocks noChangeArrowheads="1"/>
              </p:cNvSpPr>
              <p:nvPr/>
            </p:nvSpPr>
            <p:spPr bwMode="auto">
              <a:xfrm>
                <a:off x="3892670" y="5935453"/>
                <a:ext cx="2584216" cy="381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盟军为让克利夫顿</a:t>
                </a:r>
                <a:r>
                  <a:rPr lang="en-US" altLang="zh-CN" sz="1230" b="1">
                    <a:latin typeface="Arial" panose="020B0604020202020204" pitchFamily="34" charset="0"/>
                    <a:ea typeface="宋体" panose="02010600030101010101" pitchFamily="2" charset="-122"/>
                  </a:rPr>
                  <a:t>·</a:t>
                </a:r>
                <a:r>
                  <a:rPr lang="zh-CN" altLang="en-US" sz="1230" b="1">
                    <a:latin typeface="Arial" panose="020B0604020202020204" pitchFamily="34" charset="0"/>
                    <a:ea typeface="宋体" panose="02010600030101010101" pitchFamily="2" charset="-122"/>
                  </a:rPr>
                  <a:t>詹姆斯成为蒙哥马利，对他进了行全方位的包装</a:t>
                </a:r>
                <a:endParaRPr lang="zh-CN" altLang="en-US" sz="1230">
                  <a:latin typeface="Arial" panose="020B0604020202020204" pitchFamily="34" charset="0"/>
                  <a:ea typeface="宋体" panose="02010600030101010101" pitchFamily="2" charset="-122"/>
                </a:endParaRPr>
              </a:p>
            </p:txBody>
          </p:sp>
          <p:sp>
            <p:nvSpPr>
              <p:cNvPr id="36884" name="矩形 14"/>
              <p:cNvSpPr>
                <a:spLocks noChangeArrowheads="1"/>
              </p:cNvSpPr>
              <p:nvPr/>
            </p:nvSpPr>
            <p:spPr bwMode="auto">
              <a:xfrm>
                <a:off x="6929732" y="5869584"/>
                <a:ext cx="2692524" cy="381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隆美尔认为蒙哥马利身在北非，放心大胆地回家乡给夫人过生日</a:t>
                </a:r>
                <a:endParaRPr lang="zh-CN" altLang="en-US" sz="1230">
                  <a:latin typeface="Arial" panose="020B0604020202020204" pitchFamily="34" charset="0"/>
                  <a:ea typeface="宋体" panose="02010600030101010101" pitchFamily="2" charset="-122"/>
                </a:endParaRPr>
              </a:p>
            </p:txBody>
          </p:sp>
        </p:grpSp>
      </p:grpSp>
      <p:grpSp>
        <p:nvGrpSpPr>
          <p:cNvPr id="37894" name="组合 19"/>
          <p:cNvGrpSpPr/>
          <p:nvPr/>
        </p:nvGrpSpPr>
        <p:grpSpPr bwMode="auto">
          <a:xfrm>
            <a:off x="412262" y="720969"/>
            <a:ext cx="11672277" cy="2454675"/>
            <a:chOff x="335074" y="1227950"/>
            <a:chExt cx="9483416" cy="1995948"/>
          </a:xfrm>
        </p:grpSpPr>
        <p:pic>
          <p:nvPicPr>
            <p:cNvPr id="36870"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5074" y="1227950"/>
              <a:ext cx="20955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602832" y="1239802"/>
              <a:ext cx="2206152" cy="1559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图片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942690" y="1229256"/>
              <a:ext cx="215235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3" name="图片 5"/>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228746" y="1249328"/>
              <a:ext cx="2455514" cy="1536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矩形 15"/>
            <p:cNvSpPr>
              <a:spLocks noChangeArrowheads="1"/>
            </p:cNvSpPr>
            <p:nvPr/>
          </p:nvSpPr>
          <p:spPr bwMode="auto">
            <a:xfrm>
              <a:off x="436830" y="2799575"/>
              <a:ext cx="1900436" cy="38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盟军的迷魂阵之一：传说中的美国第一集团军群</a:t>
              </a:r>
              <a:endParaRPr lang="zh-CN" altLang="en-US" sz="1230" b="1">
                <a:latin typeface="Arial" panose="020B0604020202020204" pitchFamily="34" charset="0"/>
                <a:ea typeface="宋体" panose="02010600030101010101" pitchFamily="2" charset="-122"/>
              </a:endParaRPr>
            </a:p>
          </p:txBody>
        </p:sp>
        <p:sp>
          <p:nvSpPr>
            <p:cNvPr id="36875" name="矩形 16"/>
            <p:cNvSpPr>
              <a:spLocks noChangeArrowheads="1"/>
            </p:cNvSpPr>
            <p:nvPr/>
          </p:nvSpPr>
          <p:spPr bwMode="auto">
            <a:xfrm>
              <a:off x="2587643" y="2842329"/>
              <a:ext cx="2110689" cy="38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盟军的迷魂阵之二：用假模型无中生有地制造出一支佯攻加莱的大军</a:t>
              </a:r>
              <a:endParaRPr lang="zh-CN" altLang="en-US" sz="1230" b="1">
                <a:latin typeface="Arial" panose="020B0604020202020204" pitchFamily="34" charset="0"/>
                <a:ea typeface="宋体" panose="02010600030101010101" pitchFamily="2" charset="-122"/>
              </a:endParaRPr>
            </a:p>
          </p:txBody>
        </p:sp>
        <p:sp>
          <p:nvSpPr>
            <p:cNvPr id="36876" name="矩形 17"/>
            <p:cNvSpPr>
              <a:spLocks noChangeArrowheads="1"/>
            </p:cNvSpPr>
            <p:nvPr/>
          </p:nvSpPr>
          <p:spPr bwMode="auto">
            <a:xfrm>
              <a:off x="5009543" y="2799575"/>
              <a:ext cx="2152350" cy="38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盟军的迷魂阵之三：为给德军造成错觉 重点轰炸加莱地区</a:t>
              </a:r>
              <a:endParaRPr lang="zh-CN" altLang="en-US" sz="1230" b="1">
                <a:latin typeface="Arial" panose="020B0604020202020204" pitchFamily="34" charset="0"/>
                <a:ea typeface="宋体" panose="02010600030101010101" pitchFamily="2" charset="-122"/>
              </a:endParaRPr>
            </a:p>
          </p:txBody>
        </p:sp>
        <p:sp>
          <p:nvSpPr>
            <p:cNvPr id="36877" name="矩形 18"/>
            <p:cNvSpPr>
              <a:spLocks noChangeArrowheads="1"/>
            </p:cNvSpPr>
            <p:nvPr/>
          </p:nvSpPr>
          <p:spPr bwMode="auto">
            <a:xfrm>
              <a:off x="7198287" y="2792957"/>
              <a:ext cx="2620203" cy="38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盟军的迷魂阵之四：巴顿将军时不时地在假前线附近出现 给对方以领导备战的错觉</a:t>
              </a:r>
              <a:endParaRPr lang="zh-CN" altLang="en-US" sz="1230" b="1">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7894"/>
                                        </p:tgtEl>
                                        <p:attrNameLst>
                                          <p:attrName>style.visibility</p:attrName>
                                        </p:attrNameLst>
                                      </p:cBhvr>
                                      <p:to>
                                        <p:strVal val="visible"/>
                                      </p:to>
                                    </p:set>
                                    <p:anim calcmode="lin" valueType="num">
                                      <p:cBhvr>
                                        <p:cTn id="12" dur="2000" fill="hold"/>
                                        <p:tgtEl>
                                          <p:spTgt spid="37894"/>
                                        </p:tgtEl>
                                        <p:attrNameLst>
                                          <p:attrName>ppt_w</p:attrName>
                                        </p:attrNameLst>
                                      </p:cBhvr>
                                      <p:tavLst>
                                        <p:tav tm="0">
                                          <p:val>
                                            <p:fltVal val="0"/>
                                          </p:val>
                                        </p:tav>
                                        <p:tav tm="100000">
                                          <p:val>
                                            <p:strVal val="#ppt_w"/>
                                          </p:val>
                                        </p:tav>
                                      </p:tavLst>
                                    </p:anim>
                                    <p:anim calcmode="lin" valueType="num">
                                      <p:cBhvr>
                                        <p:cTn id="13" dur="2000" fill="hold"/>
                                        <p:tgtEl>
                                          <p:spTgt spid="37894"/>
                                        </p:tgtEl>
                                        <p:attrNameLst>
                                          <p:attrName>ppt_h</p:attrName>
                                        </p:attrNameLst>
                                      </p:cBhvr>
                                      <p:tavLst>
                                        <p:tav tm="0">
                                          <p:val>
                                            <p:fltVal val="0"/>
                                          </p:val>
                                        </p:tav>
                                        <p:tav tm="100000">
                                          <p:val>
                                            <p:strVal val="#ppt_h"/>
                                          </p:val>
                                        </p:tav>
                                      </p:tavLst>
                                    </p:anim>
                                    <p:animEffect transition="in" filter="fade">
                                      <p:cBhvr>
                                        <p:cTn id="14" dur="2000"/>
                                        <p:tgtEl>
                                          <p:spTgt spid="37894"/>
                                        </p:tgtEl>
                                      </p:cBhvr>
                                    </p:animEffect>
                                  </p:childTnLst>
                                </p:cTn>
                              </p:par>
                            </p:childTnLst>
                          </p:cTn>
                        </p:par>
                        <p:par>
                          <p:cTn id="15" fill="hold">
                            <p:stCondLst>
                              <p:cond delay="2500"/>
                            </p:stCondLst>
                            <p:childTnLst>
                              <p:par>
                                <p:cTn id="16" presetID="2" presetClass="entr" presetSubtype="4"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2000" fill="hold"/>
                                        <p:tgtEl>
                                          <p:spTgt spid="8"/>
                                        </p:tgtEl>
                                        <p:attrNameLst>
                                          <p:attrName>ppt_x</p:attrName>
                                        </p:attrNameLst>
                                      </p:cBhvr>
                                      <p:tavLst>
                                        <p:tav tm="0">
                                          <p:val>
                                            <p:strVal val="#ppt_x"/>
                                          </p:val>
                                        </p:tav>
                                        <p:tav tm="100000">
                                          <p:val>
                                            <p:strVal val="#ppt_x"/>
                                          </p:val>
                                        </p:tav>
                                      </p:tavLst>
                                    </p:anim>
                                    <p:anim calcmode="lin" valueType="num">
                                      <p:cBhvr additive="base">
                                        <p:cTn id="19" dur="2000" fill="hold"/>
                                        <p:tgtEl>
                                          <p:spTgt spid="8"/>
                                        </p:tgtEl>
                                        <p:attrNameLst>
                                          <p:attrName>ppt_y</p:attrName>
                                        </p:attrNameLst>
                                      </p:cBhvr>
                                      <p:tavLst>
                                        <p:tav tm="0">
                                          <p:val>
                                            <p:strVal val="1+#ppt_h/2"/>
                                          </p:val>
                                        </p:tav>
                                        <p:tav tm="100000">
                                          <p:val>
                                            <p:strVal val="#ppt_y"/>
                                          </p:val>
                                        </p:tav>
                                      </p:tavLst>
                                    </p:anim>
                                  </p:childTnLst>
                                </p:cTn>
                              </p:par>
                            </p:childTnLst>
                          </p:cTn>
                        </p:par>
                        <p:par>
                          <p:cTn id="20" fill="hold">
                            <p:stCondLst>
                              <p:cond delay="4500"/>
                            </p:stCondLst>
                            <p:childTnLst>
                              <p:par>
                                <p:cTn id="21" presetID="53" presetClass="entr" presetSubtype="16"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2000" fill="hold"/>
                                        <p:tgtEl>
                                          <p:spTgt spid="2"/>
                                        </p:tgtEl>
                                        <p:attrNameLst>
                                          <p:attrName>ppt_w</p:attrName>
                                        </p:attrNameLst>
                                      </p:cBhvr>
                                      <p:tavLst>
                                        <p:tav tm="0">
                                          <p:val>
                                            <p:fltVal val="0"/>
                                          </p:val>
                                        </p:tav>
                                        <p:tav tm="100000">
                                          <p:val>
                                            <p:strVal val="#ppt_w"/>
                                          </p:val>
                                        </p:tav>
                                      </p:tavLst>
                                    </p:anim>
                                    <p:anim calcmode="lin" valueType="num">
                                      <p:cBhvr>
                                        <p:cTn id="24" dur="2000" fill="hold"/>
                                        <p:tgtEl>
                                          <p:spTgt spid="2"/>
                                        </p:tgtEl>
                                        <p:attrNameLst>
                                          <p:attrName>ppt_h</p:attrName>
                                        </p:attrNameLst>
                                      </p:cBhvr>
                                      <p:tavLst>
                                        <p:tav tm="0">
                                          <p:val>
                                            <p:fltVal val="0"/>
                                          </p:val>
                                        </p:tav>
                                        <p:tav tm="100000">
                                          <p:val>
                                            <p:strVal val="#ppt_h"/>
                                          </p:val>
                                        </p:tav>
                                      </p:tavLst>
                                    </p:anim>
                                    <p:animEffect transition="in" filter="fade">
                                      <p:cBhvr>
                                        <p:cTn id="2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7785" y="-19538"/>
            <a:ext cx="443230" cy="106680"/>
          </a:xfrm>
          <a:prstGeom prst="rect">
            <a:avLst/>
          </a:prstGeom>
        </p:spPr>
        <p:txBody>
          <a:bodyPr wrap="none">
            <a:spAutoFit/>
          </a:bodyPr>
          <a:lstStyle/>
          <a:p>
            <a:pPr>
              <a:defRPr/>
            </a:pPr>
            <a:r>
              <a:rPr lang="zh-CN" altLang="en-US" sz="100" b="1" dirty="0">
                <a:solidFill>
                  <a:srgbClr val="FF0000"/>
                </a:solidFill>
                <a:latin typeface="+mn-ea"/>
                <a:ea typeface="+mn-ea"/>
              </a:rPr>
              <a:t>骗局三：“坚毅行动”残酷间谍战 瞒天过海</a:t>
            </a:r>
            <a:endParaRPr lang="zh-CN" altLang="en-US" sz="100" b="1" dirty="0">
              <a:solidFill>
                <a:srgbClr val="FF0000"/>
              </a:solidFill>
              <a:latin typeface="+mn-ea"/>
              <a:ea typeface="+mn-ea"/>
            </a:endParaRPr>
          </a:p>
        </p:txBody>
      </p:sp>
      <p:grpSp>
        <p:nvGrpSpPr>
          <p:cNvPr id="38915" name="组合 14"/>
          <p:cNvGrpSpPr/>
          <p:nvPr/>
        </p:nvGrpSpPr>
        <p:grpSpPr bwMode="auto">
          <a:xfrm>
            <a:off x="601785" y="506046"/>
            <a:ext cx="10544908" cy="3141997"/>
            <a:chOff x="238327" y="1052736"/>
            <a:chExt cx="8568018" cy="2552583"/>
          </a:xfrm>
        </p:grpSpPr>
        <p:pic>
          <p:nvPicPr>
            <p:cNvPr id="3789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38327" y="1077307"/>
              <a:ext cx="28575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9"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91345" y="1067064"/>
              <a:ext cx="28575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8845" y="1052736"/>
              <a:ext cx="28575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1" name="矩形 5"/>
            <p:cNvSpPr>
              <a:spLocks noChangeArrowheads="1"/>
            </p:cNvSpPr>
            <p:nvPr/>
          </p:nvSpPr>
          <p:spPr bwMode="auto">
            <a:xfrm>
              <a:off x="454351" y="3224084"/>
              <a:ext cx="2304256" cy="38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双重女谍纳塔丽差点因为爱犬身亡坏了“坚毅行动”的大事儿</a:t>
              </a:r>
              <a:endParaRPr lang="zh-CN" altLang="en-US" sz="1230" b="1">
                <a:latin typeface="Arial" panose="020B0604020202020204" pitchFamily="34" charset="0"/>
                <a:ea typeface="宋体" panose="02010600030101010101" pitchFamily="2" charset="-122"/>
              </a:endParaRPr>
            </a:p>
          </p:txBody>
        </p:sp>
        <p:sp>
          <p:nvSpPr>
            <p:cNvPr id="37902" name="矩形 6"/>
            <p:cNvSpPr>
              <a:spLocks noChangeArrowheads="1"/>
            </p:cNvSpPr>
            <p:nvPr/>
          </p:nvSpPr>
          <p:spPr bwMode="auto">
            <a:xfrm>
              <a:off x="3398032" y="3201382"/>
              <a:ext cx="2248607" cy="38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“叛徒”亨利</a:t>
              </a:r>
              <a:r>
                <a:rPr lang="en-US" altLang="zh-CN" sz="1230" b="1">
                  <a:latin typeface="Arial" panose="020B0604020202020204" pitchFamily="34" charset="0"/>
                  <a:ea typeface="宋体" panose="02010600030101010101" pitchFamily="2" charset="-122"/>
                </a:rPr>
                <a:t>·</a:t>
              </a:r>
              <a:r>
                <a:rPr lang="zh-CN" altLang="en-US" sz="1230" b="1">
                  <a:latin typeface="Arial" panose="020B0604020202020204" pitchFamily="34" charset="0"/>
                  <a:ea typeface="宋体" panose="02010600030101010101" pitchFamily="2" charset="-122"/>
                </a:rPr>
                <a:t>德里古及“繁荣”小组成员不惜以生命为代价传递情报</a:t>
              </a:r>
              <a:endParaRPr lang="zh-CN" altLang="en-US" sz="1230" b="1">
                <a:latin typeface="Arial" panose="020B0604020202020204" pitchFamily="34" charset="0"/>
                <a:ea typeface="宋体" panose="02010600030101010101" pitchFamily="2" charset="-122"/>
              </a:endParaRPr>
            </a:p>
          </p:txBody>
        </p:sp>
        <p:sp>
          <p:nvSpPr>
            <p:cNvPr id="37903" name="矩形 7"/>
            <p:cNvSpPr>
              <a:spLocks noChangeArrowheads="1"/>
            </p:cNvSpPr>
            <p:nvPr/>
          </p:nvSpPr>
          <p:spPr bwMode="auto">
            <a:xfrm>
              <a:off x="6503023" y="3201382"/>
              <a:ext cx="2088232" cy="38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230" b="1">
                  <a:latin typeface="Arial" panose="020B0604020202020204" pitchFamily="34" charset="0"/>
                  <a:ea typeface="宋体" panose="02010600030101010101" pitchFamily="2" charset="-122"/>
                </a:rPr>
                <a:t>盟军使用“美男计”，利用德国的美女间谍汉妮</a:t>
              </a:r>
              <a:r>
                <a:rPr lang="en-US" altLang="zh-CN" sz="1230" b="1">
                  <a:latin typeface="Arial" panose="020B0604020202020204" pitchFamily="34" charset="0"/>
                  <a:ea typeface="宋体" panose="02010600030101010101" pitchFamily="2" charset="-122"/>
                </a:rPr>
                <a:t>·</a:t>
              </a:r>
              <a:r>
                <a:rPr lang="zh-CN" altLang="en-US" sz="1230" b="1">
                  <a:latin typeface="Arial" panose="020B0604020202020204" pitchFamily="34" charset="0"/>
                  <a:ea typeface="宋体" panose="02010600030101010101" pitchFamily="2" charset="-122"/>
                </a:rPr>
                <a:t>哈露德送出假情报</a:t>
              </a:r>
              <a:endParaRPr lang="zh-CN" altLang="en-US" sz="1230" b="1">
                <a:latin typeface="Arial" panose="020B0604020202020204" pitchFamily="34" charset="0"/>
                <a:ea typeface="宋体" panose="02010600030101010101" pitchFamily="2" charset="-122"/>
              </a:endParaRPr>
            </a:p>
          </p:txBody>
        </p:sp>
      </p:grpSp>
      <p:grpSp>
        <p:nvGrpSpPr>
          <p:cNvPr id="38916" name="组合 15"/>
          <p:cNvGrpSpPr/>
          <p:nvPr/>
        </p:nvGrpSpPr>
        <p:grpSpPr bwMode="auto">
          <a:xfrm>
            <a:off x="158262" y="3768969"/>
            <a:ext cx="11918462" cy="2551723"/>
            <a:chOff x="128464" y="3705199"/>
            <a:chExt cx="9683083" cy="2073981"/>
          </a:xfrm>
        </p:grpSpPr>
        <p:pic>
          <p:nvPicPr>
            <p:cNvPr id="37894" name="图片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8464" y="3705200"/>
              <a:ext cx="2619375" cy="20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图片 10"/>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747840" y="3717032"/>
              <a:ext cx="2358932" cy="20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6" name="图片 1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106770" y="3717032"/>
              <a:ext cx="2345848" cy="20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7" name="图片 1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452618" y="3705199"/>
              <a:ext cx="2358929" cy="2073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917" name="WordArt 9"/>
          <p:cNvSpPr>
            <a:spLocks noChangeArrowheads="1" noChangeShapeType="1" noTextEdit="1"/>
          </p:cNvSpPr>
          <p:nvPr/>
        </p:nvSpPr>
        <p:spPr bwMode="auto">
          <a:xfrm>
            <a:off x="2131647" y="6391031"/>
            <a:ext cx="7344507" cy="574431"/>
          </a:xfrm>
          <a:prstGeom prst="rect">
            <a:avLst/>
          </a:prstGeom>
        </p:spPr>
        <p:txBody>
          <a:bodyPr wrap="none" fromWordArt="1">
            <a:prstTxWarp prst="textPlain">
              <a:avLst>
                <a:gd name="adj" fmla="val 50000"/>
              </a:avLst>
            </a:prstTxWarp>
          </a:bodyPr>
          <a:lstStyle/>
          <a:p>
            <a:pPr algn="ctr"/>
            <a:r>
              <a:rPr lang="zh-CN" altLang="en-US" sz="4430" kern="10">
                <a:ln w="12700">
                  <a:solidFill>
                    <a:srgbClr val="3333CC"/>
                  </a:solidFill>
                  <a:round/>
                </a:ln>
                <a:solidFill>
                  <a:srgbClr val="FF0000">
                    <a:alpha val="50195"/>
                  </a:srgbClr>
                </a:solidFill>
                <a:effectLst>
                  <a:outerShdw dist="45791" dir="2021404" algn="ctr" rotWithShape="0">
                    <a:srgbClr val="9999FF"/>
                  </a:outerShdw>
                </a:effectLst>
                <a:latin typeface="黑体" panose="02010609060101010101" pitchFamily="49" charset="-122"/>
                <a:ea typeface="黑体" panose="02010609060101010101" pitchFamily="49" charset="-122"/>
              </a:rPr>
              <a:t>真实的诺曼底登陆</a:t>
            </a:r>
            <a:endParaRPr lang="zh-CN" altLang="en-US" sz="4430" kern="10">
              <a:ln w="12700">
                <a:solidFill>
                  <a:srgbClr val="3333CC"/>
                </a:solidFill>
                <a:round/>
              </a:ln>
              <a:solidFill>
                <a:srgbClr val="FF0000">
                  <a:alpha val="50195"/>
                </a:srgbClr>
              </a:solidFill>
              <a:effectLst>
                <a:outerShdw dist="45791" dir="2021404" algn="ctr" rotWithShape="0">
                  <a:srgbClr val="9999FF"/>
                </a:outerShdw>
              </a:effectLst>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8915"/>
                                        </p:tgtEl>
                                        <p:attrNameLst>
                                          <p:attrName>style.visibility</p:attrName>
                                        </p:attrNameLst>
                                      </p:cBhvr>
                                      <p:to>
                                        <p:strVal val="visible"/>
                                      </p:to>
                                    </p:set>
                                    <p:anim calcmode="lin" valueType="num">
                                      <p:cBhvr>
                                        <p:cTn id="12" dur="1500" fill="hold"/>
                                        <p:tgtEl>
                                          <p:spTgt spid="38915"/>
                                        </p:tgtEl>
                                        <p:attrNameLst>
                                          <p:attrName>ppt_w</p:attrName>
                                        </p:attrNameLst>
                                      </p:cBhvr>
                                      <p:tavLst>
                                        <p:tav tm="0">
                                          <p:val>
                                            <p:fltVal val="0"/>
                                          </p:val>
                                        </p:tav>
                                        <p:tav tm="100000">
                                          <p:val>
                                            <p:strVal val="#ppt_w"/>
                                          </p:val>
                                        </p:tav>
                                      </p:tavLst>
                                    </p:anim>
                                    <p:anim calcmode="lin" valueType="num">
                                      <p:cBhvr>
                                        <p:cTn id="13" dur="1500" fill="hold"/>
                                        <p:tgtEl>
                                          <p:spTgt spid="38915"/>
                                        </p:tgtEl>
                                        <p:attrNameLst>
                                          <p:attrName>ppt_h</p:attrName>
                                        </p:attrNameLst>
                                      </p:cBhvr>
                                      <p:tavLst>
                                        <p:tav tm="0">
                                          <p:val>
                                            <p:fltVal val="0"/>
                                          </p:val>
                                        </p:tav>
                                        <p:tav tm="100000">
                                          <p:val>
                                            <p:strVal val="#ppt_h"/>
                                          </p:val>
                                        </p:tav>
                                      </p:tavLst>
                                    </p:anim>
                                    <p:animEffect transition="in" filter="fade">
                                      <p:cBhvr>
                                        <p:cTn id="14" dur="1500"/>
                                        <p:tgtEl>
                                          <p:spTgt spid="3891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916"/>
                                        </p:tgtEl>
                                        <p:attrNameLst>
                                          <p:attrName>style.visibility</p:attrName>
                                        </p:attrNameLst>
                                      </p:cBhvr>
                                      <p:to>
                                        <p:strVal val="visible"/>
                                      </p:to>
                                    </p:set>
                                    <p:anim calcmode="lin" valueType="num">
                                      <p:cBhvr additive="base">
                                        <p:cTn id="19" dur="500" fill="hold"/>
                                        <p:tgtEl>
                                          <p:spTgt spid="38916"/>
                                        </p:tgtEl>
                                        <p:attrNameLst>
                                          <p:attrName>ppt_x</p:attrName>
                                        </p:attrNameLst>
                                      </p:cBhvr>
                                      <p:tavLst>
                                        <p:tav tm="0">
                                          <p:val>
                                            <p:strVal val="#ppt_x"/>
                                          </p:val>
                                        </p:tav>
                                        <p:tav tm="100000">
                                          <p:val>
                                            <p:strVal val="#ppt_x"/>
                                          </p:val>
                                        </p:tav>
                                      </p:tavLst>
                                    </p:anim>
                                    <p:anim calcmode="lin" valueType="num">
                                      <p:cBhvr additive="base">
                                        <p:cTn id="20" dur="500" fill="hold"/>
                                        <p:tgtEl>
                                          <p:spTgt spid="3891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38917"/>
                                        </p:tgtEl>
                                        <p:attrNameLst>
                                          <p:attrName>style.visibility</p:attrName>
                                        </p:attrNameLst>
                                      </p:cBhvr>
                                      <p:to>
                                        <p:strVal val="visible"/>
                                      </p:to>
                                    </p:set>
                                    <p:anim calcmode="lin" valueType="num">
                                      <p:cBhvr additive="base">
                                        <p:cTn id="24" dur="2000" fill="hold"/>
                                        <p:tgtEl>
                                          <p:spTgt spid="38917"/>
                                        </p:tgtEl>
                                        <p:attrNameLst>
                                          <p:attrName>ppt_x</p:attrName>
                                        </p:attrNameLst>
                                      </p:cBhvr>
                                      <p:tavLst>
                                        <p:tav tm="0">
                                          <p:val>
                                            <p:strVal val="#ppt_x"/>
                                          </p:val>
                                        </p:tav>
                                        <p:tav tm="100000">
                                          <p:val>
                                            <p:strVal val="#ppt_x"/>
                                          </p:val>
                                        </p:tav>
                                      </p:tavLst>
                                    </p:anim>
                                    <p:anim calcmode="lin" valueType="num">
                                      <p:cBhvr additive="base">
                                        <p:cTn id="25" dur="2000" fill="hold"/>
                                        <p:tgtEl>
                                          <p:spTgt spid="389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89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158631" y="103554"/>
            <a:ext cx="8684846" cy="601785"/>
          </a:xfrm>
        </p:spPr>
        <p:txBody>
          <a:bodyPr lIns="116427" tIns="58212" rIns="116427" bIns="58212"/>
          <a:lstStyle/>
          <a:p>
            <a:r>
              <a:rPr lang="zh-CN" altLang="en-US">
                <a:solidFill>
                  <a:srgbClr val="FF0000"/>
                </a:solidFill>
              </a:rPr>
              <a:t>什么是信息安全？</a:t>
            </a:r>
            <a:endParaRPr lang="en-US" altLang="zh-CN">
              <a:solidFill>
                <a:srgbClr val="FF0000"/>
              </a:solidFill>
            </a:endParaRPr>
          </a:p>
        </p:txBody>
      </p:sp>
      <p:sp>
        <p:nvSpPr>
          <p:cNvPr id="39939" name="WordArt 3"/>
          <p:cNvSpPr>
            <a:spLocks noChangeArrowheads="1" noChangeShapeType="1" noTextEdit="1"/>
          </p:cNvSpPr>
          <p:nvPr/>
        </p:nvSpPr>
        <p:spPr bwMode="auto">
          <a:xfrm>
            <a:off x="6983046" y="1301262"/>
            <a:ext cx="3296139" cy="1895231"/>
          </a:xfrm>
          <a:prstGeom prst="rect">
            <a:avLst/>
          </a:prstGeom>
        </p:spPr>
        <p:txBody>
          <a:bodyPr wrap="none" fromWordArt="1">
            <a:prstTxWarp prst="textPlain">
              <a:avLst>
                <a:gd name="adj" fmla="val 50000"/>
              </a:avLst>
            </a:prstTxWarp>
          </a:bodyPr>
          <a:lstStyle/>
          <a:p>
            <a:pPr algn="ctr"/>
            <a:r>
              <a:rPr lang="zh-CN" altLang="en-US" sz="4430" kern="1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rPr>
              <a:t>可用！</a:t>
            </a:r>
            <a:endParaRPr lang="zh-CN" altLang="en-US" sz="4430" kern="1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endParaRPr>
          </a:p>
        </p:txBody>
      </p:sp>
      <p:sp>
        <p:nvSpPr>
          <p:cNvPr id="39940" name="Text Box 4"/>
          <p:cNvSpPr txBox="1">
            <a:spLocks noChangeArrowheads="1"/>
          </p:cNvSpPr>
          <p:nvPr/>
        </p:nvSpPr>
        <p:spPr bwMode="auto">
          <a:xfrm>
            <a:off x="6350000" y="3386015"/>
            <a:ext cx="4960816" cy="640715"/>
          </a:xfrm>
          <a:prstGeom prst="rect">
            <a:avLst/>
          </a:prstGeom>
          <a:noFill/>
          <a:ln>
            <a:noFill/>
          </a:ln>
        </p:spPr>
        <p:txBody>
          <a:bodyPr lIns="116427" tIns="58212" rIns="116427" bIns="58212">
            <a:spAutoFit/>
          </a:bodyP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a:lnSpc>
                <a:spcPct val="99000"/>
              </a:lnSpc>
              <a:spcBef>
                <a:spcPct val="50000"/>
              </a:spcBef>
              <a:buClr>
                <a:srgbClr val="000000"/>
              </a:buClr>
              <a:buSzPct val="45000"/>
              <a:buFont typeface="Wingdings" panose="05000000000000000000" pitchFamily="2" charset="2"/>
              <a:buNone/>
              <a:defRPr/>
            </a:pPr>
            <a:r>
              <a:rPr lang="zh-CN" altLang="en-US" sz="3445" b="1" dirty="0">
                <a:latin typeface="+mn-ea"/>
                <a:ea typeface="+mn-ea"/>
              </a:rPr>
              <a:t>信息要</a:t>
            </a:r>
            <a:r>
              <a:rPr lang="zh-CN" altLang="en-US" sz="3445" b="1" dirty="0">
                <a:solidFill>
                  <a:srgbClr val="FF0000"/>
                </a:solidFill>
                <a:latin typeface="+mn-ea"/>
                <a:ea typeface="+mn-ea"/>
              </a:rPr>
              <a:t>方便、快捷</a:t>
            </a:r>
            <a:r>
              <a:rPr lang="zh-CN" altLang="en-US" sz="3445" b="1" dirty="0">
                <a:latin typeface="+mn-ea"/>
                <a:ea typeface="+mn-ea"/>
              </a:rPr>
              <a:t>！</a:t>
            </a:r>
            <a:endParaRPr lang="zh-CN" altLang="en-US" sz="3445" b="1" dirty="0">
              <a:latin typeface="+mn-ea"/>
              <a:ea typeface="+mn-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6185" y="853831"/>
            <a:ext cx="5410201" cy="295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8"/>
          <p:cNvGrpSpPr/>
          <p:nvPr/>
        </p:nvGrpSpPr>
        <p:grpSpPr bwMode="auto">
          <a:xfrm>
            <a:off x="246185" y="3794370"/>
            <a:ext cx="5410201" cy="3051908"/>
            <a:chOff x="200472" y="3726016"/>
            <a:chExt cx="4395578" cy="2478793"/>
          </a:xfrm>
        </p:grpSpPr>
        <p:pic>
          <p:nvPicPr>
            <p:cNvPr id="38921"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32720" y="3726016"/>
              <a:ext cx="2163330" cy="2478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2"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472" y="3760840"/>
              <a:ext cx="2232248" cy="244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矩形 7"/>
          <p:cNvSpPr/>
          <p:nvPr/>
        </p:nvSpPr>
        <p:spPr>
          <a:xfrm>
            <a:off x="6627751" y="4492503"/>
            <a:ext cx="4962769" cy="1229360"/>
          </a:xfrm>
          <a:prstGeom prst="rect">
            <a:avLst/>
          </a:prstGeom>
        </p:spPr>
        <p:txBody>
          <a:bodyPr>
            <a:spAutoFit/>
          </a:bodyPr>
          <a:lstStyle/>
          <a:p>
            <a:pPr eaLnBrk="1">
              <a:spcBef>
                <a:spcPct val="50000"/>
              </a:spcBef>
              <a:buClr>
                <a:srgbClr val="000000"/>
              </a:buClr>
              <a:buSzPct val="45000"/>
              <a:defRPr/>
            </a:pPr>
            <a:r>
              <a:rPr lang="zh-CN" altLang="en-US" sz="2955" b="1" dirty="0">
                <a:solidFill>
                  <a:srgbClr val="0000FF"/>
                </a:solidFill>
                <a:latin typeface="+mn-ea"/>
                <a:ea typeface="+mn-ea"/>
              </a:rPr>
              <a:t>不能像某国首都二环高峰，</a:t>
            </a:r>
            <a:endParaRPr lang="en-US" altLang="zh-CN" sz="2955" b="1" dirty="0">
              <a:solidFill>
                <a:srgbClr val="0000FF"/>
              </a:solidFill>
              <a:latin typeface="+mn-ea"/>
              <a:ea typeface="+mn-ea"/>
            </a:endParaRPr>
          </a:p>
          <a:p>
            <a:pPr eaLnBrk="1">
              <a:spcBef>
                <a:spcPct val="50000"/>
              </a:spcBef>
              <a:buClr>
                <a:srgbClr val="000000"/>
              </a:buClr>
              <a:buSzPct val="45000"/>
              <a:defRPr/>
            </a:pPr>
            <a:r>
              <a:rPr lang="zh-CN" altLang="en-US" sz="2955" b="1" dirty="0">
                <a:solidFill>
                  <a:srgbClr val="0000FF"/>
                </a:solidFill>
                <a:latin typeface="+mn-ea"/>
                <a:ea typeface="+mn-ea"/>
              </a:rPr>
              <a:t>也不能像春运的火车站。</a:t>
            </a:r>
            <a:endParaRPr lang="en-US" altLang="zh-CN" sz="2955" b="1" dirty="0">
              <a:solidFill>
                <a:srgbClr val="0000FF"/>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9939"/>
                                        </p:tgtEl>
                                        <p:attrNameLst>
                                          <p:attrName>style.visibility</p:attrName>
                                        </p:attrNameLst>
                                      </p:cBhvr>
                                      <p:to>
                                        <p:strVal val="visible"/>
                                      </p:to>
                                    </p:set>
                                    <p:anim calcmode="lin" valueType="num">
                                      <p:cBhvr additive="base">
                                        <p:cTn id="7" dur="500" fill="hold"/>
                                        <p:tgtEl>
                                          <p:spTgt spid="39939"/>
                                        </p:tgtEl>
                                        <p:attrNameLst>
                                          <p:attrName>ppt_x</p:attrName>
                                        </p:attrNameLst>
                                      </p:cBhvr>
                                      <p:tavLst>
                                        <p:tav tm="0">
                                          <p:val>
                                            <p:strVal val="#ppt_x"/>
                                          </p:val>
                                        </p:tav>
                                        <p:tav tm="100000">
                                          <p:val>
                                            <p:strVal val="#ppt_x"/>
                                          </p:val>
                                        </p:tav>
                                      </p:tavLst>
                                    </p:anim>
                                    <p:anim calcmode="lin" valueType="num">
                                      <p:cBhvr additive="base">
                                        <p:cTn id="8" dur="500" fill="hold"/>
                                        <p:tgtEl>
                                          <p:spTgt spid="3993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9940"/>
                                        </p:tgtEl>
                                        <p:attrNameLst>
                                          <p:attrName>style.visibility</p:attrName>
                                        </p:attrNameLst>
                                      </p:cBhvr>
                                      <p:to>
                                        <p:strVal val="visible"/>
                                      </p:to>
                                    </p:set>
                                    <p:anim calcmode="lin" valueType="num">
                                      <p:cBhvr>
                                        <p:cTn id="12" dur="1500" fill="hold"/>
                                        <p:tgtEl>
                                          <p:spTgt spid="39940"/>
                                        </p:tgtEl>
                                        <p:attrNameLst>
                                          <p:attrName>ppt_w</p:attrName>
                                        </p:attrNameLst>
                                      </p:cBhvr>
                                      <p:tavLst>
                                        <p:tav tm="0">
                                          <p:val>
                                            <p:fltVal val="0"/>
                                          </p:val>
                                        </p:tav>
                                        <p:tav tm="100000">
                                          <p:val>
                                            <p:strVal val="#ppt_w"/>
                                          </p:val>
                                        </p:tav>
                                      </p:tavLst>
                                    </p:anim>
                                    <p:anim calcmode="lin" valueType="num">
                                      <p:cBhvr>
                                        <p:cTn id="13" dur="1500" fill="hold"/>
                                        <p:tgtEl>
                                          <p:spTgt spid="39940"/>
                                        </p:tgtEl>
                                        <p:attrNameLst>
                                          <p:attrName>ppt_h</p:attrName>
                                        </p:attrNameLst>
                                      </p:cBhvr>
                                      <p:tavLst>
                                        <p:tav tm="0">
                                          <p:val>
                                            <p:fltVal val="0"/>
                                          </p:val>
                                        </p:tav>
                                        <p:tav tm="100000">
                                          <p:val>
                                            <p:strVal val="#ppt_h"/>
                                          </p:val>
                                        </p:tav>
                                      </p:tavLst>
                                    </p:anim>
                                    <p:animEffect transition="in" filter="fade">
                                      <p:cBhvr>
                                        <p:cTn id="14" dur="1500"/>
                                        <p:tgtEl>
                                          <p:spTgt spid="3994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53" presetClass="entr" presetSubtype="16"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fltVal val="0"/>
                                          </p:val>
                                        </p:tav>
                                        <p:tav tm="100000">
                                          <p:val>
                                            <p:strVal val="#ppt_w"/>
                                          </p:val>
                                        </p:tav>
                                      </p:tavLst>
                                    </p:anim>
                                    <p:anim calcmode="lin" valueType="num">
                                      <p:cBhvr>
                                        <p:cTn id="25" dur="1000" fill="hold"/>
                                        <p:tgtEl>
                                          <p:spTgt spid="9"/>
                                        </p:tgtEl>
                                        <p:attrNameLst>
                                          <p:attrName>ppt_h</p:attrName>
                                        </p:attrNameLst>
                                      </p:cBhvr>
                                      <p:tavLst>
                                        <p:tav tm="0">
                                          <p:val>
                                            <p:fltVal val="0"/>
                                          </p:val>
                                        </p:tav>
                                        <p:tav tm="100000">
                                          <p:val>
                                            <p:strVal val="#ppt_h"/>
                                          </p:val>
                                        </p:tav>
                                      </p:tavLst>
                                    </p:anim>
                                    <p:animEffect transition="in" filter="fade">
                                      <p:cBhvr>
                                        <p:cTn id="26" dur="1000"/>
                                        <p:tgtEl>
                                          <p:spTgt spid="9"/>
                                        </p:tgtEl>
                                      </p:cBhvr>
                                    </p:animEffect>
                                  </p:childTnLst>
                                </p:cTn>
                              </p:par>
                            </p:childTnLst>
                          </p:cTn>
                        </p:par>
                        <p:par>
                          <p:cTn id="27" fill="hold">
                            <p:stCondLst>
                              <p:cond delay="1500"/>
                            </p:stCondLst>
                            <p:childTnLst>
                              <p:par>
                                <p:cTn id="28" presetID="53" presetClass="entr" presetSubtype="16"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nimBg="1"/>
      <p:bldP spid="39940"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2"/>
          <p:cNvSpPr txBox="1">
            <a:spLocks noChangeArrowheads="1"/>
          </p:cNvSpPr>
          <p:nvPr/>
        </p:nvSpPr>
        <p:spPr bwMode="auto">
          <a:xfrm>
            <a:off x="490416" y="15631"/>
            <a:ext cx="11121292" cy="84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50000"/>
              </a:spcBef>
              <a:buClrTx/>
              <a:buFontTx/>
              <a:buNone/>
            </a:pPr>
            <a:r>
              <a:rPr lang="zh-CN" altLang="en-US" sz="4925">
                <a:solidFill>
                  <a:srgbClr val="6600CC"/>
                </a:solidFill>
                <a:latin typeface="华文琥珀" panose="02010800040101010101" pitchFamily="2" charset="-122"/>
                <a:ea typeface="华文琥珀" panose="02010800040101010101" pitchFamily="2" charset="-122"/>
              </a:rPr>
              <a:t>什么是信息安全？</a:t>
            </a:r>
            <a:endParaRPr lang="zh-CN" altLang="en-US" sz="4925">
              <a:solidFill>
                <a:srgbClr val="6600CC"/>
              </a:solidFill>
              <a:latin typeface="华文琥珀" panose="02010800040101010101" pitchFamily="2" charset="-122"/>
              <a:ea typeface="华文琥珀" panose="02010800040101010101" pitchFamily="2" charset="-122"/>
            </a:endParaRPr>
          </a:p>
        </p:txBody>
      </p:sp>
      <p:sp>
        <p:nvSpPr>
          <p:cNvPr id="2" name="矩形 1"/>
          <p:cNvSpPr/>
          <p:nvPr/>
        </p:nvSpPr>
        <p:spPr>
          <a:xfrm>
            <a:off x="965200" y="4847492"/>
            <a:ext cx="9650047" cy="1638935"/>
          </a:xfrm>
          <a:prstGeom prst="rect">
            <a:avLst/>
          </a:prstGeom>
        </p:spPr>
        <p:txBody>
          <a:bodyPr>
            <a:spAutoFit/>
          </a:bodyPr>
          <a:lstStyle/>
          <a:p>
            <a:pPr marL="342900" indent="-342900" eaLnBrk="1" hangingPunct="1">
              <a:lnSpc>
                <a:spcPct val="80000"/>
              </a:lnSpc>
              <a:spcBef>
                <a:spcPct val="20000"/>
              </a:spcBef>
              <a:buClr>
                <a:srgbClr val="3399FF"/>
              </a:buClr>
              <a:buFont typeface="Wingdings" panose="05000000000000000000" pitchFamily="2" charset="2"/>
              <a:buNone/>
              <a:defRPr/>
            </a:pPr>
            <a:r>
              <a:rPr lang="zh-CN" altLang="en-US" sz="3445" dirty="0">
                <a:solidFill>
                  <a:srgbClr val="6600CC"/>
                </a:solidFill>
                <a:latin typeface="+mn-lt"/>
                <a:ea typeface="华文琥珀" panose="02010800040101010101" pitchFamily="2" charset="-122"/>
              </a:rPr>
              <a:t>两个层面</a:t>
            </a:r>
            <a:endParaRPr lang="zh-CN" altLang="en-US" sz="3445" dirty="0">
              <a:solidFill>
                <a:srgbClr val="6600CC"/>
              </a:solidFill>
              <a:latin typeface="+mn-lt"/>
              <a:ea typeface="华文琥珀" panose="02010800040101010101" pitchFamily="2" charset="-122"/>
            </a:endParaRPr>
          </a:p>
          <a:p>
            <a:pPr eaLnBrk="1" hangingPunct="1">
              <a:lnSpc>
                <a:spcPct val="80000"/>
              </a:lnSpc>
              <a:spcBef>
                <a:spcPct val="20000"/>
              </a:spcBef>
              <a:buClr>
                <a:srgbClr val="3399FF"/>
              </a:buClr>
              <a:defRPr/>
            </a:pPr>
            <a:r>
              <a:rPr lang="zh-CN" altLang="en-US" sz="2955" b="1" dirty="0">
                <a:solidFill>
                  <a:srgbClr val="FF0000"/>
                </a:solidFill>
                <a:latin typeface="+mn-lt"/>
                <a:ea typeface="+mn-ea"/>
              </a:rPr>
              <a:t>    技术层面</a:t>
            </a:r>
            <a:r>
              <a:rPr lang="zh-CN" altLang="en-US" sz="2955" b="1" dirty="0">
                <a:latin typeface="+mn-lt"/>
                <a:ea typeface="+mn-ea"/>
              </a:rPr>
              <a:t>：防止外部用户的非法入侵</a:t>
            </a:r>
            <a:endParaRPr lang="zh-CN" altLang="en-US" sz="2955" b="1" dirty="0">
              <a:latin typeface="+mn-lt"/>
              <a:ea typeface="+mn-ea"/>
            </a:endParaRPr>
          </a:p>
          <a:p>
            <a:pPr eaLnBrk="1" hangingPunct="1">
              <a:lnSpc>
                <a:spcPct val="80000"/>
              </a:lnSpc>
              <a:spcBef>
                <a:spcPct val="20000"/>
              </a:spcBef>
              <a:buClr>
                <a:srgbClr val="3399FF"/>
              </a:buClr>
              <a:defRPr/>
            </a:pPr>
            <a:r>
              <a:rPr lang="zh-CN" altLang="en-US" sz="2955" b="1" dirty="0">
                <a:solidFill>
                  <a:srgbClr val="FF0000"/>
                </a:solidFill>
                <a:latin typeface="+mn-lt"/>
                <a:ea typeface="+mn-ea"/>
              </a:rPr>
              <a:t>    管理层面</a:t>
            </a:r>
            <a:r>
              <a:rPr lang="zh-CN" altLang="en-US" sz="2955" b="1" dirty="0">
                <a:latin typeface="+mn-lt"/>
                <a:ea typeface="+mn-ea"/>
              </a:rPr>
              <a:t>：内部员工的教育和管理</a:t>
            </a:r>
            <a:endParaRPr lang="zh-CN" altLang="en-US" sz="2955" b="1" dirty="0">
              <a:latin typeface="+mn-lt"/>
              <a:ea typeface="+mn-ea"/>
            </a:endParaRPr>
          </a:p>
          <a:p>
            <a:pPr eaLnBrk="1" hangingPunct="1">
              <a:lnSpc>
                <a:spcPct val="80000"/>
              </a:lnSpc>
              <a:buFont typeface="Wingdings" panose="05000000000000000000" pitchFamily="2" charset="2"/>
              <a:buAutoNum type="arabicPeriod"/>
              <a:defRPr/>
            </a:pPr>
            <a:endParaRPr lang="en-US" altLang="zh-CN" sz="1725" dirty="0"/>
          </a:p>
        </p:txBody>
      </p:sp>
      <p:sp>
        <p:nvSpPr>
          <p:cNvPr id="3" name="矩形 2"/>
          <p:cNvSpPr/>
          <p:nvPr/>
        </p:nvSpPr>
        <p:spPr>
          <a:xfrm>
            <a:off x="1045308" y="2575170"/>
            <a:ext cx="10013461" cy="2003425"/>
          </a:xfrm>
          <a:prstGeom prst="rect">
            <a:avLst/>
          </a:prstGeom>
        </p:spPr>
        <p:txBody>
          <a:bodyPr>
            <a:spAutoFit/>
          </a:bodyPr>
          <a:lstStyle/>
          <a:p>
            <a:pPr marL="342900" indent="-342900" eaLnBrk="1" hangingPunct="1">
              <a:lnSpc>
                <a:spcPct val="80000"/>
              </a:lnSpc>
              <a:spcBef>
                <a:spcPct val="20000"/>
              </a:spcBef>
              <a:buClr>
                <a:srgbClr val="3399FF"/>
              </a:buClr>
              <a:defRPr/>
            </a:pPr>
            <a:r>
              <a:rPr lang="zh-CN" altLang="en-US" sz="3445" dirty="0">
                <a:solidFill>
                  <a:srgbClr val="6600CC"/>
                </a:solidFill>
                <a:latin typeface="+mn-lt"/>
                <a:ea typeface="华文琥珀" panose="02010800040101010101" pitchFamily="2" charset="-122"/>
              </a:rPr>
              <a:t>本质上</a:t>
            </a:r>
            <a:endParaRPr lang="zh-CN" altLang="en-US" sz="3445" dirty="0">
              <a:solidFill>
                <a:srgbClr val="6600CC"/>
              </a:solidFill>
              <a:latin typeface="+mn-lt"/>
              <a:ea typeface="华文琥珀" panose="02010800040101010101" pitchFamily="2" charset="-122"/>
            </a:endParaRPr>
          </a:p>
          <a:p>
            <a:pPr eaLnBrk="1" hangingPunct="1">
              <a:lnSpc>
                <a:spcPct val="80000"/>
              </a:lnSpc>
              <a:buFont typeface="Wingdings" panose="05000000000000000000" pitchFamily="2" charset="2"/>
              <a:buNone/>
              <a:defRPr/>
            </a:pPr>
            <a:endParaRPr lang="zh-CN" altLang="en-US" sz="985" dirty="0">
              <a:solidFill>
                <a:srgbClr val="6600CC"/>
              </a:solidFill>
            </a:endParaRPr>
          </a:p>
          <a:p>
            <a:pPr marL="342900" indent="-342900" eaLnBrk="1" hangingPunct="1">
              <a:lnSpc>
                <a:spcPct val="80000"/>
              </a:lnSpc>
              <a:spcBef>
                <a:spcPct val="20000"/>
              </a:spcBef>
              <a:buClr>
                <a:srgbClr val="3399FF"/>
              </a:buClr>
              <a:defRPr/>
            </a:pPr>
            <a:r>
              <a:rPr lang="zh-CN" altLang="en-US" sz="2955" b="1" dirty="0">
                <a:solidFill>
                  <a:srgbClr val="FF0000"/>
                </a:solidFill>
                <a:latin typeface="+mn-lt"/>
                <a:ea typeface="+mn-ea"/>
              </a:rPr>
              <a:t>    保护</a:t>
            </a:r>
            <a:r>
              <a:rPr lang="zh-CN" altLang="en-US" sz="2955" b="1" dirty="0">
                <a:latin typeface="+mn-lt"/>
                <a:ea typeface="+mn-ea"/>
              </a:rPr>
              <a:t>：系统的硬件，软件，数据</a:t>
            </a:r>
            <a:endParaRPr lang="zh-CN" altLang="en-US" sz="2955" b="1" dirty="0">
              <a:latin typeface="+mn-lt"/>
              <a:ea typeface="+mn-ea"/>
            </a:endParaRPr>
          </a:p>
          <a:p>
            <a:pPr marL="342900" indent="-342900" eaLnBrk="1" hangingPunct="1">
              <a:lnSpc>
                <a:spcPct val="80000"/>
              </a:lnSpc>
              <a:spcBef>
                <a:spcPct val="20000"/>
              </a:spcBef>
              <a:buClr>
                <a:srgbClr val="3399FF"/>
              </a:buClr>
              <a:defRPr/>
            </a:pPr>
            <a:r>
              <a:rPr lang="zh-CN" altLang="en-US" sz="2955" b="1" dirty="0">
                <a:solidFill>
                  <a:srgbClr val="FF0000"/>
                </a:solidFill>
                <a:latin typeface="+mn-lt"/>
                <a:ea typeface="+mn-ea"/>
              </a:rPr>
              <a:t>    防止</a:t>
            </a:r>
            <a:r>
              <a:rPr lang="zh-CN" altLang="en-US" sz="2955" b="1" dirty="0">
                <a:latin typeface="+mn-lt"/>
                <a:ea typeface="+mn-ea"/>
              </a:rPr>
              <a:t>：系统和数据遭受破坏，更改，泄露</a:t>
            </a:r>
            <a:endParaRPr lang="zh-CN" altLang="en-US" sz="2955" b="1" dirty="0">
              <a:latin typeface="+mn-lt"/>
              <a:ea typeface="+mn-ea"/>
            </a:endParaRPr>
          </a:p>
          <a:p>
            <a:pPr marL="342900" indent="-342900" eaLnBrk="1" hangingPunct="1">
              <a:lnSpc>
                <a:spcPct val="80000"/>
              </a:lnSpc>
              <a:spcBef>
                <a:spcPct val="20000"/>
              </a:spcBef>
              <a:buClr>
                <a:srgbClr val="3399FF"/>
              </a:buClr>
              <a:defRPr/>
            </a:pPr>
            <a:r>
              <a:rPr lang="zh-CN" altLang="en-US" sz="2955" b="1" dirty="0">
                <a:solidFill>
                  <a:srgbClr val="FF0000"/>
                </a:solidFill>
                <a:latin typeface="+mn-lt"/>
                <a:ea typeface="+mn-ea"/>
              </a:rPr>
              <a:t>    保证</a:t>
            </a:r>
            <a:r>
              <a:rPr lang="zh-CN" altLang="en-US" sz="2955" b="1" dirty="0">
                <a:latin typeface="+mn-lt"/>
                <a:ea typeface="+mn-ea"/>
              </a:rPr>
              <a:t>：系统连续可靠正常地运行，服务不中断</a:t>
            </a:r>
            <a:endParaRPr lang="zh-CN" altLang="en-US" sz="2955" b="1" dirty="0">
              <a:latin typeface="+mn-lt"/>
              <a:ea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706338" y="4599354"/>
            <a:ext cx="3466123" cy="2268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1045308" y="855785"/>
            <a:ext cx="1935480" cy="515620"/>
          </a:xfrm>
          <a:prstGeom prst="rect">
            <a:avLst/>
          </a:prstGeom>
        </p:spPr>
        <p:txBody>
          <a:bodyPr wrap="none">
            <a:spAutoFit/>
          </a:bodyPr>
          <a:lstStyle/>
          <a:p>
            <a:pPr marL="342900" indent="-342900" eaLnBrk="1" hangingPunct="1">
              <a:lnSpc>
                <a:spcPct val="80000"/>
              </a:lnSpc>
              <a:spcBef>
                <a:spcPct val="20000"/>
              </a:spcBef>
              <a:buClr>
                <a:srgbClr val="3399FF"/>
              </a:buClr>
              <a:buFont typeface="Wingdings" panose="05000000000000000000" pitchFamily="2" charset="2"/>
              <a:buNone/>
              <a:defRPr/>
            </a:pPr>
            <a:r>
              <a:rPr lang="zh-CN" altLang="en-US" sz="3445" dirty="0">
                <a:solidFill>
                  <a:srgbClr val="6600CC"/>
                </a:solidFill>
                <a:latin typeface="+mn-lt"/>
                <a:ea typeface="华文琥珀" panose="02010800040101010101" pitchFamily="2" charset="-122"/>
              </a:rPr>
              <a:t>广义上讲</a:t>
            </a:r>
            <a:endParaRPr lang="zh-CN" altLang="en-US" sz="3445" dirty="0">
              <a:solidFill>
                <a:srgbClr val="6600CC"/>
              </a:solidFill>
              <a:latin typeface="+mn-lt"/>
              <a:ea typeface="华文琥珀" panose="02010800040101010101" pitchFamily="2" charset="-122"/>
            </a:endParaRPr>
          </a:p>
        </p:txBody>
      </p:sp>
      <p:sp>
        <p:nvSpPr>
          <p:cNvPr id="7" name="矩形 6"/>
          <p:cNvSpPr/>
          <p:nvPr/>
        </p:nvSpPr>
        <p:spPr>
          <a:xfrm>
            <a:off x="1221154" y="1424354"/>
            <a:ext cx="10015415" cy="1001395"/>
          </a:xfrm>
          <a:prstGeom prst="rect">
            <a:avLst/>
          </a:prstGeom>
        </p:spPr>
        <p:txBody>
          <a:bodyPr>
            <a:spAutoFit/>
          </a:bodyPr>
          <a:lstStyle/>
          <a:p>
            <a:pPr>
              <a:defRPr/>
            </a:pPr>
            <a:r>
              <a:rPr lang="zh-CN" altLang="en-US" sz="2955" b="1" dirty="0">
                <a:latin typeface="+mn-ea"/>
                <a:ea typeface="+mn-ea"/>
              </a:rPr>
              <a:t> </a:t>
            </a:r>
            <a:r>
              <a:rPr lang="zh-CN" altLang="en-US" sz="2955" b="1" dirty="0">
                <a:solidFill>
                  <a:srgbClr val="FF0000"/>
                </a:solidFill>
                <a:latin typeface="+mn-ea"/>
                <a:ea typeface="+mn-ea"/>
              </a:rPr>
              <a:t>领域</a:t>
            </a:r>
            <a:r>
              <a:rPr lang="zh-CN" altLang="en-US" sz="2955" b="1" dirty="0">
                <a:latin typeface="+mn-ea"/>
                <a:ea typeface="+mn-ea"/>
              </a:rPr>
              <a:t>：涉及到信息的机密性，完整性，可用性，真实性，可控性的相关技术和理论。</a:t>
            </a:r>
            <a:endParaRPr lang="zh-CN" altLang="en-US" sz="2955"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2000" fill="hold"/>
                                        <p:tgtEl>
                                          <p:spTgt spid="3"/>
                                        </p:tgtEl>
                                        <p:attrNameLst>
                                          <p:attrName>ppt_w</p:attrName>
                                        </p:attrNameLst>
                                      </p:cBhvr>
                                      <p:tavLst>
                                        <p:tav tm="0">
                                          <p:val>
                                            <p:fltVal val="0"/>
                                          </p:val>
                                        </p:tav>
                                        <p:tav tm="100000">
                                          <p:val>
                                            <p:strVal val="#ppt_w"/>
                                          </p:val>
                                        </p:tav>
                                      </p:tavLst>
                                    </p:anim>
                                    <p:anim calcmode="lin" valueType="num">
                                      <p:cBhvr>
                                        <p:cTn id="18" dur="2000" fill="hold"/>
                                        <p:tgtEl>
                                          <p:spTgt spid="3"/>
                                        </p:tgtEl>
                                        <p:attrNameLst>
                                          <p:attrName>ppt_h</p:attrName>
                                        </p:attrNameLst>
                                      </p:cBhvr>
                                      <p:tavLst>
                                        <p:tav tm="0">
                                          <p:val>
                                            <p:fltVal val="0"/>
                                          </p:val>
                                        </p:tav>
                                        <p:tav tm="100000">
                                          <p:val>
                                            <p:strVal val="#ppt_h"/>
                                          </p:val>
                                        </p:tav>
                                      </p:tavLst>
                                    </p:anim>
                                    <p:animEffect transition="in" filter="fade">
                                      <p:cBhvr>
                                        <p:cTn id="19" dur="2000"/>
                                        <p:tgtEl>
                                          <p:spTgt spid="3"/>
                                        </p:tgtEl>
                                      </p:cBhvr>
                                    </p:animEffect>
                                  </p:childTnLst>
                                </p:cTn>
                              </p:par>
                            </p:childTnLst>
                          </p:cTn>
                        </p:par>
                        <p:par>
                          <p:cTn id="20" fill="hold">
                            <p:stCondLst>
                              <p:cond delay="3000"/>
                            </p:stCondLst>
                            <p:childTnLst>
                              <p:par>
                                <p:cTn id="21" presetID="53" presetClass="entr" presetSubtype="16"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3000" fill="hold"/>
                                        <p:tgtEl>
                                          <p:spTgt spid="2"/>
                                        </p:tgtEl>
                                        <p:attrNameLst>
                                          <p:attrName>ppt_w</p:attrName>
                                        </p:attrNameLst>
                                      </p:cBhvr>
                                      <p:tavLst>
                                        <p:tav tm="0">
                                          <p:val>
                                            <p:fltVal val="0"/>
                                          </p:val>
                                        </p:tav>
                                        <p:tav tm="100000">
                                          <p:val>
                                            <p:strVal val="#ppt_w"/>
                                          </p:val>
                                        </p:tav>
                                      </p:tavLst>
                                    </p:anim>
                                    <p:anim calcmode="lin" valueType="num">
                                      <p:cBhvr>
                                        <p:cTn id="24" dur="3000" fill="hold"/>
                                        <p:tgtEl>
                                          <p:spTgt spid="2"/>
                                        </p:tgtEl>
                                        <p:attrNameLst>
                                          <p:attrName>ppt_h</p:attrName>
                                        </p:attrNameLst>
                                      </p:cBhvr>
                                      <p:tavLst>
                                        <p:tav tm="0">
                                          <p:val>
                                            <p:fltVal val="0"/>
                                          </p:val>
                                        </p:tav>
                                        <p:tav tm="100000">
                                          <p:val>
                                            <p:strVal val="#ppt_h"/>
                                          </p:val>
                                        </p:tav>
                                      </p:tavLst>
                                    </p:anim>
                                    <p:animEffect transition="in" filter="fade">
                                      <p:cBhvr>
                                        <p:cTn id="25" dur="3000"/>
                                        <p:tgtEl>
                                          <p:spTgt spid="2"/>
                                        </p:tgtEl>
                                      </p:cBhvr>
                                    </p:animEffect>
                                  </p:childTnLst>
                                </p:cTn>
                              </p:par>
                            </p:childTnLst>
                          </p:cTn>
                        </p:par>
                        <p:par>
                          <p:cTn id="26" fill="hold">
                            <p:stCondLst>
                              <p:cond delay="6000"/>
                            </p:stCondLst>
                            <p:childTnLst>
                              <p:par>
                                <p:cTn id="27" presetID="53" presetClass="entr" presetSubtype="16"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2000" fill="hold"/>
                                        <p:tgtEl>
                                          <p:spTgt spid="4"/>
                                        </p:tgtEl>
                                        <p:attrNameLst>
                                          <p:attrName>ppt_w</p:attrName>
                                        </p:attrNameLst>
                                      </p:cBhvr>
                                      <p:tavLst>
                                        <p:tav tm="0">
                                          <p:val>
                                            <p:fltVal val="0"/>
                                          </p:val>
                                        </p:tav>
                                        <p:tav tm="100000">
                                          <p:val>
                                            <p:strVal val="#ppt_w"/>
                                          </p:val>
                                        </p:tav>
                                      </p:tavLst>
                                    </p:anim>
                                    <p:anim calcmode="lin" valueType="num">
                                      <p:cBhvr>
                                        <p:cTn id="30" dur="2000" fill="hold"/>
                                        <p:tgtEl>
                                          <p:spTgt spid="4"/>
                                        </p:tgtEl>
                                        <p:attrNameLst>
                                          <p:attrName>ppt_h</p:attrName>
                                        </p:attrNameLst>
                                      </p:cBhvr>
                                      <p:tavLst>
                                        <p:tav tm="0">
                                          <p:val>
                                            <p:fltVal val="0"/>
                                          </p:val>
                                        </p:tav>
                                        <p:tav tm="100000">
                                          <p:val>
                                            <p:strVal val="#ppt_h"/>
                                          </p:val>
                                        </p:tav>
                                      </p:tavLst>
                                    </p:anim>
                                    <p:animEffect transition="in" filter="fade">
                                      <p:cBhvr>
                                        <p:cTn id="3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361723" y="5862"/>
            <a:ext cx="5382847" cy="84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50000"/>
              </a:spcBef>
              <a:buClrTx/>
              <a:buFontTx/>
              <a:buNone/>
            </a:pPr>
            <a:r>
              <a:rPr lang="zh-CN" altLang="en-US" sz="4925">
                <a:solidFill>
                  <a:srgbClr val="6600CC"/>
                </a:solidFill>
                <a:latin typeface="华文琥珀" panose="02010800040101010101" pitchFamily="2" charset="-122"/>
                <a:ea typeface="华文琥珀" panose="02010800040101010101" pitchFamily="2" charset="-122"/>
              </a:rPr>
              <a:t>信息安全基本目标</a:t>
            </a:r>
            <a:endParaRPr lang="zh-CN" altLang="en-US" sz="4925">
              <a:solidFill>
                <a:srgbClr val="6600CC"/>
              </a:solidFill>
              <a:latin typeface="华文琥珀" panose="02010800040101010101" pitchFamily="2" charset="-122"/>
              <a:ea typeface="华文琥珀" panose="02010800040101010101" pitchFamily="2" charset="-122"/>
            </a:endParaRPr>
          </a:p>
        </p:txBody>
      </p:sp>
      <p:sp>
        <p:nvSpPr>
          <p:cNvPr id="143370" name="Rectangle 10"/>
          <p:cNvSpPr>
            <a:spLocks noChangeArrowheads="1"/>
          </p:cNvSpPr>
          <p:nvPr/>
        </p:nvSpPr>
        <p:spPr bwMode="auto">
          <a:xfrm>
            <a:off x="541216" y="593970"/>
            <a:ext cx="10972800" cy="1615830"/>
          </a:xfrm>
          <a:prstGeom prst="rect">
            <a:avLst/>
          </a:prstGeom>
          <a:noFill/>
          <a:ln w="9525">
            <a:noFill/>
            <a:miter lim="800000"/>
          </a:ln>
          <a:effectLst/>
        </p:spPr>
        <p:txBody>
          <a:bodyPr anchor="ctr"/>
          <a:lstStyle/>
          <a:p>
            <a:pPr algn="ctr" eaLnBrk="1" hangingPunct="1">
              <a:defRPr/>
            </a:pPr>
            <a:r>
              <a:rPr lang="zh-CN" altLang="en-US" sz="4925" b="1" dirty="0">
                <a:solidFill>
                  <a:srgbClr val="FF0000"/>
                </a:solidFill>
                <a:effectLst>
                  <a:outerShdw blurRad="38100" dist="38100" dir="2700000" algn="tl">
                    <a:srgbClr val="C0C0C0"/>
                  </a:outerShdw>
                </a:effectLst>
                <a:latin typeface="华文隶书" panose="02010800040101010101" pitchFamily="2" charset="-122"/>
                <a:ea typeface="华文隶书" panose="02010800040101010101" pitchFamily="2" charset="-122"/>
              </a:rPr>
              <a:t>机密性，  完整性，  可用性</a:t>
            </a:r>
            <a:endParaRPr lang="zh-CN" altLang="en-US" sz="4925" b="1" dirty="0">
              <a:solidFill>
                <a:srgbClr val="FF0000"/>
              </a:solidFill>
              <a:effectLst>
                <a:outerShdw blurRad="38100" dist="38100" dir="2700000" algn="tl">
                  <a:srgbClr val="C0C0C0"/>
                </a:outerShdw>
              </a:effectLst>
              <a:latin typeface="华文隶书" panose="02010800040101010101" pitchFamily="2" charset="-122"/>
              <a:ea typeface="华文隶书" panose="02010800040101010101" pitchFamily="2" charset="-122"/>
            </a:endParaRPr>
          </a:p>
        </p:txBody>
      </p:sp>
      <p:grpSp>
        <p:nvGrpSpPr>
          <p:cNvPr id="38917" name="Group 4"/>
          <p:cNvGrpSpPr/>
          <p:nvPr/>
        </p:nvGrpSpPr>
        <p:grpSpPr bwMode="auto">
          <a:xfrm>
            <a:off x="1322754" y="2631831"/>
            <a:ext cx="7823200" cy="3565769"/>
            <a:chOff x="402" y="1482"/>
            <a:chExt cx="3696" cy="1825"/>
          </a:xfrm>
        </p:grpSpPr>
        <p:sp>
          <p:nvSpPr>
            <p:cNvPr id="100357" name="Rectangle 5"/>
            <p:cNvSpPr>
              <a:spLocks noChangeArrowheads="1"/>
            </p:cNvSpPr>
            <p:nvPr/>
          </p:nvSpPr>
          <p:spPr bwMode="auto">
            <a:xfrm>
              <a:off x="402" y="1482"/>
              <a:ext cx="528" cy="528"/>
            </a:xfrm>
            <a:prstGeom prst="rect">
              <a:avLst/>
            </a:prstGeom>
            <a:gradFill rotWithShape="0">
              <a:gsLst>
                <a:gs pos="0">
                  <a:srgbClr val="CC99FF">
                    <a:gamma/>
                    <a:shade val="46275"/>
                    <a:invGamma/>
                  </a:srgbClr>
                </a:gs>
                <a:gs pos="100000">
                  <a:srgbClr val="CC99FF"/>
                </a:gs>
              </a:gsLst>
              <a:lin ang="2700000" scaled="1"/>
            </a:gradFill>
            <a:ln w="9525">
              <a:noFill/>
              <a:miter lim="800000"/>
            </a:ln>
            <a:effectLst/>
          </p:spPr>
          <p:txBody>
            <a:bodyPr wrap="none" anchor="ctr"/>
            <a:lstStyle/>
            <a:p>
              <a:pPr algn="ctr" eaLnBrk="1" hangingPunct="1">
                <a:defRPr/>
              </a:pPr>
              <a:r>
                <a:rPr lang="en-GB" altLang="zh-CN" sz="6645">
                  <a:effectLst>
                    <a:outerShdw blurRad="38100" dist="38100" dir="2700000" algn="tl">
                      <a:srgbClr val="FFFFFF"/>
                    </a:outerShdw>
                  </a:effectLst>
                  <a:latin typeface="Arial" panose="020B0604020202020204" pitchFamily="34" charset="0"/>
                </a:rPr>
                <a:t>C</a:t>
              </a:r>
              <a:endParaRPr lang="en-US" altLang="zh-CN" sz="100">
                <a:latin typeface="Arial" panose="020B0604020202020204" pitchFamily="34" charset="0"/>
              </a:endParaRPr>
            </a:p>
          </p:txBody>
        </p:sp>
        <p:sp>
          <p:nvSpPr>
            <p:cNvPr id="100358" name="Rectangle 6"/>
            <p:cNvSpPr>
              <a:spLocks noChangeArrowheads="1"/>
            </p:cNvSpPr>
            <p:nvPr/>
          </p:nvSpPr>
          <p:spPr bwMode="auto">
            <a:xfrm>
              <a:off x="402" y="2117"/>
              <a:ext cx="528" cy="528"/>
            </a:xfrm>
            <a:prstGeom prst="rect">
              <a:avLst/>
            </a:prstGeom>
            <a:gradFill rotWithShape="0">
              <a:gsLst>
                <a:gs pos="0">
                  <a:srgbClr val="CC99FF">
                    <a:gamma/>
                    <a:shade val="46275"/>
                    <a:invGamma/>
                  </a:srgbClr>
                </a:gs>
                <a:gs pos="100000">
                  <a:srgbClr val="CC99FF"/>
                </a:gs>
              </a:gsLst>
              <a:lin ang="2700000" scaled="1"/>
            </a:gradFill>
            <a:ln w="9525">
              <a:noFill/>
              <a:miter lim="800000"/>
            </a:ln>
            <a:effectLst/>
          </p:spPr>
          <p:txBody>
            <a:bodyPr wrap="none" anchor="ctr"/>
            <a:lstStyle/>
            <a:p>
              <a:pPr algn="ctr" eaLnBrk="1" hangingPunct="1">
                <a:defRPr/>
              </a:pPr>
              <a:r>
                <a:rPr lang="en-GB" altLang="zh-CN" sz="6645">
                  <a:effectLst>
                    <a:outerShdw blurRad="38100" dist="38100" dir="2700000" algn="tl">
                      <a:srgbClr val="FFFFFF"/>
                    </a:outerShdw>
                  </a:effectLst>
                  <a:latin typeface="Arial" panose="020B0604020202020204" pitchFamily="34" charset="0"/>
                </a:rPr>
                <a:t>I</a:t>
              </a:r>
              <a:endParaRPr lang="en-US" altLang="zh-CN" sz="100">
                <a:latin typeface="Arial" panose="020B0604020202020204" pitchFamily="34" charset="0"/>
              </a:endParaRPr>
            </a:p>
          </p:txBody>
        </p:sp>
        <p:sp>
          <p:nvSpPr>
            <p:cNvPr id="100359" name="Rectangle 7"/>
            <p:cNvSpPr>
              <a:spLocks noChangeArrowheads="1"/>
            </p:cNvSpPr>
            <p:nvPr/>
          </p:nvSpPr>
          <p:spPr bwMode="auto">
            <a:xfrm>
              <a:off x="402" y="2749"/>
              <a:ext cx="528" cy="528"/>
            </a:xfrm>
            <a:prstGeom prst="rect">
              <a:avLst/>
            </a:prstGeom>
            <a:gradFill rotWithShape="0">
              <a:gsLst>
                <a:gs pos="0">
                  <a:srgbClr val="CC99FF">
                    <a:gamma/>
                    <a:shade val="46275"/>
                    <a:invGamma/>
                  </a:srgbClr>
                </a:gs>
                <a:gs pos="100000">
                  <a:srgbClr val="CC99FF"/>
                </a:gs>
              </a:gsLst>
              <a:lin ang="2700000" scaled="1"/>
            </a:gradFill>
            <a:ln w="9525">
              <a:noFill/>
              <a:miter lim="800000"/>
            </a:ln>
            <a:effectLst/>
          </p:spPr>
          <p:txBody>
            <a:bodyPr wrap="none" anchor="ctr"/>
            <a:lstStyle/>
            <a:p>
              <a:pPr algn="ctr" eaLnBrk="1" hangingPunct="1">
                <a:defRPr/>
              </a:pPr>
              <a:r>
                <a:rPr lang="en-GB" altLang="zh-CN" sz="6645">
                  <a:effectLst>
                    <a:outerShdw blurRad="38100" dist="38100" dir="2700000" algn="tl">
                      <a:srgbClr val="FFFFFF"/>
                    </a:outerShdw>
                  </a:effectLst>
                  <a:latin typeface="Arial" panose="020B0604020202020204" pitchFamily="34" charset="0"/>
                </a:rPr>
                <a:t>A</a:t>
              </a:r>
              <a:endParaRPr lang="en-US" altLang="zh-CN" sz="100">
                <a:latin typeface="Arial" panose="020B0604020202020204" pitchFamily="34" charset="0"/>
              </a:endParaRPr>
            </a:p>
          </p:txBody>
        </p:sp>
        <p:sp>
          <p:nvSpPr>
            <p:cNvPr id="100360" name="Text Box 8"/>
            <p:cNvSpPr txBox="1">
              <a:spLocks noChangeArrowheads="1"/>
            </p:cNvSpPr>
            <p:nvPr/>
          </p:nvSpPr>
          <p:spPr bwMode="auto">
            <a:xfrm>
              <a:off x="930" y="1525"/>
              <a:ext cx="3168" cy="512"/>
            </a:xfrm>
            <a:prstGeom prst="rect">
              <a:avLst/>
            </a:prstGeom>
            <a:noFill/>
            <a:ln w="9525">
              <a:noFill/>
              <a:miter lim="800000"/>
            </a:ln>
            <a:effectLst/>
          </p:spPr>
          <p:txBody>
            <a:bodyPr>
              <a:spAutoFit/>
            </a:bodyPr>
            <a:lstStyle/>
            <a:p>
              <a:pPr eaLnBrk="1" hangingPunct="1">
                <a:defRPr/>
              </a:pPr>
              <a:r>
                <a:rPr lang="en-GB" altLang="zh-CN" sz="5910">
                  <a:effectLst>
                    <a:outerShdw blurRad="38100" dist="38100" dir="2700000" algn="tl">
                      <a:srgbClr val="C0C0C0"/>
                    </a:outerShdw>
                  </a:effectLst>
                  <a:latin typeface="Arial" panose="020B0604020202020204" pitchFamily="34" charset="0"/>
                </a:rPr>
                <a:t>onfidentiality </a:t>
              </a:r>
              <a:endParaRPr lang="en-US" altLang="zh-CN" sz="5910">
                <a:latin typeface="Arial" panose="020B0604020202020204" pitchFamily="34" charset="0"/>
              </a:endParaRPr>
            </a:p>
          </p:txBody>
        </p:sp>
        <p:sp>
          <p:nvSpPr>
            <p:cNvPr id="100361" name="Text Box 9"/>
            <p:cNvSpPr txBox="1">
              <a:spLocks noChangeArrowheads="1"/>
            </p:cNvSpPr>
            <p:nvPr/>
          </p:nvSpPr>
          <p:spPr bwMode="auto">
            <a:xfrm>
              <a:off x="930" y="2160"/>
              <a:ext cx="2400" cy="512"/>
            </a:xfrm>
            <a:prstGeom prst="rect">
              <a:avLst/>
            </a:prstGeom>
            <a:noFill/>
            <a:ln w="9525">
              <a:noFill/>
              <a:miter lim="800000"/>
            </a:ln>
            <a:effectLst/>
          </p:spPr>
          <p:txBody>
            <a:bodyPr>
              <a:spAutoFit/>
            </a:bodyPr>
            <a:lstStyle/>
            <a:p>
              <a:pPr eaLnBrk="1" hangingPunct="1">
                <a:defRPr/>
              </a:pPr>
              <a:r>
                <a:rPr lang="en-GB" altLang="zh-CN" sz="5910" dirty="0" err="1">
                  <a:effectLst>
                    <a:outerShdw blurRad="38100" dist="38100" dir="2700000" algn="tl">
                      <a:srgbClr val="C0C0C0"/>
                    </a:outerShdw>
                  </a:effectLst>
                  <a:latin typeface="Arial" panose="020B0604020202020204" pitchFamily="34" charset="0"/>
                </a:rPr>
                <a:t>ntegrity</a:t>
              </a:r>
              <a:endParaRPr lang="en-US" altLang="zh-CN" sz="5910" dirty="0">
                <a:latin typeface="Arial" panose="020B0604020202020204" pitchFamily="34" charset="0"/>
              </a:endParaRPr>
            </a:p>
          </p:txBody>
        </p:sp>
        <p:sp>
          <p:nvSpPr>
            <p:cNvPr id="100362" name="Text Box 10"/>
            <p:cNvSpPr txBox="1">
              <a:spLocks noChangeArrowheads="1"/>
            </p:cNvSpPr>
            <p:nvPr/>
          </p:nvSpPr>
          <p:spPr bwMode="auto">
            <a:xfrm>
              <a:off x="930" y="2795"/>
              <a:ext cx="2256" cy="512"/>
            </a:xfrm>
            <a:prstGeom prst="rect">
              <a:avLst/>
            </a:prstGeom>
            <a:noFill/>
            <a:ln w="9525">
              <a:noFill/>
              <a:miter lim="800000"/>
            </a:ln>
            <a:effectLst/>
          </p:spPr>
          <p:txBody>
            <a:bodyPr>
              <a:spAutoFit/>
            </a:bodyPr>
            <a:lstStyle/>
            <a:p>
              <a:pPr eaLnBrk="1" hangingPunct="1">
                <a:defRPr/>
              </a:pPr>
              <a:r>
                <a:rPr lang="en-GB" altLang="zh-CN" sz="5910">
                  <a:effectLst>
                    <a:outerShdw blurRad="38100" dist="38100" dir="2700000" algn="tl">
                      <a:srgbClr val="C0C0C0"/>
                    </a:outerShdw>
                  </a:effectLst>
                  <a:latin typeface="Arial" panose="020B0604020202020204" pitchFamily="34" charset="0"/>
                </a:rPr>
                <a:t>vailability</a:t>
              </a:r>
              <a:endParaRPr lang="en-US" altLang="zh-CN" sz="5910">
                <a:latin typeface="Arial" panose="020B0604020202020204" pitchFamily="34" charset="0"/>
              </a:endParaRPr>
            </a:p>
          </p:txBody>
        </p:sp>
      </p:grpSp>
      <p:sp>
        <p:nvSpPr>
          <p:cNvPr id="38918" name="AutoShape 11"/>
          <p:cNvSpPr>
            <a:spLocks noChangeArrowheads="1"/>
          </p:cNvSpPr>
          <p:nvPr/>
        </p:nvSpPr>
        <p:spPr bwMode="auto">
          <a:xfrm>
            <a:off x="6988908" y="2663092"/>
            <a:ext cx="4319953" cy="3546231"/>
          </a:xfrm>
          <a:prstGeom prst="triangle">
            <a:avLst>
              <a:gd name="adj" fmla="val 50000"/>
            </a:avLst>
          </a:prstGeom>
          <a:gradFill rotWithShape="1">
            <a:gsLst>
              <a:gs pos="0">
                <a:srgbClr val="760000"/>
              </a:gs>
              <a:gs pos="50000">
                <a:srgbClr val="FF0000"/>
              </a:gs>
              <a:gs pos="100000">
                <a:srgbClr val="760000"/>
              </a:gs>
            </a:gsLst>
            <a:lin ang="5400000" scaled="1"/>
          </a:gradFill>
          <a:ln w="9525">
            <a:miter lim="800000"/>
          </a:ln>
          <a:scene3d>
            <a:camera prst="legacyObliqueTopRight"/>
            <a:lightRig rig="legacyFlat3" dir="b"/>
          </a:scene3d>
          <a:sp3d extrusionH="430200" prstMaterial="legacyMatte">
            <a:bevelT w="13500" h="13500" prst="angle"/>
            <a:bevelB w="13500" h="13500" prst="angle"/>
            <a:extrusionClr>
              <a:srgbClr val="F76909"/>
            </a:extrusionClr>
            <a:contourClr>
              <a:srgbClr val="760000"/>
            </a:contourClr>
          </a:sp3d>
        </p:spPr>
        <p:txBody>
          <a:bodyPr wrap="none" anchor="ctr">
            <a:flatTx/>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00364" name="Text Box 12"/>
          <p:cNvSpPr txBox="1">
            <a:spLocks noChangeArrowheads="1"/>
          </p:cNvSpPr>
          <p:nvPr/>
        </p:nvSpPr>
        <p:spPr bwMode="auto">
          <a:xfrm>
            <a:off x="7711831" y="4327769"/>
            <a:ext cx="2879969" cy="924560"/>
          </a:xfrm>
          <a:prstGeom prst="rect">
            <a:avLst/>
          </a:prstGeom>
          <a:noFill/>
          <a:ln w="9525" algn="ctr">
            <a:noFill/>
            <a:miter lim="800000"/>
          </a:ln>
          <a:effectLst/>
        </p:spPr>
        <p:txBody>
          <a:bodyPr>
            <a:spAutoFit/>
          </a:bodyPr>
          <a:lstStyle/>
          <a:p>
            <a:pPr algn="ctr" eaLnBrk="1" hangingPunct="1">
              <a:spcBef>
                <a:spcPct val="50000"/>
              </a:spcBef>
              <a:defRPr/>
            </a:pPr>
            <a:r>
              <a:rPr lang="en-US" altLang="zh-CN" sz="5415" dirty="0">
                <a:solidFill>
                  <a:srgbClr val="FFFF66"/>
                </a:solidFill>
                <a:effectLst>
                  <a:outerShdw blurRad="38100" dist="38100" dir="2700000" algn="tl">
                    <a:srgbClr val="C0C0C0"/>
                  </a:outerShdw>
                </a:effectLst>
                <a:latin typeface="黑体" panose="02010609060101010101" pitchFamily="49" charset="-122"/>
                <a:ea typeface="黑体" panose="02010609060101010101" pitchFamily="49" charset="-122"/>
              </a:rPr>
              <a:t>CIA</a:t>
            </a:r>
            <a:endParaRPr lang="en-US" altLang="zh-CN" sz="5415" dirty="0">
              <a:solidFill>
                <a:srgbClr val="FFFF66"/>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3370"/>
                                        </p:tgtEl>
                                        <p:attrNameLst>
                                          <p:attrName>style.visibility</p:attrName>
                                        </p:attrNameLst>
                                      </p:cBhvr>
                                      <p:to>
                                        <p:strVal val="visible"/>
                                      </p:to>
                                    </p:set>
                                    <p:animEffect transition="in" filter="wipe(down)">
                                      <p:cBhvr>
                                        <p:cTn id="7" dur="500"/>
                                        <p:tgtEl>
                                          <p:spTgt spid="14337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8917"/>
                                        </p:tgtEl>
                                        <p:attrNameLst>
                                          <p:attrName>style.visibility</p:attrName>
                                        </p:attrNameLst>
                                      </p:cBhvr>
                                      <p:to>
                                        <p:strVal val="visible"/>
                                      </p:to>
                                    </p:set>
                                    <p:anim calcmode="lin" valueType="num">
                                      <p:cBhvr>
                                        <p:cTn id="12" dur="500" fill="hold"/>
                                        <p:tgtEl>
                                          <p:spTgt spid="38917"/>
                                        </p:tgtEl>
                                        <p:attrNameLst>
                                          <p:attrName>ppt_w</p:attrName>
                                        </p:attrNameLst>
                                      </p:cBhvr>
                                      <p:tavLst>
                                        <p:tav tm="0">
                                          <p:val>
                                            <p:fltVal val="0"/>
                                          </p:val>
                                        </p:tav>
                                        <p:tav tm="100000">
                                          <p:val>
                                            <p:strVal val="#ppt_w"/>
                                          </p:val>
                                        </p:tav>
                                      </p:tavLst>
                                    </p:anim>
                                    <p:anim calcmode="lin" valueType="num">
                                      <p:cBhvr>
                                        <p:cTn id="13" dur="500" fill="hold"/>
                                        <p:tgtEl>
                                          <p:spTgt spid="38917"/>
                                        </p:tgtEl>
                                        <p:attrNameLst>
                                          <p:attrName>ppt_h</p:attrName>
                                        </p:attrNameLst>
                                      </p:cBhvr>
                                      <p:tavLst>
                                        <p:tav tm="0">
                                          <p:val>
                                            <p:fltVal val="0"/>
                                          </p:val>
                                        </p:tav>
                                        <p:tav tm="100000">
                                          <p:val>
                                            <p:strVal val="#ppt_h"/>
                                          </p:val>
                                        </p:tav>
                                      </p:tavLst>
                                    </p:anim>
                                    <p:animEffect transition="in" filter="fade">
                                      <p:cBhvr>
                                        <p:cTn id="14" dur="500"/>
                                        <p:tgtEl>
                                          <p:spTgt spid="38917"/>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38918"/>
                                        </p:tgtEl>
                                        <p:attrNameLst>
                                          <p:attrName>style.visibility</p:attrName>
                                        </p:attrNameLst>
                                      </p:cBhvr>
                                      <p:to>
                                        <p:strVal val="visible"/>
                                      </p:to>
                                    </p:set>
                                    <p:animEffect transition="in" filter="wheel(1)">
                                      <p:cBhvr>
                                        <p:cTn id="19" dur="2000"/>
                                        <p:tgtEl>
                                          <p:spTgt spid="38918"/>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100364"/>
                                        </p:tgtEl>
                                        <p:attrNameLst>
                                          <p:attrName>style.visibility</p:attrName>
                                        </p:attrNameLst>
                                      </p:cBhvr>
                                      <p:to>
                                        <p:strVal val="visible"/>
                                      </p:to>
                                    </p:set>
                                    <p:animEffect transition="in" filter="wheel(1)">
                                      <p:cBhvr>
                                        <p:cTn id="22" dur="2000"/>
                                        <p:tgtEl>
                                          <p:spTgt spid="100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0" grpId="0" bldLvl="0" animBg="1"/>
      <p:bldP spid="38918" grpId="0" bldLvl="0" animBg="1"/>
      <p:bldP spid="100364"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2315308" y="169985"/>
            <a:ext cx="7297615" cy="599831"/>
          </a:xfrm>
        </p:spPr>
        <p:txBody>
          <a:bodyPr lIns="116427" tIns="58212" rIns="116427" bIns="58212"/>
          <a:lstStyle/>
          <a:p>
            <a:r>
              <a:rPr lang="zh-CN" altLang="en-US">
                <a:solidFill>
                  <a:schemeClr val="tx1"/>
                </a:solidFill>
              </a:rPr>
              <a:t>什么是信息安全</a:t>
            </a:r>
            <a:endParaRPr lang="en-US" altLang="zh-CN">
              <a:solidFill>
                <a:schemeClr val="tx1"/>
              </a:solidFill>
            </a:endParaRPr>
          </a:p>
        </p:txBody>
      </p:sp>
      <p:pic>
        <p:nvPicPr>
          <p:cNvPr id="43011" name="Picture 3" descr="图片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336693" y="2620108"/>
            <a:ext cx="4779108" cy="417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4"/>
          <p:cNvSpPr txBox="1">
            <a:spLocks noChangeArrowheads="1"/>
          </p:cNvSpPr>
          <p:nvPr/>
        </p:nvSpPr>
        <p:spPr bwMode="auto">
          <a:xfrm>
            <a:off x="511908" y="947615"/>
            <a:ext cx="10992338" cy="147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955" b="1" dirty="0">
                <a:latin typeface="Arial" panose="020B0604020202020204" pitchFamily="34" charset="0"/>
                <a:ea typeface="宋体" panose="02010600030101010101" pitchFamily="2" charset="-122"/>
              </a:rPr>
              <a:t>信息本身的</a:t>
            </a:r>
            <a:r>
              <a:rPr lang="zh-CN" altLang="en-US" sz="2955" b="1" dirty="0">
                <a:solidFill>
                  <a:srgbClr val="FF0000"/>
                </a:solidFill>
                <a:latin typeface="Arial" panose="020B0604020202020204" pitchFamily="34" charset="0"/>
                <a:ea typeface="宋体" panose="02010600030101010101" pitchFamily="2" charset="-122"/>
              </a:rPr>
              <a:t>机密性（</a:t>
            </a:r>
            <a:r>
              <a:rPr lang="en-US" altLang="zh-CN" sz="2955" b="1" dirty="0">
                <a:solidFill>
                  <a:srgbClr val="FF0000"/>
                </a:solidFill>
                <a:latin typeface="Arial" panose="020B0604020202020204" pitchFamily="34" charset="0"/>
                <a:ea typeface="宋体" panose="02010600030101010101" pitchFamily="2" charset="-122"/>
              </a:rPr>
              <a:t>Confidentiality</a:t>
            </a:r>
            <a:r>
              <a:rPr lang="zh-CN" altLang="en-US" sz="2955" b="1" dirty="0">
                <a:solidFill>
                  <a:srgbClr val="FF0000"/>
                </a:solidFill>
                <a:latin typeface="Arial" panose="020B0604020202020204" pitchFamily="34" charset="0"/>
                <a:ea typeface="宋体" panose="02010600030101010101" pitchFamily="2" charset="-122"/>
              </a:rPr>
              <a:t>）</a:t>
            </a:r>
            <a:r>
              <a:rPr lang="zh-CN" altLang="en-US" sz="2955" b="1" dirty="0">
                <a:latin typeface="Arial" panose="020B0604020202020204" pitchFamily="34" charset="0"/>
                <a:ea typeface="宋体" panose="02010600030101010101" pitchFamily="2" charset="-122"/>
              </a:rPr>
              <a:t>、</a:t>
            </a:r>
            <a:r>
              <a:rPr lang="zh-CN" altLang="en-US" sz="2955" b="1" dirty="0">
                <a:solidFill>
                  <a:srgbClr val="FF0000"/>
                </a:solidFill>
                <a:latin typeface="Arial" panose="020B0604020202020204" pitchFamily="34" charset="0"/>
                <a:ea typeface="宋体" panose="02010600030101010101" pitchFamily="2" charset="-122"/>
              </a:rPr>
              <a:t>完整性（</a:t>
            </a:r>
            <a:r>
              <a:rPr lang="en-US" altLang="zh-CN" sz="2955" b="1" dirty="0">
                <a:solidFill>
                  <a:srgbClr val="FF0000"/>
                </a:solidFill>
                <a:latin typeface="Arial" panose="020B0604020202020204" pitchFamily="34" charset="0"/>
                <a:ea typeface="宋体" panose="02010600030101010101" pitchFamily="2" charset="-122"/>
              </a:rPr>
              <a:t>Integrity</a:t>
            </a:r>
            <a:r>
              <a:rPr lang="zh-CN" altLang="en-US" sz="2955" b="1" dirty="0">
                <a:solidFill>
                  <a:srgbClr val="FF0000"/>
                </a:solidFill>
                <a:latin typeface="Arial" panose="020B0604020202020204" pitchFamily="34" charset="0"/>
                <a:ea typeface="宋体" panose="02010600030101010101" pitchFamily="2" charset="-122"/>
              </a:rPr>
              <a:t>）</a:t>
            </a:r>
            <a:r>
              <a:rPr lang="zh-CN" altLang="en-US" sz="2955" b="1" dirty="0">
                <a:latin typeface="Arial" panose="020B0604020202020204" pitchFamily="34" charset="0"/>
                <a:ea typeface="宋体" panose="02010600030101010101" pitchFamily="2" charset="-122"/>
              </a:rPr>
              <a:t>和</a:t>
            </a:r>
            <a:r>
              <a:rPr lang="zh-CN" altLang="en-US" sz="2955" b="1" dirty="0">
                <a:solidFill>
                  <a:srgbClr val="FF0000"/>
                </a:solidFill>
                <a:latin typeface="Arial" panose="020B0604020202020204" pitchFamily="34" charset="0"/>
                <a:ea typeface="宋体" panose="02010600030101010101" pitchFamily="2" charset="-122"/>
              </a:rPr>
              <a:t>可用性（</a:t>
            </a:r>
            <a:r>
              <a:rPr lang="en-US" altLang="zh-CN" sz="2955" b="1" dirty="0">
                <a:solidFill>
                  <a:srgbClr val="FF0000"/>
                </a:solidFill>
                <a:latin typeface="Arial" panose="020B0604020202020204" pitchFamily="34" charset="0"/>
                <a:ea typeface="宋体" panose="02010600030101010101" pitchFamily="2" charset="-122"/>
              </a:rPr>
              <a:t>Availability</a:t>
            </a:r>
            <a:r>
              <a:rPr lang="zh-CN" altLang="en-US" sz="2955" b="1" dirty="0">
                <a:solidFill>
                  <a:srgbClr val="FF0000"/>
                </a:solidFill>
                <a:latin typeface="Arial" panose="020B0604020202020204" pitchFamily="34" charset="0"/>
                <a:ea typeface="宋体" panose="02010600030101010101" pitchFamily="2" charset="-122"/>
              </a:rPr>
              <a:t>）</a:t>
            </a:r>
            <a:r>
              <a:rPr lang="zh-CN" altLang="en-US" sz="2955" b="1" dirty="0">
                <a:latin typeface="Arial" panose="020B0604020202020204" pitchFamily="34" charset="0"/>
                <a:ea typeface="宋体" panose="02010600030101010101" pitchFamily="2" charset="-122"/>
              </a:rPr>
              <a:t>的保持，即防止未经授权使用信息、防止对信息的非法修改和破坏、确保及时可靠地使用信息。</a:t>
            </a:r>
            <a:endParaRPr lang="zh-CN" altLang="en-US" sz="2955" b="1" dirty="0">
              <a:latin typeface="Arial" panose="020B0604020202020204" pitchFamily="34" charset="0"/>
              <a:ea typeface="宋体" panose="02010600030101010101" pitchFamily="2" charset="-122"/>
            </a:endParaRPr>
          </a:p>
        </p:txBody>
      </p:sp>
      <p:sp>
        <p:nvSpPr>
          <p:cNvPr id="43013" name="Text Box 5"/>
          <p:cNvSpPr txBox="1">
            <a:spLocks noChangeArrowheads="1"/>
          </p:cNvSpPr>
          <p:nvPr/>
        </p:nvSpPr>
        <p:spPr bwMode="auto">
          <a:xfrm>
            <a:off x="511908" y="2897554"/>
            <a:ext cx="7621954" cy="3526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955" b="1">
                <a:solidFill>
                  <a:srgbClr val="CC0000"/>
                </a:solidFill>
                <a:latin typeface="Arial" panose="020B0604020202020204" pitchFamily="34" charset="0"/>
                <a:ea typeface="宋体" panose="02010600030101010101" pitchFamily="2" charset="-122"/>
              </a:rPr>
              <a:t>机密性：</a:t>
            </a:r>
            <a:r>
              <a:rPr lang="zh-CN" altLang="en-US" sz="2955" b="1">
                <a:latin typeface="Arial" panose="020B0604020202020204" pitchFamily="34" charset="0"/>
                <a:ea typeface="宋体" panose="02010600030101010101" pitchFamily="2" charset="-122"/>
              </a:rPr>
              <a:t>确保信息没有非授权的泄漏，不被非授权的个人、组织和计算机程序使用</a:t>
            </a:r>
            <a:endParaRPr lang="zh-CN" altLang="en-US" sz="2955" b="1">
              <a:latin typeface="Arial" panose="020B0604020202020204" pitchFamily="34" charset="0"/>
              <a:ea typeface="宋体" panose="02010600030101010101" pitchFamily="2" charset="-122"/>
            </a:endParaRPr>
          </a:p>
          <a:p>
            <a:pPr eaLnBrk="1" hangingPunct="1">
              <a:spcBef>
                <a:spcPct val="50000"/>
              </a:spcBef>
              <a:buClrTx/>
              <a:buFontTx/>
              <a:buNone/>
            </a:pPr>
            <a:r>
              <a:rPr lang="zh-CN" altLang="en-US" sz="2955" b="1">
                <a:solidFill>
                  <a:srgbClr val="CC0000"/>
                </a:solidFill>
                <a:latin typeface="Arial" panose="020B0604020202020204" pitchFamily="34" charset="0"/>
                <a:ea typeface="宋体" panose="02010600030101010101" pitchFamily="2" charset="-122"/>
              </a:rPr>
              <a:t>完整性：</a:t>
            </a:r>
            <a:r>
              <a:rPr lang="zh-CN" altLang="en-US" sz="2955" b="1">
                <a:latin typeface="Arial" panose="020B0604020202020204" pitchFamily="34" charset="0"/>
                <a:ea typeface="宋体" panose="02010600030101010101" pitchFamily="2" charset="-122"/>
              </a:rPr>
              <a:t>确保信息没有遭到篡改和破坏</a:t>
            </a:r>
            <a:endParaRPr lang="zh-CN" altLang="en-US" sz="2955" b="1">
              <a:latin typeface="Arial" panose="020B0604020202020204" pitchFamily="34" charset="0"/>
              <a:ea typeface="宋体" panose="02010600030101010101" pitchFamily="2" charset="-122"/>
            </a:endParaRPr>
          </a:p>
          <a:p>
            <a:pPr eaLnBrk="1" hangingPunct="1">
              <a:spcBef>
                <a:spcPct val="50000"/>
              </a:spcBef>
              <a:buClrTx/>
              <a:buFontTx/>
              <a:buNone/>
            </a:pPr>
            <a:r>
              <a:rPr lang="zh-CN" altLang="en-US" sz="2955" b="1">
                <a:solidFill>
                  <a:srgbClr val="CC0000"/>
                </a:solidFill>
                <a:latin typeface="Arial" panose="020B0604020202020204" pitchFamily="34" charset="0"/>
                <a:ea typeface="宋体" panose="02010600030101010101" pitchFamily="2" charset="-122"/>
              </a:rPr>
              <a:t>可用性：</a:t>
            </a:r>
            <a:r>
              <a:rPr lang="zh-CN" altLang="en-US" sz="2955" b="1">
                <a:latin typeface="Arial" panose="020B0604020202020204" pitchFamily="34" charset="0"/>
                <a:ea typeface="宋体" panose="02010600030101010101" pitchFamily="2" charset="-122"/>
              </a:rPr>
              <a:t>确保拥有授权的用户或程序可以及时、正常使用信息</a:t>
            </a:r>
            <a:endParaRPr lang="zh-CN" altLang="en-US" sz="2955" b="1">
              <a:latin typeface="Arial" panose="020B0604020202020204" pitchFamily="34" charset="0"/>
              <a:ea typeface="宋体" panose="02010600030101010101" pitchFamily="2" charset="-122"/>
            </a:endParaRPr>
          </a:p>
          <a:p>
            <a:pPr eaLnBrk="1" hangingPunct="1">
              <a:spcBef>
                <a:spcPct val="50000"/>
              </a:spcBef>
              <a:buClrTx/>
              <a:buFontTx/>
              <a:buNone/>
            </a:pPr>
            <a:endParaRPr lang="en-US" altLang="zh-CN" sz="2955" b="1">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additive="base">
                                        <p:cTn id="7" dur="500" fill="hold"/>
                                        <p:tgtEl>
                                          <p:spTgt spid="43012"/>
                                        </p:tgtEl>
                                        <p:attrNameLst>
                                          <p:attrName>ppt_x</p:attrName>
                                        </p:attrNameLst>
                                      </p:cBhvr>
                                      <p:tavLst>
                                        <p:tav tm="0">
                                          <p:val>
                                            <p:strVal val="#ppt_x"/>
                                          </p:val>
                                        </p:tav>
                                        <p:tav tm="100000">
                                          <p:val>
                                            <p:strVal val="#ppt_x"/>
                                          </p:val>
                                        </p:tav>
                                      </p:tavLst>
                                    </p:anim>
                                    <p:anim calcmode="lin" valueType="num">
                                      <p:cBhvr additive="base">
                                        <p:cTn id="8" dur="500" fill="hold"/>
                                        <p:tgtEl>
                                          <p:spTgt spid="4301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43013"/>
                                        </p:tgtEl>
                                        <p:attrNameLst>
                                          <p:attrName>style.visibility</p:attrName>
                                        </p:attrNameLst>
                                      </p:cBhvr>
                                      <p:to>
                                        <p:strVal val="visible"/>
                                      </p:to>
                                    </p:set>
                                    <p:anim calcmode="lin" valueType="num">
                                      <p:cBhvr>
                                        <p:cTn id="12" dur="3000" fill="hold"/>
                                        <p:tgtEl>
                                          <p:spTgt spid="43013"/>
                                        </p:tgtEl>
                                        <p:attrNameLst>
                                          <p:attrName>ppt_w</p:attrName>
                                        </p:attrNameLst>
                                      </p:cBhvr>
                                      <p:tavLst>
                                        <p:tav tm="0">
                                          <p:val>
                                            <p:fltVal val="0"/>
                                          </p:val>
                                        </p:tav>
                                        <p:tav tm="100000">
                                          <p:val>
                                            <p:strVal val="#ppt_w"/>
                                          </p:val>
                                        </p:tav>
                                      </p:tavLst>
                                    </p:anim>
                                    <p:anim calcmode="lin" valueType="num">
                                      <p:cBhvr>
                                        <p:cTn id="13" dur="3000" fill="hold"/>
                                        <p:tgtEl>
                                          <p:spTgt spid="43013"/>
                                        </p:tgtEl>
                                        <p:attrNameLst>
                                          <p:attrName>ppt_h</p:attrName>
                                        </p:attrNameLst>
                                      </p:cBhvr>
                                      <p:tavLst>
                                        <p:tav tm="0">
                                          <p:val>
                                            <p:fltVal val="0"/>
                                          </p:val>
                                        </p:tav>
                                        <p:tav tm="100000">
                                          <p:val>
                                            <p:strVal val="#ppt_h"/>
                                          </p:val>
                                        </p:tav>
                                      </p:tavLst>
                                    </p:anim>
                                    <p:animEffect transition="in" filter="fade">
                                      <p:cBhvr>
                                        <p:cTn id="14" dur="3000"/>
                                        <p:tgtEl>
                                          <p:spTgt spid="43013"/>
                                        </p:tgtEl>
                                      </p:cBhvr>
                                    </p:animEffect>
                                  </p:childTnLst>
                                </p:cTn>
                              </p:par>
                            </p:childTnLst>
                          </p:cTn>
                        </p:par>
                        <p:par>
                          <p:cTn id="15" fill="hold">
                            <p:stCondLst>
                              <p:cond delay="3500"/>
                            </p:stCondLst>
                            <p:childTnLst>
                              <p:par>
                                <p:cTn id="16" presetID="53" presetClass="entr" presetSubtype="16" fill="hold" nodeType="afterEffect">
                                  <p:stCondLst>
                                    <p:cond delay="0"/>
                                  </p:stCondLst>
                                  <p:childTnLst>
                                    <p:set>
                                      <p:cBhvr>
                                        <p:cTn id="17" dur="1" fill="hold">
                                          <p:stCondLst>
                                            <p:cond delay="0"/>
                                          </p:stCondLst>
                                        </p:cTn>
                                        <p:tgtEl>
                                          <p:spTgt spid="43011"/>
                                        </p:tgtEl>
                                        <p:attrNameLst>
                                          <p:attrName>style.visibility</p:attrName>
                                        </p:attrNameLst>
                                      </p:cBhvr>
                                      <p:to>
                                        <p:strVal val="visible"/>
                                      </p:to>
                                    </p:set>
                                    <p:anim calcmode="lin" valueType="num">
                                      <p:cBhvr>
                                        <p:cTn id="18" dur="3000" fill="hold"/>
                                        <p:tgtEl>
                                          <p:spTgt spid="43011"/>
                                        </p:tgtEl>
                                        <p:attrNameLst>
                                          <p:attrName>ppt_w</p:attrName>
                                        </p:attrNameLst>
                                      </p:cBhvr>
                                      <p:tavLst>
                                        <p:tav tm="0">
                                          <p:val>
                                            <p:fltVal val="0"/>
                                          </p:val>
                                        </p:tav>
                                        <p:tav tm="100000">
                                          <p:val>
                                            <p:strVal val="#ppt_w"/>
                                          </p:val>
                                        </p:tav>
                                      </p:tavLst>
                                    </p:anim>
                                    <p:anim calcmode="lin" valueType="num">
                                      <p:cBhvr>
                                        <p:cTn id="19" dur="3000" fill="hold"/>
                                        <p:tgtEl>
                                          <p:spTgt spid="43011"/>
                                        </p:tgtEl>
                                        <p:attrNameLst>
                                          <p:attrName>ppt_h</p:attrName>
                                        </p:attrNameLst>
                                      </p:cBhvr>
                                      <p:tavLst>
                                        <p:tav tm="0">
                                          <p:val>
                                            <p:fltVal val="0"/>
                                          </p:val>
                                        </p:tav>
                                        <p:tav tm="100000">
                                          <p:val>
                                            <p:strVal val="#ppt_h"/>
                                          </p:val>
                                        </p:tav>
                                      </p:tavLst>
                                    </p:anim>
                                    <p:animEffect transition="in" filter="fade">
                                      <p:cBhvr>
                                        <p:cTn id="20" dur="3000"/>
                                        <p:tgtEl>
                                          <p:spTgt spid="43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P spid="430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1488831" y="-7815"/>
            <a:ext cx="8684847" cy="601785"/>
          </a:xfrm>
        </p:spPr>
        <p:txBody>
          <a:bodyPr lIns="116427" tIns="58212" rIns="116427" bIns="58212"/>
          <a:lstStyle/>
          <a:p>
            <a:r>
              <a:rPr lang="zh-CN" altLang="en-US" dirty="0">
                <a:solidFill>
                  <a:schemeClr val="tx1"/>
                </a:solidFill>
              </a:rPr>
              <a:t>如何保障信息安全？</a:t>
            </a:r>
            <a:endParaRPr lang="en-US" altLang="zh-CN" dirty="0">
              <a:solidFill>
                <a:schemeClr val="tx1"/>
              </a:solidFill>
            </a:endParaRPr>
          </a:p>
        </p:txBody>
      </p:sp>
      <p:grpSp>
        <p:nvGrpSpPr>
          <p:cNvPr id="707588" name="Group 4"/>
          <p:cNvGrpSpPr/>
          <p:nvPr/>
        </p:nvGrpSpPr>
        <p:grpSpPr bwMode="auto">
          <a:xfrm>
            <a:off x="9618785" y="1426308"/>
            <a:ext cx="2092569" cy="728784"/>
            <a:chOff x="2061" y="1529"/>
            <a:chExt cx="1384" cy="917"/>
          </a:xfrm>
        </p:grpSpPr>
        <p:sp>
          <p:nvSpPr>
            <p:cNvPr id="43115" name="Freeform 5"/>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16" name="Freeform 6"/>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17" name="Freeform 7"/>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18" name="Freeform 8"/>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119" name="Freeform 9"/>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120" name="Freeform 10"/>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121" name="Freeform 11"/>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122" name="Freeform 12"/>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27" tIns="58212" rIns="116427" bIns="58212"/>
            <a:lstStyle/>
            <a:p>
              <a:endParaRPr lang="zh-CN" altLang="en-US" sz="100"/>
            </a:p>
          </p:txBody>
        </p:sp>
        <p:sp>
          <p:nvSpPr>
            <p:cNvPr id="43123" name="Freeform 13"/>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24" name="Freeform 14"/>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25" name="Freeform 15"/>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26" name="Freeform 16"/>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27" name="Freeform 17"/>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28" name="Freeform 18"/>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29" name="Freeform 19"/>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0" name="Freeform 20"/>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1" name="Freeform 21"/>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2" name="Freeform 22"/>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3" name="Freeform 23"/>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4" name="Freeform 24"/>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5" name="Freeform 25"/>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6" name="Freeform 26"/>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7" name="Freeform 27"/>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38" name="Line 28"/>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139" name="Line 29"/>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140" name="Freeform 30"/>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41" name="Freeform 31"/>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42" name="Freeform 32"/>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43" name="Freeform 33"/>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44" name="Freeform 34"/>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145" name="Freeform 35"/>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146" name="Freeform 36"/>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grpSp>
      <p:sp>
        <p:nvSpPr>
          <p:cNvPr id="707621" name="AutoShape 37"/>
          <p:cNvSpPr>
            <a:spLocks noChangeArrowheads="1"/>
          </p:cNvSpPr>
          <p:nvPr/>
        </p:nvSpPr>
        <p:spPr bwMode="auto">
          <a:xfrm>
            <a:off x="590062" y="769816"/>
            <a:ext cx="9118601" cy="1127369"/>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484" tIns="56243" rIns="112484" bIns="56243"/>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信息是依赖与承载它的信息技术系统存在的</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需要在技术层面部署完善的控制措施</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en-US" altLang="zh-CN" sz="2955" b="1">
              <a:solidFill>
                <a:srgbClr val="0000CC"/>
              </a:solidFill>
              <a:latin typeface="Arial" panose="020B0604020202020204" pitchFamily="34" charset="0"/>
              <a:ea typeface="宋体" panose="02010600030101010101" pitchFamily="2" charset="-122"/>
            </a:endParaRPr>
          </a:p>
        </p:txBody>
      </p:sp>
      <p:grpSp>
        <p:nvGrpSpPr>
          <p:cNvPr id="707622" name="Group 38"/>
          <p:cNvGrpSpPr/>
          <p:nvPr/>
        </p:nvGrpSpPr>
        <p:grpSpPr bwMode="auto">
          <a:xfrm>
            <a:off x="9618785" y="3020647"/>
            <a:ext cx="2092569" cy="728784"/>
            <a:chOff x="2061" y="1529"/>
            <a:chExt cx="1384" cy="917"/>
          </a:xfrm>
        </p:grpSpPr>
        <p:sp>
          <p:nvSpPr>
            <p:cNvPr id="43083" name="Freeform 39"/>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84" name="Freeform 40"/>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85" name="Freeform 41"/>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86" name="Freeform 42"/>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87" name="Freeform 43"/>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88" name="Freeform 44"/>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89" name="Freeform 45"/>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90" name="Freeform 46"/>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27" tIns="58212" rIns="116427" bIns="58212"/>
            <a:lstStyle/>
            <a:p>
              <a:endParaRPr lang="zh-CN" altLang="en-US" sz="100"/>
            </a:p>
          </p:txBody>
        </p:sp>
        <p:sp>
          <p:nvSpPr>
            <p:cNvPr id="43091" name="Freeform 47"/>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2" name="Freeform 48"/>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3" name="Freeform 49"/>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4" name="Freeform 50"/>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5" name="Freeform 51"/>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6" name="Freeform 52"/>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7" name="Freeform 53"/>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8" name="Freeform 54"/>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99" name="Freeform 55"/>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0" name="Freeform 56"/>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1" name="Freeform 57"/>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2" name="Freeform 58"/>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3" name="Freeform 59"/>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4" name="Freeform 60"/>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5" name="Freeform 61"/>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6" name="Line 62"/>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107" name="Line 63"/>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108" name="Freeform 64"/>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09" name="Freeform 65"/>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10" name="Freeform 66"/>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11" name="Freeform 67"/>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112" name="Freeform 68"/>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113" name="Freeform 69"/>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114" name="Freeform 70"/>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grpSp>
      <p:sp>
        <p:nvSpPr>
          <p:cNvPr id="707655" name="AutoShape 71"/>
          <p:cNvSpPr>
            <a:spLocks noChangeArrowheads="1"/>
          </p:cNvSpPr>
          <p:nvPr/>
        </p:nvSpPr>
        <p:spPr bwMode="auto">
          <a:xfrm>
            <a:off x="590062" y="2213708"/>
            <a:ext cx="9118601" cy="1127370"/>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484" tIns="56243" rIns="112484" bIns="56243"/>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信息系统是由人来建设使用和维护的</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需要通过有效的管理手段约束人</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en-US" altLang="zh-CN" sz="2955" b="1">
              <a:solidFill>
                <a:srgbClr val="0000CC"/>
              </a:solidFill>
              <a:latin typeface="Arial" panose="020B0604020202020204" pitchFamily="34" charset="0"/>
              <a:ea typeface="宋体" panose="02010600030101010101" pitchFamily="2" charset="-122"/>
            </a:endParaRPr>
          </a:p>
        </p:txBody>
      </p:sp>
      <p:grpSp>
        <p:nvGrpSpPr>
          <p:cNvPr id="707656" name="Group 72"/>
          <p:cNvGrpSpPr/>
          <p:nvPr/>
        </p:nvGrpSpPr>
        <p:grpSpPr bwMode="auto">
          <a:xfrm>
            <a:off x="9618785" y="4614985"/>
            <a:ext cx="2092569" cy="728784"/>
            <a:chOff x="2061" y="1529"/>
            <a:chExt cx="1384" cy="917"/>
          </a:xfrm>
        </p:grpSpPr>
        <p:sp>
          <p:nvSpPr>
            <p:cNvPr id="43051" name="Freeform 73"/>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52" name="Freeform 74"/>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53" name="Freeform 75"/>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54" name="Freeform 76"/>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55" name="Freeform 77"/>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56" name="Freeform 78"/>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57" name="Freeform 79"/>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58" name="Freeform 80"/>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27" tIns="58212" rIns="116427" bIns="58212"/>
            <a:lstStyle/>
            <a:p>
              <a:endParaRPr lang="zh-CN" altLang="en-US" sz="100"/>
            </a:p>
          </p:txBody>
        </p:sp>
        <p:sp>
          <p:nvSpPr>
            <p:cNvPr id="43059" name="Freeform 81"/>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0" name="Freeform 82"/>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1" name="Freeform 83"/>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2" name="Freeform 84"/>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3" name="Freeform 85"/>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4" name="Freeform 86"/>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5" name="Freeform 87"/>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6" name="Freeform 88"/>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7" name="Freeform 89"/>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8" name="Freeform 90"/>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69" name="Freeform 91"/>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0" name="Freeform 92"/>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1" name="Freeform 93"/>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2" name="Freeform 94"/>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3" name="Freeform 95"/>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4" name="Line 96"/>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075" name="Line 97"/>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076" name="Freeform 98"/>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7" name="Freeform 99"/>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8" name="Freeform 100"/>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79" name="Freeform 101"/>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80" name="Freeform 102"/>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081" name="Freeform 103"/>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082" name="Freeform 104"/>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grpSp>
      <p:sp>
        <p:nvSpPr>
          <p:cNvPr id="707689" name="AutoShape 105"/>
          <p:cNvSpPr>
            <a:spLocks noChangeArrowheads="1"/>
          </p:cNvSpPr>
          <p:nvPr/>
        </p:nvSpPr>
        <p:spPr bwMode="auto">
          <a:xfrm>
            <a:off x="590062" y="3782647"/>
            <a:ext cx="9118601" cy="1127369"/>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484" tIns="56243" rIns="112484" bIns="56243"/>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今天系统安全了明天未必安全</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需要贯穿系统生命周期的工程过程</a:t>
            </a:r>
            <a:endParaRPr lang="en-US" altLang="zh-CN"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en-US" altLang="zh-CN" sz="2955" b="1">
              <a:solidFill>
                <a:srgbClr val="0000CC"/>
              </a:solidFill>
              <a:latin typeface="Arial" panose="020B0604020202020204" pitchFamily="34" charset="0"/>
              <a:ea typeface="宋体" panose="02010600030101010101" pitchFamily="2" charset="-122"/>
            </a:endParaRPr>
          </a:p>
        </p:txBody>
      </p:sp>
      <p:grpSp>
        <p:nvGrpSpPr>
          <p:cNvPr id="707690" name="Group 106"/>
          <p:cNvGrpSpPr/>
          <p:nvPr/>
        </p:nvGrpSpPr>
        <p:grpSpPr bwMode="auto">
          <a:xfrm>
            <a:off x="9526954" y="6115539"/>
            <a:ext cx="2094523" cy="728784"/>
            <a:chOff x="2061" y="1529"/>
            <a:chExt cx="1384" cy="917"/>
          </a:xfrm>
        </p:grpSpPr>
        <p:sp>
          <p:nvSpPr>
            <p:cNvPr id="43019" name="Freeform 107"/>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20" name="Freeform 108"/>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21" name="Freeform 109"/>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22" name="Freeform 110"/>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23" name="Freeform 111"/>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24" name="Freeform 112"/>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25" name="Freeform 113"/>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27" tIns="58212" rIns="116427" bIns="58212"/>
            <a:lstStyle/>
            <a:p>
              <a:endParaRPr lang="zh-CN" altLang="en-US" sz="100"/>
            </a:p>
          </p:txBody>
        </p:sp>
        <p:sp>
          <p:nvSpPr>
            <p:cNvPr id="43026" name="Freeform 114"/>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27" tIns="58212" rIns="116427" bIns="58212"/>
            <a:lstStyle/>
            <a:p>
              <a:endParaRPr lang="zh-CN" altLang="en-US" sz="100"/>
            </a:p>
          </p:txBody>
        </p:sp>
        <p:sp>
          <p:nvSpPr>
            <p:cNvPr id="43027" name="Freeform 115"/>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28" name="Freeform 116"/>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29" name="Freeform 117"/>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0" name="Freeform 118"/>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1" name="Freeform 119"/>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2" name="Freeform 120"/>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3" name="Freeform 121"/>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4" name="Freeform 122"/>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5" name="Freeform 123"/>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6" name="Freeform 124"/>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7" name="Freeform 125"/>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8" name="Freeform 126"/>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39" name="Freeform 127"/>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40" name="Freeform 128"/>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41" name="Freeform 129"/>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42" name="Line 130"/>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043" name="Line 131"/>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3044" name="Freeform 132"/>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45" name="Freeform 133"/>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46" name="Freeform 134"/>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47" name="Freeform 135"/>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sp>
          <p:nvSpPr>
            <p:cNvPr id="43048" name="Freeform 136"/>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049" name="Freeform 137"/>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3050" name="Freeform 138"/>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27" tIns="58212" rIns="116427" bIns="58212"/>
            <a:lstStyle/>
            <a:p>
              <a:endParaRPr lang="zh-CN" altLang="en-US" sz="100"/>
            </a:p>
          </p:txBody>
        </p:sp>
      </p:grpSp>
      <p:sp>
        <p:nvSpPr>
          <p:cNvPr id="707723" name="AutoShape 139"/>
          <p:cNvSpPr>
            <a:spLocks noChangeArrowheads="1"/>
          </p:cNvSpPr>
          <p:nvPr/>
        </p:nvSpPr>
        <p:spPr bwMode="auto">
          <a:xfrm>
            <a:off x="590062" y="5113215"/>
            <a:ext cx="9140092" cy="1688123"/>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484" tIns="56243" rIns="112484" bIns="56243"/>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ct val="150000"/>
              </a:lnSpc>
              <a:spcBef>
                <a:spcPts val="1200"/>
              </a:spcBef>
              <a:buClrTx/>
              <a:buFontTx/>
              <a:buNone/>
            </a:pPr>
            <a:r>
              <a:rPr lang="zh-CN" altLang="en-US" sz="2955" b="1" dirty="0">
                <a:solidFill>
                  <a:srgbClr val="0000CC"/>
                </a:solidFill>
                <a:latin typeface="Arial" panose="020B0604020202020204" pitchFamily="34" charset="0"/>
                <a:ea typeface="宋体" panose="02010600030101010101" pitchFamily="2" charset="-122"/>
              </a:rPr>
              <a:t>信息安全的对抗，归根结底是人员知识、技能和素质的对抗需要建设高素质的人才队伍</a:t>
            </a:r>
            <a:endParaRPr lang="en-US" altLang="zh-CN" sz="2955" b="1" dirty="0">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zh-CN" altLang="en-US" sz="2955" b="1" dirty="0">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en-US" altLang="zh-CN" sz="2955" b="1" dirty="0">
              <a:solidFill>
                <a:srgbClr val="0000CC"/>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7621"/>
                                        </p:tgtEl>
                                        <p:attrNameLst>
                                          <p:attrName>style.visibility</p:attrName>
                                        </p:attrNameLst>
                                      </p:cBhvr>
                                      <p:to>
                                        <p:strVal val="visible"/>
                                      </p:to>
                                    </p:set>
                                    <p:anim calcmode="lin" valueType="num">
                                      <p:cBhvr additive="base">
                                        <p:cTn id="7" dur="500" fill="hold"/>
                                        <p:tgtEl>
                                          <p:spTgt spid="707621"/>
                                        </p:tgtEl>
                                        <p:attrNameLst>
                                          <p:attrName>ppt_x</p:attrName>
                                        </p:attrNameLst>
                                      </p:cBhvr>
                                      <p:tavLst>
                                        <p:tav tm="0">
                                          <p:val>
                                            <p:strVal val="#ppt_x"/>
                                          </p:val>
                                        </p:tav>
                                        <p:tav tm="100000">
                                          <p:val>
                                            <p:strVal val="#ppt_x"/>
                                          </p:val>
                                        </p:tav>
                                      </p:tavLst>
                                    </p:anim>
                                    <p:anim calcmode="lin" valueType="num">
                                      <p:cBhvr additive="base">
                                        <p:cTn id="8" dur="500" fill="hold"/>
                                        <p:tgtEl>
                                          <p:spTgt spid="70762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07588"/>
                                        </p:tgtEl>
                                        <p:attrNameLst>
                                          <p:attrName>style.visibility</p:attrName>
                                        </p:attrNameLst>
                                      </p:cBhvr>
                                      <p:to>
                                        <p:strVal val="visible"/>
                                      </p:to>
                                    </p:set>
                                    <p:anim calcmode="lin" valueType="num">
                                      <p:cBhvr additive="base">
                                        <p:cTn id="11" dur="500" fill="hold"/>
                                        <p:tgtEl>
                                          <p:spTgt spid="707588"/>
                                        </p:tgtEl>
                                        <p:attrNameLst>
                                          <p:attrName>ppt_x</p:attrName>
                                        </p:attrNameLst>
                                      </p:cBhvr>
                                      <p:tavLst>
                                        <p:tav tm="0">
                                          <p:val>
                                            <p:strVal val="#ppt_x"/>
                                          </p:val>
                                        </p:tav>
                                        <p:tav tm="100000">
                                          <p:val>
                                            <p:strVal val="#ppt_x"/>
                                          </p:val>
                                        </p:tav>
                                      </p:tavLst>
                                    </p:anim>
                                    <p:anim calcmode="lin" valueType="num">
                                      <p:cBhvr additive="base">
                                        <p:cTn id="12" dur="500" fill="hold"/>
                                        <p:tgtEl>
                                          <p:spTgt spid="70758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07655"/>
                                        </p:tgtEl>
                                        <p:attrNameLst>
                                          <p:attrName>style.visibility</p:attrName>
                                        </p:attrNameLst>
                                      </p:cBhvr>
                                      <p:to>
                                        <p:strVal val="visible"/>
                                      </p:to>
                                    </p:set>
                                    <p:anim calcmode="lin" valueType="num">
                                      <p:cBhvr additive="base">
                                        <p:cTn id="17" dur="500" fill="hold"/>
                                        <p:tgtEl>
                                          <p:spTgt spid="707655"/>
                                        </p:tgtEl>
                                        <p:attrNameLst>
                                          <p:attrName>ppt_x</p:attrName>
                                        </p:attrNameLst>
                                      </p:cBhvr>
                                      <p:tavLst>
                                        <p:tav tm="0">
                                          <p:val>
                                            <p:strVal val="#ppt_x"/>
                                          </p:val>
                                        </p:tav>
                                        <p:tav tm="100000">
                                          <p:val>
                                            <p:strVal val="#ppt_x"/>
                                          </p:val>
                                        </p:tav>
                                      </p:tavLst>
                                    </p:anim>
                                    <p:anim calcmode="lin" valueType="num">
                                      <p:cBhvr additive="base">
                                        <p:cTn id="18" dur="500" fill="hold"/>
                                        <p:tgtEl>
                                          <p:spTgt spid="70765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07622"/>
                                        </p:tgtEl>
                                        <p:attrNameLst>
                                          <p:attrName>style.visibility</p:attrName>
                                        </p:attrNameLst>
                                      </p:cBhvr>
                                      <p:to>
                                        <p:strVal val="visible"/>
                                      </p:to>
                                    </p:set>
                                    <p:anim calcmode="lin" valueType="num">
                                      <p:cBhvr additive="base">
                                        <p:cTn id="21" dur="500" fill="hold"/>
                                        <p:tgtEl>
                                          <p:spTgt spid="707622"/>
                                        </p:tgtEl>
                                        <p:attrNameLst>
                                          <p:attrName>ppt_x</p:attrName>
                                        </p:attrNameLst>
                                      </p:cBhvr>
                                      <p:tavLst>
                                        <p:tav tm="0">
                                          <p:val>
                                            <p:strVal val="#ppt_x"/>
                                          </p:val>
                                        </p:tav>
                                        <p:tav tm="100000">
                                          <p:val>
                                            <p:strVal val="#ppt_x"/>
                                          </p:val>
                                        </p:tav>
                                      </p:tavLst>
                                    </p:anim>
                                    <p:anim calcmode="lin" valueType="num">
                                      <p:cBhvr additive="base">
                                        <p:cTn id="22" dur="500" fill="hold"/>
                                        <p:tgtEl>
                                          <p:spTgt spid="70762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07689"/>
                                        </p:tgtEl>
                                        <p:attrNameLst>
                                          <p:attrName>style.visibility</p:attrName>
                                        </p:attrNameLst>
                                      </p:cBhvr>
                                      <p:to>
                                        <p:strVal val="visible"/>
                                      </p:to>
                                    </p:set>
                                    <p:anim calcmode="lin" valueType="num">
                                      <p:cBhvr additive="base">
                                        <p:cTn id="27" dur="500" fill="hold"/>
                                        <p:tgtEl>
                                          <p:spTgt spid="707689"/>
                                        </p:tgtEl>
                                        <p:attrNameLst>
                                          <p:attrName>ppt_x</p:attrName>
                                        </p:attrNameLst>
                                      </p:cBhvr>
                                      <p:tavLst>
                                        <p:tav tm="0">
                                          <p:val>
                                            <p:strVal val="#ppt_x"/>
                                          </p:val>
                                        </p:tav>
                                        <p:tav tm="100000">
                                          <p:val>
                                            <p:strVal val="#ppt_x"/>
                                          </p:val>
                                        </p:tav>
                                      </p:tavLst>
                                    </p:anim>
                                    <p:anim calcmode="lin" valueType="num">
                                      <p:cBhvr additive="base">
                                        <p:cTn id="28" dur="500" fill="hold"/>
                                        <p:tgtEl>
                                          <p:spTgt spid="70768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07656"/>
                                        </p:tgtEl>
                                        <p:attrNameLst>
                                          <p:attrName>style.visibility</p:attrName>
                                        </p:attrNameLst>
                                      </p:cBhvr>
                                      <p:to>
                                        <p:strVal val="visible"/>
                                      </p:to>
                                    </p:set>
                                    <p:anim calcmode="lin" valueType="num">
                                      <p:cBhvr additive="base">
                                        <p:cTn id="31" dur="500" fill="hold"/>
                                        <p:tgtEl>
                                          <p:spTgt spid="707656"/>
                                        </p:tgtEl>
                                        <p:attrNameLst>
                                          <p:attrName>ppt_x</p:attrName>
                                        </p:attrNameLst>
                                      </p:cBhvr>
                                      <p:tavLst>
                                        <p:tav tm="0">
                                          <p:val>
                                            <p:strVal val="#ppt_x"/>
                                          </p:val>
                                        </p:tav>
                                        <p:tav tm="100000">
                                          <p:val>
                                            <p:strVal val="#ppt_x"/>
                                          </p:val>
                                        </p:tav>
                                      </p:tavLst>
                                    </p:anim>
                                    <p:anim calcmode="lin" valueType="num">
                                      <p:cBhvr additive="base">
                                        <p:cTn id="32" dur="500" fill="hold"/>
                                        <p:tgtEl>
                                          <p:spTgt spid="70765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07723"/>
                                        </p:tgtEl>
                                        <p:attrNameLst>
                                          <p:attrName>style.visibility</p:attrName>
                                        </p:attrNameLst>
                                      </p:cBhvr>
                                      <p:to>
                                        <p:strVal val="visible"/>
                                      </p:to>
                                    </p:set>
                                    <p:anim calcmode="lin" valueType="num">
                                      <p:cBhvr additive="base">
                                        <p:cTn id="37" dur="500" fill="hold"/>
                                        <p:tgtEl>
                                          <p:spTgt spid="707723"/>
                                        </p:tgtEl>
                                        <p:attrNameLst>
                                          <p:attrName>ppt_x</p:attrName>
                                        </p:attrNameLst>
                                      </p:cBhvr>
                                      <p:tavLst>
                                        <p:tav tm="0">
                                          <p:val>
                                            <p:strVal val="#ppt_x"/>
                                          </p:val>
                                        </p:tav>
                                        <p:tav tm="100000">
                                          <p:val>
                                            <p:strVal val="#ppt_x"/>
                                          </p:val>
                                        </p:tav>
                                      </p:tavLst>
                                    </p:anim>
                                    <p:anim calcmode="lin" valueType="num">
                                      <p:cBhvr additive="base">
                                        <p:cTn id="38" dur="500" fill="hold"/>
                                        <p:tgtEl>
                                          <p:spTgt spid="70772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07690"/>
                                        </p:tgtEl>
                                        <p:attrNameLst>
                                          <p:attrName>style.visibility</p:attrName>
                                        </p:attrNameLst>
                                      </p:cBhvr>
                                      <p:to>
                                        <p:strVal val="visible"/>
                                      </p:to>
                                    </p:set>
                                    <p:anim calcmode="lin" valueType="num">
                                      <p:cBhvr additive="base">
                                        <p:cTn id="41" dur="500" fill="hold"/>
                                        <p:tgtEl>
                                          <p:spTgt spid="707690"/>
                                        </p:tgtEl>
                                        <p:attrNameLst>
                                          <p:attrName>ppt_x</p:attrName>
                                        </p:attrNameLst>
                                      </p:cBhvr>
                                      <p:tavLst>
                                        <p:tav tm="0">
                                          <p:val>
                                            <p:strVal val="#ppt_x"/>
                                          </p:val>
                                        </p:tav>
                                        <p:tav tm="100000">
                                          <p:val>
                                            <p:strVal val="#ppt_x"/>
                                          </p:val>
                                        </p:tav>
                                      </p:tavLst>
                                    </p:anim>
                                    <p:anim calcmode="lin" valueType="num">
                                      <p:cBhvr additive="base">
                                        <p:cTn id="42" dur="500" fill="hold"/>
                                        <p:tgtEl>
                                          <p:spTgt spid="7076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621" grpId="0" bldLvl="0" animBg="1"/>
      <p:bldP spid="707655" grpId="0" bldLvl="0" animBg="1"/>
      <p:bldP spid="707689" grpId="0" bldLvl="0" animBg="1"/>
      <p:bldP spid="707723"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Group 3"/>
          <p:cNvGrpSpPr/>
          <p:nvPr/>
        </p:nvGrpSpPr>
        <p:grpSpPr bwMode="auto">
          <a:xfrm>
            <a:off x="789354" y="1098062"/>
            <a:ext cx="9411678" cy="5722815"/>
            <a:chOff x="342" y="901"/>
            <a:chExt cx="4446" cy="2929"/>
          </a:xfrm>
        </p:grpSpPr>
        <p:sp>
          <p:nvSpPr>
            <p:cNvPr id="44194" name="Rectangle 4"/>
            <p:cNvSpPr>
              <a:spLocks noChangeArrowheads="1"/>
            </p:cNvSpPr>
            <p:nvPr/>
          </p:nvSpPr>
          <p:spPr bwMode="auto">
            <a:xfrm rot="-1800000">
              <a:off x="2774" y="1750"/>
              <a:ext cx="1180" cy="58"/>
            </a:xfrm>
            <a:prstGeom prst="rect">
              <a:avLst/>
            </a:prstGeom>
            <a:gradFill rotWithShape="0">
              <a:gsLst>
                <a:gs pos="0">
                  <a:srgbClr val="E6F7FC"/>
                </a:gs>
                <a:gs pos="100000">
                  <a:srgbClr val="05B5D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44195" name="Oval 5"/>
            <p:cNvSpPr>
              <a:spLocks noChangeArrowheads="1"/>
            </p:cNvSpPr>
            <p:nvPr/>
          </p:nvSpPr>
          <p:spPr bwMode="auto">
            <a:xfrm>
              <a:off x="1469" y="1011"/>
              <a:ext cx="1279" cy="2362"/>
            </a:xfrm>
            <a:prstGeom prst="ellipse">
              <a:avLst/>
            </a:prstGeom>
            <a:gradFill rotWithShape="0">
              <a:gsLst>
                <a:gs pos="0">
                  <a:srgbClr val="063DE8"/>
                </a:gs>
                <a:gs pos="100000">
                  <a:srgbClr val="010617"/>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44196" name="Line 6"/>
            <p:cNvSpPr>
              <a:spLocks noChangeShapeType="1"/>
            </p:cNvSpPr>
            <p:nvPr/>
          </p:nvSpPr>
          <p:spPr bwMode="auto">
            <a:xfrm>
              <a:off x="1920" y="2106"/>
              <a:ext cx="346" cy="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97" name="Rectangle 7"/>
            <p:cNvSpPr>
              <a:spLocks noChangeArrowheads="1"/>
            </p:cNvSpPr>
            <p:nvPr/>
          </p:nvSpPr>
          <p:spPr bwMode="auto">
            <a:xfrm>
              <a:off x="811" y="3571"/>
              <a:ext cx="1080"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756" name="Rectangle 8"/>
            <p:cNvSpPr>
              <a:spLocks noChangeArrowheads="1"/>
            </p:cNvSpPr>
            <p:nvPr/>
          </p:nvSpPr>
          <p:spPr bwMode="auto">
            <a:xfrm>
              <a:off x="2409" y="963"/>
              <a:ext cx="953" cy="1013"/>
            </a:xfrm>
            <a:prstGeom prst="rect">
              <a:avLst/>
            </a:prstGeom>
            <a:noFill/>
            <a:ln w="9525">
              <a:noFill/>
              <a:miter lim="800000"/>
            </a:ln>
          </p:spPr>
          <p:txBody>
            <a:bodyPr lIns="117191" tIns="58595" rIns="117191" bIns="58595">
              <a:spAutoFit/>
            </a:bodyPr>
            <a:lstStyle/>
            <a:p>
              <a:pPr defTabSz="979805">
                <a:defRPr/>
              </a:pPr>
              <a:r>
                <a:rPr kumimoji="1" lang="en-US" altLang="zh-CN" sz="1725" b="1">
                  <a:effectLst>
                    <a:outerShdw blurRad="38100" dist="38100" dir="2700000" algn="tl">
                      <a:srgbClr val="C0C0C0"/>
                    </a:outerShdw>
                  </a:effectLst>
                  <a:latin typeface="ACaslon Bold"/>
                </a:rPr>
                <a:t>DMZ</a:t>
              </a:r>
              <a:endParaRPr kumimoji="1" lang="en-US" altLang="zh-CN" sz="1725" b="1">
                <a:effectLst>
                  <a:outerShdw blurRad="38100" dist="38100" dir="2700000" algn="tl">
                    <a:srgbClr val="C0C0C0"/>
                  </a:outerShdw>
                </a:effectLst>
                <a:latin typeface="ACaslon Bold"/>
              </a:endParaRPr>
            </a:p>
            <a:p>
              <a:pPr defTabSz="979805">
                <a:defRPr/>
              </a:pPr>
              <a:r>
                <a:rPr kumimoji="1" lang="en-US" altLang="zh-CN" sz="1725" b="1">
                  <a:effectLst>
                    <a:outerShdw blurRad="38100" dist="38100" dir="2700000" algn="tl">
                      <a:srgbClr val="C0C0C0"/>
                    </a:outerShdw>
                  </a:effectLst>
                  <a:latin typeface="ACaslon Bold"/>
                </a:rPr>
                <a:t>? E-Mail</a:t>
              </a:r>
              <a:br>
                <a:rPr kumimoji="1" lang="en-US" altLang="zh-CN" sz="1725" b="1">
                  <a:effectLst>
                    <a:outerShdw blurRad="38100" dist="38100" dir="2700000" algn="tl">
                      <a:srgbClr val="C0C0C0"/>
                    </a:outerShdw>
                  </a:effectLst>
                  <a:latin typeface="ACaslon Bold"/>
                </a:rPr>
              </a:br>
              <a:r>
                <a:rPr kumimoji="1" lang="en-US" altLang="zh-CN" sz="1725" b="1">
                  <a:effectLst>
                    <a:outerShdw blurRad="38100" dist="38100" dir="2700000" algn="tl">
                      <a:srgbClr val="C0C0C0"/>
                    </a:outerShdw>
                  </a:effectLst>
                  <a:latin typeface="ACaslon Bold"/>
                </a:rPr>
                <a:t>? File Transfer</a:t>
              </a:r>
              <a:endParaRPr kumimoji="1" lang="en-US" altLang="zh-CN" sz="1725" b="1">
                <a:effectLst>
                  <a:outerShdw blurRad="38100" dist="38100" dir="2700000" algn="tl">
                    <a:srgbClr val="C0C0C0"/>
                  </a:outerShdw>
                </a:effectLst>
                <a:latin typeface="ACaslon Bold"/>
              </a:endParaRPr>
            </a:p>
            <a:p>
              <a:pPr defTabSz="979805">
                <a:defRPr/>
              </a:pPr>
              <a:r>
                <a:rPr kumimoji="1" lang="en-US" altLang="zh-CN" sz="1725" b="1">
                  <a:effectLst>
                    <a:outerShdw blurRad="38100" dist="38100" dir="2700000" algn="tl">
                      <a:srgbClr val="C0C0C0"/>
                    </a:outerShdw>
                  </a:effectLst>
                  <a:latin typeface="ACaslon Bold"/>
                </a:rPr>
                <a:t>? HTTP</a:t>
              </a:r>
              <a:endParaRPr kumimoji="1" lang="en-US" altLang="zh-CN" sz="1725" b="1">
                <a:effectLst>
                  <a:outerShdw blurRad="38100" dist="38100" dir="2700000" algn="tl">
                    <a:srgbClr val="C0C0C0"/>
                  </a:outerShdw>
                </a:effectLst>
                <a:latin typeface="ACaslon Bold"/>
              </a:endParaRPr>
            </a:p>
          </p:txBody>
        </p:sp>
        <p:sp>
          <p:nvSpPr>
            <p:cNvPr id="757" name="Rectangle 9"/>
            <p:cNvSpPr>
              <a:spLocks noChangeArrowheads="1"/>
            </p:cNvSpPr>
            <p:nvPr/>
          </p:nvSpPr>
          <p:spPr bwMode="auto">
            <a:xfrm>
              <a:off x="1928" y="2586"/>
              <a:ext cx="846" cy="700"/>
            </a:xfrm>
            <a:prstGeom prst="rect">
              <a:avLst/>
            </a:prstGeom>
            <a:noFill/>
            <a:ln w="9525">
              <a:noFill/>
              <a:miter lim="800000"/>
            </a:ln>
          </p:spPr>
          <p:txBody>
            <a:bodyPr lIns="117191" tIns="58595" rIns="117191" bIns="58595">
              <a:spAutoFit/>
            </a:bodyPr>
            <a:lstStyle/>
            <a:p>
              <a:pPr defTabSz="979805">
                <a:defRPr/>
              </a:pPr>
              <a:r>
                <a:rPr kumimoji="1" lang="en-US" altLang="zh-CN" sz="2710" b="1" i="1">
                  <a:effectLst>
                    <a:outerShdw blurRad="38100" dist="38100" dir="2700000" algn="tl">
                      <a:srgbClr val="C0C0C0"/>
                    </a:outerShdw>
                  </a:effectLst>
                  <a:latin typeface="ACaslon Bold"/>
                </a:rPr>
                <a:t>Intranet</a:t>
              </a:r>
              <a:endParaRPr kumimoji="1" lang="en-US" altLang="zh-CN" sz="2710" b="1" i="1">
                <a:effectLst>
                  <a:outerShdw blurRad="38100" dist="38100" dir="2700000" algn="tl">
                    <a:srgbClr val="C0C0C0"/>
                  </a:outerShdw>
                </a:effectLst>
                <a:latin typeface="ACaslon Bold"/>
              </a:endParaRPr>
            </a:p>
          </p:txBody>
        </p:sp>
        <p:sp>
          <p:nvSpPr>
            <p:cNvPr id="44200" name="Freeform 10"/>
            <p:cNvSpPr/>
            <p:nvPr/>
          </p:nvSpPr>
          <p:spPr bwMode="auto">
            <a:xfrm>
              <a:off x="2169" y="1484"/>
              <a:ext cx="364" cy="357"/>
            </a:xfrm>
            <a:custGeom>
              <a:avLst/>
              <a:gdLst>
                <a:gd name="T0" fmla="*/ 0 w 364"/>
                <a:gd name="T1" fmla="*/ 0 h 357"/>
                <a:gd name="T2" fmla="*/ 0 w 364"/>
                <a:gd name="T3" fmla="*/ 356 h 357"/>
                <a:gd name="T4" fmla="*/ 363 w 364"/>
                <a:gd name="T5" fmla="*/ 356 h 357"/>
                <a:gd name="T6" fmla="*/ 0 60000 65536"/>
                <a:gd name="T7" fmla="*/ 0 60000 65536"/>
                <a:gd name="T8" fmla="*/ 0 60000 65536"/>
                <a:gd name="T9" fmla="*/ 0 w 364"/>
                <a:gd name="T10" fmla="*/ 0 h 357"/>
                <a:gd name="T11" fmla="*/ 364 w 364"/>
                <a:gd name="T12" fmla="*/ 357 h 357"/>
              </a:gdLst>
              <a:ahLst/>
              <a:cxnLst>
                <a:cxn ang="T6">
                  <a:pos x="T0" y="T1"/>
                </a:cxn>
                <a:cxn ang="T7">
                  <a:pos x="T2" y="T3"/>
                </a:cxn>
                <a:cxn ang="T8">
                  <a:pos x="T4" y="T5"/>
                </a:cxn>
              </a:cxnLst>
              <a:rect l="T9" t="T10" r="T11" b="T12"/>
              <a:pathLst>
                <a:path w="364" h="357">
                  <a:moveTo>
                    <a:pt x="0" y="0"/>
                  </a:moveTo>
                  <a:lnTo>
                    <a:pt x="0" y="356"/>
                  </a:lnTo>
                  <a:lnTo>
                    <a:pt x="363" y="356"/>
                  </a:lnTo>
                </a:path>
              </a:pathLst>
            </a:custGeom>
            <a:noFill/>
            <a:ln w="25399" cap="rnd">
              <a:solidFill>
                <a:srgbClr val="FFF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graphicFrame>
          <p:nvGraphicFramePr>
            <p:cNvPr id="44201" name="Object 10"/>
            <p:cNvGraphicFramePr/>
            <p:nvPr/>
          </p:nvGraphicFramePr>
          <p:xfrm>
            <a:off x="2016" y="990"/>
            <a:ext cx="347" cy="665"/>
          </p:xfrm>
          <a:graphic>
            <a:graphicData uri="http://schemas.openxmlformats.org/presentationml/2006/ole">
              <mc:AlternateContent xmlns:mc="http://schemas.openxmlformats.org/markup-compatibility/2006">
                <mc:Choice xmlns:v="urn:schemas-microsoft-com:vml" Requires="v">
                  <p:oleObj spid="_x0000_s1046" name="" r:id="rId1" imgW="1962150" imgH="2638425" progId="">
                    <p:embed/>
                  </p:oleObj>
                </mc:Choice>
                <mc:Fallback>
                  <p:oleObj name="" r:id="rId1" imgW="1962150" imgH="2638425" progId="">
                    <p:embed/>
                    <p:pic>
                      <p:nvPicPr>
                        <p:cNvPr id="0" name="Object 1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6" y="990"/>
                          <a:ext cx="347" cy="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0" name="Rectangle 12"/>
            <p:cNvSpPr>
              <a:spLocks noChangeArrowheads="1"/>
            </p:cNvSpPr>
            <p:nvPr/>
          </p:nvSpPr>
          <p:spPr bwMode="auto">
            <a:xfrm>
              <a:off x="790" y="3536"/>
              <a:ext cx="2034" cy="266"/>
            </a:xfrm>
            <a:prstGeom prst="rect">
              <a:avLst/>
            </a:prstGeom>
            <a:noFill/>
            <a:ln w="9525">
              <a:noFill/>
              <a:miter lim="800000"/>
            </a:ln>
          </p:spPr>
          <p:txBody>
            <a:bodyPr lIns="117191" tIns="58595" rIns="117191" bIns="58595">
              <a:spAutoFit/>
            </a:bodyPr>
            <a:lstStyle/>
            <a:p>
              <a:pPr defTabSz="979805">
                <a:lnSpc>
                  <a:spcPct val="85000"/>
                </a:lnSpc>
                <a:defRPr/>
              </a:pPr>
              <a:r>
                <a:rPr kumimoji="1" lang="zh-CN" altLang="en-US" sz="3075" b="1">
                  <a:effectLst>
                    <a:outerShdw blurRad="38100" dist="38100" dir="2700000" algn="tl">
                      <a:srgbClr val="C0C0C0"/>
                    </a:outerShdw>
                  </a:effectLst>
                  <a:latin typeface="ACaslon Bold"/>
                </a:rPr>
                <a:t>企业网络</a:t>
              </a:r>
              <a:endParaRPr kumimoji="1" lang="zh-CN" altLang="en-US" sz="3075" b="1">
                <a:effectLst>
                  <a:outerShdw blurRad="38100" dist="38100" dir="2700000" algn="tl">
                    <a:srgbClr val="C0C0C0"/>
                  </a:outerShdw>
                </a:effectLst>
                <a:latin typeface="ACaslon Bold"/>
              </a:endParaRPr>
            </a:p>
          </p:txBody>
        </p:sp>
        <p:sp>
          <p:nvSpPr>
            <p:cNvPr id="761" name="Rectangle 13"/>
            <p:cNvSpPr>
              <a:spLocks noChangeArrowheads="1"/>
            </p:cNvSpPr>
            <p:nvPr/>
          </p:nvSpPr>
          <p:spPr bwMode="auto">
            <a:xfrm>
              <a:off x="394" y="1216"/>
              <a:ext cx="905" cy="175"/>
            </a:xfrm>
            <a:prstGeom prst="rect">
              <a:avLst/>
            </a:prstGeom>
            <a:noFill/>
            <a:ln w="9525">
              <a:noFill/>
              <a:miter lim="800000"/>
            </a:ln>
          </p:spPr>
          <p:txBody>
            <a:bodyPr lIns="117191" tIns="58595" rIns="117191" bIns="58595">
              <a:spAutoFit/>
            </a:bodyPr>
            <a:lstStyle/>
            <a:p>
              <a:pPr algn="ctr" defTabSz="979805">
                <a:lnSpc>
                  <a:spcPct val="85000"/>
                </a:lnSpc>
                <a:defRPr/>
              </a:pPr>
              <a:r>
                <a:rPr kumimoji="1" lang="zh-CN" altLang="en-US" sz="1725" b="1">
                  <a:effectLst>
                    <a:outerShdw blurRad="38100" dist="38100" dir="2700000" algn="tl">
                      <a:srgbClr val="C0C0C0"/>
                    </a:outerShdw>
                  </a:effectLst>
                  <a:latin typeface="ACaslon Bold"/>
                </a:rPr>
                <a:t>机关行政部门</a:t>
              </a:r>
              <a:endParaRPr kumimoji="1" lang="zh-CN" altLang="en-US" sz="1725" b="1">
                <a:effectLst>
                  <a:outerShdw blurRad="38100" dist="38100" dir="2700000" algn="tl">
                    <a:srgbClr val="C0C0C0"/>
                  </a:outerShdw>
                </a:effectLst>
                <a:latin typeface="ACaslon Bold"/>
              </a:endParaRPr>
            </a:p>
          </p:txBody>
        </p:sp>
        <p:sp>
          <p:nvSpPr>
            <p:cNvPr id="762" name="Rectangle 14"/>
            <p:cNvSpPr>
              <a:spLocks noChangeArrowheads="1"/>
            </p:cNvSpPr>
            <p:nvPr/>
          </p:nvSpPr>
          <p:spPr bwMode="auto">
            <a:xfrm>
              <a:off x="479" y="1835"/>
              <a:ext cx="943" cy="175"/>
            </a:xfrm>
            <a:prstGeom prst="rect">
              <a:avLst/>
            </a:prstGeom>
            <a:noFill/>
            <a:ln w="9525">
              <a:noFill/>
              <a:miter lim="800000"/>
            </a:ln>
          </p:spPr>
          <p:txBody>
            <a:bodyPr lIns="117191" tIns="58595" rIns="117191" bIns="58595">
              <a:spAutoFit/>
            </a:bodyPr>
            <a:lstStyle/>
            <a:p>
              <a:pPr algn="ctr" defTabSz="979805">
                <a:lnSpc>
                  <a:spcPct val="85000"/>
                </a:lnSpc>
                <a:defRPr/>
              </a:pPr>
              <a:r>
                <a:rPr kumimoji="1" lang="zh-CN" altLang="en-US" sz="1725" b="1">
                  <a:effectLst>
                    <a:outerShdw blurRad="38100" dist="38100" dir="2700000" algn="tl">
                      <a:srgbClr val="C0C0C0"/>
                    </a:outerShdw>
                  </a:effectLst>
                  <a:latin typeface="ACaslon Bold"/>
                </a:rPr>
                <a:t>机关业务部门</a:t>
              </a:r>
              <a:endParaRPr kumimoji="1" lang="zh-CN" altLang="en-US" sz="1725" b="1">
                <a:effectLst>
                  <a:outerShdw blurRad="38100" dist="38100" dir="2700000" algn="tl">
                    <a:srgbClr val="C0C0C0"/>
                  </a:outerShdw>
                </a:effectLst>
                <a:latin typeface="ACaslon Bold"/>
              </a:endParaRPr>
            </a:p>
          </p:txBody>
        </p:sp>
        <p:sp>
          <p:nvSpPr>
            <p:cNvPr id="763" name="Rectangle 15"/>
            <p:cNvSpPr>
              <a:spLocks noChangeArrowheads="1"/>
            </p:cNvSpPr>
            <p:nvPr/>
          </p:nvSpPr>
          <p:spPr bwMode="auto">
            <a:xfrm>
              <a:off x="606" y="2502"/>
              <a:ext cx="845" cy="175"/>
            </a:xfrm>
            <a:prstGeom prst="rect">
              <a:avLst/>
            </a:prstGeom>
            <a:noFill/>
            <a:ln w="9525">
              <a:noFill/>
              <a:miter lim="800000"/>
            </a:ln>
          </p:spPr>
          <p:txBody>
            <a:bodyPr lIns="117191" tIns="58595" rIns="117191" bIns="58595">
              <a:spAutoFit/>
            </a:bodyPr>
            <a:lstStyle/>
            <a:p>
              <a:pPr algn="ctr" defTabSz="979805">
                <a:lnSpc>
                  <a:spcPct val="85000"/>
                </a:lnSpc>
                <a:defRPr/>
              </a:pPr>
              <a:r>
                <a:rPr kumimoji="1" lang="zh-CN" altLang="en-US" sz="1725" b="1">
                  <a:effectLst>
                    <a:outerShdw blurRad="38100" dist="38100" dir="2700000" algn="tl">
                      <a:srgbClr val="C0C0C0"/>
                    </a:outerShdw>
                  </a:effectLst>
                  <a:latin typeface="ACaslon Bold"/>
                </a:rPr>
                <a:t>对外服务厅</a:t>
              </a:r>
              <a:endParaRPr kumimoji="1" lang="zh-CN" altLang="en-US" sz="1725" b="1">
                <a:effectLst>
                  <a:outerShdw blurRad="38100" dist="38100" dir="2700000" algn="tl">
                    <a:srgbClr val="C0C0C0"/>
                  </a:outerShdw>
                </a:effectLst>
                <a:latin typeface="ACaslon Bold"/>
              </a:endParaRPr>
            </a:p>
          </p:txBody>
        </p:sp>
        <p:sp>
          <p:nvSpPr>
            <p:cNvPr id="44206" name="Rectangle 16"/>
            <p:cNvSpPr>
              <a:spLocks noChangeArrowheads="1"/>
            </p:cNvSpPr>
            <p:nvPr/>
          </p:nvSpPr>
          <p:spPr bwMode="auto">
            <a:xfrm>
              <a:off x="2721" y="901"/>
              <a:ext cx="136" cy="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grpSp>
          <p:nvGrpSpPr>
            <p:cNvPr id="44207" name="Group 17"/>
            <p:cNvGrpSpPr/>
            <p:nvPr/>
          </p:nvGrpSpPr>
          <p:grpSpPr bwMode="auto">
            <a:xfrm>
              <a:off x="2047" y="1796"/>
              <a:ext cx="496" cy="739"/>
              <a:chOff x="2047" y="1796"/>
              <a:chExt cx="496" cy="739"/>
            </a:xfrm>
          </p:grpSpPr>
          <p:sp>
            <p:nvSpPr>
              <p:cNvPr id="44285" name="Freeform 18"/>
              <p:cNvSpPr/>
              <p:nvPr/>
            </p:nvSpPr>
            <p:spPr bwMode="auto">
              <a:xfrm>
                <a:off x="2485" y="2196"/>
                <a:ext cx="35" cy="67"/>
              </a:xfrm>
              <a:custGeom>
                <a:avLst/>
                <a:gdLst>
                  <a:gd name="T0" fmla="*/ 0 w 35"/>
                  <a:gd name="T1" fmla="*/ 66 h 67"/>
                  <a:gd name="T2" fmla="*/ 0 w 35"/>
                  <a:gd name="T3" fmla="*/ 66 h 67"/>
                  <a:gd name="T4" fmla="*/ 2 w 35"/>
                  <a:gd name="T5" fmla="*/ 24 h 67"/>
                  <a:gd name="T6" fmla="*/ 34 w 35"/>
                  <a:gd name="T7" fmla="*/ 0 h 67"/>
                  <a:gd name="T8" fmla="*/ 31 w 35"/>
                  <a:gd name="T9" fmla="*/ 44 h 67"/>
                  <a:gd name="T10" fmla="*/ 0 w 35"/>
                  <a:gd name="T11" fmla="*/ 66 h 67"/>
                  <a:gd name="T12" fmla="*/ 0 60000 65536"/>
                  <a:gd name="T13" fmla="*/ 0 60000 65536"/>
                  <a:gd name="T14" fmla="*/ 0 60000 65536"/>
                  <a:gd name="T15" fmla="*/ 0 60000 65536"/>
                  <a:gd name="T16" fmla="*/ 0 60000 65536"/>
                  <a:gd name="T17" fmla="*/ 0 60000 65536"/>
                  <a:gd name="T18" fmla="*/ 0 w 35"/>
                  <a:gd name="T19" fmla="*/ 0 h 67"/>
                  <a:gd name="T20" fmla="*/ 35 w 3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35" h="67">
                    <a:moveTo>
                      <a:pt x="0" y="66"/>
                    </a:moveTo>
                    <a:lnTo>
                      <a:pt x="0" y="66"/>
                    </a:lnTo>
                    <a:lnTo>
                      <a:pt x="2" y="24"/>
                    </a:lnTo>
                    <a:lnTo>
                      <a:pt x="34" y="0"/>
                    </a:lnTo>
                    <a:lnTo>
                      <a:pt x="31" y="44"/>
                    </a:lnTo>
                    <a:lnTo>
                      <a:pt x="0" y="6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86" name="Freeform 19"/>
              <p:cNvSpPr/>
              <p:nvPr/>
            </p:nvSpPr>
            <p:spPr bwMode="auto">
              <a:xfrm>
                <a:off x="2454" y="2212"/>
                <a:ext cx="32" cy="51"/>
              </a:xfrm>
              <a:custGeom>
                <a:avLst/>
                <a:gdLst>
                  <a:gd name="T0" fmla="*/ 28 w 32"/>
                  <a:gd name="T1" fmla="*/ 50 h 51"/>
                  <a:gd name="T2" fmla="*/ 28 w 32"/>
                  <a:gd name="T3" fmla="*/ 50 h 51"/>
                  <a:gd name="T4" fmla="*/ 0 w 32"/>
                  <a:gd name="T5" fmla="*/ 43 h 51"/>
                  <a:gd name="T6" fmla="*/ 0 w 32"/>
                  <a:gd name="T7" fmla="*/ 0 h 51"/>
                  <a:gd name="T8" fmla="*/ 31 w 32"/>
                  <a:gd name="T9" fmla="*/ 8 h 51"/>
                  <a:gd name="T10" fmla="*/ 28 w 32"/>
                  <a:gd name="T11" fmla="*/ 50 h 51"/>
                  <a:gd name="T12" fmla="*/ 0 60000 65536"/>
                  <a:gd name="T13" fmla="*/ 0 60000 65536"/>
                  <a:gd name="T14" fmla="*/ 0 60000 65536"/>
                  <a:gd name="T15" fmla="*/ 0 60000 65536"/>
                  <a:gd name="T16" fmla="*/ 0 60000 65536"/>
                  <a:gd name="T17" fmla="*/ 0 60000 65536"/>
                  <a:gd name="T18" fmla="*/ 0 w 32"/>
                  <a:gd name="T19" fmla="*/ 0 h 51"/>
                  <a:gd name="T20" fmla="*/ 32 w 3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32" h="51">
                    <a:moveTo>
                      <a:pt x="28" y="50"/>
                    </a:moveTo>
                    <a:lnTo>
                      <a:pt x="28" y="50"/>
                    </a:lnTo>
                    <a:lnTo>
                      <a:pt x="0" y="43"/>
                    </a:lnTo>
                    <a:lnTo>
                      <a:pt x="0" y="0"/>
                    </a:lnTo>
                    <a:lnTo>
                      <a:pt x="31" y="8"/>
                    </a:lnTo>
                    <a:lnTo>
                      <a:pt x="28" y="5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87" name="Freeform 20"/>
              <p:cNvSpPr/>
              <p:nvPr/>
            </p:nvSpPr>
            <p:spPr bwMode="auto">
              <a:xfrm>
                <a:off x="2453" y="2187"/>
                <a:ext cx="67" cy="31"/>
              </a:xfrm>
              <a:custGeom>
                <a:avLst/>
                <a:gdLst>
                  <a:gd name="T0" fmla="*/ 33 w 67"/>
                  <a:gd name="T1" fmla="*/ 30 h 31"/>
                  <a:gd name="T2" fmla="*/ 33 w 67"/>
                  <a:gd name="T3" fmla="*/ 30 h 31"/>
                  <a:gd name="T4" fmla="*/ 0 w 67"/>
                  <a:gd name="T5" fmla="*/ 19 h 31"/>
                  <a:gd name="T6" fmla="*/ 35 w 67"/>
                  <a:gd name="T7" fmla="*/ 0 h 31"/>
                  <a:gd name="T8" fmla="*/ 66 w 67"/>
                  <a:gd name="T9" fmla="*/ 10 h 31"/>
                  <a:gd name="T10" fmla="*/ 33 w 67"/>
                  <a:gd name="T11" fmla="*/ 30 h 31"/>
                  <a:gd name="T12" fmla="*/ 0 60000 65536"/>
                  <a:gd name="T13" fmla="*/ 0 60000 65536"/>
                  <a:gd name="T14" fmla="*/ 0 60000 65536"/>
                  <a:gd name="T15" fmla="*/ 0 60000 65536"/>
                  <a:gd name="T16" fmla="*/ 0 60000 65536"/>
                  <a:gd name="T17" fmla="*/ 0 60000 65536"/>
                  <a:gd name="T18" fmla="*/ 0 w 67"/>
                  <a:gd name="T19" fmla="*/ 0 h 31"/>
                  <a:gd name="T20" fmla="*/ 67 w 67"/>
                  <a:gd name="T21" fmla="*/ 31 h 31"/>
                </a:gdLst>
                <a:ahLst/>
                <a:cxnLst>
                  <a:cxn ang="T12">
                    <a:pos x="T0" y="T1"/>
                  </a:cxn>
                  <a:cxn ang="T13">
                    <a:pos x="T2" y="T3"/>
                  </a:cxn>
                  <a:cxn ang="T14">
                    <a:pos x="T4" y="T5"/>
                  </a:cxn>
                  <a:cxn ang="T15">
                    <a:pos x="T6" y="T7"/>
                  </a:cxn>
                  <a:cxn ang="T16">
                    <a:pos x="T8" y="T9"/>
                  </a:cxn>
                  <a:cxn ang="T17">
                    <a:pos x="T10" y="T11"/>
                  </a:cxn>
                </a:cxnLst>
                <a:rect l="T18" t="T19" r="T20" b="T21"/>
                <a:pathLst>
                  <a:path w="67" h="31">
                    <a:moveTo>
                      <a:pt x="33" y="30"/>
                    </a:moveTo>
                    <a:lnTo>
                      <a:pt x="33" y="30"/>
                    </a:lnTo>
                    <a:lnTo>
                      <a:pt x="0" y="19"/>
                    </a:lnTo>
                    <a:lnTo>
                      <a:pt x="35" y="0"/>
                    </a:lnTo>
                    <a:lnTo>
                      <a:pt x="66" y="10"/>
                    </a:lnTo>
                    <a:lnTo>
                      <a:pt x="33" y="30"/>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288" name="Group 21"/>
              <p:cNvGrpSpPr/>
              <p:nvPr/>
            </p:nvGrpSpPr>
            <p:grpSpPr bwMode="auto">
              <a:xfrm>
                <a:off x="2363" y="2214"/>
                <a:ext cx="118" cy="109"/>
                <a:chOff x="2363" y="2214"/>
                <a:chExt cx="118" cy="109"/>
              </a:xfrm>
            </p:grpSpPr>
            <p:sp>
              <p:nvSpPr>
                <p:cNvPr id="44485" name="Freeform 22"/>
                <p:cNvSpPr/>
                <p:nvPr/>
              </p:nvSpPr>
              <p:spPr bwMode="auto">
                <a:xfrm>
                  <a:off x="2400" y="2228"/>
                  <a:ext cx="81" cy="95"/>
                </a:xfrm>
                <a:custGeom>
                  <a:avLst/>
                  <a:gdLst>
                    <a:gd name="T0" fmla="*/ 0 w 81"/>
                    <a:gd name="T1" fmla="*/ 94 h 95"/>
                    <a:gd name="T2" fmla="*/ 0 w 81"/>
                    <a:gd name="T3" fmla="*/ 94 h 95"/>
                    <a:gd name="T4" fmla="*/ 0 w 81"/>
                    <a:gd name="T5" fmla="*/ 48 h 95"/>
                    <a:gd name="T6" fmla="*/ 80 w 81"/>
                    <a:gd name="T7" fmla="*/ 0 h 95"/>
                    <a:gd name="T8" fmla="*/ 77 w 81"/>
                    <a:gd name="T9" fmla="*/ 42 h 95"/>
                    <a:gd name="T10" fmla="*/ 0 w 81"/>
                    <a:gd name="T11" fmla="*/ 94 h 95"/>
                    <a:gd name="T12" fmla="*/ 0 60000 65536"/>
                    <a:gd name="T13" fmla="*/ 0 60000 65536"/>
                    <a:gd name="T14" fmla="*/ 0 60000 65536"/>
                    <a:gd name="T15" fmla="*/ 0 60000 65536"/>
                    <a:gd name="T16" fmla="*/ 0 60000 65536"/>
                    <a:gd name="T17" fmla="*/ 0 60000 65536"/>
                    <a:gd name="T18" fmla="*/ 0 w 81"/>
                    <a:gd name="T19" fmla="*/ 0 h 95"/>
                    <a:gd name="T20" fmla="*/ 81 w 81"/>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81" h="95">
                      <a:moveTo>
                        <a:pt x="0" y="94"/>
                      </a:moveTo>
                      <a:lnTo>
                        <a:pt x="0" y="94"/>
                      </a:lnTo>
                      <a:lnTo>
                        <a:pt x="0" y="48"/>
                      </a:lnTo>
                      <a:lnTo>
                        <a:pt x="80" y="0"/>
                      </a:lnTo>
                      <a:lnTo>
                        <a:pt x="77" y="42"/>
                      </a:lnTo>
                      <a:lnTo>
                        <a:pt x="0" y="94"/>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86" name="Freeform 23"/>
                <p:cNvSpPr/>
                <p:nvPr/>
              </p:nvSpPr>
              <p:spPr bwMode="auto">
                <a:xfrm>
                  <a:off x="2363" y="2269"/>
                  <a:ext cx="35" cy="54"/>
                </a:xfrm>
                <a:custGeom>
                  <a:avLst/>
                  <a:gdLst>
                    <a:gd name="T0" fmla="*/ 34 w 35"/>
                    <a:gd name="T1" fmla="*/ 53 h 54"/>
                    <a:gd name="T2" fmla="*/ 34 w 35"/>
                    <a:gd name="T3" fmla="*/ 53 h 54"/>
                    <a:gd name="T4" fmla="*/ 0 w 35"/>
                    <a:gd name="T5" fmla="*/ 46 h 54"/>
                    <a:gd name="T6" fmla="*/ 2 w 35"/>
                    <a:gd name="T7" fmla="*/ 0 h 54"/>
                    <a:gd name="T8" fmla="*/ 34 w 35"/>
                    <a:gd name="T9" fmla="*/ 8 h 54"/>
                    <a:gd name="T10" fmla="*/ 34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4" y="53"/>
                      </a:moveTo>
                      <a:lnTo>
                        <a:pt x="34" y="53"/>
                      </a:lnTo>
                      <a:lnTo>
                        <a:pt x="0" y="46"/>
                      </a:lnTo>
                      <a:lnTo>
                        <a:pt x="2" y="0"/>
                      </a:lnTo>
                      <a:lnTo>
                        <a:pt x="34" y="8"/>
                      </a:lnTo>
                      <a:lnTo>
                        <a:pt x="34" y="53"/>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87" name="Freeform 24"/>
                <p:cNvSpPr/>
                <p:nvPr/>
              </p:nvSpPr>
              <p:spPr bwMode="auto">
                <a:xfrm>
                  <a:off x="2366" y="2214"/>
                  <a:ext cx="115" cy="62"/>
                </a:xfrm>
                <a:custGeom>
                  <a:avLst/>
                  <a:gdLst>
                    <a:gd name="T0" fmla="*/ 33 w 115"/>
                    <a:gd name="T1" fmla="*/ 61 h 62"/>
                    <a:gd name="T2" fmla="*/ 33 w 115"/>
                    <a:gd name="T3" fmla="*/ 61 h 62"/>
                    <a:gd name="T4" fmla="*/ 0 w 115"/>
                    <a:gd name="T5" fmla="*/ 51 h 62"/>
                    <a:gd name="T6" fmla="*/ 83 w 115"/>
                    <a:gd name="T7" fmla="*/ 0 h 62"/>
                    <a:gd name="T8" fmla="*/ 114 w 115"/>
                    <a:gd name="T9" fmla="*/ 11 h 62"/>
                    <a:gd name="T10" fmla="*/ 33 w 115"/>
                    <a:gd name="T11" fmla="*/ 61 h 62"/>
                    <a:gd name="T12" fmla="*/ 0 60000 65536"/>
                    <a:gd name="T13" fmla="*/ 0 60000 65536"/>
                    <a:gd name="T14" fmla="*/ 0 60000 65536"/>
                    <a:gd name="T15" fmla="*/ 0 60000 65536"/>
                    <a:gd name="T16" fmla="*/ 0 60000 65536"/>
                    <a:gd name="T17" fmla="*/ 0 60000 65536"/>
                    <a:gd name="T18" fmla="*/ 0 w 115"/>
                    <a:gd name="T19" fmla="*/ 0 h 62"/>
                    <a:gd name="T20" fmla="*/ 115 w 115"/>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5" h="62">
                      <a:moveTo>
                        <a:pt x="33" y="61"/>
                      </a:moveTo>
                      <a:lnTo>
                        <a:pt x="33" y="61"/>
                      </a:lnTo>
                      <a:lnTo>
                        <a:pt x="0" y="51"/>
                      </a:lnTo>
                      <a:lnTo>
                        <a:pt x="83" y="0"/>
                      </a:lnTo>
                      <a:lnTo>
                        <a:pt x="114" y="11"/>
                      </a:lnTo>
                      <a:lnTo>
                        <a:pt x="33" y="61"/>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289" name="Group 25"/>
              <p:cNvGrpSpPr/>
              <p:nvPr/>
            </p:nvGrpSpPr>
            <p:grpSpPr bwMode="auto">
              <a:xfrm>
                <a:off x="2269" y="2275"/>
                <a:ext cx="127" cy="116"/>
                <a:chOff x="2269" y="2275"/>
                <a:chExt cx="127" cy="116"/>
              </a:xfrm>
            </p:grpSpPr>
            <p:sp>
              <p:nvSpPr>
                <p:cNvPr id="44482" name="Freeform 26"/>
                <p:cNvSpPr/>
                <p:nvPr/>
              </p:nvSpPr>
              <p:spPr bwMode="auto">
                <a:xfrm>
                  <a:off x="2306" y="2285"/>
                  <a:ext cx="90" cy="106"/>
                </a:xfrm>
                <a:custGeom>
                  <a:avLst/>
                  <a:gdLst>
                    <a:gd name="T0" fmla="*/ 0 w 90"/>
                    <a:gd name="T1" fmla="*/ 105 h 106"/>
                    <a:gd name="T2" fmla="*/ 0 w 90"/>
                    <a:gd name="T3" fmla="*/ 105 h 106"/>
                    <a:gd name="T4" fmla="*/ 2 w 90"/>
                    <a:gd name="T5" fmla="*/ 55 h 106"/>
                    <a:gd name="T6" fmla="*/ 89 w 90"/>
                    <a:gd name="T7" fmla="*/ 0 h 106"/>
                    <a:gd name="T8" fmla="*/ 86 w 90"/>
                    <a:gd name="T9" fmla="*/ 49 h 106"/>
                    <a:gd name="T10" fmla="*/ 0 w 90"/>
                    <a:gd name="T11" fmla="*/ 105 h 106"/>
                    <a:gd name="T12" fmla="*/ 0 60000 65536"/>
                    <a:gd name="T13" fmla="*/ 0 60000 65536"/>
                    <a:gd name="T14" fmla="*/ 0 60000 65536"/>
                    <a:gd name="T15" fmla="*/ 0 60000 65536"/>
                    <a:gd name="T16" fmla="*/ 0 60000 65536"/>
                    <a:gd name="T17" fmla="*/ 0 60000 65536"/>
                    <a:gd name="T18" fmla="*/ 0 w 90"/>
                    <a:gd name="T19" fmla="*/ 0 h 106"/>
                    <a:gd name="T20" fmla="*/ 90 w 90"/>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90" h="106">
                      <a:moveTo>
                        <a:pt x="0" y="105"/>
                      </a:moveTo>
                      <a:lnTo>
                        <a:pt x="0" y="105"/>
                      </a:lnTo>
                      <a:lnTo>
                        <a:pt x="2" y="55"/>
                      </a:lnTo>
                      <a:lnTo>
                        <a:pt x="89" y="0"/>
                      </a:lnTo>
                      <a:lnTo>
                        <a:pt x="86" y="49"/>
                      </a:lnTo>
                      <a:lnTo>
                        <a:pt x="0" y="105"/>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83" name="Freeform 27"/>
                <p:cNvSpPr/>
                <p:nvPr/>
              </p:nvSpPr>
              <p:spPr bwMode="auto">
                <a:xfrm>
                  <a:off x="2269" y="2336"/>
                  <a:ext cx="38" cy="55"/>
                </a:xfrm>
                <a:custGeom>
                  <a:avLst/>
                  <a:gdLst>
                    <a:gd name="T0" fmla="*/ 34 w 38"/>
                    <a:gd name="T1" fmla="*/ 54 h 55"/>
                    <a:gd name="T2" fmla="*/ 34 w 38"/>
                    <a:gd name="T3" fmla="*/ 54 h 55"/>
                    <a:gd name="T4" fmla="*/ 0 w 38"/>
                    <a:gd name="T5" fmla="*/ 45 h 55"/>
                    <a:gd name="T6" fmla="*/ 2 w 38"/>
                    <a:gd name="T7" fmla="*/ 0 h 55"/>
                    <a:gd name="T8" fmla="*/ 37 w 38"/>
                    <a:gd name="T9" fmla="*/ 6 h 55"/>
                    <a:gd name="T10" fmla="*/ 34 w 38"/>
                    <a:gd name="T11" fmla="*/ 54 h 55"/>
                    <a:gd name="T12" fmla="*/ 0 60000 65536"/>
                    <a:gd name="T13" fmla="*/ 0 60000 65536"/>
                    <a:gd name="T14" fmla="*/ 0 60000 65536"/>
                    <a:gd name="T15" fmla="*/ 0 60000 65536"/>
                    <a:gd name="T16" fmla="*/ 0 60000 65536"/>
                    <a:gd name="T17" fmla="*/ 0 60000 65536"/>
                    <a:gd name="T18" fmla="*/ 0 w 38"/>
                    <a:gd name="T19" fmla="*/ 0 h 55"/>
                    <a:gd name="T20" fmla="*/ 38 w 38"/>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38" h="55">
                      <a:moveTo>
                        <a:pt x="34" y="54"/>
                      </a:moveTo>
                      <a:lnTo>
                        <a:pt x="34" y="54"/>
                      </a:lnTo>
                      <a:lnTo>
                        <a:pt x="0" y="45"/>
                      </a:lnTo>
                      <a:lnTo>
                        <a:pt x="2" y="0"/>
                      </a:lnTo>
                      <a:lnTo>
                        <a:pt x="37" y="6"/>
                      </a:lnTo>
                      <a:lnTo>
                        <a:pt x="34" y="5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84" name="Freeform 28"/>
                <p:cNvSpPr/>
                <p:nvPr/>
              </p:nvSpPr>
              <p:spPr bwMode="auto">
                <a:xfrm>
                  <a:off x="2269" y="2275"/>
                  <a:ext cx="127" cy="65"/>
                </a:xfrm>
                <a:custGeom>
                  <a:avLst/>
                  <a:gdLst>
                    <a:gd name="T0" fmla="*/ 39 w 127"/>
                    <a:gd name="T1" fmla="*/ 64 h 65"/>
                    <a:gd name="T2" fmla="*/ 39 w 127"/>
                    <a:gd name="T3" fmla="*/ 64 h 65"/>
                    <a:gd name="T4" fmla="*/ 0 w 127"/>
                    <a:gd name="T5" fmla="*/ 57 h 65"/>
                    <a:gd name="T6" fmla="*/ 89 w 127"/>
                    <a:gd name="T7" fmla="*/ 0 h 65"/>
                    <a:gd name="T8" fmla="*/ 126 w 127"/>
                    <a:gd name="T9" fmla="*/ 9 h 65"/>
                    <a:gd name="T10" fmla="*/ 39 w 127"/>
                    <a:gd name="T11" fmla="*/ 64 h 65"/>
                    <a:gd name="T12" fmla="*/ 0 60000 65536"/>
                    <a:gd name="T13" fmla="*/ 0 60000 65536"/>
                    <a:gd name="T14" fmla="*/ 0 60000 65536"/>
                    <a:gd name="T15" fmla="*/ 0 60000 65536"/>
                    <a:gd name="T16" fmla="*/ 0 60000 65536"/>
                    <a:gd name="T17" fmla="*/ 0 60000 65536"/>
                    <a:gd name="T18" fmla="*/ 0 w 127"/>
                    <a:gd name="T19" fmla="*/ 0 h 65"/>
                    <a:gd name="T20" fmla="*/ 127 w 12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27" h="65">
                      <a:moveTo>
                        <a:pt x="39" y="64"/>
                      </a:moveTo>
                      <a:lnTo>
                        <a:pt x="39" y="64"/>
                      </a:lnTo>
                      <a:lnTo>
                        <a:pt x="0" y="57"/>
                      </a:lnTo>
                      <a:lnTo>
                        <a:pt x="89" y="0"/>
                      </a:lnTo>
                      <a:lnTo>
                        <a:pt x="126" y="9"/>
                      </a:lnTo>
                      <a:lnTo>
                        <a:pt x="39" y="64"/>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290" name="Group 29"/>
              <p:cNvGrpSpPr/>
              <p:nvPr/>
            </p:nvGrpSpPr>
            <p:grpSpPr bwMode="auto">
              <a:xfrm>
                <a:off x="2167" y="2342"/>
                <a:ext cx="135" cy="119"/>
                <a:chOff x="2167" y="2342"/>
                <a:chExt cx="135" cy="119"/>
              </a:xfrm>
            </p:grpSpPr>
            <p:sp>
              <p:nvSpPr>
                <p:cNvPr id="44479" name="Freeform 30"/>
                <p:cNvSpPr/>
                <p:nvPr/>
              </p:nvSpPr>
              <p:spPr bwMode="auto">
                <a:xfrm>
                  <a:off x="2207" y="2352"/>
                  <a:ext cx="95" cy="109"/>
                </a:xfrm>
                <a:custGeom>
                  <a:avLst/>
                  <a:gdLst>
                    <a:gd name="T0" fmla="*/ 0 w 95"/>
                    <a:gd name="T1" fmla="*/ 108 h 109"/>
                    <a:gd name="T2" fmla="*/ 0 w 95"/>
                    <a:gd name="T3" fmla="*/ 108 h 109"/>
                    <a:gd name="T4" fmla="*/ 2 w 95"/>
                    <a:gd name="T5" fmla="*/ 58 h 109"/>
                    <a:gd name="T6" fmla="*/ 94 w 95"/>
                    <a:gd name="T7" fmla="*/ 0 h 109"/>
                    <a:gd name="T8" fmla="*/ 91 w 95"/>
                    <a:gd name="T9" fmla="*/ 45 h 109"/>
                    <a:gd name="T10" fmla="*/ 0 w 95"/>
                    <a:gd name="T11" fmla="*/ 108 h 109"/>
                    <a:gd name="T12" fmla="*/ 0 60000 65536"/>
                    <a:gd name="T13" fmla="*/ 0 60000 65536"/>
                    <a:gd name="T14" fmla="*/ 0 60000 65536"/>
                    <a:gd name="T15" fmla="*/ 0 60000 65536"/>
                    <a:gd name="T16" fmla="*/ 0 60000 65536"/>
                    <a:gd name="T17" fmla="*/ 0 60000 65536"/>
                    <a:gd name="T18" fmla="*/ 0 w 95"/>
                    <a:gd name="T19" fmla="*/ 0 h 109"/>
                    <a:gd name="T20" fmla="*/ 95 w 95"/>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5" h="109">
                      <a:moveTo>
                        <a:pt x="0" y="108"/>
                      </a:moveTo>
                      <a:lnTo>
                        <a:pt x="0" y="108"/>
                      </a:lnTo>
                      <a:lnTo>
                        <a:pt x="2" y="58"/>
                      </a:lnTo>
                      <a:lnTo>
                        <a:pt x="94" y="0"/>
                      </a:lnTo>
                      <a:lnTo>
                        <a:pt x="91" y="45"/>
                      </a:lnTo>
                      <a:lnTo>
                        <a:pt x="0" y="108"/>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80" name="Freeform 31"/>
                <p:cNvSpPr/>
                <p:nvPr/>
              </p:nvSpPr>
              <p:spPr bwMode="auto">
                <a:xfrm>
                  <a:off x="2167" y="2406"/>
                  <a:ext cx="41" cy="55"/>
                </a:xfrm>
                <a:custGeom>
                  <a:avLst/>
                  <a:gdLst>
                    <a:gd name="T0" fmla="*/ 37 w 41"/>
                    <a:gd name="T1" fmla="*/ 54 h 55"/>
                    <a:gd name="T2" fmla="*/ 37 w 41"/>
                    <a:gd name="T3" fmla="*/ 54 h 55"/>
                    <a:gd name="T4" fmla="*/ 0 w 41"/>
                    <a:gd name="T5" fmla="*/ 47 h 55"/>
                    <a:gd name="T6" fmla="*/ 0 w 41"/>
                    <a:gd name="T7" fmla="*/ 0 h 55"/>
                    <a:gd name="T8" fmla="*/ 40 w 41"/>
                    <a:gd name="T9" fmla="*/ 6 h 55"/>
                    <a:gd name="T10" fmla="*/ 37 w 41"/>
                    <a:gd name="T11" fmla="*/ 54 h 55"/>
                    <a:gd name="T12" fmla="*/ 0 60000 65536"/>
                    <a:gd name="T13" fmla="*/ 0 60000 65536"/>
                    <a:gd name="T14" fmla="*/ 0 60000 65536"/>
                    <a:gd name="T15" fmla="*/ 0 60000 65536"/>
                    <a:gd name="T16" fmla="*/ 0 60000 65536"/>
                    <a:gd name="T17" fmla="*/ 0 60000 65536"/>
                    <a:gd name="T18" fmla="*/ 0 w 41"/>
                    <a:gd name="T19" fmla="*/ 0 h 55"/>
                    <a:gd name="T20" fmla="*/ 41 w 41"/>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41" h="55">
                      <a:moveTo>
                        <a:pt x="37" y="54"/>
                      </a:moveTo>
                      <a:lnTo>
                        <a:pt x="37" y="54"/>
                      </a:lnTo>
                      <a:lnTo>
                        <a:pt x="0" y="47"/>
                      </a:lnTo>
                      <a:lnTo>
                        <a:pt x="0" y="0"/>
                      </a:lnTo>
                      <a:lnTo>
                        <a:pt x="40" y="6"/>
                      </a:lnTo>
                      <a:lnTo>
                        <a:pt x="37" y="5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81" name="Freeform 32"/>
                <p:cNvSpPr/>
                <p:nvPr/>
              </p:nvSpPr>
              <p:spPr bwMode="auto">
                <a:xfrm>
                  <a:off x="2167" y="2342"/>
                  <a:ext cx="135" cy="68"/>
                </a:xfrm>
                <a:custGeom>
                  <a:avLst/>
                  <a:gdLst>
                    <a:gd name="T0" fmla="*/ 41 w 135"/>
                    <a:gd name="T1" fmla="*/ 67 h 68"/>
                    <a:gd name="T2" fmla="*/ 41 w 135"/>
                    <a:gd name="T3" fmla="*/ 67 h 68"/>
                    <a:gd name="T4" fmla="*/ 0 w 135"/>
                    <a:gd name="T5" fmla="*/ 57 h 68"/>
                    <a:gd name="T6" fmla="*/ 94 w 135"/>
                    <a:gd name="T7" fmla="*/ 0 h 68"/>
                    <a:gd name="T8" fmla="*/ 134 w 135"/>
                    <a:gd name="T9" fmla="*/ 9 h 68"/>
                    <a:gd name="T10" fmla="*/ 41 w 135"/>
                    <a:gd name="T11" fmla="*/ 67 h 68"/>
                    <a:gd name="T12" fmla="*/ 0 60000 65536"/>
                    <a:gd name="T13" fmla="*/ 0 60000 65536"/>
                    <a:gd name="T14" fmla="*/ 0 60000 65536"/>
                    <a:gd name="T15" fmla="*/ 0 60000 65536"/>
                    <a:gd name="T16" fmla="*/ 0 60000 65536"/>
                    <a:gd name="T17" fmla="*/ 0 60000 65536"/>
                    <a:gd name="T18" fmla="*/ 0 w 135"/>
                    <a:gd name="T19" fmla="*/ 0 h 68"/>
                    <a:gd name="T20" fmla="*/ 135 w 135"/>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35" h="68">
                      <a:moveTo>
                        <a:pt x="41" y="67"/>
                      </a:moveTo>
                      <a:lnTo>
                        <a:pt x="41" y="67"/>
                      </a:lnTo>
                      <a:lnTo>
                        <a:pt x="0" y="57"/>
                      </a:lnTo>
                      <a:lnTo>
                        <a:pt x="94" y="0"/>
                      </a:lnTo>
                      <a:lnTo>
                        <a:pt x="134" y="9"/>
                      </a:lnTo>
                      <a:lnTo>
                        <a:pt x="41" y="67"/>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291" name="Freeform 33"/>
              <p:cNvSpPr/>
              <p:nvPr/>
            </p:nvSpPr>
            <p:spPr bwMode="auto">
              <a:xfrm>
                <a:off x="2100" y="2415"/>
                <a:ext cx="102" cy="120"/>
              </a:xfrm>
              <a:custGeom>
                <a:avLst/>
                <a:gdLst>
                  <a:gd name="T0" fmla="*/ 0 w 102"/>
                  <a:gd name="T1" fmla="*/ 119 h 120"/>
                  <a:gd name="T2" fmla="*/ 0 w 102"/>
                  <a:gd name="T3" fmla="*/ 119 h 120"/>
                  <a:gd name="T4" fmla="*/ 0 w 102"/>
                  <a:gd name="T5" fmla="*/ 65 h 120"/>
                  <a:gd name="T6" fmla="*/ 101 w 102"/>
                  <a:gd name="T7" fmla="*/ 0 h 120"/>
                  <a:gd name="T8" fmla="*/ 98 w 102"/>
                  <a:gd name="T9" fmla="*/ 50 h 120"/>
                  <a:gd name="T10" fmla="*/ 0 w 102"/>
                  <a:gd name="T11" fmla="*/ 119 h 120"/>
                  <a:gd name="T12" fmla="*/ 0 60000 65536"/>
                  <a:gd name="T13" fmla="*/ 0 60000 65536"/>
                  <a:gd name="T14" fmla="*/ 0 60000 65536"/>
                  <a:gd name="T15" fmla="*/ 0 60000 65536"/>
                  <a:gd name="T16" fmla="*/ 0 60000 65536"/>
                  <a:gd name="T17" fmla="*/ 0 60000 65536"/>
                  <a:gd name="T18" fmla="*/ 0 w 102"/>
                  <a:gd name="T19" fmla="*/ 0 h 120"/>
                  <a:gd name="T20" fmla="*/ 102 w 102"/>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2" h="120">
                    <a:moveTo>
                      <a:pt x="0" y="119"/>
                    </a:moveTo>
                    <a:lnTo>
                      <a:pt x="0" y="119"/>
                    </a:lnTo>
                    <a:lnTo>
                      <a:pt x="0" y="65"/>
                    </a:lnTo>
                    <a:lnTo>
                      <a:pt x="101" y="0"/>
                    </a:lnTo>
                    <a:lnTo>
                      <a:pt x="98" y="50"/>
                    </a:lnTo>
                    <a:lnTo>
                      <a:pt x="0" y="119"/>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92" name="Freeform 34"/>
              <p:cNvSpPr/>
              <p:nvPr/>
            </p:nvSpPr>
            <p:spPr bwMode="auto">
              <a:xfrm>
                <a:off x="2057" y="2477"/>
                <a:ext cx="43" cy="58"/>
              </a:xfrm>
              <a:custGeom>
                <a:avLst/>
                <a:gdLst>
                  <a:gd name="T0" fmla="*/ 42 w 43"/>
                  <a:gd name="T1" fmla="*/ 57 h 58"/>
                  <a:gd name="T2" fmla="*/ 42 w 43"/>
                  <a:gd name="T3" fmla="*/ 57 h 58"/>
                  <a:gd name="T4" fmla="*/ 0 w 43"/>
                  <a:gd name="T5" fmla="*/ 45 h 58"/>
                  <a:gd name="T6" fmla="*/ 0 w 43"/>
                  <a:gd name="T7" fmla="*/ 0 h 58"/>
                  <a:gd name="T8" fmla="*/ 42 w 43"/>
                  <a:gd name="T9" fmla="*/ 6 h 58"/>
                  <a:gd name="T10" fmla="*/ 42 w 43"/>
                  <a:gd name="T11" fmla="*/ 57 h 58"/>
                  <a:gd name="T12" fmla="*/ 0 60000 65536"/>
                  <a:gd name="T13" fmla="*/ 0 60000 65536"/>
                  <a:gd name="T14" fmla="*/ 0 60000 65536"/>
                  <a:gd name="T15" fmla="*/ 0 60000 65536"/>
                  <a:gd name="T16" fmla="*/ 0 60000 65536"/>
                  <a:gd name="T17" fmla="*/ 0 60000 65536"/>
                  <a:gd name="T18" fmla="*/ 0 w 43"/>
                  <a:gd name="T19" fmla="*/ 0 h 58"/>
                  <a:gd name="T20" fmla="*/ 43 w 4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43" h="58">
                    <a:moveTo>
                      <a:pt x="42" y="57"/>
                    </a:moveTo>
                    <a:lnTo>
                      <a:pt x="42" y="57"/>
                    </a:lnTo>
                    <a:lnTo>
                      <a:pt x="0" y="45"/>
                    </a:lnTo>
                    <a:lnTo>
                      <a:pt x="0" y="0"/>
                    </a:lnTo>
                    <a:lnTo>
                      <a:pt x="42" y="6"/>
                    </a:lnTo>
                    <a:lnTo>
                      <a:pt x="42" y="57"/>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93" name="Freeform 35"/>
              <p:cNvSpPr/>
              <p:nvPr/>
            </p:nvSpPr>
            <p:spPr bwMode="auto">
              <a:xfrm>
                <a:off x="2057" y="2409"/>
                <a:ext cx="146" cy="71"/>
              </a:xfrm>
              <a:custGeom>
                <a:avLst/>
                <a:gdLst>
                  <a:gd name="T0" fmla="*/ 44 w 146"/>
                  <a:gd name="T1" fmla="*/ 70 h 71"/>
                  <a:gd name="T2" fmla="*/ 44 w 146"/>
                  <a:gd name="T3" fmla="*/ 70 h 71"/>
                  <a:gd name="T4" fmla="*/ 0 w 146"/>
                  <a:gd name="T5" fmla="*/ 63 h 71"/>
                  <a:gd name="T6" fmla="*/ 103 w 146"/>
                  <a:gd name="T7" fmla="*/ 0 h 71"/>
                  <a:gd name="T8" fmla="*/ 145 w 146"/>
                  <a:gd name="T9" fmla="*/ 6 h 71"/>
                  <a:gd name="T10" fmla="*/ 44 w 146"/>
                  <a:gd name="T11" fmla="*/ 70 h 71"/>
                  <a:gd name="T12" fmla="*/ 0 60000 65536"/>
                  <a:gd name="T13" fmla="*/ 0 60000 65536"/>
                  <a:gd name="T14" fmla="*/ 0 60000 65536"/>
                  <a:gd name="T15" fmla="*/ 0 60000 65536"/>
                  <a:gd name="T16" fmla="*/ 0 60000 65536"/>
                  <a:gd name="T17" fmla="*/ 0 60000 65536"/>
                  <a:gd name="T18" fmla="*/ 0 w 146"/>
                  <a:gd name="T19" fmla="*/ 0 h 71"/>
                  <a:gd name="T20" fmla="*/ 146 w 146"/>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6" h="71">
                    <a:moveTo>
                      <a:pt x="44" y="70"/>
                    </a:moveTo>
                    <a:lnTo>
                      <a:pt x="44" y="70"/>
                    </a:lnTo>
                    <a:lnTo>
                      <a:pt x="0" y="63"/>
                    </a:lnTo>
                    <a:lnTo>
                      <a:pt x="103" y="0"/>
                    </a:lnTo>
                    <a:lnTo>
                      <a:pt x="145" y="6"/>
                    </a:lnTo>
                    <a:lnTo>
                      <a:pt x="44" y="70"/>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94" name="Freeform 36"/>
              <p:cNvSpPr/>
              <p:nvPr/>
            </p:nvSpPr>
            <p:spPr bwMode="auto">
              <a:xfrm>
                <a:off x="2480" y="2221"/>
                <a:ext cx="17" cy="49"/>
              </a:xfrm>
              <a:custGeom>
                <a:avLst/>
                <a:gdLst>
                  <a:gd name="T0" fmla="*/ 0 w 17"/>
                  <a:gd name="T1" fmla="*/ 48 h 49"/>
                  <a:gd name="T2" fmla="*/ 0 w 17"/>
                  <a:gd name="T3" fmla="*/ 48 h 49"/>
                  <a:gd name="T4" fmla="*/ 0 w 17"/>
                  <a:gd name="T5" fmla="*/ 24 h 49"/>
                  <a:gd name="T6" fmla="*/ 4 w 17"/>
                  <a:gd name="T7" fmla="*/ 8 h 49"/>
                  <a:gd name="T8" fmla="*/ 4 w 17"/>
                  <a:gd name="T9" fmla="*/ 2 h 49"/>
                  <a:gd name="T10" fmla="*/ 4 w 17"/>
                  <a:gd name="T11" fmla="*/ 0 h 49"/>
                  <a:gd name="T12" fmla="*/ 11 w 17"/>
                  <a:gd name="T13" fmla="*/ 0 h 49"/>
                  <a:gd name="T14" fmla="*/ 16 w 17"/>
                  <a:gd name="T15" fmla="*/ 0 h 49"/>
                  <a:gd name="T16" fmla="*/ 11 w 17"/>
                  <a:gd name="T17" fmla="*/ 21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8"/>
                    </a:lnTo>
                    <a:lnTo>
                      <a:pt x="4" y="2"/>
                    </a:lnTo>
                    <a:lnTo>
                      <a:pt x="4" y="0"/>
                    </a:lnTo>
                    <a:lnTo>
                      <a:pt x="11" y="0"/>
                    </a:lnTo>
                    <a:lnTo>
                      <a:pt x="16" y="0"/>
                    </a:lnTo>
                    <a:lnTo>
                      <a:pt x="11" y="21"/>
                    </a:lnTo>
                    <a:lnTo>
                      <a:pt x="11" y="45"/>
                    </a:lnTo>
                    <a:lnTo>
                      <a:pt x="4" y="45"/>
                    </a:lnTo>
                    <a:lnTo>
                      <a:pt x="0" y="48"/>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95" name="Freeform 37"/>
              <p:cNvSpPr/>
              <p:nvPr/>
            </p:nvSpPr>
            <p:spPr bwMode="auto">
              <a:xfrm>
                <a:off x="2101" y="2192"/>
                <a:ext cx="419" cy="292"/>
              </a:xfrm>
              <a:custGeom>
                <a:avLst/>
                <a:gdLst>
                  <a:gd name="T0" fmla="*/ 418 w 419"/>
                  <a:gd name="T1" fmla="*/ 0 h 292"/>
                  <a:gd name="T2" fmla="*/ 418 w 419"/>
                  <a:gd name="T3" fmla="*/ 0 h 292"/>
                  <a:gd name="T4" fmla="*/ 0 w 419"/>
                  <a:gd name="T5" fmla="*/ 284 h 292"/>
                  <a:gd name="T6" fmla="*/ 0 w 419"/>
                  <a:gd name="T7" fmla="*/ 291 h 292"/>
                  <a:gd name="T8" fmla="*/ 418 w 419"/>
                  <a:gd name="T9" fmla="*/ 6 h 292"/>
                  <a:gd name="T10" fmla="*/ 418 w 419"/>
                  <a:gd name="T11" fmla="*/ 0 h 292"/>
                  <a:gd name="T12" fmla="*/ 0 60000 65536"/>
                  <a:gd name="T13" fmla="*/ 0 60000 65536"/>
                  <a:gd name="T14" fmla="*/ 0 60000 65536"/>
                  <a:gd name="T15" fmla="*/ 0 60000 65536"/>
                  <a:gd name="T16" fmla="*/ 0 60000 65536"/>
                  <a:gd name="T17" fmla="*/ 0 60000 65536"/>
                  <a:gd name="T18" fmla="*/ 0 w 419"/>
                  <a:gd name="T19" fmla="*/ 0 h 292"/>
                  <a:gd name="T20" fmla="*/ 419 w 419"/>
                  <a:gd name="T21" fmla="*/ 292 h 292"/>
                </a:gdLst>
                <a:ahLst/>
                <a:cxnLst>
                  <a:cxn ang="T12">
                    <a:pos x="T0" y="T1"/>
                  </a:cxn>
                  <a:cxn ang="T13">
                    <a:pos x="T2" y="T3"/>
                  </a:cxn>
                  <a:cxn ang="T14">
                    <a:pos x="T4" y="T5"/>
                  </a:cxn>
                  <a:cxn ang="T15">
                    <a:pos x="T6" y="T7"/>
                  </a:cxn>
                  <a:cxn ang="T16">
                    <a:pos x="T8" y="T9"/>
                  </a:cxn>
                  <a:cxn ang="T17">
                    <a:pos x="T10" y="T11"/>
                  </a:cxn>
                </a:cxnLst>
                <a:rect l="T18" t="T19" r="T20" b="T21"/>
                <a:pathLst>
                  <a:path w="419" h="292">
                    <a:moveTo>
                      <a:pt x="418" y="0"/>
                    </a:moveTo>
                    <a:lnTo>
                      <a:pt x="418" y="0"/>
                    </a:lnTo>
                    <a:lnTo>
                      <a:pt x="0" y="284"/>
                    </a:lnTo>
                    <a:lnTo>
                      <a:pt x="0" y="291"/>
                    </a:lnTo>
                    <a:lnTo>
                      <a:pt x="418" y="6"/>
                    </a:lnTo>
                    <a:lnTo>
                      <a:pt x="418" y="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96" name="Freeform 38"/>
              <p:cNvSpPr/>
              <p:nvPr/>
            </p:nvSpPr>
            <p:spPr bwMode="auto">
              <a:xfrm>
                <a:off x="2394" y="2282"/>
                <a:ext cx="17" cy="51"/>
              </a:xfrm>
              <a:custGeom>
                <a:avLst/>
                <a:gdLst>
                  <a:gd name="T0" fmla="*/ 0 w 17"/>
                  <a:gd name="T1" fmla="*/ 50 h 51"/>
                  <a:gd name="T2" fmla="*/ 0 w 17"/>
                  <a:gd name="T3" fmla="*/ 50 h 51"/>
                  <a:gd name="T4" fmla="*/ 0 w 17"/>
                  <a:gd name="T5" fmla="*/ 26 h 51"/>
                  <a:gd name="T6" fmla="*/ 0 w 17"/>
                  <a:gd name="T7" fmla="*/ 17 h 51"/>
                  <a:gd name="T8" fmla="*/ 0 w 17"/>
                  <a:gd name="T9" fmla="*/ 8 h 51"/>
                  <a:gd name="T10" fmla="*/ 0 w 17"/>
                  <a:gd name="T11" fmla="*/ 6 h 51"/>
                  <a:gd name="T12" fmla="*/ 0 w 17"/>
                  <a:gd name="T13" fmla="*/ 2 h 51"/>
                  <a:gd name="T14" fmla="*/ 10 w 17"/>
                  <a:gd name="T15" fmla="*/ 2 h 51"/>
                  <a:gd name="T16" fmla="*/ 10 w 17"/>
                  <a:gd name="T17" fmla="*/ 0 h 51"/>
                  <a:gd name="T18" fmla="*/ 16 w 17"/>
                  <a:gd name="T19" fmla="*/ 0 h 51"/>
                  <a:gd name="T20" fmla="*/ 16 w 17"/>
                  <a:gd name="T21" fmla="*/ 23 h 51"/>
                  <a:gd name="T22" fmla="*/ 16 w 17"/>
                  <a:gd name="T23" fmla="*/ 38 h 51"/>
                  <a:gd name="T24" fmla="*/ 16 w 17"/>
                  <a:gd name="T25" fmla="*/ 43 h 51"/>
                  <a:gd name="T26" fmla="*/ 10 w 17"/>
                  <a:gd name="T27" fmla="*/ 47 h 51"/>
                  <a:gd name="T28" fmla="*/ 0 w 17"/>
                  <a:gd name="T29" fmla="*/ 47 h 51"/>
                  <a:gd name="T30" fmla="*/ 0 w 17"/>
                  <a:gd name="T31" fmla="*/ 50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1"/>
                  <a:gd name="T50" fmla="*/ 17 w 17"/>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1">
                    <a:moveTo>
                      <a:pt x="0" y="50"/>
                    </a:moveTo>
                    <a:lnTo>
                      <a:pt x="0" y="50"/>
                    </a:lnTo>
                    <a:lnTo>
                      <a:pt x="0" y="26"/>
                    </a:lnTo>
                    <a:lnTo>
                      <a:pt x="0" y="17"/>
                    </a:lnTo>
                    <a:lnTo>
                      <a:pt x="0" y="8"/>
                    </a:lnTo>
                    <a:lnTo>
                      <a:pt x="0" y="6"/>
                    </a:lnTo>
                    <a:lnTo>
                      <a:pt x="0" y="2"/>
                    </a:lnTo>
                    <a:lnTo>
                      <a:pt x="10" y="2"/>
                    </a:lnTo>
                    <a:lnTo>
                      <a:pt x="10" y="0"/>
                    </a:lnTo>
                    <a:lnTo>
                      <a:pt x="16" y="0"/>
                    </a:lnTo>
                    <a:lnTo>
                      <a:pt x="16" y="23"/>
                    </a:lnTo>
                    <a:lnTo>
                      <a:pt x="16" y="38"/>
                    </a:lnTo>
                    <a:lnTo>
                      <a:pt x="16" y="43"/>
                    </a:lnTo>
                    <a:lnTo>
                      <a:pt x="10" y="47"/>
                    </a:lnTo>
                    <a:lnTo>
                      <a:pt x="0" y="47"/>
                    </a:lnTo>
                    <a:lnTo>
                      <a:pt x="0" y="5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97" name="Freeform 39"/>
              <p:cNvSpPr/>
              <p:nvPr/>
            </p:nvSpPr>
            <p:spPr bwMode="auto">
              <a:xfrm>
                <a:off x="2301" y="2345"/>
                <a:ext cx="17" cy="53"/>
              </a:xfrm>
              <a:custGeom>
                <a:avLst/>
                <a:gdLst>
                  <a:gd name="T0" fmla="*/ 0 w 17"/>
                  <a:gd name="T1" fmla="*/ 52 h 53"/>
                  <a:gd name="T2" fmla="*/ 0 w 17"/>
                  <a:gd name="T3" fmla="*/ 52 h 53"/>
                  <a:gd name="T4" fmla="*/ 0 w 17"/>
                  <a:gd name="T5" fmla="*/ 27 h 53"/>
                  <a:gd name="T6" fmla="*/ 0 w 17"/>
                  <a:gd name="T7" fmla="*/ 17 h 53"/>
                  <a:gd name="T8" fmla="*/ 0 w 17"/>
                  <a:gd name="T9" fmla="*/ 8 h 53"/>
                  <a:gd name="T10" fmla="*/ 4 w 17"/>
                  <a:gd name="T11" fmla="*/ 2 h 53"/>
                  <a:gd name="T12" fmla="*/ 4 w 17"/>
                  <a:gd name="T13" fmla="*/ 0 h 53"/>
                  <a:gd name="T14" fmla="*/ 11 w 17"/>
                  <a:gd name="T15" fmla="*/ 0 h 53"/>
                  <a:gd name="T16" fmla="*/ 16 w 17"/>
                  <a:gd name="T17" fmla="*/ 0 h 53"/>
                  <a:gd name="T18" fmla="*/ 16 w 17"/>
                  <a:gd name="T19" fmla="*/ 24 h 53"/>
                  <a:gd name="T20" fmla="*/ 11 w 17"/>
                  <a:gd name="T21" fmla="*/ 39 h 53"/>
                  <a:gd name="T22" fmla="*/ 11 w 17"/>
                  <a:gd name="T23" fmla="*/ 45 h 53"/>
                  <a:gd name="T24" fmla="*/ 11 w 17"/>
                  <a:gd name="T25" fmla="*/ 49 h 53"/>
                  <a:gd name="T26" fmla="*/ 4 w 17"/>
                  <a:gd name="T27" fmla="*/ 49 h 53"/>
                  <a:gd name="T28" fmla="*/ 0 w 17"/>
                  <a:gd name="T29" fmla="*/ 5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3"/>
                  <a:gd name="T47" fmla="*/ 17 w 17"/>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3">
                    <a:moveTo>
                      <a:pt x="0" y="52"/>
                    </a:moveTo>
                    <a:lnTo>
                      <a:pt x="0" y="52"/>
                    </a:lnTo>
                    <a:lnTo>
                      <a:pt x="0" y="27"/>
                    </a:lnTo>
                    <a:lnTo>
                      <a:pt x="0" y="17"/>
                    </a:lnTo>
                    <a:lnTo>
                      <a:pt x="0" y="8"/>
                    </a:lnTo>
                    <a:lnTo>
                      <a:pt x="4" y="2"/>
                    </a:lnTo>
                    <a:lnTo>
                      <a:pt x="4" y="0"/>
                    </a:lnTo>
                    <a:lnTo>
                      <a:pt x="11" y="0"/>
                    </a:lnTo>
                    <a:lnTo>
                      <a:pt x="16" y="0"/>
                    </a:lnTo>
                    <a:lnTo>
                      <a:pt x="16" y="24"/>
                    </a:lnTo>
                    <a:lnTo>
                      <a:pt x="11" y="39"/>
                    </a:lnTo>
                    <a:lnTo>
                      <a:pt x="11" y="45"/>
                    </a:lnTo>
                    <a:lnTo>
                      <a:pt x="11" y="49"/>
                    </a:lnTo>
                    <a:lnTo>
                      <a:pt x="4" y="49"/>
                    </a:lnTo>
                    <a:lnTo>
                      <a:pt x="0" y="52"/>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98" name="Freeform 40"/>
              <p:cNvSpPr/>
              <p:nvPr/>
            </p:nvSpPr>
            <p:spPr bwMode="auto">
              <a:xfrm>
                <a:off x="2202" y="2413"/>
                <a:ext cx="17" cy="55"/>
              </a:xfrm>
              <a:custGeom>
                <a:avLst/>
                <a:gdLst>
                  <a:gd name="T0" fmla="*/ 0 w 17"/>
                  <a:gd name="T1" fmla="*/ 54 h 55"/>
                  <a:gd name="T2" fmla="*/ 0 w 17"/>
                  <a:gd name="T3" fmla="*/ 54 h 55"/>
                  <a:gd name="T4" fmla="*/ 0 w 17"/>
                  <a:gd name="T5" fmla="*/ 44 h 55"/>
                  <a:gd name="T6" fmla="*/ 0 w 17"/>
                  <a:gd name="T7" fmla="*/ 27 h 55"/>
                  <a:gd name="T8" fmla="*/ 0 w 17"/>
                  <a:gd name="T9" fmla="*/ 18 h 55"/>
                  <a:gd name="T10" fmla="*/ 0 w 17"/>
                  <a:gd name="T11" fmla="*/ 9 h 55"/>
                  <a:gd name="T12" fmla="*/ 0 w 17"/>
                  <a:gd name="T13" fmla="*/ 2 h 55"/>
                  <a:gd name="T14" fmla="*/ 4 w 17"/>
                  <a:gd name="T15" fmla="*/ 0 h 55"/>
                  <a:gd name="T16" fmla="*/ 11 w 17"/>
                  <a:gd name="T17" fmla="*/ 0 h 55"/>
                  <a:gd name="T18" fmla="*/ 16 w 17"/>
                  <a:gd name="T19" fmla="*/ 0 h 55"/>
                  <a:gd name="T20" fmla="*/ 16 w 17"/>
                  <a:gd name="T21" fmla="*/ 23 h 55"/>
                  <a:gd name="T22" fmla="*/ 16 w 17"/>
                  <a:gd name="T23" fmla="*/ 39 h 55"/>
                  <a:gd name="T24" fmla="*/ 11 w 17"/>
                  <a:gd name="T25" fmla="*/ 44 h 55"/>
                  <a:gd name="T26" fmla="*/ 11 w 17"/>
                  <a:gd name="T27" fmla="*/ 47 h 55"/>
                  <a:gd name="T28" fmla="*/ 11 w 17"/>
                  <a:gd name="T29" fmla="*/ 51 h 55"/>
                  <a:gd name="T30" fmla="*/ 4 w 17"/>
                  <a:gd name="T31" fmla="*/ 51 h 55"/>
                  <a:gd name="T32" fmla="*/ 0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4"/>
                    </a:lnTo>
                    <a:lnTo>
                      <a:pt x="0" y="27"/>
                    </a:lnTo>
                    <a:lnTo>
                      <a:pt x="0" y="18"/>
                    </a:lnTo>
                    <a:lnTo>
                      <a:pt x="0" y="9"/>
                    </a:lnTo>
                    <a:lnTo>
                      <a:pt x="0" y="2"/>
                    </a:lnTo>
                    <a:lnTo>
                      <a:pt x="4" y="0"/>
                    </a:lnTo>
                    <a:lnTo>
                      <a:pt x="11" y="0"/>
                    </a:lnTo>
                    <a:lnTo>
                      <a:pt x="16" y="0"/>
                    </a:lnTo>
                    <a:lnTo>
                      <a:pt x="16" y="23"/>
                    </a:lnTo>
                    <a:lnTo>
                      <a:pt x="16" y="39"/>
                    </a:lnTo>
                    <a:lnTo>
                      <a:pt x="11" y="44"/>
                    </a:lnTo>
                    <a:lnTo>
                      <a:pt x="11" y="47"/>
                    </a:lnTo>
                    <a:lnTo>
                      <a:pt x="11" y="51"/>
                    </a:lnTo>
                    <a:lnTo>
                      <a:pt x="4" y="51"/>
                    </a:lnTo>
                    <a:lnTo>
                      <a:pt x="0" y="51"/>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299" name="Group 41"/>
              <p:cNvGrpSpPr/>
              <p:nvPr/>
            </p:nvGrpSpPr>
            <p:grpSpPr bwMode="auto">
              <a:xfrm>
                <a:off x="2412" y="2134"/>
                <a:ext cx="111" cy="107"/>
                <a:chOff x="2412" y="2134"/>
                <a:chExt cx="111" cy="107"/>
              </a:xfrm>
            </p:grpSpPr>
            <p:sp>
              <p:nvSpPr>
                <p:cNvPr id="44476" name="Freeform 42"/>
                <p:cNvSpPr/>
                <p:nvPr/>
              </p:nvSpPr>
              <p:spPr bwMode="auto">
                <a:xfrm>
                  <a:off x="2446" y="2147"/>
                  <a:ext cx="77" cy="94"/>
                </a:xfrm>
                <a:custGeom>
                  <a:avLst/>
                  <a:gdLst>
                    <a:gd name="T0" fmla="*/ 0 w 77"/>
                    <a:gd name="T1" fmla="*/ 93 h 94"/>
                    <a:gd name="T2" fmla="*/ 0 w 77"/>
                    <a:gd name="T3" fmla="*/ 93 h 94"/>
                    <a:gd name="T4" fmla="*/ 2 w 77"/>
                    <a:gd name="T5" fmla="*/ 46 h 94"/>
                    <a:gd name="T6" fmla="*/ 76 w 77"/>
                    <a:gd name="T7" fmla="*/ 0 h 94"/>
                    <a:gd name="T8" fmla="*/ 73 w 77"/>
                    <a:gd name="T9" fmla="*/ 46 h 94"/>
                    <a:gd name="T10" fmla="*/ 0 w 77"/>
                    <a:gd name="T11" fmla="*/ 93 h 94"/>
                    <a:gd name="T12" fmla="*/ 0 60000 65536"/>
                    <a:gd name="T13" fmla="*/ 0 60000 65536"/>
                    <a:gd name="T14" fmla="*/ 0 60000 65536"/>
                    <a:gd name="T15" fmla="*/ 0 60000 65536"/>
                    <a:gd name="T16" fmla="*/ 0 60000 65536"/>
                    <a:gd name="T17" fmla="*/ 0 60000 65536"/>
                    <a:gd name="T18" fmla="*/ 0 w 77"/>
                    <a:gd name="T19" fmla="*/ 0 h 94"/>
                    <a:gd name="T20" fmla="*/ 77 w 77"/>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77" h="94">
                      <a:moveTo>
                        <a:pt x="0" y="93"/>
                      </a:moveTo>
                      <a:lnTo>
                        <a:pt x="0" y="93"/>
                      </a:lnTo>
                      <a:lnTo>
                        <a:pt x="2" y="46"/>
                      </a:lnTo>
                      <a:lnTo>
                        <a:pt x="76" y="0"/>
                      </a:lnTo>
                      <a:lnTo>
                        <a:pt x="73" y="46"/>
                      </a:lnTo>
                      <a:lnTo>
                        <a:pt x="0" y="93"/>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77" name="Freeform 43"/>
                <p:cNvSpPr/>
                <p:nvPr/>
              </p:nvSpPr>
              <p:spPr bwMode="auto">
                <a:xfrm>
                  <a:off x="2412" y="2187"/>
                  <a:ext cx="35" cy="54"/>
                </a:xfrm>
                <a:custGeom>
                  <a:avLst/>
                  <a:gdLst>
                    <a:gd name="T0" fmla="*/ 31 w 35"/>
                    <a:gd name="T1" fmla="*/ 53 h 54"/>
                    <a:gd name="T2" fmla="*/ 31 w 35"/>
                    <a:gd name="T3" fmla="*/ 53 h 54"/>
                    <a:gd name="T4" fmla="*/ 0 w 35"/>
                    <a:gd name="T5" fmla="*/ 44 h 54"/>
                    <a:gd name="T6" fmla="*/ 2 w 35"/>
                    <a:gd name="T7" fmla="*/ 0 h 54"/>
                    <a:gd name="T8" fmla="*/ 34 w 35"/>
                    <a:gd name="T9" fmla="*/ 8 h 54"/>
                    <a:gd name="T10" fmla="*/ 31 w 35"/>
                    <a:gd name="T11" fmla="*/ 53 h 54"/>
                    <a:gd name="T12" fmla="*/ 0 60000 65536"/>
                    <a:gd name="T13" fmla="*/ 0 60000 65536"/>
                    <a:gd name="T14" fmla="*/ 0 60000 65536"/>
                    <a:gd name="T15" fmla="*/ 0 60000 65536"/>
                    <a:gd name="T16" fmla="*/ 0 60000 65536"/>
                    <a:gd name="T17" fmla="*/ 0 60000 65536"/>
                    <a:gd name="T18" fmla="*/ 0 w 35"/>
                    <a:gd name="T19" fmla="*/ 0 h 54"/>
                    <a:gd name="T20" fmla="*/ 35 w 35"/>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5" h="54">
                      <a:moveTo>
                        <a:pt x="31" y="53"/>
                      </a:moveTo>
                      <a:lnTo>
                        <a:pt x="31" y="53"/>
                      </a:lnTo>
                      <a:lnTo>
                        <a:pt x="0" y="44"/>
                      </a:lnTo>
                      <a:lnTo>
                        <a:pt x="2" y="0"/>
                      </a:lnTo>
                      <a:lnTo>
                        <a:pt x="34" y="8"/>
                      </a:lnTo>
                      <a:lnTo>
                        <a:pt x="31" y="53"/>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78" name="Freeform 44"/>
                <p:cNvSpPr/>
                <p:nvPr/>
              </p:nvSpPr>
              <p:spPr bwMode="auto">
                <a:xfrm>
                  <a:off x="2414" y="2134"/>
                  <a:ext cx="109" cy="59"/>
                </a:xfrm>
                <a:custGeom>
                  <a:avLst/>
                  <a:gdLst>
                    <a:gd name="T0" fmla="*/ 33 w 109"/>
                    <a:gd name="T1" fmla="*/ 58 h 59"/>
                    <a:gd name="T2" fmla="*/ 33 w 109"/>
                    <a:gd name="T3" fmla="*/ 58 h 59"/>
                    <a:gd name="T4" fmla="*/ 0 w 109"/>
                    <a:gd name="T5" fmla="*/ 48 h 59"/>
                    <a:gd name="T6" fmla="*/ 80 w 109"/>
                    <a:gd name="T7" fmla="*/ 0 h 59"/>
                    <a:gd name="T8" fmla="*/ 108 w 109"/>
                    <a:gd name="T9" fmla="*/ 11 h 59"/>
                    <a:gd name="T10" fmla="*/ 33 w 109"/>
                    <a:gd name="T11" fmla="*/ 58 h 59"/>
                    <a:gd name="T12" fmla="*/ 0 60000 65536"/>
                    <a:gd name="T13" fmla="*/ 0 60000 65536"/>
                    <a:gd name="T14" fmla="*/ 0 60000 65536"/>
                    <a:gd name="T15" fmla="*/ 0 60000 65536"/>
                    <a:gd name="T16" fmla="*/ 0 60000 65536"/>
                    <a:gd name="T17" fmla="*/ 0 60000 65536"/>
                    <a:gd name="T18" fmla="*/ 0 w 109"/>
                    <a:gd name="T19" fmla="*/ 0 h 59"/>
                    <a:gd name="T20" fmla="*/ 109 w 10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109" h="59">
                      <a:moveTo>
                        <a:pt x="33" y="58"/>
                      </a:moveTo>
                      <a:lnTo>
                        <a:pt x="33" y="58"/>
                      </a:lnTo>
                      <a:lnTo>
                        <a:pt x="0" y="48"/>
                      </a:lnTo>
                      <a:lnTo>
                        <a:pt x="80" y="0"/>
                      </a:lnTo>
                      <a:lnTo>
                        <a:pt x="108" y="11"/>
                      </a:lnTo>
                      <a:lnTo>
                        <a:pt x="33" y="58"/>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00" name="Group 45"/>
              <p:cNvGrpSpPr/>
              <p:nvPr/>
            </p:nvGrpSpPr>
            <p:grpSpPr bwMode="auto">
              <a:xfrm>
                <a:off x="2318" y="2192"/>
                <a:ext cx="122" cy="113"/>
                <a:chOff x="2318" y="2192"/>
                <a:chExt cx="122" cy="113"/>
              </a:xfrm>
            </p:grpSpPr>
            <p:sp>
              <p:nvSpPr>
                <p:cNvPr id="44473" name="Freeform 46"/>
                <p:cNvSpPr/>
                <p:nvPr/>
              </p:nvSpPr>
              <p:spPr bwMode="auto">
                <a:xfrm>
                  <a:off x="2354" y="2202"/>
                  <a:ext cx="86" cy="103"/>
                </a:xfrm>
                <a:custGeom>
                  <a:avLst/>
                  <a:gdLst>
                    <a:gd name="T0" fmla="*/ 0 w 86"/>
                    <a:gd name="T1" fmla="*/ 102 h 103"/>
                    <a:gd name="T2" fmla="*/ 0 w 86"/>
                    <a:gd name="T3" fmla="*/ 102 h 103"/>
                    <a:gd name="T4" fmla="*/ 2 w 86"/>
                    <a:gd name="T5" fmla="*/ 52 h 103"/>
                    <a:gd name="T6" fmla="*/ 85 w 86"/>
                    <a:gd name="T7" fmla="*/ 0 h 103"/>
                    <a:gd name="T8" fmla="*/ 82 w 86"/>
                    <a:gd name="T9" fmla="*/ 49 h 103"/>
                    <a:gd name="T10" fmla="*/ 0 w 86"/>
                    <a:gd name="T11" fmla="*/ 102 h 103"/>
                    <a:gd name="T12" fmla="*/ 0 60000 65536"/>
                    <a:gd name="T13" fmla="*/ 0 60000 65536"/>
                    <a:gd name="T14" fmla="*/ 0 60000 65536"/>
                    <a:gd name="T15" fmla="*/ 0 60000 65536"/>
                    <a:gd name="T16" fmla="*/ 0 60000 65536"/>
                    <a:gd name="T17" fmla="*/ 0 60000 65536"/>
                    <a:gd name="T18" fmla="*/ 0 w 86"/>
                    <a:gd name="T19" fmla="*/ 0 h 103"/>
                    <a:gd name="T20" fmla="*/ 86 w 8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6" h="103">
                      <a:moveTo>
                        <a:pt x="0" y="102"/>
                      </a:moveTo>
                      <a:lnTo>
                        <a:pt x="0" y="102"/>
                      </a:lnTo>
                      <a:lnTo>
                        <a:pt x="2" y="52"/>
                      </a:lnTo>
                      <a:lnTo>
                        <a:pt x="85" y="0"/>
                      </a:lnTo>
                      <a:lnTo>
                        <a:pt x="82" y="49"/>
                      </a:lnTo>
                      <a:lnTo>
                        <a:pt x="0" y="102"/>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74" name="Freeform 47"/>
                <p:cNvSpPr/>
                <p:nvPr/>
              </p:nvSpPr>
              <p:spPr bwMode="auto">
                <a:xfrm>
                  <a:off x="2318" y="2247"/>
                  <a:ext cx="38" cy="58"/>
                </a:xfrm>
                <a:custGeom>
                  <a:avLst/>
                  <a:gdLst>
                    <a:gd name="T0" fmla="*/ 34 w 38"/>
                    <a:gd name="T1" fmla="*/ 57 h 58"/>
                    <a:gd name="T2" fmla="*/ 34 w 38"/>
                    <a:gd name="T3" fmla="*/ 57 h 58"/>
                    <a:gd name="T4" fmla="*/ 0 w 38"/>
                    <a:gd name="T5" fmla="*/ 47 h 58"/>
                    <a:gd name="T6" fmla="*/ 2 w 38"/>
                    <a:gd name="T7" fmla="*/ 0 h 58"/>
                    <a:gd name="T8" fmla="*/ 37 w 38"/>
                    <a:gd name="T9" fmla="*/ 9 h 58"/>
                    <a:gd name="T10" fmla="*/ 34 w 38"/>
                    <a:gd name="T11" fmla="*/ 57 h 58"/>
                    <a:gd name="T12" fmla="*/ 0 60000 65536"/>
                    <a:gd name="T13" fmla="*/ 0 60000 65536"/>
                    <a:gd name="T14" fmla="*/ 0 60000 65536"/>
                    <a:gd name="T15" fmla="*/ 0 60000 65536"/>
                    <a:gd name="T16" fmla="*/ 0 60000 65536"/>
                    <a:gd name="T17" fmla="*/ 0 60000 65536"/>
                    <a:gd name="T18" fmla="*/ 0 w 38"/>
                    <a:gd name="T19" fmla="*/ 0 h 58"/>
                    <a:gd name="T20" fmla="*/ 38 w 38"/>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8" h="58">
                      <a:moveTo>
                        <a:pt x="34" y="57"/>
                      </a:moveTo>
                      <a:lnTo>
                        <a:pt x="34" y="57"/>
                      </a:lnTo>
                      <a:lnTo>
                        <a:pt x="0" y="47"/>
                      </a:lnTo>
                      <a:lnTo>
                        <a:pt x="2" y="0"/>
                      </a:lnTo>
                      <a:lnTo>
                        <a:pt x="37" y="9"/>
                      </a:lnTo>
                      <a:lnTo>
                        <a:pt x="34" y="57"/>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75" name="Freeform 48"/>
                <p:cNvSpPr/>
                <p:nvPr/>
              </p:nvSpPr>
              <p:spPr bwMode="auto">
                <a:xfrm>
                  <a:off x="2321" y="2192"/>
                  <a:ext cx="119" cy="62"/>
                </a:xfrm>
                <a:custGeom>
                  <a:avLst/>
                  <a:gdLst>
                    <a:gd name="T0" fmla="*/ 35 w 119"/>
                    <a:gd name="T1" fmla="*/ 61 h 62"/>
                    <a:gd name="T2" fmla="*/ 35 w 119"/>
                    <a:gd name="T3" fmla="*/ 61 h 62"/>
                    <a:gd name="T4" fmla="*/ 0 w 119"/>
                    <a:gd name="T5" fmla="*/ 52 h 62"/>
                    <a:gd name="T6" fmla="*/ 84 w 119"/>
                    <a:gd name="T7" fmla="*/ 0 h 62"/>
                    <a:gd name="T8" fmla="*/ 118 w 119"/>
                    <a:gd name="T9" fmla="*/ 8 h 62"/>
                    <a:gd name="T10" fmla="*/ 35 w 119"/>
                    <a:gd name="T11" fmla="*/ 61 h 62"/>
                    <a:gd name="T12" fmla="*/ 0 60000 65536"/>
                    <a:gd name="T13" fmla="*/ 0 60000 65536"/>
                    <a:gd name="T14" fmla="*/ 0 60000 65536"/>
                    <a:gd name="T15" fmla="*/ 0 60000 65536"/>
                    <a:gd name="T16" fmla="*/ 0 60000 65536"/>
                    <a:gd name="T17" fmla="*/ 0 60000 65536"/>
                    <a:gd name="T18" fmla="*/ 0 w 119"/>
                    <a:gd name="T19" fmla="*/ 0 h 62"/>
                    <a:gd name="T20" fmla="*/ 119 w 119"/>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19" h="62">
                      <a:moveTo>
                        <a:pt x="35" y="61"/>
                      </a:moveTo>
                      <a:lnTo>
                        <a:pt x="35" y="61"/>
                      </a:lnTo>
                      <a:lnTo>
                        <a:pt x="0" y="52"/>
                      </a:lnTo>
                      <a:lnTo>
                        <a:pt x="84" y="0"/>
                      </a:lnTo>
                      <a:lnTo>
                        <a:pt x="118" y="8"/>
                      </a:lnTo>
                      <a:lnTo>
                        <a:pt x="35" y="61"/>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01" name="Group 49"/>
              <p:cNvGrpSpPr/>
              <p:nvPr/>
            </p:nvGrpSpPr>
            <p:grpSpPr bwMode="auto">
              <a:xfrm>
                <a:off x="2218" y="2253"/>
                <a:ext cx="133" cy="116"/>
                <a:chOff x="2218" y="2253"/>
                <a:chExt cx="133" cy="116"/>
              </a:xfrm>
            </p:grpSpPr>
            <p:sp>
              <p:nvSpPr>
                <p:cNvPr id="44470" name="Freeform 50"/>
                <p:cNvSpPr/>
                <p:nvPr/>
              </p:nvSpPr>
              <p:spPr bwMode="auto">
                <a:xfrm>
                  <a:off x="2258" y="2262"/>
                  <a:ext cx="93" cy="107"/>
                </a:xfrm>
                <a:custGeom>
                  <a:avLst/>
                  <a:gdLst>
                    <a:gd name="T0" fmla="*/ 0 w 93"/>
                    <a:gd name="T1" fmla="*/ 106 h 107"/>
                    <a:gd name="T2" fmla="*/ 0 w 93"/>
                    <a:gd name="T3" fmla="*/ 106 h 107"/>
                    <a:gd name="T4" fmla="*/ 2 w 93"/>
                    <a:gd name="T5" fmla="*/ 55 h 107"/>
                    <a:gd name="T6" fmla="*/ 92 w 93"/>
                    <a:gd name="T7" fmla="*/ 0 h 107"/>
                    <a:gd name="T8" fmla="*/ 89 w 93"/>
                    <a:gd name="T9" fmla="*/ 50 h 107"/>
                    <a:gd name="T10" fmla="*/ 0 w 93"/>
                    <a:gd name="T11" fmla="*/ 106 h 107"/>
                    <a:gd name="T12" fmla="*/ 0 60000 65536"/>
                    <a:gd name="T13" fmla="*/ 0 60000 65536"/>
                    <a:gd name="T14" fmla="*/ 0 60000 65536"/>
                    <a:gd name="T15" fmla="*/ 0 60000 65536"/>
                    <a:gd name="T16" fmla="*/ 0 60000 65536"/>
                    <a:gd name="T17" fmla="*/ 0 60000 65536"/>
                    <a:gd name="T18" fmla="*/ 0 w 93"/>
                    <a:gd name="T19" fmla="*/ 0 h 107"/>
                    <a:gd name="T20" fmla="*/ 93 w 9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3" h="107">
                      <a:moveTo>
                        <a:pt x="0" y="106"/>
                      </a:moveTo>
                      <a:lnTo>
                        <a:pt x="0" y="106"/>
                      </a:lnTo>
                      <a:lnTo>
                        <a:pt x="2" y="55"/>
                      </a:lnTo>
                      <a:lnTo>
                        <a:pt x="92" y="0"/>
                      </a:lnTo>
                      <a:lnTo>
                        <a:pt x="89" y="50"/>
                      </a:lnTo>
                      <a:lnTo>
                        <a:pt x="0" y="10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71" name="Freeform 51"/>
                <p:cNvSpPr/>
                <p:nvPr/>
              </p:nvSpPr>
              <p:spPr bwMode="auto">
                <a:xfrm>
                  <a:off x="2218" y="2310"/>
                  <a:ext cx="41" cy="59"/>
                </a:xfrm>
                <a:custGeom>
                  <a:avLst/>
                  <a:gdLst>
                    <a:gd name="T0" fmla="*/ 37 w 41"/>
                    <a:gd name="T1" fmla="*/ 58 h 59"/>
                    <a:gd name="T2" fmla="*/ 37 w 41"/>
                    <a:gd name="T3" fmla="*/ 58 h 59"/>
                    <a:gd name="T4" fmla="*/ 0 w 41"/>
                    <a:gd name="T5" fmla="*/ 51 h 59"/>
                    <a:gd name="T6" fmla="*/ 2 w 41"/>
                    <a:gd name="T7" fmla="*/ 0 h 59"/>
                    <a:gd name="T8" fmla="*/ 40 w 41"/>
                    <a:gd name="T9" fmla="*/ 8 h 59"/>
                    <a:gd name="T10" fmla="*/ 37 w 41"/>
                    <a:gd name="T11" fmla="*/ 58 h 59"/>
                    <a:gd name="T12" fmla="*/ 0 60000 65536"/>
                    <a:gd name="T13" fmla="*/ 0 60000 65536"/>
                    <a:gd name="T14" fmla="*/ 0 60000 65536"/>
                    <a:gd name="T15" fmla="*/ 0 60000 65536"/>
                    <a:gd name="T16" fmla="*/ 0 60000 65536"/>
                    <a:gd name="T17" fmla="*/ 0 60000 65536"/>
                    <a:gd name="T18" fmla="*/ 0 w 41"/>
                    <a:gd name="T19" fmla="*/ 0 h 59"/>
                    <a:gd name="T20" fmla="*/ 41 w 41"/>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1" h="59">
                      <a:moveTo>
                        <a:pt x="37" y="58"/>
                      </a:moveTo>
                      <a:lnTo>
                        <a:pt x="37" y="58"/>
                      </a:lnTo>
                      <a:lnTo>
                        <a:pt x="0" y="51"/>
                      </a:lnTo>
                      <a:lnTo>
                        <a:pt x="2" y="0"/>
                      </a:lnTo>
                      <a:lnTo>
                        <a:pt x="40" y="8"/>
                      </a:lnTo>
                      <a:lnTo>
                        <a:pt x="37" y="58"/>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72" name="Freeform 52"/>
                <p:cNvSpPr/>
                <p:nvPr/>
              </p:nvSpPr>
              <p:spPr bwMode="auto">
                <a:xfrm>
                  <a:off x="2221" y="2253"/>
                  <a:ext cx="130" cy="65"/>
                </a:xfrm>
                <a:custGeom>
                  <a:avLst/>
                  <a:gdLst>
                    <a:gd name="T0" fmla="*/ 39 w 130"/>
                    <a:gd name="T1" fmla="*/ 64 h 65"/>
                    <a:gd name="T2" fmla="*/ 39 w 130"/>
                    <a:gd name="T3" fmla="*/ 64 h 65"/>
                    <a:gd name="T4" fmla="*/ 0 w 130"/>
                    <a:gd name="T5" fmla="*/ 54 h 65"/>
                    <a:gd name="T6" fmla="*/ 92 w 130"/>
                    <a:gd name="T7" fmla="*/ 0 h 65"/>
                    <a:gd name="T8" fmla="*/ 129 w 130"/>
                    <a:gd name="T9" fmla="*/ 9 h 65"/>
                    <a:gd name="T10" fmla="*/ 39 w 130"/>
                    <a:gd name="T11" fmla="*/ 64 h 65"/>
                    <a:gd name="T12" fmla="*/ 0 60000 65536"/>
                    <a:gd name="T13" fmla="*/ 0 60000 65536"/>
                    <a:gd name="T14" fmla="*/ 0 60000 65536"/>
                    <a:gd name="T15" fmla="*/ 0 60000 65536"/>
                    <a:gd name="T16" fmla="*/ 0 60000 65536"/>
                    <a:gd name="T17" fmla="*/ 0 60000 65536"/>
                    <a:gd name="T18" fmla="*/ 0 w 130"/>
                    <a:gd name="T19" fmla="*/ 0 h 65"/>
                    <a:gd name="T20" fmla="*/ 130 w 13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0" h="65">
                      <a:moveTo>
                        <a:pt x="39" y="64"/>
                      </a:moveTo>
                      <a:lnTo>
                        <a:pt x="39" y="64"/>
                      </a:lnTo>
                      <a:lnTo>
                        <a:pt x="0" y="54"/>
                      </a:lnTo>
                      <a:lnTo>
                        <a:pt x="92" y="0"/>
                      </a:lnTo>
                      <a:lnTo>
                        <a:pt x="129" y="9"/>
                      </a:lnTo>
                      <a:lnTo>
                        <a:pt x="39" y="64"/>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02" name="Group 53"/>
              <p:cNvGrpSpPr/>
              <p:nvPr/>
            </p:nvGrpSpPr>
            <p:grpSpPr bwMode="auto">
              <a:xfrm>
                <a:off x="2109" y="2317"/>
                <a:ext cx="144" cy="122"/>
                <a:chOff x="2109" y="2317"/>
                <a:chExt cx="144" cy="122"/>
              </a:xfrm>
            </p:grpSpPr>
            <p:sp>
              <p:nvSpPr>
                <p:cNvPr id="44467" name="Freeform 54"/>
                <p:cNvSpPr/>
                <p:nvPr/>
              </p:nvSpPr>
              <p:spPr bwMode="auto">
                <a:xfrm>
                  <a:off x="2154" y="2327"/>
                  <a:ext cx="98" cy="112"/>
                </a:xfrm>
                <a:custGeom>
                  <a:avLst/>
                  <a:gdLst>
                    <a:gd name="T0" fmla="*/ 0 w 98"/>
                    <a:gd name="T1" fmla="*/ 111 h 112"/>
                    <a:gd name="T2" fmla="*/ 0 w 98"/>
                    <a:gd name="T3" fmla="*/ 111 h 112"/>
                    <a:gd name="T4" fmla="*/ 0 w 98"/>
                    <a:gd name="T5" fmla="*/ 61 h 112"/>
                    <a:gd name="T6" fmla="*/ 97 w 98"/>
                    <a:gd name="T7" fmla="*/ 0 h 112"/>
                    <a:gd name="T8" fmla="*/ 94 w 98"/>
                    <a:gd name="T9" fmla="*/ 49 h 112"/>
                    <a:gd name="T10" fmla="*/ 0 w 98"/>
                    <a:gd name="T11" fmla="*/ 111 h 112"/>
                    <a:gd name="T12" fmla="*/ 0 60000 65536"/>
                    <a:gd name="T13" fmla="*/ 0 60000 65536"/>
                    <a:gd name="T14" fmla="*/ 0 60000 65536"/>
                    <a:gd name="T15" fmla="*/ 0 60000 65536"/>
                    <a:gd name="T16" fmla="*/ 0 60000 65536"/>
                    <a:gd name="T17" fmla="*/ 0 60000 65536"/>
                    <a:gd name="T18" fmla="*/ 0 w 98"/>
                    <a:gd name="T19" fmla="*/ 0 h 112"/>
                    <a:gd name="T20" fmla="*/ 98 w 98"/>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98" h="112">
                      <a:moveTo>
                        <a:pt x="0" y="111"/>
                      </a:moveTo>
                      <a:lnTo>
                        <a:pt x="0" y="111"/>
                      </a:lnTo>
                      <a:lnTo>
                        <a:pt x="0" y="61"/>
                      </a:lnTo>
                      <a:lnTo>
                        <a:pt x="97" y="0"/>
                      </a:lnTo>
                      <a:lnTo>
                        <a:pt x="94" y="49"/>
                      </a:lnTo>
                      <a:lnTo>
                        <a:pt x="0" y="111"/>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68" name="Freeform 55"/>
                <p:cNvSpPr/>
                <p:nvPr/>
              </p:nvSpPr>
              <p:spPr bwMode="auto">
                <a:xfrm>
                  <a:off x="2109" y="2380"/>
                  <a:ext cx="44" cy="59"/>
                </a:xfrm>
                <a:custGeom>
                  <a:avLst/>
                  <a:gdLst>
                    <a:gd name="T0" fmla="*/ 43 w 44"/>
                    <a:gd name="T1" fmla="*/ 58 h 59"/>
                    <a:gd name="T2" fmla="*/ 43 w 44"/>
                    <a:gd name="T3" fmla="*/ 58 h 59"/>
                    <a:gd name="T4" fmla="*/ 0 w 44"/>
                    <a:gd name="T5" fmla="*/ 51 h 59"/>
                    <a:gd name="T6" fmla="*/ 0 w 44"/>
                    <a:gd name="T7" fmla="*/ 0 h 59"/>
                    <a:gd name="T8" fmla="*/ 43 w 44"/>
                    <a:gd name="T9" fmla="*/ 9 h 59"/>
                    <a:gd name="T10" fmla="*/ 43 w 44"/>
                    <a:gd name="T11" fmla="*/ 58 h 59"/>
                    <a:gd name="T12" fmla="*/ 0 60000 65536"/>
                    <a:gd name="T13" fmla="*/ 0 60000 65536"/>
                    <a:gd name="T14" fmla="*/ 0 60000 65536"/>
                    <a:gd name="T15" fmla="*/ 0 60000 65536"/>
                    <a:gd name="T16" fmla="*/ 0 60000 65536"/>
                    <a:gd name="T17" fmla="*/ 0 60000 65536"/>
                    <a:gd name="T18" fmla="*/ 0 w 44"/>
                    <a:gd name="T19" fmla="*/ 0 h 59"/>
                    <a:gd name="T20" fmla="*/ 44 w 44"/>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4" h="59">
                      <a:moveTo>
                        <a:pt x="43" y="58"/>
                      </a:moveTo>
                      <a:lnTo>
                        <a:pt x="43" y="58"/>
                      </a:lnTo>
                      <a:lnTo>
                        <a:pt x="0" y="51"/>
                      </a:lnTo>
                      <a:lnTo>
                        <a:pt x="0" y="0"/>
                      </a:lnTo>
                      <a:lnTo>
                        <a:pt x="43" y="9"/>
                      </a:lnTo>
                      <a:lnTo>
                        <a:pt x="43" y="58"/>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69" name="Freeform 56"/>
                <p:cNvSpPr/>
                <p:nvPr/>
              </p:nvSpPr>
              <p:spPr bwMode="auto">
                <a:xfrm>
                  <a:off x="2110" y="2317"/>
                  <a:ext cx="143" cy="71"/>
                </a:xfrm>
                <a:custGeom>
                  <a:avLst/>
                  <a:gdLst>
                    <a:gd name="T0" fmla="*/ 44 w 143"/>
                    <a:gd name="T1" fmla="*/ 70 h 71"/>
                    <a:gd name="T2" fmla="*/ 44 w 143"/>
                    <a:gd name="T3" fmla="*/ 70 h 71"/>
                    <a:gd name="T4" fmla="*/ 0 w 143"/>
                    <a:gd name="T5" fmla="*/ 61 h 71"/>
                    <a:gd name="T6" fmla="*/ 102 w 143"/>
                    <a:gd name="T7" fmla="*/ 0 h 71"/>
                    <a:gd name="T8" fmla="*/ 142 w 143"/>
                    <a:gd name="T9" fmla="*/ 8 h 71"/>
                    <a:gd name="T10" fmla="*/ 44 w 143"/>
                    <a:gd name="T11" fmla="*/ 70 h 71"/>
                    <a:gd name="T12" fmla="*/ 0 60000 65536"/>
                    <a:gd name="T13" fmla="*/ 0 60000 65536"/>
                    <a:gd name="T14" fmla="*/ 0 60000 65536"/>
                    <a:gd name="T15" fmla="*/ 0 60000 65536"/>
                    <a:gd name="T16" fmla="*/ 0 60000 65536"/>
                    <a:gd name="T17" fmla="*/ 0 60000 65536"/>
                    <a:gd name="T18" fmla="*/ 0 w 143"/>
                    <a:gd name="T19" fmla="*/ 0 h 71"/>
                    <a:gd name="T20" fmla="*/ 143 w 1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3" h="71">
                      <a:moveTo>
                        <a:pt x="44" y="70"/>
                      </a:moveTo>
                      <a:lnTo>
                        <a:pt x="44" y="70"/>
                      </a:lnTo>
                      <a:lnTo>
                        <a:pt x="0" y="61"/>
                      </a:lnTo>
                      <a:lnTo>
                        <a:pt x="102" y="0"/>
                      </a:lnTo>
                      <a:lnTo>
                        <a:pt x="142" y="8"/>
                      </a:lnTo>
                      <a:lnTo>
                        <a:pt x="44" y="70"/>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303" name="Freeform 57"/>
              <p:cNvSpPr/>
              <p:nvPr/>
            </p:nvSpPr>
            <p:spPr bwMode="auto">
              <a:xfrm>
                <a:off x="2101" y="2397"/>
                <a:ext cx="47" cy="81"/>
              </a:xfrm>
              <a:custGeom>
                <a:avLst/>
                <a:gdLst>
                  <a:gd name="T0" fmla="*/ 0 w 47"/>
                  <a:gd name="T1" fmla="*/ 80 h 81"/>
                  <a:gd name="T2" fmla="*/ 0 w 47"/>
                  <a:gd name="T3" fmla="*/ 80 h 81"/>
                  <a:gd name="T4" fmla="*/ 0 w 47"/>
                  <a:gd name="T5" fmla="*/ 30 h 81"/>
                  <a:gd name="T6" fmla="*/ 46 w 47"/>
                  <a:gd name="T7" fmla="*/ 0 h 81"/>
                  <a:gd name="T8" fmla="*/ 46 w 47"/>
                  <a:gd name="T9" fmla="*/ 49 h 81"/>
                  <a:gd name="T10" fmla="*/ 0 w 47"/>
                  <a:gd name="T11" fmla="*/ 80 h 81"/>
                  <a:gd name="T12" fmla="*/ 0 60000 65536"/>
                  <a:gd name="T13" fmla="*/ 0 60000 65536"/>
                  <a:gd name="T14" fmla="*/ 0 60000 65536"/>
                  <a:gd name="T15" fmla="*/ 0 60000 65536"/>
                  <a:gd name="T16" fmla="*/ 0 60000 65536"/>
                  <a:gd name="T17" fmla="*/ 0 60000 65536"/>
                  <a:gd name="T18" fmla="*/ 0 w 47"/>
                  <a:gd name="T19" fmla="*/ 0 h 81"/>
                  <a:gd name="T20" fmla="*/ 47 w 47"/>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47" h="81">
                    <a:moveTo>
                      <a:pt x="0" y="80"/>
                    </a:moveTo>
                    <a:lnTo>
                      <a:pt x="0" y="80"/>
                    </a:lnTo>
                    <a:lnTo>
                      <a:pt x="0" y="30"/>
                    </a:lnTo>
                    <a:lnTo>
                      <a:pt x="46" y="0"/>
                    </a:lnTo>
                    <a:lnTo>
                      <a:pt x="46" y="49"/>
                    </a:lnTo>
                    <a:lnTo>
                      <a:pt x="0" y="80"/>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04" name="Freeform 58"/>
              <p:cNvSpPr/>
              <p:nvPr/>
            </p:nvSpPr>
            <p:spPr bwMode="auto">
              <a:xfrm>
                <a:off x="2057" y="2387"/>
                <a:ext cx="91" cy="39"/>
              </a:xfrm>
              <a:custGeom>
                <a:avLst/>
                <a:gdLst>
                  <a:gd name="T0" fmla="*/ 43 w 91"/>
                  <a:gd name="T1" fmla="*/ 38 h 39"/>
                  <a:gd name="T2" fmla="*/ 43 w 91"/>
                  <a:gd name="T3" fmla="*/ 38 h 39"/>
                  <a:gd name="T4" fmla="*/ 0 w 91"/>
                  <a:gd name="T5" fmla="*/ 28 h 39"/>
                  <a:gd name="T6" fmla="*/ 46 w 91"/>
                  <a:gd name="T7" fmla="*/ 0 h 39"/>
                  <a:gd name="T8" fmla="*/ 90 w 91"/>
                  <a:gd name="T9" fmla="*/ 9 h 39"/>
                  <a:gd name="T10" fmla="*/ 43 w 91"/>
                  <a:gd name="T11" fmla="*/ 38 h 39"/>
                  <a:gd name="T12" fmla="*/ 0 60000 65536"/>
                  <a:gd name="T13" fmla="*/ 0 60000 65536"/>
                  <a:gd name="T14" fmla="*/ 0 60000 65536"/>
                  <a:gd name="T15" fmla="*/ 0 60000 65536"/>
                  <a:gd name="T16" fmla="*/ 0 60000 65536"/>
                  <a:gd name="T17" fmla="*/ 0 60000 65536"/>
                  <a:gd name="T18" fmla="*/ 0 w 91"/>
                  <a:gd name="T19" fmla="*/ 0 h 39"/>
                  <a:gd name="T20" fmla="*/ 91 w 91"/>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1" h="39">
                    <a:moveTo>
                      <a:pt x="43" y="38"/>
                    </a:moveTo>
                    <a:lnTo>
                      <a:pt x="43" y="38"/>
                    </a:lnTo>
                    <a:lnTo>
                      <a:pt x="0" y="28"/>
                    </a:lnTo>
                    <a:lnTo>
                      <a:pt x="46" y="0"/>
                    </a:lnTo>
                    <a:lnTo>
                      <a:pt x="90" y="9"/>
                    </a:lnTo>
                    <a:lnTo>
                      <a:pt x="43" y="38"/>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05" name="Freeform 59"/>
              <p:cNvSpPr/>
              <p:nvPr/>
            </p:nvSpPr>
            <p:spPr bwMode="auto">
              <a:xfrm>
                <a:off x="2440" y="2198"/>
                <a:ext cx="17" cy="52"/>
              </a:xfrm>
              <a:custGeom>
                <a:avLst/>
                <a:gdLst>
                  <a:gd name="T0" fmla="*/ 0 w 17"/>
                  <a:gd name="T1" fmla="*/ 51 h 52"/>
                  <a:gd name="T2" fmla="*/ 0 w 17"/>
                  <a:gd name="T3" fmla="*/ 51 h 52"/>
                  <a:gd name="T4" fmla="*/ 0 w 17"/>
                  <a:gd name="T5" fmla="*/ 23 h 52"/>
                  <a:gd name="T6" fmla="*/ 0 w 17"/>
                  <a:gd name="T7" fmla="*/ 9 h 52"/>
                  <a:gd name="T8" fmla="*/ 4 w 17"/>
                  <a:gd name="T9" fmla="*/ 2 h 52"/>
                  <a:gd name="T10" fmla="*/ 4 w 17"/>
                  <a:gd name="T11" fmla="*/ 0 h 52"/>
                  <a:gd name="T12" fmla="*/ 11 w 17"/>
                  <a:gd name="T13" fmla="*/ 0 h 52"/>
                  <a:gd name="T14" fmla="*/ 16 w 17"/>
                  <a:gd name="T15" fmla="*/ 0 h 52"/>
                  <a:gd name="T16" fmla="*/ 11 w 17"/>
                  <a:gd name="T17" fmla="*/ 20 h 52"/>
                  <a:gd name="T18" fmla="*/ 11 w 17"/>
                  <a:gd name="T19" fmla="*/ 44 h 52"/>
                  <a:gd name="T20" fmla="*/ 4 w 17"/>
                  <a:gd name="T21" fmla="*/ 44 h 52"/>
                  <a:gd name="T22" fmla="*/ 0 w 17"/>
                  <a:gd name="T23" fmla="*/ 48 h 52"/>
                  <a:gd name="T24" fmla="*/ 0 w 17"/>
                  <a:gd name="T25" fmla="*/ 51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52"/>
                  <a:gd name="T41" fmla="*/ 17 w 17"/>
                  <a:gd name="T42" fmla="*/ 52 h 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52">
                    <a:moveTo>
                      <a:pt x="0" y="51"/>
                    </a:moveTo>
                    <a:lnTo>
                      <a:pt x="0" y="51"/>
                    </a:lnTo>
                    <a:lnTo>
                      <a:pt x="0" y="23"/>
                    </a:lnTo>
                    <a:lnTo>
                      <a:pt x="0" y="9"/>
                    </a:lnTo>
                    <a:lnTo>
                      <a:pt x="4" y="2"/>
                    </a:lnTo>
                    <a:lnTo>
                      <a:pt x="4" y="0"/>
                    </a:lnTo>
                    <a:lnTo>
                      <a:pt x="11" y="0"/>
                    </a:lnTo>
                    <a:lnTo>
                      <a:pt x="16" y="0"/>
                    </a:lnTo>
                    <a:lnTo>
                      <a:pt x="11" y="20"/>
                    </a:lnTo>
                    <a:lnTo>
                      <a:pt x="11" y="44"/>
                    </a:lnTo>
                    <a:lnTo>
                      <a:pt x="4" y="44"/>
                    </a:lnTo>
                    <a:lnTo>
                      <a:pt x="0" y="48"/>
                    </a:lnTo>
                    <a:lnTo>
                      <a:pt x="0" y="51"/>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06" name="Freeform 60"/>
              <p:cNvSpPr/>
              <p:nvPr/>
            </p:nvSpPr>
            <p:spPr bwMode="auto">
              <a:xfrm>
                <a:off x="2098" y="2142"/>
                <a:ext cx="428" cy="284"/>
              </a:xfrm>
              <a:custGeom>
                <a:avLst/>
                <a:gdLst>
                  <a:gd name="T0" fmla="*/ 427 w 428"/>
                  <a:gd name="T1" fmla="*/ 0 h 284"/>
                  <a:gd name="T2" fmla="*/ 427 w 428"/>
                  <a:gd name="T3" fmla="*/ 0 h 284"/>
                  <a:gd name="T4" fmla="*/ 0 w 428"/>
                  <a:gd name="T5" fmla="*/ 276 h 284"/>
                  <a:gd name="T6" fmla="*/ 3 w 428"/>
                  <a:gd name="T7" fmla="*/ 283 h 284"/>
                  <a:gd name="T8" fmla="*/ 423 w 428"/>
                  <a:gd name="T9" fmla="*/ 6 h 284"/>
                  <a:gd name="T10" fmla="*/ 427 w 428"/>
                  <a:gd name="T11" fmla="*/ 0 h 284"/>
                  <a:gd name="T12" fmla="*/ 0 60000 65536"/>
                  <a:gd name="T13" fmla="*/ 0 60000 65536"/>
                  <a:gd name="T14" fmla="*/ 0 60000 65536"/>
                  <a:gd name="T15" fmla="*/ 0 60000 65536"/>
                  <a:gd name="T16" fmla="*/ 0 60000 65536"/>
                  <a:gd name="T17" fmla="*/ 0 60000 65536"/>
                  <a:gd name="T18" fmla="*/ 0 w 428"/>
                  <a:gd name="T19" fmla="*/ 0 h 284"/>
                  <a:gd name="T20" fmla="*/ 428 w 428"/>
                  <a:gd name="T21" fmla="*/ 284 h 284"/>
                </a:gdLst>
                <a:ahLst/>
                <a:cxnLst>
                  <a:cxn ang="T12">
                    <a:pos x="T0" y="T1"/>
                  </a:cxn>
                  <a:cxn ang="T13">
                    <a:pos x="T2" y="T3"/>
                  </a:cxn>
                  <a:cxn ang="T14">
                    <a:pos x="T4" y="T5"/>
                  </a:cxn>
                  <a:cxn ang="T15">
                    <a:pos x="T6" y="T7"/>
                  </a:cxn>
                  <a:cxn ang="T16">
                    <a:pos x="T8" y="T9"/>
                  </a:cxn>
                  <a:cxn ang="T17">
                    <a:pos x="T10" y="T11"/>
                  </a:cxn>
                </a:cxnLst>
                <a:rect l="T18" t="T19" r="T20" b="T21"/>
                <a:pathLst>
                  <a:path w="428" h="284">
                    <a:moveTo>
                      <a:pt x="427" y="0"/>
                    </a:moveTo>
                    <a:lnTo>
                      <a:pt x="427" y="0"/>
                    </a:lnTo>
                    <a:lnTo>
                      <a:pt x="0" y="276"/>
                    </a:lnTo>
                    <a:lnTo>
                      <a:pt x="3" y="283"/>
                    </a:lnTo>
                    <a:lnTo>
                      <a:pt x="423" y="6"/>
                    </a:lnTo>
                    <a:lnTo>
                      <a:pt x="427" y="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07" name="Freeform 61"/>
              <p:cNvSpPr/>
              <p:nvPr/>
            </p:nvSpPr>
            <p:spPr bwMode="auto">
              <a:xfrm>
                <a:off x="2350" y="2259"/>
                <a:ext cx="17" cy="52"/>
              </a:xfrm>
              <a:custGeom>
                <a:avLst/>
                <a:gdLst>
                  <a:gd name="T0" fmla="*/ 0 w 17"/>
                  <a:gd name="T1" fmla="*/ 51 h 52"/>
                  <a:gd name="T2" fmla="*/ 0 w 17"/>
                  <a:gd name="T3" fmla="*/ 51 h 52"/>
                  <a:gd name="T4" fmla="*/ 0 w 17"/>
                  <a:gd name="T5" fmla="*/ 24 h 52"/>
                  <a:gd name="T6" fmla="*/ 0 w 17"/>
                  <a:gd name="T7" fmla="*/ 15 h 52"/>
                  <a:gd name="T8" fmla="*/ 0 w 17"/>
                  <a:gd name="T9" fmla="*/ 8 h 52"/>
                  <a:gd name="T10" fmla="*/ 4 w 17"/>
                  <a:gd name="T11" fmla="*/ 2 h 52"/>
                  <a:gd name="T12" fmla="*/ 4 w 17"/>
                  <a:gd name="T13" fmla="*/ 0 h 52"/>
                  <a:gd name="T14" fmla="*/ 11 w 17"/>
                  <a:gd name="T15" fmla="*/ 0 h 52"/>
                  <a:gd name="T16" fmla="*/ 16 w 17"/>
                  <a:gd name="T17" fmla="*/ 0 h 52"/>
                  <a:gd name="T18" fmla="*/ 11 w 17"/>
                  <a:gd name="T19" fmla="*/ 20 h 52"/>
                  <a:gd name="T20" fmla="*/ 11 w 17"/>
                  <a:gd name="T21" fmla="*/ 39 h 52"/>
                  <a:gd name="T22" fmla="*/ 11 w 17"/>
                  <a:gd name="T23" fmla="*/ 44 h 52"/>
                  <a:gd name="T24" fmla="*/ 4 w 17"/>
                  <a:gd name="T25" fmla="*/ 44 h 52"/>
                  <a:gd name="T26" fmla="*/ 4 w 17"/>
                  <a:gd name="T27" fmla="*/ 48 h 52"/>
                  <a:gd name="T28" fmla="*/ 0 w 17"/>
                  <a:gd name="T29" fmla="*/ 48 h 52"/>
                  <a:gd name="T30" fmla="*/ 0 w 17"/>
                  <a:gd name="T31" fmla="*/ 51 h 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2"/>
                  <a:gd name="T50" fmla="*/ 17 w 17"/>
                  <a:gd name="T51" fmla="*/ 52 h 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2">
                    <a:moveTo>
                      <a:pt x="0" y="51"/>
                    </a:moveTo>
                    <a:lnTo>
                      <a:pt x="0" y="51"/>
                    </a:lnTo>
                    <a:lnTo>
                      <a:pt x="0" y="24"/>
                    </a:lnTo>
                    <a:lnTo>
                      <a:pt x="0" y="15"/>
                    </a:lnTo>
                    <a:lnTo>
                      <a:pt x="0" y="8"/>
                    </a:lnTo>
                    <a:lnTo>
                      <a:pt x="4" y="2"/>
                    </a:lnTo>
                    <a:lnTo>
                      <a:pt x="4" y="0"/>
                    </a:lnTo>
                    <a:lnTo>
                      <a:pt x="11" y="0"/>
                    </a:lnTo>
                    <a:lnTo>
                      <a:pt x="16" y="0"/>
                    </a:lnTo>
                    <a:lnTo>
                      <a:pt x="11" y="20"/>
                    </a:lnTo>
                    <a:lnTo>
                      <a:pt x="11" y="39"/>
                    </a:lnTo>
                    <a:lnTo>
                      <a:pt x="11" y="44"/>
                    </a:lnTo>
                    <a:lnTo>
                      <a:pt x="4" y="44"/>
                    </a:lnTo>
                    <a:lnTo>
                      <a:pt x="4" y="48"/>
                    </a:lnTo>
                    <a:lnTo>
                      <a:pt x="0" y="48"/>
                    </a:lnTo>
                    <a:lnTo>
                      <a:pt x="0" y="51"/>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08" name="Freeform 62"/>
              <p:cNvSpPr/>
              <p:nvPr/>
            </p:nvSpPr>
            <p:spPr bwMode="auto">
              <a:xfrm>
                <a:off x="2251" y="2320"/>
                <a:ext cx="17" cy="55"/>
              </a:xfrm>
              <a:custGeom>
                <a:avLst/>
                <a:gdLst>
                  <a:gd name="T0" fmla="*/ 0 w 17"/>
                  <a:gd name="T1" fmla="*/ 54 h 55"/>
                  <a:gd name="T2" fmla="*/ 0 w 17"/>
                  <a:gd name="T3" fmla="*/ 54 h 55"/>
                  <a:gd name="T4" fmla="*/ 0 w 17"/>
                  <a:gd name="T5" fmla="*/ 47 h 55"/>
                  <a:gd name="T6" fmla="*/ 0 w 17"/>
                  <a:gd name="T7" fmla="*/ 38 h 55"/>
                  <a:gd name="T8" fmla="*/ 0 w 17"/>
                  <a:gd name="T9" fmla="*/ 29 h 55"/>
                  <a:gd name="T10" fmla="*/ 0 w 17"/>
                  <a:gd name="T11" fmla="*/ 18 h 55"/>
                  <a:gd name="T12" fmla="*/ 0 w 17"/>
                  <a:gd name="T13" fmla="*/ 11 h 55"/>
                  <a:gd name="T14" fmla="*/ 0 w 17"/>
                  <a:gd name="T15" fmla="*/ 6 h 55"/>
                  <a:gd name="T16" fmla="*/ 5 w 17"/>
                  <a:gd name="T17" fmla="*/ 2 h 55"/>
                  <a:gd name="T18" fmla="*/ 10 w 17"/>
                  <a:gd name="T19" fmla="*/ 0 h 55"/>
                  <a:gd name="T20" fmla="*/ 16 w 17"/>
                  <a:gd name="T21" fmla="*/ 0 h 55"/>
                  <a:gd name="T22" fmla="*/ 16 w 17"/>
                  <a:gd name="T23" fmla="*/ 24 h 55"/>
                  <a:gd name="T24" fmla="*/ 10 w 17"/>
                  <a:gd name="T25" fmla="*/ 42 h 55"/>
                  <a:gd name="T26" fmla="*/ 10 w 17"/>
                  <a:gd name="T27" fmla="*/ 47 h 55"/>
                  <a:gd name="T28" fmla="*/ 10 w 17"/>
                  <a:gd name="T29" fmla="*/ 51 h 55"/>
                  <a:gd name="T30" fmla="*/ 5 w 17"/>
                  <a:gd name="T31" fmla="*/ 51 h 55"/>
                  <a:gd name="T32" fmla="*/ 5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38"/>
                    </a:lnTo>
                    <a:lnTo>
                      <a:pt x="0" y="29"/>
                    </a:lnTo>
                    <a:lnTo>
                      <a:pt x="0" y="18"/>
                    </a:lnTo>
                    <a:lnTo>
                      <a:pt x="0" y="11"/>
                    </a:lnTo>
                    <a:lnTo>
                      <a:pt x="0" y="6"/>
                    </a:lnTo>
                    <a:lnTo>
                      <a:pt x="5" y="2"/>
                    </a:lnTo>
                    <a:lnTo>
                      <a:pt x="10" y="0"/>
                    </a:lnTo>
                    <a:lnTo>
                      <a:pt x="16" y="0"/>
                    </a:lnTo>
                    <a:lnTo>
                      <a:pt x="16" y="24"/>
                    </a:lnTo>
                    <a:lnTo>
                      <a:pt x="10" y="42"/>
                    </a:lnTo>
                    <a:lnTo>
                      <a:pt x="10" y="47"/>
                    </a:lnTo>
                    <a:lnTo>
                      <a:pt x="10" y="51"/>
                    </a:lnTo>
                    <a:lnTo>
                      <a:pt x="5" y="51"/>
                    </a:lnTo>
                    <a:lnTo>
                      <a:pt x="5" y="54"/>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09" name="Freeform 63"/>
              <p:cNvSpPr/>
              <p:nvPr/>
            </p:nvSpPr>
            <p:spPr bwMode="auto">
              <a:xfrm>
                <a:off x="2147" y="2390"/>
                <a:ext cx="17" cy="59"/>
              </a:xfrm>
              <a:custGeom>
                <a:avLst/>
                <a:gdLst>
                  <a:gd name="T0" fmla="*/ 6 w 17"/>
                  <a:gd name="T1" fmla="*/ 58 h 59"/>
                  <a:gd name="T2" fmla="*/ 6 w 17"/>
                  <a:gd name="T3" fmla="*/ 58 h 59"/>
                  <a:gd name="T4" fmla="*/ 0 w 17"/>
                  <a:gd name="T5" fmla="*/ 48 h 59"/>
                  <a:gd name="T6" fmla="*/ 0 w 17"/>
                  <a:gd name="T7" fmla="*/ 30 h 59"/>
                  <a:gd name="T8" fmla="*/ 0 w 17"/>
                  <a:gd name="T9" fmla="*/ 21 h 59"/>
                  <a:gd name="T10" fmla="*/ 6 w 17"/>
                  <a:gd name="T11" fmla="*/ 11 h 59"/>
                  <a:gd name="T12" fmla="*/ 6 w 17"/>
                  <a:gd name="T13" fmla="*/ 6 h 59"/>
                  <a:gd name="T14" fmla="*/ 6 w 17"/>
                  <a:gd name="T15" fmla="*/ 2 h 59"/>
                  <a:gd name="T16" fmla="*/ 10 w 17"/>
                  <a:gd name="T17" fmla="*/ 2 h 59"/>
                  <a:gd name="T18" fmla="*/ 10 w 17"/>
                  <a:gd name="T19" fmla="*/ 0 h 59"/>
                  <a:gd name="T20" fmla="*/ 16 w 17"/>
                  <a:gd name="T21" fmla="*/ 0 h 59"/>
                  <a:gd name="T22" fmla="*/ 16 w 17"/>
                  <a:gd name="T23" fmla="*/ 24 h 59"/>
                  <a:gd name="T24" fmla="*/ 16 w 17"/>
                  <a:gd name="T25" fmla="*/ 42 h 59"/>
                  <a:gd name="T26" fmla="*/ 16 w 17"/>
                  <a:gd name="T27" fmla="*/ 51 h 59"/>
                  <a:gd name="T28" fmla="*/ 10 w 17"/>
                  <a:gd name="T29" fmla="*/ 51 h 59"/>
                  <a:gd name="T30" fmla="*/ 6 w 17"/>
                  <a:gd name="T31" fmla="*/ 51 h 59"/>
                  <a:gd name="T32" fmla="*/ 6 w 17"/>
                  <a:gd name="T33" fmla="*/ 55 h 59"/>
                  <a:gd name="T34" fmla="*/ 6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6" y="58"/>
                    </a:moveTo>
                    <a:lnTo>
                      <a:pt x="6" y="58"/>
                    </a:lnTo>
                    <a:lnTo>
                      <a:pt x="0" y="48"/>
                    </a:lnTo>
                    <a:lnTo>
                      <a:pt x="0" y="30"/>
                    </a:lnTo>
                    <a:lnTo>
                      <a:pt x="0" y="21"/>
                    </a:lnTo>
                    <a:lnTo>
                      <a:pt x="6" y="11"/>
                    </a:lnTo>
                    <a:lnTo>
                      <a:pt x="6" y="6"/>
                    </a:lnTo>
                    <a:lnTo>
                      <a:pt x="6" y="2"/>
                    </a:lnTo>
                    <a:lnTo>
                      <a:pt x="10" y="2"/>
                    </a:lnTo>
                    <a:lnTo>
                      <a:pt x="10" y="0"/>
                    </a:lnTo>
                    <a:lnTo>
                      <a:pt x="16" y="0"/>
                    </a:lnTo>
                    <a:lnTo>
                      <a:pt x="16" y="24"/>
                    </a:lnTo>
                    <a:lnTo>
                      <a:pt x="16" y="42"/>
                    </a:lnTo>
                    <a:lnTo>
                      <a:pt x="16" y="51"/>
                    </a:lnTo>
                    <a:lnTo>
                      <a:pt x="10" y="51"/>
                    </a:lnTo>
                    <a:lnTo>
                      <a:pt x="6" y="51"/>
                    </a:lnTo>
                    <a:lnTo>
                      <a:pt x="6" y="55"/>
                    </a:lnTo>
                    <a:lnTo>
                      <a:pt x="6" y="58"/>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10" name="Freeform 64"/>
              <p:cNvSpPr/>
              <p:nvPr/>
            </p:nvSpPr>
            <p:spPr bwMode="auto">
              <a:xfrm>
                <a:off x="2057" y="2419"/>
                <a:ext cx="43" cy="59"/>
              </a:xfrm>
              <a:custGeom>
                <a:avLst/>
                <a:gdLst>
                  <a:gd name="T0" fmla="*/ 42 w 43"/>
                  <a:gd name="T1" fmla="*/ 58 h 59"/>
                  <a:gd name="T2" fmla="*/ 42 w 43"/>
                  <a:gd name="T3" fmla="*/ 58 h 59"/>
                  <a:gd name="T4" fmla="*/ 0 w 43"/>
                  <a:gd name="T5" fmla="*/ 51 h 59"/>
                  <a:gd name="T6" fmla="*/ 0 w 43"/>
                  <a:gd name="T7" fmla="*/ 0 h 59"/>
                  <a:gd name="T8" fmla="*/ 42 w 43"/>
                  <a:gd name="T9" fmla="*/ 8 h 59"/>
                  <a:gd name="T10" fmla="*/ 42 w 43"/>
                  <a:gd name="T11" fmla="*/ 58 h 59"/>
                  <a:gd name="T12" fmla="*/ 0 60000 65536"/>
                  <a:gd name="T13" fmla="*/ 0 60000 65536"/>
                  <a:gd name="T14" fmla="*/ 0 60000 65536"/>
                  <a:gd name="T15" fmla="*/ 0 60000 65536"/>
                  <a:gd name="T16" fmla="*/ 0 60000 65536"/>
                  <a:gd name="T17" fmla="*/ 0 60000 65536"/>
                  <a:gd name="T18" fmla="*/ 0 w 43"/>
                  <a:gd name="T19" fmla="*/ 0 h 59"/>
                  <a:gd name="T20" fmla="*/ 43 w 43"/>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43" h="59">
                    <a:moveTo>
                      <a:pt x="42" y="58"/>
                    </a:moveTo>
                    <a:lnTo>
                      <a:pt x="42" y="58"/>
                    </a:lnTo>
                    <a:lnTo>
                      <a:pt x="0" y="51"/>
                    </a:lnTo>
                    <a:lnTo>
                      <a:pt x="0" y="0"/>
                    </a:lnTo>
                    <a:lnTo>
                      <a:pt x="42" y="8"/>
                    </a:lnTo>
                    <a:lnTo>
                      <a:pt x="42" y="58"/>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11" name="Freeform 65"/>
              <p:cNvSpPr/>
              <p:nvPr/>
            </p:nvSpPr>
            <p:spPr bwMode="auto">
              <a:xfrm>
                <a:off x="2053" y="2474"/>
                <a:ext cx="47" cy="17"/>
              </a:xfrm>
              <a:custGeom>
                <a:avLst/>
                <a:gdLst>
                  <a:gd name="T0" fmla="*/ 43 w 47"/>
                  <a:gd name="T1" fmla="*/ 16 h 17"/>
                  <a:gd name="T2" fmla="*/ 43 w 47"/>
                  <a:gd name="T3" fmla="*/ 16 h 17"/>
                  <a:gd name="T4" fmla="*/ 46 w 47"/>
                  <a:gd name="T5" fmla="*/ 16 h 17"/>
                  <a:gd name="T6" fmla="*/ 46 w 47"/>
                  <a:gd name="T7" fmla="*/ 12 h 17"/>
                  <a:gd name="T8" fmla="*/ 46 w 47"/>
                  <a:gd name="T9" fmla="*/ 9 h 17"/>
                  <a:gd name="T10" fmla="*/ 46 w 47"/>
                  <a:gd name="T11" fmla="*/ 6 h 17"/>
                  <a:gd name="T12" fmla="*/ 24 w 47"/>
                  <a:gd name="T13" fmla="*/ 3 h 17"/>
                  <a:gd name="T14" fmla="*/ 8 w 47"/>
                  <a:gd name="T15" fmla="*/ 0 h 17"/>
                  <a:gd name="T16" fmla="*/ 2 w 47"/>
                  <a:gd name="T17" fmla="*/ 0 h 17"/>
                  <a:gd name="T18" fmla="*/ 0 w 47"/>
                  <a:gd name="T19" fmla="*/ 0 h 17"/>
                  <a:gd name="T20" fmla="*/ 0 w 47"/>
                  <a:gd name="T21" fmla="*/ 3 h 17"/>
                  <a:gd name="T22" fmla="*/ 0 w 47"/>
                  <a:gd name="T23" fmla="*/ 6 h 17"/>
                  <a:gd name="T24" fmla="*/ 2 w 47"/>
                  <a:gd name="T25" fmla="*/ 6 h 17"/>
                  <a:gd name="T26" fmla="*/ 8 w 47"/>
                  <a:gd name="T27" fmla="*/ 9 h 17"/>
                  <a:gd name="T28" fmla="*/ 21 w 47"/>
                  <a:gd name="T29" fmla="*/ 9 h 17"/>
                  <a:gd name="T30" fmla="*/ 29 w 47"/>
                  <a:gd name="T31" fmla="*/ 9 h 17"/>
                  <a:gd name="T32" fmla="*/ 32 w 47"/>
                  <a:gd name="T33" fmla="*/ 12 h 17"/>
                  <a:gd name="T34" fmla="*/ 35 w 47"/>
                  <a:gd name="T35" fmla="*/ 12 h 17"/>
                  <a:gd name="T36" fmla="*/ 37 w 47"/>
                  <a:gd name="T37" fmla="*/ 12 h 17"/>
                  <a:gd name="T38" fmla="*/ 40 w 47"/>
                  <a:gd name="T39" fmla="*/ 12 h 17"/>
                  <a:gd name="T40" fmla="*/ 43 w 47"/>
                  <a:gd name="T41" fmla="*/ 12 h 17"/>
                  <a:gd name="T42" fmla="*/ 43 w 47"/>
                  <a:gd name="T43" fmla="*/ 16 h 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17"/>
                  <a:gd name="T68" fmla="*/ 47 w 47"/>
                  <a:gd name="T69" fmla="*/ 17 h 1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17">
                    <a:moveTo>
                      <a:pt x="43" y="16"/>
                    </a:moveTo>
                    <a:lnTo>
                      <a:pt x="43" y="16"/>
                    </a:lnTo>
                    <a:lnTo>
                      <a:pt x="46" y="16"/>
                    </a:lnTo>
                    <a:lnTo>
                      <a:pt x="46" y="12"/>
                    </a:lnTo>
                    <a:lnTo>
                      <a:pt x="46" y="9"/>
                    </a:lnTo>
                    <a:lnTo>
                      <a:pt x="46" y="6"/>
                    </a:lnTo>
                    <a:lnTo>
                      <a:pt x="24" y="3"/>
                    </a:lnTo>
                    <a:lnTo>
                      <a:pt x="8" y="0"/>
                    </a:lnTo>
                    <a:lnTo>
                      <a:pt x="2" y="0"/>
                    </a:lnTo>
                    <a:lnTo>
                      <a:pt x="0" y="0"/>
                    </a:lnTo>
                    <a:lnTo>
                      <a:pt x="0" y="3"/>
                    </a:lnTo>
                    <a:lnTo>
                      <a:pt x="0" y="6"/>
                    </a:lnTo>
                    <a:lnTo>
                      <a:pt x="2" y="6"/>
                    </a:lnTo>
                    <a:lnTo>
                      <a:pt x="8" y="9"/>
                    </a:lnTo>
                    <a:lnTo>
                      <a:pt x="21" y="9"/>
                    </a:lnTo>
                    <a:lnTo>
                      <a:pt x="29" y="9"/>
                    </a:lnTo>
                    <a:lnTo>
                      <a:pt x="32" y="12"/>
                    </a:lnTo>
                    <a:lnTo>
                      <a:pt x="35" y="12"/>
                    </a:lnTo>
                    <a:lnTo>
                      <a:pt x="37" y="12"/>
                    </a:lnTo>
                    <a:lnTo>
                      <a:pt x="40" y="12"/>
                    </a:lnTo>
                    <a:lnTo>
                      <a:pt x="43" y="12"/>
                    </a:lnTo>
                    <a:lnTo>
                      <a:pt x="43" y="16"/>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12" name="Freeform 66"/>
              <p:cNvSpPr/>
              <p:nvPr/>
            </p:nvSpPr>
            <p:spPr bwMode="auto">
              <a:xfrm>
                <a:off x="2053" y="2413"/>
                <a:ext cx="47" cy="17"/>
              </a:xfrm>
              <a:custGeom>
                <a:avLst/>
                <a:gdLst>
                  <a:gd name="T0" fmla="*/ 46 w 47"/>
                  <a:gd name="T1" fmla="*/ 16 h 17"/>
                  <a:gd name="T2" fmla="*/ 46 w 47"/>
                  <a:gd name="T3" fmla="*/ 16 h 17"/>
                  <a:gd name="T4" fmla="*/ 46 w 47"/>
                  <a:gd name="T5" fmla="*/ 12 h 17"/>
                  <a:gd name="T6" fmla="*/ 46 w 47"/>
                  <a:gd name="T7" fmla="*/ 9 h 17"/>
                  <a:gd name="T8" fmla="*/ 24 w 47"/>
                  <a:gd name="T9" fmla="*/ 3 h 17"/>
                  <a:gd name="T10" fmla="*/ 2 w 47"/>
                  <a:gd name="T11" fmla="*/ 0 h 17"/>
                  <a:gd name="T12" fmla="*/ 0 w 47"/>
                  <a:gd name="T13" fmla="*/ 0 h 17"/>
                  <a:gd name="T14" fmla="*/ 0 w 47"/>
                  <a:gd name="T15" fmla="*/ 3 h 17"/>
                  <a:gd name="T16" fmla="*/ 0 w 47"/>
                  <a:gd name="T17" fmla="*/ 6 h 17"/>
                  <a:gd name="T18" fmla="*/ 2 w 47"/>
                  <a:gd name="T19" fmla="*/ 6 h 17"/>
                  <a:gd name="T20" fmla="*/ 8 w 47"/>
                  <a:gd name="T21" fmla="*/ 9 h 17"/>
                  <a:gd name="T22" fmla="*/ 21 w 47"/>
                  <a:gd name="T23" fmla="*/ 9 h 17"/>
                  <a:gd name="T24" fmla="*/ 29 w 47"/>
                  <a:gd name="T25" fmla="*/ 12 h 17"/>
                  <a:gd name="T26" fmla="*/ 32 w 47"/>
                  <a:gd name="T27" fmla="*/ 12 h 17"/>
                  <a:gd name="T28" fmla="*/ 35 w 47"/>
                  <a:gd name="T29" fmla="*/ 12 h 17"/>
                  <a:gd name="T30" fmla="*/ 40 w 47"/>
                  <a:gd name="T31" fmla="*/ 12 h 17"/>
                  <a:gd name="T32" fmla="*/ 40 w 47"/>
                  <a:gd name="T33" fmla="*/ 16 h 17"/>
                  <a:gd name="T34" fmla="*/ 43 w 47"/>
                  <a:gd name="T35" fmla="*/ 16 h 17"/>
                  <a:gd name="T36" fmla="*/ 46 w 47"/>
                  <a:gd name="T37" fmla="*/ 16 h 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17"/>
                  <a:gd name="T59" fmla="*/ 47 w 47"/>
                  <a:gd name="T60" fmla="*/ 17 h 1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17">
                    <a:moveTo>
                      <a:pt x="46" y="16"/>
                    </a:moveTo>
                    <a:lnTo>
                      <a:pt x="46" y="16"/>
                    </a:lnTo>
                    <a:lnTo>
                      <a:pt x="46" y="12"/>
                    </a:lnTo>
                    <a:lnTo>
                      <a:pt x="46" y="9"/>
                    </a:lnTo>
                    <a:lnTo>
                      <a:pt x="24" y="3"/>
                    </a:lnTo>
                    <a:lnTo>
                      <a:pt x="2" y="0"/>
                    </a:lnTo>
                    <a:lnTo>
                      <a:pt x="0" y="0"/>
                    </a:lnTo>
                    <a:lnTo>
                      <a:pt x="0" y="3"/>
                    </a:lnTo>
                    <a:lnTo>
                      <a:pt x="0" y="6"/>
                    </a:lnTo>
                    <a:lnTo>
                      <a:pt x="2" y="6"/>
                    </a:lnTo>
                    <a:lnTo>
                      <a:pt x="8" y="9"/>
                    </a:lnTo>
                    <a:lnTo>
                      <a:pt x="21" y="9"/>
                    </a:lnTo>
                    <a:lnTo>
                      <a:pt x="29" y="12"/>
                    </a:lnTo>
                    <a:lnTo>
                      <a:pt x="32" y="12"/>
                    </a:lnTo>
                    <a:lnTo>
                      <a:pt x="35" y="12"/>
                    </a:lnTo>
                    <a:lnTo>
                      <a:pt x="40" y="12"/>
                    </a:lnTo>
                    <a:lnTo>
                      <a:pt x="40" y="16"/>
                    </a:lnTo>
                    <a:lnTo>
                      <a:pt x="43" y="16"/>
                    </a:lnTo>
                    <a:lnTo>
                      <a:pt x="46" y="16"/>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313" name="Group 67"/>
              <p:cNvGrpSpPr/>
              <p:nvPr/>
            </p:nvGrpSpPr>
            <p:grpSpPr bwMode="auto">
              <a:xfrm>
                <a:off x="2053" y="2026"/>
                <a:ext cx="478" cy="390"/>
                <a:chOff x="2053" y="2026"/>
                <a:chExt cx="478" cy="390"/>
              </a:xfrm>
            </p:grpSpPr>
            <p:sp>
              <p:nvSpPr>
                <p:cNvPr id="44417" name="Freeform 68"/>
                <p:cNvSpPr/>
                <p:nvPr/>
              </p:nvSpPr>
              <p:spPr bwMode="auto">
                <a:xfrm>
                  <a:off x="2489" y="2090"/>
                  <a:ext cx="38" cy="71"/>
                </a:xfrm>
                <a:custGeom>
                  <a:avLst/>
                  <a:gdLst>
                    <a:gd name="T0" fmla="*/ 0 w 38"/>
                    <a:gd name="T1" fmla="*/ 70 h 71"/>
                    <a:gd name="T2" fmla="*/ 0 w 38"/>
                    <a:gd name="T3" fmla="*/ 70 h 71"/>
                    <a:gd name="T4" fmla="*/ 2 w 38"/>
                    <a:gd name="T5" fmla="*/ 21 h 71"/>
                    <a:gd name="T6" fmla="*/ 37 w 38"/>
                    <a:gd name="T7" fmla="*/ 0 h 71"/>
                    <a:gd name="T8" fmla="*/ 34 w 38"/>
                    <a:gd name="T9" fmla="*/ 45 h 71"/>
                    <a:gd name="T10" fmla="*/ 0 w 38"/>
                    <a:gd name="T11" fmla="*/ 70 h 71"/>
                    <a:gd name="T12" fmla="*/ 0 60000 65536"/>
                    <a:gd name="T13" fmla="*/ 0 60000 65536"/>
                    <a:gd name="T14" fmla="*/ 0 60000 65536"/>
                    <a:gd name="T15" fmla="*/ 0 60000 65536"/>
                    <a:gd name="T16" fmla="*/ 0 60000 65536"/>
                    <a:gd name="T17" fmla="*/ 0 60000 65536"/>
                    <a:gd name="T18" fmla="*/ 0 w 38"/>
                    <a:gd name="T19" fmla="*/ 0 h 71"/>
                    <a:gd name="T20" fmla="*/ 38 w 38"/>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38" h="71">
                      <a:moveTo>
                        <a:pt x="0" y="70"/>
                      </a:moveTo>
                      <a:lnTo>
                        <a:pt x="0" y="70"/>
                      </a:lnTo>
                      <a:lnTo>
                        <a:pt x="2" y="21"/>
                      </a:lnTo>
                      <a:lnTo>
                        <a:pt x="37" y="0"/>
                      </a:lnTo>
                      <a:lnTo>
                        <a:pt x="34" y="45"/>
                      </a:lnTo>
                      <a:lnTo>
                        <a:pt x="0" y="70"/>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18" name="Freeform 69"/>
                <p:cNvSpPr/>
                <p:nvPr/>
              </p:nvSpPr>
              <p:spPr bwMode="auto">
                <a:xfrm>
                  <a:off x="2457" y="2098"/>
                  <a:ext cx="33" cy="63"/>
                </a:xfrm>
                <a:custGeom>
                  <a:avLst/>
                  <a:gdLst>
                    <a:gd name="T0" fmla="*/ 29 w 33"/>
                    <a:gd name="T1" fmla="*/ 62 h 63"/>
                    <a:gd name="T2" fmla="*/ 29 w 33"/>
                    <a:gd name="T3" fmla="*/ 62 h 63"/>
                    <a:gd name="T4" fmla="*/ 0 w 33"/>
                    <a:gd name="T5" fmla="*/ 49 h 63"/>
                    <a:gd name="T6" fmla="*/ 2 w 33"/>
                    <a:gd name="T7" fmla="*/ 0 h 63"/>
                    <a:gd name="T8" fmla="*/ 32 w 33"/>
                    <a:gd name="T9" fmla="*/ 12 h 63"/>
                    <a:gd name="T10" fmla="*/ 29 w 33"/>
                    <a:gd name="T11" fmla="*/ 62 h 63"/>
                    <a:gd name="T12" fmla="*/ 0 60000 65536"/>
                    <a:gd name="T13" fmla="*/ 0 60000 65536"/>
                    <a:gd name="T14" fmla="*/ 0 60000 65536"/>
                    <a:gd name="T15" fmla="*/ 0 60000 65536"/>
                    <a:gd name="T16" fmla="*/ 0 60000 65536"/>
                    <a:gd name="T17" fmla="*/ 0 60000 65536"/>
                    <a:gd name="T18" fmla="*/ 0 w 33"/>
                    <a:gd name="T19" fmla="*/ 0 h 63"/>
                    <a:gd name="T20" fmla="*/ 33 w 33"/>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33" h="63">
                      <a:moveTo>
                        <a:pt x="29" y="62"/>
                      </a:moveTo>
                      <a:lnTo>
                        <a:pt x="29" y="62"/>
                      </a:lnTo>
                      <a:lnTo>
                        <a:pt x="0" y="49"/>
                      </a:lnTo>
                      <a:lnTo>
                        <a:pt x="2" y="0"/>
                      </a:lnTo>
                      <a:lnTo>
                        <a:pt x="32" y="12"/>
                      </a:lnTo>
                      <a:lnTo>
                        <a:pt x="29" y="62"/>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19" name="Freeform 70"/>
                <p:cNvSpPr/>
                <p:nvPr/>
              </p:nvSpPr>
              <p:spPr bwMode="auto">
                <a:xfrm>
                  <a:off x="2460" y="2077"/>
                  <a:ext cx="67" cy="33"/>
                </a:xfrm>
                <a:custGeom>
                  <a:avLst/>
                  <a:gdLst>
                    <a:gd name="T0" fmla="*/ 30 w 67"/>
                    <a:gd name="T1" fmla="*/ 32 h 33"/>
                    <a:gd name="T2" fmla="*/ 30 w 67"/>
                    <a:gd name="T3" fmla="*/ 32 h 33"/>
                    <a:gd name="T4" fmla="*/ 0 w 67"/>
                    <a:gd name="T5" fmla="*/ 20 h 33"/>
                    <a:gd name="T6" fmla="*/ 35 w 67"/>
                    <a:gd name="T7" fmla="*/ 0 h 33"/>
                    <a:gd name="T8" fmla="*/ 66 w 67"/>
                    <a:gd name="T9" fmla="*/ 14 h 33"/>
                    <a:gd name="T10" fmla="*/ 30 w 67"/>
                    <a:gd name="T11" fmla="*/ 32 h 33"/>
                    <a:gd name="T12" fmla="*/ 0 60000 65536"/>
                    <a:gd name="T13" fmla="*/ 0 60000 65536"/>
                    <a:gd name="T14" fmla="*/ 0 60000 65536"/>
                    <a:gd name="T15" fmla="*/ 0 60000 65536"/>
                    <a:gd name="T16" fmla="*/ 0 60000 65536"/>
                    <a:gd name="T17" fmla="*/ 0 60000 65536"/>
                    <a:gd name="T18" fmla="*/ 0 w 67"/>
                    <a:gd name="T19" fmla="*/ 0 h 33"/>
                    <a:gd name="T20" fmla="*/ 67 w 67"/>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7" h="33">
                      <a:moveTo>
                        <a:pt x="30" y="32"/>
                      </a:moveTo>
                      <a:lnTo>
                        <a:pt x="30" y="32"/>
                      </a:lnTo>
                      <a:lnTo>
                        <a:pt x="0" y="20"/>
                      </a:lnTo>
                      <a:lnTo>
                        <a:pt x="35" y="0"/>
                      </a:lnTo>
                      <a:lnTo>
                        <a:pt x="66" y="14"/>
                      </a:lnTo>
                      <a:lnTo>
                        <a:pt x="30" y="32"/>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420" name="Group 71"/>
                <p:cNvGrpSpPr/>
                <p:nvPr/>
              </p:nvGrpSpPr>
              <p:grpSpPr bwMode="auto">
                <a:xfrm>
                  <a:off x="2368" y="2105"/>
                  <a:ext cx="118" cy="113"/>
                  <a:chOff x="2368" y="2105"/>
                  <a:chExt cx="118" cy="113"/>
                </a:xfrm>
              </p:grpSpPr>
              <p:sp>
                <p:nvSpPr>
                  <p:cNvPr id="44464" name="Freeform 72"/>
                  <p:cNvSpPr/>
                  <p:nvPr/>
                </p:nvSpPr>
                <p:spPr bwMode="auto">
                  <a:xfrm>
                    <a:off x="2404" y="2118"/>
                    <a:ext cx="82" cy="100"/>
                  </a:xfrm>
                  <a:custGeom>
                    <a:avLst/>
                    <a:gdLst>
                      <a:gd name="T0" fmla="*/ 0 w 82"/>
                      <a:gd name="T1" fmla="*/ 99 h 100"/>
                      <a:gd name="T2" fmla="*/ 0 w 82"/>
                      <a:gd name="T3" fmla="*/ 99 h 100"/>
                      <a:gd name="T4" fmla="*/ 2 w 82"/>
                      <a:gd name="T5" fmla="*/ 49 h 100"/>
                      <a:gd name="T6" fmla="*/ 81 w 82"/>
                      <a:gd name="T7" fmla="*/ 0 h 100"/>
                      <a:gd name="T8" fmla="*/ 78 w 82"/>
                      <a:gd name="T9" fmla="*/ 49 h 100"/>
                      <a:gd name="T10" fmla="*/ 0 w 82"/>
                      <a:gd name="T11" fmla="*/ 99 h 100"/>
                      <a:gd name="T12" fmla="*/ 0 60000 65536"/>
                      <a:gd name="T13" fmla="*/ 0 60000 65536"/>
                      <a:gd name="T14" fmla="*/ 0 60000 65536"/>
                      <a:gd name="T15" fmla="*/ 0 60000 65536"/>
                      <a:gd name="T16" fmla="*/ 0 60000 65536"/>
                      <a:gd name="T17" fmla="*/ 0 60000 65536"/>
                      <a:gd name="T18" fmla="*/ 0 w 82"/>
                      <a:gd name="T19" fmla="*/ 0 h 100"/>
                      <a:gd name="T20" fmla="*/ 82 w 82"/>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2" h="100">
                        <a:moveTo>
                          <a:pt x="0" y="99"/>
                        </a:moveTo>
                        <a:lnTo>
                          <a:pt x="0" y="99"/>
                        </a:lnTo>
                        <a:lnTo>
                          <a:pt x="2" y="49"/>
                        </a:lnTo>
                        <a:lnTo>
                          <a:pt x="81" y="0"/>
                        </a:lnTo>
                        <a:lnTo>
                          <a:pt x="78" y="49"/>
                        </a:lnTo>
                        <a:lnTo>
                          <a:pt x="0" y="99"/>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65" name="Freeform 73"/>
                  <p:cNvSpPr/>
                  <p:nvPr/>
                </p:nvSpPr>
                <p:spPr bwMode="auto">
                  <a:xfrm>
                    <a:off x="2368" y="2157"/>
                    <a:ext cx="36" cy="61"/>
                  </a:xfrm>
                  <a:custGeom>
                    <a:avLst/>
                    <a:gdLst>
                      <a:gd name="T0" fmla="*/ 32 w 36"/>
                      <a:gd name="T1" fmla="*/ 60 h 61"/>
                      <a:gd name="T2" fmla="*/ 32 w 36"/>
                      <a:gd name="T3" fmla="*/ 60 h 61"/>
                      <a:gd name="T4" fmla="*/ 0 w 36"/>
                      <a:gd name="T5" fmla="*/ 48 h 61"/>
                      <a:gd name="T6" fmla="*/ 0 w 36"/>
                      <a:gd name="T7" fmla="*/ 0 h 61"/>
                      <a:gd name="T8" fmla="*/ 35 w 36"/>
                      <a:gd name="T9" fmla="*/ 11 h 61"/>
                      <a:gd name="T10" fmla="*/ 32 w 36"/>
                      <a:gd name="T11" fmla="*/ 60 h 61"/>
                      <a:gd name="T12" fmla="*/ 0 60000 65536"/>
                      <a:gd name="T13" fmla="*/ 0 60000 65536"/>
                      <a:gd name="T14" fmla="*/ 0 60000 65536"/>
                      <a:gd name="T15" fmla="*/ 0 60000 65536"/>
                      <a:gd name="T16" fmla="*/ 0 60000 65536"/>
                      <a:gd name="T17" fmla="*/ 0 60000 65536"/>
                      <a:gd name="T18" fmla="*/ 0 w 36"/>
                      <a:gd name="T19" fmla="*/ 0 h 61"/>
                      <a:gd name="T20" fmla="*/ 36 w 3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6" h="61">
                        <a:moveTo>
                          <a:pt x="32" y="60"/>
                        </a:moveTo>
                        <a:lnTo>
                          <a:pt x="32" y="60"/>
                        </a:lnTo>
                        <a:lnTo>
                          <a:pt x="0" y="48"/>
                        </a:lnTo>
                        <a:lnTo>
                          <a:pt x="0" y="0"/>
                        </a:lnTo>
                        <a:lnTo>
                          <a:pt x="35" y="11"/>
                        </a:lnTo>
                        <a:lnTo>
                          <a:pt x="32" y="6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66" name="Freeform 74"/>
                  <p:cNvSpPr/>
                  <p:nvPr/>
                </p:nvSpPr>
                <p:spPr bwMode="auto">
                  <a:xfrm>
                    <a:off x="2369" y="2105"/>
                    <a:ext cx="117" cy="63"/>
                  </a:xfrm>
                  <a:custGeom>
                    <a:avLst/>
                    <a:gdLst>
                      <a:gd name="T0" fmla="*/ 36 w 117"/>
                      <a:gd name="T1" fmla="*/ 62 h 63"/>
                      <a:gd name="T2" fmla="*/ 36 w 117"/>
                      <a:gd name="T3" fmla="*/ 62 h 63"/>
                      <a:gd name="T4" fmla="*/ 0 w 117"/>
                      <a:gd name="T5" fmla="*/ 49 h 63"/>
                      <a:gd name="T6" fmla="*/ 83 w 117"/>
                      <a:gd name="T7" fmla="*/ 0 h 63"/>
                      <a:gd name="T8" fmla="*/ 116 w 117"/>
                      <a:gd name="T9" fmla="*/ 12 h 63"/>
                      <a:gd name="T10" fmla="*/ 36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6" y="62"/>
                        </a:moveTo>
                        <a:lnTo>
                          <a:pt x="36" y="62"/>
                        </a:lnTo>
                        <a:lnTo>
                          <a:pt x="0" y="49"/>
                        </a:lnTo>
                        <a:lnTo>
                          <a:pt x="83" y="0"/>
                        </a:lnTo>
                        <a:lnTo>
                          <a:pt x="116" y="12"/>
                        </a:lnTo>
                        <a:lnTo>
                          <a:pt x="36" y="62"/>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421" name="Group 75"/>
                <p:cNvGrpSpPr/>
                <p:nvPr/>
              </p:nvGrpSpPr>
              <p:grpSpPr bwMode="auto">
                <a:xfrm>
                  <a:off x="2272" y="2162"/>
                  <a:ext cx="126" cy="117"/>
                  <a:chOff x="2272" y="2162"/>
                  <a:chExt cx="126" cy="117"/>
                </a:xfrm>
              </p:grpSpPr>
              <p:sp>
                <p:nvSpPr>
                  <p:cNvPr id="44461" name="Freeform 76"/>
                  <p:cNvSpPr/>
                  <p:nvPr/>
                </p:nvSpPr>
                <p:spPr bwMode="auto">
                  <a:xfrm>
                    <a:off x="2310" y="2176"/>
                    <a:ext cx="88" cy="103"/>
                  </a:xfrm>
                  <a:custGeom>
                    <a:avLst/>
                    <a:gdLst>
                      <a:gd name="T0" fmla="*/ 0 w 88"/>
                      <a:gd name="T1" fmla="*/ 102 h 103"/>
                      <a:gd name="T2" fmla="*/ 0 w 88"/>
                      <a:gd name="T3" fmla="*/ 102 h 103"/>
                      <a:gd name="T4" fmla="*/ 2 w 88"/>
                      <a:gd name="T5" fmla="*/ 52 h 103"/>
                      <a:gd name="T6" fmla="*/ 87 w 88"/>
                      <a:gd name="T7" fmla="*/ 0 h 103"/>
                      <a:gd name="T8" fmla="*/ 84 w 88"/>
                      <a:gd name="T9" fmla="*/ 49 h 103"/>
                      <a:gd name="T10" fmla="*/ 0 w 88"/>
                      <a:gd name="T11" fmla="*/ 102 h 103"/>
                      <a:gd name="T12" fmla="*/ 0 60000 65536"/>
                      <a:gd name="T13" fmla="*/ 0 60000 65536"/>
                      <a:gd name="T14" fmla="*/ 0 60000 65536"/>
                      <a:gd name="T15" fmla="*/ 0 60000 65536"/>
                      <a:gd name="T16" fmla="*/ 0 60000 65536"/>
                      <a:gd name="T17" fmla="*/ 0 60000 65536"/>
                      <a:gd name="T18" fmla="*/ 0 w 88"/>
                      <a:gd name="T19" fmla="*/ 0 h 103"/>
                      <a:gd name="T20" fmla="*/ 88 w 88"/>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8" h="103">
                        <a:moveTo>
                          <a:pt x="0" y="102"/>
                        </a:moveTo>
                        <a:lnTo>
                          <a:pt x="0" y="102"/>
                        </a:lnTo>
                        <a:lnTo>
                          <a:pt x="2" y="52"/>
                        </a:lnTo>
                        <a:lnTo>
                          <a:pt x="87" y="0"/>
                        </a:lnTo>
                        <a:lnTo>
                          <a:pt x="84" y="49"/>
                        </a:lnTo>
                        <a:lnTo>
                          <a:pt x="0" y="102"/>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62" name="Freeform 77"/>
                  <p:cNvSpPr/>
                  <p:nvPr/>
                </p:nvSpPr>
                <p:spPr bwMode="auto">
                  <a:xfrm>
                    <a:off x="2272" y="2221"/>
                    <a:ext cx="39" cy="58"/>
                  </a:xfrm>
                  <a:custGeom>
                    <a:avLst/>
                    <a:gdLst>
                      <a:gd name="T0" fmla="*/ 35 w 39"/>
                      <a:gd name="T1" fmla="*/ 57 h 58"/>
                      <a:gd name="T2" fmla="*/ 35 w 39"/>
                      <a:gd name="T3" fmla="*/ 57 h 58"/>
                      <a:gd name="T4" fmla="*/ 0 w 39"/>
                      <a:gd name="T5" fmla="*/ 48 h 58"/>
                      <a:gd name="T6" fmla="*/ 0 w 39"/>
                      <a:gd name="T7" fmla="*/ 0 h 58"/>
                      <a:gd name="T8" fmla="*/ 38 w 39"/>
                      <a:gd name="T9" fmla="*/ 8 h 58"/>
                      <a:gd name="T10" fmla="*/ 35 w 39"/>
                      <a:gd name="T11" fmla="*/ 57 h 58"/>
                      <a:gd name="T12" fmla="*/ 0 60000 65536"/>
                      <a:gd name="T13" fmla="*/ 0 60000 65536"/>
                      <a:gd name="T14" fmla="*/ 0 60000 65536"/>
                      <a:gd name="T15" fmla="*/ 0 60000 65536"/>
                      <a:gd name="T16" fmla="*/ 0 60000 65536"/>
                      <a:gd name="T17" fmla="*/ 0 60000 65536"/>
                      <a:gd name="T18" fmla="*/ 0 w 39"/>
                      <a:gd name="T19" fmla="*/ 0 h 58"/>
                      <a:gd name="T20" fmla="*/ 39 w 39"/>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39" h="58">
                        <a:moveTo>
                          <a:pt x="35" y="57"/>
                        </a:moveTo>
                        <a:lnTo>
                          <a:pt x="35" y="57"/>
                        </a:lnTo>
                        <a:lnTo>
                          <a:pt x="0" y="48"/>
                        </a:lnTo>
                        <a:lnTo>
                          <a:pt x="0" y="0"/>
                        </a:lnTo>
                        <a:lnTo>
                          <a:pt x="38" y="8"/>
                        </a:lnTo>
                        <a:lnTo>
                          <a:pt x="35" y="57"/>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63" name="Freeform 78"/>
                  <p:cNvSpPr/>
                  <p:nvPr/>
                </p:nvSpPr>
                <p:spPr bwMode="auto">
                  <a:xfrm>
                    <a:off x="2272" y="2162"/>
                    <a:ext cx="126" cy="67"/>
                  </a:xfrm>
                  <a:custGeom>
                    <a:avLst/>
                    <a:gdLst>
                      <a:gd name="T0" fmla="*/ 39 w 126"/>
                      <a:gd name="T1" fmla="*/ 66 h 67"/>
                      <a:gd name="T2" fmla="*/ 39 w 126"/>
                      <a:gd name="T3" fmla="*/ 66 h 67"/>
                      <a:gd name="T4" fmla="*/ 0 w 126"/>
                      <a:gd name="T5" fmla="*/ 56 h 67"/>
                      <a:gd name="T6" fmla="*/ 91 w 126"/>
                      <a:gd name="T7" fmla="*/ 0 h 67"/>
                      <a:gd name="T8" fmla="*/ 125 w 126"/>
                      <a:gd name="T9" fmla="*/ 12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6"/>
                        </a:lnTo>
                        <a:lnTo>
                          <a:pt x="91" y="0"/>
                        </a:lnTo>
                        <a:lnTo>
                          <a:pt x="125" y="12"/>
                        </a:lnTo>
                        <a:lnTo>
                          <a:pt x="39" y="66"/>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422" name="Group 79"/>
                <p:cNvGrpSpPr/>
                <p:nvPr/>
              </p:nvGrpSpPr>
              <p:grpSpPr bwMode="auto">
                <a:xfrm>
                  <a:off x="2166" y="2228"/>
                  <a:ext cx="139" cy="118"/>
                  <a:chOff x="2166" y="2228"/>
                  <a:chExt cx="139" cy="118"/>
                </a:xfrm>
              </p:grpSpPr>
              <p:sp>
                <p:nvSpPr>
                  <p:cNvPr id="44458" name="Freeform 80"/>
                  <p:cNvSpPr/>
                  <p:nvPr/>
                </p:nvSpPr>
                <p:spPr bwMode="auto">
                  <a:xfrm>
                    <a:off x="2209" y="2237"/>
                    <a:ext cx="96" cy="109"/>
                  </a:xfrm>
                  <a:custGeom>
                    <a:avLst/>
                    <a:gdLst>
                      <a:gd name="T0" fmla="*/ 0 w 96"/>
                      <a:gd name="T1" fmla="*/ 108 h 109"/>
                      <a:gd name="T2" fmla="*/ 0 w 96"/>
                      <a:gd name="T3" fmla="*/ 108 h 109"/>
                      <a:gd name="T4" fmla="*/ 0 w 96"/>
                      <a:gd name="T5" fmla="*/ 58 h 109"/>
                      <a:gd name="T6" fmla="*/ 95 w 96"/>
                      <a:gd name="T7" fmla="*/ 0 h 109"/>
                      <a:gd name="T8" fmla="*/ 92 w 96"/>
                      <a:gd name="T9" fmla="*/ 49 h 109"/>
                      <a:gd name="T10" fmla="*/ 0 w 96"/>
                      <a:gd name="T11" fmla="*/ 108 h 109"/>
                      <a:gd name="T12" fmla="*/ 0 60000 65536"/>
                      <a:gd name="T13" fmla="*/ 0 60000 65536"/>
                      <a:gd name="T14" fmla="*/ 0 60000 65536"/>
                      <a:gd name="T15" fmla="*/ 0 60000 65536"/>
                      <a:gd name="T16" fmla="*/ 0 60000 65536"/>
                      <a:gd name="T17" fmla="*/ 0 60000 65536"/>
                      <a:gd name="T18" fmla="*/ 0 w 96"/>
                      <a:gd name="T19" fmla="*/ 0 h 109"/>
                      <a:gd name="T20" fmla="*/ 96 w 96"/>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6" h="109">
                        <a:moveTo>
                          <a:pt x="0" y="108"/>
                        </a:moveTo>
                        <a:lnTo>
                          <a:pt x="0" y="108"/>
                        </a:lnTo>
                        <a:lnTo>
                          <a:pt x="0" y="58"/>
                        </a:lnTo>
                        <a:lnTo>
                          <a:pt x="95" y="0"/>
                        </a:lnTo>
                        <a:lnTo>
                          <a:pt x="92" y="49"/>
                        </a:lnTo>
                        <a:lnTo>
                          <a:pt x="0" y="108"/>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59" name="Freeform 81"/>
                  <p:cNvSpPr/>
                  <p:nvPr/>
                </p:nvSpPr>
                <p:spPr bwMode="auto">
                  <a:xfrm>
                    <a:off x="2167" y="2285"/>
                    <a:ext cx="41" cy="61"/>
                  </a:xfrm>
                  <a:custGeom>
                    <a:avLst/>
                    <a:gdLst>
                      <a:gd name="T0" fmla="*/ 40 w 41"/>
                      <a:gd name="T1" fmla="*/ 60 h 61"/>
                      <a:gd name="T2" fmla="*/ 40 w 41"/>
                      <a:gd name="T3" fmla="*/ 60 h 61"/>
                      <a:gd name="T4" fmla="*/ 0 w 41"/>
                      <a:gd name="T5" fmla="*/ 51 h 61"/>
                      <a:gd name="T6" fmla="*/ 0 w 41"/>
                      <a:gd name="T7" fmla="*/ 0 h 61"/>
                      <a:gd name="T8" fmla="*/ 40 w 41"/>
                      <a:gd name="T9" fmla="*/ 11 h 61"/>
                      <a:gd name="T10" fmla="*/ 40 w 41"/>
                      <a:gd name="T11" fmla="*/ 60 h 61"/>
                      <a:gd name="T12" fmla="*/ 0 60000 65536"/>
                      <a:gd name="T13" fmla="*/ 0 60000 65536"/>
                      <a:gd name="T14" fmla="*/ 0 60000 65536"/>
                      <a:gd name="T15" fmla="*/ 0 60000 65536"/>
                      <a:gd name="T16" fmla="*/ 0 60000 65536"/>
                      <a:gd name="T17" fmla="*/ 0 60000 65536"/>
                      <a:gd name="T18" fmla="*/ 0 w 41"/>
                      <a:gd name="T19" fmla="*/ 0 h 61"/>
                      <a:gd name="T20" fmla="*/ 41 w 41"/>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1" h="61">
                        <a:moveTo>
                          <a:pt x="40" y="60"/>
                        </a:moveTo>
                        <a:lnTo>
                          <a:pt x="40" y="60"/>
                        </a:lnTo>
                        <a:lnTo>
                          <a:pt x="0" y="51"/>
                        </a:lnTo>
                        <a:lnTo>
                          <a:pt x="0" y="0"/>
                        </a:lnTo>
                        <a:lnTo>
                          <a:pt x="40" y="11"/>
                        </a:lnTo>
                        <a:lnTo>
                          <a:pt x="40" y="6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60" name="Freeform 82"/>
                  <p:cNvSpPr/>
                  <p:nvPr/>
                </p:nvSpPr>
                <p:spPr bwMode="auto">
                  <a:xfrm>
                    <a:off x="2166" y="2228"/>
                    <a:ext cx="138" cy="67"/>
                  </a:xfrm>
                  <a:custGeom>
                    <a:avLst/>
                    <a:gdLst>
                      <a:gd name="T0" fmla="*/ 41 w 138"/>
                      <a:gd name="T1" fmla="*/ 66 h 67"/>
                      <a:gd name="T2" fmla="*/ 41 w 138"/>
                      <a:gd name="T3" fmla="*/ 66 h 67"/>
                      <a:gd name="T4" fmla="*/ 0 w 138"/>
                      <a:gd name="T5" fmla="*/ 54 h 67"/>
                      <a:gd name="T6" fmla="*/ 97 w 138"/>
                      <a:gd name="T7" fmla="*/ 0 h 67"/>
                      <a:gd name="T8" fmla="*/ 137 w 138"/>
                      <a:gd name="T9" fmla="*/ 9 h 67"/>
                      <a:gd name="T10" fmla="*/ 41 w 138"/>
                      <a:gd name="T11" fmla="*/ 66 h 67"/>
                      <a:gd name="T12" fmla="*/ 0 60000 65536"/>
                      <a:gd name="T13" fmla="*/ 0 60000 65536"/>
                      <a:gd name="T14" fmla="*/ 0 60000 65536"/>
                      <a:gd name="T15" fmla="*/ 0 60000 65536"/>
                      <a:gd name="T16" fmla="*/ 0 60000 65536"/>
                      <a:gd name="T17" fmla="*/ 0 60000 65536"/>
                      <a:gd name="T18" fmla="*/ 0 w 138"/>
                      <a:gd name="T19" fmla="*/ 0 h 67"/>
                      <a:gd name="T20" fmla="*/ 138 w 138"/>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38" h="67">
                        <a:moveTo>
                          <a:pt x="41" y="66"/>
                        </a:moveTo>
                        <a:lnTo>
                          <a:pt x="41" y="66"/>
                        </a:lnTo>
                        <a:lnTo>
                          <a:pt x="0" y="54"/>
                        </a:lnTo>
                        <a:lnTo>
                          <a:pt x="97" y="0"/>
                        </a:lnTo>
                        <a:lnTo>
                          <a:pt x="137" y="9"/>
                        </a:lnTo>
                        <a:lnTo>
                          <a:pt x="41" y="66"/>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423" name="Group 83"/>
                <p:cNvGrpSpPr/>
                <p:nvPr/>
              </p:nvGrpSpPr>
              <p:grpSpPr bwMode="auto">
                <a:xfrm>
                  <a:off x="2053" y="2291"/>
                  <a:ext cx="150" cy="125"/>
                  <a:chOff x="2053" y="2291"/>
                  <a:chExt cx="150" cy="125"/>
                </a:xfrm>
              </p:grpSpPr>
              <p:sp>
                <p:nvSpPr>
                  <p:cNvPr id="44455" name="Freeform 84"/>
                  <p:cNvSpPr/>
                  <p:nvPr/>
                </p:nvSpPr>
                <p:spPr bwMode="auto">
                  <a:xfrm>
                    <a:off x="2098" y="2301"/>
                    <a:ext cx="104" cy="115"/>
                  </a:xfrm>
                  <a:custGeom>
                    <a:avLst/>
                    <a:gdLst>
                      <a:gd name="T0" fmla="*/ 0 w 104"/>
                      <a:gd name="T1" fmla="*/ 114 h 115"/>
                      <a:gd name="T2" fmla="*/ 0 w 104"/>
                      <a:gd name="T3" fmla="*/ 114 h 115"/>
                      <a:gd name="T4" fmla="*/ 0 w 104"/>
                      <a:gd name="T5" fmla="*/ 61 h 115"/>
                      <a:gd name="T6" fmla="*/ 103 w 104"/>
                      <a:gd name="T7" fmla="*/ 0 h 115"/>
                      <a:gd name="T8" fmla="*/ 103 w 104"/>
                      <a:gd name="T9" fmla="*/ 52 h 115"/>
                      <a:gd name="T10" fmla="*/ 0 w 104"/>
                      <a:gd name="T11" fmla="*/ 114 h 115"/>
                      <a:gd name="T12" fmla="*/ 0 60000 65536"/>
                      <a:gd name="T13" fmla="*/ 0 60000 65536"/>
                      <a:gd name="T14" fmla="*/ 0 60000 65536"/>
                      <a:gd name="T15" fmla="*/ 0 60000 65536"/>
                      <a:gd name="T16" fmla="*/ 0 60000 65536"/>
                      <a:gd name="T17" fmla="*/ 0 60000 65536"/>
                      <a:gd name="T18" fmla="*/ 0 w 104"/>
                      <a:gd name="T19" fmla="*/ 0 h 115"/>
                      <a:gd name="T20" fmla="*/ 104 w 104"/>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04" h="115">
                        <a:moveTo>
                          <a:pt x="0" y="114"/>
                        </a:moveTo>
                        <a:lnTo>
                          <a:pt x="0" y="114"/>
                        </a:lnTo>
                        <a:lnTo>
                          <a:pt x="0" y="61"/>
                        </a:lnTo>
                        <a:lnTo>
                          <a:pt x="103" y="0"/>
                        </a:lnTo>
                        <a:lnTo>
                          <a:pt x="103" y="52"/>
                        </a:lnTo>
                        <a:lnTo>
                          <a:pt x="0" y="114"/>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56" name="Freeform 85"/>
                  <p:cNvSpPr/>
                  <p:nvPr/>
                </p:nvSpPr>
                <p:spPr bwMode="auto">
                  <a:xfrm>
                    <a:off x="2053" y="2355"/>
                    <a:ext cx="45" cy="61"/>
                  </a:xfrm>
                  <a:custGeom>
                    <a:avLst/>
                    <a:gdLst>
                      <a:gd name="T0" fmla="*/ 44 w 45"/>
                      <a:gd name="T1" fmla="*/ 60 h 61"/>
                      <a:gd name="T2" fmla="*/ 44 w 45"/>
                      <a:gd name="T3" fmla="*/ 60 h 61"/>
                      <a:gd name="T4" fmla="*/ 0 w 45"/>
                      <a:gd name="T5" fmla="*/ 53 h 61"/>
                      <a:gd name="T6" fmla="*/ 0 w 45"/>
                      <a:gd name="T7" fmla="*/ 0 h 61"/>
                      <a:gd name="T8" fmla="*/ 44 w 45"/>
                      <a:gd name="T9" fmla="*/ 8 h 61"/>
                      <a:gd name="T10" fmla="*/ 44 w 45"/>
                      <a:gd name="T11" fmla="*/ 60 h 61"/>
                      <a:gd name="T12" fmla="*/ 0 60000 65536"/>
                      <a:gd name="T13" fmla="*/ 0 60000 65536"/>
                      <a:gd name="T14" fmla="*/ 0 60000 65536"/>
                      <a:gd name="T15" fmla="*/ 0 60000 65536"/>
                      <a:gd name="T16" fmla="*/ 0 60000 65536"/>
                      <a:gd name="T17" fmla="*/ 0 60000 65536"/>
                      <a:gd name="T18" fmla="*/ 0 w 45"/>
                      <a:gd name="T19" fmla="*/ 0 h 61"/>
                      <a:gd name="T20" fmla="*/ 45 w 45"/>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45" h="61">
                        <a:moveTo>
                          <a:pt x="44" y="60"/>
                        </a:moveTo>
                        <a:lnTo>
                          <a:pt x="44" y="60"/>
                        </a:lnTo>
                        <a:lnTo>
                          <a:pt x="0" y="53"/>
                        </a:lnTo>
                        <a:lnTo>
                          <a:pt x="0" y="0"/>
                        </a:lnTo>
                        <a:lnTo>
                          <a:pt x="44" y="8"/>
                        </a:lnTo>
                        <a:lnTo>
                          <a:pt x="44" y="6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57" name="Freeform 86"/>
                  <p:cNvSpPr/>
                  <p:nvPr/>
                </p:nvSpPr>
                <p:spPr bwMode="auto">
                  <a:xfrm>
                    <a:off x="2053" y="2291"/>
                    <a:ext cx="150" cy="72"/>
                  </a:xfrm>
                  <a:custGeom>
                    <a:avLst/>
                    <a:gdLst>
                      <a:gd name="T0" fmla="*/ 45 w 150"/>
                      <a:gd name="T1" fmla="*/ 71 h 72"/>
                      <a:gd name="T2" fmla="*/ 45 w 150"/>
                      <a:gd name="T3" fmla="*/ 71 h 72"/>
                      <a:gd name="T4" fmla="*/ 0 w 150"/>
                      <a:gd name="T5" fmla="*/ 62 h 72"/>
                      <a:gd name="T6" fmla="*/ 107 w 150"/>
                      <a:gd name="T7" fmla="*/ 0 h 72"/>
                      <a:gd name="T8" fmla="*/ 149 w 150"/>
                      <a:gd name="T9" fmla="*/ 8 h 72"/>
                      <a:gd name="T10" fmla="*/ 45 w 150"/>
                      <a:gd name="T11" fmla="*/ 71 h 72"/>
                      <a:gd name="T12" fmla="*/ 0 60000 65536"/>
                      <a:gd name="T13" fmla="*/ 0 60000 65536"/>
                      <a:gd name="T14" fmla="*/ 0 60000 65536"/>
                      <a:gd name="T15" fmla="*/ 0 60000 65536"/>
                      <a:gd name="T16" fmla="*/ 0 60000 65536"/>
                      <a:gd name="T17" fmla="*/ 0 60000 65536"/>
                      <a:gd name="T18" fmla="*/ 0 w 150"/>
                      <a:gd name="T19" fmla="*/ 0 h 72"/>
                      <a:gd name="T20" fmla="*/ 150 w 150"/>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150" h="72">
                        <a:moveTo>
                          <a:pt x="45" y="71"/>
                        </a:moveTo>
                        <a:lnTo>
                          <a:pt x="45" y="71"/>
                        </a:lnTo>
                        <a:lnTo>
                          <a:pt x="0" y="62"/>
                        </a:lnTo>
                        <a:lnTo>
                          <a:pt x="107" y="0"/>
                        </a:lnTo>
                        <a:lnTo>
                          <a:pt x="149" y="8"/>
                        </a:lnTo>
                        <a:lnTo>
                          <a:pt x="45" y="71"/>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424" name="Freeform 87"/>
                <p:cNvSpPr/>
                <p:nvPr/>
              </p:nvSpPr>
              <p:spPr bwMode="auto">
                <a:xfrm>
                  <a:off x="2484" y="2115"/>
                  <a:ext cx="17" cy="49"/>
                </a:xfrm>
                <a:custGeom>
                  <a:avLst/>
                  <a:gdLst>
                    <a:gd name="T0" fmla="*/ 0 w 17"/>
                    <a:gd name="T1" fmla="*/ 48 h 49"/>
                    <a:gd name="T2" fmla="*/ 0 w 17"/>
                    <a:gd name="T3" fmla="*/ 48 h 49"/>
                    <a:gd name="T4" fmla="*/ 0 w 17"/>
                    <a:gd name="T5" fmla="*/ 24 h 49"/>
                    <a:gd name="T6" fmla="*/ 4 w 17"/>
                    <a:gd name="T7" fmla="*/ 6 h 49"/>
                    <a:gd name="T8" fmla="*/ 4 w 17"/>
                    <a:gd name="T9" fmla="*/ 0 h 49"/>
                    <a:gd name="T10" fmla="*/ 11 w 17"/>
                    <a:gd name="T11" fmla="*/ 0 h 49"/>
                    <a:gd name="T12" fmla="*/ 16 w 17"/>
                    <a:gd name="T13" fmla="*/ 0 h 49"/>
                    <a:gd name="T14" fmla="*/ 11 w 17"/>
                    <a:gd name="T15" fmla="*/ 20 h 49"/>
                    <a:gd name="T16" fmla="*/ 11 w 17"/>
                    <a:gd name="T17" fmla="*/ 36 h 49"/>
                    <a:gd name="T18" fmla="*/ 11 w 17"/>
                    <a:gd name="T19" fmla="*/ 45 h 49"/>
                    <a:gd name="T20" fmla="*/ 4 w 17"/>
                    <a:gd name="T21" fmla="*/ 45 h 49"/>
                    <a:gd name="T22" fmla="*/ 0 w 17"/>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49"/>
                    <a:gd name="T38" fmla="*/ 17 w 17"/>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49">
                      <a:moveTo>
                        <a:pt x="0" y="48"/>
                      </a:moveTo>
                      <a:lnTo>
                        <a:pt x="0" y="48"/>
                      </a:lnTo>
                      <a:lnTo>
                        <a:pt x="0" y="24"/>
                      </a:lnTo>
                      <a:lnTo>
                        <a:pt x="4" y="6"/>
                      </a:lnTo>
                      <a:lnTo>
                        <a:pt x="4" y="0"/>
                      </a:lnTo>
                      <a:lnTo>
                        <a:pt x="11" y="0"/>
                      </a:lnTo>
                      <a:lnTo>
                        <a:pt x="16" y="0"/>
                      </a:lnTo>
                      <a:lnTo>
                        <a:pt x="11" y="20"/>
                      </a:lnTo>
                      <a:lnTo>
                        <a:pt x="11" y="36"/>
                      </a:lnTo>
                      <a:lnTo>
                        <a:pt x="11" y="45"/>
                      </a:lnTo>
                      <a:lnTo>
                        <a:pt x="4" y="45"/>
                      </a:lnTo>
                      <a:lnTo>
                        <a:pt x="0" y="48"/>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25" name="Freeform 88"/>
                <p:cNvSpPr/>
                <p:nvPr/>
              </p:nvSpPr>
              <p:spPr bwMode="auto">
                <a:xfrm>
                  <a:off x="2098" y="2086"/>
                  <a:ext cx="428" cy="279"/>
                </a:xfrm>
                <a:custGeom>
                  <a:avLst/>
                  <a:gdLst>
                    <a:gd name="T0" fmla="*/ 427 w 428"/>
                    <a:gd name="T1" fmla="*/ 0 h 279"/>
                    <a:gd name="T2" fmla="*/ 427 w 428"/>
                    <a:gd name="T3" fmla="*/ 0 h 279"/>
                    <a:gd name="T4" fmla="*/ 0 w 428"/>
                    <a:gd name="T5" fmla="*/ 271 h 279"/>
                    <a:gd name="T6" fmla="*/ 0 w 428"/>
                    <a:gd name="T7" fmla="*/ 278 h 279"/>
                    <a:gd name="T8" fmla="*/ 427 w 428"/>
                    <a:gd name="T9" fmla="*/ 6 h 279"/>
                    <a:gd name="T10" fmla="*/ 427 w 428"/>
                    <a:gd name="T11" fmla="*/ 0 h 279"/>
                    <a:gd name="T12" fmla="*/ 0 60000 65536"/>
                    <a:gd name="T13" fmla="*/ 0 60000 65536"/>
                    <a:gd name="T14" fmla="*/ 0 60000 65536"/>
                    <a:gd name="T15" fmla="*/ 0 60000 65536"/>
                    <a:gd name="T16" fmla="*/ 0 60000 65536"/>
                    <a:gd name="T17" fmla="*/ 0 60000 65536"/>
                    <a:gd name="T18" fmla="*/ 0 w 428"/>
                    <a:gd name="T19" fmla="*/ 0 h 279"/>
                    <a:gd name="T20" fmla="*/ 428 w 428"/>
                    <a:gd name="T21" fmla="*/ 279 h 279"/>
                  </a:gdLst>
                  <a:ahLst/>
                  <a:cxnLst>
                    <a:cxn ang="T12">
                      <a:pos x="T0" y="T1"/>
                    </a:cxn>
                    <a:cxn ang="T13">
                      <a:pos x="T2" y="T3"/>
                    </a:cxn>
                    <a:cxn ang="T14">
                      <a:pos x="T4" y="T5"/>
                    </a:cxn>
                    <a:cxn ang="T15">
                      <a:pos x="T6" y="T7"/>
                    </a:cxn>
                    <a:cxn ang="T16">
                      <a:pos x="T8" y="T9"/>
                    </a:cxn>
                    <a:cxn ang="T17">
                      <a:pos x="T10" y="T11"/>
                    </a:cxn>
                  </a:cxnLst>
                  <a:rect l="T18" t="T19" r="T20" b="T21"/>
                  <a:pathLst>
                    <a:path w="428" h="279">
                      <a:moveTo>
                        <a:pt x="427" y="0"/>
                      </a:moveTo>
                      <a:lnTo>
                        <a:pt x="427" y="0"/>
                      </a:lnTo>
                      <a:lnTo>
                        <a:pt x="0" y="271"/>
                      </a:lnTo>
                      <a:lnTo>
                        <a:pt x="0" y="278"/>
                      </a:lnTo>
                      <a:lnTo>
                        <a:pt x="427" y="6"/>
                      </a:lnTo>
                      <a:lnTo>
                        <a:pt x="427" y="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26" name="Freeform 89"/>
                <p:cNvSpPr/>
                <p:nvPr/>
              </p:nvSpPr>
              <p:spPr bwMode="auto">
                <a:xfrm>
                  <a:off x="2396" y="2173"/>
                  <a:ext cx="17" cy="52"/>
                </a:xfrm>
                <a:custGeom>
                  <a:avLst/>
                  <a:gdLst>
                    <a:gd name="T0" fmla="*/ 0 w 17"/>
                    <a:gd name="T1" fmla="*/ 51 h 52"/>
                    <a:gd name="T2" fmla="*/ 0 w 17"/>
                    <a:gd name="T3" fmla="*/ 51 h 52"/>
                    <a:gd name="T4" fmla="*/ 0 w 17"/>
                    <a:gd name="T5" fmla="*/ 42 h 52"/>
                    <a:gd name="T6" fmla="*/ 0 w 17"/>
                    <a:gd name="T7" fmla="*/ 26 h 52"/>
                    <a:gd name="T8" fmla="*/ 0 w 17"/>
                    <a:gd name="T9" fmla="*/ 15 h 52"/>
                    <a:gd name="T10" fmla="*/ 4 w 17"/>
                    <a:gd name="T11" fmla="*/ 8 h 52"/>
                    <a:gd name="T12" fmla="*/ 4 w 17"/>
                    <a:gd name="T13" fmla="*/ 6 h 52"/>
                    <a:gd name="T14" fmla="*/ 4 w 17"/>
                    <a:gd name="T15" fmla="*/ 2 h 52"/>
                    <a:gd name="T16" fmla="*/ 4 w 17"/>
                    <a:gd name="T17" fmla="*/ 0 h 52"/>
                    <a:gd name="T18" fmla="*/ 11 w 17"/>
                    <a:gd name="T19" fmla="*/ 0 h 52"/>
                    <a:gd name="T20" fmla="*/ 16 w 17"/>
                    <a:gd name="T21" fmla="*/ 0 h 52"/>
                    <a:gd name="T22" fmla="*/ 16 w 17"/>
                    <a:gd name="T23" fmla="*/ 24 h 52"/>
                    <a:gd name="T24" fmla="*/ 11 w 17"/>
                    <a:gd name="T25" fmla="*/ 39 h 52"/>
                    <a:gd name="T26" fmla="*/ 11 w 17"/>
                    <a:gd name="T27" fmla="*/ 44 h 52"/>
                    <a:gd name="T28" fmla="*/ 11 w 17"/>
                    <a:gd name="T29" fmla="*/ 48 h 52"/>
                    <a:gd name="T30" fmla="*/ 4 w 17"/>
                    <a:gd name="T31" fmla="*/ 48 h 52"/>
                    <a:gd name="T32" fmla="*/ 0 w 17"/>
                    <a:gd name="T33" fmla="*/ 48 h 52"/>
                    <a:gd name="T34" fmla="*/ 0 w 17"/>
                    <a:gd name="T35" fmla="*/ 51 h 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2"/>
                    <a:gd name="T56" fmla="*/ 17 w 17"/>
                    <a:gd name="T57" fmla="*/ 52 h 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2">
                      <a:moveTo>
                        <a:pt x="0" y="51"/>
                      </a:moveTo>
                      <a:lnTo>
                        <a:pt x="0" y="51"/>
                      </a:lnTo>
                      <a:lnTo>
                        <a:pt x="0" y="42"/>
                      </a:lnTo>
                      <a:lnTo>
                        <a:pt x="0" y="26"/>
                      </a:lnTo>
                      <a:lnTo>
                        <a:pt x="0" y="15"/>
                      </a:lnTo>
                      <a:lnTo>
                        <a:pt x="4" y="8"/>
                      </a:lnTo>
                      <a:lnTo>
                        <a:pt x="4" y="6"/>
                      </a:lnTo>
                      <a:lnTo>
                        <a:pt x="4" y="2"/>
                      </a:lnTo>
                      <a:lnTo>
                        <a:pt x="4" y="0"/>
                      </a:lnTo>
                      <a:lnTo>
                        <a:pt x="11" y="0"/>
                      </a:lnTo>
                      <a:lnTo>
                        <a:pt x="16" y="0"/>
                      </a:lnTo>
                      <a:lnTo>
                        <a:pt x="16" y="24"/>
                      </a:lnTo>
                      <a:lnTo>
                        <a:pt x="11" y="39"/>
                      </a:lnTo>
                      <a:lnTo>
                        <a:pt x="11" y="44"/>
                      </a:lnTo>
                      <a:lnTo>
                        <a:pt x="11" y="48"/>
                      </a:lnTo>
                      <a:lnTo>
                        <a:pt x="4" y="48"/>
                      </a:lnTo>
                      <a:lnTo>
                        <a:pt x="0" y="48"/>
                      </a:lnTo>
                      <a:lnTo>
                        <a:pt x="0" y="51"/>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27" name="Freeform 90"/>
                <p:cNvSpPr/>
                <p:nvPr/>
              </p:nvSpPr>
              <p:spPr bwMode="auto">
                <a:xfrm>
                  <a:off x="2304" y="2233"/>
                  <a:ext cx="17" cy="56"/>
                </a:xfrm>
                <a:custGeom>
                  <a:avLst/>
                  <a:gdLst>
                    <a:gd name="T0" fmla="*/ 0 w 17"/>
                    <a:gd name="T1" fmla="*/ 55 h 56"/>
                    <a:gd name="T2" fmla="*/ 0 w 17"/>
                    <a:gd name="T3" fmla="*/ 55 h 56"/>
                    <a:gd name="T4" fmla="*/ 0 w 17"/>
                    <a:gd name="T5" fmla="*/ 27 h 56"/>
                    <a:gd name="T6" fmla="*/ 0 w 17"/>
                    <a:gd name="T7" fmla="*/ 18 h 56"/>
                    <a:gd name="T8" fmla="*/ 0 w 17"/>
                    <a:gd name="T9" fmla="*/ 9 h 56"/>
                    <a:gd name="T10" fmla="*/ 0 w 17"/>
                    <a:gd name="T11" fmla="*/ 2 h 56"/>
                    <a:gd name="T12" fmla="*/ 4 w 17"/>
                    <a:gd name="T13" fmla="*/ 0 h 56"/>
                    <a:gd name="T14" fmla="*/ 11 w 17"/>
                    <a:gd name="T15" fmla="*/ 0 h 56"/>
                    <a:gd name="T16" fmla="*/ 16 w 17"/>
                    <a:gd name="T17" fmla="*/ 0 h 56"/>
                    <a:gd name="T18" fmla="*/ 11 w 17"/>
                    <a:gd name="T19" fmla="*/ 24 h 56"/>
                    <a:gd name="T20" fmla="*/ 11 w 17"/>
                    <a:gd name="T21" fmla="*/ 39 h 56"/>
                    <a:gd name="T22" fmla="*/ 11 w 17"/>
                    <a:gd name="T23" fmla="*/ 48 h 56"/>
                    <a:gd name="T24" fmla="*/ 4 w 17"/>
                    <a:gd name="T25" fmla="*/ 48 h 56"/>
                    <a:gd name="T26" fmla="*/ 4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0" y="9"/>
                      </a:lnTo>
                      <a:lnTo>
                        <a:pt x="0" y="2"/>
                      </a:lnTo>
                      <a:lnTo>
                        <a:pt x="4" y="0"/>
                      </a:lnTo>
                      <a:lnTo>
                        <a:pt x="11" y="0"/>
                      </a:lnTo>
                      <a:lnTo>
                        <a:pt x="16" y="0"/>
                      </a:lnTo>
                      <a:lnTo>
                        <a:pt x="11" y="24"/>
                      </a:lnTo>
                      <a:lnTo>
                        <a:pt x="11" y="39"/>
                      </a:lnTo>
                      <a:lnTo>
                        <a:pt x="11" y="48"/>
                      </a:lnTo>
                      <a:lnTo>
                        <a:pt x="4" y="48"/>
                      </a:lnTo>
                      <a:lnTo>
                        <a:pt x="4" y="52"/>
                      </a:lnTo>
                      <a:lnTo>
                        <a:pt x="0" y="52"/>
                      </a:lnTo>
                      <a:lnTo>
                        <a:pt x="0" y="55"/>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28" name="Freeform 91"/>
                <p:cNvSpPr/>
                <p:nvPr/>
              </p:nvSpPr>
              <p:spPr bwMode="auto">
                <a:xfrm>
                  <a:off x="2202" y="2298"/>
                  <a:ext cx="17" cy="55"/>
                </a:xfrm>
                <a:custGeom>
                  <a:avLst/>
                  <a:gdLst>
                    <a:gd name="T0" fmla="*/ 0 w 17"/>
                    <a:gd name="T1" fmla="*/ 54 h 55"/>
                    <a:gd name="T2" fmla="*/ 0 w 17"/>
                    <a:gd name="T3" fmla="*/ 54 h 55"/>
                    <a:gd name="T4" fmla="*/ 0 w 17"/>
                    <a:gd name="T5" fmla="*/ 45 h 55"/>
                    <a:gd name="T6" fmla="*/ 0 w 17"/>
                    <a:gd name="T7" fmla="*/ 27 h 55"/>
                    <a:gd name="T8" fmla="*/ 0 w 17"/>
                    <a:gd name="T9" fmla="*/ 18 h 55"/>
                    <a:gd name="T10" fmla="*/ 0 w 17"/>
                    <a:gd name="T11" fmla="*/ 9 h 55"/>
                    <a:gd name="T12" fmla="*/ 0 w 17"/>
                    <a:gd name="T13" fmla="*/ 6 h 55"/>
                    <a:gd name="T14" fmla="*/ 4 w 17"/>
                    <a:gd name="T15" fmla="*/ 2 h 55"/>
                    <a:gd name="T16" fmla="*/ 4 w 17"/>
                    <a:gd name="T17" fmla="*/ 0 h 55"/>
                    <a:gd name="T18" fmla="*/ 11 w 17"/>
                    <a:gd name="T19" fmla="*/ 0 h 55"/>
                    <a:gd name="T20" fmla="*/ 16 w 17"/>
                    <a:gd name="T21" fmla="*/ 0 h 55"/>
                    <a:gd name="T22" fmla="*/ 16 w 17"/>
                    <a:gd name="T23" fmla="*/ 24 h 55"/>
                    <a:gd name="T24" fmla="*/ 16 w 17"/>
                    <a:gd name="T25" fmla="*/ 42 h 55"/>
                    <a:gd name="T26" fmla="*/ 16 w 17"/>
                    <a:gd name="T27" fmla="*/ 45 h 55"/>
                    <a:gd name="T28" fmla="*/ 16 w 17"/>
                    <a:gd name="T29" fmla="*/ 47 h 55"/>
                    <a:gd name="T30" fmla="*/ 16 w 17"/>
                    <a:gd name="T31" fmla="*/ 51 h 55"/>
                    <a:gd name="T32" fmla="*/ 11 w 17"/>
                    <a:gd name="T33" fmla="*/ 51 h 55"/>
                    <a:gd name="T34" fmla="*/ 4 w 17"/>
                    <a:gd name="T35" fmla="*/ 51 h 55"/>
                    <a:gd name="T36" fmla="*/ 4 w 17"/>
                    <a:gd name="T37" fmla="*/ 54 h 55"/>
                    <a:gd name="T38" fmla="*/ 0 w 17"/>
                    <a:gd name="T39" fmla="*/ 54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5"/>
                    <a:gd name="T62" fmla="*/ 17 w 17"/>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5">
                      <a:moveTo>
                        <a:pt x="0" y="54"/>
                      </a:moveTo>
                      <a:lnTo>
                        <a:pt x="0" y="54"/>
                      </a:lnTo>
                      <a:lnTo>
                        <a:pt x="0" y="45"/>
                      </a:lnTo>
                      <a:lnTo>
                        <a:pt x="0" y="27"/>
                      </a:lnTo>
                      <a:lnTo>
                        <a:pt x="0" y="18"/>
                      </a:lnTo>
                      <a:lnTo>
                        <a:pt x="0" y="9"/>
                      </a:lnTo>
                      <a:lnTo>
                        <a:pt x="0" y="6"/>
                      </a:lnTo>
                      <a:lnTo>
                        <a:pt x="4" y="2"/>
                      </a:lnTo>
                      <a:lnTo>
                        <a:pt x="4" y="0"/>
                      </a:lnTo>
                      <a:lnTo>
                        <a:pt x="11" y="0"/>
                      </a:lnTo>
                      <a:lnTo>
                        <a:pt x="16" y="0"/>
                      </a:lnTo>
                      <a:lnTo>
                        <a:pt x="16" y="24"/>
                      </a:lnTo>
                      <a:lnTo>
                        <a:pt x="16" y="42"/>
                      </a:lnTo>
                      <a:lnTo>
                        <a:pt x="16" y="45"/>
                      </a:lnTo>
                      <a:lnTo>
                        <a:pt x="16" y="47"/>
                      </a:lnTo>
                      <a:lnTo>
                        <a:pt x="16" y="51"/>
                      </a:lnTo>
                      <a:lnTo>
                        <a:pt x="11" y="51"/>
                      </a:lnTo>
                      <a:lnTo>
                        <a:pt x="4" y="51"/>
                      </a:lnTo>
                      <a:lnTo>
                        <a:pt x="4" y="54"/>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429" name="Group 92"/>
                <p:cNvGrpSpPr/>
                <p:nvPr/>
              </p:nvGrpSpPr>
              <p:grpSpPr bwMode="auto">
                <a:xfrm>
                  <a:off x="2417" y="2026"/>
                  <a:ext cx="113" cy="109"/>
                  <a:chOff x="2417" y="2026"/>
                  <a:chExt cx="113" cy="109"/>
                </a:xfrm>
              </p:grpSpPr>
              <p:sp>
                <p:nvSpPr>
                  <p:cNvPr id="44452" name="Freeform 93"/>
                  <p:cNvSpPr/>
                  <p:nvPr/>
                </p:nvSpPr>
                <p:spPr bwMode="auto">
                  <a:xfrm>
                    <a:off x="2449" y="2039"/>
                    <a:ext cx="81" cy="96"/>
                  </a:xfrm>
                  <a:custGeom>
                    <a:avLst/>
                    <a:gdLst>
                      <a:gd name="T0" fmla="*/ 0 w 81"/>
                      <a:gd name="T1" fmla="*/ 95 h 96"/>
                      <a:gd name="T2" fmla="*/ 0 w 81"/>
                      <a:gd name="T3" fmla="*/ 95 h 96"/>
                      <a:gd name="T4" fmla="*/ 2 w 81"/>
                      <a:gd name="T5" fmla="*/ 45 h 96"/>
                      <a:gd name="T6" fmla="*/ 80 w 81"/>
                      <a:gd name="T7" fmla="*/ 0 h 96"/>
                      <a:gd name="T8" fmla="*/ 77 w 81"/>
                      <a:gd name="T9" fmla="*/ 49 h 96"/>
                      <a:gd name="T10" fmla="*/ 0 w 81"/>
                      <a:gd name="T11" fmla="*/ 95 h 96"/>
                      <a:gd name="T12" fmla="*/ 0 60000 65536"/>
                      <a:gd name="T13" fmla="*/ 0 60000 65536"/>
                      <a:gd name="T14" fmla="*/ 0 60000 65536"/>
                      <a:gd name="T15" fmla="*/ 0 60000 65536"/>
                      <a:gd name="T16" fmla="*/ 0 60000 65536"/>
                      <a:gd name="T17" fmla="*/ 0 60000 65536"/>
                      <a:gd name="T18" fmla="*/ 0 w 81"/>
                      <a:gd name="T19" fmla="*/ 0 h 96"/>
                      <a:gd name="T20" fmla="*/ 81 w 81"/>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81" h="96">
                        <a:moveTo>
                          <a:pt x="0" y="95"/>
                        </a:moveTo>
                        <a:lnTo>
                          <a:pt x="0" y="95"/>
                        </a:lnTo>
                        <a:lnTo>
                          <a:pt x="2" y="45"/>
                        </a:lnTo>
                        <a:lnTo>
                          <a:pt x="80" y="0"/>
                        </a:lnTo>
                        <a:lnTo>
                          <a:pt x="77" y="49"/>
                        </a:lnTo>
                        <a:lnTo>
                          <a:pt x="0" y="95"/>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53" name="Freeform 94"/>
                  <p:cNvSpPr/>
                  <p:nvPr/>
                </p:nvSpPr>
                <p:spPr bwMode="auto">
                  <a:xfrm>
                    <a:off x="2417" y="2073"/>
                    <a:ext cx="33" cy="62"/>
                  </a:xfrm>
                  <a:custGeom>
                    <a:avLst/>
                    <a:gdLst>
                      <a:gd name="T0" fmla="*/ 29 w 33"/>
                      <a:gd name="T1" fmla="*/ 61 h 62"/>
                      <a:gd name="T2" fmla="*/ 29 w 33"/>
                      <a:gd name="T3" fmla="*/ 61 h 62"/>
                      <a:gd name="T4" fmla="*/ 0 w 33"/>
                      <a:gd name="T5" fmla="*/ 48 h 62"/>
                      <a:gd name="T6" fmla="*/ 0 w 33"/>
                      <a:gd name="T7" fmla="*/ 0 h 62"/>
                      <a:gd name="T8" fmla="*/ 32 w 33"/>
                      <a:gd name="T9" fmla="*/ 12 h 62"/>
                      <a:gd name="T10" fmla="*/ 29 w 33"/>
                      <a:gd name="T11" fmla="*/ 61 h 62"/>
                      <a:gd name="T12" fmla="*/ 0 60000 65536"/>
                      <a:gd name="T13" fmla="*/ 0 60000 65536"/>
                      <a:gd name="T14" fmla="*/ 0 60000 65536"/>
                      <a:gd name="T15" fmla="*/ 0 60000 65536"/>
                      <a:gd name="T16" fmla="*/ 0 60000 65536"/>
                      <a:gd name="T17" fmla="*/ 0 60000 65536"/>
                      <a:gd name="T18" fmla="*/ 0 w 33"/>
                      <a:gd name="T19" fmla="*/ 0 h 62"/>
                      <a:gd name="T20" fmla="*/ 33 w 33"/>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33" h="62">
                        <a:moveTo>
                          <a:pt x="29" y="61"/>
                        </a:moveTo>
                        <a:lnTo>
                          <a:pt x="29" y="61"/>
                        </a:lnTo>
                        <a:lnTo>
                          <a:pt x="0" y="48"/>
                        </a:lnTo>
                        <a:lnTo>
                          <a:pt x="0" y="0"/>
                        </a:lnTo>
                        <a:lnTo>
                          <a:pt x="32" y="12"/>
                        </a:lnTo>
                        <a:lnTo>
                          <a:pt x="29" y="61"/>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54" name="Freeform 95"/>
                  <p:cNvSpPr/>
                  <p:nvPr/>
                </p:nvSpPr>
                <p:spPr bwMode="auto">
                  <a:xfrm>
                    <a:off x="2417" y="2026"/>
                    <a:ext cx="113" cy="58"/>
                  </a:xfrm>
                  <a:custGeom>
                    <a:avLst/>
                    <a:gdLst>
                      <a:gd name="T0" fmla="*/ 33 w 113"/>
                      <a:gd name="T1" fmla="*/ 57 h 58"/>
                      <a:gd name="T2" fmla="*/ 33 w 113"/>
                      <a:gd name="T3" fmla="*/ 57 h 58"/>
                      <a:gd name="T4" fmla="*/ 0 w 113"/>
                      <a:gd name="T5" fmla="*/ 45 h 58"/>
                      <a:gd name="T6" fmla="*/ 84 w 113"/>
                      <a:gd name="T7" fmla="*/ 0 h 58"/>
                      <a:gd name="T8" fmla="*/ 112 w 113"/>
                      <a:gd name="T9" fmla="*/ 11 h 58"/>
                      <a:gd name="T10" fmla="*/ 33 w 113"/>
                      <a:gd name="T11" fmla="*/ 57 h 58"/>
                      <a:gd name="T12" fmla="*/ 0 60000 65536"/>
                      <a:gd name="T13" fmla="*/ 0 60000 65536"/>
                      <a:gd name="T14" fmla="*/ 0 60000 65536"/>
                      <a:gd name="T15" fmla="*/ 0 60000 65536"/>
                      <a:gd name="T16" fmla="*/ 0 60000 65536"/>
                      <a:gd name="T17" fmla="*/ 0 60000 65536"/>
                      <a:gd name="T18" fmla="*/ 0 w 113"/>
                      <a:gd name="T19" fmla="*/ 0 h 58"/>
                      <a:gd name="T20" fmla="*/ 113 w 113"/>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3" h="58">
                        <a:moveTo>
                          <a:pt x="33" y="57"/>
                        </a:moveTo>
                        <a:lnTo>
                          <a:pt x="33" y="57"/>
                        </a:lnTo>
                        <a:lnTo>
                          <a:pt x="0" y="45"/>
                        </a:lnTo>
                        <a:lnTo>
                          <a:pt x="84" y="0"/>
                        </a:lnTo>
                        <a:lnTo>
                          <a:pt x="112" y="11"/>
                        </a:lnTo>
                        <a:lnTo>
                          <a:pt x="33" y="57"/>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430" name="Group 96"/>
                <p:cNvGrpSpPr/>
                <p:nvPr/>
              </p:nvGrpSpPr>
              <p:grpSpPr bwMode="auto">
                <a:xfrm>
                  <a:off x="2321" y="2081"/>
                  <a:ext cx="123" cy="112"/>
                  <a:chOff x="2321" y="2081"/>
                  <a:chExt cx="123" cy="112"/>
                </a:xfrm>
              </p:grpSpPr>
              <p:sp>
                <p:nvSpPr>
                  <p:cNvPr id="44449" name="Freeform 97"/>
                  <p:cNvSpPr/>
                  <p:nvPr/>
                </p:nvSpPr>
                <p:spPr bwMode="auto">
                  <a:xfrm>
                    <a:off x="2358" y="2093"/>
                    <a:ext cx="86" cy="100"/>
                  </a:xfrm>
                  <a:custGeom>
                    <a:avLst/>
                    <a:gdLst>
                      <a:gd name="T0" fmla="*/ 0 w 86"/>
                      <a:gd name="T1" fmla="*/ 99 h 100"/>
                      <a:gd name="T2" fmla="*/ 0 w 86"/>
                      <a:gd name="T3" fmla="*/ 99 h 100"/>
                      <a:gd name="T4" fmla="*/ 2 w 86"/>
                      <a:gd name="T5" fmla="*/ 49 h 100"/>
                      <a:gd name="T6" fmla="*/ 85 w 86"/>
                      <a:gd name="T7" fmla="*/ 0 h 100"/>
                      <a:gd name="T8" fmla="*/ 82 w 86"/>
                      <a:gd name="T9" fmla="*/ 49 h 100"/>
                      <a:gd name="T10" fmla="*/ 0 w 86"/>
                      <a:gd name="T11" fmla="*/ 99 h 100"/>
                      <a:gd name="T12" fmla="*/ 0 60000 65536"/>
                      <a:gd name="T13" fmla="*/ 0 60000 65536"/>
                      <a:gd name="T14" fmla="*/ 0 60000 65536"/>
                      <a:gd name="T15" fmla="*/ 0 60000 65536"/>
                      <a:gd name="T16" fmla="*/ 0 60000 65536"/>
                      <a:gd name="T17" fmla="*/ 0 60000 65536"/>
                      <a:gd name="T18" fmla="*/ 0 w 86"/>
                      <a:gd name="T19" fmla="*/ 0 h 100"/>
                      <a:gd name="T20" fmla="*/ 86 w 86"/>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6" h="100">
                        <a:moveTo>
                          <a:pt x="0" y="99"/>
                        </a:moveTo>
                        <a:lnTo>
                          <a:pt x="0" y="99"/>
                        </a:lnTo>
                        <a:lnTo>
                          <a:pt x="2" y="49"/>
                        </a:lnTo>
                        <a:lnTo>
                          <a:pt x="85" y="0"/>
                        </a:lnTo>
                        <a:lnTo>
                          <a:pt x="82" y="49"/>
                        </a:lnTo>
                        <a:lnTo>
                          <a:pt x="0" y="99"/>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50" name="Freeform 98"/>
                  <p:cNvSpPr/>
                  <p:nvPr/>
                </p:nvSpPr>
                <p:spPr bwMode="auto">
                  <a:xfrm>
                    <a:off x="2321" y="2132"/>
                    <a:ext cx="38" cy="61"/>
                  </a:xfrm>
                  <a:custGeom>
                    <a:avLst/>
                    <a:gdLst>
                      <a:gd name="T0" fmla="*/ 34 w 38"/>
                      <a:gd name="T1" fmla="*/ 60 h 61"/>
                      <a:gd name="T2" fmla="*/ 34 w 38"/>
                      <a:gd name="T3" fmla="*/ 60 h 61"/>
                      <a:gd name="T4" fmla="*/ 0 w 38"/>
                      <a:gd name="T5" fmla="*/ 48 h 61"/>
                      <a:gd name="T6" fmla="*/ 2 w 38"/>
                      <a:gd name="T7" fmla="*/ 0 h 61"/>
                      <a:gd name="T8" fmla="*/ 37 w 38"/>
                      <a:gd name="T9" fmla="*/ 11 h 61"/>
                      <a:gd name="T10" fmla="*/ 34 w 38"/>
                      <a:gd name="T11" fmla="*/ 60 h 61"/>
                      <a:gd name="T12" fmla="*/ 0 60000 65536"/>
                      <a:gd name="T13" fmla="*/ 0 60000 65536"/>
                      <a:gd name="T14" fmla="*/ 0 60000 65536"/>
                      <a:gd name="T15" fmla="*/ 0 60000 65536"/>
                      <a:gd name="T16" fmla="*/ 0 60000 65536"/>
                      <a:gd name="T17" fmla="*/ 0 60000 65536"/>
                      <a:gd name="T18" fmla="*/ 0 w 38"/>
                      <a:gd name="T19" fmla="*/ 0 h 61"/>
                      <a:gd name="T20" fmla="*/ 38 w 38"/>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38" h="61">
                        <a:moveTo>
                          <a:pt x="34" y="60"/>
                        </a:moveTo>
                        <a:lnTo>
                          <a:pt x="34" y="60"/>
                        </a:lnTo>
                        <a:lnTo>
                          <a:pt x="0" y="48"/>
                        </a:lnTo>
                        <a:lnTo>
                          <a:pt x="2" y="0"/>
                        </a:lnTo>
                        <a:lnTo>
                          <a:pt x="37" y="11"/>
                        </a:lnTo>
                        <a:lnTo>
                          <a:pt x="34" y="6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51" name="Freeform 99"/>
                  <p:cNvSpPr/>
                  <p:nvPr/>
                </p:nvSpPr>
                <p:spPr bwMode="auto">
                  <a:xfrm>
                    <a:off x="2323" y="2081"/>
                    <a:ext cx="121" cy="62"/>
                  </a:xfrm>
                  <a:custGeom>
                    <a:avLst/>
                    <a:gdLst>
                      <a:gd name="T0" fmla="*/ 36 w 121"/>
                      <a:gd name="T1" fmla="*/ 61 h 62"/>
                      <a:gd name="T2" fmla="*/ 36 w 121"/>
                      <a:gd name="T3" fmla="*/ 61 h 62"/>
                      <a:gd name="T4" fmla="*/ 0 w 121"/>
                      <a:gd name="T5" fmla="*/ 49 h 62"/>
                      <a:gd name="T6" fmla="*/ 86 w 121"/>
                      <a:gd name="T7" fmla="*/ 0 h 62"/>
                      <a:gd name="T8" fmla="*/ 120 w 121"/>
                      <a:gd name="T9" fmla="*/ 11 h 62"/>
                      <a:gd name="T10" fmla="*/ 36 w 121"/>
                      <a:gd name="T11" fmla="*/ 61 h 62"/>
                      <a:gd name="T12" fmla="*/ 0 60000 65536"/>
                      <a:gd name="T13" fmla="*/ 0 60000 65536"/>
                      <a:gd name="T14" fmla="*/ 0 60000 65536"/>
                      <a:gd name="T15" fmla="*/ 0 60000 65536"/>
                      <a:gd name="T16" fmla="*/ 0 60000 65536"/>
                      <a:gd name="T17" fmla="*/ 0 60000 65536"/>
                      <a:gd name="T18" fmla="*/ 0 w 121"/>
                      <a:gd name="T19" fmla="*/ 0 h 62"/>
                      <a:gd name="T20" fmla="*/ 121 w 121"/>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121" h="62">
                        <a:moveTo>
                          <a:pt x="36" y="61"/>
                        </a:moveTo>
                        <a:lnTo>
                          <a:pt x="36" y="61"/>
                        </a:lnTo>
                        <a:lnTo>
                          <a:pt x="0" y="49"/>
                        </a:lnTo>
                        <a:lnTo>
                          <a:pt x="86" y="0"/>
                        </a:lnTo>
                        <a:lnTo>
                          <a:pt x="120" y="11"/>
                        </a:lnTo>
                        <a:lnTo>
                          <a:pt x="36" y="61"/>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431" name="Group 100"/>
                <p:cNvGrpSpPr/>
                <p:nvPr/>
              </p:nvGrpSpPr>
              <p:grpSpPr bwMode="auto">
                <a:xfrm>
                  <a:off x="2221" y="2138"/>
                  <a:ext cx="131" cy="120"/>
                  <a:chOff x="2221" y="2138"/>
                  <a:chExt cx="131" cy="120"/>
                </a:xfrm>
              </p:grpSpPr>
              <p:sp>
                <p:nvSpPr>
                  <p:cNvPr id="44446" name="Freeform 101"/>
                  <p:cNvSpPr/>
                  <p:nvPr/>
                </p:nvSpPr>
                <p:spPr bwMode="auto">
                  <a:xfrm>
                    <a:off x="2260" y="2151"/>
                    <a:ext cx="92" cy="107"/>
                  </a:xfrm>
                  <a:custGeom>
                    <a:avLst/>
                    <a:gdLst>
                      <a:gd name="T0" fmla="*/ 0 w 92"/>
                      <a:gd name="T1" fmla="*/ 106 h 107"/>
                      <a:gd name="T2" fmla="*/ 0 w 92"/>
                      <a:gd name="T3" fmla="*/ 106 h 107"/>
                      <a:gd name="T4" fmla="*/ 0 w 92"/>
                      <a:gd name="T5" fmla="*/ 53 h 107"/>
                      <a:gd name="T6" fmla="*/ 91 w 92"/>
                      <a:gd name="T7" fmla="*/ 0 h 107"/>
                      <a:gd name="T8" fmla="*/ 88 w 92"/>
                      <a:gd name="T9" fmla="*/ 50 h 107"/>
                      <a:gd name="T10" fmla="*/ 0 w 92"/>
                      <a:gd name="T11" fmla="*/ 106 h 107"/>
                      <a:gd name="T12" fmla="*/ 0 60000 65536"/>
                      <a:gd name="T13" fmla="*/ 0 60000 65536"/>
                      <a:gd name="T14" fmla="*/ 0 60000 65536"/>
                      <a:gd name="T15" fmla="*/ 0 60000 65536"/>
                      <a:gd name="T16" fmla="*/ 0 60000 65536"/>
                      <a:gd name="T17" fmla="*/ 0 60000 65536"/>
                      <a:gd name="T18" fmla="*/ 0 w 92"/>
                      <a:gd name="T19" fmla="*/ 0 h 107"/>
                      <a:gd name="T20" fmla="*/ 92 w 9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2" h="107">
                        <a:moveTo>
                          <a:pt x="0" y="106"/>
                        </a:moveTo>
                        <a:lnTo>
                          <a:pt x="0" y="106"/>
                        </a:lnTo>
                        <a:lnTo>
                          <a:pt x="0" y="53"/>
                        </a:lnTo>
                        <a:lnTo>
                          <a:pt x="91" y="0"/>
                        </a:lnTo>
                        <a:lnTo>
                          <a:pt x="88" y="50"/>
                        </a:lnTo>
                        <a:lnTo>
                          <a:pt x="0" y="10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47" name="Freeform 102"/>
                  <p:cNvSpPr/>
                  <p:nvPr/>
                </p:nvSpPr>
                <p:spPr bwMode="auto">
                  <a:xfrm>
                    <a:off x="2221" y="2192"/>
                    <a:ext cx="38" cy="66"/>
                  </a:xfrm>
                  <a:custGeom>
                    <a:avLst/>
                    <a:gdLst>
                      <a:gd name="T0" fmla="*/ 37 w 38"/>
                      <a:gd name="T1" fmla="*/ 65 h 66"/>
                      <a:gd name="T2" fmla="*/ 37 w 38"/>
                      <a:gd name="T3" fmla="*/ 65 h 66"/>
                      <a:gd name="T4" fmla="*/ 0 w 38"/>
                      <a:gd name="T5" fmla="*/ 52 h 66"/>
                      <a:gd name="T6" fmla="*/ 0 w 38"/>
                      <a:gd name="T7" fmla="*/ 0 h 66"/>
                      <a:gd name="T8" fmla="*/ 37 w 38"/>
                      <a:gd name="T9" fmla="*/ 12 h 66"/>
                      <a:gd name="T10" fmla="*/ 37 w 38"/>
                      <a:gd name="T11" fmla="*/ 65 h 66"/>
                      <a:gd name="T12" fmla="*/ 0 60000 65536"/>
                      <a:gd name="T13" fmla="*/ 0 60000 65536"/>
                      <a:gd name="T14" fmla="*/ 0 60000 65536"/>
                      <a:gd name="T15" fmla="*/ 0 60000 65536"/>
                      <a:gd name="T16" fmla="*/ 0 60000 65536"/>
                      <a:gd name="T17" fmla="*/ 0 60000 65536"/>
                      <a:gd name="T18" fmla="*/ 0 w 38"/>
                      <a:gd name="T19" fmla="*/ 0 h 66"/>
                      <a:gd name="T20" fmla="*/ 38 w 3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38" h="66">
                        <a:moveTo>
                          <a:pt x="37" y="65"/>
                        </a:moveTo>
                        <a:lnTo>
                          <a:pt x="37" y="65"/>
                        </a:lnTo>
                        <a:lnTo>
                          <a:pt x="0" y="52"/>
                        </a:lnTo>
                        <a:lnTo>
                          <a:pt x="0" y="0"/>
                        </a:lnTo>
                        <a:lnTo>
                          <a:pt x="37" y="12"/>
                        </a:lnTo>
                        <a:lnTo>
                          <a:pt x="37" y="65"/>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48" name="Freeform 103"/>
                  <p:cNvSpPr/>
                  <p:nvPr/>
                </p:nvSpPr>
                <p:spPr bwMode="auto">
                  <a:xfrm>
                    <a:off x="2221" y="2138"/>
                    <a:ext cx="131" cy="65"/>
                  </a:xfrm>
                  <a:custGeom>
                    <a:avLst/>
                    <a:gdLst>
                      <a:gd name="T0" fmla="*/ 39 w 131"/>
                      <a:gd name="T1" fmla="*/ 64 h 65"/>
                      <a:gd name="T2" fmla="*/ 39 w 131"/>
                      <a:gd name="T3" fmla="*/ 64 h 65"/>
                      <a:gd name="T4" fmla="*/ 0 w 131"/>
                      <a:gd name="T5" fmla="*/ 51 h 65"/>
                      <a:gd name="T6" fmla="*/ 94 w 131"/>
                      <a:gd name="T7" fmla="*/ 0 h 65"/>
                      <a:gd name="T8" fmla="*/ 130 w 131"/>
                      <a:gd name="T9" fmla="*/ 12 h 65"/>
                      <a:gd name="T10" fmla="*/ 39 w 131"/>
                      <a:gd name="T11" fmla="*/ 64 h 65"/>
                      <a:gd name="T12" fmla="*/ 0 60000 65536"/>
                      <a:gd name="T13" fmla="*/ 0 60000 65536"/>
                      <a:gd name="T14" fmla="*/ 0 60000 65536"/>
                      <a:gd name="T15" fmla="*/ 0 60000 65536"/>
                      <a:gd name="T16" fmla="*/ 0 60000 65536"/>
                      <a:gd name="T17" fmla="*/ 0 60000 65536"/>
                      <a:gd name="T18" fmla="*/ 0 w 131"/>
                      <a:gd name="T19" fmla="*/ 0 h 65"/>
                      <a:gd name="T20" fmla="*/ 131 w 13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1" h="65">
                        <a:moveTo>
                          <a:pt x="39" y="64"/>
                        </a:moveTo>
                        <a:lnTo>
                          <a:pt x="39" y="64"/>
                        </a:lnTo>
                        <a:lnTo>
                          <a:pt x="0" y="51"/>
                        </a:lnTo>
                        <a:lnTo>
                          <a:pt x="94" y="0"/>
                        </a:lnTo>
                        <a:lnTo>
                          <a:pt x="130" y="12"/>
                        </a:lnTo>
                        <a:lnTo>
                          <a:pt x="39" y="64"/>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432" name="Group 104"/>
                <p:cNvGrpSpPr/>
                <p:nvPr/>
              </p:nvGrpSpPr>
              <p:grpSpPr bwMode="auto">
                <a:xfrm>
                  <a:off x="2109" y="2198"/>
                  <a:ext cx="144" cy="123"/>
                  <a:chOff x="2109" y="2198"/>
                  <a:chExt cx="144" cy="123"/>
                </a:xfrm>
              </p:grpSpPr>
              <p:sp>
                <p:nvSpPr>
                  <p:cNvPr id="44443" name="Freeform 105"/>
                  <p:cNvSpPr/>
                  <p:nvPr/>
                </p:nvSpPr>
                <p:spPr bwMode="auto">
                  <a:xfrm>
                    <a:off x="2154" y="2212"/>
                    <a:ext cx="98" cy="109"/>
                  </a:xfrm>
                  <a:custGeom>
                    <a:avLst/>
                    <a:gdLst>
                      <a:gd name="T0" fmla="*/ 0 w 98"/>
                      <a:gd name="T1" fmla="*/ 108 h 109"/>
                      <a:gd name="T2" fmla="*/ 0 w 98"/>
                      <a:gd name="T3" fmla="*/ 108 h 109"/>
                      <a:gd name="T4" fmla="*/ 0 w 98"/>
                      <a:gd name="T5" fmla="*/ 55 h 109"/>
                      <a:gd name="T6" fmla="*/ 97 w 98"/>
                      <a:gd name="T7" fmla="*/ 0 h 109"/>
                      <a:gd name="T8" fmla="*/ 97 w 98"/>
                      <a:gd name="T9" fmla="*/ 49 h 109"/>
                      <a:gd name="T10" fmla="*/ 0 w 98"/>
                      <a:gd name="T11" fmla="*/ 108 h 109"/>
                      <a:gd name="T12" fmla="*/ 0 60000 65536"/>
                      <a:gd name="T13" fmla="*/ 0 60000 65536"/>
                      <a:gd name="T14" fmla="*/ 0 60000 65536"/>
                      <a:gd name="T15" fmla="*/ 0 60000 65536"/>
                      <a:gd name="T16" fmla="*/ 0 60000 65536"/>
                      <a:gd name="T17" fmla="*/ 0 60000 65536"/>
                      <a:gd name="T18" fmla="*/ 0 w 98"/>
                      <a:gd name="T19" fmla="*/ 0 h 109"/>
                      <a:gd name="T20" fmla="*/ 98 w 98"/>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98" h="109">
                        <a:moveTo>
                          <a:pt x="0" y="108"/>
                        </a:moveTo>
                        <a:lnTo>
                          <a:pt x="0" y="108"/>
                        </a:lnTo>
                        <a:lnTo>
                          <a:pt x="0" y="55"/>
                        </a:lnTo>
                        <a:lnTo>
                          <a:pt x="97" y="0"/>
                        </a:lnTo>
                        <a:lnTo>
                          <a:pt x="97" y="49"/>
                        </a:lnTo>
                        <a:lnTo>
                          <a:pt x="0" y="108"/>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44" name="Freeform 106"/>
                  <p:cNvSpPr/>
                  <p:nvPr/>
                </p:nvSpPr>
                <p:spPr bwMode="auto">
                  <a:xfrm>
                    <a:off x="2109" y="2259"/>
                    <a:ext cx="44" cy="62"/>
                  </a:xfrm>
                  <a:custGeom>
                    <a:avLst/>
                    <a:gdLst>
                      <a:gd name="T0" fmla="*/ 43 w 44"/>
                      <a:gd name="T1" fmla="*/ 61 h 62"/>
                      <a:gd name="T2" fmla="*/ 43 w 44"/>
                      <a:gd name="T3" fmla="*/ 61 h 62"/>
                      <a:gd name="T4" fmla="*/ 0 w 44"/>
                      <a:gd name="T5" fmla="*/ 52 h 62"/>
                      <a:gd name="T6" fmla="*/ 0 w 44"/>
                      <a:gd name="T7" fmla="*/ 0 h 62"/>
                      <a:gd name="T8" fmla="*/ 43 w 44"/>
                      <a:gd name="T9" fmla="*/ 8 h 62"/>
                      <a:gd name="T10" fmla="*/ 43 w 44"/>
                      <a:gd name="T11" fmla="*/ 61 h 62"/>
                      <a:gd name="T12" fmla="*/ 0 60000 65536"/>
                      <a:gd name="T13" fmla="*/ 0 60000 65536"/>
                      <a:gd name="T14" fmla="*/ 0 60000 65536"/>
                      <a:gd name="T15" fmla="*/ 0 60000 65536"/>
                      <a:gd name="T16" fmla="*/ 0 60000 65536"/>
                      <a:gd name="T17" fmla="*/ 0 60000 65536"/>
                      <a:gd name="T18" fmla="*/ 0 w 44"/>
                      <a:gd name="T19" fmla="*/ 0 h 62"/>
                      <a:gd name="T20" fmla="*/ 44 w 44"/>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44" h="62">
                        <a:moveTo>
                          <a:pt x="43" y="61"/>
                        </a:moveTo>
                        <a:lnTo>
                          <a:pt x="43" y="61"/>
                        </a:lnTo>
                        <a:lnTo>
                          <a:pt x="0" y="52"/>
                        </a:lnTo>
                        <a:lnTo>
                          <a:pt x="0" y="0"/>
                        </a:lnTo>
                        <a:lnTo>
                          <a:pt x="43" y="8"/>
                        </a:lnTo>
                        <a:lnTo>
                          <a:pt x="43" y="61"/>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45" name="Freeform 107"/>
                  <p:cNvSpPr/>
                  <p:nvPr/>
                </p:nvSpPr>
                <p:spPr bwMode="auto">
                  <a:xfrm>
                    <a:off x="2110" y="2198"/>
                    <a:ext cx="143" cy="69"/>
                  </a:xfrm>
                  <a:custGeom>
                    <a:avLst/>
                    <a:gdLst>
                      <a:gd name="T0" fmla="*/ 44 w 143"/>
                      <a:gd name="T1" fmla="*/ 68 h 69"/>
                      <a:gd name="T2" fmla="*/ 44 w 143"/>
                      <a:gd name="T3" fmla="*/ 68 h 69"/>
                      <a:gd name="T4" fmla="*/ 0 w 143"/>
                      <a:gd name="T5" fmla="*/ 58 h 69"/>
                      <a:gd name="T6" fmla="*/ 102 w 143"/>
                      <a:gd name="T7" fmla="*/ 0 h 69"/>
                      <a:gd name="T8" fmla="*/ 142 w 143"/>
                      <a:gd name="T9" fmla="*/ 12 h 69"/>
                      <a:gd name="T10" fmla="*/ 44 w 143"/>
                      <a:gd name="T11" fmla="*/ 68 h 69"/>
                      <a:gd name="T12" fmla="*/ 0 60000 65536"/>
                      <a:gd name="T13" fmla="*/ 0 60000 65536"/>
                      <a:gd name="T14" fmla="*/ 0 60000 65536"/>
                      <a:gd name="T15" fmla="*/ 0 60000 65536"/>
                      <a:gd name="T16" fmla="*/ 0 60000 65536"/>
                      <a:gd name="T17" fmla="*/ 0 60000 65536"/>
                      <a:gd name="T18" fmla="*/ 0 w 143"/>
                      <a:gd name="T19" fmla="*/ 0 h 69"/>
                      <a:gd name="T20" fmla="*/ 143 w 14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43" h="69">
                        <a:moveTo>
                          <a:pt x="44" y="68"/>
                        </a:moveTo>
                        <a:lnTo>
                          <a:pt x="44" y="68"/>
                        </a:lnTo>
                        <a:lnTo>
                          <a:pt x="0" y="58"/>
                        </a:lnTo>
                        <a:lnTo>
                          <a:pt x="102" y="0"/>
                        </a:lnTo>
                        <a:lnTo>
                          <a:pt x="142" y="12"/>
                        </a:lnTo>
                        <a:lnTo>
                          <a:pt x="44" y="68"/>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433" name="Freeform 108"/>
                <p:cNvSpPr/>
                <p:nvPr/>
              </p:nvSpPr>
              <p:spPr bwMode="auto">
                <a:xfrm>
                  <a:off x="2099" y="2275"/>
                  <a:ext cx="49" cy="84"/>
                </a:xfrm>
                <a:custGeom>
                  <a:avLst/>
                  <a:gdLst>
                    <a:gd name="T0" fmla="*/ 0 w 49"/>
                    <a:gd name="T1" fmla="*/ 83 h 84"/>
                    <a:gd name="T2" fmla="*/ 0 w 49"/>
                    <a:gd name="T3" fmla="*/ 83 h 84"/>
                    <a:gd name="T4" fmla="*/ 0 w 49"/>
                    <a:gd name="T5" fmla="*/ 30 h 84"/>
                    <a:gd name="T6" fmla="*/ 48 w 49"/>
                    <a:gd name="T7" fmla="*/ 0 h 84"/>
                    <a:gd name="T8" fmla="*/ 45 w 49"/>
                    <a:gd name="T9" fmla="*/ 55 h 84"/>
                    <a:gd name="T10" fmla="*/ 0 w 49"/>
                    <a:gd name="T11" fmla="*/ 83 h 84"/>
                    <a:gd name="T12" fmla="*/ 0 60000 65536"/>
                    <a:gd name="T13" fmla="*/ 0 60000 65536"/>
                    <a:gd name="T14" fmla="*/ 0 60000 65536"/>
                    <a:gd name="T15" fmla="*/ 0 60000 65536"/>
                    <a:gd name="T16" fmla="*/ 0 60000 65536"/>
                    <a:gd name="T17" fmla="*/ 0 60000 65536"/>
                    <a:gd name="T18" fmla="*/ 0 w 49"/>
                    <a:gd name="T19" fmla="*/ 0 h 84"/>
                    <a:gd name="T20" fmla="*/ 49 w 49"/>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49" h="84">
                      <a:moveTo>
                        <a:pt x="0" y="83"/>
                      </a:moveTo>
                      <a:lnTo>
                        <a:pt x="0" y="83"/>
                      </a:lnTo>
                      <a:lnTo>
                        <a:pt x="0" y="30"/>
                      </a:lnTo>
                      <a:lnTo>
                        <a:pt x="48" y="0"/>
                      </a:lnTo>
                      <a:lnTo>
                        <a:pt x="45" y="55"/>
                      </a:lnTo>
                      <a:lnTo>
                        <a:pt x="0" y="83"/>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34" name="Freeform 109"/>
                <p:cNvSpPr/>
                <p:nvPr/>
              </p:nvSpPr>
              <p:spPr bwMode="auto">
                <a:xfrm>
                  <a:off x="2053" y="2266"/>
                  <a:ext cx="95" cy="39"/>
                </a:xfrm>
                <a:custGeom>
                  <a:avLst/>
                  <a:gdLst>
                    <a:gd name="T0" fmla="*/ 44 w 95"/>
                    <a:gd name="T1" fmla="*/ 38 h 39"/>
                    <a:gd name="T2" fmla="*/ 44 w 95"/>
                    <a:gd name="T3" fmla="*/ 38 h 39"/>
                    <a:gd name="T4" fmla="*/ 0 w 95"/>
                    <a:gd name="T5" fmla="*/ 26 h 39"/>
                    <a:gd name="T6" fmla="*/ 49 w 95"/>
                    <a:gd name="T7" fmla="*/ 0 h 39"/>
                    <a:gd name="T8" fmla="*/ 94 w 95"/>
                    <a:gd name="T9" fmla="*/ 9 h 39"/>
                    <a:gd name="T10" fmla="*/ 44 w 95"/>
                    <a:gd name="T11" fmla="*/ 38 h 39"/>
                    <a:gd name="T12" fmla="*/ 0 60000 65536"/>
                    <a:gd name="T13" fmla="*/ 0 60000 65536"/>
                    <a:gd name="T14" fmla="*/ 0 60000 65536"/>
                    <a:gd name="T15" fmla="*/ 0 60000 65536"/>
                    <a:gd name="T16" fmla="*/ 0 60000 65536"/>
                    <a:gd name="T17" fmla="*/ 0 60000 65536"/>
                    <a:gd name="T18" fmla="*/ 0 w 95"/>
                    <a:gd name="T19" fmla="*/ 0 h 39"/>
                    <a:gd name="T20" fmla="*/ 95 w 95"/>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5" h="39">
                      <a:moveTo>
                        <a:pt x="44" y="38"/>
                      </a:moveTo>
                      <a:lnTo>
                        <a:pt x="44" y="38"/>
                      </a:lnTo>
                      <a:lnTo>
                        <a:pt x="0" y="26"/>
                      </a:lnTo>
                      <a:lnTo>
                        <a:pt x="49" y="0"/>
                      </a:lnTo>
                      <a:lnTo>
                        <a:pt x="94" y="9"/>
                      </a:lnTo>
                      <a:lnTo>
                        <a:pt x="44" y="38"/>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35" name="Freeform 110"/>
                <p:cNvSpPr/>
                <p:nvPr/>
              </p:nvSpPr>
              <p:spPr bwMode="auto">
                <a:xfrm>
                  <a:off x="2442" y="2090"/>
                  <a:ext cx="17" cy="53"/>
                </a:xfrm>
                <a:custGeom>
                  <a:avLst/>
                  <a:gdLst>
                    <a:gd name="T0" fmla="*/ 0 w 17"/>
                    <a:gd name="T1" fmla="*/ 52 h 53"/>
                    <a:gd name="T2" fmla="*/ 0 w 17"/>
                    <a:gd name="T3" fmla="*/ 52 h 53"/>
                    <a:gd name="T4" fmla="*/ 4 w 17"/>
                    <a:gd name="T5" fmla="*/ 24 h 53"/>
                    <a:gd name="T6" fmla="*/ 4 w 17"/>
                    <a:gd name="T7" fmla="*/ 6 h 53"/>
                    <a:gd name="T8" fmla="*/ 4 w 17"/>
                    <a:gd name="T9" fmla="*/ 2 h 53"/>
                    <a:gd name="T10" fmla="*/ 4 w 17"/>
                    <a:gd name="T11" fmla="*/ 0 h 53"/>
                    <a:gd name="T12" fmla="*/ 11 w 17"/>
                    <a:gd name="T13" fmla="*/ 0 h 53"/>
                    <a:gd name="T14" fmla="*/ 16 w 17"/>
                    <a:gd name="T15" fmla="*/ 0 h 53"/>
                    <a:gd name="T16" fmla="*/ 16 w 17"/>
                    <a:gd name="T17" fmla="*/ 20 h 53"/>
                    <a:gd name="T18" fmla="*/ 11 w 17"/>
                    <a:gd name="T19" fmla="*/ 45 h 53"/>
                    <a:gd name="T20" fmla="*/ 11 w 17"/>
                    <a:gd name="T21" fmla="*/ 49 h 53"/>
                    <a:gd name="T22" fmla="*/ 11 w 17"/>
                    <a:gd name="T23" fmla="*/ 45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4" y="24"/>
                      </a:lnTo>
                      <a:lnTo>
                        <a:pt x="4" y="6"/>
                      </a:lnTo>
                      <a:lnTo>
                        <a:pt x="4" y="2"/>
                      </a:lnTo>
                      <a:lnTo>
                        <a:pt x="4" y="0"/>
                      </a:lnTo>
                      <a:lnTo>
                        <a:pt x="11" y="0"/>
                      </a:lnTo>
                      <a:lnTo>
                        <a:pt x="16" y="0"/>
                      </a:lnTo>
                      <a:lnTo>
                        <a:pt x="16" y="20"/>
                      </a:lnTo>
                      <a:lnTo>
                        <a:pt x="11" y="45"/>
                      </a:lnTo>
                      <a:lnTo>
                        <a:pt x="11" y="49"/>
                      </a:lnTo>
                      <a:lnTo>
                        <a:pt x="11" y="45"/>
                      </a:lnTo>
                      <a:lnTo>
                        <a:pt x="4" y="49"/>
                      </a:lnTo>
                      <a:lnTo>
                        <a:pt x="0" y="52"/>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36" name="Freeform 111"/>
                <p:cNvSpPr/>
                <p:nvPr/>
              </p:nvSpPr>
              <p:spPr bwMode="auto">
                <a:xfrm>
                  <a:off x="2099" y="2032"/>
                  <a:ext cx="432" cy="273"/>
                </a:xfrm>
                <a:custGeom>
                  <a:avLst/>
                  <a:gdLst>
                    <a:gd name="T0" fmla="*/ 431 w 432"/>
                    <a:gd name="T1" fmla="*/ 0 h 273"/>
                    <a:gd name="T2" fmla="*/ 431 w 432"/>
                    <a:gd name="T3" fmla="*/ 0 h 273"/>
                    <a:gd name="T4" fmla="*/ 0 w 432"/>
                    <a:gd name="T5" fmla="*/ 265 h 273"/>
                    <a:gd name="T6" fmla="*/ 0 w 432"/>
                    <a:gd name="T7" fmla="*/ 272 h 273"/>
                    <a:gd name="T8" fmla="*/ 431 w 432"/>
                    <a:gd name="T9" fmla="*/ 6 h 273"/>
                    <a:gd name="T10" fmla="*/ 431 w 432"/>
                    <a:gd name="T11" fmla="*/ 0 h 273"/>
                    <a:gd name="T12" fmla="*/ 0 60000 65536"/>
                    <a:gd name="T13" fmla="*/ 0 60000 65536"/>
                    <a:gd name="T14" fmla="*/ 0 60000 65536"/>
                    <a:gd name="T15" fmla="*/ 0 60000 65536"/>
                    <a:gd name="T16" fmla="*/ 0 60000 65536"/>
                    <a:gd name="T17" fmla="*/ 0 60000 65536"/>
                    <a:gd name="T18" fmla="*/ 0 w 432"/>
                    <a:gd name="T19" fmla="*/ 0 h 273"/>
                    <a:gd name="T20" fmla="*/ 432 w 432"/>
                    <a:gd name="T21" fmla="*/ 273 h 273"/>
                  </a:gdLst>
                  <a:ahLst/>
                  <a:cxnLst>
                    <a:cxn ang="T12">
                      <a:pos x="T0" y="T1"/>
                    </a:cxn>
                    <a:cxn ang="T13">
                      <a:pos x="T2" y="T3"/>
                    </a:cxn>
                    <a:cxn ang="T14">
                      <a:pos x="T4" y="T5"/>
                    </a:cxn>
                    <a:cxn ang="T15">
                      <a:pos x="T6" y="T7"/>
                    </a:cxn>
                    <a:cxn ang="T16">
                      <a:pos x="T8" y="T9"/>
                    </a:cxn>
                    <a:cxn ang="T17">
                      <a:pos x="T10" y="T11"/>
                    </a:cxn>
                  </a:cxnLst>
                  <a:rect l="T18" t="T19" r="T20" b="T21"/>
                  <a:pathLst>
                    <a:path w="432" h="273">
                      <a:moveTo>
                        <a:pt x="431" y="0"/>
                      </a:moveTo>
                      <a:lnTo>
                        <a:pt x="431" y="0"/>
                      </a:lnTo>
                      <a:lnTo>
                        <a:pt x="0" y="265"/>
                      </a:lnTo>
                      <a:lnTo>
                        <a:pt x="0" y="272"/>
                      </a:lnTo>
                      <a:lnTo>
                        <a:pt x="431" y="6"/>
                      </a:lnTo>
                      <a:lnTo>
                        <a:pt x="431" y="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37" name="Freeform 112"/>
                <p:cNvSpPr/>
                <p:nvPr/>
              </p:nvSpPr>
              <p:spPr bwMode="auto">
                <a:xfrm>
                  <a:off x="2350" y="2143"/>
                  <a:ext cx="17" cy="56"/>
                </a:xfrm>
                <a:custGeom>
                  <a:avLst/>
                  <a:gdLst>
                    <a:gd name="T0" fmla="*/ 0 w 17"/>
                    <a:gd name="T1" fmla="*/ 55 h 56"/>
                    <a:gd name="T2" fmla="*/ 0 w 17"/>
                    <a:gd name="T3" fmla="*/ 55 h 56"/>
                    <a:gd name="T4" fmla="*/ 0 w 17"/>
                    <a:gd name="T5" fmla="*/ 45 h 56"/>
                    <a:gd name="T6" fmla="*/ 0 w 17"/>
                    <a:gd name="T7" fmla="*/ 27 h 56"/>
                    <a:gd name="T8" fmla="*/ 0 w 17"/>
                    <a:gd name="T9" fmla="*/ 18 h 56"/>
                    <a:gd name="T10" fmla="*/ 6 w 17"/>
                    <a:gd name="T11" fmla="*/ 9 h 56"/>
                    <a:gd name="T12" fmla="*/ 6 w 17"/>
                    <a:gd name="T13" fmla="*/ 2 h 56"/>
                    <a:gd name="T14" fmla="*/ 6 w 17"/>
                    <a:gd name="T15" fmla="*/ 0 h 56"/>
                    <a:gd name="T16" fmla="*/ 10 w 17"/>
                    <a:gd name="T17" fmla="*/ 0 h 56"/>
                    <a:gd name="T18" fmla="*/ 16 w 17"/>
                    <a:gd name="T19" fmla="*/ 0 h 56"/>
                    <a:gd name="T20" fmla="*/ 16 w 17"/>
                    <a:gd name="T21" fmla="*/ 24 h 56"/>
                    <a:gd name="T22" fmla="*/ 10 w 17"/>
                    <a:gd name="T23" fmla="*/ 42 h 56"/>
                    <a:gd name="T24" fmla="*/ 10 w 17"/>
                    <a:gd name="T25" fmla="*/ 48 h 56"/>
                    <a:gd name="T26" fmla="*/ 10 w 17"/>
                    <a:gd name="T27" fmla="*/ 52 h 56"/>
                    <a:gd name="T28" fmla="*/ 6 w 17"/>
                    <a:gd name="T29" fmla="*/ 52 h 56"/>
                    <a:gd name="T30" fmla="*/ 0 w 17"/>
                    <a:gd name="T31" fmla="*/ 52 h 56"/>
                    <a:gd name="T32" fmla="*/ 0 w 17"/>
                    <a:gd name="T33" fmla="*/ 55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56"/>
                    <a:gd name="T53" fmla="*/ 17 w 17"/>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56">
                      <a:moveTo>
                        <a:pt x="0" y="55"/>
                      </a:moveTo>
                      <a:lnTo>
                        <a:pt x="0" y="55"/>
                      </a:lnTo>
                      <a:lnTo>
                        <a:pt x="0" y="4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38" name="Freeform 113"/>
                <p:cNvSpPr/>
                <p:nvPr/>
              </p:nvSpPr>
              <p:spPr bwMode="auto">
                <a:xfrm>
                  <a:off x="2256" y="2205"/>
                  <a:ext cx="17" cy="55"/>
                </a:xfrm>
                <a:custGeom>
                  <a:avLst/>
                  <a:gdLst>
                    <a:gd name="T0" fmla="*/ 0 w 17"/>
                    <a:gd name="T1" fmla="*/ 54 h 55"/>
                    <a:gd name="T2" fmla="*/ 0 w 17"/>
                    <a:gd name="T3" fmla="*/ 54 h 55"/>
                    <a:gd name="T4" fmla="*/ 0 w 17"/>
                    <a:gd name="T5" fmla="*/ 47 h 55"/>
                    <a:gd name="T6" fmla="*/ 0 w 17"/>
                    <a:gd name="T7" fmla="*/ 27 h 55"/>
                    <a:gd name="T8" fmla="*/ 0 w 17"/>
                    <a:gd name="T9" fmla="*/ 18 h 55"/>
                    <a:gd name="T10" fmla="*/ 0 w 17"/>
                    <a:gd name="T11" fmla="*/ 9 h 55"/>
                    <a:gd name="T12" fmla="*/ 0 w 17"/>
                    <a:gd name="T13" fmla="*/ 6 h 55"/>
                    <a:gd name="T14" fmla="*/ 0 w 17"/>
                    <a:gd name="T15" fmla="*/ 2 h 55"/>
                    <a:gd name="T16" fmla="*/ 0 w 17"/>
                    <a:gd name="T17" fmla="*/ 0 h 55"/>
                    <a:gd name="T18" fmla="*/ 8 w 17"/>
                    <a:gd name="T19" fmla="*/ 0 h 55"/>
                    <a:gd name="T20" fmla="*/ 16 w 17"/>
                    <a:gd name="T21" fmla="*/ 0 h 55"/>
                    <a:gd name="T22" fmla="*/ 16 w 17"/>
                    <a:gd name="T23" fmla="*/ 24 h 55"/>
                    <a:gd name="T24" fmla="*/ 16 w 17"/>
                    <a:gd name="T25" fmla="*/ 42 h 55"/>
                    <a:gd name="T26" fmla="*/ 16 w 17"/>
                    <a:gd name="T27" fmla="*/ 47 h 55"/>
                    <a:gd name="T28" fmla="*/ 16 w 17"/>
                    <a:gd name="T29" fmla="*/ 51 h 55"/>
                    <a:gd name="T30" fmla="*/ 8 w 17"/>
                    <a:gd name="T31" fmla="*/ 51 h 55"/>
                    <a:gd name="T32" fmla="*/ 8 w 17"/>
                    <a:gd name="T33" fmla="*/ 54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7"/>
                      </a:lnTo>
                      <a:lnTo>
                        <a:pt x="0" y="27"/>
                      </a:lnTo>
                      <a:lnTo>
                        <a:pt x="0" y="18"/>
                      </a:lnTo>
                      <a:lnTo>
                        <a:pt x="0" y="9"/>
                      </a:lnTo>
                      <a:lnTo>
                        <a:pt x="0" y="6"/>
                      </a:lnTo>
                      <a:lnTo>
                        <a:pt x="0" y="2"/>
                      </a:lnTo>
                      <a:lnTo>
                        <a:pt x="0" y="0"/>
                      </a:lnTo>
                      <a:lnTo>
                        <a:pt x="8" y="0"/>
                      </a:lnTo>
                      <a:lnTo>
                        <a:pt x="16" y="0"/>
                      </a:lnTo>
                      <a:lnTo>
                        <a:pt x="16" y="24"/>
                      </a:lnTo>
                      <a:lnTo>
                        <a:pt x="16" y="42"/>
                      </a:lnTo>
                      <a:lnTo>
                        <a:pt x="16" y="47"/>
                      </a:lnTo>
                      <a:lnTo>
                        <a:pt x="16" y="51"/>
                      </a:lnTo>
                      <a:lnTo>
                        <a:pt x="8" y="51"/>
                      </a:lnTo>
                      <a:lnTo>
                        <a:pt x="8" y="54"/>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39" name="Freeform 114"/>
                <p:cNvSpPr/>
                <p:nvPr/>
              </p:nvSpPr>
              <p:spPr bwMode="auto">
                <a:xfrm>
                  <a:off x="2147" y="2272"/>
                  <a:ext cx="17" cy="59"/>
                </a:xfrm>
                <a:custGeom>
                  <a:avLst/>
                  <a:gdLst>
                    <a:gd name="T0" fmla="*/ 0 w 17"/>
                    <a:gd name="T1" fmla="*/ 58 h 59"/>
                    <a:gd name="T2" fmla="*/ 0 w 17"/>
                    <a:gd name="T3" fmla="*/ 58 h 59"/>
                    <a:gd name="T4" fmla="*/ 0 w 17"/>
                    <a:gd name="T5" fmla="*/ 48 h 59"/>
                    <a:gd name="T6" fmla="*/ 0 w 17"/>
                    <a:gd name="T7" fmla="*/ 30 h 59"/>
                    <a:gd name="T8" fmla="*/ 0 w 17"/>
                    <a:gd name="T9" fmla="*/ 18 h 59"/>
                    <a:gd name="T10" fmla="*/ 0 w 17"/>
                    <a:gd name="T11" fmla="*/ 9 h 59"/>
                    <a:gd name="T12" fmla="*/ 6 w 17"/>
                    <a:gd name="T13" fmla="*/ 2 h 59"/>
                    <a:gd name="T14" fmla="*/ 6 w 17"/>
                    <a:gd name="T15" fmla="*/ 0 h 59"/>
                    <a:gd name="T16" fmla="*/ 10 w 17"/>
                    <a:gd name="T17" fmla="*/ 0 h 59"/>
                    <a:gd name="T18" fmla="*/ 16 w 17"/>
                    <a:gd name="T19" fmla="*/ 0 h 59"/>
                    <a:gd name="T20" fmla="*/ 16 w 17"/>
                    <a:gd name="T21" fmla="*/ 24 h 59"/>
                    <a:gd name="T22" fmla="*/ 16 w 17"/>
                    <a:gd name="T23" fmla="*/ 42 h 59"/>
                    <a:gd name="T24" fmla="*/ 16 w 17"/>
                    <a:gd name="T25" fmla="*/ 51 h 59"/>
                    <a:gd name="T26" fmla="*/ 10 w 17"/>
                    <a:gd name="T27" fmla="*/ 51 h 59"/>
                    <a:gd name="T28" fmla="*/ 6 w 17"/>
                    <a:gd name="T29" fmla="*/ 51 h 59"/>
                    <a:gd name="T30" fmla="*/ 6 w 17"/>
                    <a:gd name="T31" fmla="*/ 55 h 59"/>
                    <a:gd name="T32" fmla="*/ 6 w 17"/>
                    <a:gd name="T33" fmla="*/ 58 h 59"/>
                    <a:gd name="T34" fmla="*/ 0 w 17"/>
                    <a:gd name="T35" fmla="*/ 58 h 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9"/>
                    <a:gd name="T56" fmla="*/ 17 w 17"/>
                    <a:gd name="T57" fmla="*/ 59 h 5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9">
                      <a:moveTo>
                        <a:pt x="0" y="58"/>
                      </a:moveTo>
                      <a:lnTo>
                        <a:pt x="0" y="58"/>
                      </a:lnTo>
                      <a:lnTo>
                        <a:pt x="0" y="48"/>
                      </a:lnTo>
                      <a:lnTo>
                        <a:pt x="0" y="30"/>
                      </a:lnTo>
                      <a:lnTo>
                        <a:pt x="0" y="18"/>
                      </a:lnTo>
                      <a:lnTo>
                        <a:pt x="0" y="9"/>
                      </a:lnTo>
                      <a:lnTo>
                        <a:pt x="6" y="2"/>
                      </a:lnTo>
                      <a:lnTo>
                        <a:pt x="6" y="0"/>
                      </a:lnTo>
                      <a:lnTo>
                        <a:pt x="10" y="0"/>
                      </a:lnTo>
                      <a:lnTo>
                        <a:pt x="16" y="0"/>
                      </a:lnTo>
                      <a:lnTo>
                        <a:pt x="16" y="24"/>
                      </a:lnTo>
                      <a:lnTo>
                        <a:pt x="16" y="42"/>
                      </a:lnTo>
                      <a:lnTo>
                        <a:pt x="16" y="51"/>
                      </a:lnTo>
                      <a:lnTo>
                        <a:pt x="10" y="51"/>
                      </a:lnTo>
                      <a:lnTo>
                        <a:pt x="6" y="51"/>
                      </a:lnTo>
                      <a:lnTo>
                        <a:pt x="6" y="55"/>
                      </a:lnTo>
                      <a:lnTo>
                        <a:pt x="6" y="58"/>
                      </a:lnTo>
                      <a:lnTo>
                        <a:pt x="0" y="58"/>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40" name="Freeform 115"/>
                <p:cNvSpPr/>
                <p:nvPr/>
              </p:nvSpPr>
              <p:spPr bwMode="auto">
                <a:xfrm>
                  <a:off x="2053" y="2294"/>
                  <a:ext cx="45" cy="65"/>
                </a:xfrm>
                <a:custGeom>
                  <a:avLst/>
                  <a:gdLst>
                    <a:gd name="T0" fmla="*/ 44 w 45"/>
                    <a:gd name="T1" fmla="*/ 64 h 65"/>
                    <a:gd name="T2" fmla="*/ 44 w 45"/>
                    <a:gd name="T3" fmla="*/ 64 h 65"/>
                    <a:gd name="T4" fmla="*/ 0 w 45"/>
                    <a:gd name="T5" fmla="*/ 55 h 65"/>
                    <a:gd name="T6" fmla="*/ 0 w 45"/>
                    <a:gd name="T7" fmla="*/ 0 h 65"/>
                    <a:gd name="T8" fmla="*/ 44 w 45"/>
                    <a:gd name="T9" fmla="*/ 12 h 65"/>
                    <a:gd name="T10" fmla="*/ 44 w 45"/>
                    <a:gd name="T11" fmla="*/ 64 h 65"/>
                    <a:gd name="T12" fmla="*/ 0 60000 65536"/>
                    <a:gd name="T13" fmla="*/ 0 60000 65536"/>
                    <a:gd name="T14" fmla="*/ 0 60000 65536"/>
                    <a:gd name="T15" fmla="*/ 0 60000 65536"/>
                    <a:gd name="T16" fmla="*/ 0 60000 65536"/>
                    <a:gd name="T17" fmla="*/ 0 60000 65536"/>
                    <a:gd name="T18" fmla="*/ 0 w 45"/>
                    <a:gd name="T19" fmla="*/ 0 h 65"/>
                    <a:gd name="T20" fmla="*/ 45 w 45"/>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5" h="65">
                      <a:moveTo>
                        <a:pt x="44" y="64"/>
                      </a:moveTo>
                      <a:lnTo>
                        <a:pt x="44" y="64"/>
                      </a:lnTo>
                      <a:lnTo>
                        <a:pt x="0" y="55"/>
                      </a:lnTo>
                      <a:lnTo>
                        <a:pt x="0" y="0"/>
                      </a:lnTo>
                      <a:lnTo>
                        <a:pt x="44" y="12"/>
                      </a:lnTo>
                      <a:lnTo>
                        <a:pt x="44" y="6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41" name="Freeform 116"/>
                <p:cNvSpPr/>
                <p:nvPr/>
              </p:nvSpPr>
              <p:spPr bwMode="auto">
                <a:xfrm>
                  <a:off x="2053" y="2352"/>
                  <a:ext cx="45" cy="17"/>
                </a:xfrm>
                <a:custGeom>
                  <a:avLst/>
                  <a:gdLst>
                    <a:gd name="T0" fmla="*/ 44 w 45"/>
                    <a:gd name="T1" fmla="*/ 16 h 17"/>
                    <a:gd name="T2" fmla="*/ 44 w 45"/>
                    <a:gd name="T3" fmla="*/ 16 h 17"/>
                    <a:gd name="T4" fmla="*/ 44 w 45"/>
                    <a:gd name="T5" fmla="*/ 12 h 17"/>
                    <a:gd name="T6" fmla="*/ 44 w 45"/>
                    <a:gd name="T7" fmla="*/ 9 h 17"/>
                    <a:gd name="T8" fmla="*/ 22 w 45"/>
                    <a:gd name="T9" fmla="*/ 3 h 17"/>
                    <a:gd name="T10" fmla="*/ 0 w 45"/>
                    <a:gd name="T11" fmla="*/ 0 h 17"/>
                    <a:gd name="T12" fmla="*/ 0 w 45"/>
                    <a:gd name="T13" fmla="*/ 3 h 17"/>
                    <a:gd name="T14" fmla="*/ 0 w 45"/>
                    <a:gd name="T15" fmla="*/ 6 h 17"/>
                    <a:gd name="T16" fmla="*/ 5 w 45"/>
                    <a:gd name="T17" fmla="*/ 9 h 17"/>
                    <a:gd name="T18" fmla="*/ 19 w 45"/>
                    <a:gd name="T19" fmla="*/ 9 h 17"/>
                    <a:gd name="T20" fmla="*/ 27 w 45"/>
                    <a:gd name="T21" fmla="*/ 12 h 17"/>
                    <a:gd name="T22" fmla="*/ 35 w 45"/>
                    <a:gd name="T23" fmla="*/ 12 h 17"/>
                    <a:gd name="T24" fmla="*/ 38 w 45"/>
                    <a:gd name="T25" fmla="*/ 12 h 17"/>
                    <a:gd name="T26" fmla="*/ 41 w 45"/>
                    <a:gd name="T27" fmla="*/ 16 h 17"/>
                    <a:gd name="T28" fmla="*/ 44 w 45"/>
                    <a:gd name="T29" fmla="*/ 1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17"/>
                    <a:gd name="T47" fmla="*/ 45 w 45"/>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17">
                      <a:moveTo>
                        <a:pt x="44" y="16"/>
                      </a:moveTo>
                      <a:lnTo>
                        <a:pt x="44" y="16"/>
                      </a:lnTo>
                      <a:lnTo>
                        <a:pt x="44" y="12"/>
                      </a:lnTo>
                      <a:lnTo>
                        <a:pt x="44" y="9"/>
                      </a:lnTo>
                      <a:lnTo>
                        <a:pt x="22" y="3"/>
                      </a:lnTo>
                      <a:lnTo>
                        <a:pt x="0" y="0"/>
                      </a:lnTo>
                      <a:lnTo>
                        <a:pt x="0" y="3"/>
                      </a:lnTo>
                      <a:lnTo>
                        <a:pt x="0" y="6"/>
                      </a:lnTo>
                      <a:lnTo>
                        <a:pt x="5" y="9"/>
                      </a:lnTo>
                      <a:lnTo>
                        <a:pt x="19" y="9"/>
                      </a:lnTo>
                      <a:lnTo>
                        <a:pt x="27" y="12"/>
                      </a:lnTo>
                      <a:lnTo>
                        <a:pt x="35" y="12"/>
                      </a:lnTo>
                      <a:lnTo>
                        <a:pt x="38" y="12"/>
                      </a:lnTo>
                      <a:lnTo>
                        <a:pt x="41" y="16"/>
                      </a:lnTo>
                      <a:lnTo>
                        <a:pt x="44" y="16"/>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42" name="Freeform 117"/>
                <p:cNvSpPr/>
                <p:nvPr/>
              </p:nvSpPr>
              <p:spPr bwMode="auto">
                <a:xfrm>
                  <a:off x="2053" y="2288"/>
                  <a:ext cx="45" cy="17"/>
                </a:xfrm>
                <a:custGeom>
                  <a:avLst/>
                  <a:gdLst>
                    <a:gd name="T0" fmla="*/ 44 w 45"/>
                    <a:gd name="T1" fmla="*/ 16 h 17"/>
                    <a:gd name="T2" fmla="*/ 44 w 45"/>
                    <a:gd name="T3" fmla="*/ 16 h 17"/>
                    <a:gd name="T4" fmla="*/ 44 w 45"/>
                    <a:gd name="T5" fmla="*/ 13 h 17"/>
                    <a:gd name="T6" fmla="*/ 44 w 45"/>
                    <a:gd name="T7" fmla="*/ 10 h 17"/>
                    <a:gd name="T8" fmla="*/ 22 w 45"/>
                    <a:gd name="T9" fmla="*/ 5 h 17"/>
                    <a:gd name="T10" fmla="*/ 0 w 45"/>
                    <a:gd name="T11" fmla="*/ 0 h 17"/>
                    <a:gd name="T12" fmla="*/ 0 w 45"/>
                    <a:gd name="T13" fmla="*/ 2 h 17"/>
                    <a:gd name="T14" fmla="*/ 0 w 45"/>
                    <a:gd name="T15" fmla="*/ 5 h 17"/>
                    <a:gd name="T16" fmla="*/ 5 w 45"/>
                    <a:gd name="T17" fmla="*/ 8 h 17"/>
                    <a:gd name="T18" fmla="*/ 13 w 45"/>
                    <a:gd name="T19" fmla="*/ 8 h 17"/>
                    <a:gd name="T20" fmla="*/ 19 w 45"/>
                    <a:gd name="T21" fmla="*/ 10 h 17"/>
                    <a:gd name="T22" fmla="*/ 27 w 45"/>
                    <a:gd name="T23" fmla="*/ 10 h 17"/>
                    <a:gd name="T24" fmla="*/ 35 w 45"/>
                    <a:gd name="T25" fmla="*/ 13 h 17"/>
                    <a:gd name="T26" fmla="*/ 38 w 45"/>
                    <a:gd name="T27" fmla="*/ 13 h 17"/>
                    <a:gd name="T28" fmla="*/ 41 w 45"/>
                    <a:gd name="T29" fmla="*/ 16 h 17"/>
                    <a:gd name="T30" fmla="*/ 44 w 45"/>
                    <a:gd name="T31" fmla="*/ 16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7"/>
                    <a:gd name="T50" fmla="*/ 45 w 4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7">
                      <a:moveTo>
                        <a:pt x="44" y="16"/>
                      </a:moveTo>
                      <a:lnTo>
                        <a:pt x="44" y="16"/>
                      </a:lnTo>
                      <a:lnTo>
                        <a:pt x="44" y="13"/>
                      </a:lnTo>
                      <a:lnTo>
                        <a:pt x="44" y="10"/>
                      </a:lnTo>
                      <a:lnTo>
                        <a:pt x="22" y="5"/>
                      </a:lnTo>
                      <a:lnTo>
                        <a:pt x="0" y="0"/>
                      </a:lnTo>
                      <a:lnTo>
                        <a:pt x="0" y="2"/>
                      </a:lnTo>
                      <a:lnTo>
                        <a:pt x="0" y="5"/>
                      </a:lnTo>
                      <a:lnTo>
                        <a:pt x="5" y="8"/>
                      </a:lnTo>
                      <a:lnTo>
                        <a:pt x="13" y="8"/>
                      </a:lnTo>
                      <a:lnTo>
                        <a:pt x="19" y="10"/>
                      </a:lnTo>
                      <a:lnTo>
                        <a:pt x="27" y="10"/>
                      </a:lnTo>
                      <a:lnTo>
                        <a:pt x="35" y="13"/>
                      </a:lnTo>
                      <a:lnTo>
                        <a:pt x="38" y="13"/>
                      </a:lnTo>
                      <a:lnTo>
                        <a:pt x="41" y="16"/>
                      </a:lnTo>
                      <a:lnTo>
                        <a:pt x="44" y="16"/>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14" name="Group 118"/>
              <p:cNvGrpSpPr/>
              <p:nvPr/>
            </p:nvGrpSpPr>
            <p:grpSpPr bwMode="auto">
              <a:xfrm>
                <a:off x="2050" y="1915"/>
                <a:ext cx="488" cy="380"/>
                <a:chOff x="2050" y="1915"/>
                <a:chExt cx="488" cy="380"/>
              </a:xfrm>
            </p:grpSpPr>
            <p:sp>
              <p:nvSpPr>
                <p:cNvPr id="44367" name="Freeform 119"/>
                <p:cNvSpPr/>
                <p:nvPr/>
              </p:nvSpPr>
              <p:spPr bwMode="auto">
                <a:xfrm>
                  <a:off x="2494" y="1980"/>
                  <a:ext cx="37" cy="72"/>
                </a:xfrm>
                <a:custGeom>
                  <a:avLst/>
                  <a:gdLst>
                    <a:gd name="T0" fmla="*/ 0 w 37"/>
                    <a:gd name="T1" fmla="*/ 71 h 72"/>
                    <a:gd name="T2" fmla="*/ 0 w 37"/>
                    <a:gd name="T3" fmla="*/ 71 h 72"/>
                    <a:gd name="T4" fmla="*/ 2 w 37"/>
                    <a:gd name="T5" fmla="*/ 21 h 72"/>
                    <a:gd name="T6" fmla="*/ 36 w 37"/>
                    <a:gd name="T7" fmla="*/ 0 h 72"/>
                    <a:gd name="T8" fmla="*/ 33 w 37"/>
                    <a:gd name="T9" fmla="*/ 49 h 72"/>
                    <a:gd name="T10" fmla="*/ 0 w 37"/>
                    <a:gd name="T11" fmla="*/ 71 h 72"/>
                    <a:gd name="T12" fmla="*/ 0 60000 65536"/>
                    <a:gd name="T13" fmla="*/ 0 60000 65536"/>
                    <a:gd name="T14" fmla="*/ 0 60000 65536"/>
                    <a:gd name="T15" fmla="*/ 0 60000 65536"/>
                    <a:gd name="T16" fmla="*/ 0 60000 65536"/>
                    <a:gd name="T17" fmla="*/ 0 60000 65536"/>
                    <a:gd name="T18" fmla="*/ 0 w 37"/>
                    <a:gd name="T19" fmla="*/ 0 h 72"/>
                    <a:gd name="T20" fmla="*/ 37 w 37"/>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7" h="72">
                      <a:moveTo>
                        <a:pt x="0" y="71"/>
                      </a:moveTo>
                      <a:lnTo>
                        <a:pt x="0" y="71"/>
                      </a:lnTo>
                      <a:lnTo>
                        <a:pt x="2" y="21"/>
                      </a:lnTo>
                      <a:lnTo>
                        <a:pt x="36" y="0"/>
                      </a:lnTo>
                      <a:lnTo>
                        <a:pt x="33" y="49"/>
                      </a:lnTo>
                      <a:lnTo>
                        <a:pt x="0" y="71"/>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68" name="Freeform 120"/>
                <p:cNvSpPr/>
                <p:nvPr/>
              </p:nvSpPr>
              <p:spPr bwMode="auto">
                <a:xfrm>
                  <a:off x="2462" y="1988"/>
                  <a:ext cx="32" cy="65"/>
                </a:xfrm>
                <a:custGeom>
                  <a:avLst/>
                  <a:gdLst>
                    <a:gd name="T0" fmla="*/ 28 w 32"/>
                    <a:gd name="T1" fmla="*/ 64 h 65"/>
                    <a:gd name="T2" fmla="*/ 28 w 32"/>
                    <a:gd name="T3" fmla="*/ 64 h 65"/>
                    <a:gd name="T4" fmla="*/ 0 w 32"/>
                    <a:gd name="T5" fmla="*/ 48 h 65"/>
                    <a:gd name="T6" fmla="*/ 2 w 32"/>
                    <a:gd name="T7" fmla="*/ 0 h 65"/>
                    <a:gd name="T8" fmla="*/ 31 w 32"/>
                    <a:gd name="T9" fmla="*/ 15 h 65"/>
                    <a:gd name="T10" fmla="*/ 28 w 32"/>
                    <a:gd name="T11" fmla="*/ 64 h 65"/>
                    <a:gd name="T12" fmla="*/ 0 60000 65536"/>
                    <a:gd name="T13" fmla="*/ 0 60000 65536"/>
                    <a:gd name="T14" fmla="*/ 0 60000 65536"/>
                    <a:gd name="T15" fmla="*/ 0 60000 65536"/>
                    <a:gd name="T16" fmla="*/ 0 60000 65536"/>
                    <a:gd name="T17" fmla="*/ 0 60000 65536"/>
                    <a:gd name="T18" fmla="*/ 0 w 32"/>
                    <a:gd name="T19" fmla="*/ 0 h 65"/>
                    <a:gd name="T20" fmla="*/ 32 w 32"/>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2" h="65">
                      <a:moveTo>
                        <a:pt x="28" y="64"/>
                      </a:moveTo>
                      <a:lnTo>
                        <a:pt x="28" y="64"/>
                      </a:lnTo>
                      <a:lnTo>
                        <a:pt x="0" y="48"/>
                      </a:lnTo>
                      <a:lnTo>
                        <a:pt x="2" y="0"/>
                      </a:lnTo>
                      <a:lnTo>
                        <a:pt x="31" y="15"/>
                      </a:lnTo>
                      <a:lnTo>
                        <a:pt x="28" y="6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69" name="Freeform 121"/>
                <p:cNvSpPr/>
                <p:nvPr/>
              </p:nvSpPr>
              <p:spPr bwMode="auto">
                <a:xfrm>
                  <a:off x="2466" y="1968"/>
                  <a:ext cx="65" cy="33"/>
                </a:xfrm>
                <a:custGeom>
                  <a:avLst/>
                  <a:gdLst>
                    <a:gd name="T0" fmla="*/ 29 w 65"/>
                    <a:gd name="T1" fmla="*/ 32 h 33"/>
                    <a:gd name="T2" fmla="*/ 29 w 65"/>
                    <a:gd name="T3" fmla="*/ 32 h 33"/>
                    <a:gd name="T4" fmla="*/ 0 w 65"/>
                    <a:gd name="T5" fmla="*/ 17 h 33"/>
                    <a:gd name="T6" fmla="*/ 34 w 65"/>
                    <a:gd name="T7" fmla="*/ 0 h 33"/>
                    <a:gd name="T8" fmla="*/ 64 w 65"/>
                    <a:gd name="T9" fmla="*/ 14 h 33"/>
                    <a:gd name="T10" fmla="*/ 29 w 65"/>
                    <a:gd name="T11" fmla="*/ 32 h 33"/>
                    <a:gd name="T12" fmla="*/ 0 60000 65536"/>
                    <a:gd name="T13" fmla="*/ 0 60000 65536"/>
                    <a:gd name="T14" fmla="*/ 0 60000 65536"/>
                    <a:gd name="T15" fmla="*/ 0 60000 65536"/>
                    <a:gd name="T16" fmla="*/ 0 60000 65536"/>
                    <a:gd name="T17" fmla="*/ 0 60000 65536"/>
                    <a:gd name="T18" fmla="*/ 0 w 65"/>
                    <a:gd name="T19" fmla="*/ 0 h 33"/>
                    <a:gd name="T20" fmla="*/ 65 w 6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5" h="33">
                      <a:moveTo>
                        <a:pt x="29" y="32"/>
                      </a:moveTo>
                      <a:lnTo>
                        <a:pt x="29" y="32"/>
                      </a:lnTo>
                      <a:lnTo>
                        <a:pt x="0" y="17"/>
                      </a:lnTo>
                      <a:lnTo>
                        <a:pt x="34" y="0"/>
                      </a:lnTo>
                      <a:lnTo>
                        <a:pt x="64" y="14"/>
                      </a:lnTo>
                      <a:lnTo>
                        <a:pt x="29" y="32"/>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370" name="Group 122"/>
                <p:cNvGrpSpPr/>
                <p:nvPr/>
              </p:nvGrpSpPr>
              <p:grpSpPr bwMode="auto">
                <a:xfrm>
                  <a:off x="2372" y="1993"/>
                  <a:ext cx="120" cy="114"/>
                  <a:chOff x="2372" y="1993"/>
                  <a:chExt cx="120" cy="114"/>
                </a:xfrm>
              </p:grpSpPr>
              <p:sp>
                <p:nvSpPr>
                  <p:cNvPr id="44414" name="Freeform 123"/>
                  <p:cNvSpPr/>
                  <p:nvPr/>
                </p:nvSpPr>
                <p:spPr bwMode="auto">
                  <a:xfrm>
                    <a:off x="2405" y="2010"/>
                    <a:ext cx="87" cy="97"/>
                  </a:xfrm>
                  <a:custGeom>
                    <a:avLst/>
                    <a:gdLst>
                      <a:gd name="T0" fmla="*/ 0 w 87"/>
                      <a:gd name="T1" fmla="*/ 96 h 97"/>
                      <a:gd name="T2" fmla="*/ 0 w 87"/>
                      <a:gd name="T3" fmla="*/ 96 h 97"/>
                      <a:gd name="T4" fmla="*/ 2 w 87"/>
                      <a:gd name="T5" fmla="*/ 46 h 97"/>
                      <a:gd name="T6" fmla="*/ 86 w 87"/>
                      <a:gd name="T7" fmla="*/ 0 h 97"/>
                      <a:gd name="T8" fmla="*/ 83 w 87"/>
                      <a:gd name="T9" fmla="*/ 49 h 97"/>
                      <a:gd name="T10" fmla="*/ 0 w 87"/>
                      <a:gd name="T11" fmla="*/ 96 h 97"/>
                      <a:gd name="T12" fmla="*/ 0 60000 65536"/>
                      <a:gd name="T13" fmla="*/ 0 60000 65536"/>
                      <a:gd name="T14" fmla="*/ 0 60000 65536"/>
                      <a:gd name="T15" fmla="*/ 0 60000 65536"/>
                      <a:gd name="T16" fmla="*/ 0 60000 65536"/>
                      <a:gd name="T17" fmla="*/ 0 60000 65536"/>
                      <a:gd name="T18" fmla="*/ 0 w 87"/>
                      <a:gd name="T19" fmla="*/ 0 h 97"/>
                      <a:gd name="T20" fmla="*/ 87 w 87"/>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7" h="97">
                        <a:moveTo>
                          <a:pt x="0" y="96"/>
                        </a:moveTo>
                        <a:lnTo>
                          <a:pt x="0" y="96"/>
                        </a:lnTo>
                        <a:lnTo>
                          <a:pt x="2" y="46"/>
                        </a:lnTo>
                        <a:lnTo>
                          <a:pt x="86" y="0"/>
                        </a:lnTo>
                        <a:lnTo>
                          <a:pt x="83" y="49"/>
                        </a:lnTo>
                        <a:lnTo>
                          <a:pt x="0" y="9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15" name="Freeform 124"/>
                  <p:cNvSpPr/>
                  <p:nvPr/>
                </p:nvSpPr>
                <p:spPr bwMode="auto">
                  <a:xfrm>
                    <a:off x="2372" y="2042"/>
                    <a:ext cx="34" cy="65"/>
                  </a:xfrm>
                  <a:custGeom>
                    <a:avLst/>
                    <a:gdLst>
                      <a:gd name="T0" fmla="*/ 30 w 34"/>
                      <a:gd name="T1" fmla="*/ 64 h 65"/>
                      <a:gd name="T2" fmla="*/ 30 w 34"/>
                      <a:gd name="T3" fmla="*/ 64 h 65"/>
                      <a:gd name="T4" fmla="*/ 0 w 34"/>
                      <a:gd name="T5" fmla="*/ 51 h 65"/>
                      <a:gd name="T6" fmla="*/ 2 w 34"/>
                      <a:gd name="T7" fmla="*/ 0 h 65"/>
                      <a:gd name="T8" fmla="*/ 33 w 34"/>
                      <a:gd name="T9" fmla="*/ 15 h 65"/>
                      <a:gd name="T10" fmla="*/ 30 w 34"/>
                      <a:gd name="T11" fmla="*/ 64 h 65"/>
                      <a:gd name="T12" fmla="*/ 0 60000 65536"/>
                      <a:gd name="T13" fmla="*/ 0 60000 65536"/>
                      <a:gd name="T14" fmla="*/ 0 60000 65536"/>
                      <a:gd name="T15" fmla="*/ 0 60000 65536"/>
                      <a:gd name="T16" fmla="*/ 0 60000 65536"/>
                      <a:gd name="T17" fmla="*/ 0 60000 65536"/>
                      <a:gd name="T18" fmla="*/ 0 w 34"/>
                      <a:gd name="T19" fmla="*/ 0 h 65"/>
                      <a:gd name="T20" fmla="*/ 34 w 34"/>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4" h="65">
                        <a:moveTo>
                          <a:pt x="30" y="64"/>
                        </a:moveTo>
                        <a:lnTo>
                          <a:pt x="30" y="64"/>
                        </a:lnTo>
                        <a:lnTo>
                          <a:pt x="0" y="51"/>
                        </a:lnTo>
                        <a:lnTo>
                          <a:pt x="2" y="0"/>
                        </a:lnTo>
                        <a:lnTo>
                          <a:pt x="33" y="15"/>
                        </a:lnTo>
                        <a:lnTo>
                          <a:pt x="30" y="6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16" name="Freeform 125"/>
                  <p:cNvSpPr/>
                  <p:nvPr/>
                </p:nvSpPr>
                <p:spPr bwMode="auto">
                  <a:xfrm>
                    <a:off x="2375" y="1993"/>
                    <a:ext cx="117" cy="63"/>
                  </a:xfrm>
                  <a:custGeom>
                    <a:avLst/>
                    <a:gdLst>
                      <a:gd name="T0" fmla="*/ 33 w 117"/>
                      <a:gd name="T1" fmla="*/ 62 h 63"/>
                      <a:gd name="T2" fmla="*/ 33 w 117"/>
                      <a:gd name="T3" fmla="*/ 62 h 63"/>
                      <a:gd name="T4" fmla="*/ 0 w 117"/>
                      <a:gd name="T5" fmla="*/ 46 h 63"/>
                      <a:gd name="T6" fmla="*/ 82 w 117"/>
                      <a:gd name="T7" fmla="*/ 0 h 63"/>
                      <a:gd name="T8" fmla="*/ 116 w 117"/>
                      <a:gd name="T9" fmla="*/ 15 h 63"/>
                      <a:gd name="T10" fmla="*/ 33 w 117"/>
                      <a:gd name="T11" fmla="*/ 62 h 63"/>
                      <a:gd name="T12" fmla="*/ 0 60000 65536"/>
                      <a:gd name="T13" fmla="*/ 0 60000 65536"/>
                      <a:gd name="T14" fmla="*/ 0 60000 65536"/>
                      <a:gd name="T15" fmla="*/ 0 60000 65536"/>
                      <a:gd name="T16" fmla="*/ 0 60000 65536"/>
                      <a:gd name="T17" fmla="*/ 0 60000 65536"/>
                      <a:gd name="T18" fmla="*/ 0 w 117"/>
                      <a:gd name="T19" fmla="*/ 0 h 63"/>
                      <a:gd name="T20" fmla="*/ 117 w 117"/>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17" h="63">
                        <a:moveTo>
                          <a:pt x="33" y="62"/>
                        </a:moveTo>
                        <a:lnTo>
                          <a:pt x="33" y="62"/>
                        </a:lnTo>
                        <a:lnTo>
                          <a:pt x="0" y="46"/>
                        </a:lnTo>
                        <a:lnTo>
                          <a:pt x="82" y="0"/>
                        </a:lnTo>
                        <a:lnTo>
                          <a:pt x="116" y="15"/>
                        </a:lnTo>
                        <a:lnTo>
                          <a:pt x="33" y="62"/>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71" name="Group 126"/>
                <p:cNvGrpSpPr/>
                <p:nvPr/>
              </p:nvGrpSpPr>
              <p:grpSpPr bwMode="auto">
                <a:xfrm>
                  <a:off x="2272" y="2047"/>
                  <a:ext cx="129" cy="117"/>
                  <a:chOff x="2272" y="2047"/>
                  <a:chExt cx="129" cy="117"/>
                </a:xfrm>
              </p:grpSpPr>
              <p:sp>
                <p:nvSpPr>
                  <p:cNvPr id="44411" name="Freeform 127"/>
                  <p:cNvSpPr/>
                  <p:nvPr/>
                </p:nvSpPr>
                <p:spPr bwMode="auto">
                  <a:xfrm>
                    <a:off x="2312" y="2064"/>
                    <a:ext cx="89" cy="100"/>
                  </a:xfrm>
                  <a:custGeom>
                    <a:avLst/>
                    <a:gdLst>
                      <a:gd name="T0" fmla="*/ 0 w 89"/>
                      <a:gd name="T1" fmla="*/ 99 h 100"/>
                      <a:gd name="T2" fmla="*/ 0 w 89"/>
                      <a:gd name="T3" fmla="*/ 99 h 100"/>
                      <a:gd name="T4" fmla="*/ 2 w 89"/>
                      <a:gd name="T5" fmla="*/ 49 h 100"/>
                      <a:gd name="T6" fmla="*/ 88 w 89"/>
                      <a:gd name="T7" fmla="*/ 0 h 100"/>
                      <a:gd name="T8" fmla="*/ 88 w 89"/>
                      <a:gd name="T9" fmla="*/ 49 h 100"/>
                      <a:gd name="T10" fmla="*/ 0 w 89"/>
                      <a:gd name="T11" fmla="*/ 99 h 100"/>
                      <a:gd name="T12" fmla="*/ 0 60000 65536"/>
                      <a:gd name="T13" fmla="*/ 0 60000 65536"/>
                      <a:gd name="T14" fmla="*/ 0 60000 65536"/>
                      <a:gd name="T15" fmla="*/ 0 60000 65536"/>
                      <a:gd name="T16" fmla="*/ 0 60000 65536"/>
                      <a:gd name="T17" fmla="*/ 0 60000 65536"/>
                      <a:gd name="T18" fmla="*/ 0 w 89"/>
                      <a:gd name="T19" fmla="*/ 0 h 100"/>
                      <a:gd name="T20" fmla="*/ 89 w 89"/>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9" h="100">
                        <a:moveTo>
                          <a:pt x="0" y="99"/>
                        </a:moveTo>
                        <a:lnTo>
                          <a:pt x="0" y="99"/>
                        </a:lnTo>
                        <a:lnTo>
                          <a:pt x="2" y="49"/>
                        </a:lnTo>
                        <a:lnTo>
                          <a:pt x="88" y="0"/>
                        </a:lnTo>
                        <a:lnTo>
                          <a:pt x="88" y="49"/>
                        </a:lnTo>
                        <a:lnTo>
                          <a:pt x="0" y="99"/>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12" name="Freeform 128"/>
                  <p:cNvSpPr/>
                  <p:nvPr/>
                </p:nvSpPr>
                <p:spPr bwMode="auto">
                  <a:xfrm>
                    <a:off x="2272" y="2099"/>
                    <a:ext cx="41" cy="65"/>
                  </a:xfrm>
                  <a:custGeom>
                    <a:avLst/>
                    <a:gdLst>
                      <a:gd name="T0" fmla="*/ 37 w 41"/>
                      <a:gd name="T1" fmla="*/ 64 h 65"/>
                      <a:gd name="T2" fmla="*/ 37 w 41"/>
                      <a:gd name="T3" fmla="*/ 64 h 65"/>
                      <a:gd name="T4" fmla="*/ 0 w 41"/>
                      <a:gd name="T5" fmla="*/ 51 h 65"/>
                      <a:gd name="T6" fmla="*/ 2 w 41"/>
                      <a:gd name="T7" fmla="*/ 0 h 65"/>
                      <a:gd name="T8" fmla="*/ 40 w 41"/>
                      <a:gd name="T9" fmla="*/ 15 h 65"/>
                      <a:gd name="T10" fmla="*/ 37 w 41"/>
                      <a:gd name="T11" fmla="*/ 64 h 65"/>
                      <a:gd name="T12" fmla="*/ 0 60000 65536"/>
                      <a:gd name="T13" fmla="*/ 0 60000 65536"/>
                      <a:gd name="T14" fmla="*/ 0 60000 65536"/>
                      <a:gd name="T15" fmla="*/ 0 60000 65536"/>
                      <a:gd name="T16" fmla="*/ 0 60000 65536"/>
                      <a:gd name="T17" fmla="*/ 0 60000 65536"/>
                      <a:gd name="T18" fmla="*/ 0 w 41"/>
                      <a:gd name="T19" fmla="*/ 0 h 65"/>
                      <a:gd name="T20" fmla="*/ 41 w 4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1" h="65">
                        <a:moveTo>
                          <a:pt x="37" y="64"/>
                        </a:moveTo>
                        <a:lnTo>
                          <a:pt x="37" y="64"/>
                        </a:lnTo>
                        <a:lnTo>
                          <a:pt x="0" y="51"/>
                        </a:lnTo>
                        <a:lnTo>
                          <a:pt x="2" y="0"/>
                        </a:lnTo>
                        <a:lnTo>
                          <a:pt x="40" y="15"/>
                        </a:lnTo>
                        <a:lnTo>
                          <a:pt x="37" y="6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13" name="Freeform 129"/>
                  <p:cNvSpPr/>
                  <p:nvPr/>
                </p:nvSpPr>
                <p:spPr bwMode="auto">
                  <a:xfrm>
                    <a:off x="2275" y="2047"/>
                    <a:ext cx="126" cy="67"/>
                  </a:xfrm>
                  <a:custGeom>
                    <a:avLst/>
                    <a:gdLst>
                      <a:gd name="T0" fmla="*/ 39 w 126"/>
                      <a:gd name="T1" fmla="*/ 66 h 67"/>
                      <a:gd name="T2" fmla="*/ 39 w 126"/>
                      <a:gd name="T3" fmla="*/ 66 h 67"/>
                      <a:gd name="T4" fmla="*/ 0 w 126"/>
                      <a:gd name="T5" fmla="*/ 50 h 67"/>
                      <a:gd name="T6" fmla="*/ 91 w 126"/>
                      <a:gd name="T7" fmla="*/ 0 h 67"/>
                      <a:gd name="T8" fmla="*/ 125 w 126"/>
                      <a:gd name="T9" fmla="*/ 15 h 67"/>
                      <a:gd name="T10" fmla="*/ 39 w 126"/>
                      <a:gd name="T11" fmla="*/ 66 h 67"/>
                      <a:gd name="T12" fmla="*/ 0 60000 65536"/>
                      <a:gd name="T13" fmla="*/ 0 60000 65536"/>
                      <a:gd name="T14" fmla="*/ 0 60000 65536"/>
                      <a:gd name="T15" fmla="*/ 0 60000 65536"/>
                      <a:gd name="T16" fmla="*/ 0 60000 65536"/>
                      <a:gd name="T17" fmla="*/ 0 60000 65536"/>
                      <a:gd name="T18" fmla="*/ 0 w 126"/>
                      <a:gd name="T19" fmla="*/ 0 h 67"/>
                      <a:gd name="T20" fmla="*/ 126 w 12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26" h="67">
                        <a:moveTo>
                          <a:pt x="39" y="66"/>
                        </a:moveTo>
                        <a:lnTo>
                          <a:pt x="39" y="66"/>
                        </a:lnTo>
                        <a:lnTo>
                          <a:pt x="0" y="50"/>
                        </a:lnTo>
                        <a:lnTo>
                          <a:pt x="91" y="0"/>
                        </a:lnTo>
                        <a:lnTo>
                          <a:pt x="125" y="15"/>
                        </a:lnTo>
                        <a:lnTo>
                          <a:pt x="39" y="66"/>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72" name="Group 130"/>
                <p:cNvGrpSpPr/>
                <p:nvPr/>
              </p:nvGrpSpPr>
              <p:grpSpPr bwMode="auto">
                <a:xfrm>
                  <a:off x="2167" y="2106"/>
                  <a:ext cx="140" cy="123"/>
                  <a:chOff x="2167" y="2106"/>
                  <a:chExt cx="140" cy="123"/>
                </a:xfrm>
              </p:grpSpPr>
              <p:sp>
                <p:nvSpPr>
                  <p:cNvPr id="44408" name="Freeform 131"/>
                  <p:cNvSpPr/>
                  <p:nvPr/>
                </p:nvSpPr>
                <p:spPr bwMode="auto">
                  <a:xfrm>
                    <a:off x="2208" y="2122"/>
                    <a:ext cx="98" cy="107"/>
                  </a:xfrm>
                  <a:custGeom>
                    <a:avLst/>
                    <a:gdLst>
                      <a:gd name="T0" fmla="*/ 0 w 98"/>
                      <a:gd name="T1" fmla="*/ 106 h 107"/>
                      <a:gd name="T2" fmla="*/ 0 w 98"/>
                      <a:gd name="T3" fmla="*/ 106 h 107"/>
                      <a:gd name="T4" fmla="*/ 0 w 98"/>
                      <a:gd name="T5" fmla="*/ 53 h 107"/>
                      <a:gd name="T6" fmla="*/ 97 w 98"/>
                      <a:gd name="T7" fmla="*/ 0 h 107"/>
                      <a:gd name="T8" fmla="*/ 94 w 98"/>
                      <a:gd name="T9" fmla="*/ 50 h 107"/>
                      <a:gd name="T10" fmla="*/ 0 w 98"/>
                      <a:gd name="T11" fmla="*/ 106 h 107"/>
                      <a:gd name="T12" fmla="*/ 0 60000 65536"/>
                      <a:gd name="T13" fmla="*/ 0 60000 65536"/>
                      <a:gd name="T14" fmla="*/ 0 60000 65536"/>
                      <a:gd name="T15" fmla="*/ 0 60000 65536"/>
                      <a:gd name="T16" fmla="*/ 0 60000 65536"/>
                      <a:gd name="T17" fmla="*/ 0 60000 65536"/>
                      <a:gd name="T18" fmla="*/ 0 w 98"/>
                      <a:gd name="T19" fmla="*/ 0 h 107"/>
                      <a:gd name="T20" fmla="*/ 98 w 9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98" h="107">
                        <a:moveTo>
                          <a:pt x="0" y="106"/>
                        </a:moveTo>
                        <a:lnTo>
                          <a:pt x="0" y="106"/>
                        </a:lnTo>
                        <a:lnTo>
                          <a:pt x="0" y="53"/>
                        </a:lnTo>
                        <a:lnTo>
                          <a:pt x="97" y="0"/>
                        </a:lnTo>
                        <a:lnTo>
                          <a:pt x="94" y="50"/>
                        </a:lnTo>
                        <a:lnTo>
                          <a:pt x="0" y="10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09" name="Freeform 132"/>
                  <p:cNvSpPr/>
                  <p:nvPr/>
                </p:nvSpPr>
                <p:spPr bwMode="auto">
                  <a:xfrm>
                    <a:off x="2167" y="2162"/>
                    <a:ext cx="41" cy="67"/>
                  </a:xfrm>
                  <a:custGeom>
                    <a:avLst/>
                    <a:gdLst>
                      <a:gd name="T0" fmla="*/ 40 w 41"/>
                      <a:gd name="T1" fmla="*/ 66 h 67"/>
                      <a:gd name="T2" fmla="*/ 40 w 41"/>
                      <a:gd name="T3" fmla="*/ 66 h 67"/>
                      <a:gd name="T4" fmla="*/ 0 w 41"/>
                      <a:gd name="T5" fmla="*/ 56 h 67"/>
                      <a:gd name="T6" fmla="*/ 0 w 41"/>
                      <a:gd name="T7" fmla="*/ 0 h 67"/>
                      <a:gd name="T8" fmla="*/ 40 w 41"/>
                      <a:gd name="T9" fmla="*/ 12 h 67"/>
                      <a:gd name="T10" fmla="*/ 40 w 41"/>
                      <a:gd name="T11" fmla="*/ 66 h 67"/>
                      <a:gd name="T12" fmla="*/ 0 60000 65536"/>
                      <a:gd name="T13" fmla="*/ 0 60000 65536"/>
                      <a:gd name="T14" fmla="*/ 0 60000 65536"/>
                      <a:gd name="T15" fmla="*/ 0 60000 65536"/>
                      <a:gd name="T16" fmla="*/ 0 60000 65536"/>
                      <a:gd name="T17" fmla="*/ 0 60000 65536"/>
                      <a:gd name="T18" fmla="*/ 0 w 41"/>
                      <a:gd name="T19" fmla="*/ 0 h 67"/>
                      <a:gd name="T20" fmla="*/ 41 w 41"/>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1" h="67">
                        <a:moveTo>
                          <a:pt x="40" y="66"/>
                        </a:moveTo>
                        <a:lnTo>
                          <a:pt x="40" y="66"/>
                        </a:lnTo>
                        <a:lnTo>
                          <a:pt x="0" y="56"/>
                        </a:lnTo>
                        <a:lnTo>
                          <a:pt x="0" y="0"/>
                        </a:lnTo>
                        <a:lnTo>
                          <a:pt x="40" y="12"/>
                        </a:lnTo>
                        <a:lnTo>
                          <a:pt x="40" y="66"/>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10" name="Freeform 133"/>
                  <p:cNvSpPr/>
                  <p:nvPr/>
                </p:nvSpPr>
                <p:spPr bwMode="auto">
                  <a:xfrm>
                    <a:off x="2167" y="2106"/>
                    <a:ext cx="140" cy="68"/>
                  </a:xfrm>
                  <a:custGeom>
                    <a:avLst/>
                    <a:gdLst>
                      <a:gd name="T0" fmla="*/ 41 w 140"/>
                      <a:gd name="T1" fmla="*/ 67 h 68"/>
                      <a:gd name="T2" fmla="*/ 41 w 140"/>
                      <a:gd name="T3" fmla="*/ 67 h 68"/>
                      <a:gd name="T4" fmla="*/ 0 w 140"/>
                      <a:gd name="T5" fmla="*/ 54 h 68"/>
                      <a:gd name="T6" fmla="*/ 99 w 140"/>
                      <a:gd name="T7" fmla="*/ 0 h 68"/>
                      <a:gd name="T8" fmla="*/ 139 w 140"/>
                      <a:gd name="T9" fmla="*/ 15 h 68"/>
                      <a:gd name="T10" fmla="*/ 41 w 140"/>
                      <a:gd name="T11" fmla="*/ 67 h 68"/>
                      <a:gd name="T12" fmla="*/ 0 60000 65536"/>
                      <a:gd name="T13" fmla="*/ 0 60000 65536"/>
                      <a:gd name="T14" fmla="*/ 0 60000 65536"/>
                      <a:gd name="T15" fmla="*/ 0 60000 65536"/>
                      <a:gd name="T16" fmla="*/ 0 60000 65536"/>
                      <a:gd name="T17" fmla="*/ 0 60000 65536"/>
                      <a:gd name="T18" fmla="*/ 0 w 140"/>
                      <a:gd name="T19" fmla="*/ 0 h 68"/>
                      <a:gd name="T20" fmla="*/ 140 w 140"/>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0" h="68">
                        <a:moveTo>
                          <a:pt x="41" y="67"/>
                        </a:moveTo>
                        <a:lnTo>
                          <a:pt x="41" y="67"/>
                        </a:lnTo>
                        <a:lnTo>
                          <a:pt x="0" y="54"/>
                        </a:lnTo>
                        <a:lnTo>
                          <a:pt x="99" y="0"/>
                        </a:lnTo>
                        <a:lnTo>
                          <a:pt x="139" y="15"/>
                        </a:lnTo>
                        <a:lnTo>
                          <a:pt x="41" y="67"/>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73" name="Group 134"/>
                <p:cNvGrpSpPr/>
                <p:nvPr/>
              </p:nvGrpSpPr>
              <p:grpSpPr bwMode="auto">
                <a:xfrm>
                  <a:off x="2050" y="2167"/>
                  <a:ext cx="152" cy="128"/>
                  <a:chOff x="2050" y="2167"/>
                  <a:chExt cx="152" cy="128"/>
                </a:xfrm>
              </p:grpSpPr>
              <p:sp>
                <p:nvSpPr>
                  <p:cNvPr id="44405" name="Freeform 135"/>
                  <p:cNvSpPr/>
                  <p:nvPr/>
                </p:nvSpPr>
                <p:spPr bwMode="auto">
                  <a:xfrm>
                    <a:off x="2098" y="2183"/>
                    <a:ext cx="104" cy="112"/>
                  </a:xfrm>
                  <a:custGeom>
                    <a:avLst/>
                    <a:gdLst>
                      <a:gd name="T0" fmla="*/ 0 w 104"/>
                      <a:gd name="T1" fmla="*/ 111 h 112"/>
                      <a:gd name="T2" fmla="*/ 0 w 104"/>
                      <a:gd name="T3" fmla="*/ 111 h 112"/>
                      <a:gd name="T4" fmla="*/ 0 w 104"/>
                      <a:gd name="T5" fmla="*/ 55 h 112"/>
                      <a:gd name="T6" fmla="*/ 103 w 104"/>
                      <a:gd name="T7" fmla="*/ 0 h 112"/>
                      <a:gd name="T8" fmla="*/ 103 w 104"/>
                      <a:gd name="T9" fmla="*/ 52 h 112"/>
                      <a:gd name="T10" fmla="*/ 0 w 104"/>
                      <a:gd name="T11" fmla="*/ 111 h 112"/>
                      <a:gd name="T12" fmla="*/ 0 60000 65536"/>
                      <a:gd name="T13" fmla="*/ 0 60000 65536"/>
                      <a:gd name="T14" fmla="*/ 0 60000 65536"/>
                      <a:gd name="T15" fmla="*/ 0 60000 65536"/>
                      <a:gd name="T16" fmla="*/ 0 60000 65536"/>
                      <a:gd name="T17" fmla="*/ 0 60000 65536"/>
                      <a:gd name="T18" fmla="*/ 0 w 104"/>
                      <a:gd name="T19" fmla="*/ 0 h 112"/>
                      <a:gd name="T20" fmla="*/ 104 w 104"/>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104" h="112">
                        <a:moveTo>
                          <a:pt x="0" y="111"/>
                        </a:moveTo>
                        <a:lnTo>
                          <a:pt x="0" y="111"/>
                        </a:lnTo>
                        <a:lnTo>
                          <a:pt x="0" y="55"/>
                        </a:lnTo>
                        <a:lnTo>
                          <a:pt x="103" y="0"/>
                        </a:lnTo>
                        <a:lnTo>
                          <a:pt x="103" y="52"/>
                        </a:lnTo>
                        <a:lnTo>
                          <a:pt x="0" y="111"/>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06" name="Freeform 136"/>
                  <p:cNvSpPr/>
                  <p:nvPr/>
                </p:nvSpPr>
                <p:spPr bwMode="auto">
                  <a:xfrm>
                    <a:off x="2051" y="2231"/>
                    <a:ext cx="47" cy="64"/>
                  </a:xfrm>
                  <a:custGeom>
                    <a:avLst/>
                    <a:gdLst>
                      <a:gd name="T0" fmla="*/ 46 w 47"/>
                      <a:gd name="T1" fmla="*/ 63 h 64"/>
                      <a:gd name="T2" fmla="*/ 46 w 47"/>
                      <a:gd name="T3" fmla="*/ 63 h 64"/>
                      <a:gd name="T4" fmla="*/ 0 w 47"/>
                      <a:gd name="T5" fmla="*/ 54 h 64"/>
                      <a:gd name="T6" fmla="*/ 0 w 47"/>
                      <a:gd name="T7" fmla="*/ 0 h 64"/>
                      <a:gd name="T8" fmla="*/ 46 w 47"/>
                      <a:gd name="T9" fmla="*/ 9 h 64"/>
                      <a:gd name="T10" fmla="*/ 46 w 47"/>
                      <a:gd name="T11" fmla="*/ 63 h 64"/>
                      <a:gd name="T12" fmla="*/ 0 60000 65536"/>
                      <a:gd name="T13" fmla="*/ 0 60000 65536"/>
                      <a:gd name="T14" fmla="*/ 0 60000 65536"/>
                      <a:gd name="T15" fmla="*/ 0 60000 65536"/>
                      <a:gd name="T16" fmla="*/ 0 60000 65536"/>
                      <a:gd name="T17" fmla="*/ 0 60000 65536"/>
                      <a:gd name="T18" fmla="*/ 0 w 47"/>
                      <a:gd name="T19" fmla="*/ 0 h 64"/>
                      <a:gd name="T20" fmla="*/ 47 w 47"/>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47" h="64">
                        <a:moveTo>
                          <a:pt x="46" y="63"/>
                        </a:moveTo>
                        <a:lnTo>
                          <a:pt x="46" y="63"/>
                        </a:lnTo>
                        <a:lnTo>
                          <a:pt x="0" y="54"/>
                        </a:lnTo>
                        <a:lnTo>
                          <a:pt x="0" y="0"/>
                        </a:lnTo>
                        <a:lnTo>
                          <a:pt x="46" y="9"/>
                        </a:lnTo>
                        <a:lnTo>
                          <a:pt x="46" y="63"/>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07" name="Freeform 137"/>
                  <p:cNvSpPr/>
                  <p:nvPr/>
                </p:nvSpPr>
                <p:spPr bwMode="auto">
                  <a:xfrm>
                    <a:off x="2050" y="2167"/>
                    <a:ext cx="152" cy="71"/>
                  </a:xfrm>
                  <a:custGeom>
                    <a:avLst/>
                    <a:gdLst>
                      <a:gd name="T0" fmla="*/ 47 w 152"/>
                      <a:gd name="T1" fmla="*/ 70 h 71"/>
                      <a:gd name="T2" fmla="*/ 47 w 152"/>
                      <a:gd name="T3" fmla="*/ 70 h 71"/>
                      <a:gd name="T4" fmla="*/ 0 w 152"/>
                      <a:gd name="T5" fmla="*/ 57 h 71"/>
                      <a:gd name="T6" fmla="*/ 109 w 152"/>
                      <a:gd name="T7" fmla="*/ 0 h 71"/>
                      <a:gd name="T8" fmla="*/ 151 w 152"/>
                      <a:gd name="T9" fmla="*/ 15 h 71"/>
                      <a:gd name="T10" fmla="*/ 47 w 152"/>
                      <a:gd name="T11" fmla="*/ 70 h 71"/>
                      <a:gd name="T12" fmla="*/ 0 60000 65536"/>
                      <a:gd name="T13" fmla="*/ 0 60000 65536"/>
                      <a:gd name="T14" fmla="*/ 0 60000 65536"/>
                      <a:gd name="T15" fmla="*/ 0 60000 65536"/>
                      <a:gd name="T16" fmla="*/ 0 60000 65536"/>
                      <a:gd name="T17" fmla="*/ 0 60000 65536"/>
                      <a:gd name="T18" fmla="*/ 0 w 152"/>
                      <a:gd name="T19" fmla="*/ 0 h 71"/>
                      <a:gd name="T20" fmla="*/ 152 w 152"/>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2" h="71">
                        <a:moveTo>
                          <a:pt x="47" y="70"/>
                        </a:moveTo>
                        <a:lnTo>
                          <a:pt x="47" y="70"/>
                        </a:lnTo>
                        <a:lnTo>
                          <a:pt x="0" y="57"/>
                        </a:lnTo>
                        <a:lnTo>
                          <a:pt x="109" y="0"/>
                        </a:lnTo>
                        <a:lnTo>
                          <a:pt x="151" y="15"/>
                        </a:lnTo>
                        <a:lnTo>
                          <a:pt x="47" y="70"/>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374" name="Freeform 138"/>
                <p:cNvSpPr/>
                <p:nvPr/>
              </p:nvSpPr>
              <p:spPr bwMode="auto">
                <a:xfrm>
                  <a:off x="2491" y="2003"/>
                  <a:ext cx="17" cy="53"/>
                </a:xfrm>
                <a:custGeom>
                  <a:avLst/>
                  <a:gdLst>
                    <a:gd name="T0" fmla="*/ 0 w 17"/>
                    <a:gd name="T1" fmla="*/ 52 h 53"/>
                    <a:gd name="T2" fmla="*/ 0 w 17"/>
                    <a:gd name="T3" fmla="*/ 52 h 53"/>
                    <a:gd name="T4" fmla="*/ 0 w 17"/>
                    <a:gd name="T5" fmla="*/ 27 h 53"/>
                    <a:gd name="T6" fmla="*/ 0 w 17"/>
                    <a:gd name="T7" fmla="*/ 17 h 53"/>
                    <a:gd name="T8" fmla="*/ 4 w 17"/>
                    <a:gd name="T9" fmla="*/ 8 h 53"/>
                    <a:gd name="T10" fmla="*/ 4 w 17"/>
                    <a:gd name="T11" fmla="*/ 6 h 53"/>
                    <a:gd name="T12" fmla="*/ 4 w 17"/>
                    <a:gd name="T13" fmla="*/ 2 h 53"/>
                    <a:gd name="T14" fmla="*/ 4 w 17"/>
                    <a:gd name="T15" fmla="*/ 0 h 53"/>
                    <a:gd name="T16" fmla="*/ 11 w 17"/>
                    <a:gd name="T17" fmla="*/ 0 h 53"/>
                    <a:gd name="T18" fmla="*/ 16 w 17"/>
                    <a:gd name="T19" fmla="*/ 0 h 53"/>
                    <a:gd name="T20" fmla="*/ 11 w 17"/>
                    <a:gd name="T21" fmla="*/ 24 h 53"/>
                    <a:gd name="T22" fmla="*/ 11 w 17"/>
                    <a:gd name="T23" fmla="*/ 49 h 53"/>
                    <a:gd name="T24" fmla="*/ 4 w 17"/>
                    <a:gd name="T25" fmla="*/ 49 h 53"/>
                    <a:gd name="T26" fmla="*/ 0 w 17"/>
                    <a:gd name="T27" fmla="*/ 52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3"/>
                    <a:gd name="T44" fmla="*/ 17 w 1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3">
                      <a:moveTo>
                        <a:pt x="0" y="52"/>
                      </a:moveTo>
                      <a:lnTo>
                        <a:pt x="0" y="52"/>
                      </a:lnTo>
                      <a:lnTo>
                        <a:pt x="0" y="27"/>
                      </a:lnTo>
                      <a:lnTo>
                        <a:pt x="0" y="17"/>
                      </a:lnTo>
                      <a:lnTo>
                        <a:pt x="4" y="8"/>
                      </a:lnTo>
                      <a:lnTo>
                        <a:pt x="4" y="6"/>
                      </a:lnTo>
                      <a:lnTo>
                        <a:pt x="4" y="2"/>
                      </a:lnTo>
                      <a:lnTo>
                        <a:pt x="4" y="0"/>
                      </a:lnTo>
                      <a:lnTo>
                        <a:pt x="11" y="0"/>
                      </a:lnTo>
                      <a:lnTo>
                        <a:pt x="16" y="0"/>
                      </a:lnTo>
                      <a:lnTo>
                        <a:pt x="11" y="24"/>
                      </a:lnTo>
                      <a:lnTo>
                        <a:pt x="11" y="49"/>
                      </a:lnTo>
                      <a:lnTo>
                        <a:pt x="4" y="49"/>
                      </a:lnTo>
                      <a:lnTo>
                        <a:pt x="0" y="52"/>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75" name="Freeform 139"/>
                <p:cNvSpPr/>
                <p:nvPr/>
              </p:nvSpPr>
              <p:spPr bwMode="auto">
                <a:xfrm>
                  <a:off x="2099" y="1978"/>
                  <a:ext cx="432" cy="263"/>
                </a:xfrm>
                <a:custGeom>
                  <a:avLst/>
                  <a:gdLst>
                    <a:gd name="T0" fmla="*/ 431 w 432"/>
                    <a:gd name="T1" fmla="*/ 0 h 263"/>
                    <a:gd name="T2" fmla="*/ 431 w 432"/>
                    <a:gd name="T3" fmla="*/ 0 h 263"/>
                    <a:gd name="T4" fmla="*/ 0 w 432"/>
                    <a:gd name="T5" fmla="*/ 255 h 263"/>
                    <a:gd name="T6" fmla="*/ 0 w 432"/>
                    <a:gd name="T7" fmla="*/ 262 h 263"/>
                    <a:gd name="T8" fmla="*/ 431 w 432"/>
                    <a:gd name="T9" fmla="*/ 6 h 263"/>
                    <a:gd name="T10" fmla="*/ 431 w 432"/>
                    <a:gd name="T11" fmla="*/ 0 h 263"/>
                    <a:gd name="T12" fmla="*/ 0 60000 65536"/>
                    <a:gd name="T13" fmla="*/ 0 60000 65536"/>
                    <a:gd name="T14" fmla="*/ 0 60000 65536"/>
                    <a:gd name="T15" fmla="*/ 0 60000 65536"/>
                    <a:gd name="T16" fmla="*/ 0 60000 65536"/>
                    <a:gd name="T17" fmla="*/ 0 60000 65536"/>
                    <a:gd name="T18" fmla="*/ 0 w 432"/>
                    <a:gd name="T19" fmla="*/ 0 h 263"/>
                    <a:gd name="T20" fmla="*/ 432 w 432"/>
                    <a:gd name="T21" fmla="*/ 263 h 263"/>
                  </a:gdLst>
                  <a:ahLst/>
                  <a:cxnLst>
                    <a:cxn ang="T12">
                      <a:pos x="T0" y="T1"/>
                    </a:cxn>
                    <a:cxn ang="T13">
                      <a:pos x="T2" y="T3"/>
                    </a:cxn>
                    <a:cxn ang="T14">
                      <a:pos x="T4" y="T5"/>
                    </a:cxn>
                    <a:cxn ang="T15">
                      <a:pos x="T6" y="T7"/>
                    </a:cxn>
                    <a:cxn ang="T16">
                      <a:pos x="T8" y="T9"/>
                    </a:cxn>
                    <a:cxn ang="T17">
                      <a:pos x="T10" y="T11"/>
                    </a:cxn>
                  </a:cxnLst>
                  <a:rect l="T18" t="T19" r="T20" b="T21"/>
                  <a:pathLst>
                    <a:path w="432" h="263">
                      <a:moveTo>
                        <a:pt x="431" y="0"/>
                      </a:moveTo>
                      <a:lnTo>
                        <a:pt x="431" y="0"/>
                      </a:lnTo>
                      <a:lnTo>
                        <a:pt x="0" y="255"/>
                      </a:lnTo>
                      <a:lnTo>
                        <a:pt x="0" y="262"/>
                      </a:lnTo>
                      <a:lnTo>
                        <a:pt x="431" y="6"/>
                      </a:lnTo>
                      <a:lnTo>
                        <a:pt x="431" y="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76" name="Freeform 140"/>
                <p:cNvSpPr/>
                <p:nvPr/>
              </p:nvSpPr>
              <p:spPr bwMode="auto">
                <a:xfrm>
                  <a:off x="2400" y="2058"/>
                  <a:ext cx="17" cy="56"/>
                </a:xfrm>
                <a:custGeom>
                  <a:avLst/>
                  <a:gdLst>
                    <a:gd name="T0" fmla="*/ 0 w 17"/>
                    <a:gd name="T1" fmla="*/ 55 h 56"/>
                    <a:gd name="T2" fmla="*/ 0 w 17"/>
                    <a:gd name="T3" fmla="*/ 55 h 56"/>
                    <a:gd name="T4" fmla="*/ 4 w 17"/>
                    <a:gd name="T5" fmla="*/ 45 h 56"/>
                    <a:gd name="T6" fmla="*/ 4 w 17"/>
                    <a:gd name="T7" fmla="*/ 27 h 56"/>
                    <a:gd name="T8" fmla="*/ 4 w 17"/>
                    <a:gd name="T9" fmla="*/ 18 h 56"/>
                    <a:gd name="T10" fmla="*/ 4 w 17"/>
                    <a:gd name="T11" fmla="*/ 9 h 56"/>
                    <a:gd name="T12" fmla="*/ 4 w 17"/>
                    <a:gd name="T13" fmla="*/ 6 h 56"/>
                    <a:gd name="T14" fmla="*/ 4 w 17"/>
                    <a:gd name="T15" fmla="*/ 2 h 56"/>
                    <a:gd name="T16" fmla="*/ 11 w 17"/>
                    <a:gd name="T17" fmla="*/ 0 h 56"/>
                    <a:gd name="T18" fmla="*/ 16 w 17"/>
                    <a:gd name="T19" fmla="*/ 0 h 56"/>
                    <a:gd name="T20" fmla="*/ 16 w 17"/>
                    <a:gd name="T21" fmla="*/ 24 h 56"/>
                    <a:gd name="T22" fmla="*/ 16 w 17"/>
                    <a:gd name="T23" fmla="*/ 52 h 56"/>
                    <a:gd name="T24" fmla="*/ 11 w 17"/>
                    <a:gd name="T25" fmla="*/ 52 h 56"/>
                    <a:gd name="T26" fmla="*/ 4 w 17"/>
                    <a:gd name="T27" fmla="*/ 52 h 56"/>
                    <a:gd name="T28" fmla="*/ 4 w 17"/>
                    <a:gd name="T29" fmla="*/ 55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4" y="45"/>
                      </a:lnTo>
                      <a:lnTo>
                        <a:pt x="4" y="27"/>
                      </a:lnTo>
                      <a:lnTo>
                        <a:pt x="4" y="18"/>
                      </a:lnTo>
                      <a:lnTo>
                        <a:pt x="4" y="9"/>
                      </a:lnTo>
                      <a:lnTo>
                        <a:pt x="4" y="6"/>
                      </a:lnTo>
                      <a:lnTo>
                        <a:pt x="4" y="2"/>
                      </a:lnTo>
                      <a:lnTo>
                        <a:pt x="11" y="0"/>
                      </a:lnTo>
                      <a:lnTo>
                        <a:pt x="16" y="0"/>
                      </a:lnTo>
                      <a:lnTo>
                        <a:pt x="16" y="24"/>
                      </a:lnTo>
                      <a:lnTo>
                        <a:pt x="16" y="52"/>
                      </a:lnTo>
                      <a:lnTo>
                        <a:pt x="11" y="52"/>
                      </a:lnTo>
                      <a:lnTo>
                        <a:pt x="4" y="52"/>
                      </a:lnTo>
                      <a:lnTo>
                        <a:pt x="4" y="55"/>
                      </a:lnTo>
                      <a:lnTo>
                        <a:pt x="0" y="55"/>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77" name="Freeform 141"/>
                <p:cNvSpPr/>
                <p:nvPr/>
              </p:nvSpPr>
              <p:spPr bwMode="auto">
                <a:xfrm>
                  <a:off x="2305" y="2115"/>
                  <a:ext cx="17" cy="59"/>
                </a:xfrm>
                <a:custGeom>
                  <a:avLst/>
                  <a:gdLst>
                    <a:gd name="T0" fmla="*/ 0 w 17"/>
                    <a:gd name="T1" fmla="*/ 58 h 59"/>
                    <a:gd name="T2" fmla="*/ 0 w 17"/>
                    <a:gd name="T3" fmla="*/ 58 h 59"/>
                    <a:gd name="T4" fmla="*/ 0 w 17"/>
                    <a:gd name="T5" fmla="*/ 30 h 59"/>
                    <a:gd name="T6" fmla="*/ 0 w 17"/>
                    <a:gd name="T7" fmla="*/ 18 h 59"/>
                    <a:gd name="T8" fmla="*/ 0 w 17"/>
                    <a:gd name="T9" fmla="*/ 9 h 59"/>
                    <a:gd name="T10" fmla="*/ 0 w 17"/>
                    <a:gd name="T11" fmla="*/ 2 h 59"/>
                    <a:gd name="T12" fmla="*/ 4 w 17"/>
                    <a:gd name="T13" fmla="*/ 2 h 59"/>
                    <a:gd name="T14" fmla="*/ 4 w 17"/>
                    <a:gd name="T15" fmla="*/ 0 h 59"/>
                    <a:gd name="T16" fmla="*/ 11 w 17"/>
                    <a:gd name="T17" fmla="*/ 0 h 59"/>
                    <a:gd name="T18" fmla="*/ 16 w 17"/>
                    <a:gd name="T19" fmla="*/ 0 h 59"/>
                    <a:gd name="T20" fmla="*/ 11 w 17"/>
                    <a:gd name="T21" fmla="*/ 24 h 59"/>
                    <a:gd name="T22" fmla="*/ 11 w 17"/>
                    <a:gd name="T23" fmla="*/ 42 h 59"/>
                    <a:gd name="T24" fmla="*/ 11 w 17"/>
                    <a:gd name="T25" fmla="*/ 51 h 59"/>
                    <a:gd name="T26" fmla="*/ 4 w 17"/>
                    <a:gd name="T27" fmla="*/ 55 h 59"/>
                    <a:gd name="T28" fmla="*/ 0 w 17"/>
                    <a:gd name="T29" fmla="*/ 55 h 59"/>
                    <a:gd name="T30" fmla="*/ 0 w 17"/>
                    <a:gd name="T31" fmla="*/ 58 h 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9"/>
                    <a:gd name="T50" fmla="*/ 17 w 17"/>
                    <a:gd name="T51" fmla="*/ 59 h 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9">
                      <a:moveTo>
                        <a:pt x="0" y="58"/>
                      </a:moveTo>
                      <a:lnTo>
                        <a:pt x="0" y="58"/>
                      </a:lnTo>
                      <a:lnTo>
                        <a:pt x="0" y="30"/>
                      </a:lnTo>
                      <a:lnTo>
                        <a:pt x="0" y="18"/>
                      </a:lnTo>
                      <a:lnTo>
                        <a:pt x="0" y="9"/>
                      </a:lnTo>
                      <a:lnTo>
                        <a:pt x="0" y="2"/>
                      </a:lnTo>
                      <a:lnTo>
                        <a:pt x="4" y="2"/>
                      </a:lnTo>
                      <a:lnTo>
                        <a:pt x="4" y="0"/>
                      </a:lnTo>
                      <a:lnTo>
                        <a:pt x="11" y="0"/>
                      </a:lnTo>
                      <a:lnTo>
                        <a:pt x="16" y="0"/>
                      </a:lnTo>
                      <a:lnTo>
                        <a:pt x="11" y="24"/>
                      </a:lnTo>
                      <a:lnTo>
                        <a:pt x="11" y="42"/>
                      </a:lnTo>
                      <a:lnTo>
                        <a:pt x="11" y="51"/>
                      </a:lnTo>
                      <a:lnTo>
                        <a:pt x="4" y="55"/>
                      </a:lnTo>
                      <a:lnTo>
                        <a:pt x="0" y="55"/>
                      </a:lnTo>
                      <a:lnTo>
                        <a:pt x="0" y="58"/>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78" name="Freeform 142"/>
                <p:cNvSpPr/>
                <p:nvPr/>
              </p:nvSpPr>
              <p:spPr bwMode="auto">
                <a:xfrm>
                  <a:off x="2202" y="2176"/>
                  <a:ext cx="17" cy="58"/>
                </a:xfrm>
                <a:custGeom>
                  <a:avLst/>
                  <a:gdLst>
                    <a:gd name="T0" fmla="*/ 4 w 17"/>
                    <a:gd name="T1" fmla="*/ 57 h 58"/>
                    <a:gd name="T2" fmla="*/ 4 w 17"/>
                    <a:gd name="T3" fmla="*/ 57 h 58"/>
                    <a:gd name="T4" fmla="*/ 0 w 17"/>
                    <a:gd name="T5" fmla="*/ 48 h 58"/>
                    <a:gd name="T6" fmla="*/ 0 w 17"/>
                    <a:gd name="T7" fmla="*/ 30 h 58"/>
                    <a:gd name="T8" fmla="*/ 4 w 17"/>
                    <a:gd name="T9" fmla="*/ 17 h 58"/>
                    <a:gd name="T10" fmla="*/ 4 w 17"/>
                    <a:gd name="T11" fmla="*/ 8 h 58"/>
                    <a:gd name="T12" fmla="*/ 4 w 17"/>
                    <a:gd name="T13" fmla="*/ 2 h 58"/>
                    <a:gd name="T14" fmla="*/ 4 w 17"/>
                    <a:gd name="T15" fmla="*/ 0 h 58"/>
                    <a:gd name="T16" fmla="*/ 11 w 17"/>
                    <a:gd name="T17" fmla="*/ 0 h 58"/>
                    <a:gd name="T18" fmla="*/ 16 w 17"/>
                    <a:gd name="T19" fmla="*/ 0 h 58"/>
                    <a:gd name="T20" fmla="*/ 16 w 17"/>
                    <a:gd name="T21" fmla="*/ 26 h 58"/>
                    <a:gd name="T22" fmla="*/ 16 w 17"/>
                    <a:gd name="T23" fmla="*/ 41 h 58"/>
                    <a:gd name="T24" fmla="*/ 16 w 17"/>
                    <a:gd name="T25" fmla="*/ 48 h 58"/>
                    <a:gd name="T26" fmla="*/ 16 w 17"/>
                    <a:gd name="T27" fmla="*/ 50 h 58"/>
                    <a:gd name="T28" fmla="*/ 16 w 17"/>
                    <a:gd name="T29" fmla="*/ 54 h 58"/>
                    <a:gd name="T30" fmla="*/ 11 w 17"/>
                    <a:gd name="T31" fmla="*/ 54 h 58"/>
                    <a:gd name="T32" fmla="*/ 4 w 17"/>
                    <a:gd name="T33" fmla="*/ 54 h 58"/>
                    <a:gd name="T34" fmla="*/ 4 w 17"/>
                    <a:gd name="T35" fmla="*/ 57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8"/>
                    <a:gd name="T56" fmla="*/ 17 w 17"/>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8">
                      <a:moveTo>
                        <a:pt x="4" y="57"/>
                      </a:moveTo>
                      <a:lnTo>
                        <a:pt x="4" y="57"/>
                      </a:lnTo>
                      <a:lnTo>
                        <a:pt x="0" y="48"/>
                      </a:lnTo>
                      <a:lnTo>
                        <a:pt x="0" y="30"/>
                      </a:lnTo>
                      <a:lnTo>
                        <a:pt x="4" y="17"/>
                      </a:lnTo>
                      <a:lnTo>
                        <a:pt x="4" y="8"/>
                      </a:lnTo>
                      <a:lnTo>
                        <a:pt x="4" y="2"/>
                      </a:lnTo>
                      <a:lnTo>
                        <a:pt x="4" y="0"/>
                      </a:lnTo>
                      <a:lnTo>
                        <a:pt x="11" y="0"/>
                      </a:lnTo>
                      <a:lnTo>
                        <a:pt x="16" y="0"/>
                      </a:lnTo>
                      <a:lnTo>
                        <a:pt x="16" y="26"/>
                      </a:lnTo>
                      <a:lnTo>
                        <a:pt x="16" y="41"/>
                      </a:lnTo>
                      <a:lnTo>
                        <a:pt x="16" y="48"/>
                      </a:lnTo>
                      <a:lnTo>
                        <a:pt x="16" y="50"/>
                      </a:lnTo>
                      <a:lnTo>
                        <a:pt x="16" y="54"/>
                      </a:lnTo>
                      <a:lnTo>
                        <a:pt x="11" y="54"/>
                      </a:lnTo>
                      <a:lnTo>
                        <a:pt x="4" y="54"/>
                      </a:lnTo>
                      <a:lnTo>
                        <a:pt x="4" y="57"/>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379" name="Group 143"/>
                <p:cNvGrpSpPr/>
                <p:nvPr/>
              </p:nvGrpSpPr>
              <p:grpSpPr bwMode="auto">
                <a:xfrm>
                  <a:off x="2421" y="1915"/>
                  <a:ext cx="117" cy="109"/>
                  <a:chOff x="2421" y="1915"/>
                  <a:chExt cx="117" cy="109"/>
                </a:xfrm>
              </p:grpSpPr>
              <p:sp>
                <p:nvSpPr>
                  <p:cNvPr id="44402" name="Freeform 144"/>
                  <p:cNvSpPr/>
                  <p:nvPr/>
                </p:nvSpPr>
                <p:spPr bwMode="auto">
                  <a:xfrm>
                    <a:off x="2453" y="1930"/>
                    <a:ext cx="84" cy="94"/>
                  </a:xfrm>
                  <a:custGeom>
                    <a:avLst/>
                    <a:gdLst>
                      <a:gd name="T0" fmla="*/ 0 w 84"/>
                      <a:gd name="T1" fmla="*/ 93 h 94"/>
                      <a:gd name="T2" fmla="*/ 0 w 84"/>
                      <a:gd name="T3" fmla="*/ 93 h 94"/>
                      <a:gd name="T4" fmla="*/ 2 w 84"/>
                      <a:gd name="T5" fmla="*/ 43 h 94"/>
                      <a:gd name="T6" fmla="*/ 83 w 84"/>
                      <a:gd name="T7" fmla="*/ 0 h 94"/>
                      <a:gd name="T8" fmla="*/ 77 w 84"/>
                      <a:gd name="T9" fmla="*/ 49 h 94"/>
                      <a:gd name="T10" fmla="*/ 0 w 84"/>
                      <a:gd name="T11" fmla="*/ 93 h 94"/>
                      <a:gd name="T12" fmla="*/ 0 60000 65536"/>
                      <a:gd name="T13" fmla="*/ 0 60000 65536"/>
                      <a:gd name="T14" fmla="*/ 0 60000 65536"/>
                      <a:gd name="T15" fmla="*/ 0 60000 65536"/>
                      <a:gd name="T16" fmla="*/ 0 60000 65536"/>
                      <a:gd name="T17" fmla="*/ 0 60000 65536"/>
                      <a:gd name="T18" fmla="*/ 0 w 84"/>
                      <a:gd name="T19" fmla="*/ 0 h 94"/>
                      <a:gd name="T20" fmla="*/ 84 w 84"/>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84" h="94">
                        <a:moveTo>
                          <a:pt x="0" y="93"/>
                        </a:moveTo>
                        <a:lnTo>
                          <a:pt x="0" y="93"/>
                        </a:lnTo>
                        <a:lnTo>
                          <a:pt x="2" y="43"/>
                        </a:lnTo>
                        <a:lnTo>
                          <a:pt x="83" y="0"/>
                        </a:lnTo>
                        <a:lnTo>
                          <a:pt x="77" y="49"/>
                        </a:lnTo>
                        <a:lnTo>
                          <a:pt x="0" y="93"/>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03" name="Freeform 145"/>
                  <p:cNvSpPr/>
                  <p:nvPr/>
                </p:nvSpPr>
                <p:spPr bwMode="auto">
                  <a:xfrm>
                    <a:off x="2421" y="1955"/>
                    <a:ext cx="34" cy="68"/>
                  </a:xfrm>
                  <a:custGeom>
                    <a:avLst/>
                    <a:gdLst>
                      <a:gd name="T0" fmla="*/ 30 w 34"/>
                      <a:gd name="T1" fmla="*/ 67 h 68"/>
                      <a:gd name="T2" fmla="*/ 30 w 34"/>
                      <a:gd name="T3" fmla="*/ 67 h 68"/>
                      <a:gd name="T4" fmla="*/ 0 w 34"/>
                      <a:gd name="T5" fmla="*/ 51 h 68"/>
                      <a:gd name="T6" fmla="*/ 2 w 34"/>
                      <a:gd name="T7" fmla="*/ 0 h 68"/>
                      <a:gd name="T8" fmla="*/ 33 w 34"/>
                      <a:gd name="T9" fmla="*/ 18 h 68"/>
                      <a:gd name="T10" fmla="*/ 30 w 34"/>
                      <a:gd name="T11" fmla="*/ 67 h 68"/>
                      <a:gd name="T12" fmla="*/ 0 60000 65536"/>
                      <a:gd name="T13" fmla="*/ 0 60000 65536"/>
                      <a:gd name="T14" fmla="*/ 0 60000 65536"/>
                      <a:gd name="T15" fmla="*/ 0 60000 65536"/>
                      <a:gd name="T16" fmla="*/ 0 60000 65536"/>
                      <a:gd name="T17" fmla="*/ 0 60000 65536"/>
                      <a:gd name="T18" fmla="*/ 0 w 34"/>
                      <a:gd name="T19" fmla="*/ 0 h 68"/>
                      <a:gd name="T20" fmla="*/ 34 w 34"/>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4" h="68">
                        <a:moveTo>
                          <a:pt x="30" y="67"/>
                        </a:moveTo>
                        <a:lnTo>
                          <a:pt x="30" y="67"/>
                        </a:lnTo>
                        <a:lnTo>
                          <a:pt x="0" y="51"/>
                        </a:lnTo>
                        <a:lnTo>
                          <a:pt x="2" y="0"/>
                        </a:lnTo>
                        <a:lnTo>
                          <a:pt x="33" y="18"/>
                        </a:lnTo>
                        <a:lnTo>
                          <a:pt x="30" y="67"/>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04" name="Freeform 146"/>
                  <p:cNvSpPr/>
                  <p:nvPr/>
                </p:nvSpPr>
                <p:spPr bwMode="auto">
                  <a:xfrm>
                    <a:off x="2423" y="1915"/>
                    <a:ext cx="115" cy="57"/>
                  </a:xfrm>
                  <a:custGeom>
                    <a:avLst/>
                    <a:gdLst>
                      <a:gd name="T0" fmla="*/ 33 w 115"/>
                      <a:gd name="T1" fmla="*/ 56 h 57"/>
                      <a:gd name="T2" fmla="*/ 33 w 115"/>
                      <a:gd name="T3" fmla="*/ 56 h 57"/>
                      <a:gd name="T4" fmla="*/ 0 w 115"/>
                      <a:gd name="T5" fmla="*/ 38 h 57"/>
                      <a:gd name="T6" fmla="*/ 83 w 115"/>
                      <a:gd name="T7" fmla="*/ 0 h 57"/>
                      <a:gd name="T8" fmla="*/ 114 w 115"/>
                      <a:gd name="T9" fmla="*/ 15 h 57"/>
                      <a:gd name="T10" fmla="*/ 33 w 115"/>
                      <a:gd name="T11" fmla="*/ 56 h 57"/>
                      <a:gd name="T12" fmla="*/ 0 60000 65536"/>
                      <a:gd name="T13" fmla="*/ 0 60000 65536"/>
                      <a:gd name="T14" fmla="*/ 0 60000 65536"/>
                      <a:gd name="T15" fmla="*/ 0 60000 65536"/>
                      <a:gd name="T16" fmla="*/ 0 60000 65536"/>
                      <a:gd name="T17" fmla="*/ 0 60000 65536"/>
                      <a:gd name="T18" fmla="*/ 0 w 115"/>
                      <a:gd name="T19" fmla="*/ 0 h 57"/>
                      <a:gd name="T20" fmla="*/ 115 w 11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15" h="57">
                        <a:moveTo>
                          <a:pt x="33" y="56"/>
                        </a:moveTo>
                        <a:lnTo>
                          <a:pt x="33" y="56"/>
                        </a:lnTo>
                        <a:lnTo>
                          <a:pt x="0" y="38"/>
                        </a:lnTo>
                        <a:lnTo>
                          <a:pt x="83" y="0"/>
                        </a:lnTo>
                        <a:lnTo>
                          <a:pt x="114" y="15"/>
                        </a:lnTo>
                        <a:lnTo>
                          <a:pt x="33" y="56"/>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80" name="Group 147"/>
                <p:cNvGrpSpPr/>
                <p:nvPr/>
              </p:nvGrpSpPr>
              <p:grpSpPr bwMode="auto">
                <a:xfrm>
                  <a:off x="2323" y="1961"/>
                  <a:ext cx="126" cy="117"/>
                  <a:chOff x="2323" y="1961"/>
                  <a:chExt cx="126" cy="117"/>
                </a:xfrm>
              </p:grpSpPr>
              <p:sp>
                <p:nvSpPr>
                  <p:cNvPr id="44399" name="Freeform 148"/>
                  <p:cNvSpPr/>
                  <p:nvPr/>
                </p:nvSpPr>
                <p:spPr bwMode="auto">
                  <a:xfrm>
                    <a:off x="2359" y="1981"/>
                    <a:ext cx="90" cy="97"/>
                  </a:xfrm>
                  <a:custGeom>
                    <a:avLst/>
                    <a:gdLst>
                      <a:gd name="T0" fmla="*/ 0 w 90"/>
                      <a:gd name="T1" fmla="*/ 96 h 97"/>
                      <a:gd name="T2" fmla="*/ 0 w 90"/>
                      <a:gd name="T3" fmla="*/ 96 h 97"/>
                      <a:gd name="T4" fmla="*/ 2 w 90"/>
                      <a:gd name="T5" fmla="*/ 43 h 97"/>
                      <a:gd name="T6" fmla="*/ 89 w 90"/>
                      <a:gd name="T7" fmla="*/ 0 h 97"/>
                      <a:gd name="T8" fmla="*/ 86 w 90"/>
                      <a:gd name="T9" fmla="*/ 49 h 97"/>
                      <a:gd name="T10" fmla="*/ 0 w 90"/>
                      <a:gd name="T11" fmla="*/ 96 h 97"/>
                      <a:gd name="T12" fmla="*/ 0 60000 65536"/>
                      <a:gd name="T13" fmla="*/ 0 60000 65536"/>
                      <a:gd name="T14" fmla="*/ 0 60000 65536"/>
                      <a:gd name="T15" fmla="*/ 0 60000 65536"/>
                      <a:gd name="T16" fmla="*/ 0 60000 65536"/>
                      <a:gd name="T17" fmla="*/ 0 60000 65536"/>
                      <a:gd name="T18" fmla="*/ 0 w 90"/>
                      <a:gd name="T19" fmla="*/ 0 h 97"/>
                      <a:gd name="T20" fmla="*/ 90 w 90"/>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90" h="97">
                        <a:moveTo>
                          <a:pt x="0" y="96"/>
                        </a:moveTo>
                        <a:lnTo>
                          <a:pt x="0" y="96"/>
                        </a:lnTo>
                        <a:lnTo>
                          <a:pt x="2" y="43"/>
                        </a:lnTo>
                        <a:lnTo>
                          <a:pt x="89" y="0"/>
                        </a:lnTo>
                        <a:lnTo>
                          <a:pt x="86" y="49"/>
                        </a:lnTo>
                        <a:lnTo>
                          <a:pt x="0" y="9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00" name="Freeform 149"/>
                  <p:cNvSpPr/>
                  <p:nvPr/>
                </p:nvSpPr>
                <p:spPr bwMode="auto">
                  <a:xfrm>
                    <a:off x="2323" y="2009"/>
                    <a:ext cx="38" cy="69"/>
                  </a:xfrm>
                  <a:custGeom>
                    <a:avLst/>
                    <a:gdLst>
                      <a:gd name="T0" fmla="*/ 34 w 38"/>
                      <a:gd name="T1" fmla="*/ 68 h 69"/>
                      <a:gd name="T2" fmla="*/ 34 w 38"/>
                      <a:gd name="T3" fmla="*/ 68 h 69"/>
                      <a:gd name="T4" fmla="*/ 0 w 38"/>
                      <a:gd name="T5" fmla="*/ 52 h 69"/>
                      <a:gd name="T6" fmla="*/ 2 w 38"/>
                      <a:gd name="T7" fmla="*/ 0 h 69"/>
                      <a:gd name="T8" fmla="*/ 37 w 38"/>
                      <a:gd name="T9" fmla="*/ 15 h 69"/>
                      <a:gd name="T10" fmla="*/ 34 w 38"/>
                      <a:gd name="T11" fmla="*/ 68 h 69"/>
                      <a:gd name="T12" fmla="*/ 0 60000 65536"/>
                      <a:gd name="T13" fmla="*/ 0 60000 65536"/>
                      <a:gd name="T14" fmla="*/ 0 60000 65536"/>
                      <a:gd name="T15" fmla="*/ 0 60000 65536"/>
                      <a:gd name="T16" fmla="*/ 0 60000 65536"/>
                      <a:gd name="T17" fmla="*/ 0 60000 65536"/>
                      <a:gd name="T18" fmla="*/ 0 w 38"/>
                      <a:gd name="T19" fmla="*/ 0 h 69"/>
                      <a:gd name="T20" fmla="*/ 38 w 38"/>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8" h="69">
                        <a:moveTo>
                          <a:pt x="34" y="68"/>
                        </a:moveTo>
                        <a:lnTo>
                          <a:pt x="34" y="68"/>
                        </a:lnTo>
                        <a:lnTo>
                          <a:pt x="0" y="52"/>
                        </a:lnTo>
                        <a:lnTo>
                          <a:pt x="2" y="0"/>
                        </a:lnTo>
                        <a:lnTo>
                          <a:pt x="37" y="15"/>
                        </a:lnTo>
                        <a:lnTo>
                          <a:pt x="34" y="68"/>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401" name="Freeform 150"/>
                  <p:cNvSpPr/>
                  <p:nvPr/>
                </p:nvSpPr>
                <p:spPr bwMode="auto">
                  <a:xfrm>
                    <a:off x="2325" y="1961"/>
                    <a:ext cx="124" cy="63"/>
                  </a:xfrm>
                  <a:custGeom>
                    <a:avLst/>
                    <a:gdLst>
                      <a:gd name="T0" fmla="*/ 36 w 124"/>
                      <a:gd name="T1" fmla="*/ 62 h 63"/>
                      <a:gd name="T2" fmla="*/ 36 w 124"/>
                      <a:gd name="T3" fmla="*/ 62 h 63"/>
                      <a:gd name="T4" fmla="*/ 0 w 124"/>
                      <a:gd name="T5" fmla="*/ 46 h 63"/>
                      <a:gd name="T6" fmla="*/ 89 w 124"/>
                      <a:gd name="T7" fmla="*/ 0 h 63"/>
                      <a:gd name="T8" fmla="*/ 123 w 124"/>
                      <a:gd name="T9" fmla="*/ 18 h 63"/>
                      <a:gd name="T10" fmla="*/ 36 w 124"/>
                      <a:gd name="T11" fmla="*/ 62 h 63"/>
                      <a:gd name="T12" fmla="*/ 0 60000 65536"/>
                      <a:gd name="T13" fmla="*/ 0 60000 65536"/>
                      <a:gd name="T14" fmla="*/ 0 60000 65536"/>
                      <a:gd name="T15" fmla="*/ 0 60000 65536"/>
                      <a:gd name="T16" fmla="*/ 0 60000 65536"/>
                      <a:gd name="T17" fmla="*/ 0 60000 65536"/>
                      <a:gd name="T18" fmla="*/ 0 w 124"/>
                      <a:gd name="T19" fmla="*/ 0 h 63"/>
                      <a:gd name="T20" fmla="*/ 124 w 124"/>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124" h="63">
                        <a:moveTo>
                          <a:pt x="36" y="62"/>
                        </a:moveTo>
                        <a:lnTo>
                          <a:pt x="36" y="62"/>
                        </a:lnTo>
                        <a:lnTo>
                          <a:pt x="0" y="46"/>
                        </a:lnTo>
                        <a:lnTo>
                          <a:pt x="89" y="0"/>
                        </a:lnTo>
                        <a:lnTo>
                          <a:pt x="123" y="18"/>
                        </a:lnTo>
                        <a:lnTo>
                          <a:pt x="36" y="62"/>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81" name="Group 151"/>
                <p:cNvGrpSpPr/>
                <p:nvPr/>
              </p:nvGrpSpPr>
              <p:grpSpPr bwMode="auto">
                <a:xfrm>
                  <a:off x="2220" y="2015"/>
                  <a:ext cx="136" cy="120"/>
                  <a:chOff x="2220" y="2015"/>
                  <a:chExt cx="136" cy="120"/>
                </a:xfrm>
              </p:grpSpPr>
              <p:sp>
                <p:nvSpPr>
                  <p:cNvPr id="44396" name="Freeform 152"/>
                  <p:cNvSpPr/>
                  <p:nvPr/>
                </p:nvSpPr>
                <p:spPr bwMode="auto">
                  <a:xfrm>
                    <a:off x="2260" y="2032"/>
                    <a:ext cx="96" cy="103"/>
                  </a:xfrm>
                  <a:custGeom>
                    <a:avLst/>
                    <a:gdLst>
                      <a:gd name="T0" fmla="*/ 0 w 96"/>
                      <a:gd name="T1" fmla="*/ 102 h 103"/>
                      <a:gd name="T2" fmla="*/ 0 w 96"/>
                      <a:gd name="T3" fmla="*/ 102 h 103"/>
                      <a:gd name="T4" fmla="*/ 2 w 96"/>
                      <a:gd name="T5" fmla="*/ 49 h 103"/>
                      <a:gd name="T6" fmla="*/ 95 w 96"/>
                      <a:gd name="T7" fmla="*/ 0 h 103"/>
                      <a:gd name="T8" fmla="*/ 95 w 96"/>
                      <a:gd name="T9" fmla="*/ 52 h 103"/>
                      <a:gd name="T10" fmla="*/ 0 w 96"/>
                      <a:gd name="T11" fmla="*/ 102 h 103"/>
                      <a:gd name="T12" fmla="*/ 0 60000 65536"/>
                      <a:gd name="T13" fmla="*/ 0 60000 65536"/>
                      <a:gd name="T14" fmla="*/ 0 60000 65536"/>
                      <a:gd name="T15" fmla="*/ 0 60000 65536"/>
                      <a:gd name="T16" fmla="*/ 0 60000 65536"/>
                      <a:gd name="T17" fmla="*/ 0 60000 65536"/>
                      <a:gd name="T18" fmla="*/ 0 w 96"/>
                      <a:gd name="T19" fmla="*/ 0 h 103"/>
                      <a:gd name="T20" fmla="*/ 96 w 96"/>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6" h="103">
                        <a:moveTo>
                          <a:pt x="0" y="102"/>
                        </a:moveTo>
                        <a:lnTo>
                          <a:pt x="0" y="102"/>
                        </a:lnTo>
                        <a:lnTo>
                          <a:pt x="2" y="49"/>
                        </a:lnTo>
                        <a:lnTo>
                          <a:pt x="95" y="0"/>
                        </a:lnTo>
                        <a:lnTo>
                          <a:pt x="95" y="52"/>
                        </a:lnTo>
                        <a:lnTo>
                          <a:pt x="0" y="102"/>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97" name="Freeform 153"/>
                  <p:cNvSpPr/>
                  <p:nvPr/>
                </p:nvSpPr>
                <p:spPr bwMode="auto">
                  <a:xfrm>
                    <a:off x="2220" y="2070"/>
                    <a:ext cx="40" cy="65"/>
                  </a:xfrm>
                  <a:custGeom>
                    <a:avLst/>
                    <a:gdLst>
                      <a:gd name="T0" fmla="*/ 36 w 40"/>
                      <a:gd name="T1" fmla="*/ 64 h 65"/>
                      <a:gd name="T2" fmla="*/ 36 w 40"/>
                      <a:gd name="T3" fmla="*/ 64 h 65"/>
                      <a:gd name="T4" fmla="*/ 0 w 40"/>
                      <a:gd name="T5" fmla="*/ 52 h 65"/>
                      <a:gd name="T6" fmla="*/ 0 w 40"/>
                      <a:gd name="T7" fmla="*/ 0 h 65"/>
                      <a:gd name="T8" fmla="*/ 39 w 40"/>
                      <a:gd name="T9" fmla="*/ 11 h 65"/>
                      <a:gd name="T10" fmla="*/ 36 w 40"/>
                      <a:gd name="T11" fmla="*/ 64 h 65"/>
                      <a:gd name="T12" fmla="*/ 0 60000 65536"/>
                      <a:gd name="T13" fmla="*/ 0 60000 65536"/>
                      <a:gd name="T14" fmla="*/ 0 60000 65536"/>
                      <a:gd name="T15" fmla="*/ 0 60000 65536"/>
                      <a:gd name="T16" fmla="*/ 0 60000 65536"/>
                      <a:gd name="T17" fmla="*/ 0 60000 65536"/>
                      <a:gd name="T18" fmla="*/ 0 w 40"/>
                      <a:gd name="T19" fmla="*/ 0 h 65"/>
                      <a:gd name="T20" fmla="*/ 40 w 40"/>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0" h="65">
                        <a:moveTo>
                          <a:pt x="36" y="64"/>
                        </a:moveTo>
                        <a:lnTo>
                          <a:pt x="36" y="64"/>
                        </a:lnTo>
                        <a:lnTo>
                          <a:pt x="0" y="52"/>
                        </a:lnTo>
                        <a:lnTo>
                          <a:pt x="0" y="0"/>
                        </a:lnTo>
                        <a:lnTo>
                          <a:pt x="39" y="11"/>
                        </a:lnTo>
                        <a:lnTo>
                          <a:pt x="36" y="6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98" name="Freeform 154"/>
                  <p:cNvSpPr/>
                  <p:nvPr/>
                </p:nvSpPr>
                <p:spPr bwMode="auto">
                  <a:xfrm>
                    <a:off x="2221" y="2015"/>
                    <a:ext cx="135" cy="66"/>
                  </a:xfrm>
                  <a:custGeom>
                    <a:avLst/>
                    <a:gdLst>
                      <a:gd name="T0" fmla="*/ 42 w 135"/>
                      <a:gd name="T1" fmla="*/ 65 h 66"/>
                      <a:gd name="T2" fmla="*/ 42 w 135"/>
                      <a:gd name="T3" fmla="*/ 65 h 66"/>
                      <a:gd name="T4" fmla="*/ 0 w 135"/>
                      <a:gd name="T5" fmla="*/ 49 h 66"/>
                      <a:gd name="T6" fmla="*/ 98 w 135"/>
                      <a:gd name="T7" fmla="*/ 0 h 66"/>
                      <a:gd name="T8" fmla="*/ 134 w 135"/>
                      <a:gd name="T9" fmla="*/ 15 h 66"/>
                      <a:gd name="T10" fmla="*/ 42 w 135"/>
                      <a:gd name="T11" fmla="*/ 65 h 66"/>
                      <a:gd name="T12" fmla="*/ 0 60000 65536"/>
                      <a:gd name="T13" fmla="*/ 0 60000 65536"/>
                      <a:gd name="T14" fmla="*/ 0 60000 65536"/>
                      <a:gd name="T15" fmla="*/ 0 60000 65536"/>
                      <a:gd name="T16" fmla="*/ 0 60000 65536"/>
                      <a:gd name="T17" fmla="*/ 0 60000 65536"/>
                      <a:gd name="T18" fmla="*/ 0 w 135"/>
                      <a:gd name="T19" fmla="*/ 0 h 66"/>
                      <a:gd name="T20" fmla="*/ 135 w 135"/>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35" h="66">
                        <a:moveTo>
                          <a:pt x="42" y="65"/>
                        </a:moveTo>
                        <a:lnTo>
                          <a:pt x="42" y="65"/>
                        </a:lnTo>
                        <a:lnTo>
                          <a:pt x="0" y="49"/>
                        </a:lnTo>
                        <a:lnTo>
                          <a:pt x="98" y="0"/>
                        </a:lnTo>
                        <a:lnTo>
                          <a:pt x="134" y="15"/>
                        </a:lnTo>
                        <a:lnTo>
                          <a:pt x="42" y="65"/>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82" name="Group 155"/>
                <p:cNvGrpSpPr/>
                <p:nvPr/>
              </p:nvGrpSpPr>
              <p:grpSpPr bwMode="auto">
                <a:xfrm>
                  <a:off x="2109" y="2072"/>
                  <a:ext cx="148" cy="127"/>
                  <a:chOff x="2109" y="2072"/>
                  <a:chExt cx="148" cy="127"/>
                </a:xfrm>
              </p:grpSpPr>
              <p:sp>
                <p:nvSpPr>
                  <p:cNvPr id="44393" name="Freeform 156"/>
                  <p:cNvSpPr/>
                  <p:nvPr/>
                </p:nvSpPr>
                <p:spPr bwMode="auto">
                  <a:xfrm>
                    <a:off x="2154" y="2090"/>
                    <a:ext cx="102" cy="109"/>
                  </a:xfrm>
                  <a:custGeom>
                    <a:avLst/>
                    <a:gdLst>
                      <a:gd name="T0" fmla="*/ 0 w 102"/>
                      <a:gd name="T1" fmla="*/ 108 h 109"/>
                      <a:gd name="T2" fmla="*/ 0 w 102"/>
                      <a:gd name="T3" fmla="*/ 108 h 109"/>
                      <a:gd name="T4" fmla="*/ 0 w 102"/>
                      <a:gd name="T5" fmla="*/ 52 h 109"/>
                      <a:gd name="T6" fmla="*/ 101 w 102"/>
                      <a:gd name="T7" fmla="*/ 0 h 109"/>
                      <a:gd name="T8" fmla="*/ 98 w 102"/>
                      <a:gd name="T9" fmla="*/ 52 h 109"/>
                      <a:gd name="T10" fmla="*/ 0 w 102"/>
                      <a:gd name="T11" fmla="*/ 108 h 109"/>
                      <a:gd name="T12" fmla="*/ 0 60000 65536"/>
                      <a:gd name="T13" fmla="*/ 0 60000 65536"/>
                      <a:gd name="T14" fmla="*/ 0 60000 65536"/>
                      <a:gd name="T15" fmla="*/ 0 60000 65536"/>
                      <a:gd name="T16" fmla="*/ 0 60000 65536"/>
                      <a:gd name="T17" fmla="*/ 0 60000 65536"/>
                      <a:gd name="T18" fmla="*/ 0 w 102"/>
                      <a:gd name="T19" fmla="*/ 0 h 109"/>
                      <a:gd name="T20" fmla="*/ 102 w 102"/>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102" h="109">
                        <a:moveTo>
                          <a:pt x="0" y="108"/>
                        </a:moveTo>
                        <a:lnTo>
                          <a:pt x="0" y="108"/>
                        </a:lnTo>
                        <a:lnTo>
                          <a:pt x="0" y="52"/>
                        </a:lnTo>
                        <a:lnTo>
                          <a:pt x="101" y="0"/>
                        </a:lnTo>
                        <a:lnTo>
                          <a:pt x="98" y="52"/>
                        </a:lnTo>
                        <a:lnTo>
                          <a:pt x="0" y="108"/>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94" name="Freeform 157"/>
                  <p:cNvSpPr/>
                  <p:nvPr/>
                </p:nvSpPr>
                <p:spPr bwMode="auto">
                  <a:xfrm>
                    <a:off x="2109" y="2132"/>
                    <a:ext cx="44" cy="67"/>
                  </a:xfrm>
                  <a:custGeom>
                    <a:avLst/>
                    <a:gdLst>
                      <a:gd name="T0" fmla="*/ 43 w 44"/>
                      <a:gd name="T1" fmla="*/ 66 h 67"/>
                      <a:gd name="T2" fmla="*/ 43 w 44"/>
                      <a:gd name="T3" fmla="*/ 66 h 67"/>
                      <a:gd name="T4" fmla="*/ 0 w 44"/>
                      <a:gd name="T5" fmla="*/ 54 h 67"/>
                      <a:gd name="T6" fmla="*/ 0 w 44"/>
                      <a:gd name="T7" fmla="*/ 0 h 67"/>
                      <a:gd name="T8" fmla="*/ 43 w 44"/>
                      <a:gd name="T9" fmla="*/ 11 h 67"/>
                      <a:gd name="T10" fmla="*/ 43 w 44"/>
                      <a:gd name="T11" fmla="*/ 66 h 67"/>
                      <a:gd name="T12" fmla="*/ 0 60000 65536"/>
                      <a:gd name="T13" fmla="*/ 0 60000 65536"/>
                      <a:gd name="T14" fmla="*/ 0 60000 65536"/>
                      <a:gd name="T15" fmla="*/ 0 60000 65536"/>
                      <a:gd name="T16" fmla="*/ 0 60000 65536"/>
                      <a:gd name="T17" fmla="*/ 0 60000 65536"/>
                      <a:gd name="T18" fmla="*/ 0 w 44"/>
                      <a:gd name="T19" fmla="*/ 0 h 67"/>
                      <a:gd name="T20" fmla="*/ 44 w 44"/>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4" h="67">
                        <a:moveTo>
                          <a:pt x="43" y="66"/>
                        </a:moveTo>
                        <a:lnTo>
                          <a:pt x="43" y="66"/>
                        </a:lnTo>
                        <a:lnTo>
                          <a:pt x="0" y="54"/>
                        </a:lnTo>
                        <a:lnTo>
                          <a:pt x="0" y="0"/>
                        </a:lnTo>
                        <a:lnTo>
                          <a:pt x="43" y="11"/>
                        </a:lnTo>
                        <a:lnTo>
                          <a:pt x="43" y="66"/>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95" name="Freeform 158"/>
                  <p:cNvSpPr/>
                  <p:nvPr/>
                </p:nvSpPr>
                <p:spPr bwMode="auto">
                  <a:xfrm>
                    <a:off x="2110" y="2072"/>
                    <a:ext cx="147" cy="71"/>
                  </a:xfrm>
                  <a:custGeom>
                    <a:avLst/>
                    <a:gdLst>
                      <a:gd name="T0" fmla="*/ 44 w 147"/>
                      <a:gd name="T1" fmla="*/ 70 h 71"/>
                      <a:gd name="T2" fmla="*/ 44 w 147"/>
                      <a:gd name="T3" fmla="*/ 70 h 71"/>
                      <a:gd name="T4" fmla="*/ 0 w 147"/>
                      <a:gd name="T5" fmla="*/ 57 h 71"/>
                      <a:gd name="T6" fmla="*/ 104 w 147"/>
                      <a:gd name="T7" fmla="*/ 0 h 71"/>
                      <a:gd name="T8" fmla="*/ 146 w 147"/>
                      <a:gd name="T9" fmla="*/ 15 h 71"/>
                      <a:gd name="T10" fmla="*/ 44 w 147"/>
                      <a:gd name="T11" fmla="*/ 70 h 71"/>
                      <a:gd name="T12" fmla="*/ 0 60000 65536"/>
                      <a:gd name="T13" fmla="*/ 0 60000 65536"/>
                      <a:gd name="T14" fmla="*/ 0 60000 65536"/>
                      <a:gd name="T15" fmla="*/ 0 60000 65536"/>
                      <a:gd name="T16" fmla="*/ 0 60000 65536"/>
                      <a:gd name="T17" fmla="*/ 0 60000 65536"/>
                      <a:gd name="T18" fmla="*/ 0 w 147"/>
                      <a:gd name="T19" fmla="*/ 0 h 71"/>
                      <a:gd name="T20" fmla="*/ 147 w 1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47" h="71">
                        <a:moveTo>
                          <a:pt x="44" y="70"/>
                        </a:moveTo>
                        <a:lnTo>
                          <a:pt x="44" y="70"/>
                        </a:lnTo>
                        <a:lnTo>
                          <a:pt x="0" y="57"/>
                        </a:lnTo>
                        <a:lnTo>
                          <a:pt x="104" y="0"/>
                        </a:lnTo>
                        <a:lnTo>
                          <a:pt x="146" y="15"/>
                        </a:lnTo>
                        <a:lnTo>
                          <a:pt x="44" y="70"/>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383" name="Freeform 159"/>
                <p:cNvSpPr/>
                <p:nvPr/>
              </p:nvSpPr>
              <p:spPr bwMode="auto">
                <a:xfrm>
                  <a:off x="2099" y="2151"/>
                  <a:ext cx="49" cy="83"/>
                </a:xfrm>
                <a:custGeom>
                  <a:avLst/>
                  <a:gdLst>
                    <a:gd name="T0" fmla="*/ 0 w 49"/>
                    <a:gd name="T1" fmla="*/ 82 h 83"/>
                    <a:gd name="T2" fmla="*/ 0 w 49"/>
                    <a:gd name="T3" fmla="*/ 82 h 83"/>
                    <a:gd name="T4" fmla="*/ 0 w 49"/>
                    <a:gd name="T5" fmla="*/ 27 h 83"/>
                    <a:gd name="T6" fmla="*/ 48 w 49"/>
                    <a:gd name="T7" fmla="*/ 0 h 83"/>
                    <a:gd name="T8" fmla="*/ 45 w 49"/>
                    <a:gd name="T9" fmla="*/ 54 h 83"/>
                    <a:gd name="T10" fmla="*/ 0 w 49"/>
                    <a:gd name="T11" fmla="*/ 82 h 83"/>
                    <a:gd name="T12" fmla="*/ 0 60000 65536"/>
                    <a:gd name="T13" fmla="*/ 0 60000 65536"/>
                    <a:gd name="T14" fmla="*/ 0 60000 65536"/>
                    <a:gd name="T15" fmla="*/ 0 60000 65536"/>
                    <a:gd name="T16" fmla="*/ 0 60000 65536"/>
                    <a:gd name="T17" fmla="*/ 0 60000 65536"/>
                    <a:gd name="T18" fmla="*/ 0 w 49"/>
                    <a:gd name="T19" fmla="*/ 0 h 83"/>
                    <a:gd name="T20" fmla="*/ 49 w 49"/>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49" h="83">
                      <a:moveTo>
                        <a:pt x="0" y="82"/>
                      </a:moveTo>
                      <a:lnTo>
                        <a:pt x="0" y="82"/>
                      </a:lnTo>
                      <a:lnTo>
                        <a:pt x="0" y="27"/>
                      </a:lnTo>
                      <a:lnTo>
                        <a:pt x="48" y="0"/>
                      </a:lnTo>
                      <a:lnTo>
                        <a:pt x="45" y="54"/>
                      </a:lnTo>
                      <a:lnTo>
                        <a:pt x="0" y="82"/>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84" name="Freeform 160"/>
                <p:cNvSpPr/>
                <p:nvPr/>
              </p:nvSpPr>
              <p:spPr bwMode="auto">
                <a:xfrm>
                  <a:off x="2051" y="2138"/>
                  <a:ext cx="97" cy="39"/>
                </a:xfrm>
                <a:custGeom>
                  <a:avLst/>
                  <a:gdLst>
                    <a:gd name="T0" fmla="*/ 46 w 97"/>
                    <a:gd name="T1" fmla="*/ 38 h 39"/>
                    <a:gd name="T2" fmla="*/ 46 w 97"/>
                    <a:gd name="T3" fmla="*/ 38 h 39"/>
                    <a:gd name="T4" fmla="*/ 0 w 97"/>
                    <a:gd name="T5" fmla="*/ 26 h 39"/>
                    <a:gd name="T6" fmla="*/ 49 w 97"/>
                    <a:gd name="T7" fmla="*/ 0 h 39"/>
                    <a:gd name="T8" fmla="*/ 96 w 97"/>
                    <a:gd name="T9" fmla="*/ 11 h 39"/>
                    <a:gd name="T10" fmla="*/ 46 w 97"/>
                    <a:gd name="T11" fmla="*/ 38 h 39"/>
                    <a:gd name="T12" fmla="*/ 0 60000 65536"/>
                    <a:gd name="T13" fmla="*/ 0 60000 65536"/>
                    <a:gd name="T14" fmla="*/ 0 60000 65536"/>
                    <a:gd name="T15" fmla="*/ 0 60000 65536"/>
                    <a:gd name="T16" fmla="*/ 0 60000 65536"/>
                    <a:gd name="T17" fmla="*/ 0 60000 65536"/>
                    <a:gd name="T18" fmla="*/ 0 w 97"/>
                    <a:gd name="T19" fmla="*/ 0 h 39"/>
                    <a:gd name="T20" fmla="*/ 97 w 97"/>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97" h="39">
                      <a:moveTo>
                        <a:pt x="46" y="38"/>
                      </a:moveTo>
                      <a:lnTo>
                        <a:pt x="46" y="38"/>
                      </a:lnTo>
                      <a:lnTo>
                        <a:pt x="0" y="26"/>
                      </a:lnTo>
                      <a:lnTo>
                        <a:pt x="49" y="0"/>
                      </a:lnTo>
                      <a:lnTo>
                        <a:pt x="96" y="11"/>
                      </a:lnTo>
                      <a:lnTo>
                        <a:pt x="46" y="38"/>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85" name="Freeform 161"/>
                <p:cNvSpPr/>
                <p:nvPr/>
              </p:nvSpPr>
              <p:spPr bwMode="auto">
                <a:xfrm>
                  <a:off x="2449" y="1975"/>
                  <a:ext cx="17" cy="55"/>
                </a:xfrm>
                <a:custGeom>
                  <a:avLst/>
                  <a:gdLst>
                    <a:gd name="T0" fmla="*/ 0 w 17"/>
                    <a:gd name="T1" fmla="*/ 54 h 55"/>
                    <a:gd name="T2" fmla="*/ 0 w 17"/>
                    <a:gd name="T3" fmla="*/ 54 h 55"/>
                    <a:gd name="T4" fmla="*/ 0 w 17"/>
                    <a:gd name="T5" fmla="*/ 27 h 55"/>
                    <a:gd name="T6" fmla="*/ 5 w 17"/>
                    <a:gd name="T7" fmla="*/ 9 h 55"/>
                    <a:gd name="T8" fmla="*/ 5 w 17"/>
                    <a:gd name="T9" fmla="*/ 2 h 55"/>
                    <a:gd name="T10" fmla="*/ 5 w 17"/>
                    <a:gd name="T11" fmla="*/ 0 h 55"/>
                    <a:gd name="T12" fmla="*/ 10 w 17"/>
                    <a:gd name="T13" fmla="*/ 0 h 55"/>
                    <a:gd name="T14" fmla="*/ 16 w 17"/>
                    <a:gd name="T15" fmla="*/ 0 h 55"/>
                    <a:gd name="T16" fmla="*/ 16 w 17"/>
                    <a:gd name="T17" fmla="*/ 24 h 55"/>
                    <a:gd name="T18" fmla="*/ 10 w 17"/>
                    <a:gd name="T19" fmla="*/ 47 h 55"/>
                    <a:gd name="T20" fmla="*/ 10 w 17"/>
                    <a:gd name="T21" fmla="*/ 51 h 55"/>
                    <a:gd name="T22" fmla="*/ 5 w 17"/>
                    <a:gd name="T23" fmla="*/ 47 h 55"/>
                    <a:gd name="T24" fmla="*/ 5 w 17"/>
                    <a:gd name="T25" fmla="*/ 51 h 55"/>
                    <a:gd name="T26" fmla="*/ 0 w 17"/>
                    <a:gd name="T27" fmla="*/ 51 h 55"/>
                    <a:gd name="T28" fmla="*/ 0 w 17"/>
                    <a:gd name="T29" fmla="*/ 54 h 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5"/>
                    <a:gd name="T47" fmla="*/ 17 w 17"/>
                    <a:gd name="T48" fmla="*/ 55 h 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5">
                      <a:moveTo>
                        <a:pt x="0" y="54"/>
                      </a:moveTo>
                      <a:lnTo>
                        <a:pt x="0" y="54"/>
                      </a:lnTo>
                      <a:lnTo>
                        <a:pt x="0" y="27"/>
                      </a:lnTo>
                      <a:lnTo>
                        <a:pt x="5" y="9"/>
                      </a:lnTo>
                      <a:lnTo>
                        <a:pt x="5" y="2"/>
                      </a:lnTo>
                      <a:lnTo>
                        <a:pt x="5" y="0"/>
                      </a:lnTo>
                      <a:lnTo>
                        <a:pt x="10" y="0"/>
                      </a:lnTo>
                      <a:lnTo>
                        <a:pt x="16" y="0"/>
                      </a:lnTo>
                      <a:lnTo>
                        <a:pt x="16" y="24"/>
                      </a:lnTo>
                      <a:lnTo>
                        <a:pt x="10" y="47"/>
                      </a:lnTo>
                      <a:lnTo>
                        <a:pt x="10" y="51"/>
                      </a:lnTo>
                      <a:lnTo>
                        <a:pt x="5" y="47"/>
                      </a:lnTo>
                      <a:lnTo>
                        <a:pt x="5" y="51"/>
                      </a:lnTo>
                      <a:lnTo>
                        <a:pt x="0" y="51"/>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86" name="Freeform 162"/>
                <p:cNvSpPr/>
                <p:nvPr/>
              </p:nvSpPr>
              <p:spPr bwMode="auto">
                <a:xfrm>
                  <a:off x="2097" y="1923"/>
                  <a:ext cx="441" cy="257"/>
                </a:xfrm>
                <a:custGeom>
                  <a:avLst/>
                  <a:gdLst>
                    <a:gd name="T0" fmla="*/ 440 w 441"/>
                    <a:gd name="T1" fmla="*/ 0 h 257"/>
                    <a:gd name="T2" fmla="*/ 440 w 441"/>
                    <a:gd name="T3" fmla="*/ 0 h 257"/>
                    <a:gd name="T4" fmla="*/ 0 w 441"/>
                    <a:gd name="T5" fmla="*/ 246 h 257"/>
                    <a:gd name="T6" fmla="*/ 3 w 441"/>
                    <a:gd name="T7" fmla="*/ 256 h 257"/>
                    <a:gd name="T8" fmla="*/ 440 w 441"/>
                    <a:gd name="T9" fmla="*/ 6 h 257"/>
                    <a:gd name="T10" fmla="*/ 440 w 441"/>
                    <a:gd name="T11" fmla="*/ 0 h 257"/>
                    <a:gd name="T12" fmla="*/ 0 60000 65536"/>
                    <a:gd name="T13" fmla="*/ 0 60000 65536"/>
                    <a:gd name="T14" fmla="*/ 0 60000 65536"/>
                    <a:gd name="T15" fmla="*/ 0 60000 65536"/>
                    <a:gd name="T16" fmla="*/ 0 60000 65536"/>
                    <a:gd name="T17" fmla="*/ 0 60000 65536"/>
                    <a:gd name="T18" fmla="*/ 0 w 441"/>
                    <a:gd name="T19" fmla="*/ 0 h 257"/>
                    <a:gd name="T20" fmla="*/ 441 w 441"/>
                    <a:gd name="T21" fmla="*/ 257 h 257"/>
                  </a:gdLst>
                  <a:ahLst/>
                  <a:cxnLst>
                    <a:cxn ang="T12">
                      <a:pos x="T0" y="T1"/>
                    </a:cxn>
                    <a:cxn ang="T13">
                      <a:pos x="T2" y="T3"/>
                    </a:cxn>
                    <a:cxn ang="T14">
                      <a:pos x="T4" y="T5"/>
                    </a:cxn>
                    <a:cxn ang="T15">
                      <a:pos x="T6" y="T7"/>
                    </a:cxn>
                    <a:cxn ang="T16">
                      <a:pos x="T8" y="T9"/>
                    </a:cxn>
                    <a:cxn ang="T17">
                      <a:pos x="T10" y="T11"/>
                    </a:cxn>
                  </a:cxnLst>
                  <a:rect l="T18" t="T19" r="T20" b="T21"/>
                  <a:pathLst>
                    <a:path w="441" h="257">
                      <a:moveTo>
                        <a:pt x="440" y="0"/>
                      </a:moveTo>
                      <a:lnTo>
                        <a:pt x="440" y="0"/>
                      </a:lnTo>
                      <a:lnTo>
                        <a:pt x="0" y="246"/>
                      </a:lnTo>
                      <a:lnTo>
                        <a:pt x="3" y="256"/>
                      </a:lnTo>
                      <a:lnTo>
                        <a:pt x="440" y="6"/>
                      </a:lnTo>
                      <a:lnTo>
                        <a:pt x="440" y="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87" name="Freeform 163"/>
                <p:cNvSpPr/>
                <p:nvPr/>
              </p:nvSpPr>
              <p:spPr bwMode="auto">
                <a:xfrm>
                  <a:off x="2355" y="2029"/>
                  <a:ext cx="17" cy="55"/>
                </a:xfrm>
                <a:custGeom>
                  <a:avLst/>
                  <a:gdLst>
                    <a:gd name="T0" fmla="*/ 0 w 17"/>
                    <a:gd name="T1" fmla="*/ 54 h 55"/>
                    <a:gd name="T2" fmla="*/ 0 w 17"/>
                    <a:gd name="T3" fmla="*/ 54 h 55"/>
                    <a:gd name="T4" fmla="*/ 0 w 17"/>
                    <a:gd name="T5" fmla="*/ 45 h 55"/>
                    <a:gd name="T6" fmla="*/ 0 w 17"/>
                    <a:gd name="T7" fmla="*/ 27 h 55"/>
                    <a:gd name="T8" fmla="*/ 5 w 17"/>
                    <a:gd name="T9" fmla="*/ 18 h 55"/>
                    <a:gd name="T10" fmla="*/ 5 w 17"/>
                    <a:gd name="T11" fmla="*/ 9 h 55"/>
                    <a:gd name="T12" fmla="*/ 5 w 17"/>
                    <a:gd name="T13" fmla="*/ 6 h 55"/>
                    <a:gd name="T14" fmla="*/ 5 w 17"/>
                    <a:gd name="T15" fmla="*/ 2 h 55"/>
                    <a:gd name="T16" fmla="*/ 5 w 17"/>
                    <a:gd name="T17" fmla="*/ 0 h 55"/>
                    <a:gd name="T18" fmla="*/ 10 w 17"/>
                    <a:gd name="T19" fmla="*/ 0 h 55"/>
                    <a:gd name="T20" fmla="*/ 16 w 17"/>
                    <a:gd name="T21" fmla="*/ 0 h 55"/>
                    <a:gd name="T22" fmla="*/ 16 w 17"/>
                    <a:gd name="T23" fmla="*/ 24 h 55"/>
                    <a:gd name="T24" fmla="*/ 16 w 17"/>
                    <a:gd name="T25" fmla="*/ 42 h 55"/>
                    <a:gd name="T26" fmla="*/ 16 w 17"/>
                    <a:gd name="T27" fmla="*/ 47 h 55"/>
                    <a:gd name="T28" fmla="*/ 10 w 17"/>
                    <a:gd name="T29" fmla="*/ 47 h 55"/>
                    <a:gd name="T30" fmla="*/ 10 w 17"/>
                    <a:gd name="T31" fmla="*/ 51 h 55"/>
                    <a:gd name="T32" fmla="*/ 5 w 17"/>
                    <a:gd name="T33" fmla="*/ 51 h 55"/>
                    <a:gd name="T34" fmla="*/ 0 w 17"/>
                    <a:gd name="T35" fmla="*/ 54 h 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55"/>
                    <a:gd name="T56" fmla="*/ 17 w 17"/>
                    <a:gd name="T57" fmla="*/ 55 h 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55">
                      <a:moveTo>
                        <a:pt x="0" y="54"/>
                      </a:moveTo>
                      <a:lnTo>
                        <a:pt x="0" y="54"/>
                      </a:lnTo>
                      <a:lnTo>
                        <a:pt x="0" y="45"/>
                      </a:lnTo>
                      <a:lnTo>
                        <a:pt x="0" y="27"/>
                      </a:lnTo>
                      <a:lnTo>
                        <a:pt x="5" y="18"/>
                      </a:lnTo>
                      <a:lnTo>
                        <a:pt x="5" y="9"/>
                      </a:lnTo>
                      <a:lnTo>
                        <a:pt x="5" y="6"/>
                      </a:lnTo>
                      <a:lnTo>
                        <a:pt x="5" y="2"/>
                      </a:lnTo>
                      <a:lnTo>
                        <a:pt x="5" y="0"/>
                      </a:lnTo>
                      <a:lnTo>
                        <a:pt x="10" y="0"/>
                      </a:lnTo>
                      <a:lnTo>
                        <a:pt x="16" y="0"/>
                      </a:lnTo>
                      <a:lnTo>
                        <a:pt x="16" y="24"/>
                      </a:lnTo>
                      <a:lnTo>
                        <a:pt x="16" y="42"/>
                      </a:lnTo>
                      <a:lnTo>
                        <a:pt x="16" y="47"/>
                      </a:lnTo>
                      <a:lnTo>
                        <a:pt x="10" y="47"/>
                      </a:lnTo>
                      <a:lnTo>
                        <a:pt x="10" y="51"/>
                      </a:lnTo>
                      <a:lnTo>
                        <a:pt x="5" y="51"/>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88" name="Freeform 164"/>
                <p:cNvSpPr/>
                <p:nvPr/>
              </p:nvSpPr>
              <p:spPr bwMode="auto">
                <a:xfrm>
                  <a:off x="2256" y="2083"/>
                  <a:ext cx="17" cy="60"/>
                </a:xfrm>
                <a:custGeom>
                  <a:avLst/>
                  <a:gdLst>
                    <a:gd name="T0" fmla="*/ 0 w 17"/>
                    <a:gd name="T1" fmla="*/ 59 h 60"/>
                    <a:gd name="T2" fmla="*/ 0 w 17"/>
                    <a:gd name="T3" fmla="*/ 59 h 60"/>
                    <a:gd name="T4" fmla="*/ 0 w 17"/>
                    <a:gd name="T5" fmla="*/ 49 h 60"/>
                    <a:gd name="T6" fmla="*/ 0 w 17"/>
                    <a:gd name="T7" fmla="*/ 30 h 60"/>
                    <a:gd name="T8" fmla="*/ 0 w 17"/>
                    <a:gd name="T9" fmla="*/ 19 h 60"/>
                    <a:gd name="T10" fmla="*/ 0 w 17"/>
                    <a:gd name="T11" fmla="*/ 9 h 60"/>
                    <a:gd name="T12" fmla="*/ 5 w 17"/>
                    <a:gd name="T13" fmla="*/ 2 h 60"/>
                    <a:gd name="T14" fmla="*/ 5 w 17"/>
                    <a:gd name="T15" fmla="*/ 0 h 60"/>
                    <a:gd name="T16" fmla="*/ 10 w 17"/>
                    <a:gd name="T17" fmla="*/ 0 h 60"/>
                    <a:gd name="T18" fmla="*/ 16 w 17"/>
                    <a:gd name="T19" fmla="*/ 0 h 60"/>
                    <a:gd name="T20" fmla="*/ 16 w 17"/>
                    <a:gd name="T21" fmla="*/ 28 h 60"/>
                    <a:gd name="T22" fmla="*/ 16 w 17"/>
                    <a:gd name="T23" fmla="*/ 46 h 60"/>
                    <a:gd name="T24" fmla="*/ 16 w 17"/>
                    <a:gd name="T25" fmla="*/ 56 h 60"/>
                    <a:gd name="T26" fmla="*/ 10 w 17"/>
                    <a:gd name="T27" fmla="*/ 56 h 60"/>
                    <a:gd name="T28" fmla="*/ 5 w 17"/>
                    <a:gd name="T29" fmla="*/ 56 h 60"/>
                    <a:gd name="T30" fmla="*/ 5 w 17"/>
                    <a:gd name="T31" fmla="*/ 59 h 60"/>
                    <a:gd name="T32" fmla="*/ 0 w 17"/>
                    <a:gd name="T33" fmla="*/ 59 h 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60"/>
                    <a:gd name="T53" fmla="*/ 17 w 17"/>
                    <a:gd name="T54" fmla="*/ 60 h 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60">
                      <a:moveTo>
                        <a:pt x="0" y="59"/>
                      </a:moveTo>
                      <a:lnTo>
                        <a:pt x="0" y="59"/>
                      </a:lnTo>
                      <a:lnTo>
                        <a:pt x="0" y="49"/>
                      </a:lnTo>
                      <a:lnTo>
                        <a:pt x="0" y="30"/>
                      </a:lnTo>
                      <a:lnTo>
                        <a:pt x="0" y="19"/>
                      </a:lnTo>
                      <a:lnTo>
                        <a:pt x="0" y="9"/>
                      </a:lnTo>
                      <a:lnTo>
                        <a:pt x="5" y="2"/>
                      </a:lnTo>
                      <a:lnTo>
                        <a:pt x="5" y="0"/>
                      </a:lnTo>
                      <a:lnTo>
                        <a:pt x="10" y="0"/>
                      </a:lnTo>
                      <a:lnTo>
                        <a:pt x="16" y="0"/>
                      </a:lnTo>
                      <a:lnTo>
                        <a:pt x="16" y="28"/>
                      </a:lnTo>
                      <a:lnTo>
                        <a:pt x="16" y="46"/>
                      </a:lnTo>
                      <a:lnTo>
                        <a:pt x="16" y="56"/>
                      </a:lnTo>
                      <a:lnTo>
                        <a:pt x="10" y="56"/>
                      </a:lnTo>
                      <a:lnTo>
                        <a:pt x="5" y="56"/>
                      </a:lnTo>
                      <a:lnTo>
                        <a:pt x="5" y="59"/>
                      </a:lnTo>
                      <a:lnTo>
                        <a:pt x="0" y="59"/>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89" name="Freeform 165"/>
                <p:cNvSpPr/>
                <p:nvPr/>
              </p:nvSpPr>
              <p:spPr bwMode="auto">
                <a:xfrm>
                  <a:off x="2147" y="2146"/>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6 w 17"/>
                    <a:gd name="T17" fmla="*/ 2 h 63"/>
                    <a:gd name="T18" fmla="*/ 6 w 17"/>
                    <a:gd name="T19" fmla="*/ 0 h 63"/>
                    <a:gd name="T20" fmla="*/ 10 w 17"/>
                    <a:gd name="T21" fmla="*/ 0 h 63"/>
                    <a:gd name="T22" fmla="*/ 16 w 17"/>
                    <a:gd name="T23" fmla="*/ 0 h 63"/>
                    <a:gd name="T24" fmla="*/ 16 w 17"/>
                    <a:gd name="T25" fmla="*/ 28 h 63"/>
                    <a:gd name="T26" fmla="*/ 16 w 17"/>
                    <a:gd name="T27" fmla="*/ 46 h 63"/>
                    <a:gd name="T28" fmla="*/ 16 w 17"/>
                    <a:gd name="T29" fmla="*/ 55 h 63"/>
                    <a:gd name="T30" fmla="*/ 10 w 17"/>
                    <a:gd name="T31" fmla="*/ 55 h 63"/>
                    <a:gd name="T32" fmla="*/ 6 w 17"/>
                    <a:gd name="T33" fmla="*/ 55 h 63"/>
                    <a:gd name="T34" fmla="*/ 6 w 17"/>
                    <a:gd name="T35" fmla="*/ 59 h 63"/>
                    <a:gd name="T36" fmla="*/ 0 w 17"/>
                    <a:gd name="T37" fmla="*/ 62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3"/>
                    <a:gd name="T59" fmla="*/ 17 w 17"/>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3">
                      <a:moveTo>
                        <a:pt x="0" y="62"/>
                      </a:moveTo>
                      <a:lnTo>
                        <a:pt x="0" y="62"/>
                      </a:lnTo>
                      <a:lnTo>
                        <a:pt x="0" y="52"/>
                      </a:lnTo>
                      <a:lnTo>
                        <a:pt x="0" y="31"/>
                      </a:lnTo>
                      <a:lnTo>
                        <a:pt x="0" y="18"/>
                      </a:lnTo>
                      <a:lnTo>
                        <a:pt x="0" y="9"/>
                      </a:lnTo>
                      <a:lnTo>
                        <a:pt x="0" y="6"/>
                      </a:lnTo>
                      <a:lnTo>
                        <a:pt x="0" y="2"/>
                      </a:lnTo>
                      <a:lnTo>
                        <a:pt x="6" y="2"/>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90" name="Freeform 166"/>
                <p:cNvSpPr/>
                <p:nvPr/>
              </p:nvSpPr>
              <p:spPr bwMode="auto">
                <a:xfrm>
                  <a:off x="2051" y="2167"/>
                  <a:ext cx="47" cy="67"/>
                </a:xfrm>
                <a:custGeom>
                  <a:avLst/>
                  <a:gdLst>
                    <a:gd name="T0" fmla="*/ 46 w 47"/>
                    <a:gd name="T1" fmla="*/ 66 h 67"/>
                    <a:gd name="T2" fmla="*/ 46 w 47"/>
                    <a:gd name="T3" fmla="*/ 66 h 67"/>
                    <a:gd name="T4" fmla="*/ 0 w 47"/>
                    <a:gd name="T5" fmla="*/ 54 h 67"/>
                    <a:gd name="T6" fmla="*/ 0 w 47"/>
                    <a:gd name="T7" fmla="*/ 0 h 67"/>
                    <a:gd name="T8" fmla="*/ 46 w 47"/>
                    <a:gd name="T9" fmla="*/ 11 h 67"/>
                    <a:gd name="T10" fmla="*/ 46 w 47"/>
                    <a:gd name="T11" fmla="*/ 66 h 67"/>
                    <a:gd name="T12" fmla="*/ 0 60000 65536"/>
                    <a:gd name="T13" fmla="*/ 0 60000 65536"/>
                    <a:gd name="T14" fmla="*/ 0 60000 65536"/>
                    <a:gd name="T15" fmla="*/ 0 60000 65536"/>
                    <a:gd name="T16" fmla="*/ 0 60000 65536"/>
                    <a:gd name="T17" fmla="*/ 0 60000 65536"/>
                    <a:gd name="T18" fmla="*/ 0 w 47"/>
                    <a:gd name="T19" fmla="*/ 0 h 67"/>
                    <a:gd name="T20" fmla="*/ 47 w 47"/>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47" h="67">
                      <a:moveTo>
                        <a:pt x="46" y="66"/>
                      </a:moveTo>
                      <a:lnTo>
                        <a:pt x="46" y="66"/>
                      </a:lnTo>
                      <a:lnTo>
                        <a:pt x="0" y="54"/>
                      </a:lnTo>
                      <a:lnTo>
                        <a:pt x="0" y="0"/>
                      </a:lnTo>
                      <a:lnTo>
                        <a:pt x="46" y="11"/>
                      </a:lnTo>
                      <a:lnTo>
                        <a:pt x="46" y="66"/>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91" name="Freeform 167"/>
                <p:cNvSpPr/>
                <p:nvPr/>
              </p:nvSpPr>
              <p:spPr bwMode="auto">
                <a:xfrm>
                  <a:off x="2051" y="2224"/>
                  <a:ext cx="47" cy="20"/>
                </a:xfrm>
                <a:custGeom>
                  <a:avLst/>
                  <a:gdLst>
                    <a:gd name="T0" fmla="*/ 43 w 47"/>
                    <a:gd name="T1" fmla="*/ 19 h 20"/>
                    <a:gd name="T2" fmla="*/ 43 w 47"/>
                    <a:gd name="T3" fmla="*/ 19 h 20"/>
                    <a:gd name="T4" fmla="*/ 46 w 47"/>
                    <a:gd name="T5" fmla="*/ 19 h 20"/>
                    <a:gd name="T6" fmla="*/ 46 w 47"/>
                    <a:gd name="T7" fmla="*/ 16 h 20"/>
                    <a:gd name="T8" fmla="*/ 46 w 47"/>
                    <a:gd name="T9" fmla="*/ 13 h 20"/>
                    <a:gd name="T10" fmla="*/ 46 w 47"/>
                    <a:gd name="T11" fmla="*/ 10 h 20"/>
                    <a:gd name="T12" fmla="*/ 24 w 47"/>
                    <a:gd name="T13" fmla="*/ 5 h 20"/>
                    <a:gd name="T14" fmla="*/ 0 w 47"/>
                    <a:gd name="T15" fmla="*/ 0 h 20"/>
                    <a:gd name="T16" fmla="*/ 0 w 47"/>
                    <a:gd name="T17" fmla="*/ 2 h 20"/>
                    <a:gd name="T18" fmla="*/ 0 w 47"/>
                    <a:gd name="T19" fmla="*/ 5 h 20"/>
                    <a:gd name="T20" fmla="*/ 0 w 47"/>
                    <a:gd name="T21" fmla="*/ 8 h 20"/>
                    <a:gd name="T22" fmla="*/ 5 w 47"/>
                    <a:gd name="T23" fmla="*/ 8 h 20"/>
                    <a:gd name="T24" fmla="*/ 13 w 47"/>
                    <a:gd name="T25" fmla="*/ 8 h 20"/>
                    <a:gd name="T26" fmla="*/ 21 w 47"/>
                    <a:gd name="T27" fmla="*/ 10 h 20"/>
                    <a:gd name="T28" fmla="*/ 29 w 47"/>
                    <a:gd name="T29" fmla="*/ 13 h 20"/>
                    <a:gd name="T30" fmla="*/ 35 w 47"/>
                    <a:gd name="T31" fmla="*/ 13 h 20"/>
                    <a:gd name="T32" fmla="*/ 37 w 47"/>
                    <a:gd name="T33" fmla="*/ 16 h 20"/>
                    <a:gd name="T34" fmla="*/ 40 w 47"/>
                    <a:gd name="T35" fmla="*/ 16 h 20"/>
                    <a:gd name="T36" fmla="*/ 43 w 47"/>
                    <a:gd name="T37" fmla="*/ 16 h 20"/>
                    <a:gd name="T38" fmla="*/ 43 w 47"/>
                    <a:gd name="T39" fmla="*/ 19 h 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7"/>
                    <a:gd name="T61" fmla="*/ 0 h 20"/>
                    <a:gd name="T62" fmla="*/ 47 w 47"/>
                    <a:gd name="T63" fmla="*/ 20 h 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7" h="20">
                      <a:moveTo>
                        <a:pt x="43" y="19"/>
                      </a:moveTo>
                      <a:lnTo>
                        <a:pt x="43" y="19"/>
                      </a:lnTo>
                      <a:lnTo>
                        <a:pt x="46" y="19"/>
                      </a:lnTo>
                      <a:lnTo>
                        <a:pt x="46" y="16"/>
                      </a:lnTo>
                      <a:lnTo>
                        <a:pt x="46" y="13"/>
                      </a:lnTo>
                      <a:lnTo>
                        <a:pt x="46" y="10"/>
                      </a:lnTo>
                      <a:lnTo>
                        <a:pt x="24" y="5"/>
                      </a:lnTo>
                      <a:lnTo>
                        <a:pt x="0" y="0"/>
                      </a:lnTo>
                      <a:lnTo>
                        <a:pt x="0" y="2"/>
                      </a:lnTo>
                      <a:lnTo>
                        <a:pt x="0" y="5"/>
                      </a:lnTo>
                      <a:lnTo>
                        <a:pt x="0" y="8"/>
                      </a:lnTo>
                      <a:lnTo>
                        <a:pt x="5" y="8"/>
                      </a:lnTo>
                      <a:lnTo>
                        <a:pt x="13" y="8"/>
                      </a:lnTo>
                      <a:lnTo>
                        <a:pt x="21" y="10"/>
                      </a:lnTo>
                      <a:lnTo>
                        <a:pt x="29" y="13"/>
                      </a:lnTo>
                      <a:lnTo>
                        <a:pt x="35" y="13"/>
                      </a:lnTo>
                      <a:lnTo>
                        <a:pt x="37" y="16"/>
                      </a:lnTo>
                      <a:lnTo>
                        <a:pt x="40" y="16"/>
                      </a:lnTo>
                      <a:lnTo>
                        <a:pt x="43" y="16"/>
                      </a:lnTo>
                      <a:lnTo>
                        <a:pt x="43" y="19"/>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92" name="Freeform 168"/>
                <p:cNvSpPr/>
                <p:nvPr/>
              </p:nvSpPr>
              <p:spPr bwMode="auto">
                <a:xfrm>
                  <a:off x="2051" y="2157"/>
                  <a:ext cx="47" cy="23"/>
                </a:xfrm>
                <a:custGeom>
                  <a:avLst/>
                  <a:gdLst>
                    <a:gd name="T0" fmla="*/ 46 w 47"/>
                    <a:gd name="T1" fmla="*/ 22 h 23"/>
                    <a:gd name="T2" fmla="*/ 46 w 47"/>
                    <a:gd name="T3" fmla="*/ 22 h 23"/>
                    <a:gd name="T4" fmla="*/ 46 w 47"/>
                    <a:gd name="T5" fmla="*/ 19 h 23"/>
                    <a:gd name="T6" fmla="*/ 46 w 47"/>
                    <a:gd name="T7" fmla="*/ 14 h 23"/>
                    <a:gd name="T8" fmla="*/ 21 w 47"/>
                    <a:gd name="T9" fmla="*/ 7 h 23"/>
                    <a:gd name="T10" fmla="*/ 8 w 47"/>
                    <a:gd name="T11" fmla="*/ 2 h 23"/>
                    <a:gd name="T12" fmla="*/ 2 w 47"/>
                    <a:gd name="T13" fmla="*/ 0 h 23"/>
                    <a:gd name="T14" fmla="*/ 0 w 47"/>
                    <a:gd name="T15" fmla="*/ 0 h 23"/>
                    <a:gd name="T16" fmla="*/ 0 w 47"/>
                    <a:gd name="T17" fmla="*/ 2 h 23"/>
                    <a:gd name="T18" fmla="*/ 0 w 47"/>
                    <a:gd name="T19" fmla="*/ 5 h 23"/>
                    <a:gd name="T20" fmla="*/ 0 w 47"/>
                    <a:gd name="T21" fmla="*/ 7 h 23"/>
                    <a:gd name="T22" fmla="*/ 2 w 47"/>
                    <a:gd name="T23" fmla="*/ 7 h 23"/>
                    <a:gd name="T24" fmla="*/ 5 w 47"/>
                    <a:gd name="T25" fmla="*/ 11 h 23"/>
                    <a:gd name="T26" fmla="*/ 21 w 47"/>
                    <a:gd name="T27" fmla="*/ 14 h 23"/>
                    <a:gd name="T28" fmla="*/ 24 w 47"/>
                    <a:gd name="T29" fmla="*/ 14 h 23"/>
                    <a:gd name="T30" fmla="*/ 29 w 47"/>
                    <a:gd name="T31" fmla="*/ 14 h 23"/>
                    <a:gd name="T32" fmla="*/ 32 w 47"/>
                    <a:gd name="T33" fmla="*/ 16 h 23"/>
                    <a:gd name="T34" fmla="*/ 35 w 47"/>
                    <a:gd name="T35" fmla="*/ 16 h 23"/>
                    <a:gd name="T36" fmla="*/ 40 w 47"/>
                    <a:gd name="T37" fmla="*/ 19 h 23"/>
                    <a:gd name="T38" fmla="*/ 43 w 47"/>
                    <a:gd name="T39" fmla="*/ 19 h 23"/>
                    <a:gd name="T40" fmla="*/ 46 w 47"/>
                    <a:gd name="T41" fmla="*/ 22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23"/>
                    <a:gd name="T65" fmla="*/ 47 w 47"/>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23">
                      <a:moveTo>
                        <a:pt x="46" y="22"/>
                      </a:moveTo>
                      <a:lnTo>
                        <a:pt x="46" y="22"/>
                      </a:lnTo>
                      <a:lnTo>
                        <a:pt x="46" y="19"/>
                      </a:lnTo>
                      <a:lnTo>
                        <a:pt x="46" y="14"/>
                      </a:lnTo>
                      <a:lnTo>
                        <a:pt x="21" y="7"/>
                      </a:lnTo>
                      <a:lnTo>
                        <a:pt x="8" y="2"/>
                      </a:lnTo>
                      <a:lnTo>
                        <a:pt x="2" y="0"/>
                      </a:lnTo>
                      <a:lnTo>
                        <a:pt x="0" y="0"/>
                      </a:lnTo>
                      <a:lnTo>
                        <a:pt x="0" y="2"/>
                      </a:lnTo>
                      <a:lnTo>
                        <a:pt x="0" y="5"/>
                      </a:lnTo>
                      <a:lnTo>
                        <a:pt x="0" y="7"/>
                      </a:lnTo>
                      <a:lnTo>
                        <a:pt x="2" y="7"/>
                      </a:lnTo>
                      <a:lnTo>
                        <a:pt x="5" y="11"/>
                      </a:lnTo>
                      <a:lnTo>
                        <a:pt x="21" y="14"/>
                      </a:lnTo>
                      <a:lnTo>
                        <a:pt x="24" y="14"/>
                      </a:lnTo>
                      <a:lnTo>
                        <a:pt x="29" y="14"/>
                      </a:lnTo>
                      <a:lnTo>
                        <a:pt x="32" y="16"/>
                      </a:lnTo>
                      <a:lnTo>
                        <a:pt x="35" y="16"/>
                      </a:lnTo>
                      <a:lnTo>
                        <a:pt x="40" y="19"/>
                      </a:lnTo>
                      <a:lnTo>
                        <a:pt x="43" y="19"/>
                      </a:lnTo>
                      <a:lnTo>
                        <a:pt x="46" y="22"/>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315" name="Freeform 169"/>
              <p:cNvSpPr/>
              <p:nvPr/>
            </p:nvSpPr>
            <p:spPr bwMode="auto">
              <a:xfrm>
                <a:off x="2499" y="1870"/>
                <a:ext cx="40" cy="71"/>
              </a:xfrm>
              <a:custGeom>
                <a:avLst/>
                <a:gdLst>
                  <a:gd name="T0" fmla="*/ 0 w 40"/>
                  <a:gd name="T1" fmla="*/ 70 h 71"/>
                  <a:gd name="T2" fmla="*/ 0 w 40"/>
                  <a:gd name="T3" fmla="*/ 70 h 71"/>
                  <a:gd name="T4" fmla="*/ 2 w 40"/>
                  <a:gd name="T5" fmla="*/ 17 h 71"/>
                  <a:gd name="T6" fmla="*/ 39 w 40"/>
                  <a:gd name="T7" fmla="*/ 0 h 71"/>
                  <a:gd name="T8" fmla="*/ 36 w 40"/>
                  <a:gd name="T9" fmla="*/ 48 h 71"/>
                  <a:gd name="T10" fmla="*/ 0 w 40"/>
                  <a:gd name="T11" fmla="*/ 70 h 71"/>
                  <a:gd name="T12" fmla="*/ 0 60000 65536"/>
                  <a:gd name="T13" fmla="*/ 0 60000 65536"/>
                  <a:gd name="T14" fmla="*/ 0 60000 65536"/>
                  <a:gd name="T15" fmla="*/ 0 60000 65536"/>
                  <a:gd name="T16" fmla="*/ 0 60000 65536"/>
                  <a:gd name="T17" fmla="*/ 0 60000 65536"/>
                  <a:gd name="T18" fmla="*/ 0 w 40"/>
                  <a:gd name="T19" fmla="*/ 0 h 71"/>
                  <a:gd name="T20" fmla="*/ 40 w 40"/>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0" h="71">
                    <a:moveTo>
                      <a:pt x="0" y="70"/>
                    </a:moveTo>
                    <a:lnTo>
                      <a:pt x="0" y="70"/>
                    </a:lnTo>
                    <a:lnTo>
                      <a:pt x="2" y="17"/>
                    </a:lnTo>
                    <a:lnTo>
                      <a:pt x="39" y="0"/>
                    </a:lnTo>
                    <a:lnTo>
                      <a:pt x="36" y="48"/>
                    </a:lnTo>
                    <a:lnTo>
                      <a:pt x="0" y="70"/>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16" name="Freeform 170"/>
              <p:cNvSpPr/>
              <p:nvPr/>
            </p:nvSpPr>
            <p:spPr bwMode="auto">
              <a:xfrm>
                <a:off x="2468" y="1872"/>
                <a:ext cx="33" cy="69"/>
              </a:xfrm>
              <a:custGeom>
                <a:avLst/>
                <a:gdLst>
                  <a:gd name="T0" fmla="*/ 29 w 33"/>
                  <a:gd name="T1" fmla="*/ 68 h 69"/>
                  <a:gd name="T2" fmla="*/ 29 w 33"/>
                  <a:gd name="T3" fmla="*/ 68 h 69"/>
                  <a:gd name="T4" fmla="*/ 0 w 33"/>
                  <a:gd name="T5" fmla="*/ 49 h 69"/>
                  <a:gd name="T6" fmla="*/ 2 w 33"/>
                  <a:gd name="T7" fmla="*/ 0 h 69"/>
                  <a:gd name="T8" fmla="*/ 32 w 33"/>
                  <a:gd name="T9" fmla="*/ 15 h 69"/>
                  <a:gd name="T10" fmla="*/ 29 w 33"/>
                  <a:gd name="T11" fmla="*/ 68 h 69"/>
                  <a:gd name="T12" fmla="*/ 0 60000 65536"/>
                  <a:gd name="T13" fmla="*/ 0 60000 65536"/>
                  <a:gd name="T14" fmla="*/ 0 60000 65536"/>
                  <a:gd name="T15" fmla="*/ 0 60000 65536"/>
                  <a:gd name="T16" fmla="*/ 0 60000 65536"/>
                  <a:gd name="T17" fmla="*/ 0 60000 65536"/>
                  <a:gd name="T18" fmla="*/ 0 w 33"/>
                  <a:gd name="T19" fmla="*/ 0 h 69"/>
                  <a:gd name="T20" fmla="*/ 33 w 33"/>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3" h="69">
                    <a:moveTo>
                      <a:pt x="29" y="68"/>
                    </a:moveTo>
                    <a:lnTo>
                      <a:pt x="29" y="68"/>
                    </a:lnTo>
                    <a:lnTo>
                      <a:pt x="0" y="49"/>
                    </a:lnTo>
                    <a:lnTo>
                      <a:pt x="2" y="0"/>
                    </a:lnTo>
                    <a:lnTo>
                      <a:pt x="32" y="15"/>
                    </a:lnTo>
                    <a:lnTo>
                      <a:pt x="29" y="68"/>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17" name="Freeform 171"/>
              <p:cNvSpPr/>
              <p:nvPr/>
            </p:nvSpPr>
            <p:spPr bwMode="auto">
              <a:xfrm>
                <a:off x="2471" y="1853"/>
                <a:ext cx="69" cy="33"/>
              </a:xfrm>
              <a:custGeom>
                <a:avLst/>
                <a:gdLst>
                  <a:gd name="T0" fmla="*/ 29 w 69"/>
                  <a:gd name="T1" fmla="*/ 32 h 33"/>
                  <a:gd name="T2" fmla="*/ 29 w 69"/>
                  <a:gd name="T3" fmla="*/ 32 h 33"/>
                  <a:gd name="T4" fmla="*/ 0 w 69"/>
                  <a:gd name="T5" fmla="*/ 17 h 33"/>
                  <a:gd name="T6" fmla="*/ 35 w 69"/>
                  <a:gd name="T7" fmla="*/ 0 h 33"/>
                  <a:gd name="T8" fmla="*/ 68 w 69"/>
                  <a:gd name="T9" fmla="*/ 14 h 33"/>
                  <a:gd name="T10" fmla="*/ 29 w 69"/>
                  <a:gd name="T11" fmla="*/ 32 h 33"/>
                  <a:gd name="T12" fmla="*/ 0 60000 65536"/>
                  <a:gd name="T13" fmla="*/ 0 60000 65536"/>
                  <a:gd name="T14" fmla="*/ 0 60000 65536"/>
                  <a:gd name="T15" fmla="*/ 0 60000 65536"/>
                  <a:gd name="T16" fmla="*/ 0 60000 65536"/>
                  <a:gd name="T17" fmla="*/ 0 60000 65536"/>
                  <a:gd name="T18" fmla="*/ 0 w 69"/>
                  <a:gd name="T19" fmla="*/ 0 h 33"/>
                  <a:gd name="T20" fmla="*/ 69 w 69"/>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9" h="33">
                    <a:moveTo>
                      <a:pt x="29" y="32"/>
                    </a:moveTo>
                    <a:lnTo>
                      <a:pt x="29" y="32"/>
                    </a:lnTo>
                    <a:lnTo>
                      <a:pt x="0" y="17"/>
                    </a:lnTo>
                    <a:lnTo>
                      <a:pt x="35" y="0"/>
                    </a:lnTo>
                    <a:lnTo>
                      <a:pt x="68" y="14"/>
                    </a:lnTo>
                    <a:lnTo>
                      <a:pt x="29" y="32"/>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318" name="Group 172"/>
              <p:cNvGrpSpPr/>
              <p:nvPr/>
            </p:nvGrpSpPr>
            <p:grpSpPr bwMode="auto">
              <a:xfrm>
                <a:off x="2375" y="1880"/>
                <a:ext cx="123" cy="112"/>
                <a:chOff x="2375" y="1880"/>
                <a:chExt cx="123" cy="112"/>
              </a:xfrm>
            </p:grpSpPr>
            <p:sp>
              <p:nvSpPr>
                <p:cNvPr id="44364" name="Freeform 173"/>
                <p:cNvSpPr/>
                <p:nvPr/>
              </p:nvSpPr>
              <p:spPr bwMode="auto">
                <a:xfrm>
                  <a:off x="2412" y="1895"/>
                  <a:ext cx="86" cy="97"/>
                </a:xfrm>
                <a:custGeom>
                  <a:avLst/>
                  <a:gdLst>
                    <a:gd name="T0" fmla="*/ 0 w 86"/>
                    <a:gd name="T1" fmla="*/ 96 h 97"/>
                    <a:gd name="T2" fmla="*/ 0 w 86"/>
                    <a:gd name="T3" fmla="*/ 96 h 97"/>
                    <a:gd name="T4" fmla="*/ 2 w 86"/>
                    <a:gd name="T5" fmla="*/ 43 h 97"/>
                    <a:gd name="T6" fmla="*/ 85 w 86"/>
                    <a:gd name="T7" fmla="*/ 0 h 97"/>
                    <a:gd name="T8" fmla="*/ 82 w 86"/>
                    <a:gd name="T9" fmla="*/ 49 h 97"/>
                    <a:gd name="T10" fmla="*/ 0 w 86"/>
                    <a:gd name="T11" fmla="*/ 96 h 97"/>
                    <a:gd name="T12" fmla="*/ 0 60000 65536"/>
                    <a:gd name="T13" fmla="*/ 0 60000 65536"/>
                    <a:gd name="T14" fmla="*/ 0 60000 65536"/>
                    <a:gd name="T15" fmla="*/ 0 60000 65536"/>
                    <a:gd name="T16" fmla="*/ 0 60000 65536"/>
                    <a:gd name="T17" fmla="*/ 0 60000 65536"/>
                    <a:gd name="T18" fmla="*/ 0 w 86"/>
                    <a:gd name="T19" fmla="*/ 0 h 97"/>
                    <a:gd name="T20" fmla="*/ 86 w 86"/>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6" h="97">
                      <a:moveTo>
                        <a:pt x="0" y="96"/>
                      </a:moveTo>
                      <a:lnTo>
                        <a:pt x="0" y="96"/>
                      </a:lnTo>
                      <a:lnTo>
                        <a:pt x="2" y="43"/>
                      </a:lnTo>
                      <a:lnTo>
                        <a:pt x="85" y="0"/>
                      </a:lnTo>
                      <a:lnTo>
                        <a:pt x="82" y="49"/>
                      </a:lnTo>
                      <a:lnTo>
                        <a:pt x="0" y="9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65" name="Freeform 174"/>
                <p:cNvSpPr/>
                <p:nvPr/>
              </p:nvSpPr>
              <p:spPr bwMode="auto">
                <a:xfrm>
                  <a:off x="2375" y="1924"/>
                  <a:ext cx="38" cy="68"/>
                </a:xfrm>
                <a:custGeom>
                  <a:avLst/>
                  <a:gdLst>
                    <a:gd name="T0" fmla="*/ 34 w 38"/>
                    <a:gd name="T1" fmla="*/ 67 h 68"/>
                    <a:gd name="T2" fmla="*/ 34 w 38"/>
                    <a:gd name="T3" fmla="*/ 67 h 68"/>
                    <a:gd name="T4" fmla="*/ 0 w 38"/>
                    <a:gd name="T5" fmla="*/ 51 h 68"/>
                    <a:gd name="T6" fmla="*/ 2 w 38"/>
                    <a:gd name="T7" fmla="*/ 0 h 68"/>
                    <a:gd name="T8" fmla="*/ 37 w 38"/>
                    <a:gd name="T9" fmla="*/ 15 h 68"/>
                    <a:gd name="T10" fmla="*/ 34 w 38"/>
                    <a:gd name="T11" fmla="*/ 67 h 68"/>
                    <a:gd name="T12" fmla="*/ 0 60000 65536"/>
                    <a:gd name="T13" fmla="*/ 0 60000 65536"/>
                    <a:gd name="T14" fmla="*/ 0 60000 65536"/>
                    <a:gd name="T15" fmla="*/ 0 60000 65536"/>
                    <a:gd name="T16" fmla="*/ 0 60000 65536"/>
                    <a:gd name="T17" fmla="*/ 0 60000 65536"/>
                    <a:gd name="T18" fmla="*/ 0 w 38"/>
                    <a:gd name="T19" fmla="*/ 0 h 68"/>
                    <a:gd name="T20" fmla="*/ 38 w 38"/>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38" h="68">
                      <a:moveTo>
                        <a:pt x="34" y="67"/>
                      </a:moveTo>
                      <a:lnTo>
                        <a:pt x="34" y="67"/>
                      </a:lnTo>
                      <a:lnTo>
                        <a:pt x="0" y="51"/>
                      </a:lnTo>
                      <a:lnTo>
                        <a:pt x="2" y="0"/>
                      </a:lnTo>
                      <a:lnTo>
                        <a:pt x="37" y="15"/>
                      </a:lnTo>
                      <a:lnTo>
                        <a:pt x="34" y="67"/>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66" name="Freeform 175"/>
                <p:cNvSpPr/>
                <p:nvPr/>
              </p:nvSpPr>
              <p:spPr bwMode="auto">
                <a:xfrm>
                  <a:off x="2377" y="1880"/>
                  <a:ext cx="121" cy="57"/>
                </a:xfrm>
                <a:custGeom>
                  <a:avLst/>
                  <a:gdLst>
                    <a:gd name="T0" fmla="*/ 36 w 121"/>
                    <a:gd name="T1" fmla="*/ 56 h 57"/>
                    <a:gd name="T2" fmla="*/ 36 w 121"/>
                    <a:gd name="T3" fmla="*/ 56 h 57"/>
                    <a:gd name="T4" fmla="*/ 0 w 121"/>
                    <a:gd name="T5" fmla="*/ 38 h 57"/>
                    <a:gd name="T6" fmla="*/ 86 w 121"/>
                    <a:gd name="T7" fmla="*/ 0 h 57"/>
                    <a:gd name="T8" fmla="*/ 120 w 121"/>
                    <a:gd name="T9" fmla="*/ 15 h 57"/>
                    <a:gd name="T10" fmla="*/ 36 w 121"/>
                    <a:gd name="T11" fmla="*/ 56 h 57"/>
                    <a:gd name="T12" fmla="*/ 0 60000 65536"/>
                    <a:gd name="T13" fmla="*/ 0 60000 65536"/>
                    <a:gd name="T14" fmla="*/ 0 60000 65536"/>
                    <a:gd name="T15" fmla="*/ 0 60000 65536"/>
                    <a:gd name="T16" fmla="*/ 0 60000 65536"/>
                    <a:gd name="T17" fmla="*/ 0 60000 65536"/>
                    <a:gd name="T18" fmla="*/ 0 w 121"/>
                    <a:gd name="T19" fmla="*/ 0 h 57"/>
                    <a:gd name="T20" fmla="*/ 121 w 121"/>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121" h="57">
                      <a:moveTo>
                        <a:pt x="36" y="56"/>
                      </a:moveTo>
                      <a:lnTo>
                        <a:pt x="36" y="56"/>
                      </a:lnTo>
                      <a:lnTo>
                        <a:pt x="0" y="38"/>
                      </a:lnTo>
                      <a:lnTo>
                        <a:pt x="86" y="0"/>
                      </a:lnTo>
                      <a:lnTo>
                        <a:pt x="120" y="15"/>
                      </a:lnTo>
                      <a:lnTo>
                        <a:pt x="36" y="56"/>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19" name="Group 176"/>
              <p:cNvGrpSpPr/>
              <p:nvPr/>
            </p:nvGrpSpPr>
            <p:grpSpPr bwMode="auto">
              <a:xfrm>
                <a:off x="2275" y="1925"/>
                <a:ext cx="131" cy="121"/>
                <a:chOff x="2275" y="1925"/>
                <a:chExt cx="131" cy="121"/>
              </a:xfrm>
            </p:grpSpPr>
            <p:sp>
              <p:nvSpPr>
                <p:cNvPr id="44361" name="Freeform 177"/>
                <p:cNvSpPr/>
                <p:nvPr/>
              </p:nvSpPr>
              <p:spPr bwMode="auto">
                <a:xfrm>
                  <a:off x="2315" y="1945"/>
                  <a:ext cx="91" cy="100"/>
                </a:xfrm>
                <a:custGeom>
                  <a:avLst/>
                  <a:gdLst>
                    <a:gd name="T0" fmla="*/ 0 w 91"/>
                    <a:gd name="T1" fmla="*/ 99 h 100"/>
                    <a:gd name="T2" fmla="*/ 0 w 91"/>
                    <a:gd name="T3" fmla="*/ 99 h 100"/>
                    <a:gd name="T4" fmla="*/ 2 w 91"/>
                    <a:gd name="T5" fmla="*/ 46 h 100"/>
                    <a:gd name="T6" fmla="*/ 90 w 91"/>
                    <a:gd name="T7" fmla="*/ 0 h 100"/>
                    <a:gd name="T8" fmla="*/ 87 w 91"/>
                    <a:gd name="T9" fmla="*/ 52 h 100"/>
                    <a:gd name="T10" fmla="*/ 0 w 91"/>
                    <a:gd name="T11" fmla="*/ 99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0" y="99"/>
                      </a:moveTo>
                      <a:lnTo>
                        <a:pt x="0" y="99"/>
                      </a:lnTo>
                      <a:lnTo>
                        <a:pt x="2" y="46"/>
                      </a:lnTo>
                      <a:lnTo>
                        <a:pt x="90" y="0"/>
                      </a:lnTo>
                      <a:lnTo>
                        <a:pt x="87" y="52"/>
                      </a:lnTo>
                      <a:lnTo>
                        <a:pt x="0" y="99"/>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62" name="Freeform 178"/>
                <p:cNvSpPr/>
                <p:nvPr/>
              </p:nvSpPr>
              <p:spPr bwMode="auto">
                <a:xfrm>
                  <a:off x="2275" y="1978"/>
                  <a:ext cx="41" cy="68"/>
                </a:xfrm>
                <a:custGeom>
                  <a:avLst/>
                  <a:gdLst>
                    <a:gd name="T0" fmla="*/ 37 w 41"/>
                    <a:gd name="T1" fmla="*/ 67 h 68"/>
                    <a:gd name="T2" fmla="*/ 37 w 41"/>
                    <a:gd name="T3" fmla="*/ 67 h 68"/>
                    <a:gd name="T4" fmla="*/ 0 w 41"/>
                    <a:gd name="T5" fmla="*/ 51 h 68"/>
                    <a:gd name="T6" fmla="*/ 2 w 41"/>
                    <a:gd name="T7" fmla="*/ 0 h 68"/>
                    <a:gd name="T8" fmla="*/ 40 w 41"/>
                    <a:gd name="T9" fmla="*/ 15 h 68"/>
                    <a:gd name="T10" fmla="*/ 37 w 41"/>
                    <a:gd name="T11" fmla="*/ 67 h 68"/>
                    <a:gd name="T12" fmla="*/ 0 60000 65536"/>
                    <a:gd name="T13" fmla="*/ 0 60000 65536"/>
                    <a:gd name="T14" fmla="*/ 0 60000 65536"/>
                    <a:gd name="T15" fmla="*/ 0 60000 65536"/>
                    <a:gd name="T16" fmla="*/ 0 60000 65536"/>
                    <a:gd name="T17" fmla="*/ 0 60000 65536"/>
                    <a:gd name="T18" fmla="*/ 0 w 41"/>
                    <a:gd name="T19" fmla="*/ 0 h 68"/>
                    <a:gd name="T20" fmla="*/ 41 w 41"/>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41" h="68">
                      <a:moveTo>
                        <a:pt x="37" y="67"/>
                      </a:moveTo>
                      <a:lnTo>
                        <a:pt x="37" y="67"/>
                      </a:lnTo>
                      <a:lnTo>
                        <a:pt x="0" y="51"/>
                      </a:lnTo>
                      <a:lnTo>
                        <a:pt x="2" y="0"/>
                      </a:lnTo>
                      <a:lnTo>
                        <a:pt x="40" y="15"/>
                      </a:lnTo>
                      <a:lnTo>
                        <a:pt x="37" y="67"/>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63" name="Freeform 179"/>
                <p:cNvSpPr/>
                <p:nvPr/>
              </p:nvSpPr>
              <p:spPr bwMode="auto">
                <a:xfrm>
                  <a:off x="2278" y="1925"/>
                  <a:ext cx="128" cy="66"/>
                </a:xfrm>
                <a:custGeom>
                  <a:avLst/>
                  <a:gdLst>
                    <a:gd name="T0" fmla="*/ 38 w 128"/>
                    <a:gd name="T1" fmla="*/ 65 h 66"/>
                    <a:gd name="T2" fmla="*/ 38 w 128"/>
                    <a:gd name="T3" fmla="*/ 65 h 66"/>
                    <a:gd name="T4" fmla="*/ 0 w 128"/>
                    <a:gd name="T5" fmla="*/ 46 h 66"/>
                    <a:gd name="T6" fmla="*/ 91 w 128"/>
                    <a:gd name="T7" fmla="*/ 0 h 66"/>
                    <a:gd name="T8" fmla="*/ 127 w 128"/>
                    <a:gd name="T9" fmla="*/ 18 h 66"/>
                    <a:gd name="T10" fmla="*/ 38 w 128"/>
                    <a:gd name="T11" fmla="*/ 65 h 66"/>
                    <a:gd name="T12" fmla="*/ 0 60000 65536"/>
                    <a:gd name="T13" fmla="*/ 0 60000 65536"/>
                    <a:gd name="T14" fmla="*/ 0 60000 65536"/>
                    <a:gd name="T15" fmla="*/ 0 60000 65536"/>
                    <a:gd name="T16" fmla="*/ 0 60000 65536"/>
                    <a:gd name="T17" fmla="*/ 0 60000 65536"/>
                    <a:gd name="T18" fmla="*/ 0 w 128"/>
                    <a:gd name="T19" fmla="*/ 0 h 66"/>
                    <a:gd name="T20" fmla="*/ 128 w 12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128" h="66">
                      <a:moveTo>
                        <a:pt x="38" y="65"/>
                      </a:moveTo>
                      <a:lnTo>
                        <a:pt x="38" y="65"/>
                      </a:lnTo>
                      <a:lnTo>
                        <a:pt x="0" y="46"/>
                      </a:lnTo>
                      <a:lnTo>
                        <a:pt x="91" y="0"/>
                      </a:lnTo>
                      <a:lnTo>
                        <a:pt x="127" y="18"/>
                      </a:lnTo>
                      <a:lnTo>
                        <a:pt x="38" y="65"/>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20" name="Group 180"/>
              <p:cNvGrpSpPr/>
              <p:nvPr/>
            </p:nvGrpSpPr>
            <p:grpSpPr bwMode="auto">
              <a:xfrm>
                <a:off x="2167" y="1984"/>
                <a:ext cx="144" cy="123"/>
                <a:chOff x="2167" y="1984"/>
                <a:chExt cx="144" cy="123"/>
              </a:xfrm>
            </p:grpSpPr>
            <p:sp>
              <p:nvSpPr>
                <p:cNvPr id="44358" name="Freeform 181"/>
                <p:cNvSpPr/>
                <p:nvPr/>
              </p:nvSpPr>
              <p:spPr bwMode="auto">
                <a:xfrm>
                  <a:off x="2208" y="2000"/>
                  <a:ext cx="102" cy="107"/>
                </a:xfrm>
                <a:custGeom>
                  <a:avLst/>
                  <a:gdLst>
                    <a:gd name="T0" fmla="*/ 0 w 102"/>
                    <a:gd name="T1" fmla="*/ 106 h 107"/>
                    <a:gd name="T2" fmla="*/ 0 w 102"/>
                    <a:gd name="T3" fmla="*/ 106 h 107"/>
                    <a:gd name="T4" fmla="*/ 2 w 102"/>
                    <a:gd name="T5" fmla="*/ 49 h 107"/>
                    <a:gd name="T6" fmla="*/ 101 w 102"/>
                    <a:gd name="T7" fmla="*/ 0 h 107"/>
                    <a:gd name="T8" fmla="*/ 98 w 102"/>
                    <a:gd name="T9" fmla="*/ 53 h 107"/>
                    <a:gd name="T10" fmla="*/ 0 w 102"/>
                    <a:gd name="T11" fmla="*/ 106 h 107"/>
                    <a:gd name="T12" fmla="*/ 0 60000 65536"/>
                    <a:gd name="T13" fmla="*/ 0 60000 65536"/>
                    <a:gd name="T14" fmla="*/ 0 60000 65536"/>
                    <a:gd name="T15" fmla="*/ 0 60000 65536"/>
                    <a:gd name="T16" fmla="*/ 0 60000 65536"/>
                    <a:gd name="T17" fmla="*/ 0 60000 65536"/>
                    <a:gd name="T18" fmla="*/ 0 w 102"/>
                    <a:gd name="T19" fmla="*/ 0 h 107"/>
                    <a:gd name="T20" fmla="*/ 102 w 102"/>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2" h="107">
                      <a:moveTo>
                        <a:pt x="0" y="106"/>
                      </a:moveTo>
                      <a:lnTo>
                        <a:pt x="0" y="106"/>
                      </a:lnTo>
                      <a:lnTo>
                        <a:pt x="2" y="49"/>
                      </a:lnTo>
                      <a:lnTo>
                        <a:pt x="101" y="0"/>
                      </a:lnTo>
                      <a:lnTo>
                        <a:pt x="98" y="53"/>
                      </a:lnTo>
                      <a:lnTo>
                        <a:pt x="0" y="10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59" name="Freeform 182"/>
                <p:cNvSpPr/>
                <p:nvPr/>
              </p:nvSpPr>
              <p:spPr bwMode="auto">
                <a:xfrm>
                  <a:off x="2167" y="2036"/>
                  <a:ext cx="43" cy="71"/>
                </a:xfrm>
                <a:custGeom>
                  <a:avLst/>
                  <a:gdLst>
                    <a:gd name="T0" fmla="*/ 39 w 43"/>
                    <a:gd name="T1" fmla="*/ 70 h 71"/>
                    <a:gd name="T2" fmla="*/ 39 w 43"/>
                    <a:gd name="T3" fmla="*/ 70 h 71"/>
                    <a:gd name="T4" fmla="*/ 0 w 43"/>
                    <a:gd name="T5" fmla="*/ 54 h 71"/>
                    <a:gd name="T6" fmla="*/ 0 w 43"/>
                    <a:gd name="T7" fmla="*/ 0 h 71"/>
                    <a:gd name="T8" fmla="*/ 42 w 43"/>
                    <a:gd name="T9" fmla="*/ 15 h 71"/>
                    <a:gd name="T10" fmla="*/ 39 w 43"/>
                    <a:gd name="T11" fmla="*/ 70 h 71"/>
                    <a:gd name="T12" fmla="*/ 0 60000 65536"/>
                    <a:gd name="T13" fmla="*/ 0 60000 65536"/>
                    <a:gd name="T14" fmla="*/ 0 60000 65536"/>
                    <a:gd name="T15" fmla="*/ 0 60000 65536"/>
                    <a:gd name="T16" fmla="*/ 0 60000 65536"/>
                    <a:gd name="T17" fmla="*/ 0 60000 65536"/>
                    <a:gd name="T18" fmla="*/ 0 w 43"/>
                    <a:gd name="T19" fmla="*/ 0 h 71"/>
                    <a:gd name="T20" fmla="*/ 43 w 43"/>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3" h="71">
                      <a:moveTo>
                        <a:pt x="39" y="70"/>
                      </a:moveTo>
                      <a:lnTo>
                        <a:pt x="39" y="70"/>
                      </a:lnTo>
                      <a:lnTo>
                        <a:pt x="0" y="54"/>
                      </a:lnTo>
                      <a:lnTo>
                        <a:pt x="0" y="0"/>
                      </a:lnTo>
                      <a:lnTo>
                        <a:pt x="42" y="15"/>
                      </a:lnTo>
                      <a:lnTo>
                        <a:pt x="39" y="7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60" name="Freeform 183"/>
                <p:cNvSpPr/>
                <p:nvPr/>
              </p:nvSpPr>
              <p:spPr bwMode="auto">
                <a:xfrm>
                  <a:off x="2167" y="1984"/>
                  <a:ext cx="144" cy="64"/>
                </a:xfrm>
                <a:custGeom>
                  <a:avLst/>
                  <a:gdLst>
                    <a:gd name="T0" fmla="*/ 44 w 144"/>
                    <a:gd name="T1" fmla="*/ 63 h 64"/>
                    <a:gd name="T2" fmla="*/ 44 w 144"/>
                    <a:gd name="T3" fmla="*/ 63 h 64"/>
                    <a:gd name="T4" fmla="*/ 0 w 144"/>
                    <a:gd name="T5" fmla="*/ 47 h 64"/>
                    <a:gd name="T6" fmla="*/ 101 w 144"/>
                    <a:gd name="T7" fmla="*/ 0 h 64"/>
                    <a:gd name="T8" fmla="*/ 143 w 144"/>
                    <a:gd name="T9" fmla="*/ 15 h 64"/>
                    <a:gd name="T10" fmla="*/ 44 w 144"/>
                    <a:gd name="T11" fmla="*/ 63 h 64"/>
                    <a:gd name="T12" fmla="*/ 0 60000 65536"/>
                    <a:gd name="T13" fmla="*/ 0 60000 65536"/>
                    <a:gd name="T14" fmla="*/ 0 60000 65536"/>
                    <a:gd name="T15" fmla="*/ 0 60000 65536"/>
                    <a:gd name="T16" fmla="*/ 0 60000 65536"/>
                    <a:gd name="T17" fmla="*/ 0 60000 65536"/>
                    <a:gd name="T18" fmla="*/ 0 w 144"/>
                    <a:gd name="T19" fmla="*/ 0 h 64"/>
                    <a:gd name="T20" fmla="*/ 144 w 144"/>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144" h="64">
                      <a:moveTo>
                        <a:pt x="44" y="63"/>
                      </a:moveTo>
                      <a:lnTo>
                        <a:pt x="44" y="63"/>
                      </a:lnTo>
                      <a:lnTo>
                        <a:pt x="0" y="47"/>
                      </a:lnTo>
                      <a:lnTo>
                        <a:pt x="101" y="0"/>
                      </a:lnTo>
                      <a:lnTo>
                        <a:pt x="143" y="15"/>
                      </a:lnTo>
                      <a:lnTo>
                        <a:pt x="44" y="63"/>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21" name="Group 184"/>
              <p:cNvGrpSpPr/>
              <p:nvPr/>
            </p:nvGrpSpPr>
            <p:grpSpPr bwMode="auto">
              <a:xfrm>
                <a:off x="2048" y="2039"/>
                <a:ext cx="157" cy="129"/>
                <a:chOff x="2048" y="2039"/>
                <a:chExt cx="157" cy="129"/>
              </a:xfrm>
            </p:grpSpPr>
            <p:sp>
              <p:nvSpPr>
                <p:cNvPr id="44355" name="Freeform 185"/>
                <p:cNvSpPr/>
                <p:nvPr/>
              </p:nvSpPr>
              <p:spPr bwMode="auto">
                <a:xfrm>
                  <a:off x="2097" y="2058"/>
                  <a:ext cx="108" cy="110"/>
                </a:xfrm>
                <a:custGeom>
                  <a:avLst/>
                  <a:gdLst>
                    <a:gd name="T0" fmla="*/ 0 w 108"/>
                    <a:gd name="T1" fmla="*/ 109 h 110"/>
                    <a:gd name="T2" fmla="*/ 0 w 108"/>
                    <a:gd name="T3" fmla="*/ 109 h 110"/>
                    <a:gd name="T4" fmla="*/ 2 w 108"/>
                    <a:gd name="T5" fmla="*/ 53 h 110"/>
                    <a:gd name="T6" fmla="*/ 107 w 108"/>
                    <a:gd name="T7" fmla="*/ 0 h 110"/>
                    <a:gd name="T8" fmla="*/ 104 w 108"/>
                    <a:gd name="T9" fmla="*/ 53 h 110"/>
                    <a:gd name="T10" fmla="*/ 0 w 108"/>
                    <a:gd name="T11" fmla="*/ 109 h 110"/>
                    <a:gd name="T12" fmla="*/ 0 60000 65536"/>
                    <a:gd name="T13" fmla="*/ 0 60000 65536"/>
                    <a:gd name="T14" fmla="*/ 0 60000 65536"/>
                    <a:gd name="T15" fmla="*/ 0 60000 65536"/>
                    <a:gd name="T16" fmla="*/ 0 60000 65536"/>
                    <a:gd name="T17" fmla="*/ 0 60000 65536"/>
                    <a:gd name="T18" fmla="*/ 0 w 108"/>
                    <a:gd name="T19" fmla="*/ 0 h 110"/>
                    <a:gd name="T20" fmla="*/ 108 w 108"/>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108" h="110">
                      <a:moveTo>
                        <a:pt x="0" y="109"/>
                      </a:moveTo>
                      <a:lnTo>
                        <a:pt x="0" y="109"/>
                      </a:lnTo>
                      <a:lnTo>
                        <a:pt x="2" y="53"/>
                      </a:lnTo>
                      <a:lnTo>
                        <a:pt x="107" y="0"/>
                      </a:lnTo>
                      <a:lnTo>
                        <a:pt x="104" y="53"/>
                      </a:lnTo>
                      <a:lnTo>
                        <a:pt x="0" y="109"/>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56" name="Freeform 186"/>
                <p:cNvSpPr/>
                <p:nvPr/>
              </p:nvSpPr>
              <p:spPr bwMode="auto">
                <a:xfrm>
                  <a:off x="2051" y="2097"/>
                  <a:ext cx="47" cy="71"/>
                </a:xfrm>
                <a:custGeom>
                  <a:avLst/>
                  <a:gdLst>
                    <a:gd name="T0" fmla="*/ 43 w 47"/>
                    <a:gd name="T1" fmla="*/ 70 h 71"/>
                    <a:gd name="T2" fmla="*/ 43 w 47"/>
                    <a:gd name="T3" fmla="*/ 70 h 71"/>
                    <a:gd name="T4" fmla="*/ 0 w 47"/>
                    <a:gd name="T5" fmla="*/ 57 h 71"/>
                    <a:gd name="T6" fmla="*/ 0 w 47"/>
                    <a:gd name="T7" fmla="*/ 0 h 71"/>
                    <a:gd name="T8" fmla="*/ 46 w 47"/>
                    <a:gd name="T9" fmla="*/ 15 h 71"/>
                    <a:gd name="T10" fmla="*/ 43 w 47"/>
                    <a:gd name="T11" fmla="*/ 70 h 71"/>
                    <a:gd name="T12" fmla="*/ 0 60000 65536"/>
                    <a:gd name="T13" fmla="*/ 0 60000 65536"/>
                    <a:gd name="T14" fmla="*/ 0 60000 65536"/>
                    <a:gd name="T15" fmla="*/ 0 60000 65536"/>
                    <a:gd name="T16" fmla="*/ 0 60000 65536"/>
                    <a:gd name="T17" fmla="*/ 0 60000 65536"/>
                    <a:gd name="T18" fmla="*/ 0 w 47"/>
                    <a:gd name="T19" fmla="*/ 0 h 71"/>
                    <a:gd name="T20" fmla="*/ 47 w 4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7" h="71">
                      <a:moveTo>
                        <a:pt x="43" y="70"/>
                      </a:moveTo>
                      <a:lnTo>
                        <a:pt x="43" y="70"/>
                      </a:lnTo>
                      <a:lnTo>
                        <a:pt x="0" y="57"/>
                      </a:lnTo>
                      <a:lnTo>
                        <a:pt x="0" y="0"/>
                      </a:lnTo>
                      <a:lnTo>
                        <a:pt x="46" y="15"/>
                      </a:lnTo>
                      <a:lnTo>
                        <a:pt x="43" y="7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57" name="Freeform 187"/>
                <p:cNvSpPr/>
                <p:nvPr/>
              </p:nvSpPr>
              <p:spPr bwMode="auto">
                <a:xfrm>
                  <a:off x="2048" y="2039"/>
                  <a:ext cx="157" cy="71"/>
                </a:xfrm>
                <a:custGeom>
                  <a:avLst/>
                  <a:gdLst>
                    <a:gd name="T0" fmla="*/ 50 w 157"/>
                    <a:gd name="T1" fmla="*/ 70 h 71"/>
                    <a:gd name="T2" fmla="*/ 50 w 157"/>
                    <a:gd name="T3" fmla="*/ 70 h 71"/>
                    <a:gd name="T4" fmla="*/ 0 w 157"/>
                    <a:gd name="T5" fmla="*/ 54 h 71"/>
                    <a:gd name="T6" fmla="*/ 111 w 157"/>
                    <a:gd name="T7" fmla="*/ 0 h 71"/>
                    <a:gd name="T8" fmla="*/ 156 w 157"/>
                    <a:gd name="T9" fmla="*/ 17 h 71"/>
                    <a:gd name="T10" fmla="*/ 50 w 157"/>
                    <a:gd name="T11" fmla="*/ 70 h 71"/>
                    <a:gd name="T12" fmla="*/ 0 60000 65536"/>
                    <a:gd name="T13" fmla="*/ 0 60000 65536"/>
                    <a:gd name="T14" fmla="*/ 0 60000 65536"/>
                    <a:gd name="T15" fmla="*/ 0 60000 65536"/>
                    <a:gd name="T16" fmla="*/ 0 60000 65536"/>
                    <a:gd name="T17" fmla="*/ 0 60000 65536"/>
                    <a:gd name="T18" fmla="*/ 0 w 157"/>
                    <a:gd name="T19" fmla="*/ 0 h 71"/>
                    <a:gd name="T20" fmla="*/ 157 w 15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57" h="71">
                      <a:moveTo>
                        <a:pt x="50" y="70"/>
                      </a:moveTo>
                      <a:lnTo>
                        <a:pt x="50" y="70"/>
                      </a:lnTo>
                      <a:lnTo>
                        <a:pt x="0" y="54"/>
                      </a:lnTo>
                      <a:lnTo>
                        <a:pt x="111" y="0"/>
                      </a:lnTo>
                      <a:lnTo>
                        <a:pt x="156" y="17"/>
                      </a:lnTo>
                      <a:lnTo>
                        <a:pt x="50" y="70"/>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322" name="Freeform 188"/>
              <p:cNvSpPr/>
              <p:nvPr/>
            </p:nvSpPr>
            <p:spPr bwMode="auto">
              <a:xfrm>
                <a:off x="2496" y="1889"/>
                <a:ext cx="17" cy="55"/>
              </a:xfrm>
              <a:custGeom>
                <a:avLst/>
                <a:gdLst>
                  <a:gd name="T0" fmla="*/ 0 w 17"/>
                  <a:gd name="T1" fmla="*/ 54 h 55"/>
                  <a:gd name="T2" fmla="*/ 0 w 17"/>
                  <a:gd name="T3" fmla="*/ 54 h 55"/>
                  <a:gd name="T4" fmla="*/ 0 w 17"/>
                  <a:gd name="T5" fmla="*/ 27 h 55"/>
                  <a:gd name="T6" fmla="*/ 0 w 17"/>
                  <a:gd name="T7" fmla="*/ 18 h 55"/>
                  <a:gd name="T8" fmla="*/ 4 w 17"/>
                  <a:gd name="T9" fmla="*/ 9 h 55"/>
                  <a:gd name="T10" fmla="*/ 4 w 17"/>
                  <a:gd name="T11" fmla="*/ 2 h 55"/>
                  <a:gd name="T12" fmla="*/ 4 w 17"/>
                  <a:gd name="T13" fmla="*/ 0 h 55"/>
                  <a:gd name="T14" fmla="*/ 11 w 17"/>
                  <a:gd name="T15" fmla="*/ 0 h 55"/>
                  <a:gd name="T16" fmla="*/ 16 w 17"/>
                  <a:gd name="T17" fmla="*/ 2 h 55"/>
                  <a:gd name="T18" fmla="*/ 11 w 17"/>
                  <a:gd name="T19" fmla="*/ 24 h 55"/>
                  <a:gd name="T20" fmla="*/ 11 w 17"/>
                  <a:gd name="T21" fmla="*/ 51 h 55"/>
                  <a:gd name="T22" fmla="*/ 4 w 17"/>
                  <a:gd name="T23" fmla="*/ 51 h 55"/>
                  <a:gd name="T24" fmla="*/ 0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27"/>
                    </a:lnTo>
                    <a:lnTo>
                      <a:pt x="0" y="18"/>
                    </a:lnTo>
                    <a:lnTo>
                      <a:pt x="4" y="9"/>
                    </a:lnTo>
                    <a:lnTo>
                      <a:pt x="4" y="2"/>
                    </a:lnTo>
                    <a:lnTo>
                      <a:pt x="4" y="0"/>
                    </a:lnTo>
                    <a:lnTo>
                      <a:pt x="11" y="0"/>
                    </a:lnTo>
                    <a:lnTo>
                      <a:pt x="16" y="2"/>
                    </a:lnTo>
                    <a:lnTo>
                      <a:pt x="11" y="24"/>
                    </a:lnTo>
                    <a:lnTo>
                      <a:pt x="11" y="51"/>
                    </a:lnTo>
                    <a:lnTo>
                      <a:pt x="4" y="51"/>
                    </a:lnTo>
                    <a:lnTo>
                      <a:pt x="0" y="51"/>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23" name="Freeform 189"/>
              <p:cNvSpPr/>
              <p:nvPr/>
            </p:nvSpPr>
            <p:spPr bwMode="auto">
              <a:xfrm>
                <a:off x="2097" y="1863"/>
                <a:ext cx="443" cy="251"/>
              </a:xfrm>
              <a:custGeom>
                <a:avLst/>
                <a:gdLst>
                  <a:gd name="T0" fmla="*/ 442 w 443"/>
                  <a:gd name="T1" fmla="*/ 0 h 251"/>
                  <a:gd name="T2" fmla="*/ 442 w 443"/>
                  <a:gd name="T3" fmla="*/ 0 h 251"/>
                  <a:gd name="T4" fmla="*/ 0 w 443"/>
                  <a:gd name="T5" fmla="*/ 243 h 251"/>
                  <a:gd name="T6" fmla="*/ 0 w 443"/>
                  <a:gd name="T7" fmla="*/ 250 h 251"/>
                  <a:gd name="T8" fmla="*/ 442 w 443"/>
                  <a:gd name="T9" fmla="*/ 9 h 251"/>
                  <a:gd name="T10" fmla="*/ 442 w 443"/>
                  <a:gd name="T11" fmla="*/ 0 h 251"/>
                  <a:gd name="T12" fmla="*/ 0 60000 65536"/>
                  <a:gd name="T13" fmla="*/ 0 60000 65536"/>
                  <a:gd name="T14" fmla="*/ 0 60000 65536"/>
                  <a:gd name="T15" fmla="*/ 0 60000 65536"/>
                  <a:gd name="T16" fmla="*/ 0 60000 65536"/>
                  <a:gd name="T17" fmla="*/ 0 60000 65536"/>
                  <a:gd name="T18" fmla="*/ 0 w 443"/>
                  <a:gd name="T19" fmla="*/ 0 h 251"/>
                  <a:gd name="T20" fmla="*/ 443 w 443"/>
                  <a:gd name="T21" fmla="*/ 251 h 251"/>
                </a:gdLst>
                <a:ahLst/>
                <a:cxnLst>
                  <a:cxn ang="T12">
                    <a:pos x="T0" y="T1"/>
                  </a:cxn>
                  <a:cxn ang="T13">
                    <a:pos x="T2" y="T3"/>
                  </a:cxn>
                  <a:cxn ang="T14">
                    <a:pos x="T4" y="T5"/>
                  </a:cxn>
                  <a:cxn ang="T15">
                    <a:pos x="T6" y="T7"/>
                  </a:cxn>
                  <a:cxn ang="T16">
                    <a:pos x="T8" y="T9"/>
                  </a:cxn>
                  <a:cxn ang="T17">
                    <a:pos x="T10" y="T11"/>
                  </a:cxn>
                </a:cxnLst>
                <a:rect l="T18" t="T19" r="T20" b="T21"/>
                <a:pathLst>
                  <a:path w="443" h="251">
                    <a:moveTo>
                      <a:pt x="442" y="0"/>
                    </a:moveTo>
                    <a:lnTo>
                      <a:pt x="442" y="0"/>
                    </a:lnTo>
                    <a:lnTo>
                      <a:pt x="0" y="243"/>
                    </a:lnTo>
                    <a:lnTo>
                      <a:pt x="0" y="250"/>
                    </a:lnTo>
                    <a:lnTo>
                      <a:pt x="442" y="9"/>
                    </a:lnTo>
                    <a:lnTo>
                      <a:pt x="442" y="0"/>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24" name="Freeform 190"/>
              <p:cNvSpPr/>
              <p:nvPr/>
            </p:nvSpPr>
            <p:spPr bwMode="auto">
              <a:xfrm>
                <a:off x="2404" y="1943"/>
                <a:ext cx="17" cy="56"/>
              </a:xfrm>
              <a:custGeom>
                <a:avLst/>
                <a:gdLst>
                  <a:gd name="T0" fmla="*/ 0 w 17"/>
                  <a:gd name="T1" fmla="*/ 55 h 56"/>
                  <a:gd name="T2" fmla="*/ 0 w 17"/>
                  <a:gd name="T3" fmla="*/ 55 h 56"/>
                  <a:gd name="T4" fmla="*/ 0 w 17"/>
                  <a:gd name="T5" fmla="*/ 27 h 56"/>
                  <a:gd name="T6" fmla="*/ 0 w 17"/>
                  <a:gd name="T7" fmla="*/ 18 h 56"/>
                  <a:gd name="T8" fmla="*/ 6 w 17"/>
                  <a:gd name="T9" fmla="*/ 9 h 56"/>
                  <a:gd name="T10" fmla="*/ 6 w 17"/>
                  <a:gd name="T11" fmla="*/ 2 h 56"/>
                  <a:gd name="T12" fmla="*/ 6 w 17"/>
                  <a:gd name="T13" fmla="*/ 0 h 56"/>
                  <a:gd name="T14" fmla="*/ 10 w 17"/>
                  <a:gd name="T15" fmla="*/ 0 h 56"/>
                  <a:gd name="T16" fmla="*/ 16 w 17"/>
                  <a:gd name="T17" fmla="*/ 0 h 56"/>
                  <a:gd name="T18" fmla="*/ 16 w 17"/>
                  <a:gd name="T19" fmla="*/ 24 h 56"/>
                  <a:gd name="T20" fmla="*/ 10 w 17"/>
                  <a:gd name="T21" fmla="*/ 42 h 56"/>
                  <a:gd name="T22" fmla="*/ 10 w 17"/>
                  <a:gd name="T23" fmla="*/ 48 h 56"/>
                  <a:gd name="T24" fmla="*/ 10 w 17"/>
                  <a:gd name="T25" fmla="*/ 52 h 56"/>
                  <a:gd name="T26" fmla="*/ 6 w 17"/>
                  <a:gd name="T27" fmla="*/ 52 h 56"/>
                  <a:gd name="T28" fmla="*/ 0 w 17"/>
                  <a:gd name="T29" fmla="*/ 52 h 56"/>
                  <a:gd name="T30" fmla="*/ 0 w 17"/>
                  <a:gd name="T31" fmla="*/ 55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56"/>
                  <a:gd name="T50" fmla="*/ 17 w 17"/>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56">
                    <a:moveTo>
                      <a:pt x="0" y="55"/>
                    </a:moveTo>
                    <a:lnTo>
                      <a:pt x="0" y="55"/>
                    </a:lnTo>
                    <a:lnTo>
                      <a:pt x="0" y="27"/>
                    </a:lnTo>
                    <a:lnTo>
                      <a:pt x="0" y="18"/>
                    </a:lnTo>
                    <a:lnTo>
                      <a:pt x="6" y="9"/>
                    </a:lnTo>
                    <a:lnTo>
                      <a:pt x="6" y="2"/>
                    </a:lnTo>
                    <a:lnTo>
                      <a:pt x="6" y="0"/>
                    </a:lnTo>
                    <a:lnTo>
                      <a:pt x="10" y="0"/>
                    </a:lnTo>
                    <a:lnTo>
                      <a:pt x="16" y="0"/>
                    </a:lnTo>
                    <a:lnTo>
                      <a:pt x="16" y="24"/>
                    </a:lnTo>
                    <a:lnTo>
                      <a:pt x="10" y="42"/>
                    </a:lnTo>
                    <a:lnTo>
                      <a:pt x="10" y="48"/>
                    </a:lnTo>
                    <a:lnTo>
                      <a:pt x="10" y="52"/>
                    </a:lnTo>
                    <a:lnTo>
                      <a:pt x="6" y="52"/>
                    </a:lnTo>
                    <a:lnTo>
                      <a:pt x="0" y="52"/>
                    </a:lnTo>
                    <a:lnTo>
                      <a:pt x="0" y="55"/>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25" name="Freeform 191"/>
              <p:cNvSpPr/>
              <p:nvPr/>
            </p:nvSpPr>
            <p:spPr bwMode="auto">
              <a:xfrm>
                <a:off x="2310" y="1998"/>
                <a:ext cx="17" cy="55"/>
              </a:xfrm>
              <a:custGeom>
                <a:avLst/>
                <a:gdLst>
                  <a:gd name="T0" fmla="*/ 0 w 17"/>
                  <a:gd name="T1" fmla="*/ 54 h 55"/>
                  <a:gd name="T2" fmla="*/ 0 w 17"/>
                  <a:gd name="T3" fmla="*/ 54 h 55"/>
                  <a:gd name="T4" fmla="*/ 0 w 17"/>
                  <a:gd name="T5" fmla="*/ 47 h 55"/>
                  <a:gd name="T6" fmla="*/ 0 w 17"/>
                  <a:gd name="T7" fmla="*/ 27 h 55"/>
                  <a:gd name="T8" fmla="*/ 0 w 17"/>
                  <a:gd name="T9" fmla="*/ 9 h 55"/>
                  <a:gd name="T10" fmla="*/ 0 w 17"/>
                  <a:gd name="T11" fmla="*/ 0 h 55"/>
                  <a:gd name="T12" fmla="*/ 4 w 17"/>
                  <a:gd name="T13" fmla="*/ 0 h 55"/>
                  <a:gd name="T14" fmla="*/ 11 w 17"/>
                  <a:gd name="T15" fmla="*/ 0 h 55"/>
                  <a:gd name="T16" fmla="*/ 16 w 17"/>
                  <a:gd name="T17" fmla="*/ 0 h 55"/>
                  <a:gd name="T18" fmla="*/ 11 w 17"/>
                  <a:gd name="T19" fmla="*/ 24 h 55"/>
                  <a:gd name="T20" fmla="*/ 11 w 17"/>
                  <a:gd name="T21" fmla="*/ 42 h 55"/>
                  <a:gd name="T22" fmla="*/ 11 w 17"/>
                  <a:gd name="T23" fmla="*/ 51 h 55"/>
                  <a:gd name="T24" fmla="*/ 4 w 17"/>
                  <a:gd name="T25" fmla="*/ 51 h 55"/>
                  <a:gd name="T26" fmla="*/ 0 w 17"/>
                  <a:gd name="T27" fmla="*/ 54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55"/>
                  <a:gd name="T44" fmla="*/ 17 w 17"/>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55">
                    <a:moveTo>
                      <a:pt x="0" y="54"/>
                    </a:moveTo>
                    <a:lnTo>
                      <a:pt x="0" y="54"/>
                    </a:lnTo>
                    <a:lnTo>
                      <a:pt x="0" y="47"/>
                    </a:lnTo>
                    <a:lnTo>
                      <a:pt x="0" y="27"/>
                    </a:lnTo>
                    <a:lnTo>
                      <a:pt x="0" y="9"/>
                    </a:lnTo>
                    <a:lnTo>
                      <a:pt x="0" y="0"/>
                    </a:lnTo>
                    <a:lnTo>
                      <a:pt x="4" y="0"/>
                    </a:lnTo>
                    <a:lnTo>
                      <a:pt x="11" y="0"/>
                    </a:lnTo>
                    <a:lnTo>
                      <a:pt x="16" y="0"/>
                    </a:lnTo>
                    <a:lnTo>
                      <a:pt x="11" y="24"/>
                    </a:lnTo>
                    <a:lnTo>
                      <a:pt x="11" y="42"/>
                    </a:lnTo>
                    <a:lnTo>
                      <a:pt x="11" y="51"/>
                    </a:lnTo>
                    <a:lnTo>
                      <a:pt x="4" y="51"/>
                    </a:lnTo>
                    <a:lnTo>
                      <a:pt x="0" y="5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26" name="Freeform 192"/>
              <p:cNvSpPr/>
              <p:nvPr/>
            </p:nvSpPr>
            <p:spPr bwMode="auto">
              <a:xfrm>
                <a:off x="2204" y="2051"/>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6 h 63"/>
                  <a:gd name="T14" fmla="*/ 0 w 17"/>
                  <a:gd name="T15" fmla="*/ 2 h 63"/>
                  <a:gd name="T16" fmla="*/ 0 w 17"/>
                  <a:gd name="T17" fmla="*/ 0 h 63"/>
                  <a:gd name="T18" fmla="*/ 4 w 17"/>
                  <a:gd name="T19" fmla="*/ 0 h 63"/>
                  <a:gd name="T20" fmla="*/ 11 w 17"/>
                  <a:gd name="T21" fmla="*/ 0 h 63"/>
                  <a:gd name="T22" fmla="*/ 16 w 17"/>
                  <a:gd name="T23" fmla="*/ 0 h 63"/>
                  <a:gd name="T24" fmla="*/ 16 w 17"/>
                  <a:gd name="T25" fmla="*/ 28 h 63"/>
                  <a:gd name="T26" fmla="*/ 11 w 17"/>
                  <a:gd name="T27" fmla="*/ 46 h 63"/>
                  <a:gd name="T28" fmla="*/ 11 w 17"/>
                  <a:gd name="T29" fmla="*/ 52 h 63"/>
                  <a:gd name="T30" fmla="*/ 11 w 17"/>
                  <a:gd name="T31" fmla="*/ 55 h 63"/>
                  <a:gd name="T32" fmla="*/ 11 w 17"/>
                  <a:gd name="T33" fmla="*/ 59 h 63"/>
                  <a:gd name="T34" fmla="*/ 4 w 17"/>
                  <a:gd name="T35" fmla="*/ 59 h 63"/>
                  <a:gd name="T36" fmla="*/ 0 w 17"/>
                  <a:gd name="T37" fmla="*/ 59 h 63"/>
                  <a:gd name="T38" fmla="*/ 0 w 17"/>
                  <a:gd name="T39" fmla="*/ 62 h 6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63"/>
                  <a:gd name="T62" fmla="*/ 17 w 17"/>
                  <a:gd name="T63" fmla="*/ 63 h 6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63">
                    <a:moveTo>
                      <a:pt x="0" y="62"/>
                    </a:moveTo>
                    <a:lnTo>
                      <a:pt x="0" y="62"/>
                    </a:lnTo>
                    <a:lnTo>
                      <a:pt x="0" y="52"/>
                    </a:lnTo>
                    <a:lnTo>
                      <a:pt x="0" y="31"/>
                    </a:lnTo>
                    <a:lnTo>
                      <a:pt x="0" y="18"/>
                    </a:lnTo>
                    <a:lnTo>
                      <a:pt x="0" y="9"/>
                    </a:lnTo>
                    <a:lnTo>
                      <a:pt x="0" y="6"/>
                    </a:lnTo>
                    <a:lnTo>
                      <a:pt x="0" y="2"/>
                    </a:lnTo>
                    <a:lnTo>
                      <a:pt x="0" y="0"/>
                    </a:lnTo>
                    <a:lnTo>
                      <a:pt x="4" y="0"/>
                    </a:lnTo>
                    <a:lnTo>
                      <a:pt x="11" y="0"/>
                    </a:lnTo>
                    <a:lnTo>
                      <a:pt x="16" y="0"/>
                    </a:lnTo>
                    <a:lnTo>
                      <a:pt x="16" y="28"/>
                    </a:lnTo>
                    <a:lnTo>
                      <a:pt x="11" y="46"/>
                    </a:lnTo>
                    <a:lnTo>
                      <a:pt x="11" y="52"/>
                    </a:lnTo>
                    <a:lnTo>
                      <a:pt x="11" y="55"/>
                    </a:lnTo>
                    <a:lnTo>
                      <a:pt x="11" y="59"/>
                    </a:lnTo>
                    <a:lnTo>
                      <a:pt x="4" y="59"/>
                    </a:lnTo>
                    <a:lnTo>
                      <a:pt x="0" y="59"/>
                    </a:lnTo>
                    <a:lnTo>
                      <a:pt x="0" y="62"/>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327" name="Group 193"/>
              <p:cNvGrpSpPr/>
              <p:nvPr/>
            </p:nvGrpSpPr>
            <p:grpSpPr bwMode="auto">
              <a:xfrm>
                <a:off x="2425" y="1796"/>
                <a:ext cx="118" cy="110"/>
                <a:chOff x="2425" y="1796"/>
                <a:chExt cx="118" cy="110"/>
              </a:xfrm>
            </p:grpSpPr>
            <p:sp>
              <p:nvSpPr>
                <p:cNvPr id="44352" name="Freeform 194"/>
                <p:cNvSpPr/>
                <p:nvPr/>
              </p:nvSpPr>
              <p:spPr bwMode="auto">
                <a:xfrm>
                  <a:off x="2460" y="1815"/>
                  <a:ext cx="83" cy="91"/>
                </a:xfrm>
                <a:custGeom>
                  <a:avLst/>
                  <a:gdLst>
                    <a:gd name="T0" fmla="*/ 0 w 83"/>
                    <a:gd name="T1" fmla="*/ 90 h 91"/>
                    <a:gd name="T2" fmla="*/ 0 w 83"/>
                    <a:gd name="T3" fmla="*/ 90 h 91"/>
                    <a:gd name="T4" fmla="*/ 2 w 83"/>
                    <a:gd name="T5" fmla="*/ 40 h 91"/>
                    <a:gd name="T6" fmla="*/ 82 w 83"/>
                    <a:gd name="T7" fmla="*/ 0 h 91"/>
                    <a:gd name="T8" fmla="*/ 79 w 83"/>
                    <a:gd name="T9" fmla="*/ 49 h 91"/>
                    <a:gd name="T10" fmla="*/ 0 w 83"/>
                    <a:gd name="T11" fmla="*/ 90 h 91"/>
                    <a:gd name="T12" fmla="*/ 0 60000 65536"/>
                    <a:gd name="T13" fmla="*/ 0 60000 65536"/>
                    <a:gd name="T14" fmla="*/ 0 60000 65536"/>
                    <a:gd name="T15" fmla="*/ 0 60000 65536"/>
                    <a:gd name="T16" fmla="*/ 0 60000 65536"/>
                    <a:gd name="T17" fmla="*/ 0 60000 65536"/>
                    <a:gd name="T18" fmla="*/ 0 w 83"/>
                    <a:gd name="T19" fmla="*/ 0 h 91"/>
                    <a:gd name="T20" fmla="*/ 83 w 83"/>
                    <a:gd name="T21" fmla="*/ 91 h 91"/>
                  </a:gdLst>
                  <a:ahLst/>
                  <a:cxnLst>
                    <a:cxn ang="T12">
                      <a:pos x="T0" y="T1"/>
                    </a:cxn>
                    <a:cxn ang="T13">
                      <a:pos x="T2" y="T3"/>
                    </a:cxn>
                    <a:cxn ang="T14">
                      <a:pos x="T4" y="T5"/>
                    </a:cxn>
                    <a:cxn ang="T15">
                      <a:pos x="T6" y="T7"/>
                    </a:cxn>
                    <a:cxn ang="T16">
                      <a:pos x="T8" y="T9"/>
                    </a:cxn>
                    <a:cxn ang="T17">
                      <a:pos x="T10" y="T11"/>
                    </a:cxn>
                  </a:cxnLst>
                  <a:rect l="T18" t="T19" r="T20" b="T21"/>
                  <a:pathLst>
                    <a:path w="83" h="91">
                      <a:moveTo>
                        <a:pt x="0" y="90"/>
                      </a:moveTo>
                      <a:lnTo>
                        <a:pt x="0" y="90"/>
                      </a:lnTo>
                      <a:lnTo>
                        <a:pt x="2" y="40"/>
                      </a:lnTo>
                      <a:lnTo>
                        <a:pt x="82" y="0"/>
                      </a:lnTo>
                      <a:lnTo>
                        <a:pt x="79" y="49"/>
                      </a:lnTo>
                      <a:lnTo>
                        <a:pt x="0" y="90"/>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53" name="Freeform 195"/>
                <p:cNvSpPr/>
                <p:nvPr/>
              </p:nvSpPr>
              <p:spPr bwMode="auto">
                <a:xfrm>
                  <a:off x="2425" y="1837"/>
                  <a:ext cx="36" cy="69"/>
                </a:xfrm>
                <a:custGeom>
                  <a:avLst/>
                  <a:gdLst>
                    <a:gd name="T0" fmla="*/ 32 w 36"/>
                    <a:gd name="T1" fmla="*/ 68 h 69"/>
                    <a:gd name="T2" fmla="*/ 32 w 36"/>
                    <a:gd name="T3" fmla="*/ 68 h 69"/>
                    <a:gd name="T4" fmla="*/ 0 w 36"/>
                    <a:gd name="T5" fmla="*/ 52 h 69"/>
                    <a:gd name="T6" fmla="*/ 2 w 36"/>
                    <a:gd name="T7" fmla="*/ 0 h 69"/>
                    <a:gd name="T8" fmla="*/ 35 w 36"/>
                    <a:gd name="T9" fmla="*/ 18 h 69"/>
                    <a:gd name="T10" fmla="*/ 32 w 36"/>
                    <a:gd name="T11" fmla="*/ 68 h 69"/>
                    <a:gd name="T12" fmla="*/ 0 60000 65536"/>
                    <a:gd name="T13" fmla="*/ 0 60000 65536"/>
                    <a:gd name="T14" fmla="*/ 0 60000 65536"/>
                    <a:gd name="T15" fmla="*/ 0 60000 65536"/>
                    <a:gd name="T16" fmla="*/ 0 60000 65536"/>
                    <a:gd name="T17" fmla="*/ 0 60000 65536"/>
                    <a:gd name="T18" fmla="*/ 0 w 36"/>
                    <a:gd name="T19" fmla="*/ 0 h 69"/>
                    <a:gd name="T20" fmla="*/ 36 w 36"/>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36" h="69">
                      <a:moveTo>
                        <a:pt x="32" y="68"/>
                      </a:moveTo>
                      <a:lnTo>
                        <a:pt x="32" y="68"/>
                      </a:lnTo>
                      <a:lnTo>
                        <a:pt x="0" y="52"/>
                      </a:lnTo>
                      <a:lnTo>
                        <a:pt x="2" y="0"/>
                      </a:lnTo>
                      <a:lnTo>
                        <a:pt x="35" y="18"/>
                      </a:lnTo>
                      <a:lnTo>
                        <a:pt x="32" y="68"/>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54" name="Freeform 196"/>
                <p:cNvSpPr/>
                <p:nvPr/>
              </p:nvSpPr>
              <p:spPr bwMode="auto">
                <a:xfrm>
                  <a:off x="2428" y="1796"/>
                  <a:ext cx="114" cy="58"/>
                </a:xfrm>
                <a:custGeom>
                  <a:avLst/>
                  <a:gdLst>
                    <a:gd name="T0" fmla="*/ 33 w 114"/>
                    <a:gd name="T1" fmla="*/ 57 h 58"/>
                    <a:gd name="T2" fmla="*/ 33 w 114"/>
                    <a:gd name="T3" fmla="*/ 57 h 58"/>
                    <a:gd name="T4" fmla="*/ 0 w 114"/>
                    <a:gd name="T5" fmla="*/ 38 h 58"/>
                    <a:gd name="T6" fmla="*/ 82 w 114"/>
                    <a:gd name="T7" fmla="*/ 0 h 58"/>
                    <a:gd name="T8" fmla="*/ 113 w 114"/>
                    <a:gd name="T9" fmla="*/ 18 h 58"/>
                    <a:gd name="T10" fmla="*/ 33 w 114"/>
                    <a:gd name="T11" fmla="*/ 57 h 58"/>
                    <a:gd name="T12" fmla="*/ 0 60000 65536"/>
                    <a:gd name="T13" fmla="*/ 0 60000 65536"/>
                    <a:gd name="T14" fmla="*/ 0 60000 65536"/>
                    <a:gd name="T15" fmla="*/ 0 60000 65536"/>
                    <a:gd name="T16" fmla="*/ 0 60000 65536"/>
                    <a:gd name="T17" fmla="*/ 0 60000 65536"/>
                    <a:gd name="T18" fmla="*/ 0 w 114"/>
                    <a:gd name="T19" fmla="*/ 0 h 58"/>
                    <a:gd name="T20" fmla="*/ 114 w 114"/>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14" h="58">
                      <a:moveTo>
                        <a:pt x="33" y="57"/>
                      </a:moveTo>
                      <a:lnTo>
                        <a:pt x="33" y="57"/>
                      </a:lnTo>
                      <a:lnTo>
                        <a:pt x="0" y="38"/>
                      </a:lnTo>
                      <a:lnTo>
                        <a:pt x="82" y="0"/>
                      </a:lnTo>
                      <a:lnTo>
                        <a:pt x="113" y="18"/>
                      </a:lnTo>
                      <a:lnTo>
                        <a:pt x="33" y="57"/>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28" name="Group 197"/>
              <p:cNvGrpSpPr/>
              <p:nvPr/>
            </p:nvGrpSpPr>
            <p:grpSpPr bwMode="auto">
              <a:xfrm>
                <a:off x="2326" y="1843"/>
                <a:ext cx="129" cy="117"/>
                <a:chOff x="2326" y="1843"/>
                <a:chExt cx="129" cy="117"/>
              </a:xfrm>
            </p:grpSpPr>
            <p:sp>
              <p:nvSpPr>
                <p:cNvPr id="44349" name="Freeform 198"/>
                <p:cNvSpPr/>
                <p:nvPr/>
              </p:nvSpPr>
              <p:spPr bwMode="auto">
                <a:xfrm>
                  <a:off x="2366" y="1863"/>
                  <a:ext cx="89" cy="97"/>
                </a:xfrm>
                <a:custGeom>
                  <a:avLst/>
                  <a:gdLst>
                    <a:gd name="T0" fmla="*/ 0 w 89"/>
                    <a:gd name="T1" fmla="*/ 96 h 97"/>
                    <a:gd name="T2" fmla="*/ 0 w 89"/>
                    <a:gd name="T3" fmla="*/ 96 h 97"/>
                    <a:gd name="T4" fmla="*/ 2 w 89"/>
                    <a:gd name="T5" fmla="*/ 39 h 97"/>
                    <a:gd name="T6" fmla="*/ 88 w 89"/>
                    <a:gd name="T7" fmla="*/ 0 h 97"/>
                    <a:gd name="T8" fmla="*/ 85 w 89"/>
                    <a:gd name="T9" fmla="*/ 49 h 97"/>
                    <a:gd name="T10" fmla="*/ 0 w 89"/>
                    <a:gd name="T11" fmla="*/ 96 h 97"/>
                    <a:gd name="T12" fmla="*/ 0 60000 65536"/>
                    <a:gd name="T13" fmla="*/ 0 60000 65536"/>
                    <a:gd name="T14" fmla="*/ 0 60000 65536"/>
                    <a:gd name="T15" fmla="*/ 0 60000 65536"/>
                    <a:gd name="T16" fmla="*/ 0 60000 65536"/>
                    <a:gd name="T17" fmla="*/ 0 60000 65536"/>
                    <a:gd name="T18" fmla="*/ 0 w 89"/>
                    <a:gd name="T19" fmla="*/ 0 h 97"/>
                    <a:gd name="T20" fmla="*/ 89 w 89"/>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89" h="97">
                      <a:moveTo>
                        <a:pt x="0" y="96"/>
                      </a:moveTo>
                      <a:lnTo>
                        <a:pt x="0" y="96"/>
                      </a:lnTo>
                      <a:lnTo>
                        <a:pt x="2" y="39"/>
                      </a:lnTo>
                      <a:lnTo>
                        <a:pt x="88" y="0"/>
                      </a:lnTo>
                      <a:lnTo>
                        <a:pt x="85" y="49"/>
                      </a:lnTo>
                      <a:lnTo>
                        <a:pt x="0" y="96"/>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50" name="Freeform 199"/>
                <p:cNvSpPr/>
                <p:nvPr/>
              </p:nvSpPr>
              <p:spPr bwMode="auto">
                <a:xfrm>
                  <a:off x="2326" y="1889"/>
                  <a:ext cx="41" cy="71"/>
                </a:xfrm>
                <a:custGeom>
                  <a:avLst/>
                  <a:gdLst>
                    <a:gd name="T0" fmla="*/ 37 w 41"/>
                    <a:gd name="T1" fmla="*/ 70 h 71"/>
                    <a:gd name="T2" fmla="*/ 37 w 41"/>
                    <a:gd name="T3" fmla="*/ 70 h 71"/>
                    <a:gd name="T4" fmla="*/ 0 w 41"/>
                    <a:gd name="T5" fmla="*/ 52 h 71"/>
                    <a:gd name="T6" fmla="*/ 2 w 41"/>
                    <a:gd name="T7" fmla="*/ 0 h 71"/>
                    <a:gd name="T8" fmla="*/ 40 w 41"/>
                    <a:gd name="T9" fmla="*/ 15 h 71"/>
                    <a:gd name="T10" fmla="*/ 37 w 41"/>
                    <a:gd name="T11" fmla="*/ 70 h 71"/>
                    <a:gd name="T12" fmla="*/ 0 60000 65536"/>
                    <a:gd name="T13" fmla="*/ 0 60000 65536"/>
                    <a:gd name="T14" fmla="*/ 0 60000 65536"/>
                    <a:gd name="T15" fmla="*/ 0 60000 65536"/>
                    <a:gd name="T16" fmla="*/ 0 60000 65536"/>
                    <a:gd name="T17" fmla="*/ 0 60000 65536"/>
                    <a:gd name="T18" fmla="*/ 0 w 41"/>
                    <a:gd name="T19" fmla="*/ 0 h 71"/>
                    <a:gd name="T20" fmla="*/ 41 w 41"/>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41" h="71">
                      <a:moveTo>
                        <a:pt x="37" y="70"/>
                      </a:moveTo>
                      <a:lnTo>
                        <a:pt x="37" y="70"/>
                      </a:lnTo>
                      <a:lnTo>
                        <a:pt x="0" y="52"/>
                      </a:lnTo>
                      <a:lnTo>
                        <a:pt x="2" y="0"/>
                      </a:lnTo>
                      <a:lnTo>
                        <a:pt x="40" y="15"/>
                      </a:lnTo>
                      <a:lnTo>
                        <a:pt x="37" y="70"/>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51" name="Freeform 200"/>
                <p:cNvSpPr/>
                <p:nvPr/>
              </p:nvSpPr>
              <p:spPr bwMode="auto">
                <a:xfrm>
                  <a:off x="2330" y="1843"/>
                  <a:ext cx="125" cy="58"/>
                </a:xfrm>
                <a:custGeom>
                  <a:avLst/>
                  <a:gdLst>
                    <a:gd name="T0" fmla="*/ 38 w 125"/>
                    <a:gd name="T1" fmla="*/ 57 h 58"/>
                    <a:gd name="T2" fmla="*/ 38 w 125"/>
                    <a:gd name="T3" fmla="*/ 57 h 58"/>
                    <a:gd name="T4" fmla="*/ 0 w 125"/>
                    <a:gd name="T5" fmla="*/ 39 h 58"/>
                    <a:gd name="T6" fmla="*/ 91 w 125"/>
                    <a:gd name="T7" fmla="*/ 0 h 58"/>
                    <a:gd name="T8" fmla="*/ 124 w 125"/>
                    <a:gd name="T9" fmla="*/ 17 h 58"/>
                    <a:gd name="T10" fmla="*/ 38 w 125"/>
                    <a:gd name="T11" fmla="*/ 57 h 58"/>
                    <a:gd name="T12" fmla="*/ 0 60000 65536"/>
                    <a:gd name="T13" fmla="*/ 0 60000 65536"/>
                    <a:gd name="T14" fmla="*/ 0 60000 65536"/>
                    <a:gd name="T15" fmla="*/ 0 60000 65536"/>
                    <a:gd name="T16" fmla="*/ 0 60000 65536"/>
                    <a:gd name="T17" fmla="*/ 0 60000 65536"/>
                    <a:gd name="T18" fmla="*/ 0 w 125"/>
                    <a:gd name="T19" fmla="*/ 0 h 58"/>
                    <a:gd name="T20" fmla="*/ 125 w 12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25" h="58">
                      <a:moveTo>
                        <a:pt x="38" y="57"/>
                      </a:moveTo>
                      <a:lnTo>
                        <a:pt x="38" y="57"/>
                      </a:lnTo>
                      <a:lnTo>
                        <a:pt x="0" y="39"/>
                      </a:lnTo>
                      <a:lnTo>
                        <a:pt x="91" y="0"/>
                      </a:lnTo>
                      <a:lnTo>
                        <a:pt x="124" y="17"/>
                      </a:lnTo>
                      <a:lnTo>
                        <a:pt x="38" y="57"/>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29" name="Group 201"/>
              <p:cNvGrpSpPr/>
              <p:nvPr/>
            </p:nvGrpSpPr>
            <p:grpSpPr bwMode="auto">
              <a:xfrm>
                <a:off x="2220" y="1892"/>
                <a:ext cx="141" cy="122"/>
                <a:chOff x="2220" y="1892"/>
                <a:chExt cx="141" cy="122"/>
              </a:xfrm>
            </p:grpSpPr>
            <p:sp>
              <p:nvSpPr>
                <p:cNvPr id="44346" name="Freeform 202"/>
                <p:cNvSpPr/>
                <p:nvPr/>
              </p:nvSpPr>
              <p:spPr bwMode="auto">
                <a:xfrm>
                  <a:off x="2264" y="1911"/>
                  <a:ext cx="97" cy="103"/>
                </a:xfrm>
                <a:custGeom>
                  <a:avLst/>
                  <a:gdLst>
                    <a:gd name="T0" fmla="*/ 0 w 97"/>
                    <a:gd name="T1" fmla="*/ 102 h 103"/>
                    <a:gd name="T2" fmla="*/ 0 w 97"/>
                    <a:gd name="T3" fmla="*/ 102 h 103"/>
                    <a:gd name="T4" fmla="*/ 2 w 97"/>
                    <a:gd name="T5" fmla="*/ 46 h 103"/>
                    <a:gd name="T6" fmla="*/ 96 w 97"/>
                    <a:gd name="T7" fmla="*/ 0 h 103"/>
                    <a:gd name="T8" fmla="*/ 93 w 97"/>
                    <a:gd name="T9" fmla="*/ 55 h 103"/>
                    <a:gd name="T10" fmla="*/ 0 w 97"/>
                    <a:gd name="T11" fmla="*/ 102 h 103"/>
                    <a:gd name="T12" fmla="*/ 0 60000 65536"/>
                    <a:gd name="T13" fmla="*/ 0 60000 65536"/>
                    <a:gd name="T14" fmla="*/ 0 60000 65536"/>
                    <a:gd name="T15" fmla="*/ 0 60000 65536"/>
                    <a:gd name="T16" fmla="*/ 0 60000 65536"/>
                    <a:gd name="T17" fmla="*/ 0 60000 65536"/>
                    <a:gd name="T18" fmla="*/ 0 w 97"/>
                    <a:gd name="T19" fmla="*/ 0 h 103"/>
                    <a:gd name="T20" fmla="*/ 97 w 97"/>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97" h="103">
                      <a:moveTo>
                        <a:pt x="0" y="102"/>
                      </a:moveTo>
                      <a:lnTo>
                        <a:pt x="0" y="102"/>
                      </a:lnTo>
                      <a:lnTo>
                        <a:pt x="2" y="46"/>
                      </a:lnTo>
                      <a:lnTo>
                        <a:pt x="96" y="0"/>
                      </a:lnTo>
                      <a:lnTo>
                        <a:pt x="93" y="55"/>
                      </a:lnTo>
                      <a:lnTo>
                        <a:pt x="0" y="102"/>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47" name="Freeform 203"/>
                <p:cNvSpPr/>
                <p:nvPr/>
              </p:nvSpPr>
              <p:spPr bwMode="auto">
                <a:xfrm>
                  <a:off x="2220" y="1940"/>
                  <a:ext cx="44" cy="74"/>
                </a:xfrm>
                <a:custGeom>
                  <a:avLst/>
                  <a:gdLst>
                    <a:gd name="T0" fmla="*/ 40 w 44"/>
                    <a:gd name="T1" fmla="*/ 73 h 74"/>
                    <a:gd name="T2" fmla="*/ 40 w 44"/>
                    <a:gd name="T3" fmla="*/ 73 h 74"/>
                    <a:gd name="T4" fmla="*/ 0 w 44"/>
                    <a:gd name="T5" fmla="*/ 57 h 74"/>
                    <a:gd name="T6" fmla="*/ 2 w 44"/>
                    <a:gd name="T7" fmla="*/ 0 h 74"/>
                    <a:gd name="T8" fmla="*/ 43 w 44"/>
                    <a:gd name="T9" fmla="*/ 18 h 74"/>
                    <a:gd name="T10" fmla="*/ 40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0" y="73"/>
                      </a:moveTo>
                      <a:lnTo>
                        <a:pt x="40" y="73"/>
                      </a:lnTo>
                      <a:lnTo>
                        <a:pt x="0" y="57"/>
                      </a:lnTo>
                      <a:lnTo>
                        <a:pt x="2" y="0"/>
                      </a:lnTo>
                      <a:lnTo>
                        <a:pt x="43" y="18"/>
                      </a:lnTo>
                      <a:lnTo>
                        <a:pt x="40" y="73"/>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48" name="Freeform 204"/>
                <p:cNvSpPr/>
                <p:nvPr/>
              </p:nvSpPr>
              <p:spPr bwMode="auto">
                <a:xfrm>
                  <a:off x="2224" y="1892"/>
                  <a:ext cx="137" cy="65"/>
                </a:xfrm>
                <a:custGeom>
                  <a:avLst/>
                  <a:gdLst>
                    <a:gd name="T0" fmla="*/ 41 w 137"/>
                    <a:gd name="T1" fmla="*/ 64 h 65"/>
                    <a:gd name="T2" fmla="*/ 41 w 137"/>
                    <a:gd name="T3" fmla="*/ 64 h 65"/>
                    <a:gd name="T4" fmla="*/ 0 w 137"/>
                    <a:gd name="T5" fmla="*/ 45 h 65"/>
                    <a:gd name="T6" fmla="*/ 97 w 137"/>
                    <a:gd name="T7" fmla="*/ 0 h 65"/>
                    <a:gd name="T8" fmla="*/ 136 w 137"/>
                    <a:gd name="T9" fmla="*/ 18 h 65"/>
                    <a:gd name="T10" fmla="*/ 41 w 137"/>
                    <a:gd name="T11" fmla="*/ 64 h 65"/>
                    <a:gd name="T12" fmla="*/ 0 60000 65536"/>
                    <a:gd name="T13" fmla="*/ 0 60000 65536"/>
                    <a:gd name="T14" fmla="*/ 0 60000 65536"/>
                    <a:gd name="T15" fmla="*/ 0 60000 65536"/>
                    <a:gd name="T16" fmla="*/ 0 60000 65536"/>
                    <a:gd name="T17" fmla="*/ 0 60000 65536"/>
                    <a:gd name="T18" fmla="*/ 0 w 137"/>
                    <a:gd name="T19" fmla="*/ 0 h 65"/>
                    <a:gd name="T20" fmla="*/ 137 w 13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37" h="65">
                      <a:moveTo>
                        <a:pt x="41" y="64"/>
                      </a:moveTo>
                      <a:lnTo>
                        <a:pt x="41" y="64"/>
                      </a:lnTo>
                      <a:lnTo>
                        <a:pt x="0" y="45"/>
                      </a:lnTo>
                      <a:lnTo>
                        <a:pt x="97" y="0"/>
                      </a:lnTo>
                      <a:lnTo>
                        <a:pt x="136" y="18"/>
                      </a:lnTo>
                      <a:lnTo>
                        <a:pt x="41" y="64"/>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330" name="Group 205"/>
              <p:cNvGrpSpPr/>
              <p:nvPr/>
            </p:nvGrpSpPr>
            <p:grpSpPr bwMode="auto">
              <a:xfrm>
                <a:off x="2109" y="1945"/>
                <a:ext cx="150" cy="127"/>
                <a:chOff x="2109" y="1945"/>
                <a:chExt cx="150" cy="127"/>
              </a:xfrm>
            </p:grpSpPr>
            <p:sp>
              <p:nvSpPr>
                <p:cNvPr id="44343" name="Freeform 206"/>
                <p:cNvSpPr/>
                <p:nvPr/>
              </p:nvSpPr>
              <p:spPr bwMode="auto">
                <a:xfrm>
                  <a:off x="2154" y="1966"/>
                  <a:ext cx="104" cy="106"/>
                </a:xfrm>
                <a:custGeom>
                  <a:avLst/>
                  <a:gdLst>
                    <a:gd name="T0" fmla="*/ 0 w 104"/>
                    <a:gd name="T1" fmla="*/ 105 h 106"/>
                    <a:gd name="T2" fmla="*/ 0 w 104"/>
                    <a:gd name="T3" fmla="*/ 105 h 106"/>
                    <a:gd name="T4" fmla="*/ 0 w 104"/>
                    <a:gd name="T5" fmla="*/ 49 h 106"/>
                    <a:gd name="T6" fmla="*/ 103 w 104"/>
                    <a:gd name="T7" fmla="*/ 0 h 106"/>
                    <a:gd name="T8" fmla="*/ 103 w 104"/>
                    <a:gd name="T9" fmla="*/ 55 h 106"/>
                    <a:gd name="T10" fmla="*/ 0 w 104"/>
                    <a:gd name="T11" fmla="*/ 105 h 106"/>
                    <a:gd name="T12" fmla="*/ 0 60000 65536"/>
                    <a:gd name="T13" fmla="*/ 0 60000 65536"/>
                    <a:gd name="T14" fmla="*/ 0 60000 65536"/>
                    <a:gd name="T15" fmla="*/ 0 60000 65536"/>
                    <a:gd name="T16" fmla="*/ 0 60000 65536"/>
                    <a:gd name="T17" fmla="*/ 0 60000 65536"/>
                    <a:gd name="T18" fmla="*/ 0 w 104"/>
                    <a:gd name="T19" fmla="*/ 0 h 106"/>
                    <a:gd name="T20" fmla="*/ 104 w 104"/>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4" h="106">
                      <a:moveTo>
                        <a:pt x="0" y="105"/>
                      </a:moveTo>
                      <a:lnTo>
                        <a:pt x="0" y="105"/>
                      </a:lnTo>
                      <a:lnTo>
                        <a:pt x="0" y="49"/>
                      </a:lnTo>
                      <a:lnTo>
                        <a:pt x="103" y="0"/>
                      </a:lnTo>
                      <a:lnTo>
                        <a:pt x="103" y="55"/>
                      </a:lnTo>
                      <a:lnTo>
                        <a:pt x="0" y="105"/>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44" name="Freeform 207"/>
                <p:cNvSpPr/>
                <p:nvPr/>
              </p:nvSpPr>
              <p:spPr bwMode="auto">
                <a:xfrm>
                  <a:off x="2109" y="1997"/>
                  <a:ext cx="44" cy="74"/>
                </a:xfrm>
                <a:custGeom>
                  <a:avLst/>
                  <a:gdLst>
                    <a:gd name="T0" fmla="*/ 43 w 44"/>
                    <a:gd name="T1" fmla="*/ 73 h 74"/>
                    <a:gd name="T2" fmla="*/ 43 w 44"/>
                    <a:gd name="T3" fmla="*/ 73 h 74"/>
                    <a:gd name="T4" fmla="*/ 0 w 44"/>
                    <a:gd name="T5" fmla="*/ 57 h 74"/>
                    <a:gd name="T6" fmla="*/ 0 w 44"/>
                    <a:gd name="T7" fmla="*/ 0 h 74"/>
                    <a:gd name="T8" fmla="*/ 43 w 44"/>
                    <a:gd name="T9" fmla="*/ 18 h 74"/>
                    <a:gd name="T10" fmla="*/ 43 w 44"/>
                    <a:gd name="T11" fmla="*/ 73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3" y="73"/>
                      </a:moveTo>
                      <a:lnTo>
                        <a:pt x="43" y="73"/>
                      </a:lnTo>
                      <a:lnTo>
                        <a:pt x="0" y="57"/>
                      </a:lnTo>
                      <a:lnTo>
                        <a:pt x="0" y="0"/>
                      </a:lnTo>
                      <a:lnTo>
                        <a:pt x="43" y="18"/>
                      </a:lnTo>
                      <a:lnTo>
                        <a:pt x="43" y="73"/>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45" name="Freeform 208"/>
                <p:cNvSpPr/>
                <p:nvPr/>
              </p:nvSpPr>
              <p:spPr bwMode="auto">
                <a:xfrm>
                  <a:off x="2110" y="1945"/>
                  <a:ext cx="149" cy="68"/>
                </a:xfrm>
                <a:custGeom>
                  <a:avLst/>
                  <a:gdLst>
                    <a:gd name="T0" fmla="*/ 45 w 149"/>
                    <a:gd name="T1" fmla="*/ 67 h 68"/>
                    <a:gd name="T2" fmla="*/ 45 w 149"/>
                    <a:gd name="T3" fmla="*/ 67 h 68"/>
                    <a:gd name="T4" fmla="*/ 0 w 149"/>
                    <a:gd name="T5" fmla="*/ 48 h 68"/>
                    <a:gd name="T6" fmla="*/ 106 w 149"/>
                    <a:gd name="T7" fmla="*/ 0 h 68"/>
                    <a:gd name="T8" fmla="*/ 148 w 149"/>
                    <a:gd name="T9" fmla="*/ 18 h 68"/>
                    <a:gd name="T10" fmla="*/ 45 w 149"/>
                    <a:gd name="T11" fmla="*/ 67 h 68"/>
                    <a:gd name="T12" fmla="*/ 0 60000 65536"/>
                    <a:gd name="T13" fmla="*/ 0 60000 65536"/>
                    <a:gd name="T14" fmla="*/ 0 60000 65536"/>
                    <a:gd name="T15" fmla="*/ 0 60000 65536"/>
                    <a:gd name="T16" fmla="*/ 0 60000 65536"/>
                    <a:gd name="T17" fmla="*/ 0 60000 65536"/>
                    <a:gd name="T18" fmla="*/ 0 w 149"/>
                    <a:gd name="T19" fmla="*/ 0 h 68"/>
                    <a:gd name="T20" fmla="*/ 149 w 149"/>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49" h="68">
                      <a:moveTo>
                        <a:pt x="45" y="67"/>
                      </a:moveTo>
                      <a:lnTo>
                        <a:pt x="45" y="67"/>
                      </a:lnTo>
                      <a:lnTo>
                        <a:pt x="0" y="48"/>
                      </a:lnTo>
                      <a:lnTo>
                        <a:pt x="106" y="0"/>
                      </a:lnTo>
                      <a:lnTo>
                        <a:pt x="148" y="18"/>
                      </a:lnTo>
                      <a:lnTo>
                        <a:pt x="45" y="67"/>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331" name="Freeform 209"/>
              <p:cNvSpPr/>
              <p:nvPr/>
            </p:nvSpPr>
            <p:spPr bwMode="auto">
              <a:xfrm>
                <a:off x="2097" y="2022"/>
                <a:ext cx="48" cy="85"/>
              </a:xfrm>
              <a:custGeom>
                <a:avLst/>
                <a:gdLst>
                  <a:gd name="T0" fmla="*/ 0 w 48"/>
                  <a:gd name="T1" fmla="*/ 84 h 85"/>
                  <a:gd name="T2" fmla="*/ 0 w 48"/>
                  <a:gd name="T3" fmla="*/ 84 h 85"/>
                  <a:gd name="T4" fmla="*/ 0 w 48"/>
                  <a:gd name="T5" fmla="*/ 24 h 85"/>
                  <a:gd name="T6" fmla="*/ 47 w 48"/>
                  <a:gd name="T7" fmla="*/ 0 h 85"/>
                  <a:gd name="T8" fmla="*/ 47 w 48"/>
                  <a:gd name="T9" fmla="*/ 55 h 85"/>
                  <a:gd name="T10" fmla="*/ 0 w 48"/>
                  <a:gd name="T11" fmla="*/ 84 h 85"/>
                  <a:gd name="T12" fmla="*/ 0 60000 65536"/>
                  <a:gd name="T13" fmla="*/ 0 60000 65536"/>
                  <a:gd name="T14" fmla="*/ 0 60000 65536"/>
                  <a:gd name="T15" fmla="*/ 0 60000 65536"/>
                  <a:gd name="T16" fmla="*/ 0 60000 65536"/>
                  <a:gd name="T17" fmla="*/ 0 60000 65536"/>
                  <a:gd name="T18" fmla="*/ 0 w 48"/>
                  <a:gd name="T19" fmla="*/ 0 h 85"/>
                  <a:gd name="T20" fmla="*/ 48 w 48"/>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48" h="85">
                    <a:moveTo>
                      <a:pt x="0" y="84"/>
                    </a:moveTo>
                    <a:lnTo>
                      <a:pt x="0" y="84"/>
                    </a:lnTo>
                    <a:lnTo>
                      <a:pt x="0" y="24"/>
                    </a:lnTo>
                    <a:lnTo>
                      <a:pt x="47" y="0"/>
                    </a:lnTo>
                    <a:lnTo>
                      <a:pt x="47" y="55"/>
                    </a:lnTo>
                    <a:lnTo>
                      <a:pt x="0" y="84"/>
                    </a:lnTo>
                  </a:path>
                </a:pathLst>
              </a:custGeom>
              <a:solidFill>
                <a:srgbClr val="BB1A5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2" name="Freeform 210"/>
              <p:cNvSpPr/>
              <p:nvPr/>
            </p:nvSpPr>
            <p:spPr bwMode="auto">
              <a:xfrm>
                <a:off x="2048" y="2003"/>
                <a:ext cx="97" cy="43"/>
              </a:xfrm>
              <a:custGeom>
                <a:avLst/>
                <a:gdLst>
                  <a:gd name="T0" fmla="*/ 46 w 97"/>
                  <a:gd name="T1" fmla="*/ 42 h 43"/>
                  <a:gd name="T2" fmla="*/ 46 w 97"/>
                  <a:gd name="T3" fmla="*/ 42 h 43"/>
                  <a:gd name="T4" fmla="*/ 0 w 97"/>
                  <a:gd name="T5" fmla="*/ 26 h 43"/>
                  <a:gd name="T6" fmla="*/ 52 w 97"/>
                  <a:gd name="T7" fmla="*/ 0 h 43"/>
                  <a:gd name="T8" fmla="*/ 96 w 97"/>
                  <a:gd name="T9" fmla="*/ 17 h 43"/>
                  <a:gd name="T10" fmla="*/ 46 w 97"/>
                  <a:gd name="T11" fmla="*/ 42 h 43"/>
                  <a:gd name="T12" fmla="*/ 0 60000 65536"/>
                  <a:gd name="T13" fmla="*/ 0 60000 65536"/>
                  <a:gd name="T14" fmla="*/ 0 60000 65536"/>
                  <a:gd name="T15" fmla="*/ 0 60000 65536"/>
                  <a:gd name="T16" fmla="*/ 0 60000 65536"/>
                  <a:gd name="T17" fmla="*/ 0 60000 65536"/>
                  <a:gd name="T18" fmla="*/ 0 w 97"/>
                  <a:gd name="T19" fmla="*/ 0 h 43"/>
                  <a:gd name="T20" fmla="*/ 97 w 97"/>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97" h="43">
                    <a:moveTo>
                      <a:pt x="46" y="42"/>
                    </a:moveTo>
                    <a:lnTo>
                      <a:pt x="46" y="42"/>
                    </a:lnTo>
                    <a:lnTo>
                      <a:pt x="0" y="26"/>
                    </a:lnTo>
                    <a:lnTo>
                      <a:pt x="52" y="0"/>
                    </a:lnTo>
                    <a:lnTo>
                      <a:pt x="96" y="17"/>
                    </a:lnTo>
                    <a:lnTo>
                      <a:pt x="46" y="42"/>
                    </a:lnTo>
                  </a:path>
                </a:pathLst>
              </a:custGeom>
              <a:solidFill>
                <a:srgbClr val="CF5C82"/>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3" name="Freeform 211"/>
              <p:cNvSpPr/>
              <p:nvPr/>
            </p:nvSpPr>
            <p:spPr bwMode="auto">
              <a:xfrm>
                <a:off x="2454" y="1856"/>
                <a:ext cx="17" cy="60"/>
              </a:xfrm>
              <a:custGeom>
                <a:avLst/>
                <a:gdLst>
                  <a:gd name="T0" fmla="*/ 0 w 17"/>
                  <a:gd name="T1" fmla="*/ 59 h 60"/>
                  <a:gd name="T2" fmla="*/ 0 w 17"/>
                  <a:gd name="T3" fmla="*/ 59 h 60"/>
                  <a:gd name="T4" fmla="*/ 0 w 17"/>
                  <a:gd name="T5" fmla="*/ 28 h 60"/>
                  <a:gd name="T6" fmla="*/ 6 w 17"/>
                  <a:gd name="T7" fmla="*/ 9 h 60"/>
                  <a:gd name="T8" fmla="*/ 6 w 17"/>
                  <a:gd name="T9" fmla="*/ 2 h 60"/>
                  <a:gd name="T10" fmla="*/ 6 w 17"/>
                  <a:gd name="T11" fmla="*/ 0 h 60"/>
                  <a:gd name="T12" fmla="*/ 10 w 17"/>
                  <a:gd name="T13" fmla="*/ 0 h 60"/>
                  <a:gd name="T14" fmla="*/ 16 w 17"/>
                  <a:gd name="T15" fmla="*/ 0 h 60"/>
                  <a:gd name="T16" fmla="*/ 16 w 17"/>
                  <a:gd name="T17" fmla="*/ 28 h 60"/>
                  <a:gd name="T18" fmla="*/ 10 w 17"/>
                  <a:gd name="T19" fmla="*/ 52 h 60"/>
                  <a:gd name="T20" fmla="*/ 6 w 17"/>
                  <a:gd name="T21" fmla="*/ 52 h 60"/>
                  <a:gd name="T22" fmla="*/ 0 w 17"/>
                  <a:gd name="T23" fmla="*/ 56 h 60"/>
                  <a:gd name="T24" fmla="*/ 0 w 17"/>
                  <a:gd name="T25" fmla="*/ 59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60"/>
                  <a:gd name="T41" fmla="*/ 17 w 17"/>
                  <a:gd name="T42" fmla="*/ 60 h 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60">
                    <a:moveTo>
                      <a:pt x="0" y="59"/>
                    </a:moveTo>
                    <a:lnTo>
                      <a:pt x="0" y="59"/>
                    </a:lnTo>
                    <a:lnTo>
                      <a:pt x="0" y="28"/>
                    </a:lnTo>
                    <a:lnTo>
                      <a:pt x="6" y="9"/>
                    </a:lnTo>
                    <a:lnTo>
                      <a:pt x="6" y="2"/>
                    </a:lnTo>
                    <a:lnTo>
                      <a:pt x="6" y="0"/>
                    </a:lnTo>
                    <a:lnTo>
                      <a:pt x="10" y="0"/>
                    </a:lnTo>
                    <a:lnTo>
                      <a:pt x="16" y="0"/>
                    </a:lnTo>
                    <a:lnTo>
                      <a:pt x="16" y="28"/>
                    </a:lnTo>
                    <a:lnTo>
                      <a:pt x="10" y="52"/>
                    </a:lnTo>
                    <a:lnTo>
                      <a:pt x="6" y="52"/>
                    </a:lnTo>
                    <a:lnTo>
                      <a:pt x="0" y="56"/>
                    </a:lnTo>
                    <a:lnTo>
                      <a:pt x="0" y="59"/>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4" name="Freeform 212"/>
              <p:cNvSpPr/>
              <p:nvPr/>
            </p:nvSpPr>
            <p:spPr bwMode="auto">
              <a:xfrm>
                <a:off x="2358" y="1908"/>
                <a:ext cx="17" cy="59"/>
              </a:xfrm>
              <a:custGeom>
                <a:avLst/>
                <a:gdLst>
                  <a:gd name="T0" fmla="*/ 0 w 17"/>
                  <a:gd name="T1" fmla="*/ 58 h 59"/>
                  <a:gd name="T2" fmla="*/ 0 w 17"/>
                  <a:gd name="T3" fmla="*/ 58 h 59"/>
                  <a:gd name="T4" fmla="*/ 4 w 17"/>
                  <a:gd name="T5" fmla="*/ 49 h 59"/>
                  <a:gd name="T6" fmla="*/ 4 w 17"/>
                  <a:gd name="T7" fmla="*/ 27 h 59"/>
                  <a:gd name="T8" fmla="*/ 4 w 17"/>
                  <a:gd name="T9" fmla="*/ 18 h 59"/>
                  <a:gd name="T10" fmla="*/ 4 w 17"/>
                  <a:gd name="T11" fmla="*/ 8 h 59"/>
                  <a:gd name="T12" fmla="*/ 4 w 17"/>
                  <a:gd name="T13" fmla="*/ 6 h 59"/>
                  <a:gd name="T14" fmla="*/ 4 w 17"/>
                  <a:gd name="T15" fmla="*/ 2 h 59"/>
                  <a:gd name="T16" fmla="*/ 4 w 17"/>
                  <a:gd name="T17" fmla="*/ 0 h 59"/>
                  <a:gd name="T18" fmla="*/ 8 w 17"/>
                  <a:gd name="T19" fmla="*/ 0 h 59"/>
                  <a:gd name="T20" fmla="*/ 12 w 17"/>
                  <a:gd name="T21" fmla="*/ 0 h 59"/>
                  <a:gd name="T22" fmla="*/ 16 w 17"/>
                  <a:gd name="T23" fmla="*/ 0 h 59"/>
                  <a:gd name="T24" fmla="*/ 12 w 17"/>
                  <a:gd name="T25" fmla="*/ 24 h 59"/>
                  <a:gd name="T26" fmla="*/ 12 w 17"/>
                  <a:gd name="T27" fmla="*/ 42 h 59"/>
                  <a:gd name="T28" fmla="*/ 12 w 17"/>
                  <a:gd name="T29" fmla="*/ 49 h 59"/>
                  <a:gd name="T30" fmla="*/ 12 w 17"/>
                  <a:gd name="T31" fmla="*/ 51 h 59"/>
                  <a:gd name="T32" fmla="*/ 8 w 17"/>
                  <a:gd name="T33" fmla="*/ 51 h 59"/>
                  <a:gd name="T34" fmla="*/ 4 w 17"/>
                  <a:gd name="T35" fmla="*/ 51 h 59"/>
                  <a:gd name="T36" fmla="*/ 4 w 17"/>
                  <a:gd name="T37" fmla="*/ 55 h 59"/>
                  <a:gd name="T38" fmla="*/ 0 w 17"/>
                  <a:gd name="T39" fmla="*/ 58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9"/>
                  <a:gd name="T62" fmla="*/ 17 w 17"/>
                  <a:gd name="T63" fmla="*/ 59 h 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9">
                    <a:moveTo>
                      <a:pt x="0" y="58"/>
                    </a:moveTo>
                    <a:lnTo>
                      <a:pt x="0" y="58"/>
                    </a:lnTo>
                    <a:lnTo>
                      <a:pt x="4" y="49"/>
                    </a:lnTo>
                    <a:lnTo>
                      <a:pt x="4" y="27"/>
                    </a:lnTo>
                    <a:lnTo>
                      <a:pt x="4" y="18"/>
                    </a:lnTo>
                    <a:lnTo>
                      <a:pt x="4" y="8"/>
                    </a:lnTo>
                    <a:lnTo>
                      <a:pt x="4" y="6"/>
                    </a:lnTo>
                    <a:lnTo>
                      <a:pt x="4" y="2"/>
                    </a:lnTo>
                    <a:lnTo>
                      <a:pt x="4" y="0"/>
                    </a:lnTo>
                    <a:lnTo>
                      <a:pt x="8" y="0"/>
                    </a:lnTo>
                    <a:lnTo>
                      <a:pt x="12" y="0"/>
                    </a:lnTo>
                    <a:lnTo>
                      <a:pt x="16" y="0"/>
                    </a:lnTo>
                    <a:lnTo>
                      <a:pt x="12" y="24"/>
                    </a:lnTo>
                    <a:lnTo>
                      <a:pt x="12" y="42"/>
                    </a:lnTo>
                    <a:lnTo>
                      <a:pt x="12" y="49"/>
                    </a:lnTo>
                    <a:lnTo>
                      <a:pt x="12" y="51"/>
                    </a:lnTo>
                    <a:lnTo>
                      <a:pt x="8" y="51"/>
                    </a:lnTo>
                    <a:lnTo>
                      <a:pt x="4" y="51"/>
                    </a:lnTo>
                    <a:lnTo>
                      <a:pt x="4" y="55"/>
                    </a:lnTo>
                    <a:lnTo>
                      <a:pt x="0" y="58"/>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5" name="Freeform 213"/>
              <p:cNvSpPr/>
              <p:nvPr/>
            </p:nvSpPr>
            <p:spPr bwMode="auto">
              <a:xfrm>
                <a:off x="2258" y="1959"/>
                <a:ext cx="17" cy="65"/>
              </a:xfrm>
              <a:custGeom>
                <a:avLst/>
                <a:gdLst>
                  <a:gd name="T0" fmla="*/ 0 w 17"/>
                  <a:gd name="T1" fmla="*/ 64 h 65"/>
                  <a:gd name="T2" fmla="*/ 0 w 17"/>
                  <a:gd name="T3" fmla="*/ 64 h 65"/>
                  <a:gd name="T4" fmla="*/ 0 w 17"/>
                  <a:gd name="T5" fmla="*/ 30 h 65"/>
                  <a:gd name="T6" fmla="*/ 0 w 17"/>
                  <a:gd name="T7" fmla="*/ 21 h 65"/>
                  <a:gd name="T8" fmla="*/ 0 w 17"/>
                  <a:gd name="T9" fmla="*/ 9 h 65"/>
                  <a:gd name="T10" fmla="*/ 0 w 17"/>
                  <a:gd name="T11" fmla="*/ 6 h 65"/>
                  <a:gd name="T12" fmla="*/ 0 w 17"/>
                  <a:gd name="T13" fmla="*/ 2 h 65"/>
                  <a:gd name="T14" fmla="*/ 0 w 17"/>
                  <a:gd name="T15" fmla="*/ 0 h 65"/>
                  <a:gd name="T16" fmla="*/ 6 w 17"/>
                  <a:gd name="T17" fmla="*/ 0 h 65"/>
                  <a:gd name="T18" fmla="*/ 10 w 17"/>
                  <a:gd name="T19" fmla="*/ 0 h 65"/>
                  <a:gd name="T20" fmla="*/ 16 w 17"/>
                  <a:gd name="T21" fmla="*/ 0 h 65"/>
                  <a:gd name="T22" fmla="*/ 10 w 17"/>
                  <a:gd name="T23" fmla="*/ 27 h 65"/>
                  <a:gd name="T24" fmla="*/ 10 w 17"/>
                  <a:gd name="T25" fmla="*/ 45 h 65"/>
                  <a:gd name="T26" fmla="*/ 10 w 17"/>
                  <a:gd name="T27" fmla="*/ 54 h 65"/>
                  <a:gd name="T28" fmla="*/ 10 w 17"/>
                  <a:gd name="T29" fmla="*/ 57 h 65"/>
                  <a:gd name="T30" fmla="*/ 6 w 17"/>
                  <a:gd name="T31" fmla="*/ 57 h 65"/>
                  <a:gd name="T32" fmla="*/ 0 w 17"/>
                  <a:gd name="T33" fmla="*/ 61 h 65"/>
                  <a:gd name="T34" fmla="*/ 0 w 17"/>
                  <a:gd name="T35" fmla="*/ 64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5"/>
                  <a:gd name="T56" fmla="*/ 17 w 17"/>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5">
                    <a:moveTo>
                      <a:pt x="0" y="64"/>
                    </a:moveTo>
                    <a:lnTo>
                      <a:pt x="0" y="64"/>
                    </a:lnTo>
                    <a:lnTo>
                      <a:pt x="0" y="30"/>
                    </a:lnTo>
                    <a:lnTo>
                      <a:pt x="0" y="21"/>
                    </a:lnTo>
                    <a:lnTo>
                      <a:pt x="0" y="9"/>
                    </a:lnTo>
                    <a:lnTo>
                      <a:pt x="0" y="6"/>
                    </a:lnTo>
                    <a:lnTo>
                      <a:pt x="0" y="2"/>
                    </a:lnTo>
                    <a:lnTo>
                      <a:pt x="0" y="0"/>
                    </a:lnTo>
                    <a:lnTo>
                      <a:pt x="6" y="0"/>
                    </a:lnTo>
                    <a:lnTo>
                      <a:pt x="10" y="0"/>
                    </a:lnTo>
                    <a:lnTo>
                      <a:pt x="16" y="0"/>
                    </a:lnTo>
                    <a:lnTo>
                      <a:pt x="10" y="27"/>
                    </a:lnTo>
                    <a:lnTo>
                      <a:pt x="10" y="45"/>
                    </a:lnTo>
                    <a:lnTo>
                      <a:pt x="10" y="54"/>
                    </a:lnTo>
                    <a:lnTo>
                      <a:pt x="10" y="57"/>
                    </a:lnTo>
                    <a:lnTo>
                      <a:pt x="6" y="57"/>
                    </a:lnTo>
                    <a:lnTo>
                      <a:pt x="0" y="61"/>
                    </a:lnTo>
                    <a:lnTo>
                      <a:pt x="0" y="64"/>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6" name="Freeform 214"/>
              <p:cNvSpPr/>
              <p:nvPr/>
            </p:nvSpPr>
            <p:spPr bwMode="auto">
              <a:xfrm>
                <a:off x="2147" y="2019"/>
                <a:ext cx="17" cy="63"/>
              </a:xfrm>
              <a:custGeom>
                <a:avLst/>
                <a:gdLst>
                  <a:gd name="T0" fmla="*/ 0 w 17"/>
                  <a:gd name="T1" fmla="*/ 62 h 63"/>
                  <a:gd name="T2" fmla="*/ 0 w 17"/>
                  <a:gd name="T3" fmla="*/ 62 h 63"/>
                  <a:gd name="T4" fmla="*/ 0 w 17"/>
                  <a:gd name="T5" fmla="*/ 52 h 63"/>
                  <a:gd name="T6" fmla="*/ 0 w 17"/>
                  <a:gd name="T7" fmla="*/ 31 h 63"/>
                  <a:gd name="T8" fmla="*/ 0 w 17"/>
                  <a:gd name="T9" fmla="*/ 18 h 63"/>
                  <a:gd name="T10" fmla="*/ 0 w 17"/>
                  <a:gd name="T11" fmla="*/ 9 h 63"/>
                  <a:gd name="T12" fmla="*/ 0 w 17"/>
                  <a:gd name="T13" fmla="*/ 2 h 63"/>
                  <a:gd name="T14" fmla="*/ 0 w 17"/>
                  <a:gd name="T15" fmla="*/ 0 h 63"/>
                  <a:gd name="T16" fmla="*/ 6 w 17"/>
                  <a:gd name="T17" fmla="*/ 0 h 63"/>
                  <a:gd name="T18" fmla="*/ 10 w 17"/>
                  <a:gd name="T19" fmla="*/ 0 h 63"/>
                  <a:gd name="T20" fmla="*/ 16 w 17"/>
                  <a:gd name="T21" fmla="*/ 0 h 63"/>
                  <a:gd name="T22" fmla="*/ 16 w 17"/>
                  <a:gd name="T23" fmla="*/ 28 h 63"/>
                  <a:gd name="T24" fmla="*/ 16 w 17"/>
                  <a:gd name="T25" fmla="*/ 46 h 63"/>
                  <a:gd name="T26" fmla="*/ 16 w 17"/>
                  <a:gd name="T27" fmla="*/ 55 h 63"/>
                  <a:gd name="T28" fmla="*/ 10 w 17"/>
                  <a:gd name="T29" fmla="*/ 55 h 63"/>
                  <a:gd name="T30" fmla="*/ 6 w 17"/>
                  <a:gd name="T31" fmla="*/ 55 h 63"/>
                  <a:gd name="T32" fmla="*/ 6 w 17"/>
                  <a:gd name="T33" fmla="*/ 59 h 63"/>
                  <a:gd name="T34" fmla="*/ 0 w 17"/>
                  <a:gd name="T35" fmla="*/ 62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63"/>
                  <a:gd name="T56" fmla="*/ 17 w 17"/>
                  <a:gd name="T57" fmla="*/ 63 h 6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63">
                    <a:moveTo>
                      <a:pt x="0" y="62"/>
                    </a:moveTo>
                    <a:lnTo>
                      <a:pt x="0" y="62"/>
                    </a:lnTo>
                    <a:lnTo>
                      <a:pt x="0" y="52"/>
                    </a:lnTo>
                    <a:lnTo>
                      <a:pt x="0" y="31"/>
                    </a:lnTo>
                    <a:lnTo>
                      <a:pt x="0" y="18"/>
                    </a:lnTo>
                    <a:lnTo>
                      <a:pt x="0" y="9"/>
                    </a:lnTo>
                    <a:lnTo>
                      <a:pt x="0" y="2"/>
                    </a:lnTo>
                    <a:lnTo>
                      <a:pt x="0" y="0"/>
                    </a:lnTo>
                    <a:lnTo>
                      <a:pt x="6" y="0"/>
                    </a:lnTo>
                    <a:lnTo>
                      <a:pt x="10" y="0"/>
                    </a:lnTo>
                    <a:lnTo>
                      <a:pt x="16" y="0"/>
                    </a:lnTo>
                    <a:lnTo>
                      <a:pt x="16" y="28"/>
                    </a:lnTo>
                    <a:lnTo>
                      <a:pt x="16" y="46"/>
                    </a:lnTo>
                    <a:lnTo>
                      <a:pt x="16" y="55"/>
                    </a:lnTo>
                    <a:lnTo>
                      <a:pt x="10" y="55"/>
                    </a:lnTo>
                    <a:lnTo>
                      <a:pt x="6" y="55"/>
                    </a:lnTo>
                    <a:lnTo>
                      <a:pt x="6" y="59"/>
                    </a:lnTo>
                    <a:lnTo>
                      <a:pt x="0" y="62"/>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7" name="Freeform 215"/>
              <p:cNvSpPr/>
              <p:nvPr/>
            </p:nvSpPr>
            <p:spPr bwMode="auto">
              <a:xfrm>
                <a:off x="2048" y="2032"/>
                <a:ext cx="47" cy="75"/>
              </a:xfrm>
              <a:custGeom>
                <a:avLst/>
                <a:gdLst>
                  <a:gd name="T0" fmla="*/ 46 w 47"/>
                  <a:gd name="T1" fmla="*/ 74 h 75"/>
                  <a:gd name="T2" fmla="*/ 46 w 47"/>
                  <a:gd name="T3" fmla="*/ 74 h 75"/>
                  <a:gd name="T4" fmla="*/ 0 w 47"/>
                  <a:gd name="T5" fmla="*/ 58 h 75"/>
                  <a:gd name="T6" fmla="*/ 0 w 47"/>
                  <a:gd name="T7" fmla="*/ 0 h 75"/>
                  <a:gd name="T8" fmla="*/ 46 w 47"/>
                  <a:gd name="T9" fmla="*/ 15 h 75"/>
                  <a:gd name="T10" fmla="*/ 46 w 47"/>
                  <a:gd name="T11" fmla="*/ 74 h 75"/>
                  <a:gd name="T12" fmla="*/ 0 60000 65536"/>
                  <a:gd name="T13" fmla="*/ 0 60000 65536"/>
                  <a:gd name="T14" fmla="*/ 0 60000 65536"/>
                  <a:gd name="T15" fmla="*/ 0 60000 65536"/>
                  <a:gd name="T16" fmla="*/ 0 60000 65536"/>
                  <a:gd name="T17" fmla="*/ 0 60000 65536"/>
                  <a:gd name="T18" fmla="*/ 0 w 47"/>
                  <a:gd name="T19" fmla="*/ 0 h 75"/>
                  <a:gd name="T20" fmla="*/ 47 w 47"/>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47" h="75">
                    <a:moveTo>
                      <a:pt x="46" y="74"/>
                    </a:moveTo>
                    <a:lnTo>
                      <a:pt x="46" y="74"/>
                    </a:lnTo>
                    <a:lnTo>
                      <a:pt x="0" y="58"/>
                    </a:lnTo>
                    <a:lnTo>
                      <a:pt x="0" y="0"/>
                    </a:lnTo>
                    <a:lnTo>
                      <a:pt x="46" y="15"/>
                    </a:lnTo>
                    <a:lnTo>
                      <a:pt x="46" y="74"/>
                    </a:lnTo>
                  </a:path>
                </a:pathLst>
              </a:custGeom>
              <a:solidFill>
                <a:srgbClr val="9E0005"/>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8" name="Freeform 216"/>
              <p:cNvSpPr/>
              <p:nvPr/>
            </p:nvSpPr>
            <p:spPr bwMode="auto">
              <a:xfrm>
                <a:off x="2047" y="2090"/>
                <a:ext cx="50" cy="26"/>
              </a:xfrm>
              <a:custGeom>
                <a:avLst/>
                <a:gdLst>
                  <a:gd name="T0" fmla="*/ 49 w 50"/>
                  <a:gd name="T1" fmla="*/ 25 h 26"/>
                  <a:gd name="T2" fmla="*/ 49 w 50"/>
                  <a:gd name="T3" fmla="*/ 25 h 26"/>
                  <a:gd name="T4" fmla="*/ 49 w 50"/>
                  <a:gd name="T5" fmla="*/ 22 h 26"/>
                  <a:gd name="T6" fmla="*/ 46 w 50"/>
                  <a:gd name="T7" fmla="*/ 16 h 26"/>
                  <a:gd name="T8" fmla="*/ 24 w 50"/>
                  <a:gd name="T9" fmla="*/ 8 h 26"/>
                  <a:gd name="T10" fmla="*/ 0 w 50"/>
                  <a:gd name="T11" fmla="*/ 0 h 26"/>
                  <a:gd name="T12" fmla="*/ 0 w 50"/>
                  <a:gd name="T13" fmla="*/ 2 h 26"/>
                  <a:gd name="T14" fmla="*/ 0 w 50"/>
                  <a:gd name="T15" fmla="*/ 5 h 26"/>
                  <a:gd name="T16" fmla="*/ 0 w 50"/>
                  <a:gd name="T17" fmla="*/ 8 h 26"/>
                  <a:gd name="T18" fmla="*/ 2 w 50"/>
                  <a:gd name="T19" fmla="*/ 8 h 26"/>
                  <a:gd name="T20" fmla="*/ 8 w 50"/>
                  <a:gd name="T21" fmla="*/ 10 h 26"/>
                  <a:gd name="T22" fmla="*/ 24 w 50"/>
                  <a:gd name="T23" fmla="*/ 14 h 26"/>
                  <a:gd name="T24" fmla="*/ 32 w 50"/>
                  <a:gd name="T25" fmla="*/ 16 h 26"/>
                  <a:gd name="T26" fmla="*/ 35 w 50"/>
                  <a:gd name="T27" fmla="*/ 19 h 26"/>
                  <a:gd name="T28" fmla="*/ 40 w 50"/>
                  <a:gd name="T29" fmla="*/ 19 h 26"/>
                  <a:gd name="T30" fmla="*/ 43 w 50"/>
                  <a:gd name="T31" fmla="*/ 22 h 26"/>
                  <a:gd name="T32" fmla="*/ 46 w 50"/>
                  <a:gd name="T33" fmla="*/ 22 h 26"/>
                  <a:gd name="T34" fmla="*/ 49 w 50"/>
                  <a:gd name="T35" fmla="*/ 22 h 26"/>
                  <a:gd name="T36" fmla="*/ 49 w 50"/>
                  <a:gd name="T37" fmla="*/ 25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0"/>
                  <a:gd name="T58" fmla="*/ 0 h 26"/>
                  <a:gd name="T59" fmla="*/ 50 w 50"/>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0" h="26">
                    <a:moveTo>
                      <a:pt x="49" y="25"/>
                    </a:moveTo>
                    <a:lnTo>
                      <a:pt x="49" y="25"/>
                    </a:lnTo>
                    <a:lnTo>
                      <a:pt x="49" y="22"/>
                    </a:lnTo>
                    <a:lnTo>
                      <a:pt x="46" y="16"/>
                    </a:lnTo>
                    <a:lnTo>
                      <a:pt x="24" y="8"/>
                    </a:lnTo>
                    <a:lnTo>
                      <a:pt x="0" y="0"/>
                    </a:lnTo>
                    <a:lnTo>
                      <a:pt x="0" y="2"/>
                    </a:lnTo>
                    <a:lnTo>
                      <a:pt x="0" y="5"/>
                    </a:lnTo>
                    <a:lnTo>
                      <a:pt x="0" y="8"/>
                    </a:lnTo>
                    <a:lnTo>
                      <a:pt x="2" y="8"/>
                    </a:lnTo>
                    <a:lnTo>
                      <a:pt x="8" y="10"/>
                    </a:lnTo>
                    <a:lnTo>
                      <a:pt x="24" y="14"/>
                    </a:lnTo>
                    <a:lnTo>
                      <a:pt x="32" y="16"/>
                    </a:lnTo>
                    <a:lnTo>
                      <a:pt x="35" y="19"/>
                    </a:lnTo>
                    <a:lnTo>
                      <a:pt x="40" y="19"/>
                    </a:lnTo>
                    <a:lnTo>
                      <a:pt x="43" y="22"/>
                    </a:lnTo>
                    <a:lnTo>
                      <a:pt x="46" y="22"/>
                    </a:lnTo>
                    <a:lnTo>
                      <a:pt x="49" y="22"/>
                    </a:lnTo>
                    <a:lnTo>
                      <a:pt x="49" y="25"/>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39" name="Freeform 217"/>
              <p:cNvSpPr/>
              <p:nvPr/>
            </p:nvSpPr>
            <p:spPr bwMode="auto">
              <a:xfrm>
                <a:off x="2101" y="2000"/>
                <a:ext cx="53" cy="24"/>
              </a:xfrm>
              <a:custGeom>
                <a:avLst/>
                <a:gdLst>
                  <a:gd name="T0" fmla="*/ 46 w 53"/>
                  <a:gd name="T1" fmla="*/ 23 h 24"/>
                  <a:gd name="T2" fmla="*/ 46 w 53"/>
                  <a:gd name="T3" fmla="*/ 23 h 24"/>
                  <a:gd name="T4" fmla="*/ 49 w 53"/>
                  <a:gd name="T5" fmla="*/ 23 h 24"/>
                  <a:gd name="T6" fmla="*/ 49 w 53"/>
                  <a:gd name="T7" fmla="*/ 20 h 24"/>
                  <a:gd name="T8" fmla="*/ 49 w 53"/>
                  <a:gd name="T9" fmla="*/ 17 h 24"/>
                  <a:gd name="T10" fmla="*/ 52 w 53"/>
                  <a:gd name="T11" fmla="*/ 14 h 24"/>
                  <a:gd name="T12" fmla="*/ 30 w 53"/>
                  <a:gd name="T13" fmla="*/ 5 h 24"/>
                  <a:gd name="T14" fmla="*/ 16 w 53"/>
                  <a:gd name="T15" fmla="*/ 0 h 24"/>
                  <a:gd name="T16" fmla="*/ 11 w 53"/>
                  <a:gd name="T17" fmla="*/ 0 h 24"/>
                  <a:gd name="T18" fmla="*/ 8 w 53"/>
                  <a:gd name="T19" fmla="*/ 0 h 24"/>
                  <a:gd name="T20" fmla="*/ 5 w 53"/>
                  <a:gd name="T21" fmla="*/ 0 h 24"/>
                  <a:gd name="T22" fmla="*/ 2 w 53"/>
                  <a:gd name="T23" fmla="*/ 0 h 24"/>
                  <a:gd name="T24" fmla="*/ 2 w 53"/>
                  <a:gd name="T25" fmla="*/ 2 h 24"/>
                  <a:gd name="T26" fmla="*/ 0 w 53"/>
                  <a:gd name="T27" fmla="*/ 2 h 24"/>
                  <a:gd name="T28" fmla="*/ 2 w 53"/>
                  <a:gd name="T29" fmla="*/ 5 h 24"/>
                  <a:gd name="T30" fmla="*/ 8 w 53"/>
                  <a:gd name="T31" fmla="*/ 5 h 24"/>
                  <a:gd name="T32" fmla="*/ 21 w 53"/>
                  <a:gd name="T33" fmla="*/ 11 h 24"/>
                  <a:gd name="T34" fmla="*/ 30 w 53"/>
                  <a:gd name="T35" fmla="*/ 14 h 24"/>
                  <a:gd name="T36" fmla="*/ 38 w 53"/>
                  <a:gd name="T37" fmla="*/ 17 h 24"/>
                  <a:gd name="T38" fmla="*/ 40 w 53"/>
                  <a:gd name="T39" fmla="*/ 20 h 24"/>
                  <a:gd name="T40" fmla="*/ 44 w 53"/>
                  <a:gd name="T41" fmla="*/ 20 h 24"/>
                  <a:gd name="T42" fmla="*/ 46 w 53"/>
                  <a:gd name="T43" fmla="*/ 23 h 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3"/>
                  <a:gd name="T67" fmla="*/ 0 h 24"/>
                  <a:gd name="T68" fmla="*/ 53 w 53"/>
                  <a:gd name="T69" fmla="*/ 24 h 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3" h="24">
                    <a:moveTo>
                      <a:pt x="46" y="23"/>
                    </a:moveTo>
                    <a:lnTo>
                      <a:pt x="46" y="23"/>
                    </a:lnTo>
                    <a:lnTo>
                      <a:pt x="49" y="23"/>
                    </a:lnTo>
                    <a:lnTo>
                      <a:pt x="49" y="20"/>
                    </a:lnTo>
                    <a:lnTo>
                      <a:pt x="49" y="17"/>
                    </a:lnTo>
                    <a:lnTo>
                      <a:pt x="52" y="14"/>
                    </a:lnTo>
                    <a:lnTo>
                      <a:pt x="30" y="5"/>
                    </a:lnTo>
                    <a:lnTo>
                      <a:pt x="16" y="0"/>
                    </a:lnTo>
                    <a:lnTo>
                      <a:pt x="11" y="0"/>
                    </a:lnTo>
                    <a:lnTo>
                      <a:pt x="8" y="0"/>
                    </a:lnTo>
                    <a:lnTo>
                      <a:pt x="5" y="0"/>
                    </a:lnTo>
                    <a:lnTo>
                      <a:pt x="2" y="0"/>
                    </a:lnTo>
                    <a:lnTo>
                      <a:pt x="2" y="2"/>
                    </a:lnTo>
                    <a:lnTo>
                      <a:pt x="0" y="2"/>
                    </a:lnTo>
                    <a:lnTo>
                      <a:pt x="2" y="5"/>
                    </a:lnTo>
                    <a:lnTo>
                      <a:pt x="8" y="5"/>
                    </a:lnTo>
                    <a:lnTo>
                      <a:pt x="21" y="11"/>
                    </a:lnTo>
                    <a:lnTo>
                      <a:pt x="30" y="14"/>
                    </a:lnTo>
                    <a:lnTo>
                      <a:pt x="38" y="17"/>
                    </a:lnTo>
                    <a:lnTo>
                      <a:pt x="40" y="20"/>
                    </a:lnTo>
                    <a:lnTo>
                      <a:pt x="44" y="20"/>
                    </a:lnTo>
                    <a:lnTo>
                      <a:pt x="46" y="23"/>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40" name="Freeform 218"/>
              <p:cNvSpPr/>
              <p:nvPr/>
            </p:nvSpPr>
            <p:spPr bwMode="auto">
              <a:xfrm>
                <a:off x="2216" y="1942"/>
                <a:ext cx="49" cy="24"/>
              </a:xfrm>
              <a:custGeom>
                <a:avLst/>
                <a:gdLst>
                  <a:gd name="T0" fmla="*/ 45 w 49"/>
                  <a:gd name="T1" fmla="*/ 23 h 24"/>
                  <a:gd name="T2" fmla="*/ 45 w 49"/>
                  <a:gd name="T3" fmla="*/ 23 h 24"/>
                  <a:gd name="T4" fmla="*/ 48 w 49"/>
                  <a:gd name="T5" fmla="*/ 23 h 24"/>
                  <a:gd name="T6" fmla="*/ 48 w 49"/>
                  <a:gd name="T7" fmla="*/ 20 h 24"/>
                  <a:gd name="T8" fmla="*/ 48 w 49"/>
                  <a:gd name="T9" fmla="*/ 17 h 24"/>
                  <a:gd name="T10" fmla="*/ 48 w 49"/>
                  <a:gd name="T11" fmla="*/ 14 h 24"/>
                  <a:gd name="T12" fmla="*/ 29 w 49"/>
                  <a:gd name="T13" fmla="*/ 6 h 24"/>
                  <a:gd name="T14" fmla="*/ 16 w 49"/>
                  <a:gd name="T15" fmla="*/ 0 h 24"/>
                  <a:gd name="T16" fmla="*/ 10 w 49"/>
                  <a:gd name="T17" fmla="*/ 0 h 24"/>
                  <a:gd name="T18" fmla="*/ 8 w 49"/>
                  <a:gd name="T19" fmla="*/ 0 h 24"/>
                  <a:gd name="T20" fmla="*/ 5 w 49"/>
                  <a:gd name="T21" fmla="*/ 0 h 24"/>
                  <a:gd name="T22" fmla="*/ 2 w 49"/>
                  <a:gd name="T23" fmla="*/ 0 h 24"/>
                  <a:gd name="T24" fmla="*/ 2 w 49"/>
                  <a:gd name="T25" fmla="*/ 2 h 24"/>
                  <a:gd name="T26" fmla="*/ 0 w 49"/>
                  <a:gd name="T27" fmla="*/ 2 h 24"/>
                  <a:gd name="T28" fmla="*/ 0 w 49"/>
                  <a:gd name="T29" fmla="*/ 6 h 24"/>
                  <a:gd name="T30" fmla="*/ 2 w 49"/>
                  <a:gd name="T31" fmla="*/ 6 h 24"/>
                  <a:gd name="T32" fmla="*/ 8 w 49"/>
                  <a:gd name="T33" fmla="*/ 6 h 24"/>
                  <a:gd name="T34" fmla="*/ 21 w 49"/>
                  <a:gd name="T35" fmla="*/ 11 h 24"/>
                  <a:gd name="T36" fmla="*/ 29 w 49"/>
                  <a:gd name="T37" fmla="*/ 14 h 24"/>
                  <a:gd name="T38" fmla="*/ 37 w 49"/>
                  <a:gd name="T39" fmla="*/ 17 h 24"/>
                  <a:gd name="T40" fmla="*/ 40 w 49"/>
                  <a:gd name="T41" fmla="*/ 20 h 24"/>
                  <a:gd name="T42" fmla="*/ 42 w 49"/>
                  <a:gd name="T43" fmla="*/ 20 h 24"/>
                  <a:gd name="T44" fmla="*/ 42 w 49"/>
                  <a:gd name="T45" fmla="*/ 23 h 24"/>
                  <a:gd name="T46" fmla="*/ 45 w 49"/>
                  <a:gd name="T47" fmla="*/ 23 h 2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
                  <a:gd name="T73" fmla="*/ 0 h 24"/>
                  <a:gd name="T74" fmla="*/ 49 w 49"/>
                  <a:gd name="T75" fmla="*/ 24 h 2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 h="24">
                    <a:moveTo>
                      <a:pt x="45" y="23"/>
                    </a:moveTo>
                    <a:lnTo>
                      <a:pt x="45" y="23"/>
                    </a:lnTo>
                    <a:lnTo>
                      <a:pt x="48" y="23"/>
                    </a:lnTo>
                    <a:lnTo>
                      <a:pt x="48" y="20"/>
                    </a:lnTo>
                    <a:lnTo>
                      <a:pt x="48" y="17"/>
                    </a:lnTo>
                    <a:lnTo>
                      <a:pt x="48" y="14"/>
                    </a:lnTo>
                    <a:lnTo>
                      <a:pt x="29" y="6"/>
                    </a:lnTo>
                    <a:lnTo>
                      <a:pt x="16" y="0"/>
                    </a:lnTo>
                    <a:lnTo>
                      <a:pt x="10" y="0"/>
                    </a:lnTo>
                    <a:lnTo>
                      <a:pt x="8" y="0"/>
                    </a:lnTo>
                    <a:lnTo>
                      <a:pt x="5" y="0"/>
                    </a:lnTo>
                    <a:lnTo>
                      <a:pt x="2" y="0"/>
                    </a:lnTo>
                    <a:lnTo>
                      <a:pt x="2" y="2"/>
                    </a:lnTo>
                    <a:lnTo>
                      <a:pt x="0" y="2"/>
                    </a:lnTo>
                    <a:lnTo>
                      <a:pt x="0" y="6"/>
                    </a:lnTo>
                    <a:lnTo>
                      <a:pt x="2" y="6"/>
                    </a:lnTo>
                    <a:lnTo>
                      <a:pt x="8" y="6"/>
                    </a:lnTo>
                    <a:lnTo>
                      <a:pt x="21" y="11"/>
                    </a:lnTo>
                    <a:lnTo>
                      <a:pt x="29" y="14"/>
                    </a:lnTo>
                    <a:lnTo>
                      <a:pt x="37" y="17"/>
                    </a:lnTo>
                    <a:lnTo>
                      <a:pt x="40" y="20"/>
                    </a:lnTo>
                    <a:lnTo>
                      <a:pt x="42" y="20"/>
                    </a:lnTo>
                    <a:lnTo>
                      <a:pt x="42" y="23"/>
                    </a:lnTo>
                    <a:lnTo>
                      <a:pt x="45" y="23"/>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41" name="Freeform 219"/>
              <p:cNvSpPr/>
              <p:nvPr/>
            </p:nvSpPr>
            <p:spPr bwMode="auto">
              <a:xfrm>
                <a:off x="2320" y="1889"/>
                <a:ext cx="46" cy="20"/>
              </a:xfrm>
              <a:custGeom>
                <a:avLst/>
                <a:gdLst>
                  <a:gd name="T0" fmla="*/ 34 w 46"/>
                  <a:gd name="T1" fmla="*/ 19 h 20"/>
                  <a:gd name="T2" fmla="*/ 34 w 46"/>
                  <a:gd name="T3" fmla="*/ 19 h 20"/>
                  <a:gd name="T4" fmla="*/ 36 w 46"/>
                  <a:gd name="T5" fmla="*/ 19 h 20"/>
                  <a:gd name="T6" fmla="*/ 39 w 46"/>
                  <a:gd name="T7" fmla="*/ 19 h 20"/>
                  <a:gd name="T8" fmla="*/ 45 w 46"/>
                  <a:gd name="T9" fmla="*/ 16 h 20"/>
                  <a:gd name="T10" fmla="*/ 28 w 46"/>
                  <a:gd name="T11" fmla="*/ 8 h 20"/>
                  <a:gd name="T12" fmla="*/ 16 w 46"/>
                  <a:gd name="T13" fmla="*/ 2 h 20"/>
                  <a:gd name="T14" fmla="*/ 10 w 46"/>
                  <a:gd name="T15" fmla="*/ 0 h 20"/>
                  <a:gd name="T16" fmla="*/ 8 w 46"/>
                  <a:gd name="T17" fmla="*/ 0 h 20"/>
                  <a:gd name="T18" fmla="*/ 5 w 46"/>
                  <a:gd name="T19" fmla="*/ 2 h 20"/>
                  <a:gd name="T20" fmla="*/ 2 w 46"/>
                  <a:gd name="T21" fmla="*/ 2 h 20"/>
                  <a:gd name="T22" fmla="*/ 2 w 46"/>
                  <a:gd name="T23" fmla="*/ 5 h 20"/>
                  <a:gd name="T24" fmla="*/ 0 w 46"/>
                  <a:gd name="T25" fmla="*/ 5 h 20"/>
                  <a:gd name="T26" fmla="*/ 2 w 46"/>
                  <a:gd name="T27" fmla="*/ 5 h 20"/>
                  <a:gd name="T28" fmla="*/ 5 w 46"/>
                  <a:gd name="T29" fmla="*/ 8 h 20"/>
                  <a:gd name="T30" fmla="*/ 16 w 46"/>
                  <a:gd name="T31" fmla="*/ 10 h 20"/>
                  <a:gd name="T32" fmla="*/ 20 w 46"/>
                  <a:gd name="T33" fmla="*/ 13 h 20"/>
                  <a:gd name="T34" fmla="*/ 26 w 46"/>
                  <a:gd name="T35" fmla="*/ 16 h 20"/>
                  <a:gd name="T36" fmla="*/ 28 w 46"/>
                  <a:gd name="T37" fmla="*/ 16 h 20"/>
                  <a:gd name="T38" fmla="*/ 32 w 46"/>
                  <a:gd name="T39" fmla="*/ 16 h 20"/>
                  <a:gd name="T40" fmla="*/ 32 w 46"/>
                  <a:gd name="T41" fmla="*/ 19 h 20"/>
                  <a:gd name="T42" fmla="*/ 34 w 46"/>
                  <a:gd name="T43" fmla="*/ 19 h 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6"/>
                  <a:gd name="T67" fmla="*/ 0 h 20"/>
                  <a:gd name="T68" fmla="*/ 46 w 46"/>
                  <a:gd name="T69" fmla="*/ 20 h 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6" h="20">
                    <a:moveTo>
                      <a:pt x="34" y="19"/>
                    </a:moveTo>
                    <a:lnTo>
                      <a:pt x="34" y="19"/>
                    </a:lnTo>
                    <a:lnTo>
                      <a:pt x="36" y="19"/>
                    </a:lnTo>
                    <a:lnTo>
                      <a:pt x="39" y="19"/>
                    </a:lnTo>
                    <a:lnTo>
                      <a:pt x="45" y="16"/>
                    </a:lnTo>
                    <a:lnTo>
                      <a:pt x="28" y="8"/>
                    </a:lnTo>
                    <a:lnTo>
                      <a:pt x="16" y="2"/>
                    </a:lnTo>
                    <a:lnTo>
                      <a:pt x="10" y="0"/>
                    </a:lnTo>
                    <a:lnTo>
                      <a:pt x="8" y="0"/>
                    </a:lnTo>
                    <a:lnTo>
                      <a:pt x="5" y="2"/>
                    </a:lnTo>
                    <a:lnTo>
                      <a:pt x="2" y="2"/>
                    </a:lnTo>
                    <a:lnTo>
                      <a:pt x="2" y="5"/>
                    </a:lnTo>
                    <a:lnTo>
                      <a:pt x="0" y="5"/>
                    </a:lnTo>
                    <a:lnTo>
                      <a:pt x="2" y="5"/>
                    </a:lnTo>
                    <a:lnTo>
                      <a:pt x="5" y="8"/>
                    </a:lnTo>
                    <a:lnTo>
                      <a:pt x="16" y="10"/>
                    </a:lnTo>
                    <a:lnTo>
                      <a:pt x="20" y="13"/>
                    </a:lnTo>
                    <a:lnTo>
                      <a:pt x="26" y="16"/>
                    </a:lnTo>
                    <a:lnTo>
                      <a:pt x="28" y="16"/>
                    </a:lnTo>
                    <a:lnTo>
                      <a:pt x="32" y="16"/>
                    </a:lnTo>
                    <a:lnTo>
                      <a:pt x="32" y="19"/>
                    </a:lnTo>
                    <a:lnTo>
                      <a:pt x="34" y="19"/>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342" name="Freeform 220"/>
              <p:cNvSpPr/>
              <p:nvPr/>
            </p:nvSpPr>
            <p:spPr bwMode="auto">
              <a:xfrm>
                <a:off x="2417" y="1837"/>
                <a:ext cx="47" cy="24"/>
              </a:xfrm>
              <a:custGeom>
                <a:avLst/>
                <a:gdLst>
                  <a:gd name="T0" fmla="*/ 34 w 47"/>
                  <a:gd name="T1" fmla="*/ 23 h 24"/>
                  <a:gd name="T2" fmla="*/ 34 w 47"/>
                  <a:gd name="T3" fmla="*/ 23 h 24"/>
                  <a:gd name="T4" fmla="*/ 38 w 47"/>
                  <a:gd name="T5" fmla="*/ 23 h 24"/>
                  <a:gd name="T6" fmla="*/ 40 w 47"/>
                  <a:gd name="T7" fmla="*/ 20 h 24"/>
                  <a:gd name="T8" fmla="*/ 46 w 47"/>
                  <a:gd name="T9" fmla="*/ 14 h 24"/>
                  <a:gd name="T10" fmla="*/ 30 w 47"/>
                  <a:gd name="T11" fmla="*/ 8 h 24"/>
                  <a:gd name="T12" fmla="*/ 11 w 47"/>
                  <a:gd name="T13" fmla="*/ 0 h 24"/>
                  <a:gd name="T14" fmla="*/ 7 w 47"/>
                  <a:gd name="T15" fmla="*/ 0 h 24"/>
                  <a:gd name="T16" fmla="*/ 5 w 47"/>
                  <a:gd name="T17" fmla="*/ 2 h 24"/>
                  <a:gd name="T18" fmla="*/ 2 w 47"/>
                  <a:gd name="T19" fmla="*/ 5 h 24"/>
                  <a:gd name="T20" fmla="*/ 0 w 47"/>
                  <a:gd name="T21" fmla="*/ 5 h 24"/>
                  <a:gd name="T22" fmla="*/ 2 w 47"/>
                  <a:gd name="T23" fmla="*/ 5 h 24"/>
                  <a:gd name="T24" fmla="*/ 5 w 47"/>
                  <a:gd name="T25" fmla="*/ 8 h 24"/>
                  <a:gd name="T26" fmla="*/ 15 w 47"/>
                  <a:gd name="T27" fmla="*/ 11 h 24"/>
                  <a:gd name="T28" fmla="*/ 21 w 47"/>
                  <a:gd name="T29" fmla="*/ 14 h 24"/>
                  <a:gd name="T30" fmla="*/ 26 w 47"/>
                  <a:gd name="T31" fmla="*/ 17 h 24"/>
                  <a:gd name="T32" fmla="*/ 32 w 47"/>
                  <a:gd name="T33" fmla="*/ 20 h 24"/>
                  <a:gd name="T34" fmla="*/ 34 w 47"/>
                  <a:gd name="T35" fmla="*/ 23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7"/>
                  <a:gd name="T55" fmla="*/ 0 h 24"/>
                  <a:gd name="T56" fmla="*/ 47 w 47"/>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7" h="24">
                    <a:moveTo>
                      <a:pt x="34" y="23"/>
                    </a:moveTo>
                    <a:lnTo>
                      <a:pt x="34" y="23"/>
                    </a:lnTo>
                    <a:lnTo>
                      <a:pt x="38" y="23"/>
                    </a:lnTo>
                    <a:lnTo>
                      <a:pt x="40" y="20"/>
                    </a:lnTo>
                    <a:lnTo>
                      <a:pt x="46" y="14"/>
                    </a:lnTo>
                    <a:lnTo>
                      <a:pt x="30" y="8"/>
                    </a:lnTo>
                    <a:lnTo>
                      <a:pt x="11" y="0"/>
                    </a:lnTo>
                    <a:lnTo>
                      <a:pt x="7" y="0"/>
                    </a:lnTo>
                    <a:lnTo>
                      <a:pt x="5" y="2"/>
                    </a:lnTo>
                    <a:lnTo>
                      <a:pt x="2" y="5"/>
                    </a:lnTo>
                    <a:lnTo>
                      <a:pt x="0" y="5"/>
                    </a:lnTo>
                    <a:lnTo>
                      <a:pt x="2" y="5"/>
                    </a:lnTo>
                    <a:lnTo>
                      <a:pt x="5" y="8"/>
                    </a:lnTo>
                    <a:lnTo>
                      <a:pt x="15" y="11"/>
                    </a:lnTo>
                    <a:lnTo>
                      <a:pt x="21" y="14"/>
                    </a:lnTo>
                    <a:lnTo>
                      <a:pt x="26" y="17"/>
                    </a:lnTo>
                    <a:lnTo>
                      <a:pt x="32" y="20"/>
                    </a:lnTo>
                    <a:lnTo>
                      <a:pt x="34" y="23"/>
                    </a:lnTo>
                  </a:path>
                </a:pathLst>
              </a:custGeom>
              <a:solidFill>
                <a:srgbClr val="BDB597"/>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208" name="Rectangle 221"/>
            <p:cNvSpPr>
              <a:spLocks noChangeArrowheads="1"/>
            </p:cNvSpPr>
            <p:nvPr/>
          </p:nvSpPr>
          <p:spPr bwMode="auto">
            <a:xfrm>
              <a:off x="2390" y="2076"/>
              <a:ext cx="442" cy="40"/>
            </a:xfrm>
            <a:prstGeom prst="rect">
              <a:avLst/>
            </a:prstGeom>
            <a:gradFill rotWithShape="0">
              <a:gsLst>
                <a:gs pos="0">
                  <a:srgbClr val="05B5DE"/>
                </a:gs>
                <a:gs pos="100000">
                  <a:srgbClr val="E6F7FC"/>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767" name="Rectangle 222"/>
            <p:cNvSpPr>
              <a:spLocks noChangeArrowheads="1"/>
            </p:cNvSpPr>
            <p:nvPr/>
          </p:nvSpPr>
          <p:spPr bwMode="auto">
            <a:xfrm>
              <a:off x="352" y="3121"/>
              <a:ext cx="1400" cy="175"/>
            </a:xfrm>
            <a:prstGeom prst="rect">
              <a:avLst/>
            </a:prstGeom>
            <a:noFill/>
            <a:ln w="9525">
              <a:noFill/>
              <a:miter lim="800000"/>
            </a:ln>
          </p:spPr>
          <p:txBody>
            <a:bodyPr lIns="117191" tIns="58595" rIns="117191" bIns="58595">
              <a:spAutoFit/>
            </a:bodyPr>
            <a:lstStyle/>
            <a:p>
              <a:pPr algn="ctr" defTabSz="979805">
                <a:lnSpc>
                  <a:spcPct val="85000"/>
                </a:lnSpc>
                <a:defRPr/>
              </a:pPr>
              <a:r>
                <a:rPr kumimoji="1" lang="zh-CN" altLang="en-US" sz="1725" b="1">
                  <a:effectLst>
                    <a:outerShdw blurRad="38100" dist="38100" dir="2700000" algn="tl">
                      <a:srgbClr val="C0C0C0"/>
                    </a:outerShdw>
                  </a:effectLst>
                  <a:latin typeface="ACaslon Bold"/>
                </a:rPr>
                <a:t>技术部门</a:t>
              </a:r>
              <a:endParaRPr kumimoji="1" lang="zh-CN" altLang="en-US" sz="1725" b="1">
                <a:effectLst>
                  <a:outerShdw blurRad="38100" dist="38100" dir="2700000" algn="tl">
                    <a:srgbClr val="C0C0C0"/>
                  </a:outerShdw>
                </a:effectLst>
                <a:latin typeface="ACaslon Bold"/>
              </a:endParaRPr>
            </a:p>
          </p:txBody>
        </p:sp>
        <p:grpSp>
          <p:nvGrpSpPr>
            <p:cNvPr id="44210" name="Group 223"/>
            <p:cNvGrpSpPr/>
            <p:nvPr/>
          </p:nvGrpSpPr>
          <p:grpSpPr bwMode="auto">
            <a:xfrm>
              <a:off x="2653" y="1995"/>
              <a:ext cx="258" cy="202"/>
              <a:chOff x="2653" y="1995"/>
              <a:chExt cx="258" cy="202"/>
            </a:xfrm>
          </p:grpSpPr>
          <p:grpSp>
            <p:nvGrpSpPr>
              <p:cNvPr id="44276" name="Group 224"/>
              <p:cNvGrpSpPr/>
              <p:nvPr/>
            </p:nvGrpSpPr>
            <p:grpSpPr bwMode="auto">
              <a:xfrm>
                <a:off x="2654" y="2065"/>
                <a:ext cx="142" cy="132"/>
                <a:chOff x="2654" y="2065"/>
                <a:chExt cx="142" cy="132"/>
              </a:xfrm>
            </p:grpSpPr>
            <p:sp>
              <p:nvSpPr>
                <p:cNvPr id="44283" name="Freeform 225"/>
                <p:cNvSpPr/>
                <p:nvPr/>
              </p:nvSpPr>
              <p:spPr bwMode="auto">
                <a:xfrm>
                  <a:off x="2654" y="2066"/>
                  <a:ext cx="136" cy="124"/>
                </a:xfrm>
                <a:custGeom>
                  <a:avLst/>
                  <a:gdLst>
                    <a:gd name="T0" fmla="*/ 135 w 136"/>
                    <a:gd name="T1" fmla="*/ 33 h 124"/>
                    <a:gd name="T2" fmla="*/ 135 w 136"/>
                    <a:gd name="T3" fmla="*/ 123 h 124"/>
                    <a:gd name="T4" fmla="*/ 0 w 136"/>
                    <a:gd name="T5" fmla="*/ 83 h 124"/>
                    <a:gd name="T6" fmla="*/ 0 w 136"/>
                    <a:gd name="T7" fmla="*/ 0 h 124"/>
                    <a:gd name="T8" fmla="*/ 135 w 136"/>
                    <a:gd name="T9" fmla="*/ 33 h 124"/>
                    <a:gd name="T10" fmla="*/ 0 60000 65536"/>
                    <a:gd name="T11" fmla="*/ 0 60000 65536"/>
                    <a:gd name="T12" fmla="*/ 0 60000 65536"/>
                    <a:gd name="T13" fmla="*/ 0 60000 65536"/>
                    <a:gd name="T14" fmla="*/ 0 60000 65536"/>
                    <a:gd name="T15" fmla="*/ 0 w 136"/>
                    <a:gd name="T16" fmla="*/ 0 h 124"/>
                    <a:gd name="T17" fmla="*/ 136 w 136"/>
                    <a:gd name="T18" fmla="*/ 124 h 124"/>
                  </a:gdLst>
                  <a:ahLst/>
                  <a:cxnLst>
                    <a:cxn ang="T10">
                      <a:pos x="T0" y="T1"/>
                    </a:cxn>
                    <a:cxn ang="T11">
                      <a:pos x="T2" y="T3"/>
                    </a:cxn>
                    <a:cxn ang="T12">
                      <a:pos x="T4" y="T5"/>
                    </a:cxn>
                    <a:cxn ang="T13">
                      <a:pos x="T6" y="T7"/>
                    </a:cxn>
                    <a:cxn ang="T14">
                      <a:pos x="T8" y="T9"/>
                    </a:cxn>
                  </a:cxnLst>
                  <a:rect l="T15" t="T16" r="T17" b="T18"/>
                  <a:pathLst>
                    <a:path w="136" h="124">
                      <a:moveTo>
                        <a:pt x="135" y="33"/>
                      </a:moveTo>
                      <a:lnTo>
                        <a:pt x="135" y="123"/>
                      </a:lnTo>
                      <a:lnTo>
                        <a:pt x="0" y="83"/>
                      </a:lnTo>
                      <a:lnTo>
                        <a:pt x="0" y="0"/>
                      </a:lnTo>
                      <a:lnTo>
                        <a:pt x="135" y="33"/>
                      </a:lnTo>
                    </a:path>
                  </a:pathLst>
                </a:custGeom>
                <a:gradFill rotWithShape="0">
                  <a:gsLst>
                    <a:gs pos="0">
                      <a:srgbClr val="D49FFF"/>
                    </a:gs>
                    <a:gs pos="100000">
                      <a:srgbClr val="3F2F4C"/>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84" name="Freeform 226"/>
                <p:cNvSpPr/>
                <p:nvPr/>
              </p:nvSpPr>
              <p:spPr bwMode="auto">
                <a:xfrm>
                  <a:off x="2655" y="2065"/>
                  <a:ext cx="141" cy="132"/>
                </a:xfrm>
                <a:custGeom>
                  <a:avLst/>
                  <a:gdLst>
                    <a:gd name="T0" fmla="*/ 140 w 141"/>
                    <a:gd name="T1" fmla="*/ 36 h 132"/>
                    <a:gd name="T2" fmla="*/ 140 w 141"/>
                    <a:gd name="T3" fmla="*/ 131 h 132"/>
                    <a:gd name="T4" fmla="*/ 0 w 141"/>
                    <a:gd name="T5" fmla="*/ 88 h 132"/>
                    <a:gd name="T6" fmla="*/ 0 w 141"/>
                    <a:gd name="T7" fmla="*/ 0 h 132"/>
                    <a:gd name="T8" fmla="*/ 140 w 141"/>
                    <a:gd name="T9" fmla="*/ 36 h 132"/>
                    <a:gd name="T10" fmla="*/ 0 60000 65536"/>
                    <a:gd name="T11" fmla="*/ 0 60000 65536"/>
                    <a:gd name="T12" fmla="*/ 0 60000 65536"/>
                    <a:gd name="T13" fmla="*/ 0 60000 65536"/>
                    <a:gd name="T14" fmla="*/ 0 60000 65536"/>
                    <a:gd name="T15" fmla="*/ 0 w 141"/>
                    <a:gd name="T16" fmla="*/ 0 h 132"/>
                    <a:gd name="T17" fmla="*/ 141 w 141"/>
                    <a:gd name="T18" fmla="*/ 132 h 132"/>
                  </a:gdLst>
                  <a:ahLst/>
                  <a:cxnLst>
                    <a:cxn ang="T10">
                      <a:pos x="T0" y="T1"/>
                    </a:cxn>
                    <a:cxn ang="T11">
                      <a:pos x="T2" y="T3"/>
                    </a:cxn>
                    <a:cxn ang="T12">
                      <a:pos x="T4" y="T5"/>
                    </a:cxn>
                    <a:cxn ang="T13">
                      <a:pos x="T6" y="T7"/>
                    </a:cxn>
                    <a:cxn ang="T14">
                      <a:pos x="T8" y="T9"/>
                    </a:cxn>
                  </a:cxnLst>
                  <a:rect l="T15" t="T16" r="T17" b="T18"/>
                  <a:pathLst>
                    <a:path w="141" h="132">
                      <a:moveTo>
                        <a:pt x="140" y="36"/>
                      </a:moveTo>
                      <a:lnTo>
                        <a:pt x="140" y="131"/>
                      </a:lnTo>
                      <a:lnTo>
                        <a:pt x="0" y="88"/>
                      </a:lnTo>
                      <a:lnTo>
                        <a:pt x="0" y="0"/>
                      </a:lnTo>
                      <a:lnTo>
                        <a:pt x="140" y="36"/>
                      </a:lnTo>
                    </a:path>
                  </a:pathLst>
                </a:custGeom>
                <a:gradFill rotWithShape="0">
                  <a:gsLst>
                    <a:gs pos="0">
                      <a:srgbClr val="D49FFF"/>
                    </a:gs>
                    <a:gs pos="100000">
                      <a:srgbClr val="3F2F4C"/>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277" name="Group 227"/>
              <p:cNvGrpSpPr/>
              <p:nvPr/>
            </p:nvGrpSpPr>
            <p:grpSpPr bwMode="auto">
              <a:xfrm>
                <a:off x="2653" y="1995"/>
                <a:ext cx="256" cy="108"/>
                <a:chOff x="2653" y="1995"/>
                <a:chExt cx="256" cy="108"/>
              </a:xfrm>
            </p:grpSpPr>
            <p:sp>
              <p:nvSpPr>
                <p:cNvPr id="44281" name="Freeform 228"/>
                <p:cNvSpPr/>
                <p:nvPr/>
              </p:nvSpPr>
              <p:spPr bwMode="auto">
                <a:xfrm>
                  <a:off x="2654" y="1995"/>
                  <a:ext cx="249" cy="103"/>
                </a:xfrm>
                <a:custGeom>
                  <a:avLst/>
                  <a:gdLst>
                    <a:gd name="T0" fmla="*/ 137 w 249"/>
                    <a:gd name="T1" fmla="*/ 102 h 103"/>
                    <a:gd name="T2" fmla="*/ 0 w 249"/>
                    <a:gd name="T3" fmla="*/ 68 h 103"/>
                    <a:gd name="T4" fmla="*/ 129 w 249"/>
                    <a:gd name="T5" fmla="*/ 0 h 103"/>
                    <a:gd name="T6" fmla="*/ 248 w 249"/>
                    <a:gd name="T7" fmla="*/ 27 h 103"/>
                    <a:gd name="T8" fmla="*/ 137 w 249"/>
                    <a:gd name="T9" fmla="*/ 102 h 103"/>
                    <a:gd name="T10" fmla="*/ 0 60000 65536"/>
                    <a:gd name="T11" fmla="*/ 0 60000 65536"/>
                    <a:gd name="T12" fmla="*/ 0 60000 65536"/>
                    <a:gd name="T13" fmla="*/ 0 60000 65536"/>
                    <a:gd name="T14" fmla="*/ 0 60000 65536"/>
                    <a:gd name="T15" fmla="*/ 0 w 249"/>
                    <a:gd name="T16" fmla="*/ 0 h 103"/>
                    <a:gd name="T17" fmla="*/ 249 w 249"/>
                    <a:gd name="T18" fmla="*/ 103 h 103"/>
                  </a:gdLst>
                  <a:ahLst/>
                  <a:cxnLst>
                    <a:cxn ang="T10">
                      <a:pos x="T0" y="T1"/>
                    </a:cxn>
                    <a:cxn ang="T11">
                      <a:pos x="T2" y="T3"/>
                    </a:cxn>
                    <a:cxn ang="T12">
                      <a:pos x="T4" y="T5"/>
                    </a:cxn>
                    <a:cxn ang="T13">
                      <a:pos x="T6" y="T7"/>
                    </a:cxn>
                    <a:cxn ang="T14">
                      <a:pos x="T8" y="T9"/>
                    </a:cxn>
                  </a:cxnLst>
                  <a:rect l="T15" t="T16" r="T17" b="T18"/>
                  <a:pathLst>
                    <a:path w="249" h="103">
                      <a:moveTo>
                        <a:pt x="137" y="102"/>
                      </a:moveTo>
                      <a:lnTo>
                        <a:pt x="0" y="68"/>
                      </a:lnTo>
                      <a:lnTo>
                        <a:pt x="129" y="0"/>
                      </a:lnTo>
                      <a:lnTo>
                        <a:pt x="248" y="27"/>
                      </a:lnTo>
                      <a:lnTo>
                        <a:pt x="137" y="102"/>
                      </a:lnTo>
                    </a:path>
                  </a:pathLst>
                </a:custGeom>
                <a:solidFill>
                  <a:srgbClr val="D49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82" name="Freeform 229"/>
                <p:cNvSpPr/>
                <p:nvPr/>
              </p:nvSpPr>
              <p:spPr bwMode="auto">
                <a:xfrm>
                  <a:off x="2653" y="1995"/>
                  <a:ext cx="256" cy="108"/>
                </a:xfrm>
                <a:custGeom>
                  <a:avLst/>
                  <a:gdLst>
                    <a:gd name="T0" fmla="*/ 141 w 256"/>
                    <a:gd name="T1" fmla="*/ 107 h 108"/>
                    <a:gd name="T2" fmla="*/ 0 w 256"/>
                    <a:gd name="T3" fmla="*/ 71 h 108"/>
                    <a:gd name="T4" fmla="*/ 133 w 256"/>
                    <a:gd name="T5" fmla="*/ 0 h 108"/>
                    <a:gd name="T6" fmla="*/ 255 w 256"/>
                    <a:gd name="T7" fmla="*/ 28 h 108"/>
                    <a:gd name="T8" fmla="*/ 141 w 256"/>
                    <a:gd name="T9" fmla="*/ 107 h 108"/>
                    <a:gd name="T10" fmla="*/ 0 60000 65536"/>
                    <a:gd name="T11" fmla="*/ 0 60000 65536"/>
                    <a:gd name="T12" fmla="*/ 0 60000 65536"/>
                    <a:gd name="T13" fmla="*/ 0 60000 65536"/>
                    <a:gd name="T14" fmla="*/ 0 60000 65536"/>
                    <a:gd name="T15" fmla="*/ 0 w 256"/>
                    <a:gd name="T16" fmla="*/ 0 h 108"/>
                    <a:gd name="T17" fmla="*/ 256 w 256"/>
                    <a:gd name="T18" fmla="*/ 108 h 108"/>
                  </a:gdLst>
                  <a:ahLst/>
                  <a:cxnLst>
                    <a:cxn ang="T10">
                      <a:pos x="T0" y="T1"/>
                    </a:cxn>
                    <a:cxn ang="T11">
                      <a:pos x="T2" y="T3"/>
                    </a:cxn>
                    <a:cxn ang="T12">
                      <a:pos x="T4" y="T5"/>
                    </a:cxn>
                    <a:cxn ang="T13">
                      <a:pos x="T6" y="T7"/>
                    </a:cxn>
                    <a:cxn ang="T14">
                      <a:pos x="T8" y="T9"/>
                    </a:cxn>
                  </a:cxnLst>
                  <a:rect l="T15" t="T16" r="T17" b="T18"/>
                  <a:pathLst>
                    <a:path w="256" h="108">
                      <a:moveTo>
                        <a:pt x="141" y="107"/>
                      </a:moveTo>
                      <a:lnTo>
                        <a:pt x="0" y="71"/>
                      </a:lnTo>
                      <a:lnTo>
                        <a:pt x="133" y="0"/>
                      </a:lnTo>
                      <a:lnTo>
                        <a:pt x="255" y="28"/>
                      </a:lnTo>
                      <a:lnTo>
                        <a:pt x="141" y="107"/>
                      </a:lnTo>
                    </a:path>
                  </a:pathLst>
                </a:custGeom>
                <a:solidFill>
                  <a:srgbClr val="D49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278" name="Group 230"/>
              <p:cNvGrpSpPr/>
              <p:nvPr/>
            </p:nvGrpSpPr>
            <p:grpSpPr bwMode="auto">
              <a:xfrm>
                <a:off x="2796" y="2022"/>
                <a:ext cx="115" cy="175"/>
                <a:chOff x="2796" y="2022"/>
                <a:chExt cx="115" cy="175"/>
              </a:xfrm>
            </p:grpSpPr>
            <p:sp>
              <p:nvSpPr>
                <p:cNvPr id="44279" name="Freeform 231"/>
                <p:cNvSpPr/>
                <p:nvPr/>
              </p:nvSpPr>
              <p:spPr bwMode="auto">
                <a:xfrm>
                  <a:off x="2797" y="2023"/>
                  <a:ext cx="108" cy="167"/>
                </a:xfrm>
                <a:custGeom>
                  <a:avLst/>
                  <a:gdLst>
                    <a:gd name="T0" fmla="*/ 107 w 108"/>
                    <a:gd name="T1" fmla="*/ 0 h 167"/>
                    <a:gd name="T2" fmla="*/ 0 w 108"/>
                    <a:gd name="T3" fmla="*/ 75 h 167"/>
                    <a:gd name="T4" fmla="*/ 0 w 108"/>
                    <a:gd name="T5" fmla="*/ 166 h 167"/>
                    <a:gd name="T6" fmla="*/ 107 w 108"/>
                    <a:gd name="T7" fmla="*/ 79 h 167"/>
                    <a:gd name="T8" fmla="*/ 107 w 108"/>
                    <a:gd name="T9" fmla="*/ 0 h 167"/>
                    <a:gd name="T10" fmla="*/ 0 60000 65536"/>
                    <a:gd name="T11" fmla="*/ 0 60000 65536"/>
                    <a:gd name="T12" fmla="*/ 0 60000 65536"/>
                    <a:gd name="T13" fmla="*/ 0 60000 65536"/>
                    <a:gd name="T14" fmla="*/ 0 60000 65536"/>
                    <a:gd name="T15" fmla="*/ 0 w 108"/>
                    <a:gd name="T16" fmla="*/ 0 h 167"/>
                    <a:gd name="T17" fmla="*/ 108 w 108"/>
                    <a:gd name="T18" fmla="*/ 167 h 167"/>
                  </a:gdLst>
                  <a:ahLst/>
                  <a:cxnLst>
                    <a:cxn ang="T10">
                      <a:pos x="T0" y="T1"/>
                    </a:cxn>
                    <a:cxn ang="T11">
                      <a:pos x="T2" y="T3"/>
                    </a:cxn>
                    <a:cxn ang="T12">
                      <a:pos x="T4" y="T5"/>
                    </a:cxn>
                    <a:cxn ang="T13">
                      <a:pos x="T6" y="T7"/>
                    </a:cxn>
                    <a:cxn ang="T14">
                      <a:pos x="T8" y="T9"/>
                    </a:cxn>
                  </a:cxnLst>
                  <a:rect l="T15" t="T16" r="T17" b="T18"/>
                  <a:pathLst>
                    <a:path w="108" h="167">
                      <a:moveTo>
                        <a:pt x="107" y="0"/>
                      </a:moveTo>
                      <a:lnTo>
                        <a:pt x="0" y="75"/>
                      </a:lnTo>
                      <a:lnTo>
                        <a:pt x="0" y="166"/>
                      </a:lnTo>
                      <a:lnTo>
                        <a:pt x="107" y="79"/>
                      </a:lnTo>
                      <a:lnTo>
                        <a:pt x="107" y="0"/>
                      </a:lnTo>
                    </a:path>
                  </a:pathLst>
                </a:custGeom>
                <a:gradFill rotWithShape="0">
                  <a:gsLst>
                    <a:gs pos="0">
                      <a:srgbClr val="44394C"/>
                    </a:gs>
                    <a:gs pos="100000">
                      <a:srgbClr val="E3BEF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80" name="Freeform 232"/>
                <p:cNvSpPr/>
                <p:nvPr/>
              </p:nvSpPr>
              <p:spPr bwMode="auto">
                <a:xfrm>
                  <a:off x="2796" y="2022"/>
                  <a:ext cx="115" cy="175"/>
                </a:xfrm>
                <a:custGeom>
                  <a:avLst/>
                  <a:gdLst>
                    <a:gd name="T0" fmla="*/ 114 w 115"/>
                    <a:gd name="T1" fmla="*/ 0 h 175"/>
                    <a:gd name="T2" fmla="*/ 0 w 115"/>
                    <a:gd name="T3" fmla="*/ 80 h 175"/>
                    <a:gd name="T4" fmla="*/ 0 w 115"/>
                    <a:gd name="T5" fmla="*/ 174 h 175"/>
                    <a:gd name="T6" fmla="*/ 114 w 115"/>
                    <a:gd name="T7" fmla="*/ 84 h 175"/>
                    <a:gd name="T8" fmla="*/ 114 w 115"/>
                    <a:gd name="T9" fmla="*/ 0 h 175"/>
                    <a:gd name="T10" fmla="*/ 0 60000 65536"/>
                    <a:gd name="T11" fmla="*/ 0 60000 65536"/>
                    <a:gd name="T12" fmla="*/ 0 60000 65536"/>
                    <a:gd name="T13" fmla="*/ 0 60000 65536"/>
                    <a:gd name="T14" fmla="*/ 0 60000 65536"/>
                    <a:gd name="T15" fmla="*/ 0 w 115"/>
                    <a:gd name="T16" fmla="*/ 0 h 175"/>
                    <a:gd name="T17" fmla="*/ 115 w 115"/>
                    <a:gd name="T18" fmla="*/ 175 h 175"/>
                  </a:gdLst>
                  <a:ahLst/>
                  <a:cxnLst>
                    <a:cxn ang="T10">
                      <a:pos x="T0" y="T1"/>
                    </a:cxn>
                    <a:cxn ang="T11">
                      <a:pos x="T2" y="T3"/>
                    </a:cxn>
                    <a:cxn ang="T12">
                      <a:pos x="T4" y="T5"/>
                    </a:cxn>
                    <a:cxn ang="T13">
                      <a:pos x="T6" y="T7"/>
                    </a:cxn>
                    <a:cxn ang="T14">
                      <a:pos x="T8" y="T9"/>
                    </a:cxn>
                  </a:cxnLst>
                  <a:rect l="T15" t="T16" r="T17" b="T18"/>
                  <a:pathLst>
                    <a:path w="115" h="175">
                      <a:moveTo>
                        <a:pt x="114" y="0"/>
                      </a:moveTo>
                      <a:lnTo>
                        <a:pt x="0" y="80"/>
                      </a:lnTo>
                      <a:lnTo>
                        <a:pt x="0" y="174"/>
                      </a:lnTo>
                      <a:lnTo>
                        <a:pt x="114" y="84"/>
                      </a:lnTo>
                      <a:lnTo>
                        <a:pt x="114" y="0"/>
                      </a:lnTo>
                    </a:path>
                  </a:pathLst>
                </a:custGeom>
                <a:gradFill rotWithShape="0">
                  <a:gsLst>
                    <a:gs pos="0">
                      <a:srgbClr val="44394C"/>
                    </a:gs>
                    <a:gs pos="100000">
                      <a:srgbClr val="E3BEF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sp>
          <p:nvSpPr>
            <p:cNvPr id="769" name="Rectangle 233"/>
            <p:cNvSpPr>
              <a:spLocks noChangeArrowheads="1"/>
            </p:cNvSpPr>
            <p:nvPr/>
          </p:nvSpPr>
          <p:spPr bwMode="auto">
            <a:xfrm>
              <a:off x="2600" y="1837"/>
              <a:ext cx="425" cy="175"/>
            </a:xfrm>
            <a:prstGeom prst="rect">
              <a:avLst/>
            </a:prstGeom>
            <a:noFill/>
            <a:ln w="9525">
              <a:noFill/>
              <a:miter lim="800000"/>
            </a:ln>
          </p:spPr>
          <p:txBody>
            <a:bodyPr lIns="117191" tIns="58595" rIns="117191" bIns="58595">
              <a:spAutoFit/>
            </a:bodyPr>
            <a:lstStyle/>
            <a:p>
              <a:pPr algn="ctr" defTabSz="979805">
                <a:lnSpc>
                  <a:spcPct val="85000"/>
                </a:lnSpc>
                <a:defRPr/>
              </a:pPr>
              <a:r>
                <a:rPr kumimoji="1" lang="zh-CN" altLang="en-US" sz="1725" b="1">
                  <a:effectLst>
                    <a:outerShdw blurRad="38100" dist="38100" dir="2700000" algn="tl">
                      <a:srgbClr val="C0C0C0"/>
                    </a:outerShdw>
                  </a:effectLst>
                  <a:latin typeface="ACaslon Bold"/>
                </a:rPr>
                <a:t>路由</a:t>
              </a:r>
              <a:endParaRPr kumimoji="1" lang="zh-CN" altLang="en-US" sz="1725" b="1">
                <a:effectLst>
                  <a:outerShdw blurRad="38100" dist="38100" dir="2700000" algn="tl">
                    <a:srgbClr val="C0C0C0"/>
                  </a:outerShdw>
                </a:effectLst>
                <a:latin typeface="ACaslon Bold"/>
              </a:endParaRPr>
            </a:p>
          </p:txBody>
        </p:sp>
        <p:sp>
          <p:nvSpPr>
            <p:cNvPr id="44212" name="Line 234"/>
            <p:cNvSpPr>
              <a:spLocks noChangeShapeType="1"/>
            </p:cNvSpPr>
            <p:nvPr/>
          </p:nvSpPr>
          <p:spPr bwMode="auto">
            <a:xfrm>
              <a:off x="1103" y="1252"/>
              <a:ext cx="445" cy="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13" name="Line 235"/>
            <p:cNvSpPr>
              <a:spLocks noChangeShapeType="1"/>
            </p:cNvSpPr>
            <p:nvPr/>
          </p:nvSpPr>
          <p:spPr bwMode="auto">
            <a:xfrm>
              <a:off x="1056" y="1868"/>
              <a:ext cx="540" cy="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14" name="Line 236"/>
            <p:cNvSpPr>
              <a:spLocks noChangeShapeType="1"/>
            </p:cNvSpPr>
            <p:nvPr/>
          </p:nvSpPr>
          <p:spPr bwMode="auto">
            <a:xfrm>
              <a:off x="1075" y="2484"/>
              <a:ext cx="557" cy="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15" name="Line 237"/>
            <p:cNvSpPr>
              <a:spLocks noChangeShapeType="1"/>
            </p:cNvSpPr>
            <p:nvPr/>
          </p:nvSpPr>
          <p:spPr bwMode="auto">
            <a:xfrm>
              <a:off x="1046" y="3088"/>
              <a:ext cx="346" cy="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16" name="Line 238"/>
            <p:cNvSpPr>
              <a:spLocks noChangeShapeType="1"/>
            </p:cNvSpPr>
            <p:nvPr/>
          </p:nvSpPr>
          <p:spPr bwMode="auto">
            <a:xfrm>
              <a:off x="1564" y="1868"/>
              <a:ext cx="345" cy="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17" name="Freeform 239"/>
            <p:cNvSpPr/>
            <p:nvPr/>
          </p:nvSpPr>
          <p:spPr bwMode="auto">
            <a:xfrm>
              <a:off x="1320" y="1244"/>
              <a:ext cx="599" cy="1841"/>
            </a:xfrm>
            <a:custGeom>
              <a:avLst/>
              <a:gdLst>
                <a:gd name="T0" fmla="*/ 0 w 599"/>
                <a:gd name="T1" fmla="*/ 0 h 1841"/>
                <a:gd name="T2" fmla="*/ 598 w 599"/>
                <a:gd name="T3" fmla="*/ 0 h 1841"/>
                <a:gd name="T4" fmla="*/ 598 w 599"/>
                <a:gd name="T5" fmla="*/ 1840 h 1841"/>
                <a:gd name="T6" fmla="*/ 63 w 599"/>
                <a:gd name="T7" fmla="*/ 1840 h 1841"/>
                <a:gd name="T8" fmla="*/ 0 60000 65536"/>
                <a:gd name="T9" fmla="*/ 0 60000 65536"/>
                <a:gd name="T10" fmla="*/ 0 60000 65536"/>
                <a:gd name="T11" fmla="*/ 0 60000 65536"/>
                <a:gd name="T12" fmla="*/ 0 w 599"/>
                <a:gd name="T13" fmla="*/ 0 h 1841"/>
                <a:gd name="T14" fmla="*/ 599 w 599"/>
                <a:gd name="T15" fmla="*/ 1841 h 1841"/>
              </a:gdLst>
              <a:ahLst/>
              <a:cxnLst>
                <a:cxn ang="T8">
                  <a:pos x="T0" y="T1"/>
                </a:cxn>
                <a:cxn ang="T9">
                  <a:pos x="T2" y="T3"/>
                </a:cxn>
                <a:cxn ang="T10">
                  <a:pos x="T4" y="T5"/>
                </a:cxn>
                <a:cxn ang="T11">
                  <a:pos x="T6" y="T7"/>
                </a:cxn>
              </a:cxnLst>
              <a:rect l="T12" t="T13" r="T14" b="T15"/>
              <a:pathLst>
                <a:path w="599" h="1841">
                  <a:moveTo>
                    <a:pt x="0" y="0"/>
                  </a:moveTo>
                  <a:lnTo>
                    <a:pt x="598" y="0"/>
                  </a:lnTo>
                  <a:lnTo>
                    <a:pt x="598" y="1840"/>
                  </a:lnTo>
                  <a:lnTo>
                    <a:pt x="63" y="1840"/>
                  </a:lnTo>
                </a:path>
              </a:pathLst>
            </a:custGeom>
            <a:noFill/>
            <a:ln w="25399" cap="rnd">
              <a:solidFill>
                <a:srgbClr val="FFF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116427" tIns="58212" rIns="116427" bIns="58212"/>
            <a:lstStyle/>
            <a:p>
              <a:endParaRPr lang="zh-CN" altLang="en-US" sz="100"/>
            </a:p>
          </p:txBody>
        </p:sp>
        <p:sp>
          <p:nvSpPr>
            <p:cNvPr id="44218" name="Line 240"/>
            <p:cNvSpPr>
              <a:spLocks noChangeShapeType="1"/>
            </p:cNvSpPr>
            <p:nvPr/>
          </p:nvSpPr>
          <p:spPr bwMode="auto">
            <a:xfrm>
              <a:off x="1564" y="2484"/>
              <a:ext cx="345" cy="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44219" name="Group 241"/>
            <p:cNvGrpSpPr/>
            <p:nvPr/>
          </p:nvGrpSpPr>
          <p:grpSpPr bwMode="auto">
            <a:xfrm>
              <a:off x="382" y="1105"/>
              <a:ext cx="1124" cy="549"/>
              <a:chOff x="382" y="1105"/>
              <a:chExt cx="1124" cy="549"/>
            </a:xfrm>
          </p:grpSpPr>
          <p:sp>
            <p:nvSpPr>
              <p:cNvPr id="44266" name="Line 242"/>
              <p:cNvSpPr>
                <a:spLocks noChangeShapeType="1"/>
              </p:cNvSpPr>
              <p:nvPr/>
            </p:nvSpPr>
            <p:spPr bwMode="auto">
              <a:xfrm flipV="1">
                <a:off x="1155" y="1262"/>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67" name="Line 243"/>
              <p:cNvSpPr>
                <a:spLocks noChangeShapeType="1"/>
              </p:cNvSpPr>
              <p:nvPr/>
            </p:nvSpPr>
            <p:spPr bwMode="auto">
              <a:xfrm flipV="1">
                <a:off x="956" y="1251"/>
                <a:ext cx="0" cy="345"/>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68" name="Line 244"/>
              <p:cNvSpPr>
                <a:spLocks noChangeShapeType="1"/>
              </p:cNvSpPr>
              <p:nvPr/>
            </p:nvSpPr>
            <p:spPr bwMode="auto">
              <a:xfrm flipV="1">
                <a:off x="721" y="1251"/>
                <a:ext cx="0" cy="269"/>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69" name="Line 245"/>
              <p:cNvSpPr>
                <a:spLocks noChangeShapeType="1"/>
              </p:cNvSpPr>
              <p:nvPr/>
            </p:nvSpPr>
            <p:spPr bwMode="auto">
              <a:xfrm>
                <a:off x="399" y="1247"/>
                <a:ext cx="855" cy="3"/>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70" name="Picture 2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 y="1446"/>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71" name="Picture 2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1" y="1446"/>
                <a:ext cx="22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72" name="Picture 2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 y="1446"/>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4273" name="Object 248"/>
              <p:cNvGraphicFramePr/>
              <p:nvPr/>
            </p:nvGraphicFramePr>
            <p:xfrm>
              <a:off x="382" y="1105"/>
              <a:ext cx="161" cy="309"/>
            </p:xfrm>
            <a:graphic>
              <a:graphicData uri="http://schemas.openxmlformats.org/presentationml/2006/ole">
                <mc:AlternateContent xmlns:mc="http://schemas.openxmlformats.org/markup-compatibility/2006">
                  <mc:Choice xmlns:v="urn:schemas-microsoft-com:vml" Requires="v">
                    <p:oleObj spid="_x0000_s1047" name="" r:id="rId4" imgW="1962150" imgH="2638425" progId="">
                      <p:embed/>
                    </p:oleObj>
                  </mc:Choice>
                  <mc:Fallback>
                    <p:oleObj name="" r:id="rId4" imgW="1962150" imgH="2638425" progId="">
                      <p:embed/>
                      <p:pic>
                        <p:nvPicPr>
                          <p:cNvPr id="0" name="Object 24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 y="1105"/>
                            <a:ext cx="16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274" name="Line 250"/>
              <p:cNvSpPr>
                <a:spLocks noChangeShapeType="1"/>
              </p:cNvSpPr>
              <p:nvPr/>
            </p:nvSpPr>
            <p:spPr bwMode="auto">
              <a:xfrm flipV="1">
                <a:off x="1366" y="1254"/>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75" name="Picture 2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82" y="1446"/>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220" name="Group 252"/>
            <p:cNvGrpSpPr/>
            <p:nvPr/>
          </p:nvGrpSpPr>
          <p:grpSpPr bwMode="auto">
            <a:xfrm>
              <a:off x="362" y="1730"/>
              <a:ext cx="1124" cy="549"/>
              <a:chOff x="362" y="1730"/>
              <a:chExt cx="1124" cy="549"/>
            </a:xfrm>
          </p:grpSpPr>
          <p:sp>
            <p:nvSpPr>
              <p:cNvPr id="44256" name="Line 253"/>
              <p:cNvSpPr>
                <a:spLocks noChangeShapeType="1"/>
              </p:cNvSpPr>
              <p:nvPr/>
            </p:nvSpPr>
            <p:spPr bwMode="auto">
              <a:xfrm flipV="1">
                <a:off x="1135" y="1887"/>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57" name="Line 254"/>
              <p:cNvSpPr>
                <a:spLocks noChangeShapeType="1"/>
              </p:cNvSpPr>
              <p:nvPr/>
            </p:nvSpPr>
            <p:spPr bwMode="auto">
              <a:xfrm flipV="1">
                <a:off x="936" y="1876"/>
                <a:ext cx="0" cy="345"/>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58" name="Line 255"/>
              <p:cNvSpPr>
                <a:spLocks noChangeShapeType="1"/>
              </p:cNvSpPr>
              <p:nvPr/>
            </p:nvSpPr>
            <p:spPr bwMode="auto">
              <a:xfrm flipV="1">
                <a:off x="701" y="1876"/>
                <a:ext cx="0" cy="269"/>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59" name="Line 256"/>
              <p:cNvSpPr>
                <a:spLocks noChangeShapeType="1"/>
              </p:cNvSpPr>
              <p:nvPr/>
            </p:nvSpPr>
            <p:spPr bwMode="auto">
              <a:xfrm>
                <a:off x="379" y="1872"/>
                <a:ext cx="855" cy="3"/>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60" name="Picture 2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 y="2071"/>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61" name="Picture 2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 y="2071"/>
                <a:ext cx="22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62" name="Picture 2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1" y="2071"/>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4263" name="Object 259"/>
              <p:cNvGraphicFramePr/>
              <p:nvPr/>
            </p:nvGraphicFramePr>
            <p:xfrm>
              <a:off x="362" y="1730"/>
              <a:ext cx="161" cy="309"/>
            </p:xfrm>
            <a:graphic>
              <a:graphicData uri="http://schemas.openxmlformats.org/presentationml/2006/ole">
                <mc:AlternateContent xmlns:mc="http://schemas.openxmlformats.org/markup-compatibility/2006">
                  <mc:Choice xmlns:v="urn:schemas-microsoft-com:vml" Requires="v">
                    <p:oleObj spid="_x0000_s1048" name="" r:id="rId5" imgW="1962150" imgH="2638425" progId="">
                      <p:embed/>
                    </p:oleObj>
                  </mc:Choice>
                  <mc:Fallback>
                    <p:oleObj name="" r:id="rId5" imgW="1962150" imgH="2638425" progId="">
                      <p:embed/>
                      <p:pic>
                        <p:nvPicPr>
                          <p:cNvPr id="0" name="Object 25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 y="1730"/>
                            <a:ext cx="16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264" name="Line 261"/>
              <p:cNvSpPr>
                <a:spLocks noChangeShapeType="1"/>
              </p:cNvSpPr>
              <p:nvPr/>
            </p:nvSpPr>
            <p:spPr bwMode="auto">
              <a:xfrm flipV="1">
                <a:off x="1346" y="1879"/>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65" name="Picture 2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2" y="2071"/>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221" name="Group 263"/>
            <p:cNvGrpSpPr/>
            <p:nvPr/>
          </p:nvGrpSpPr>
          <p:grpSpPr bwMode="auto">
            <a:xfrm>
              <a:off x="361" y="2341"/>
              <a:ext cx="1124" cy="549"/>
              <a:chOff x="361" y="2341"/>
              <a:chExt cx="1124" cy="549"/>
            </a:xfrm>
          </p:grpSpPr>
          <p:sp>
            <p:nvSpPr>
              <p:cNvPr id="44246" name="Line 264"/>
              <p:cNvSpPr>
                <a:spLocks noChangeShapeType="1"/>
              </p:cNvSpPr>
              <p:nvPr/>
            </p:nvSpPr>
            <p:spPr bwMode="auto">
              <a:xfrm flipV="1">
                <a:off x="1134" y="2498"/>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47" name="Line 265"/>
              <p:cNvSpPr>
                <a:spLocks noChangeShapeType="1"/>
              </p:cNvSpPr>
              <p:nvPr/>
            </p:nvSpPr>
            <p:spPr bwMode="auto">
              <a:xfrm flipV="1">
                <a:off x="935" y="2487"/>
                <a:ext cx="0" cy="345"/>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48" name="Line 266"/>
              <p:cNvSpPr>
                <a:spLocks noChangeShapeType="1"/>
              </p:cNvSpPr>
              <p:nvPr/>
            </p:nvSpPr>
            <p:spPr bwMode="auto">
              <a:xfrm flipV="1">
                <a:off x="700" y="2487"/>
                <a:ext cx="0" cy="269"/>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49" name="Line 267"/>
              <p:cNvSpPr>
                <a:spLocks noChangeShapeType="1"/>
              </p:cNvSpPr>
              <p:nvPr/>
            </p:nvSpPr>
            <p:spPr bwMode="auto">
              <a:xfrm>
                <a:off x="378" y="2483"/>
                <a:ext cx="855" cy="3"/>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50" name="Picture 2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8" y="2682"/>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51" name="Picture 2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 y="2682"/>
                <a:ext cx="22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52" name="Picture 2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0" y="2682"/>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4253" name="Object 270"/>
              <p:cNvGraphicFramePr/>
              <p:nvPr/>
            </p:nvGraphicFramePr>
            <p:xfrm>
              <a:off x="361" y="2341"/>
              <a:ext cx="161" cy="309"/>
            </p:xfrm>
            <a:graphic>
              <a:graphicData uri="http://schemas.openxmlformats.org/presentationml/2006/ole">
                <mc:AlternateContent xmlns:mc="http://schemas.openxmlformats.org/markup-compatibility/2006">
                  <mc:Choice xmlns:v="urn:schemas-microsoft-com:vml" Requires="v">
                    <p:oleObj spid="_x0000_s1049" name="" r:id="rId6" imgW="1962150" imgH="2638425" progId="">
                      <p:embed/>
                    </p:oleObj>
                  </mc:Choice>
                  <mc:Fallback>
                    <p:oleObj name="" r:id="rId6" imgW="1962150" imgH="2638425" progId="">
                      <p:embed/>
                      <p:pic>
                        <p:nvPicPr>
                          <p:cNvPr id="0" name="Object 27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 y="2341"/>
                            <a:ext cx="16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254" name="Line 272"/>
              <p:cNvSpPr>
                <a:spLocks noChangeShapeType="1"/>
              </p:cNvSpPr>
              <p:nvPr/>
            </p:nvSpPr>
            <p:spPr bwMode="auto">
              <a:xfrm flipV="1">
                <a:off x="1345" y="2490"/>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55" name="Picture 2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1" y="2682"/>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222" name="Group 274"/>
            <p:cNvGrpSpPr/>
            <p:nvPr/>
          </p:nvGrpSpPr>
          <p:grpSpPr bwMode="auto">
            <a:xfrm>
              <a:off x="342" y="2941"/>
              <a:ext cx="1124" cy="549"/>
              <a:chOff x="342" y="2941"/>
              <a:chExt cx="1124" cy="549"/>
            </a:xfrm>
          </p:grpSpPr>
          <p:sp>
            <p:nvSpPr>
              <p:cNvPr id="44236" name="Line 275"/>
              <p:cNvSpPr>
                <a:spLocks noChangeShapeType="1"/>
              </p:cNvSpPr>
              <p:nvPr/>
            </p:nvSpPr>
            <p:spPr bwMode="auto">
              <a:xfrm flipV="1">
                <a:off x="1115" y="3098"/>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37" name="Line 276"/>
              <p:cNvSpPr>
                <a:spLocks noChangeShapeType="1"/>
              </p:cNvSpPr>
              <p:nvPr/>
            </p:nvSpPr>
            <p:spPr bwMode="auto">
              <a:xfrm flipV="1">
                <a:off x="916" y="3087"/>
                <a:ext cx="0" cy="345"/>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38" name="Line 277"/>
              <p:cNvSpPr>
                <a:spLocks noChangeShapeType="1"/>
              </p:cNvSpPr>
              <p:nvPr/>
            </p:nvSpPr>
            <p:spPr bwMode="auto">
              <a:xfrm flipV="1">
                <a:off x="681" y="3087"/>
                <a:ext cx="0" cy="269"/>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239" name="Line 278"/>
              <p:cNvSpPr>
                <a:spLocks noChangeShapeType="1"/>
              </p:cNvSpPr>
              <p:nvPr/>
            </p:nvSpPr>
            <p:spPr bwMode="auto">
              <a:xfrm>
                <a:off x="359" y="3083"/>
                <a:ext cx="855" cy="3"/>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40" name="Picture 2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 y="3282"/>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41" name="Picture 28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 y="3282"/>
                <a:ext cx="22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42" name="Picture 28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1" y="3282"/>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4243" name="Object 281"/>
              <p:cNvGraphicFramePr/>
              <p:nvPr/>
            </p:nvGraphicFramePr>
            <p:xfrm>
              <a:off x="342" y="2941"/>
              <a:ext cx="161" cy="309"/>
            </p:xfrm>
            <a:graphic>
              <a:graphicData uri="http://schemas.openxmlformats.org/presentationml/2006/ole">
                <mc:AlternateContent xmlns:mc="http://schemas.openxmlformats.org/markup-compatibility/2006">
                  <mc:Choice xmlns:v="urn:schemas-microsoft-com:vml" Requires="v">
                    <p:oleObj spid="_x0000_s1050" name="" r:id="rId7" imgW="1962150" imgH="2638425" progId="">
                      <p:embed/>
                    </p:oleObj>
                  </mc:Choice>
                  <mc:Fallback>
                    <p:oleObj name="" r:id="rId7" imgW="1962150" imgH="2638425" progId="">
                      <p:embed/>
                      <p:pic>
                        <p:nvPicPr>
                          <p:cNvPr id="0" name="Object 28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 y="2941"/>
                            <a:ext cx="16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244" name="Line 283"/>
              <p:cNvSpPr>
                <a:spLocks noChangeShapeType="1"/>
              </p:cNvSpPr>
              <p:nvPr/>
            </p:nvSpPr>
            <p:spPr bwMode="auto">
              <a:xfrm flipV="1">
                <a:off x="1326" y="3090"/>
                <a:ext cx="0" cy="280"/>
              </a:xfrm>
              <a:prstGeom prst="line">
                <a:avLst/>
              </a:prstGeom>
              <a:noFill/>
              <a:ln w="25399">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pic>
            <p:nvPicPr>
              <p:cNvPr id="44245" name="Picture 28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2" y="3282"/>
                <a:ext cx="2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223" name="Picture 285"/>
            <p:cNvSpPr>
              <a:spLocks noChangeArrowheads="1"/>
            </p:cNvSpPr>
            <p:nvPr/>
          </p:nvSpPr>
          <p:spPr bwMode="auto">
            <a:xfrm>
              <a:off x="3543" y="936"/>
              <a:ext cx="1245" cy="688"/>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782" name="Rectangle 286"/>
            <p:cNvSpPr>
              <a:spLocks noChangeArrowheads="1"/>
            </p:cNvSpPr>
            <p:nvPr/>
          </p:nvSpPr>
          <p:spPr bwMode="auto">
            <a:xfrm>
              <a:off x="3717" y="1218"/>
              <a:ext cx="915" cy="700"/>
            </a:xfrm>
            <a:prstGeom prst="rect">
              <a:avLst/>
            </a:prstGeom>
            <a:noFill/>
            <a:ln w="9525">
              <a:noFill/>
              <a:miter lim="800000"/>
            </a:ln>
          </p:spPr>
          <p:txBody>
            <a:bodyPr lIns="117191" tIns="58595" rIns="117191" bIns="58595">
              <a:spAutoFit/>
            </a:bodyPr>
            <a:lstStyle/>
            <a:p>
              <a:pPr algn="ctr" defTabSz="979805">
                <a:defRPr/>
              </a:pPr>
              <a:r>
                <a:rPr kumimoji="1" lang="en-US" altLang="zh-CN" sz="2710" b="1">
                  <a:effectLst>
                    <a:outerShdw blurRad="38100" dist="38100" dir="2700000" algn="tl">
                      <a:srgbClr val="C0C0C0"/>
                    </a:outerShdw>
                  </a:effectLst>
                  <a:latin typeface="ACaslon Bold"/>
                </a:rPr>
                <a:t>Internet</a:t>
              </a:r>
              <a:endParaRPr kumimoji="1" lang="en-US" altLang="zh-CN" sz="2710" b="1">
                <a:effectLst>
                  <a:outerShdw blurRad="38100" dist="38100" dir="2700000" algn="tl">
                    <a:srgbClr val="C0C0C0"/>
                  </a:outerShdw>
                </a:effectLst>
                <a:latin typeface="ACaslon Bold"/>
              </a:endParaRPr>
            </a:p>
          </p:txBody>
        </p:sp>
        <p:grpSp>
          <p:nvGrpSpPr>
            <p:cNvPr id="44225" name="Group 287"/>
            <p:cNvGrpSpPr/>
            <p:nvPr/>
          </p:nvGrpSpPr>
          <p:grpSpPr bwMode="auto">
            <a:xfrm>
              <a:off x="3097" y="1731"/>
              <a:ext cx="348" cy="202"/>
              <a:chOff x="3097" y="1731"/>
              <a:chExt cx="348" cy="202"/>
            </a:xfrm>
          </p:grpSpPr>
          <p:grpSp>
            <p:nvGrpSpPr>
              <p:cNvPr id="44227" name="Group 288"/>
              <p:cNvGrpSpPr/>
              <p:nvPr/>
            </p:nvGrpSpPr>
            <p:grpSpPr bwMode="auto">
              <a:xfrm>
                <a:off x="3098" y="1801"/>
                <a:ext cx="192" cy="132"/>
                <a:chOff x="3098" y="1801"/>
                <a:chExt cx="192" cy="132"/>
              </a:xfrm>
            </p:grpSpPr>
            <p:sp>
              <p:nvSpPr>
                <p:cNvPr id="44234" name="Freeform 289"/>
                <p:cNvSpPr/>
                <p:nvPr/>
              </p:nvSpPr>
              <p:spPr bwMode="auto">
                <a:xfrm>
                  <a:off x="3098" y="1802"/>
                  <a:ext cx="184" cy="124"/>
                </a:xfrm>
                <a:custGeom>
                  <a:avLst/>
                  <a:gdLst>
                    <a:gd name="T0" fmla="*/ 183 w 184"/>
                    <a:gd name="T1" fmla="*/ 33 h 124"/>
                    <a:gd name="T2" fmla="*/ 183 w 184"/>
                    <a:gd name="T3" fmla="*/ 123 h 124"/>
                    <a:gd name="T4" fmla="*/ 0 w 184"/>
                    <a:gd name="T5" fmla="*/ 83 h 124"/>
                    <a:gd name="T6" fmla="*/ 0 w 184"/>
                    <a:gd name="T7" fmla="*/ 0 h 124"/>
                    <a:gd name="T8" fmla="*/ 183 w 184"/>
                    <a:gd name="T9" fmla="*/ 33 h 124"/>
                    <a:gd name="T10" fmla="*/ 0 60000 65536"/>
                    <a:gd name="T11" fmla="*/ 0 60000 65536"/>
                    <a:gd name="T12" fmla="*/ 0 60000 65536"/>
                    <a:gd name="T13" fmla="*/ 0 60000 65536"/>
                    <a:gd name="T14" fmla="*/ 0 60000 65536"/>
                    <a:gd name="T15" fmla="*/ 0 w 184"/>
                    <a:gd name="T16" fmla="*/ 0 h 124"/>
                    <a:gd name="T17" fmla="*/ 184 w 184"/>
                    <a:gd name="T18" fmla="*/ 124 h 124"/>
                  </a:gdLst>
                  <a:ahLst/>
                  <a:cxnLst>
                    <a:cxn ang="T10">
                      <a:pos x="T0" y="T1"/>
                    </a:cxn>
                    <a:cxn ang="T11">
                      <a:pos x="T2" y="T3"/>
                    </a:cxn>
                    <a:cxn ang="T12">
                      <a:pos x="T4" y="T5"/>
                    </a:cxn>
                    <a:cxn ang="T13">
                      <a:pos x="T6" y="T7"/>
                    </a:cxn>
                    <a:cxn ang="T14">
                      <a:pos x="T8" y="T9"/>
                    </a:cxn>
                  </a:cxnLst>
                  <a:rect l="T15" t="T16" r="T17" b="T18"/>
                  <a:pathLst>
                    <a:path w="184" h="124">
                      <a:moveTo>
                        <a:pt x="183" y="33"/>
                      </a:moveTo>
                      <a:lnTo>
                        <a:pt x="183" y="123"/>
                      </a:lnTo>
                      <a:lnTo>
                        <a:pt x="0" y="83"/>
                      </a:lnTo>
                      <a:lnTo>
                        <a:pt x="0" y="0"/>
                      </a:lnTo>
                      <a:lnTo>
                        <a:pt x="183" y="33"/>
                      </a:lnTo>
                    </a:path>
                  </a:pathLst>
                </a:custGeom>
                <a:gradFill rotWithShape="0">
                  <a:gsLst>
                    <a:gs pos="0">
                      <a:srgbClr val="33CC33"/>
                    </a:gs>
                    <a:gs pos="100000">
                      <a:srgbClr val="2EB72E"/>
                    </a:gs>
                  </a:gsLst>
                  <a:path path="rect">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35" name="Freeform 290"/>
                <p:cNvSpPr/>
                <p:nvPr/>
              </p:nvSpPr>
              <p:spPr bwMode="auto">
                <a:xfrm>
                  <a:off x="3100" y="1801"/>
                  <a:ext cx="190" cy="132"/>
                </a:xfrm>
                <a:custGeom>
                  <a:avLst/>
                  <a:gdLst>
                    <a:gd name="T0" fmla="*/ 189 w 190"/>
                    <a:gd name="T1" fmla="*/ 36 h 132"/>
                    <a:gd name="T2" fmla="*/ 189 w 190"/>
                    <a:gd name="T3" fmla="*/ 131 h 132"/>
                    <a:gd name="T4" fmla="*/ 0 w 190"/>
                    <a:gd name="T5" fmla="*/ 88 h 132"/>
                    <a:gd name="T6" fmla="*/ 0 w 190"/>
                    <a:gd name="T7" fmla="*/ 0 h 132"/>
                    <a:gd name="T8" fmla="*/ 189 w 190"/>
                    <a:gd name="T9" fmla="*/ 36 h 132"/>
                    <a:gd name="T10" fmla="*/ 0 60000 65536"/>
                    <a:gd name="T11" fmla="*/ 0 60000 65536"/>
                    <a:gd name="T12" fmla="*/ 0 60000 65536"/>
                    <a:gd name="T13" fmla="*/ 0 60000 65536"/>
                    <a:gd name="T14" fmla="*/ 0 60000 65536"/>
                    <a:gd name="T15" fmla="*/ 0 w 190"/>
                    <a:gd name="T16" fmla="*/ 0 h 132"/>
                    <a:gd name="T17" fmla="*/ 190 w 190"/>
                    <a:gd name="T18" fmla="*/ 132 h 132"/>
                  </a:gdLst>
                  <a:ahLst/>
                  <a:cxnLst>
                    <a:cxn ang="T10">
                      <a:pos x="T0" y="T1"/>
                    </a:cxn>
                    <a:cxn ang="T11">
                      <a:pos x="T2" y="T3"/>
                    </a:cxn>
                    <a:cxn ang="T12">
                      <a:pos x="T4" y="T5"/>
                    </a:cxn>
                    <a:cxn ang="T13">
                      <a:pos x="T6" y="T7"/>
                    </a:cxn>
                    <a:cxn ang="T14">
                      <a:pos x="T8" y="T9"/>
                    </a:cxn>
                  </a:cxnLst>
                  <a:rect l="T15" t="T16" r="T17" b="T18"/>
                  <a:pathLst>
                    <a:path w="190" h="132">
                      <a:moveTo>
                        <a:pt x="189" y="36"/>
                      </a:moveTo>
                      <a:lnTo>
                        <a:pt x="189" y="131"/>
                      </a:lnTo>
                      <a:lnTo>
                        <a:pt x="0" y="88"/>
                      </a:lnTo>
                      <a:lnTo>
                        <a:pt x="0" y="0"/>
                      </a:lnTo>
                      <a:lnTo>
                        <a:pt x="189" y="36"/>
                      </a:lnTo>
                    </a:path>
                  </a:pathLst>
                </a:custGeom>
                <a:gradFill rotWithShape="0">
                  <a:gsLst>
                    <a:gs pos="0">
                      <a:srgbClr val="33CC33"/>
                    </a:gs>
                    <a:gs pos="100000">
                      <a:srgbClr val="2EB72E"/>
                    </a:gs>
                  </a:gsLst>
                  <a:path path="rect">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228" name="Group 291"/>
              <p:cNvGrpSpPr/>
              <p:nvPr/>
            </p:nvGrpSpPr>
            <p:grpSpPr bwMode="auto">
              <a:xfrm>
                <a:off x="3097" y="1731"/>
                <a:ext cx="345" cy="108"/>
                <a:chOff x="3097" y="1731"/>
                <a:chExt cx="345" cy="108"/>
              </a:xfrm>
            </p:grpSpPr>
            <p:sp>
              <p:nvSpPr>
                <p:cNvPr id="44232" name="Freeform 292"/>
                <p:cNvSpPr/>
                <p:nvPr/>
              </p:nvSpPr>
              <p:spPr bwMode="auto">
                <a:xfrm>
                  <a:off x="3098" y="1731"/>
                  <a:ext cx="336" cy="103"/>
                </a:xfrm>
                <a:custGeom>
                  <a:avLst/>
                  <a:gdLst>
                    <a:gd name="T0" fmla="*/ 185 w 336"/>
                    <a:gd name="T1" fmla="*/ 102 h 103"/>
                    <a:gd name="T2" fmla="*/ 0 w 336"/>
                    <a:gd name="T3" fmla="*/ 68 h 103"/>
                    <a:gd name="T4" fmla="*/ 174 w 336"/>
                    <a:gd name="T5" fmla="*/ 0 h 103"/>
                    <a:gd name="T6" fmla="*/ 335 w 336"/>
                    <a:gd name="T7" fmla="*/ 27 h 103"/>
                    <a:gd name="T8" fmla="*/ 185 w 336"/>
                    <a:gd name="T9" fmla="*/ 102 h 103"/>
                    <a:gd name="T10" fmla="*/ 0 60000 65536"/>
                    <a:gd name="T11" fmla="*/ 0 60000 65536"/>
                    <a:gd name="T12" fmla="*/ 0 60000 65536"/>
                    <a:gd name="T13" fmla="*/ 0 60000 65536"/>
                    <a:gd name="T14" fmla="*/ 0 60000 65536"/>
                    <a:gd name="T15" fmla="*/ 0 w 336"/>
                    <a:gd name="T16" fmla="*/ 0 h 103"/>
                    <a:gd name="T17" fmla="*/ 336 w 336"/>
                    <a:gd name="T18" fmla="*/ 103 h 103"/>
                  </a:gdLst>
                  <a:ahLst/>
                  <a:cxnLst>
                    <a:cxn ang="T10">
                      <a:pos x="T0" y="T1"/>
                    </a:cxn>
                    <a:cxn ang="T11">
                      <a:pos x="T2" y="T3"/>
                    </a:cxn>
                    <a:cxn ang="T12">
                      <a:pos x="T4" y="T5"/>
                    </a:cxn>
                    <a:cxn ang="T13">
                      <a:pos x="T6" y="T7"/>
                    </a:cxn>
                    <a:cxn ang="T14">
                      <a:pos x="T8" y="T9"/>
                    </a:cxn>
                  </a:cxnLst>
                  <a:rect l="T15" t="T16" r="T17" b="T18"/>
                  <a:pathLst>
                    <a:path w="336" h="103">
                      <a:moveTo>
                        <a:pt x="185" y="102"/>
                      </a:moveTo>
                      <a:lnTo>
                        <a:pt x="0" y="68"/>
                      </a:lnTo>
                      <a:lnTo>
                        <a:pt x="174" y="0"/>
                      </a:lnTo>
                      <a:lnTo>
                        <a:pt x="335" y="27"/>
                      </a:lnTo>
                      <a:lnTo>
                        <a:pt x="185" y="102"/>
                      </a:lnTo>
                    </a:path>
                  </a:pathLst>
                </a:custGeom>
                <a:gradFill rotWithShape="0">
                  <a:gsLst>
                    <a:gs pos="0">
                      <a:srgbClr val="33CC33"/>
                    </a:gs>
                    <a:gs pos="100000">
                      <a:srgbClr val="2EB72E"/>
                    </a:gs>
                  </a:gsLst>
                  <a:path path="rect">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33" name="Freeform 293"/>
                <p:cNvSpPr/>
                <p:nvPr/>
              </p:nvSpPr>
              <p:spPr bwMode="auto">
                <a:xfrm>
                  <a:off x="3097" y="1731"/>
                  <a:ext cx="345" cy="108"/>
                </a:xfrm>
                <a:custGeom>
                  <a:avLst/>
                  <a:gdLst>
                    <a:gd name="T0" fmla="*/ 190 w 345"/>
                    <a:gd name="T1" fmla="*/ 107 h 108"/>
                    <a:gd name="T2" fmla="*/ 0 w 345"/>
                    <a:gd name="T3" fmla="*/ 71 h 108"/>
                    <a:gd name="T4" fmla="*/ 179 w 345"/>
                    <a:gd name="T5" fmla="*/ 0 h 108"/>
                    <a:gd name="T6" fmla="*/ 344 w 345"/>
                    <a:gd name="T7" fmla="*/ 28 h 108"/>
                    <a:gd name="T8" fmla="*/ 190 w 345"/>
                    <a:gd name="T9" fmla="*/ 107 h 108"/>
                    <a:gd name="T10" fmla="*/ 0 60000 65536"/>
                    <a:gd name="T11" fmla="*/ 0 60000 65536"/>
                    <a:gd name="T12" fmla="*/ 0 60000 65536"/>
                    <a:gd name="T13" fmla="*/ 0 60000 65536"/>
                    <a:gd name="T14" fmla="*/ 0 60000 65536"/>
                    <a:gd name="T15" fmla="*/ 0 w 345"/>
                    <a:gd name="T16" fmla="*/ 0 h 108"/>
                    <a:gd name="T17" fmla="*/ 345 w 345"/>
                    <a:gd name="T18" fmla="*/ 108 h 108"/>
                  </a:gdLst>
                  <a:ahLst/>
                  <a:cxnLst>
                    <a:cxn ang="T10">
                      <a:pos x="T0" y="T1"/>
                    </a:cxn>
                    <a:cxn ang="T11">
                      <a:pos x="T2" y="T3"/>
                    </a:cxn>
                    <a:cxn ang="T12">
                      <a:pos x="T4" y="T5"/>
                    </a:cxn>
                    <a:cxn ang="T13">
                      <a:pos x="T6" y="T7"/>
                    </a:cxn>
                    <a:cxn ang="T14">
                      <a:pos x="T8" y="T9"/>
                    </a:cxn>
                  </a:cxnLst>
                  <a:rect l="T15" t="T16" r="T17" b="T18"/>
                  <a:pathLst>
                    <a:path w="345" h="108">
                      <a:moveTo>
                        <a:pt x="190" y="107"/>
                      </a:moveTo>
                      <a:lnTo>
                        <a:pt x="0" y="71"/>
                      </a:lnTo>
                      <a:lnTo>
                        <a:pt x="179" y="0"/>
                      </a:lnTo>
                      <a:lnTo>
                        <a:pt x="344" y="28"/>
                      </a:lnTo>
                      <a:lnTo>
                        <a:pt x="190" y="107"/>
                      </a:lnTo>
                    </a:path>
                  </a:pathLst>
                </a:custGeom>
                <a:gradFill rotWithShape="0">
                  <a:gsLst>
                    <a:gs pos="0">
                      <a:srgbClr val="33CC33"/>
                    </a:gs>
                    <a:gs pos="100000">
                      <a:srgbClr val="2EB72E"/>
                    </a:gs>
                  </a:gsLst>
                  <a:path path="rect">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nvGrpSpPr>
              <p:cNvPr id="44229" name="Group 294"/>
              <p:cNvGrpSpPr/>
              <p:nvPr/>
            </p:nvGrpSpPr>
            <p:grpSpPr bwMode="auto">
              <a:xfrm>
                <a:off x="3290" y="1758"/>
                <a:ext cx="155" cy="175"/>
                <a:chOff x="3290" y="1758"/>
                <a:chExt cx="155" cy="175"/>
              </a:xfrm>
            </p:grpSpPr>
            <p:sp>
              <p:nvSpPr>
                <p:cNvPr id="44230" name="Freeform 295"/>
                <p:cNvSpPr/>
                <p:nvPr/>
              </p:nvSpPr>
              <p:spPr bwMode="auto">
                <a:xfrm>
                  <a:off x="3291" y="1759"/>
                  <a:ext cx="146" cy="167"/>
                </a:xfrm>
                <a:custGeom>
                  <a:avLst/>
                  <a:gdLst>
                    <a:gd name="T0" fmla="*/ 145 w 146"/>
                    <a:gd name="T1" fmla="*/ 0 h 167"/>
                    <a:gd name="T2" fmla="*/ 0 w 146"/>
                    <a:gd name="T3" fmla="*/ 75 h 167"/>
                    <a:gd name="T4" fmla="*/ 0 w 146"/>
                    <a:gd name="T5" fmla="*/ 166 h 167"/>
                    <a:gd name="T6" fmla="*/ 145 w 146"/>
                    <a:gd name="T7" fmla="*/ 79 h 167"/>
                    <a:gd name="T8" fmla="*/ 145 w 146"/>
                    <a:gd name="T9" fmla="*/ 0 h 167"/>
                    <a:gd name="T10" fmla="*/ 0 60000 65536"/>
                    <a:gd name="T11" fmla="*/ 0 60000 65536"/>
                    <a:gd name="T12" fmla="*/ 0 60000 65536"/>
                    <a:gd name="T13" fmla="*/ 0 60000 65536"/>
                    <a:gd name="T14" fmla="*/ 0 60000 65536"/>
                    <a:gd name="T15" fmla="*/ 0 w 146"/>
                    <a:gd name="T16" fmla="*/ 0 h 167"/>
                    <a:gd name="T17" fmla="*/ 146 w 146"/>
                    <a:gd name="T18" fmla="*/ 167 h 167"/>
                  </a:gdLst>
                  <a:ahLst/>
                  <a:cxnLst>
                    <a:cxn ang="T10">
                      <a:pos x="T0" y="T1"/>
                    </a:cxn>
                    <a:cxn ang="T11">
                      <a:pos x="T2" y="T3"/>
                    </a:cxn>
                    <a:cxn ang="T12">
                      <a:pos x="T4" y="T5"/>
                    </a:cxn>
                    <a:cxn ang="T13">
                      <a:pos x="T6" y="T7"/>
                    </a:cxn>
                    <a:cxn ang="T14">
                      <a:pos x="T8" y="T9"/>
                    </a:cxn>
                  </a:cxnLst>
                  <a:rect l="T15" t="T16" r="T17" b="T18"/>
                  <a:pathLst>
                    <a:path w="146" h="167">
                      <a:moveTo>
                        <a:pt x="145" y="0"/>
                      </a:moveTo>
                      <a:lnTo>
                        <a:pt x="0" y="75"/>
                      </a:lnTo>
                      <a:lnTo>
                        <a:pt x="0" y="166"/>
                      </a:lnTo>
                      <a:lnTo>
                        <a:pt x="145" y="79"/>
                      </a:lnTo>
                      <a:lnTo>
                        <a:pt x="145" y="0"/>
                      </a:lnTo>
                    </a:path>
                  </a:pathLst>
                </a:custGeom>
                <a:gradFill rotWithShape="0">
                  <a:gsLst>
                    <a:gs pos="0">
                      <a:srgbClr val="33CC33"/>
                    </a:gs>
                    <a:gs pos="100000">
                      <a:srgbClr val="2EB72E"/>
                    </a:gs>
                  </a:gsLst>
                  <a:path path="rect">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231" name="Freeform 296"/>
                <p:cNvSpPr/>
                <p:nvPr/>
              </p:nvSpPr>
              <p:spPr bwMode="auto">
                <a:xfrm>
                  <a:off x="3290" y="1758"/>
                  <a:ext cx="155" cy="175"/>
                </a:xfrm>
                <a:custGeom>
                  <a:avLst/>
                  <a:gdLst>
                    <a:gd name="T0" fmla="*/ 154 w 155"/>
                    <a:gd name="T1" fmla="*/ 0 h 175"/>
                    <a:gd name="T2" fmla="*/ 0 w 155"/>
                    <a:gd name="T3" fmla="*/ 80 h 175"/>
                    <a:gd name="T4" fmla="*/ 0 w 155"/>
                    <a:gd name="T5" fmla="*/ 174 h 175"/>
                    <a:gd name="T6" fmla="*/ 154 w 155"/>
                    <a:gd name="T7" fmla="*/ 84 h 175"/>
                    <a:gd name="T8" fmla="*/ 154 w 155"/>
                    <a:gd name="T9" fmla="*/ 0 h 175"/>
                    <a:gd name="T10" fmla="*/ 0 60000 65536"/>
                    <a:gd name="T11" fmla="*/ 0 60000 65536"/>
                    <a:gd name="T12" fmla="*/ 0 60000 65536"/>
                    <a:gd name="T13" fmla="*/ 0 60000 65536"/>
                    <a:gd name="T14" fmla="*/ 0 60000 65536"/>
                    <a:gd name="T15" fmla="*/ 0 w 155"/>
                    <a:gd name="T16" fmla="*/ 0 h 175"/>
                    <a:gd name="T17" fmla="*/ 155 w 155"/>
                    <a:gd name="T18" fmla="*/ 175 h 175"/>
                  </a:gdLst>
                  <a:ahLst/>
                  <a:cxnLst>
                    <a:cxn ang="T10">
                      <a:pos x="T0" y="T1"/>
                    </a:cxn>
                    <a:cxn ang="T11">
                      <a:pos x="T2" y="T3"/>
                    </a:cxn>
                    <a:cxn ang="T12">
                      <a:pos x="T4" y="T5"/>
                    </a:cxn>
                    <a:cxn ang="T13">
                      <a:pos x="T6" y="T7"/>
                    </a:cxn>
                    <a:cxn ang="T14">
                      <a:pos x="T8" y="T9"/>
                    </a:cxn>
                  </a:cxnLst>
                  <a:rect l="T15" t="T16" r="T17" b="T18"/>
                  <a:pathLst>
                    <a:path w="155" h="175">
                      <a:moveTo>
                        <a:pt x="154" y="0"/>
                      </a:moveTo>
                      <a:lnTo>
                        <a:pt x="0" y="80"/>
                      </a:lnTo>
                      <a:lnTo>
                        <a:pt x="0" y="174"/>
                      </a:lnTo>
                      <a:lnTo>
                        <a:pt x="154" y="84"/>
                      </a:lnTo>
                      <a:lnTo>
                        <a:pt x="154" y="0"/>
                      </a:lnTo>
                    </a:path>
                  </a:pathLst>
                </a:custGeom>
                <a:gradFill rotWithShape="0">
                  <a:gsLst>
                    <a:gs pos="0">
                      <a:srgbClr val="33CC33"/>
                    </a:gs>
                    <a:gs pos="100000">
                      <a:srgbClr val="2EB72E"/>
                    </a:gs>
                  </a:gsLst>
                  <a:path path="rect">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grpSp>
        <p:sp>
          <p:nvSpPr>
            <p:cNvPr id="784" name="Rectangle 297"/>
            <p:cNvSpPr>
              <a:spLocks noChangeArrowheads="1"/>
            </p:cNvSpPr>
            <p:nvPr/>
          </p:nvSpPr>
          <p:spPr bwMode="auto">
            <a:xfrm>
              <a:off x="2984" y="1573"/>
              <a:ext cx="545" cy="175"/>
            </a:xfrm>
            <a:prstGeom prst="rect">
              <a:avLst/>
            </a:prstGeom>
            <a:noFill/>
            <a:ln w="9525">
              <a:noFill/>
              <a:miter lim="800000"/>
            </a:ln>
          </p:spPr>
          <p:txBody>
            <a:bodyPr lIns="117191" tIns="58595" rIns="117191" bIns="58595">
              <a:spAutoFit/>
            </a:bodyPr>
            <a:lstStyle/>
            <a:p>
              <a:pPr algn="ctr" defTabSz="979805">
                <a:lnSpc>
                  <a:spcPct val="85000"/>
                </a:lnSpc>
                <a:defRPr/>
              </a:pPr>
              <a:r>
                <a:rPr kumimoji="1" lang="zh-CN" altLang="en-US" sz="1725" b="1">
                  <a:effectLst>
                    <a:outerShdw blurRad="38100" dist="38100" dir="2700000" algn="tl">
                      <a:srgbClr val="C0C0C0"/>
                    </a:outerShdw>
                  </a:effectLst>
                  <a:latin typeface="ACaslon Bold"/>
                </a:rPr>
                <a:t>中继</a:t>
              </a:r>
              <a:endParaRPr kumimoji="1" lang="zh-CN" altLang="en-US" sz="1725" b="1">
                <a:effectLst>
                  <a:outerShdw blurRad="38100" dist="38100" dir="2700000" algn="tl">
                    <a:srgbClr val="C0C0C0"/>
                  </a:outerShdw>
                </a:effectLst>
                <a:latin typeface="ACaslon Bold"/>
              </a:endParaRPr>
            </a:p>
          </p:txBody>
        </p:sp>
      </p:grpSp>
      <p:sp>
        <p:nvSpPr>
          <p:cNvPr id="44035" name="Rectangle 2"/>
          <p:cNvSpPr>
            <a:spLocks noGrp="1" noChangeArrowheads="1"/>
          </p:cNvSpPr>
          <p:nvPr>
            <p:ph type="title" idx="4294967295"/>
          </p:nvPr>
        </p:nvSpPr>
        <p:spPr>
          <a:xfrm>
            <a:off x="0" y="-293076"/>
            <a:ext cx="11236570" cy="1152769"/>
          </a:xfrm>
        </p:spPr>
        <p:txBody>
          <a:bodyPr lIns="116427" tIns="58212" rIns="116427" bIns="58212"/>
          <a:lstStyle/>
          <a:p>
            <a:r>
              <a:rPr lang="zh-CN" altLang="en-US" sz="3445">
                <a:solidFill>
                  <a:schemeClr val="tx1"/>
                </a:solidFill>
              </a:rPr>
              <a:t>        完善的信息安全技术体系考虑过程</a:t>
            </a:r>
            <a:endParaRPr lang="zh-CN" altLang="en-US" sz="3445">
              <a:solidFill>
                <a:schemeClr val="tx1"/>
              </a:solidFill>
            </a:endParaRPr>
          </a:p>
        </p:txBody>
      </p:sp>
      <p:grpSp>
        <p:nvGrpSpPr>
          <p:cNvPr id="44036" name="Group 298"/>
          <p:cNvGrpSpPr/>
          <p:nvPr/>
        </p:nvGrpSpPr>
        <p:grpSpPr bwMode="auto">
          <a:xfrm>
            <a:off x="5984631" y="6369539"/>
            <a:ext cx="5943600" cy="416169"/>
            <a:chOff x="2796" y="3599"/>
            <a:chExt cx="2808" cy="213"/>
          </a:xfrm>
        </p:grpSpPr>
        <p:sp>
          <p:nvSpPr>
            <p:cNvPr id="44192" name="Rectangle 299"/>
            <p:cNvSpPr>
              <a:spLocks noChangeArrowheads="1"/>
            </p:cNvSpPr>
            <p:nvPr/>
          </p:nvSpPr>
          <p:spPr bwMode="auto">
            <a:xfrm>
              <a:off x="2796" y="3612"/>
              <a:ext cx="2808" cy="166"/>
            </a:xfrm>
            <a:prstGeom prst="rect">
              <a:avLst/>
            </a:prstGeom>
            <a:gradFill rotWithShape="0">
              <a:gsLst>
                <a:gs pos="0">
                  <a:srgbClr val="CC0000"/>
                </a:gs>
                <a:gs pos="100000">
                  <a:srgbClr val="8E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711980" name="Rectangle 300"/>
            <p:cNvSpPr>
              <a:spLocks noChangeArrowheads="1"/>
            </p:cNvSpPr>
            <p:nvPr/>
          </p:nvSpPr>
          <p:spPr bwMode="auto">
            <a:xfrm>
              <a:off x="3903" y="3599"/>
              <a:ext cx="680" cy="213"/>
            </a:xfrm>
            <a:prstGeom prst="rect">
              <a:avLst/>
            </a:prstGeom>
            <a:noFill/>
            <a:ln w="9525">
              <a:noFill/>
              <a:miter lim="800000"/>
            </a:ln>
          </p:spPr>
          <p:txBody>
            <a:bodyPr wrap="none" lIns="113284" tIns="56643" rIns="113284" bIns="56643">
              <a:spAutoFit/>
            </a:bodyPr>
            <a:lstStyle/>
            <a:p>
              <a:pPr algn="ctr" defTabSz="446405">
                <a:defRPr/>
              </a:pPr>
              <a:r>
                <a:rPr kumimoji="1" lang="zh-CN" altLang="en-US" sz="1970" b="1">
                  <a:effectLst>
                    <a:outerShdw blurRad="38100" dist="38100" dir="2700000" algn="tl">
                      <a:srgbClr val="C0C0C0"/>
                    </a:outerShdw>
                  </a:effectLst>
                  <a:latin typeface="Helvetica"/>
                </a:rPr>
                <a:t>安 全 隐 患</a:t>
              </a:r>
              <a:endParaRPr kumimoji="1" lang="zh-CN" altLang="en-US" sz="1970" b="1">
                <a:effectLst>
                  <a:outerShdw blurRad="38100" dist="38100" dir="2700000" algn="tl">
                    <a:srgbClr val="C0C0C0"/>
                  </a:outerShdw>
                </a:effectLst>
                <a:latin typeface="Helvetica"/>
              </a:endParaRPr>
            </a:p>
          </p:txBody>
        </p:sp>
      </p:grpSp>
      <p:grpSp>
        <p:nvGrpSpPr>
          <p:cNvPr id="44037" name="Group 301"/>
          <p:cNvGrpSpPr/>
          <p:nvPr/>
        </p:nvGrpSpPr>
        <p:grpSpPr bwMode="auto">
          <a:xfrm>
            <a:off x="8987692" y="4497754"/>
            <a:ext cx="3049152" cy="1576754"/>
            <a:chOff x="4215" y="2641"/>
            <a:chExt cx="1441" cy="807"/>
          </a:xfrm>
        </p:grpSpPr>
        <p:grpSp>
          <p:nvGrpSpPr>
            <p:cNvPr id="44146" name="Group 302"/>
            <p:cNvGrpSpPr/>
            <p:nvPr/>
          </p:nvGrpSpPr>
          <p:grpSpPr bwMode="auto">
            <a:xfrm>
              <a:off x="4215" y="2641"/>
              <a:ext cx="732" cy="795"/>
              <a:chOff x="4215" y="2641"/>
              <a:chExt cx="732" cy="795"/>
            </a:xfrm>
          </p:grpSpPr>
          <p:grpSp>
            <p:nvGrpSpPr>
              <p:cNvPr id="44170" name="Group 303"/>
              <p:cNvGrpSpPr/>
              <p:nvPr/>
            </p:nvGrpSpPr>
            <p:grpSpPr bwMode="auto">
              <a:xfrm>
                <a:off x="4215" y="2641"/>
                <a:ext cx="710" cy="623"/>
                <a:chOff x="4215" y="2641"/>
                <a:chExt cx="710" cy="623"/>
              </a:xfrm>
            </p:grpSpPr>
            <p:grpSp>
              <p:nvGrpSpPr>
                <p:cNvPr id="44172" name="Group 304"/>
                <p:cNvGrpSpPr/>
                <p:nvPr/>
              </p:nvGrpSpPr>
              <p:grpSpPr bwMode="auto">
                <a:xfrm>
                  <a:off x="4215" y="2641"/>
                  <a:ext cx="710" cy="623"/>
                  <a:chOff x="4215" y="2641"/>
                  <a:chExt cx="710" cy="623"/>
                </a:xfrm>
              </p:grpSpPr>
              <p:sp>
                <p:nvSpPr>
                  <p:cNvPr id="44174" name="Freeform 305"/>
                  <p:cNvSpPr/>
                  <p:nvPr/>
                </p:nvSpPr>
                <p:spPr bwMode="auto">
                  <a:xfrm>
                    <a:off x="4459" y="3060"/>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75" name="Freeform 306"/>
                  <p:cNvSpPr/>
                  <p:nvPr/>
                </p:nvSpPr>
                <p:spPr bwMode="auto">
                  <a:xfrm>
                    <a:off x="4560" y="3077"/>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76" name="Freeform 307"/>
                  <p:cNvSpPr/>
                  <p:nvPr/>
                </p:nvSpPr>
                <p:spPr bwMode="auto">
                  <a:xfrm>
                    <a:off x="4718" y="3057"/>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77" name="Freeform 308"/>
                  <p:cNvSpPr/>
                  <p:nvPr/>
                </p:nvSpPr>
                <p:spPr bwMode="auto">
                  <a:xfrm>
                    <a:off x="4459" y="3135"/>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78" name="Freeform 309"/>
                  <p:cNvSpPr/>
                  <p:nvPr/>
                </p:nvSpPr>
                <p:spPr bwMode="auto">
                  <a:xfrm>
                    <a:off x="4559" y="3065"/>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79" name="Freeform 310"/>
                  <p:cNvSpPr/>
                  <p:nvPr/>
                </p:nvSpPr>
                <p:spPr bwMode="auto">
                  <a:xfrm>
                    <a:off x="4831" y="3174"/>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80" name="Freeform 311"/>
                  <p:cNvSpPr/>
                  <p:nvPr/>
                </p:nvSpPr>
                <p:spPr bwMode="auto">
                  <a:xfrm>
                    <a:off x="4868" y="2641"/>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81" name="Freeform 312"/>
                  <p:cNvSpPr/>
                  <p:nvPr/>
                </p:nvSpPr>
                <p:spPr bwMode="auto">
                  <a:xfrm>
                    <a:off x="4360" y="2642"/>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82" name="Freeform 313"/>
                  <p:cNvSpPr/>
                  <p:nvPr/>
                </p:nvSpPr>
                <p:spPr bwMode="auto">
                  <a:xfrm>
                    <a:off x="4216" y="3230"/>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83" name="Freeform 314"/>
                  <p:cNvSpPr/>
                  <p:nvPr/>
                </p:nvSpPr>
                <p:spPr bwMode="auto">
                  <a:xfrm>
                    <a:off x="4215" y="3173"/>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184" name="Group 315"/>
                  <p:cNvGrpSpPr/>
                  <p:nvPr/>
                </p:nvGrpSpPr>
                <p:grpSpPr bwMode="auto">
                  <a:xfrm>
                    <a:off x="4253" y="3185"/>
                    <a:ext cx="604" cy="37"/>
                    <a:chOff x="4253" y="3185"/>
                    <a:chExt cx="604" cy="37"/>
                  </a:xfrm>
                </p:grpSpPr>
                <p:sp>
                  <p:nvSpPr>
                    <p:cNvPr id="44188" name="Line 316"/>
                    <p:cNvSpPr>
                      <a:spLocks noChangeShapeType="1"/>
                    </p:cNvSpPr>
                    <p:nvPr/>
                  </p:nvSpPr>
                  <p:spPr bwMode="auto">
                    <a:xfrm>
                      <a:off x="4298" y="3185"/>
                      <a:ext cx="559"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89" name="Line 317"/>
                    <p:cNvSpPr>
                      <a:spLocks noChangeShapeType="1"/>
                    </p:cNvSpPr>
                    <p:nvPr/>
                  </p:nvSpPr>
                  <p:spPr bwMode="auto">
                    <a:xfrm>
                      <a:off x="4284" y="3197"/>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90" name="Line 318"/>
                    <p:cNvSpPr>
                      <a:spLocks noChangeShapeType="1"/>
                    </p:cNvSpPr>
                    <p:nvPr/>
                  </p:nvSpPr>
                  <p:spPr bwMode="auto">
                    <a:xfrm>
                      <a:off x="4271" y="3210"/>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91" name="Line 319"/>
                    <p:cNvSpPr>
                      <a:spLocks noChangeShapeType="1"/>
                    </p:cNvSpPr>
                    <p:nvPr/>
                  </p:nvSpPr>
                  <p:spPr bwMode="auto">
                    <a:xfrm>
                      <a:off x="4253" y="3222"/>
                      <a:ext cx="561"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sp>
                <p:nvSpPr>
                  <p:cNvPr id="44185" name="Rectangle 320"/>
                  <p:cNvSpPr>
                    <a:spLocks noChangeArrowheads="1"/>
                  </p:cNvSpPr>
                  <p:nvPr/>
                </p:nvSpPr>
                <p:spPr bwMode="auto">
                  <a:xfrm>
                    <a:off x="4360" y="2690"/>
                    <a:ext cx="508" cy="377"/>
                  </a:xfrm>
                  <a:prstGeom prst="rect">
                    <a:avLst/>
                  </a:prstGeom>
                  <a:solidFill>
                    <a:srgbClr val="9E989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44186" name="Freeform 321"/>
                  <p:cNvSpPr/>
                  <p:nvPr/>
                </p:nvSpPr>
                <p:spPr bwMode="auto">
                  <a:xfrm>
                    <a:off x="4415" y="2738"/>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87" name="Freeform 322"/>
                  <p:cNvSpPr/>
                  <p:nvPr/>
                </p:nvSpPr>
                <p:spPr bwMode="auto">
                  <a:xfrm>
                    <a:off x="4415" y="2738"/>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173" name="Freeform 323"/>
                <p:cNvSpPr/>
                <p:nvPr/>
              </p:nvSpPr>
              <p:spPr bwMode="auto">
                <a:xfrm>
                  <a:off x="4425" y="2752"/>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gradFill rotWithShape="0">
                  <a:gsLst>
                    <a:gs pos="0">
                      <a:srgbClr val="FC0128"/>
                    </a:gs>
                    <a:gs pos="100000">
                      <a:srgbClr val="650010"/>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 name="Rectangle 324"/>
              <p:cNvSpPr>
                <a:spLocks noChangeArrowheads="1"/>
              </p:cNvSpPr>
              <p:nvPr/>
            </p:nvSpPr>
            <p:spPr bwMode="auto">
              <a:xfrm>
                <a:off x="4332" y="3239"/>
                <a:ext cx="615" cy="197"/>
              </a:xfrm>
              <a:prstGeom prst="rect">
                <a:avLst/>
              </a:prstGeom>
              <a:noFill/>
              <a:ln w="9525">
                <a:noFill/>
                <a:miter lim="800000"/>
              </a:ln>
            </p:spPr>
            <p:txBody>
              <a:bodyPr wrap="none" lIns="113284" tIns="56643" rIns="113284" bIns="56643">
                <a:spAutoFit/>
              </a:bodyPr>
              <a:lstStyle/>
              <a:p>
                <a:pPr algn="ctr" defTabSz="446405">
                  <a:lnSpc>
                    <a:spcPct val="90000"/>
                  </a:lnSpc>
                  <a:defRPr/>
                </a:pPr>
                <a:r>
                  <a:rPr kumimoji="1" lang="zh-CN" altLang="en-US" sz="1970" b="1">
                    <a:effectLst>
                      <a:outerShdw blurRad="38100" dist="38100" dir="2700000" algn="tl">
                        <a:srgbClr val="C0C0C0"/>
                      </a:outerShdw>
                    </a:effectLst>
                    <a:latin typeface="Helvetica"/>
                  </a:rPr>
                  <a:t>外部</a:t>
                </a:r>
                <a:r>
                  <a:rPr kumimoji="1" lang="en-US" altLang="zh-CN" sz="1970" b="1">
                    <a:effectLst>
                      <a:outerShdw blurRad="38100" dist="38100" dir="2700000" algn="tl">
                        <a:srgbClr val="C0C0C0"/>
                      </a:outerShdw>
                    </a:effectLst>
                    <a:latin typeface="Helvetica"/>
                  </a:rPr>
                  <a:t>/</a:t>
                </a:r>
                <a:r>
                  <a:rPr kumimoji="1" lang="zh-CN" altLang="en-US" sz="1970" b="1">
                    <a:effectLst>
                      <a:outerShdw blurRad="38100" dist="38100" dir="2700000" algn="tl">
                        <a:srgbClr val="C0C0C0"/>
                      </a:outerShdw>
                    </a:effectLst>
                    <a:latin typeface="Helvetica"/>
                  </a:rPr>
                  <a:t>个体</a:t>
                </a:r>
                <a:endParaRPr kumimoji="1" lang="zh-CN" altLang="en-US" sz="1970" b="1">
                  <a:effectLst>
                    <a:outerShdw blurRad="38100" dist="38100" dir="2700000" algn="tl">
                      <a:srgbClr val="C0C0C0"/>
                    </a:outerShdw>
                  </a:effectLst>
                  <a:latin typeface="Helvetica"/>
                </a:endParaRPr>
              </a:p>
            </p:txBody>
          </p:sp>
        </p:grpSp>
        <p:grpSp>
          <p:nvGrpSpPr>
            <p:cNvPr id="44147" name="Group 325"/>
            <p:cNvGrpSpPr/>
            <p:nvPr/>
          </p:nvGrpSpPr>
          <p:grpSpPr bwMode="auto">
            <a:xfrm>
              <a:off x="4911" y="2653"/>
              <a:ext cx="745" cy="795"/>
              <a:chOff x="4911" y="2653"/>
              <a:chExt cx="745" cy="795"/>
            </a:xfrm>
          </p:grpSpPr>
          <p:grpSp>
            <p:nvGrpSpPr>
              <p:cNvPr id="44148" name="Group 326"/>
              <p:cNvGrpSpPr/>
              <p:nvPr/>
            </p:nvGrpSpPr>
            <p:grpSpPr bwMode="auto">
              <a:xfrm>
                <a:off x="4911" y="2653"/>
                <a:ext cx="710" cy="623"/>
                <a:chOff x="4911" y="2653"/>
                <a:chExt cx="710" cy="623"/>
              </a:xfrm>
            </p:grpSpPr>
            <p:grpSp>
              <p:nvGrpSpPr>
                <p:cNvPr id="44150" name="Group 327"/>
                <p:cNvGrpSpPr/>
                <p:nvPr/>
              </p:nvGrpSpPr>
              <p:grpSpPr bwMode="auto">
                <a:xfrm>
                  <a:off x="4911" y="2653"/>
                  <a:ext cx="710" cy="623"/>
                  <a:chOff x="4911" y="2653"/>
                  <a:chExt cx="710" cy="623"/>
                </a:xfrm>
              </p:grpSpPr>
              <p:sp>
                <p:nvSpPr>
                  <p:cNvPr id="44152" name="Freeform 328"/>
                  <p:cNvSpPr/>
                  <p:nvPr/>
                </p:nvSpPr>
                <p:spPr bwMode="auto">
                  <a:xfrm>
                    <a:off x="5155" y="3072"/>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53" name="Freeform 329"/>
                  <p:cNvSpPr/>
                  <p:nvPr/>
                </p:nvSpPr>
                <p:spPr bwMode="auto">
                  <a:xfrm>
                    <a:off x="5256" y="3089"/>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54" name="Freeform 330"/>
                  <p:cNvSpPr/>
                  <p:nvPr/>
                </p:nvSpPr>
                <p:spPr bwMode="auto">
                  <a:xfrm>
                    <a:off x="5414" y="3069"/>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55" name="Freeform 331"/>
                  <p:cNvSpPr/>
                  <p:nvPr/>
                </p:nvSpPr>
                <p:spPr bwMode="auto">
                  <a:xfrm>
                    <a:off x="5155" y="3147"/>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56" name="Freeform 332"/>
                  <p:cNvSpPr/>
                  <p:nvPr/>
                </p:nvSpPr>
                <p:spPr bwMode="auto">
                  <a:xfrm>
                    <a:off x="5255" y="3077"/>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57" name="Freeform 333"/>
                  <p:cNvSpPr/>
                  <p:nvPr/>
                </p:nvSpPr>
                <p:spPr bwMode="auto">
                  <a:xfrm>
                    <a:off x="5527" y="3186"/>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58" name="Freeform 334"/>
                  <p:cNvSpPr/>
                  <p:nvPr/>
                </p:nvSpPr>
                <p:spPr bwMode="auto">
                  <a:xfrm>
                    <a:off x="5564" y="2653"/>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59" name="Freeform 335"/>
                  <p:cNvSpPr/>
                  <p:nvPr/>
                </p:nvSpPr>
                <p:spPr bwMode="auto">
                  <a:xfrm>
                    <a:off x="5056" y="2654"/>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60" name="Freeform 336"/>
                  <p:cNvSpPr/>
                  <p:nvPr/>
                </p:nvSpPr>
                <p:spPr bwMode="auto">
                  <a:xfrm>
                    <a:off x="4912" y="3242"/>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61" name="Freeform 337"/>
                  <p:cNvSpPr/>
                  <p:nvPr/>
                </p:nvSpPr>
                <p:spPr bwMode="auto">
                  <a:xfrm>
                    <a:off x="4911" y="3185"/>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162" name="Group 338"/>
                  <p:cNvGrpSpPr/>
                  <p:nvPr/>
                </p:nvGrpSpPr>
                <p:grpSpPr bwMode="auto">
                  <a:xfrm>
                    <a:off x="4949" y="3197"/>
                    <a:ext cx="604" cy="37"/>
                    <a:chOff x="4949" y="3197"/>
                    <a:chExt cx="604" cy="37"/>
                  </a:xfrm>
                </p:grpSpPr>
                <p:sp>
                  <p:nvSpPr>
                    <p:cNvPr id="44166" name="Line 339"/>
                    <p:cNvSpPr>
                      <a:spLocks noChangeShapeType="1"/>
                    </p:cNvSpPr>
                    <p:nvPr/>
                  </p:nvSpPr>
                  <p:spPr bwMode="auto">
                    <a:xfrm>
                      <a:off x="4994" y="3197"/>
                      <a:ext cx="559"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67" name="Line 340"/>
                    <p:cNvSpPr>
                      <a:spLocks noChangeShapeType="1"/>
                    </p:cNvSpPr>
                    <p:nvPr/>
                  </p:nvSpPr>
                  <p:spPr bwMode="auto">
                    <a:xfrm>
                      <a:off x="4980" y="3209"/>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68" name="Line 341"/>
                    <p:cNvSpPr>
                      <a:spLocks noChangeShapeType="1"/>
                    </p:cNvSpPr>
                    <p:nvPr/>
                  </p:nvSpPr>
                  <p:spPr bwMode="auto">
                    <a:xfrm>
                      <a:off x="4967" y="3222"/>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69" name="Line 342"/>
                    <p:cNvSpPr>
                      <a:spLocks noChangeShapeType="1"/>
                    </p:cNvSpPr>
                    <p:nvPr/>
                  </p:nvSpPr>
                  <p:spPr bwMode="auto">
                    <a:xfrm>
                      <a:off x="4949" y="3234"/>
                      <a:ext cx="561"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sp>
                <p:nvSpPr>
                  <p:cNvPr id="44163" name="Rectangle 343"/>
                  <p:cNvSpPr>
                    <a:spLocks noChangeArrowheads="1"/>
                  </p:cNvSpPr>
                  <p:nvPr/>
                </p:nvSpPr>
                <p:spPr bwMode="auto">
                  <a:xfrm>
                    <a:off x="5056" y="2702"/>
                    <a:ext cx="508" cy="377"/>
                  </a:xfrm>
                  <a:prstGeom prst="rect">
                    <a:avLst/>
                  </a:prstGeom>
                  <a:solidFill>
                    <a:srgbClr val="9E989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44164" name="Freeform 344"/>
                  <p:cNvSpPr/>
                  <p:nvPr/>
                </p:nvSpPr>
                <p:spPr bwMode="auto">
                  <a:xfrm>
                    <a:off x="5111" y="2750"/>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65" name="Freeform 345"/>
                  <p:cNvSpPr/>
                  <p:nvPr/>
                </p:nvSpPr>
                <p:spPr bwMode="auto">
                  <a:xfrm>
                    <a:off x="5111" y="2750"/>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151" name="Freeform 346"/>
                <p:cNvSpPr/>
                <p:nvPr/>
              </p:nvSpPr>
              <p:spPr bwMode="auto">
                <a:xfrm>
                  <a:off x="5121" y="2764"/>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gradFill rotWithShape="0">
                  <a:gsLst>
                    <a:gs pos="0">
                      <a:srgbClr val="FC0128"/>
                    </a:gs>
                    <a:gs pos="100000">
                      <a:srgbClr val="650010"/>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8" name="Rectangle 347"/>
              <p:cNvSpPr>
                <a:spLocks noChangeArrowheads="1"/>
              </p:cNvSpPr>
              <p:nvPr/>
            </p:nvSpPr>
            <p:spPr bwMode="auto">
              <a:xfrm>
                <a:off x="5041" y="3251"/>
                <a:ext cx="615" cy="197"/>
              </a:xfrm>
              <a:prstGeom prst="rect">
                <a:avLst/>
              </a:prstGeom>
              <a:noFill/>
              <a:ln w="9525">
                <a:noFill/>
                <a:miter lim="800000"/>
              </a:ln>
            </p:spPr>
            <p:txBody>
              <a:bodyPr wrap="none" lIns="113284" tIns="56643" rIns="113284" bIns="56643">
                <a:spAutoFit/>
              </a:bodyPr>
              <a:lstStyle/>
              <a:p>
                <a:pPr algn="ctr" defTabSz="446405">
                  <a:lnSpc>
                    <a:spcPct val="90000"/>
                  </a:lnSpc>
                  <a:defRPr/>
                </a:pPr>
                <a:r>
                  <a:rPr kumimoji="1" lang="zh-CN" altLang="en-US" sz="1970" b="1">
                    <a:effectLst>
                      <a:outerShdw blurRad="38100" dist="38100" dir="2700000" algn="tl">
                        <a:srgbClr val="C0C0C0"/>
                      </a:outerShdw>
                    </a:effectLst>
                    <a:latin typeface="Helvetica"/>
                  </a:rPr>
                  <a:t>外部</a:t>
                </a:r>
                <a:r>
                  <a:rPr kumimoji="1" lang="en-US" altLang="zh-CN" sz="1970" b="1">
                    <a:effectLst>
                      <a:outerShdw blurRad="38100" dist="38100" dir="2700000" algn="tl">
                        <a:srgbClr val="C0C0C0"/>
                      </a:outerShdw>
                    </a:effectLst>
                    <a:latin typeface="Helvetica"/>
                  </a:rPr>
                  <a:t>/</a:t>
                </a:r>
                <a:r>
                  <a:rPr kumimoji="1" lang="zh-CN" altLang="en-US" sz="1970" b="1">
                    <a:effectLst>
                      <a:outerShdw blurRad="38100" dist="38100" dir="2700000" algn="tl">
                        <a:srgbClr val="C0C0C0"/>
                      </a:outerShdw>
                    </a:effectLst>
                    <a:latin typeface="Helvetica"/>
                  </a:rPr>
                  <a:t>组织</a:t>
                </a:r>
                <a:endParaRPr kumimoji="1" lang="zh-CN" altLang="en-US" sz="1970" b="1">
                  <a:effectLst>
                    <a:outerShdw blurRad="38100" dist="38100" dir="2700000" algn="tl">
                      <a:srgbClr val="C0C0C0"/>
                    </a:outerShdw>
                  </a:effectLst>
                  <a:latin typeface="Helvetica"/>
                </a:endParaRPr>
              </a:p>
            </p:txBody>
          </p:sp>
        </p:grpSp>
      </p:grpSp>
      <p:grpSp>
        <p:nvGrpSpPr>
          <p:cNvPr id="44038" name="Group 348"/>
          <p:cNvGrpSpPr/>
          <p:nvPr/>
        </p:nvGrpSpPr>
        <p:grpSpPr bwMode="auto">
          <a:xfrm>
            <a:off x="6041292" y="4521201"/>
            <a:ext cx="3001108" cy="1553308"/>
            <a:chOff x="2823" y="2653"/>
            <a:chExt cx="1418" cy="795"/>
          </a:xfrm>
        </p:grpSpPr>
        <p:grpSp>
          <p:nvGrpSpPr>
            <p:cNvPr id="44102" name="Group 349"/>
            <p:cNvGrpSpPr/>
            <p:nvPr/>
          </p:nvGrpSpPr>
          <p:grpSpPr bwMode="auto">
            <a:xfrm>
              <a:off x="2823" y="2653"/>
              <a:ext cx="710" cy="795"/>
              <a:chOff x="2823" y="2653"/>
              <a:chExt cx="710" cy="795"/>
            </a:xfrm>
          </p:grpSpPr>
          <p:grpSp>
            <p:nvGrpSpPr>
              <p:cNvPr id="44125" name="Group 350"/>
              <p:cNvGrpSpPr/>
              <p:nvPr/>
            </p:nvGrpSpPr>
            <p:grpSpPr bwMode="auto">
              <a:xfrm>
                <a:off x="2823" y="2653"/>
                <a:ext cx="710" cy="623"/>
                <a:chOff x="2823" y="2653"/>
                <a:chExt cx="710" cy="623"/>
              </a:xfrm>
            </p:grpSpPr>
            <p:sp>
              <p:nvSpPr>
                <p:cNvPr id="44128" name="Freeform 351"/>
                <p:cNvSpPr/>
                <p:nvPr/>
              </p:nvSpPr>
              <p:spPr bwMode="auto">
                <a:xfrm>
                  <a:off x="3067" y="3072"/>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29" name="Freeform 352"/>
                <p:cNvSpPr/>
                <p:nvPr/>
              </p:nvSpPr>
              <p:spPr bwMode="auto">
                <a:xfrm>
                  <a:off x="3168" y="3089"/>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0" name="Freeform 353"/>
                <p:cNvSpPr/>
                <p:nvPr/>
              </p:nvSpPr>
              <p:spPr bwMode="auto">
                <a:xfrm>
                  <a:off x="3326" y="3069"/>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1" name="Freeform 354"/>
                <p:cNvSpPr/>
                <p:nvPr/>
              </p:nvSpPr>
              <p:spPr bwMode="auto">
                <a:xfrm>
                  <a:off x="3067" y="3147"/>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2" name="Freeform 355"/>
                <p:cNvSpPr/>
                <p:nvPr/>
              </p:nvSpPr>
              <p:spPr bwMode="auto">
                <a:xfrm>
                  <a:off x="3167" y="3077"/>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3" name="Freeform 356"/>
                <p:cNvSpPr/>
                <p:nvPr/>
              </p:nvSpPr>
              <p:spPr bwMode="auto">
                <a:xfrm>
                  <a:off x="3439" y="3186"/>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4" name="Freeform 357"/>
                <p:cNvSpPr/>
                <p:nvPr/>
              </p:nvSpPr>
              <p:spPr bwMode="auto">
                <a:xfrm>
                  <a:off x="3476" y="2653"/>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5" name="Freeform 358"/>
                <p:cNvSpPr/>
                <p:nvPr/>
              </p:nvSpPr>
              <p:spPr bwMode="auto">
                <a:xfrm>
                  <a:off x="2968" y="2654"/>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6" name="Freeform 359"/>
                <p:cNvSpPr/>
                <p:nvPr/>
              </p:nvSpPr>
              <p:spPr bwMode="auto">
                <a:xfrm>
                  <a:off x="2824" y="3242"/>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37" name="Freeform 360"/>
                <p:cNvSpPr/>
                <p:nvPr/>
              </p:nvSpPr>
              <p:spPr bwMode="auto">
                <a:xfrm>
                  <a:off x="2823" y="3185"/>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138" name="Group 361"/>
                <p:cNvGrpSpPr/>
                <p:nvPr/>
              </p:nvGrpSpPr>
              <p:grpSpPr bwMode="auto">
                <a:xfrm>
                  <a:off x="2861" y="3197"/>
                  <a:ext cx="604" cy="37"/>
                  <a:chOff x="2861" y="3197"/>
                  <a:chExt cx="604" cy="37"/>
                </a:xfrm>
              </p:grpSpPr>
              <p:sp>
                <p:nvSpPr>
                  <p:cNvPr id="44142" name="Line 362"/>
                  <p:cNvSpPr>
                    <a:spLocks noChangeShapeType="1"/>
                  </p:cNvSpPr>
                  <p:nvPr/>
                </p:nvSpPr>
                <p:spPr bwMode="auto">
                  <a:xfrm>
                    <a:off x="2906" y="3197"/>
                    <a:ext cx="559"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43" name="Line 363"/>
                  <p:cNvSpPr>
                    <a:spLocks noChangeShapeType="1"/>
                  </p:cNvSpPr>
                  <p:nvPr/>
                </p:nvSpPr>
                <p:spPr bwMode="auto">
                  <a:xfrm>
                    <a:off x="2892" y="3209"/>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44" name="Line 364"/>
                  <p:cNvSpPr>
                    <a:spLocks noChangeShapeType="1"/>
                  </p:cNvSpPr>
                  <p:nvPr/>
                </p:nvSpPr>
                <p:spPr bwMode="auto">
                  <a:xfrm>
                    <a:off x="2879" y="3222"/>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45" name="Line 365"/>
                  <p:cNvSpPr>
                    <a:spLocks noChangeShapeType="1"/>
                  </p:cNvSpPr>
                  <p:nvPr/>
                </p:nvSpPr>
                <p:spPr bwMode="auto">
                  <a:xfrm>
                    <a:off x="2861" y="3234"/>
                    <a:ext cx="561"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sp>
              <p:nvSpPr>
                <p:cNvPr id="44139" name="Rectangle 366"/>
                <p:cNvSpPr>
                  <a:spLocks noChangeArrowheads="1"/>
                </p:cNvSpPr>
                <p:nvPr/>
              </p:nvSpPr>
              <p:spPr bwMode="auto">
                <a:xfrm>
                  <a:off x="2968" y="2702"/>
                  <a:ext cx="508" cy="377"/>
                </a:xfrm>
                <a:prstGeom prst="rect">
                  <a:avLst/>
                </a:prstGeom>
                <a:solidFill>
                  <a:srgbClr val="9E989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44140" name="Freeform 367"/>
                <p:cNvSpPr/>
                <p:nvPr/>
              </p:nvSpPr>
              <p:spPr bwMode="auto">
                <a:xfrm>
                  <a:off x="3023" y="2750"/>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41" name="Freeform 368"/>
                <p:cNvSpPr/>
                <p:nvPr/>
              </p:nvSpPr>
              <p:spPr bwMode="auto">
                <a:xfrm>
                  <a:off x="3023" y="2750"/>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126" name="Freeform 369"/>
              <p:cNvSpPr/>
              <p:nvPr/>
            </p:nvSpPr>
            <p:spPr bwMode="auto">
              <a:xfrm>
                <a:off x="3033" y="2764"/>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gradFill rotWithShape="0">
                <a:gsLst>
                  <a:gs pos="0">
                    <a:srgbClr val="33CC33"/>
                  </a:gs>
                  <a:gs pos="100000">
                    <a:srgbClr val="145214"/>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12" name="Rectangle 370"/>
              <p:cNvSpPr>
                <a:spLocks noChangeArrowheads="1"/>
              </p:cNvSpPr>
              <p:nvPr/>
            </p:nvSpPr>
            <p:spPr bwMode="auto">
              <a:xfrm>
                <a:off x="2905" y="3251"/>
                <a:ext cx="615" cy="197"/>
              </a:xfrm>
              <a:prstGeom prst="rect">
                <a:avLst/>
              </a:prstGeom>
              <a:noFill/>
              <a:ln w="9525">
                <a:noFill/>
                <a:miter lim="800000"/>
              </a:ln>
            </p:spPr>
            <p:txBody>
              <a:bodyPr wrap="none" lIns="113284" tIns="56643" rIns="113284" bIns="56643">
                <a:spAutoFit/>
              </a:bodyPr>
              <a:lstStyle/>
              <a:p>
                <a:pPr algn="ctr" defTabSz="446405">
                  <a:lnSpc>
                    <a:spcPct val="90000"/>
                  </a:lnSpc>
                  <a:defRPr/>
                </a:pPr>
                <a:r>
                  <a:rPr kumimoji="1" lang="zh-CN" altLang="en-US" sz="1970" b="1">
                    <a:effectLst>
                      <a:outerShdw blurRad="38100" dist="38100" dir="2700000" algn="tl">
                        <a:srgbClr val="C0C0C0"/>
                      </a:outerShdw>
                    </a:effectLst>
                    <a:latin typeface="Helvetica"/>
                  </a:rPr>
                  <a:t>内部</a:t>
                </a:r>
                <a:r>
                  <a:rPr kumimoji="1" lang="en-US" altLang="zh-CN" sz="1970" b="1">
                    <a:effectLst>
                      <a:outerShdw blurRad="38100" dist="38100" dir="2700000" algn="tl">
                        <a:srgbClr val="C0C0C0"/>
                      </a:outerShdw>
                    </a:effectLst>
                    <a:latin typeface="Helvetica"/>
                  </a:rPr>
                  <a:t>/</a:t>
                </a:r>
                <a:r>
                  <a:rPr kumimoji="1" lang="zh-CN" altLang="en-US" sz="1970" b="1">
                    <a:effectLst>
                      <a:outerShdw blurRad="38100" dist="38100" dir="2700000" algn="tl">
                        <a:srgbClr val="C0C0C0"/>
                      </a:outerShdw>
                    </a:effectLst>
                    <a:latin typeface="Helvetica"/>
                  </a:rPr>
                  <a:t>个体</a:t>
                </a:r>
                <a:endParaRPr kumimoji="1" lang="zh-CN" altLang="en-US" sz="1970" b="1">
                  <a:effectLst>
                    <a:outerShdw blurRad="38100" dist="38100" dir="2700000" algn="tl">
                      <a:srgbClr val="C0C0C0"/>
                    </a:outerShdw>
                  </a:effectLst>
                  <a:latin typeface="Helvetica"/>
                </a:endParaRPr>
              </a:p>
            </p:txBody>
          </p:sp>
        </p:grpSp>
        <p:grpSp>
          <p:nvGrpSpPr>
            <p:cNvPr id="44103" name="Group 371"/>
            <p:cNvGrpSpPr/>
            <p:nvPr/>
          </p:nvGrpSpPr>
          <p:grpSpPr bwMode="auto">
            <a:xfrm>
              <a:off x="3531" y="2653"/>
              <a:ext cx="710" cy="795"/>
              <a:chOff x="3531" y="2653"/>
              <a:chExt cx="710" cy="795"/>
            </a:xfrm>
          </p:grpSpPr>
          <p:grpSp>
            <p:nvGrpSpPr>
              <p:cNvPr id="44104" name="Group 372"/>
              <p:cNvGrpSpPr/>
              <p:nvPr/>
            </p:nvGrpSpPr>
            <p:grpSpPr bwMode="auto">
              <a:xfrm>
                <a:off x="3531" y="2653"/>
                <a:ext cx="710" cy="623"/>
                <a:chOff x="3531" y="2653"/>
                <a:chExt cx="710" cy="623"/>
              </a:xfrm>
            </p:grpSpPr>
            <p:sp>
              <p:nvSpPr>
                <p:cNvPr id="44107" name="Freeform 373"/>
                <p:cNvSpPr/>
                <p:nvPr/>
              </p:nvSpPr>
              <p:spPr bwMode="auto">
                <a:xfrm>
                  <a:off x="3775" y="3072"/>
                  <a:ext cx="340" cy="76"/>
                </a:xfrm>
                <a:custGeom>
                  <a:avLst/>
                  <a:gdLst>
                    <a:gd name="T0" fmla="*/ 0 w 340"/>
                    <a:gd name="T1" fmla="*/ 75 h 76"/>
                    <a:gd name="T2" fmla="*/ 254 w 340"/>
                    <a:gd name="T3" fmla="*/ 75 h 76"/>
                    <a:gd name="T4" fmla="*/ 339 w 340"/>
                    <a:gd name="T5" fmla="*/ 0 h 76"/>
                    <a:gd name="T6" fmla="*/ 80 w 340"/>
                    <a:gd name="T7" fmla="*/ 0 h 76"/>
                    <a:gd name="T8" fmla="*/ 0 w 340"/>
                    <a:gd name="T9" fmla="*/ 75 h 76"/>
                    <a:gd name="T10" fmla="*/ 0 60000 65536"/>
                    <a:gd name="T11" fmla="*/ 0 60000 65536"/>
                    <a:gd name="T12" fmla="*/ 0 60000 65536"/>
                    <a:gd name="T13" fmla="*/ 0 60000 65536"/>
                    <a:gd name="T14" fmla="*/ 0 60000 65536"/>
                    <a:gd name="T15" fmla="*/ 0 w 340"/>
                    <a:gd name="T16" fmla="*/ 0 h 76"/>
                    <a:gd name="T17" fmla="*/ 340 w 340"/>
                    <a:gd name="T18" fmla="*/ 76 h 76"/>
                  </a:gdLst>
                  <a:ahLst/>
                  <a:cxnLst>
                    <a:cxn ang="T10">
                      <a:pos x="T0" y="T1"/>
                    </a:cxn>
                    <a:cxn ang="T11">
                      <a:pos x="T2" y="T3"/>
                    </a:cxn>
                    <a:cxn ang="T12">
                      <a:pos x="T4" y="T5"/>
                    </a:cxn>
                    <a:cxn ang="T13">
                      <a:pos x="T6" y="T7"/>
                    </a:cxn>
                    <a:cxn ang="T14">
                      <a:pos x="T8" y="T9"/>
                    </a:cxn>
                  </a:cxnLst>
                  <a:rect l="T15" t="T16" r="T17" b="T18"/>
                  <a:pathLst>
                    <a:path w="340" h="76">
                      <a:moveTo>
                        <a:pt x="0" y="75"/>
                      </a:moveTo>
                      <a:lnTo>
                        <a:pt x="254" y="75"/>
                      </a:lnTo>
                      <a:lnTo>
                        <a:pt x="339" y="0"/>
                      </a:lnTo>
                      <a:lnTo>
                        <a:pt x="80" y="0"/>
                      </a:lnTo>
                      <a:lnTo>
                        <a:pt x="0" y="75"/>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08" name="Freeform 374"/>
                <p:cNvSpPr/>
                <p:nvPr/>
              </p:nvSpPr>
              <p:spPr bwMode="auto">
                <a:xfrm>
                  <a:off x="3876" y="3089"/>
                  <a:ext cx="120" cy="37"/>
                </a:xfrm>
                <a:custGeom>
                  <a:avLst/>
                  <a:gdLst>
                    <a:gd name="T0" fmla="*/ 0 w 120"/>
                    <a:gd name="T1" fmla="*/ 36 h 37"/>
                    <a:gd name="T2" fmla="*/ 119 w 120"/>
                    <a:gd name="T3" fmla="*/ 36 h 37"/>
                    <a:gd name="T4" fmla="*/ 119 w 120"/>
                    <a:gd name="T5" fmla="*/ 0 h 37"/>
                    <a:gd name="T6" fmla="*/ 0 w 120"/>
                    <a:gd name="T7" fmla="*/ 0 h 37"/>
                    <a:gd name="T8" fmla="*/ 0 w 120"/>
                    <a:gd name="T9" fmla="*/ 36 h 37"/>
                    <a:gd name="T10" fmla="*/ 0 60000 65536"/>
                    <a:gd name="T11" fmla="*/ 0 60000 65536"/>
                    <a:gd name="T12" fmla="*/ 0 60000 65536"/>
                    <a:gd name="T13" fmla="*/ 0 60000 65536"/>
                    <a:gd name="T14" fmla="*/ 0 60000 65536"/>
                    <a:gd name="T15" fmla="*/ 0 w 120"/>
                    <a:gd name="T16" fmla="*/ 0 h 37"/>
                    <a:gd name="T17" fmla="*/ 120 w 120"/>
                    <a:gd name="T18" fmla="*/ 37 h 37"/>
                  </a:gdLst>
                  <a:ahLst/>
                  <a:cxnLst>
                    <a:cxn ang="T10">
                      <a:pos x="T0" y="T1"/>
                    </a:cxn>
                    <a:cxn ang="T11">
                      <a:pos x="T2" y="T3"/>
                    </a:cxn>
                    <a:cxn ang="T12">
                      <a:pos x="T4" y="T5"/>
                    </a:cxn>
                    <a:cxn ang="T13">
                      <a:pos x="T6" y="T7"/>
                    </a:cxn>
                    <a:cxn ang="T14">
                      <a:pos x="T8" y="T9"/>
                    </a:cxn>
                  </a:cxnLst>
                  <a:rect l="T15" t="T16" r="T17" b="T18"/>
                  <a:pathLst>
                    <a:path w="120" h="37">
                      <a:moveTo>
                        <a:pt x="0" y="36"/>
                      </a:moveTo>
                      <a:lnTo>
                        <a:pt x="119" y="36"/>
                      </a:lnTo>
                      <a:lnTo>
                        <a:pt x="119" y="0"/>
                      </a:lnTo>
                      <a:lnTo>
                        <a:pt x="0" y="0"/>
                      </a:lnTo>
                      <a:lnTo>
                        <a:pt x="0" y="36"/>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09" name="Freeform 375"/>
                <p:cNvSpPr/>
                <p:nvPr/>
              </p:nvSpPr>
              <p:spPr bwMode="auto">
                <a:xfrm>
                  <a:off x="4034" y="3069"/>
                  <a:ext cx="108" cy="96"/>
                </a:xfrm>
                <a:custGeom>
                  <a:avLst/>
                  <a:gdLst>
                    <a:gd name="T0" fmla="*/ 107 w 108"/>
                    <a:gd name="T1" fmla="*/ 1 h 96"/>
                    <a:gd name="T2" fmla="*/ 84 w 108"/>
                    <a:gd name="T3" fmla="*/ 0 h 96"/>
                    <a:gd name="T4" fmla="*/ 0 w 108"/>
                    <a:gd name="T5" fmla="*/ 73 h 96"/>
                    <a:gd name="T6" fmla="*/ 0 w 108"/>
                    <a:gd name="T7" fmla="*/ 95 h 96"/>
                    <a:gd name="T8" fmla="*/ 107 w 108"/>
                    <a:gd name="T9" fmla="*/ 1 h 96"/>
                    <a:gd name="T10" fmla="*/ 0 60000 65536"/>
                    <a:gd name="T11" fmla="*/ 0 60000 65536"/>
                    <a:gd name="T12" fmla="*/ 0 60000 65536"/>
                    <a:gd name="T13" fmla="*/ 0 60000 65536"/>
                    <a:gd name="T14" fmla="*/ 0 60000 65536"/>
                    <a:gd name="T15" fmla="*/ 0 w 108"/>
                    <a:gd name="T16" fmla="*/ 0 h 96"/>
                    <a:gd name="T17" fmla="*/ 108 w 108"/>
                    <a:gd name="T18" fmla="*/ 96 h 96"/>
                  </a:gdLst>
                  <a:ahLst/>
                  <a:cxnLst>
                    <a:cxn ang="T10">
                      <a:pos x="T0" y="T1"/>
                    </a:cxn>
                    <a:cxn ang="T11">
                      <a:pos x="T2" y="T3"/>
                    </a:cxn>
                    <a:cxn ang="T12">
                      <a:pos x="T4" y="T5"/>
                    </a:cxn>
                    <a:cxn ang="T13">
                      <a:pos x="T6" y="T7"/>
                    </a:cxn>
                    <a:cxn ang="T14">
                      <a:pos x="T8" y="T9"/>
                    </a:cxn>
                  </a:cxnLst>
                  <a:rect l="T15" t="T16" r="T17" b="T18"/>
                  <a:pathLst>
                    <a:path w="108" h="96">
                      <a:moveTo>
                        <a:pt x="107" y="1"/>
                      </a:moveTo>
                      <a:lnTo>
                        <a:pt x="84" y="0"/>
                      </a:lnTo>
                      <a:lnTo>
                        <a:pt x="0" y="73"/>
                      </a:lnTo>
                      <a:lnTo>
                        <a:pt x="0" y="95"/>
                      </a:lnTo>
                      <a:lnTo>
                        <a:pt x="107" y="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10" name="Freeform 376"/>
                <p:cNvSpPr/>
                <p:nvPr/>
              </p:nvSpPr>
              <p:spPr bwMode="auto">
                <a:xfrm>
                  <a:off x="3775" y="3147"/>
                  <a:ext cx="260" cy="33"/>
                </a:xfrm>
                <a:custGeom>
                  <a:avLst/>
                  <a:gdLst>
                    <a:gd name="T0" fmla="*/ 259 w 260"/>
                    <a:gd name="T1" fmla="*/ 32 h 33"/>
                    <a:gd name="T2" fmla="*/ 0 w 260"/>
                    <a:gd name="T3" fmla="*/ 32 h 33"/>
                    <a:gd name="T4" fmla="*/ 0 w 260"/>
                    <a:gd name="T5" fmla="*/ 0 h 33"/>
                    <a:gd name="T6" fmla="*/ 259 w 260"/>
                    <a:gd name="T7" fmla="*/ 0 h 33"/>
                    <a:gd name="T8" fmla="*/ 259 w 260"/>
                    <a:gd name="T9" fmla="*/ 32 h 33"/>
                    <a:gd name="T10" fmla="*/ 0 60000 65536"/>
                    <a:gd name="T11" fmla="*/ 0 60000 65536"/>
                    <a:gd name="T12" fmla="*/ 0 60000 65536"/>
                    <a:gd name="T13" fmla="*/ 0 60000 65536"/>
                    <a:gd name="T14" fmla="*/ 0 60000 65536"/>
                    <a:gd name="T15" fmla="*/ 0 w 260"/>
                    <a:gd name="T16" fmla="*/ 0 h 33"/>
                    <a:gd name="T17" fmla="*/ 260 w 260"/>
                    <a:gd name="T18" fmla="*/ 33 h 33"/>
                  </a:gdLst>
                  <a:ahLst/>
                  <a:cxnLst>
                    <a:cxn ang="T10">
                      <a:pos x="T0" y="T1"/>
                    </a:cxn>
                    <a:cxn ang="T11">
                      <a:pos x="T2" y="T3"/>
                    </a:cxn>
                    <a:cxn ang="T12">
                      <a:pos x="T4" y="T5"/>
                    </a:cxn>
                    <a:cxn ang="T13">
                      <a:pos x="T6" y="T7"/>
                    </a:cxn>
                    <a:cxn ang="T14">
                      <a:pos x="T8" y="T9"/>
                    </a:cxn>
                  </a:cxnLst>
                  <a:rect l="T15" t="T16" r="T17" b="T18"/>
                  <a:pathLst>
                    <a:path w="260" h="33">
                      <a:moveTo>
                        <a:pt x="259" y="32"/>
                      </a:moveTo>
                      <a:lnTo>
                        <a:pt x="0" y="32"/>
                      </a:lnTo>
                      <a:lnTo>
                        <a:pt x="0" y="0"/>
                      </a:lnTo>
                      <a:lnTo>
                        <a:pt x="259" y="0"/>
                      </a:lnTo>
                      <a:lnTo>
                        <a:pt x="259" y="32"/>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11" name="Freeform 377"/>
                <p:cNvSpPr/>
                <p:nvPr/>
              </p:nvSpPr>
              <p:spPr bwMode="auto">
                <a:xfrm>
                  <a:off x="3875" y="3077"/>
                  <a:ext cx="173" cy="49"/>
                </a:xfrm>
                <a:custGeom>
                  <a:avLst/>
                  <a:gdLst>
                    <a:gd name="T0" fmla="*/ 0 w 173"/>
                    <a:gd name="T1" fmla="*/ 0 h 49"/>
                    <a:gd name="T2" fmla="*/ 0 w 173"/>
                    <a:gd name="T3" fmla="*/ 12 h 49"/>
                    <a:gd name="T4" fmla="*/ 120 w 173"/>
                    <a:gd name="T5" fmla="*/ 12 h 49"/>
                    <a:gd name="T6" fmla="*/ 120 w 173"/>
                    <a:gd name="T7" fmla="*/ 48 h 49"/>
                    <a:gd name="T8" fmla="*/ 172 w 173"/>
                    <a:gd name="T9" fmla="*/ 0 h 49"/>
                    <a:gd name="T10" fmla="*/ 0 w 173"/>
                    <a:gd name="T11" fmla="*/ 0 h 49"/>
                    <a:gd name="T12" fmla="*/ 0 60000 65536"/>
                    <a:gd name="T13" fmla="*/ 0 60000 65536"/>
                    <a:gd name="T14" fmla="*/ 0 60000 65536"/>
                    <a:gd name="T15" fmla="*/ 0 60000 65536"/>
                    <a:gd name="T16" fmla="*/ 0 60000 65536"/>
                    <a:gd name="T17" fmla="*/ 0 60000 65536"/>
                    <a:gd name="T18" fmla="*/ 0 w 173"/>
                    <a:gd name="T19" fmla="*/ 0 h 49"/>
                    <a:gd name="T20" fmla="*/ 173 w 17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173" h="49">
                      <a:moveTo>
                        <a:pt x="0" y="0"/>
                      </a:moveTo>
                      <a:lnTo>
                        <a:pt x="0" y="12"/>
                      </a:lnTo>
                      <a:lnTo>
                        <a:pt x="120" y="12"/>
                      </a:lnTo>
                      <a:lnTo>
                        <a:pt x="120" y="48"/>
                      </a:lnTo>
                      <a:lnTo>
                        <a:pt x="172" y="0"/>
                      </a:lnTo>
                      <a:lnTo>
                        <a:pt x="0"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12" name="Freeform 378"/>
                <p:cNvSpPr/>
                <p:nvPr/>
              </p:nvSpPr>
              <p:spPr bwMode="auto">
                <a:xfrm>
                  <a:off x="4147" y="3186"/>
                  <a:ext cx="70" cy="90"/>
                </a:xfrm>
                <a:custGeom>
                  <a:avLst/>
                  <a:gdLst>
                    <a:gd name="T0" fmla="*/ 0 w 70"/>
                    <a:gd name="T1" fmla="*/ 89 h 90"/>
                    <a:gd name="T2" fmla="*/ 0 w 70"/>
                    <a:gd name="T3" fmla="*/ 58 h 90"/>
                    <a:gd name="T4" fmla="*/ 69 w 70"/>
                    <a:gd name="T5" fmla="*/ 0 h 90"/>
                    <a:gd name="T6" fmla="*/ 69 w 70"/>
                    <a:gd name="T7" fmla="*/ 30 h 90"/>
                    <a:gd name="T8" fmla="*/ 0 w 70"/>
                    <a:gd name="T9" fmla="*/ 89 h 90"/>
                    <a:gd name="T10" fmla="*/ 0 60000 65536"/>
                    <a:gd name="T11" fmla="*/ 0 60000 65536"/>
                    <a:gd name="T12" fmla="*/ 0 60000 65536"/>
                    <a:gd name="T13" fmla="*/ 0 60000 65536"/>
                    <a:gd name="T14" fmla="*/ 0 60000 65536"/>
                    <a:gd name="T15" fmla="*/ 0 w 70"/>
                    <a:gd name="T16" fmla="*/ 0 h 90"/>
                    <a:gd name="T17" fmla="*/ 70 w 70"/>
                    <a:gd name="T18" fmla="*/ 90 h 90"/>
                  </a:gdLst>
                  <a:ahLst/>
                  <a:cxnLst>
                    <a:cxn ang="T10">
                      <a:pos x="T0" y="T1"/>
                    </a:cxn>
                    <a:cxn ang="T11">
                      <a:pos x="T2" y="T3"/>
                    </a:cxn>
                    <a:cxn ang="T12">
                      <a:pos x="T4" y="T5"/>
                    </a:cxn>
                    <a:cxn ang="T13">
                      <a:pos x="T6" y="T7"/>
                    </a:cxn>
                    <a:cxn ang="T14">
                      <a:pos x="T8" y="T9"/>
                    </a:cxn>
                  </a:cxnLst>
                  <a:rect l="T15" t="T16" r="T17" b="T18"/>
                  <a:pathLst>
                    <a:path w="70" h="90">
                      <a:moveTo>
                        <a:pt x="0" y="89"/>
                      </a:moveTo>
                      <a:lnTo>
                        <a:pt x="0" y="58"/>
                      </a:lnTo>
                      <a:lnTo>
                        <a:pt x="69" y="0"/>
                      </a:lnTo>
                      <a:lnTo>
                        <a:pt x="69" y="30"/>
                      </a:lnTo>
                      <a:lnTo>
                        <a:pt x="0" y="89"/>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13" name="Freeform 379"/>
                <p:cNvSpPr/>
                <p:nvPr/>
              </p:nvSpPr>
              <p:spPr bwMode="auto">
                <a:xfrm>
                  <a:off x="4184" y="2653"/>
                  <a:ext cx="57" cy="427"/>
                </a:xfrm>
                <a:custGeom>
                  <a:avLst/>
                  <a:gdLst>
                    <a:gd name="T0" fmla="*/ 0 w 57"/>
                    <a:gd name="T1" fmla="*/ 51 h 427"/>
                    <a:gd name="T2" fmla="*/ 56 w 57"/>
                    <a:gd name="T3" fmla="*/ 0 h 427"/>
                    <a:gd name="T4" fmla="*/ 56 w 57"/>
                    <a:gd name="T5" fmla="*/ 374 h 427"/>
                    <a:gd name="T6" fmla="*/ 0 w 57"/>
                    <a:gd name="T7" fmla="*/ 426 h 427"/>
                    <a:gd name="T8" fmla="*/ 0 w 57"/>
                    <a:gd name="T9" fmla="*/ 51 h 427"/>
                    <a:gd name="T10" fmla="*/ 0 60000 65536"/>
                    <a:gd name="T11" fmla="*/ 0 60000 65536"/>
                    <a:gd name="T12" fmla="*/ 0 60000 65536"/>
                    <a:gd name="T13" fmla="*/ 0 60000 65536"/>
                    <a:gd name="T14" fmla="*/ 0 60000 65536"/>
                    <a:gd name="T15" fmla="*/ 0 w 57"/>
                    <a:gd name="T16" fmla="*/ 0 h 427"/>
                    <a:gd name="T17" fmla="*/ 57 w 57"/>
                    <a:gd name="T18" fmla="*/ 427 h 427"/>
                  </a:gdLst>
                  <a:ahLst/>
                  <a:cxnLst>
                    <a:cxn ang="T10">
                      <a:pos x="T0" y="T1"/>
                    </a:cxn>
                    <a:cxn ang="T11">
                      <a:pos x="T2" y="T3"/>
                    </a:cxn>
                    <a:cxn ang="T12">
                      <a:pos x="T4" y="T5"/>
                    </a:cxn>
                    <a:cxn ang="T13">
                      <a:pos x="T6" y="T7"/>
                    </a:cxn>
                    <a:cxn ang="T14">
                      <a:pos x="T8" y="T9"/>
                    </a:cxn>
                  </a:cxnLst>
                  <a:rect l="T15" t="T16" r="T17" b="T18"/>
                  <a:pathLst>
                    <a:path w="57" h="427">
                      <a:moveTo>
                        <a:pt x="0" y="51"/>
                      </a:moveTo>
                      <a:lnTo>
                        <a:pt x="56" y="0"/>
                      </a:lnTo>
                      <a:lnTo>
                        <a:pt x="56" y="374"/>
                      </a:lnTo>
                      <a:lnTo>
                        <a:pt x="0" y="426"/>
                      </a:lnTo>
                      <a:lnTo>
                        <a:pt x="0" y="51"/>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14" name="Freeform 380"/>
                <p:cNvSpPr/>
                <p:nvPr/>
              </p:nvSpPr>
              <p:spPr bwMode="auto">
                <a:xfrm>
                  <a:off x="3676" y="2654"/>
                  <a:ext cx="563" cy="49"/>
                </a:xfrm>
                <a:custGeom>
                  <a:avLst/>
                  <a:gdLst>
                    <a:gd name="T0" fmla="*/ 0 w 563"/>
                    <a:gd name="T1" fmla="*/ 48 h 49"/>
                    <a:gd name="T2" fmla="*/ 55 w 563"/>
                    <a:gd name="T3" fmla="*/ 0 h 49"/>
                    <a:gd name="T4" fmla="*/ 562 w 563"/>
                    <a:gd name="T5" fmla="*/ 0 h 49"/>
                    <a:gd name="T6" fmla="*/ 506 w 563"/>
                    <a:gd name="T7" fmla="*/ 48 h 49"/>
                    <a:gd name="T8" fmla="*/ 0 w 563"/>
                    <a:gd name="T9" fmla="*/ 48 h 49"/>
                    <a:gd name="T10" fmla="*/ 0 60000 65536"/>
                    <a:gd name="T11" fmla="*/ 0 60000 65536"/>
                    <a:gd name="T12" fmla="*/ 0 60000 65536"/>
                    <a:gd name="T13" fmla="*/ 0 60000 65536"/>
                    <a:gd name="T14" fmla="*/ 0 60000 65536"/>
                    <a:gd name="T15" fmla="*/ 0 w 563"/>
                    <a:gd name="T16" fmla="*/ 0 h 49"/>
                    <a:gd name="T17" fmla="*/ 563 w 563"/>
                    <a:gd name="T18" fmla="*/ 49 h 49"/>
                  </a:gdLst>
                  <a:ahLst/>
                  <a:cxnLst>
                    <a:cxn ang="T10">
                      <a:pos x="T0" y="T1"/>
                    </a:cxn>
                    <a:cxn ang="T11">
                      <a:pos x="T2" y="T3"/>
                    </a:cxn>
                    <a:cxn ang="T12">
                      <a:pos x="T4" y="T5"/>
                    </a:cxn>
                    <a:cxn ang="T13">
                      <a:pos x="T6" y="T7"/>
                    </a:cxn>
                    <a:cxn ang="T14">
                      <a:pos x="T8" y="T9"/>
                    </a:cxn>
                  </a:cxnLst>
                  <a:rect l="T15" t="T16" r="T17" b="T18"/>
                  <a:pathLst>
                    <a:path w="563" h="49">
                      <a:moveTo>
                        <a:pt x="0" y="48"/>
                      </a:moveTo>
                      <a:lnTo>
                        <a:pt x="55" y="0"/>
                      </a:lnTo>
                      <a:lnTo>
                        <a:pt x="562" y="0"/>
                      </a:lnTo>
                      <a:lnTo>
                        <a:pt x="506" y="48"/>
                      </a:lnTo>
                      <a:lnTo>
                        <a:pt x="0" y="48"/>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15" name="Freeform 381"/>
                <p:cNvSpPr/>
                <p:nvPr/>
              </p:nvSpPr>
              <p:spPr bwMode="auto">
                <a:xfrm>
                  <a:off x="3532" y="3242"/>
                  <a:ext cx="616" cy="34"/>
                </a:xfrm>
                <a:custGeom>
                  <a:avLst/>
                  <a:gdLst>
                    <a:gd name="T0" fmla="*/ 615 w 616"/>
                    <a:gd name="T1" fmla="*/ 33 h 34"/>
                    <a:gd name="T2" fmla="*/ 0 w 616"/>
                    <a:gd name="T3" fmla="*/ 33 h 34"/>
                    <a:gd name="T4" fmla="*/ 0 w 616"/>
                    <a:gd name="T5" fmla="*/ 0 h 34"/>
                    <a:gd name="T6" fmla="*/ 615 w 616"/>
                    <a:gd name="T7" fmla="*/ 0 h 34"/>
                    <a:gd name="T8" fmla="*/ 615 w 616"/>
                    <a:gd name="T9" fmla="*/ 33 h 34"/>
                    <a:gd name="T10" fmla="*/ 0 60000 65536"/>
                    <a:gd name="T11" fmla="*/ 0 60000 65536"/>
                    <a:gd name="T12" fmla="*/ 0 60000 65536"/>
                    <a:gd name="T13" fmla="*/ 0 60000 65536"/>
                    <a:gd name="T14" fmla="*/ 0 60000 65536"/>
                    <a:gd name="T15" fmla="*/ 0 w 616"/>
                    <a:gd name="T16" fmla="*/ 0 h 34"/>
                    <a:gd name="T17" fmla="*/ 616 w 616"/>
                    <a:gd name="T18" fmla="*/ 34 h 34"/>
                  </a:gdLst>
                  <a:ahLst/>
                  <a:cxnLst>
                    <a:cxn ang="T10">
                      <a:pos x="T0" y="T1"/>
                    </a:cxn>
                    <a:cxn ang="T11">
                      <a:pos x="T2" y="T3"/>
                    </a:cxn>
                    <a:cxn ang="T12">
                      <a:pos x="T4" y="T5"/>
                    </a:cxn>
                    <a:cxn ang="T13">
                      <a:pos x="T6" y="T7"/>
                    </a:cxn>
                    <a:cxn ang="T14">
                      <a:pos x="T8" y="T9"/>
                    </a:cxn>
                  </a:cxnLst>
                  <a:rect l="T15" t="T16" r="T17" b="T18"/>
                  <a:pathLst>
                    <a:path w="616" h="34">
                      <a:moveTo>
                        <a:pt x="615" y="33"/>
                      </a:moveTo>
                      <a:lnTo>
                        <a:pt x="0" y="33"/>
                      </a:lnTo>
                      <a:lnTo>
                        <a:pt x="0" y="0"/>
                      </a:lnTo>
                      <a:lnTo>
                        <a:pt x="615" y="0"/>
                      </a:lnTo>
                      <a:lnTo>
                        <a:pt x="615" y="33"/>
                      </a:lnTo>
                    </a:path>
                  </a:pathLst>
                </a:custGeom>
                <a:solidFill>
                  <a:srgbClr val="9E9898"/>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16" name="Freeform 382"/>
                <p:cNvSpPr/>
                <p:nvPr/>
              </p:nvSpPr>
              <p:spPr bwMode="auto">
                <a:xfrm>
                  <a:off x="3531" y="3185"/>
                  <a:ext cx="686" cy="58"/>
                </a:xfrm>
                <a:custGeom>
                  <a:avLst/>
                  <a:gdLst>
                    <a:gd name="T0" fmla="*/ 685 w 686"/>
                    <a:gd name="T1" fmla="*/ 0 h 58"/>
                    <a:gd name="T2" fmla="*/ 617 w 686"/>
                    <a:gd name="T3" fmla="*/ 57 h 58"/>
                    <a:gd name="T4" fmla="*/ 0 w 686"/>
                    <a:gd name="T5" fmla="*/ 57 h 58"/>
                    <a:gd name="T6" fmla="*/ 64 w 686"/>
                    <a:gd name="T7" fmla="*/ 0 h 58"/>
                    <a:gd name="T8" fmla="*/ 685 w 686"/>
                    <a:gd name="T9" fmla="*/ 0 h 58"/>
                    <a:gd name="T10" fmla="*/ 0 60000 65536"/>
                    <a:gd name="T11" fmla="*/ 0 60000 65536"/>
                    <a:gd name="T12" fmla="*/ 0 60000 65536"/>
                    <a:gd name="T13" fmla="*/ 0 60000 65536"/>
                    <a:gd name="T14" fmla="*/ 0 60000 65536"/>
                    <a:gd name="T15" fmla="*/ 0 w 686"/>
                    <a:gd name="T16" fmla="*/ 0 h 58"/>
                    <a:gd name="T17" fmla="*/ 686 w 686"/>
                    <a:gd name="T18" fmla="*/ 58 h 58"/>
                  </a:gdLst>
                  <a:ahLst/>
                  <a:cxnLst>
                    <a:cxn ang="T10">
                      <a:pos x="T0" y="T1"/>
                    </a:cxn>
                    <a:cxn ang="T11">
                      <a:pos x="T2" y="T3"/>
                    </a:cxn>
                    <a:cxn ang="T12">
                      <a:pos x="T4" y="T5"/>
                    </a:cxn>
                    <a:cxn ang="T13">
                      <a:pos x="T6" y="T7"/>
                    </a:cxn>
                    <a:cxn ang="T14">
                      <a:pos x="T8" y="T9"/>
                    </a:cxn>
                  </a:cxnLst>
                  <a:rect l="T15" t="T16" r="T17" b="T18"/>
                  <a:pathLst>
                    <a:path w="686" h="58">
                      <a:moveTo>
                        <a:pt x="685" y="0"/>
                      </a:moveTo>
                      <a:lnTo>
                        <a:pt x="617" y="57"/>
                      </a:lnTo>
                      <a:lnTo>
                        <a:pt x="0" y="57"/>
                      </a:lnTo>
                      <a:lnTo>
                        <a:pt x="64" y="0"/>
                      </a:lnTo>
                      <a:lnTo>
                        <a:pt x="685" y="0"/>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nvGrpSpPr>
                <p:cNvPr id="44117" name="Group 383"/>
                <p:cNvGrpSpPr/>
                <p:nvPr/>
              </p:nvGrpSpPr>
              <p:grpSpPr bwMode="auto">
                <a:xfrm>
                  <a:off x="3569" y="3197"/>
                  <a:ext cx="604" cy="37"/>
                  <a:chOff x="3569" y="3197"/>
                  <a:chExt cx="604" cy="37"/>
                </a:xfrm>
              </p:grpSpPr>
              <p:sp>
                <p:nvSpPr>
                  <p:cNvPr id="44121" name="Line 384"/>
                  <p:cNvSpPr>
                    <a:spLocks noChangeShapeType="1"/>
                  </p:cNvSpPr>
                  <p:nvPr/>
                </p:nvSpPr>
                <p:spPr bwMode="auto">
                  <a:xfrm>
                    <a:off x="3614" y="3197"/>
                    <a:ext cx="559"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22" name="Line 385"/>
                  <p:cNvSpPr>
                    <a:spLocks noChangeShapeType="1"/>
                  </p:cNvSpPr>
                  <p:nvPr/>
                </p:nvSpPr>
                <p:spPr bwMode="auto">
                  <a:xfrm>
                    <a:off x="3600" y="3209"/>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23" name="Line 386"/>
                  <p:cNvSpPr>
                    <a:spLocks noChangeShapeType="1"/>
                  </p:cNvSpPr>
                  <p:nvPr/>
                </p:nvSpPr>
                <p:spPr bwMode="auto">
                  <a:xfrm>
                    <a:off x="3587" y="3222"/>
                    <a:ext cx="560"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4124" name="Line 387"/>
                  <p:cNvSpPr>
                    <a:spLocks noChangeShapeType="1"/>
                  </p:cNvSpPr>
                  <p:nvPr/>
                </p:nvSpPr>
                <p:spPr bwMode="auto">
                  <a:xfrm>
                    <a:off x="3569" y="3234"/>
                    <a:ext cx="561" cy="0"/>
                  </a:xfrm>
                  <a:prstGeom prst="line">
                    <a:avLst/>
                  </a:prstGeom>
                  <a:noFill/>
                  <a:ln w="12699">
                    <a:solidFill>
                      <a:srgbClr val="6B645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sp>
              <p:nvSpPr>
                <p:cNvPr id="44118" name="Rectangle 388"/>
                <p:cNvSpPr>
                  <a:spLocks noChangeArrowheads="1"/>
                </p:cNvSpPr>
                <p:nvPr/>
              </p:nvSpPr>
              <p:spPr bwMode="auto">
                <a:xfrm>
                  <a:off x="3676" y="2702"/>
                  <a:ext cx="508" cy="377"/>
                </a:xfrm>
                <a:prstGeom prst="rect">
                  <a:avLst/>
                </a:prstGeom>
                <a:solidFill>
                  <a:srgbClr val="9E989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16427" tIns="58212" rIns="116427" bIns="58212" anchor="ctr"/>
                <a:lstStyle>
                  <a:lvl1pPr defTabSz="4654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6545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6545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6545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6545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a:lnSpc>
                      <a:spcPct val="99000"/>
                    </a:lnSpc>
                    <a:spcBef>
                      <a:spcPct val="0"/>
                    </a:spcBef>
                    <a:buClr>
                      <a:srgbClr val="000000"/>
                    </a:buClr>
                    <a:buSzPct val="45000"/>
                    <a:buFont typeface="Wingdings" panose="05000000000000000000" pitchFamily="2" charset="2"/>
                    <a:buNone/>
                  </a:pPr>
                  <a:endParaRPr lang="zh-CN" altLang="en-US" sz="2830" b="1">
                    <a:latin typeface="Bitstream Vera Sans"/>
                    <a:ea typeface="MS Gothic" panose="020B0609070205080204" pitchFamily="49" charset="-128"/>
                  </a:endParaRPr>
                </a:p>
              </p:txBody>
            </p:sp>
            <p:sp>
              <p:nvSpPr>
                <p:cNvPr id="44119" name="Freeform 389"/>
                <p:cNvSpPr/>
                <p:nvPr/>
              </p:nvSpPr>
              <p:spPr bwMode="auto">
                <a:xfrm>
                  <a:off x="3731" y="2750"/>
                  <a:ext cx="400" cy="274"/>
                </a:xfrm>
                <a:custGeom>
                  <a:avLst/>
                  <a:gdLst>
                    <a:gd name="T0" fmla="*/ 399 w 400"/>
                    <a:gd name="T1" fmla="*/ 273 h 274"/>
                    <a:gd name="T2" fmla="*/ 0 w 400"/>
                    <a:gd name="T3" fmla="*/ 273 h 274"/>
                    <a:gd name="T4" fmla="*/ 0 w 400"/>
                    <a:gd name="T5" fmla="*/ 0 h 274"/>
                    <a:gd name="T6" fmla="*/ 399 w 400"/>
                    <a:gd name="T7" fmla="*/ 0 h 274"/>
                    <a:gd name="T8" fmla="*/ 399 w 400"/>
                    <a:gd name="T9" fmla="*/ 273 h 274"/>
                    <a:gd name="T10" fmla="*/ 0 60000 65536"/>
                    <a:gd name="T11" fmla="*/ 0 60000 65536"/>
                    <a:gd name="T12" fmla="*/ 0 60000 65536"/>
                    <a:gd name="T13" fmla="*/ 0 60000 65536"/>
                    <a:gd name="T14" fmla="*/ 0 60000 65536"/>
                    <a:gd name="T15" fmla="*/ 0 w 400"/>
                    <a:gd name="T16" fmla="*/ 0 h 274"/>
                    <a:gd name="T17" fmla="*/ 400 w 400"/>
                    <a:gd name="T18" fmla="*/ 274 h 274"/>
                  </a:gdLst>
                  <a:ahLst/>
                  <a:cxnLst>
                    <a:cxn ang="T10">
                      <a:pos x="T0" y="T1"/>
                    </a:cxn>
                    <a:cxn ang="T11">
                      <a:pos x="T2" y="T3"/>
                    </a:cxn>
                    <a:cxn ang="T12">
                      <a:pos x="T4" y="T5"/>
                    </a:cxn>
                    <a:cxn ang="T13">
                      <a:pos x="T6" y="T7"/>
                    </a:cxn>
                    <a:cxn ang="T14">
                      <a:pos x="T8" y="T9"/>
                    </a:cxn>
                  </a:cxnLst>
                  <a:rect l="T15" t="T16" r="T17" b="T18"/>
                  <a:pathLst>
                    <a:path w="400" h="274">
                      <a:moveTo>
                        <a:pt x="399" y="273"/>
                      </a:moveTo>
                      <a:lnTo>
                        <a:pt x="0" y="273"/>
                      </a:lnTo>
                      <a:lnTo>
                        <a:pt x="0" y="0"/>
                      </a:lnTo>
                      <a:lnTo>
                        <a:pt x="399" y="0"/>
                      </a:lnTo>
                      <a:lnTo>
                        <a:pt x="399" y="273"/>
                      </a:lnTo>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20" name="Freeform 390"/>
                <p:cNvSpPr/>
                <p:nvPr/>
              </p:nvSpPr>
              <p:spPr bwMode="auto">
                <a:xfrm>
                  <a:off x="3731" y="2750"/>
                  <a:ext cx="400" cy="274"/>
                </a:xfrm>
                <a:custGeom>
                  <a:avLst/>
                  <a:gdLst>
                    <a:gd name="T0" fmla="*/ 399 w 400"/>
                    <a:gd name="T1" fmla="*/ 0 h 274"/>
                    <a:gd name="T2" fmla="*/ 0 w 400"/>
                    <a:gd name="T3" fmla="*/ 0 h 274"/>
                    <a:gd name="T4" fmla="*/ 0 w 400"/>
                    <a:gd name="T5" fmla="*/ 273 h 274"/>
                    <a:gd name="T6" fmla="*/ 95 w 400"/>
                    <a:gd name="T7" fmla="*/ 185 h 274"/>
                    <a:gd name="T8" fmla="*/ 289 w 400"/>
                    <a:gd name="T9" fmla="*/ 95 h 274"/>
                    <a:gd name="T10" fmla="*/ 399 w 400"/>
                    <a:gd name="T11" fmla="*/ 0 h 274"/>
                    <a:gd name="T12" fmla="*/ 0 60000 65536"/>
                    <a:gd name="T13" fmla="*/ 0 60000 65536"/>
                    <a:gd name="T14" fmla="*/ 0 60000 65536"/>
                    <a:gd name="T15" fmla="*/ 0 60000 65536"/>
                    <a:gd name="T16" fmla="*/ 0 60000 65536"/>
                    <a:gd name="T17" fmla="*/ 0 60000 65536"/>
                    <a:gd name="T18" fmla="*/ 0 w 400"/>
                    <a:gd name="T19" fmla="*/ 0 h 274"/>
                    <a:gd name="T20" fmla="*/ 400 w 40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400" h="274">
                      <a:moveTo>
                        <a:pt x="399" y="0"/>
                      </a:moveTo>
                      <a:lnTo>
                        <a:pt x="0" y="0"/>
                      </a:lnTo>
                      <a:lnTo>
                        <a:pt x="0" y="273"/>
                      </a:lnTo>
                      <a:lnTo>
                        <a:pt x="95" y="185"/>
                      </a:lnTo>
                      <a:lnTo>
                        <a:pt x="289" y="95"/>
                      </a:lnTo>
                      <a:lnTo>
                        <a:pt x="399" y="0"/>
                      </a:lnTo>
                    </a:path>
                  </a:pathLst>
                </a:custGeom>
                <a:solidFill>
                  <a:srgbClr val="6B645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105" name="Freeform 391"/>
              <p:cNvSpPr/>
              <p:nvPr/>
            </p:nvSpPr>
            <p:spPr bwMode="auto">
              <a:xfrm>
                <a:off x="3741" y="2764"/>
                <a:ext cx="374" cy="245"/>
              </a:xfrm>
              <a:custGeom>
                <a:avLst/>
                <a:gdLst>
                  <a:gd name="T0" fmla="*/ 373 w 374"/>
                  <a:gd name="T1" fmla="*/ 244 h 245"/>
                  <a:gd name="T2" fmla="*/ 0 w 374"/>
                  <a:gd name="T3" fmla="*/ 244 h 245"/>
                  <a:gd name="T4" fmla="*/ 0 w 374"/>
                  <a:gd name="T5" fmla="*/ 0 h 245"/>
                  <a:gd name="T6" fmla="*/ 373 w 374"/>
                  <a:gd name="T7" fmla="*/ 0 h 245"/>
                  <a:gd name="T8" fmla="*/ 373 w 374"/>
                  <a:gd name="T9" fmla="*/ 244 h 245"/>
                  <a:gd name="T10" fmla="*/ 0 60000 65536"/>
                  <a:gd name="T11" fmla="*/ 0 60000 65536"/>
                  <a:gd name="T12" fmla="*/ 0 60000 65536"/>
                  <a:gd name="T13" fmla="*/ 0 60000 65536"/>
                  <a:gd name="T14" fmla="*/ 0 60000 65536"/>
                  <a:gd name="T15" fmla="*/ 0 w 374"/>
                  <a:gd name="T16" fmla="*/ 0 h 245"/>
                  <a:gd name="T17" fmla="*/ 374 w 374"/>
                  <a:gd name="T18" fmla="*/ 245 h 245"/>
                </a:gdLst>
                <a:ahLst/>
                <a:cxnLst>
                  <a:cxn ang="T10">
                    <a:pos x="T0" y="T1"/>
                  </a:cxn>
                  <a:cxn ang="T11">
                    <a:pos x="T2" y="T3"/>
                  </a:cxn>
                  <a:cxn ang="T12">
                    <a:pos x="T4" y="T5"/>
                  </a:cxn>
                  <a:cxn ang="T13">
                    <a:pos x="T6" y="T7"/>
                  </a:cxn>
                  <a:cxn ang="T14">
                    <a:pos x="T8" y="T9"/>
                  </a:cxn>
                </a:cxnLst>
                <a:rect l="T15" t="T16" r="T17" b="T18"/>
                <a:pathLst>
                  <a:path w="374" h="245">
                    <a:moveTo>
                      <a:pt x="373" y="244"/>
                    </a:moveTo>
                    <a:lnTo>
                      <a:pt x="0" y="244"/>
                    </a:lnTo>
                    <a:lnTo>
                      <a:pt x="0" y="0"/>
                    </a:lnTo>
                    <a:lnTo>
                      <a:pt x="373" y="0"/>
                    </a:lnTo>
                    <a:lnTo>
                      <a:pt x="373" y="244"/>
                    </a:lnTo>
                  </a:path>
                </a:pathLst>
              </a:custGeom>
              <a:gradFill rotWithShape="0">
                <a:gsLst>
                  <a:gs pos="0">
                    <a:srgbClr val="33CC33"/>
                  </a:gs>
                  <a:gs pos="100000">
                    <a:srgbClr val="145214"/>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712072" name="Rectangle 392"/>
              <p:cNvSpPr>
                <a:spLocks noChangeArrowheads="1"/>
              </p:cNvSpPr>
              <p:nvPr/>
            </p:nvSpPr>
            <p:spPr bwMode="auto">
              <a:xfrm>
                <a:off x="3588" y="3251"/>
                <a:ext cx="615" cy="197"/>
              </a:xfrm>
              <a:prstGeom prst="rect">
                <a:avLst/>
              </a:prstGeom>
              <a:noFill/>
              <a:ln w="9525">
                <a:noFill/>
                <a:miter lim="800000"/>
              </a:ln>
            </p:spPr>
            <p:txBody>
              <a:bodyPr wrap="none" lIns="113284" tIns="56643" rIns="113284" bIns="56643">
                <a:spAutoFit/>
              </a:bodyPr>
              <a:lstStyle/>
              <a:p>
                <a:pPr algn="ctr" defTabSz="446405">
                  <a:lnSpc>
                    <a:spcPct val="90000"/>
                  </a:lnSpc>
                  <a:defRPr/>
                </a:pPr>
                <a:r>
                  <a:rPr kumimoji="1" lang="zh-CN" altLang="en-US" sz="1970" b="1">
                    <a:effectLst>
                      <a:outerShdw blurRad="38100" dist="38100" dir="2700000" algn="tl">
                        <a:srgbClr val="C0C0C0"/>
                      </a:outerShdw>
                    </a:effectLst>
                    <a:latin typeface="Helvetica"/>
                  </a:rPr>
                  <a:t>内部</a:t>
                </a:r>
                <a:r>
                  <a:rPr kumimoji="1" lang="en-US" altLang="zh-CN" sz="1970" b="1">
                    <a:effectLst>
                      <a:outerShdw blurRad="38100" dist="38100" dir="2700000" algn="tl">
                        <a:srgbClr val="C0C0C0"/>
                      </a:outerShdw>
                    </a:effectLst>
                    <a:latin typeface="Helvetica"/>
                  </a:rPr>
                  <a:t>/</a:t>
                </a:r>
                <a:r>
                  <a:rPr kumimoji="1" lang="zh-CN" altLang="en-US" sz="1970" b="1">
                    <a:effectLst>
                      <a:outerShdw blurRad="38100" dist="38100" dir="2700000" algn="tl">
                        <a:srgbClr val="C0C0C0"/>
                      </a:outerShdw>
                    </a:effectLst>
                    <a:latin typeface="Helvetica"/>
                  </a:rPr>
                  <a:t>组织</a:t>
                </a:r>
                <a:endParaRPr kumimoji="1" lang="zh-CN" altLang="en-US" sz="1970" b="1">
                  <a:effectLst>
                    <a:outerShdw blurRad="38100" dist="38100" dir="2700000" algn="tl">
                      <a:srgbClr val="C0C0C0"/>
                    </a:outerShdw>
                  </a:effectLst>
                  <a:latin typeface="Helvetica"/>
                </a:endParaRPr>
              </a:p>
            </p:txBody>
          </p:sp>
        </p:grpSp>
      </p:grpSp>
      <p:grpSp>
        <p:nvGrpSpPr>
          <p:cNvPr id="712073" name="Group 393"/>
          <p:cNvGrpSpPr/>
          <p:nvPr/>
        </p:nvGrpSpPr>
        <p:grpSpPr bwMode="auto">
          <a:xfrm>
            <a:off x="6822831" y="1221154"/>
            <a:ext cx="3089031" cy="2151185"/>
            <a:chOff x="3192" y="964"/>
            <a:chExt cx="1460" cy="1101"/>
          </a:xfrm>
        </p:grpSpPr>
        <p:grpSp>
          <p:nvGrpSpPr>
            <p:cNvPr id="44096" name="Group 394"/>
            <p:cNvGrpSpPr/>
            <p:nvPr/>
          </p:nvGrpSpPr>
          <p:grpSpPr bwMode="auto">
            <a:xfrm>
              <a:off x="3192" y="1740"/>
              <a:ext cx="365" cy="325"/>
              <a:chOff x="3192" y="1740"/>
              <a:chExt cx="365" cy="325"/>
            </a:xfrm>
          </p:grpSpPr>
          <p:sp>
            <p:nvSpPr>
              <p:cNvPr id="44099" name="Freeform 395"/>
              <p:cNvSpPr/>
              <p:nvPr/>
            </p:nvSpPr>
            <p:spPr bwMode="auto">
              <a:xfrm>
                <a:off x="3192" y="1740"/>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00" name="Freeform 396"/>
              <p:cNvSpPr/>
              <p:nvPr/>
            </p:nvSpPr>
            <p:spPr bwMode="auto">
              <a:xfrm>
                <a:off x="3223" y="1768"/>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101" name="Freeform 397"/>
              <p:cNvSpPr/>
              <p:nvPr/>
            </p:nvSpPr>
            <p:spPr bwMode="auto">
              <a:xfrm>
                <a:off x="3291" y="1770"/>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97" name="Rectangle 398"/>
            <p:cNvSpPr>
              <a:spLocks noChangeArrowheads="1"/>
            </p:cNvSpPr>
            <p:nvPr/>
          </p:nvSpPr>
          <p:spPr bwMode="auto">
            <a:xfrm>
              <a:off x="3484" y="964"/>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关闭安全维护</a:t>
              </a:r>
              <a:endParaRPr kumimoji="1" lang="zh-CN" altLang="en-US" sz="2215" b="1">
                <a:latin typeface="Helvetica" panose="020B0604020202020204" pitchFamily="34" charset="0"/>
                <a:ea typeface="宋体" panose="02010600030101010101" pitchFamily="2" charset="-122"/>
              </a:endParaRPr>
            </a:p>
            <a:p>
              <a:pPr algn="ctr">
                <a:spcBef>
                  <a:spcPct val="0"/>
                </a:spcBef>
                <a:buClrTx/>
                <a:buFontTx/>
                <a:buNone/>
              </a:pPr>
              <a:r>
                <a:rPr kumimoji="1" lang="zh-CN" altLang="en-US" sz="2215" b="1">
                  <a:latin typeface="Helvetica" panose="020B0604020202020204" pitchFamily="34" charset="0"/>
                  <a:ea typeface="宋体" panose="02010600030101010101" pitchFamily="2" charset="-122"/>
                </a:rPr>
                <a:t>“后门”</a:t>
              </a:r>
              <a:endParaRPr kumimoji="1" lang="zh-CN" altLang="en-US" sz="2215" b="1">
                <a:latin typeface="Helvetica" panose="020B0604020202020204" pitchFamily="34" charset="0"/>
                <a:ea typeface="宋体" panose="02010600030101010101" pitchFamily="2" charset="-122"/>
              </a:endParaRPr>
            </a:p>
          </p:txBody>
        </p:sp>
        <p:sp>
          <p:nvSpPr>
            <p:cNvPr id="44098" name="Line 399"/>
            <p:cNvSpPr>
              <a:spLocks noChangeShapeType="1"/>
            </p:cNvSpPr>
            <p:nvPr/>
          </p:nvSpPr>
          <p:spPr bwMode="auto">
            <a:xfrm flipV="1">
              <a:off x="3540" y="1656"/>
              <a:ext cx="384" cy="168"/>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712080" name="Group 400"/>
          <p:cNvGrpSpPr/>
          <p:nvPr/>
        </p:nvGrpSpPr>
        <p:grpSpPr bwMode="auto">
          <a:xfrm>
            <a:off x="3792416" y="920262"/>
            <a:ext cx="2469662" cy="2690447"/>
            <a:chOff x="1768" y="1060"/>
            <a:chExt cx="1168" cy="1377"/>
          </a:xfrm>
        </p:grpSpPr>
        <p:grpSp>
          <p:nvGrpSpPr>
            <p:cNvPr id="44090" name="Group 401"/>
            <p:cNvGrpSpPr/>
            <p:nvPr/>
          </p:nvGrpSpPr>
          <p:grpSpPr bwMode="auto">
            <a:xfrm>
              <a:off x="2568" y="2112"/>
              <a:ext cx="365" cy="325"/>
              <a:chOff x="2568" y="2112"/>
              <a:chExt cx="365" cy="325"/>
            </a:xfrm>
          </p:grpSpPr>
          <p:sp>
            <p:nvSpPr>
              <p:cNvPr id="44093" name="Freeform 402"/>
              <p:cNvSpPr/>
              <p:nvPr/>
            </p:nvSpPr>
            <p:spPr bwMode="auto">
              <a:xfrm>
                <a:off x="2568" y="2112"/>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94" name="Freeform 403"/>
              <p:cNvSpPr/>
              <p:nvPr/>
            </p:nvSpPr>
            <p:spPr bwMode="auto">
              <a:xfrm>
                <a:off x="2599" y="2140"/>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95" name="Freeform 404"/>
              <p:cNvSpPr/>
              <p:nvPr/>
            </p:nvSpPr>
            <p:spPr bwMode="auto">
              <a:xfrm>
                <a:off x="2667" y="2142"/>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91" name="Rectangle 405"/>
            <p:cNvSpPr>
              <a:spLocks noChangeArrowheads="1"/>
            </p:cNvSpPr>
            <p:nvPr/>
          </p:nvSpPr>
          <p:spPr bwMode="auto">
            <a:xfrm>
              <a:off x="1768" y="1060"/>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更改缺省的</a:t>
              </a:r>
              <a:endParaRPr kumimoji="1" lang="zh-CN" altLang="en-US" sz="2215" b="1">
                <a:latin typeface="Helvetica" panose="020B0604020202020204" pitchFamily="34" charset="0"/>
                <a:ea typeface="宋体" panose="02010600030101010101" pitchFamily="2" charset="-122"/>
              </a:endParaRPr>
            </a:p>
            <a:p>
              <a:pPr algn="ctr">
                <a:spcBef>
                  <a:spcPct val="0"/>
                </a:spcBef>
                <a:buClrTx/>
                <a:buFontTx/>
                <a:buNone/>
              </a:pPr>
              <a:r>
                <a:rPr kumimoji="1" lang="zh-CN" altLang="en-US" sz="2215" b="1">
                  <a:latin typeface="Helvetica" panose="020B0604020202020204" pitchFamily="34" charset="0"/>
                  <a:ea typeface="宋体" panose="02010600030101010101" pitchFamily="2" charset="-122"/>
                </a:rPr>
                <a:t>系统口令</a:t>
              </a:r>
              <a:endParaRPr kumimoji="1" lang="zh-CN" altLang="en-US" sz="2215" b="1">
                <a:latin typeface="Helvetica" panose="020B0604020202020204" pitchFamily="34" charset="0"/>
                <a:ea typeface="宋体" panose="02010600030101010101" pitchFamily="2" charset="-122"/>
              </a:endParaRPr>
            </a:p>
          </p:txBody>
        </p:sp>
        <p:sp>
          <p:nvSpPr>
            <p:cNvPr id="44092" name="Line 406"/>
            <p:cNvSpPr>
              <a:spLocks noChangeShapeType="1"/>
            </p:cNvSpPr>
            <p:nvPr/>
          </p:nvSpPr>
          <p:spPr bwMode="auto">
            <a:xfrm flipH="1" flipV="1">
              <a:off x="2580" y="1752"/>
              <a:ext cx="108" cy="360"/>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712087" name="Group 407"/>
          <p:cNvGrpSpPr/>
          <p:nvPr/>
        </p:nvGrpSpPr>
        <p:grpSpPr bwMode="auto">
          <a:xfrm>
            <a:off x="638908" y="1494692"/>
            <a:ext cx="3395785" cy="1344246"/>
            <a:chOff x="84" y="820"/>
            <a:chExt cx="1604" cy="688"/>
          </a:xfrm>
        </p:grpSpPr>
        <p:grpSp>
          <p:nvGrpSpPr>
            <p:cNvPr id="44084" name="Group 408"/>
            <p:cNvGrpSpPr/>
            <p:nvPr/>
          </p:nvGrpSpPr>
          <p:grpSpPr bwMode="auto">
            <a:xfrm>
              <a:off x="84" y="972"/>
              <a:ext cx="365" cy="325"/>
              <a:chOff x="84" y="972"/>
              <a:chExt cx="365" cy="325"/>
            </a:xfrm>
          </p:grpSpPr>
          <p:sp>
            <p:nvSpPr>
              <p:cNvPr id="44087" name="Freeform 409"/>
              <p:cNvSpPr/>
              <p:nvPr/>
            </p:nvSpPr>
            <p:spPr bwMode="auto">
              <a:xfrm>
                <a:off x="84" y="972"/>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88" name="Freeform 410"/>
              <p:cNvSpPr/>
              <p:nvPr/>
            </p:nvSpPr>
            <p:spPr bwMode="auto">
              <a:xfrm>
                <a:off x="115" y="1000"/>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89" name="Freeform 411"/>
              <p:cNvSpPr/>
              <p:nvPr/>
            </p:nvSpPr>
            <p:spPr bwMode="auto">
              <a:xfrm>
                <a:off x="183" y="1002"/>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85" name="Rectangle 412"/>
            <p:cNvSpPr>
              <a:spLocks noChangeArrowheads="1"/>
            </p:cNvSpPr>
            <p:nvPr/>
          </p:nvSpPr>
          <p:spPr bwMode="auto">
            <a:xfrm>
              <a:off x="520" y="820"/>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操作系统补丁</a:t>
              </a:r>
              <a:endParaRPr kumimoji="1" lang="en-US" altLang="zh-CN" sz="2215" b="1">
                <a:latin typeface="Helvetica" panose="020B0604020202020204" pitchFamily="34" charset="0"/>
                <a:ea typeface="宋体" panose="02010600030101010101" pitchFamily="2" charset="-122"/>
              </a:endParaRPr>
            </a:p>
          </p:txBody>
        </p:sp>
        <p:sp>
          <p:nvSpPr>
            <p:cNvPr id="44086" name="Line 413"/>
            <p:cNvSpPr>
              <a:spLocks noChangeShapeType="1"/>
            </p:cNvSpPr>
            <p:nvPr/>
          </p:nvSpPr>
          <p:spPr bwMode="auto">
            <a:xfrm flipH="1">
              <a:off x="420" y="1128"/>
              <a:ext cx="96" cy="0"/>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sp>
        <p:nvSpPr>
          <p:cNvPr id="44042" name="Rectangle 414"/>
          <p:cNvSpPr>
            <a:spLocks noChangeArrowheads="1"/>
          </p:cNvSpPr>
          <p:nvPr/>
        </p:nvSpPr>
        <p:spPr bwMode="auto">
          <a:xfrm>
            <a:off x="262915" y="6205416"/>
            <a:ext cx="110172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3284" tIns="56643" rIns="113284" bIns="56643">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en-US" altLang="zh-CN" sz="1970" b="1">
                <a:latin typeface="Helvetica" panose="020B0604020202020204" pitchFamily="34" charset="0"/>
                <a:ea typeface="宋体" panose="02010600030101010101" pitchFamily="2" charset="-122"/>
              </a:rPr>
              <a:t>Modem</a:t>
            </a:r>
            <a:endParaRPr kumimoji="1" lang="en-US" altLang="zh-CN" sz="1970" b="1">
              <a:latin typeface="Helvetica" panose="020B0604020202020204" pitchFamily="34" charset="0"/>
              <a:ea typeface="宋体" panose="02010600030101010101" pitchFamily="2" charset="-122"/>
            </a:endParaRPr>
          </a:p>
        </p:txBody>
      </p:sp>
      <p:sp>
        <p:nvSpPr>
          <p:cNvPr id="44043" name="Line 415"/>
          <p:cNvSpPr>
            <a:spLocks noChangeShapeType="1"/>
          </p:cNvSpPr>
          <p:nvPr/>
        </p:nvSpPr>
        <p:spPr bwMode="auto">
          <a:xfrm flipH="1">
            <a:off x="777631" y="6066692"/>
            <a:ext cx="254000" cy="117231"/>
          </a:xfrm>
          <a:prstGeom prst="line">
            <a:avLst/>
          </a:prstGeom>
          <a:noFill/>
          <a:ln w="25399">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712096" name="Group 416"/>
          <p:cNvGrpSpPr/>
          <p:nvPr/>
        </p:nvGrpSpPr>
        <p:grpSpPr bwMode="auto">
          <a:xfrm>
            <a:off x="615462" y="2901462"/>
            <a:ext cx="3597030" cy="2102338"/>
            <a:chOff x="192" y="1765"/>
            <a:chExt cx="1700" cy="1076"/>
          </a:xfrm>
        </p:grpSpPr>
        <p:grpSp>
          <p:nvGrpSpPr>
            <p:cNvPr id="44078" name="Group 417"/>
            <p:cNvGrpSpPr/>
            <p:nvPr/>
          </p:nvGrpSpPr>
          <p:grpSpPr bwMode="auto">
            <a:xfrm>
              <a:off x="192" y="1765"/>
              <a:ext cx="365" cy="325"/>
              <a:chOff x="192" y="1765"/>
              <a:chExt cx="365" cy="325"/>
            </a:xfrm>
          </p:grpSpPr>
          <p:sp>
            <p:nvSpPr>
              <p:cNvPr id="44081" name="Freeform 418"/>
              <p:cNvSpPr/>
              <p:nvPr/>
            </p:nvSpPr>
            <p:spPr bwMode="auto">
              <a:xfrm>
                <a:off x="192" y="1765"/>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82" name="Freeform 419"/>
              <p:cNvSpPr/>
              <p:nvPr/>
            </p:nvSpPr>
            <p:spPr bwMode="auto">
              <a:xfrm>
                <a:off x="223" y="1793"/>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83" name="Freeform 420"/>
              <p:cNvSpPr/>
              <p:nvPr/>
            </p:nvSpPr>
            <p:spPr bwMode="auto">
              <a:xfrm>
                <a:off x="291" y="1795"/>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79" name="Rectangle 421"/>
            <p:cNvSpPr>
              <a:spLocks noChangeArrowheads="1"/>
            </p:cNvSpPr>
            <p:nvPr/>
          </p:nvSpPr>
          <p:spPr bwMode="auto">
            <a:xfrm>
              <a:off x="724" y="2153"/>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数据文件加密</a:t>
              </a:r>
              <a:endParaRPr kumimoji="1" lang="zh-CN" altLang="en-US" sz="2215" b="1">
                <a:latin typeface="Helvetica" panose="020B0604020202020204" pitchFamily="34" charset="0"/>
                <a:ea typeface="宋体" panose="02010600030101010101" pitchFamily="2" charset="-122"/>
              </a:endParaRPr>
            </a:p>
          </p:txBody>
        </p:sp>
        <p:sp>
          <p:nvSpPr>
            <p:cNvPr id="44080" name="Line 422"/>
            <p:cNvSpPr>
              <a:spLocks noChangeShapeType="1"/>
            </p:cNvSpPr>
            <p:nvPr/>
          </p:nvSpPr>
          <p:spPr bwMode="auto">
            <a:xfrm>
              <a:off x="492" y="2017"/>
              <a:ext cx="240" cy="156"/>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712103" name="Group 423"/>
          <p:cNvGrpSpPr/>
          <p:nvPr/>
        </p:nvGrpSpPr>
        <p:grpSpPr bwMode="auto">
          <a:xfrm>
            <a:off x="472831" y="4870938"/>
            <a:ext cx="3597031" cy="2102338"/>
            <a:chOff x="252" y="3168"/>
            <a:chExt cx="1700" cy="1076"/>
          </a:xfrm>
        </p:grpSpPr>
        <p:grpSp>
          <p:nvGrpSpPr>
            <p:cNvPr id="44072" name="Group 424"/>
            <p:cNvGrpSpPr/>
            <p:nvPr/>
          </p:nvGrpSpPr>
          <p:grpSpPr bwMode="auto">
            <a:xfrm>
              <a:off x="252" y="3168"/>
              <a:ext cx="365" cy="325"/>
              <a:chOff x="252" y="3168"/>
              <a:chExt cx="365" cy="325"/>
            </a:xfrm>
          </p:grpSpPr>
          <p:sp>
            <p:nvSpPr>
              <p:cNvPr id="44075" name="Freeform 425"/>
              <p:cNvSpPr/>
              <p:nvPr/>
            </p:nvSpPr>
            <p:spPr bwMode="auto">
              <a:xfrm>
                <a:off x="252" y="3168"/>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76" name="Freeform 426"/>
              <p:cNvSpPr/>
              <p:nvPr/>
            </p:nvSpPr>
            <p:spPr bwMode="auto">
              <a:xfrm>
                <a:off x="283" y="3196"/>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77" name="Freeform 427"/>
              <p:cNvSpPr/>
              <p:nvPr/>
            </p:nvSpPr>
            <p:spPr bwMode="auto">
              <a:xfrm>
                <a:off x="351" y="3198"/>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73" name="Rectangle 428"/>
            <p:cNvSpPr>
              <a:spLocks noChangeArrowheads="1"/>
            </p:cNvSpPr>
            <p:nvPr/>
          </p:nvSpPr>
          <p:spPr bwMode="auto">
            <a:xfrm>
              <a:off x="784" y="3556"/>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安装认证 </a:t>
              </a:r>
              <a:r>
                <a:rPr kumimoji="1" lang="en-US" altLang="zh-CN" sz="2215" b="1">
                  <a:latin typeface="Helvetica" panose="020B0604020202020204" pitchFamily="34" charset="0"/>
                  <a:ea typeface="宋体" panose="02010600030101010101" pitchFamily="2" charset="-122"/>
                </a:rPr>
                <a:t>&amp; </a:t>
              </a:r>
              <a:r>
                <a:rPr kumimoji="1" lang="zh-CN" altLang="en-US" sz="2215" b="1">
                  <a:latin typeface="Helvetica" panose="020B0604020202020204" pitchFamily="34" charset="0"/>
                  <a:ea typeface="宋体" panose="02010600030101010101" pitchFamily="2" charset="-122"/>
                </a:rPr>
                <a:t>授权</a:t>
              </a:r>
              <a:endParaRPr kumimoji="1" lang="zh-CN" altLang="en-US" sz="2215" b="1">
                <a:latin typeface="Helvetica" panose="020B0604020202020204" pitchFamily="34" charset="0"/>
                <a:ea typeface="宋体" panose="02010600030101010101" pitchFamily="2" charset="-122"/>
              </a:endParaRPr>
            </a:p>
          </p:txBody>
        </p:sp>
        <p:sp>
          <p:nvSpPr>
            <p:cNvPr id="44074" name="Line 429"/>
            <p:cNvSpPr>
              <a:spLocks noChangeShapeType="1"/>
            </p:cNvSpPr>
            <p:nvPr/>
          </p:nvSpPr>
          <p:spPr bwMode="auto">
            <a:xfrm>
              <a:off x="552" y="3420"/>
              <a:ext cx="240" cy="156"/>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712110" name="Group 430"/>
          <p:cNvGrpSpPr/>
          <p:nvPr/>
        </p:nvGrpSpPr>
        <p:grpSpPr bwMode="auto">
          <a:xfrm>
            <a:off x="5451231" y="4777154"/>
            <a:ext cx="3598985" cy="2102338"/>
            <a:chOff x="2404" y="2833"/>
            <a:chExt cx="1701" cy="1076"/>
          </a:xfrm>
        </p:grpSpPr>
        <p:grpSp>
          <p:nvGrpSpPr>
            <p:cNvPr id="44066" name="Group 431"/>
            <p:cNvGrpSpPr/>
            <p:nvPr/>
          </p:nvGrpSpPr>
          <p:grpSpPr bwMode="auto">
            <a:xfrm>
              <a:off x="3740" y="2833"/>
              <a:ext cx="365" cy="325"/>
              <a:chOff x="3740" y="2833"/>
              <a:chExt cx="365" cy="325"/>
            </a:xfrm>
          </p:grpSpPr>
          <p:sp>
            <p:nvSpPr>
              <p:cNvPr id="44069" name="Freeform 432"/>
              <p:cNvSpPr/>
              <p:nvPr/>
            </p:nvSpPr>
            <p:spPr bwMode="auto">
              <a:xfrm>
                <a:off x="3740" y="2833"/>
                <a:ext cx="365" cy="325"/>
              </a:xfrm>
              <a:custGeom>
                <a:avLst/>
                <a:gdLst>
                  <a:gd name="T0" fmla="*/ 164 w 365"/>
                  <a:gd name="T1" fmla="*/ 323 h 325"/>
                  <a:gd name="T2" fmla="*/ 137 w 365"/>
                  <a:gd name="T3" fmla="*/ 319 h 325"/>
                  <a:gd name="T4" fmla="*/ 111 w 365"/>
                  <a:gd name="T5" fmla="*/ 311 h 325"/>
                  <a:gd name="T6" fmla="*/ 88 w 365"/>
                  <a:gd name="T7" fmla="*/ 300 h 325"/>
                  <a:gd name="T8" fmla="*/ 67 w 365"/>
                  <a:gd name="T9" fmla="*/ 287 h 325"/>
                  <a:gd name="T10" fmla="*/ 47 w 365"/>
                  <a:gd name="T11" fmla="*/ 271 h 325"/>
                  <a:gd name="T12" fmla="*/ 31 w 365"/>
                  <a:gd name="T13" fmla="*/ 252 h 325"/>
                  <a:gd name="T14" fmla="*/ 18 w 365"/>
                  <a:gd name="T15" fmla="*/ 232 h 325"/>
                  <a:gd name="T16" fmla="*/ 8 w 365"/>
                  <a:gd name="T17" fmla="*/ 210 h 325"/>
                  <a:gd name="T18" fmla="*/ 2 w 365"/>
                  <a:gd name="T19" fmla="*/ 187 h 325"/>
                  <a:gd name="T20" fmla="*/ 0 w 365"/>
                  <a:gd name="T21" fmla="*/ 162 h 325"/>
                  <a:gd name="T22" fmla="*/ 2 w 365"/>
                  <a:gd name="T23" fmla="*/ 137 h 325"/>
                  <a:gd name="T24" fmla="*/ 8 w 365"/>
                  <a:gd name="T25" fmla="*/ 114 h 325"/>
                  <a:gd name="T26" fmla="*/ 18 w 365"/>
                  <a:gd name="T27" fmla="*/ 92 h 325"/>
                  <a:gd name="T28" fmla="*/ 31 w 365"/>
                  <a:gd name="T29" fmla="*/ 71 h 325"/>
                  <a:gd name="T30" fmla="*/ 47 w 365"/>
                  <a:gd name="T31" fmla="*/ 53 h 325"/>
                  <a:gd name="T32" fmla="*/ 67 w 365"/>
                  <a:gd name="T33" fmla="*/ 37 h 325"/>
                  <a:gd name="T34" fmla="*/ 88 w 365"/>
                  <a:gd name="T35" fmla="*/ 23 h 325"/>
                  <a:gd name="T36" fmla="*/ 111 w 365"/>
                  <a:gd name="T37" fmla="*/ 13 h 325"/>
                  <a:gd name="T38" fmla="*/ 137 w 365"/>
                  <a:gd name="T39" fmla="*/ 5 h 325"/>
                  <a:gd name="T40" fmla="*/ 164 w 365"/>
                  <a:gd name="T41" fmla="*/ 1 h 325"/>
                  <a:gd name="T42" fmla="*/ 192 w 365"/>
                  <a:gd name="T43" fmla="*/ 0 h 325"/>
                  <a:gd name="T44" fmla="*/ 219 w 365"/>
                  <a:gd name="T45" fmla="*/ 3 h 325"/>
                  <a:gd name="T46" fmla="*/ 245 w 365"/>
                  <a:gd name="T47" fmla="*/ 10 h 325"/>
                  <a:gd name="T48" fmla="*/ 269 w 365"/>
                  <a:gd name="T49" fmla="*/ 19 h 325"/>
                  <a:gd name="T50" fmla="*/ 291 w 365"/>
                  <a:gd name="T51" fmla="*/ 32 h 325"/>
                  <a:gd name="T52" fmla="*/ 311 w 365"/>
                  <a:gd name="T53" fmla="*/ 48 h 325"/>
                  <a:gd name="T54" fmla="*/ 328 w 365"/>
                  <a:gd name="T55" fmla="*/ 65 h 325"/>
                  <a:gd name="T56" fmla="*/ 342 w 365"/>
                  <a:gd name="T57" fmla="*/ 85 h 325"/>
                  <a:gd name="T58" fmla="*/ 353 w 365"/>
                  <a:gd name="T59" fmla="*/ 106 h 325"/>
                  <a:gd name="T60" fmla="*/ 361 w 365"/>
                  <a:gd name="T61" fmla="*/ 129 h 325"/>
                  <a:gd name="T62" fmla="*/ 364 w 365"/>
                  <a:gd name="T63" fmla="*/ 153 h 325"/>
                  <a:gd name="T64" fmla="*/ 363 w 365"/>
                  <a:gd name="T65" fmla="*/ 178 h 325"/>
                  <a:gd name="T66" fmla="*/ 358 w 365"/>
                  <a:gd name="T67" fmla="*/ 202 h 325"/>
                  <a:gd name="T68" fmla="*/ 350 w 365"/>
                  <a:gd name="T69" fmla="*/ 225 h 325"/>
                  <a:gd name="T70" fmla="*/ 338 w 365"/>
                  <a:gd name="T71" fmla="*/ 246 h 325"/>
                  <a:gd name="T72" fmla="*/ 322 w 365"/>
                  <a:gd name="T73" fmla="*/ 265 h 325"/>
                  <a:gd name="T74" fmla="*/ 305 w 365"/>
                  <a:gd name="T75" fmla="*/ 282 h 325"/>
                  <a:gd name="T76" fmla="*/ 284 w 365"/>
                  <a:gd name="T77" fmla="*/ 296 h 325"/>
                  <a:gd name="T78" fmla="*/ 261 w 365"/>
                  <a:gd name="T79" fmla="*/ 308 h 325"/>
                  <a:gd name="T80" fmla="*/ 236 w 365"/>
                  <a:gd name="T81" fmla="*/ 317 h 325"/>
                  <a:gd name="T82" fmla="*/ 210 w 365"/>
                  <a:gd name="T83" fmla="*/ 322 h 325"/>
                  <a:gd name="T84" fmla="*/ 182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2" y="324"/>
                    </a:moveTo>
                    <a:lnTo>
                      <a:pt x="173" y="324"/>
                    </a:lnTo>
                    <a:lnTo>
                      <a:pt x="164" y="323"/>
                    </a:lnTo>
                    <a:lnTo>
                      <a:pt x="154" y="322"/>
                    </a:lnTo>
                    <a:lnTo>
                      <a:pt x="146" y="320"/>
                    </a:lnTo>
                    <a:lnTo>
                      <a:pt x="137" y="319"/>
                    </a:lnTo>
                    <a:lnTo>
                      <a:pt x="128" y="317"/>
                    </a:lnTo>
                    <a:lnTo>
                      <a:pt x="119" y="314"/>
                    </a:lnTo>
                    <a:lnTo>
                      <a:pt x="111" y="311"/>
                    </a:lnTo>
                    <a:lnTo>
                      <a:pt x="103" y="308"/>
                    </a:lnTo>
                    <a:lnTo>
                      <a:pt x="95" y="304"/>
                    </a:lnTo>
                    <a:lnTo>
                      <a:pt x="88" y="300"/>
                    </a:lnTo>
                    <a:lnTo>
                      <a:pt x="81" y="296"/>
                    </a:lnTo>
                    <a:lnTo>
                      <a:pt x="74" y="292"/>
                    </a:lnTo>
                    <a:lnTo>
                      <a:pt x="67" y="287"/>
                    </a:lnTo>
                    <a:lnTo>
                      <a:pt x="60" y="282"/>
                    </a:lnTo>
                    <a:lnTo>
                      <a:pt x="53" y="276"/>
                    </a:lnTo>
                    <a:lnTo>
                      <a:pt x="47" y="271"/>
                    </a:lnTo>
                    <a:lnTo>
                      <a:pt x="42" y="265"/>
                    </a:lnTo>
                    <a:lnTo>
                      <a:pt x="36" y="259"/>
                    </a:lnTo>
                    <a:lnTo>
                      <a:pt x="31" y="252"/>
                    </a:lnTo>
                    <a:lnTo>
                      <a:pt x="27" y="246"/>
                    </a:lnTo>
                    <a:lnTo>
                      <a:pt x="22" y="239"/>
                    </a:lnTo>
                    <a:lnTo>
                      <a:pt x="18" y="232"/>
                    </a:lnTo>
                    <a:lnTo>
                      <a:pt x="14" y="225"/>
                    </a:lnTo>
                    <a:lnTo>
                      <a:pt x="11" y="218"/>
                    </a:lnTo>
                    <a:lnTo>
                      <a:pt x="8" y="210"/>
                    </a:lnTo>
                    <a:lnTo>
                      <a:pt x="6" y="202"/>
                    </a:lnTo>
                    <a:lnTo>
                      <a:pt x="4" y="194"/>
                    </a:lnTo>
                    <a:lnTo>
                      <a:pt x="2" y="187"/>
                    </a:lnTo>
                    <a:lnTo>
                      <a:pt x="1" y="178"/>
                    </a:lnTo>
                    <a:lnTo>
                      <a:pt x="0" y="170"/>
                    </a:lnTo>
                    <a:lnTo>
                      <a:pt x="0" y="162"/>
                    </a:lnTo>
                    <a:lnTo>
                      <a:pt x="0" y="153"/>
                    </a:lnTo>
                    <a:lnTo>
                      <a:pt x="1" y="145"/>
                    </a:lnTo>
                    <a:lnTo>
                      <a:pt x="2" y="137"/>
                    </a:lnTo>
                    <a:lnTo>
                      <a:pt x="4" y="129"/>
                    </a:lnTo>
                    <a:lnTo>
                      <a:pt x="6" y="121"/>
                    </a:lnTo>
                    <a:lnTo>
                      <a:pt x="8" y="114"/>
                    </a:lnTo>
                    <a:lnTo>
                      <a:pt x="11" y="106"/>
                    </a:lnTo>
                    <a:lnTo>
                      <a:pt x="14" y="99"/>
                    </a:lnTo>
                    <a:lnTo>
                      <a:pt x="18" y="92"/>
                    </a:lnTo>
                    <a:lnTo>
                      <a:pt x="22" y="85"/>
                    </a:lnTo>
                    <a:lnTo>
                      <a:pt x="27" y="78"/>
                    </a:lnTo>
                    <a:lnTo>
                      <a:pt x="31" y="71"/>
                    </a:lnTo>
                    <a:lnTo>
                      <a:pt x="36" y="65"/>
                    </a:lnTo>
                    <a:lnTo>
                      <a:pt x="42" y="59"/>
                    </a:lnTo>
                    <a:lnTo>
                      <a:pt x="47" y="53"/>
                    </a:lnTo>
                    <a:lnTo>
                      <a:pt x="53" y="48"/>
                    </a:lnTo>
                    <a:lnTo>
                      <a:pt x="60" y="42"/>
                    </a:lnTo>
                    <a:lnTo>
                      <a:pt x="67" y="37"/>
                    </a:lnTo>
                    <a:lnTo>
                      <a:pt x="74" y="32"/>
                    </a:lnTo>
                    <a:lnTo>
                      <a:pt x="81" y="28"/>
                    </a:lnTo>
                    <a:lnTo>
                      <a:pt x="88" y="23"/>
                    </a:lnTo>
                    <a:lnTo>
                      <a:pt x="95" y="19"/>
                    </a:lnTo>
                    <a:lnTo>
                      <a:pt x="103" y="16"/>
                    </a:lnTo>
                    <a:lnTo>
                      <a:pt x="111" y="13"/>
                    </a:lnTo>
                    <a:lnTo>
                      <a:pt x="119" y="10"/>
                    </a:lnTo>
                    <a:lnTo>
                      <a:pt x="128" y="7"/>
                    </a:lnTo>
                    <a:lnTo>
                      <a:pt x="137" y="5"/>
                    </a:lnTo>
                    <a:lnTo>
                      <a:pt x="146" y="3"/>
                    </a:lnTo>
                    <a:lnTo>
                      <a:pt x="154" y="2"/>
                    </a:lnTo>
                    <a:lnTo>
                      <a:pt x="164" y="1"/>
                    </a:lnTo>
                    <a:lnTo>
                      <a:pt x="173" y="0"/>
                    </a:lnTo>
                    <a:lnTo>
                      <a:pt x="182" y="0"/>
                    </a:lnTo>
                    <a:lnTo>
                      <a:pt x="192" y="0"/>
                    </a:lnTo>
                    <a:lnTo>
                      <a:pt x="201" y="1"/>
                    </a:lnTo>
                    <a:lnTo>
                      <a:pt x="210" y="2"/>
                    </a:lnTo>
                    <a:lnTo>
                      <a:pt x="219" y="3"/>
                    </a:lnTo>
                    <a:lnTo>
                      <a:pt x="228" y="5"/>
                    </a:lnTo>
                    <a:lnTo>
                      <a:pt x="236" y="7"/>
                    </a:lnTo>
                    <a:lnTo>
                      <a:pt x="245" y="10"/>
                    </a:lnTo>
                    <a:lnTo>
                      <a:pt x="253" y="13"/>
                    </a:lnTo>
                    <a:lnTo>
                      <a:pt x="261" y="16"/>
                    </a:lnTo>
                    <a:lnTo>
                      <a:pt x="269" y="19"/>
                    </a:lnTo>
                    <a:lnTo>
                      <a:pt x="277" y="23"/>
                    </a:lnTo>
                    <a:lnTo>
                      <a:pt x="284" y="28"/>
                    </a:lnTo>
                    <a:lnTo>
                      <a:pt x="291" y="32"/>
                    </a:lnTo>
                    <a:lnTo>
                      <a:pt x="298" y="37"/>
                    </a:lnTo>
                    <a:lnTo>
                      <a:pt x="305" y="42"/>
                    </a:lnTo>
                    <a:lnTo>
                      <a:pt x="311" y="48"/>
                    </a:lnTo>
                    <a:lnTo>
                      <a:pt x="317" y="53"/>
                    </a:lnTo>
                    <a:lnTo>
                      <a:pt x="322" y="59"/>
                    </a:lnTo>
                    <a:lnTo>
                      <a:pt x="328" y="65"/>
                    </a:lnTo>
                    <a:lnTo>
                      <a:pt x="333" y="71"/>
                    </a:lnTo>
                    <a:lnTo>
                      <a:pt x="338" y="78"/>
                    </a:lnTo>
                    <a:lnTo>
                      <a:pt x="342" y="85"/>
                    </a:lnTo>
                    <a:lnTo>
                      <a:pt x="346" y="92"/>
                    </a:lnTo>
                    <a:lnTo>
                      <a:pt x="350" y="99"/>
                    </a:lnTo>
                    <a:lnTo>
                      <a:pt x="353" y="106"/>
                    </a:lnTo>
                    <a:lnTo>
                      <a:pt x="356" y="114"/>
                    </a:lnTo>
                    <a:lnTo>
                      <a:pt x="358" y="121"/>
                    </a:lnTo>
                    <a:lnTo>
                      <a:pt x="361" y="129"/>
                    </a:lnTo>
                    <a:lnTo>
                      <a:pt x="362" y="137"/>
                    </a:lnTo>
                    <a:lnTo>
                      <a:pt x="363" y="145"/>
                    </a:lnTo>
                    <a:lnTo>
                      <a:pt x="364" y="153"/>
                    </a:lnTo>
                    <a:lnTo>
                      <a:pt x="364" y="162"/>
                    </a:lnTo>
                    <a:lnTo>
                      <a:pt x="364" y="170"/>
                    </a:lnTo>
                    <a:lnTo>
                      <a:pt x="363" y="178"/>
                    </a:lnTo>
                    <a:lnTo>
                      <a:pt x="362" y="187"/>
                    </a:lnTo>
                    <a:lnTo>
                      <a:pt x="361" y="194"/>
                    </a:lnTo>
                    <a:lnTo>
                      <a:pt x="358" y="202"/>
                    </a:lnTo>
                    <a:lnTo>
                      <a:pt x="356" y="210"/>
                    </a:lnTo>
                    <a:lnTo>
                      <a:pt x="353" y="218"/>
                    </a:lnTo>
                    <a:lnTo>
                      <a:pt x="350" y="225"/>
                    </a:lnTo>
                    <a:lnTo>
                      <a:pt x="346" y="232"/>
                    </a:lnTo>
                    <a:lnTo>
                      <a:pt x="342" y="239"/>
                    </a:lnTo>
                    <a:lnTo>
                      <a:pt x="338" y="246"/>
                    </a:lnTo>
                    <a:lnTo>
                      <a:pt x="333" y="252"/>
                    </a:lnTo>
                    <a:lnTo>
                      <a:pt x="328" y="259"/>
                    </a:lnTo>
                    <a:lnTo>
                      <a:pt x="322" y="265"/>
                    </a:lnTo>
                    <a:lnTo>
                      <a:pt x="317" y="271"/>
                    </a:lnTo>
                    <a:lnTo>
                      <a:pt x="311" y="276"/>
                    </a:lnTo>
                    <a:lnTo>
                      <a:pt x="305" y="282"/>
                    </a:lnTo>
                    <a:lnTo>
                      <a:pt x="298" y="287"/>
                    </a:lnTo>
                    <a:lnTo>
                      <a:pt x="291" y="292"/>
                    </a:lnTo>
                    <a:lnTo>
                      <a:pt x="284" y="296"/>
                    </a:lnTo>
                    <a:lnTo>
                      <a:pt x="277" y="300"/>
                    </a:lnTo>
                    <a:lnTo>
                      <a:pt x="269" y="304"/>
                    </a:lnTo>
                    <a:lnTo>
                      <a:pt x="261" y="308"/>
                    </a:lnTo>
                    <a:lnTo>
                      <a:pt x="253" y="311"/>
                    </a:lnTo>
                    <a:lnTo>
                      <a:pt x="245" y="314"/>
                    </a:lnTo>
                    <a:lnTo>
                      <a:pt x="236" y="317"/>
                    </a:lnTo>
                    <a:lnTo>
                      <a:pt x="228" y="319"/>
                    </a:lnTo>
                    <a:lnTo>
                      <a:pt x="219" y="320"/>
                    </a:lnTo>
                    <a:lnTo>
                      <a:pt x="210" y="322"/>
                    </a:lnTo>
                    <a:lnTo>
                      <a:pt x="201" y="323"/>
                    </a:lnTo>
                    <a:lnTo>
                      <a:pt x="192" y="324"/>
                    </a:lnTo>
                    <a:lnTo>
                      <a:pt x="182"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70" name="Freeform 433"/>
              <p:cNvSpPr/>
              <p:nvPr/>
            </p:nvSpPr>
            <p:spPr bwMode="auto">
              <a:xfrm>
                <a:off x="3769" y="2861"/>
                <a:ext cx="305" cy="271"/>
              </a:xfrm>
              <a:custGeom>
                <a:avLst/>
                <a:gdLst>
                  <a:gd name="T0" fmla="*/ 137 w 305"/>
                  <a:gd name="T1" fmla="*/ 269 h 271"/>
                  <a:gd name="T2" fmla="*/ 114 w 305"/>
                  <a:gd name="T3" fmla="*/ 266 h 271"/>
                  <a:gd name="T4" fmla="*/ 93 w 305"/>
                  <a:gd name="T5" fmla="*/ 259 h 271"/>
                  <a:gd name="T6" fmla="*/ 73 w 305"/>
                  <a:gd name="T7" fmla="*/ 250 h 271"/>
                  <a:gd name="T8" fmla="*/ 55 w 305"/>
                  <a:gd name="T9" fmla="*/ 239 h 271"/>
                  <a:gd name="T10" fmla="*/ 39 w 305"/>
                  <a:gd name="T11" fmla="*/ 226 h 271"/>
                  <a:gd name="T12" fmla="*/ 26 w 305"/>
                  <a:gd name="T13" fmla="*/ 210 h 271"/>
                  <a:gd name="T14" fmla="*/ 15 w 305"/>
                  <a:gd name="T15" fmla="*/ 194 h 271"/>
                  <a:gd name="T16" fmla="*/ 7 w 305"/>
                  <a:gd name="T17" fmla="*/ 175 h 271"/>
                  <a:gd name="T18" fmla="*/ 2 w 305"/>
                  <a:gd name="T19" fmla="*/ 155 h 271"/>
                  <a:gd name="T20" fmla="*/ 0 w 305"/>
                  <a:gd name="T21" fmla="*/ 135 h 271"/>
                  <a:gd name="T22" fmla="*/ 2 w 305"/>
                  <a:gd name="T23" fmla="*/ 114 h 271"/>
                  <a:gd name="T24" fmla="*/ 7 w 305"/>
                  <a:gd name="T25" fmla="*/ 94 h 271"/>
                  <a:gd name="T26" fmla="*/ 15 w 305"/>
                  <a:gd name="T27" fmla="*/ 76 h 271"/>
                  <a:gd name="T28" fmla="*/ 26 w 305"/>
                  <a:gd name="T29" fmla="*/ 59 h 271"/>
                  <a:gd name="T30" fmla="*/ 39 w 305"/>
                  <a:gd name="T31" fmla="*/ 44 h 271"/>
                  <a:gd name="T32" fmla="*/ 55 w 305"/>
                  <a:gd name="T33" fmla="*/ 31 h 271"/>
                  <a:gd name="T34" fmla="*/ 73 w 305"/>
                  <a:gd name="T35" fmla="*/ 20 h 271"/>
                  <a:gd name="T36" fmla="*/ 93 w 305"/>
                  <a:gd name="T37" fmla="*/ 11 h 271"/>
                  <a:gd name="T38" fmla="*/ 114 w 305"/>
                  <a:gd name="T39" fmla="*/ 4 h 271"/>
                  <a:gd name="T40" fmla="*/ 137 w 305"/>
                  <a:gd name="T41" fmla="*/ 1 h 271"/>
                  <a:gd name="T42" fmla="*/ 160 w 305"/>
                  <a:gd name="T43" fmla="*/ 0 h 271"/>
                  <a:gd name="T44" fmla="*/ 182 w 305"/>
                  <a:gd name="T45" fmla="*/ 3 h 271"/>
                  <a:gd name="T46" fmla="*/ 204 w 305"/>
                  <a:gd name="T47" fmla="*/ 8 h 271"/>
                  <a:gd name="T48" fmla="*/ 224 w 305"/>
                  <a:gd name="T49" fmla="*/ 16 h 271"/>
                  <a:gd name="T50" fmla="*/ 243 w 305"/>
                  <a:gd name="T51" fmla="*/ 27 h 271"/>
                  <a:gd name="T52" fmla="*/ 259 w 305"/>
                  <a:gd name="T53" fmla="*/ 39 h 271"/>
                  <a:gd name="T54" fmla="*/ 274 w 305"/>
                  <a:gd name="T55" fmla="*/ 54 h 271"/>
                  <a:gd name="T56" fmla="*/ 285 w 305"/>
                  <a:gd name="T57" fmla="*/ 71 h 271"/>
                  <a:gd name="T58" fmla="*/ 294 w 305"/>
                  <a:gd name="T59" fmla="*/ 89 h 271"/>
                  <a:gd name="T60" fmla="*/ 301 w 305"/>
                  <a:gd name="T61" fmla="*/ 108 h 271"/>
                  <a:gd name="T62" fmla="*/ 304 w 305"/>
                  <a:gd name="T63" fmla="*/ 128 h 271"/>
                  <a:gd name="T64" fmla="*/ 303 w 305"/>
                  <a:gd name="T65" fmla="*/ 149 h 271"/>
                  <a:gd name="T66" fmla="*/ 299 w 305"/>
                  <a:gd name="T67" fmla="*/ 169 h 271"/>
                  <a:gd name="T68" fmla="*/ 292 w 305"/>
                  <a:gd name="T69" fmla="*/ 188 h 271"/>
                  <a:gd name="T70" fmla="*/ 282 w 305"/>
                  <a:gd name="T71" fmla="*/ 205 h 271"/>
                  <a:gd name="T72" fmla="*/ 269 w 305"/>
                  <a:gd name="T73" fmla="*/ 221 h 271"/>
                  <a:gd name="T74" fmla="*/ 254 w 305"/>
                  <a:gd name="T75" fmla="*/ 235 h 271"/>
                  <a:gd name="T76" fmla="*/ 237 w 305"/>
                  <a:gd name="T77" fmla="*/ 247 h 271"/>
                  <a:gd name="T78" fmla="*/ 218 w 305"/>
                  <a:gd name="T79" fmla="*/ 257 h 271"/>
                  <a:gd name="T80" fmla="*/ 197 w 305"/>
                  <a:gd name="T81" fmla="*/ 264 h 271"/>
                  <a:gd name="T82" fmla="*/ 175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44" y="270"/>
                    </a:lnTo>
                    <a:lnTo>
                      <a:pt x="137" y="269"/>
                    </a:lnTo>
                    <a:lnTo>
                      <a:pt x="129" y="268"/>
                    </a:lnTo>
                    <a:lnTo>
                      <a:pt x="121" y="267"/>
                    </a:lnTo>
                    <a:lnTo>
                      <a:pt x="114" y="266"/>
                    </a:lnTo>
                    <a:lnTo>
                      <a:pt x="107" y="264"/>
                    </a:lnTo>
                    <a:lnTo>
                      <a:pt x="100" y="262"/>
                    </a:lnTo>
                    <a:lnTo>
                      <a:pt x="93" y="259"/>
                    </a:lnTo>
                    <a:lnTo>
                      <a:pt x="86" y="257"/>
                    </a:lnTo>
                    <a:lnTo>
                      <a:pt x="80" y="254"/>
                    </a:lnTo>
                    <a:lnTo>
                      <a:pt x="73" y="250"/>
                    </a:lnTo>
                    <a:lnTo>
                      <a:pt x="67" y="247"/>
                    </a:lnTo>
                    <a:lnTo>
                      <a:pt x="61" y="243"/>
                    </a:lnTo>
                    <a:lnTo>
                      <a:pt x="55" y="239"/>
                    </a:lnTo>
                    <a:lnTo>
                      <a:pt x="50" y="235"/>
                    </a:lnTo>
                    <a:lnTo>
                      <a:pt x="45" y="231"/>
                    </a:lnTo>
                    <a:lnTo>
                      <a:pt x="39" y="226"/>
                    </a:lnTo>
                    <a:lnTo>
                      <a:pt x="35" y="221"/>
                    </a:lnTo>
                    <a:lnTo>
                      <a:pt x="30" y="216"/>
                    </a:lnTo>
                    <a:lnTo>
                      <a:pt x="26" y="210"/>
                    </a:lnTo>
                    <a:lnTo>
                      <a:pt x="22" y="205"/>
                    </a:lnTo>
                    <a:lnTo>
                      <a:pt x="18" y="199"/>
                    </a:lnTo>
                    <a:lnTo>
                      <a:pt x="15" y="194"/>
                    </a:lnTo>
                    <a:lnTo>
                      <a:pt x="12" y="188"/>
                    </a:lnTo>
                    <a:lnTo>
                      <a:pt x="9" y="181"/>
                    </a:lnTo>
                    <a:lnTo>
                      <a:pt x="7" y="175"/>
                    </a:lnTo>
                    <a:lnTo>
                      <a:pt x="5" y="169"/>
                    </a:lnTo>
                    <a:lnTo>
                      <a:pt x="3" y="162"/>
                    </a:lnTo>
                    <a:lnTo>
                      <a:pt x="2" y="155"/>
                    </a:lnTo>
                    <a:lnTo>
                      <a:pt x="1" y="149"/>
                    </a:lnTo>
                    <a:lnTo>
                      <a:pt x="0" y="142"/>
                    </a:lnTo>
                    <a:lnTo>
                      <a:pt x="0" y="135"/>
                    </a:lnTo>
                    <a:lnTo>
                      <a:pt x="0" y="128"/>
                    </a:lnTo>
                    <a:lnTo>
                      <a:pt x="1" y="121"/>
                    </a:lnTo>
                    <a:lnTo>
                      <a:pt x="2" y="114"/>
                    </a:lnTo>
                    <a:lnTo>
                      <a:pt x="3" y="108"/>
                    </a:lnTo>
                    <a:lnTo>
                      <a:pt x="5" y="101"/>
                    </a:lnTo>
                    <a:lnTo>
                      <a:pt x="7" y="94"/>
                    </a:lnTo>
                    <a:lnTo>
                      <a:pt x="9" y="89"/>
                    </a:lnTo>
                    <a:lnTo>
                      <a:pt x="12" y="82"/>
                    </a:lnTo>
                    <a:lnTo>
                      <a:pt x="15" y="76"/>
                    </a:lnTo>
                    <a:lnTo>
                      <a:pt x="18" y="71"/>
                    </a:lnTo>
                    <a:lnTo>
                      <a:pt x="22" y="65"/>
                    </a:lnTo>
                    <a:lnTo>
                      <a:pt x="26" y="59"/>
                    </a:lnTo>
                    <a:lnTo>
                      <a:pt x="30" y="54"/>
                    </a:lnTo>
                    <a:lnTo>
                      <a:pt x="35" y="49"/>
                    </a:lnTo>
                    <a:lnTo>
                      <a:pt x="39" y="44"/>
                    </a:lnTo>
                    <a:lnTo>
                      <a:pt x="45" y="39"/>
                    </a:lnTo>
                    <a:lnTo>
                      <a:pt x="50" y="35"/>
                    </a:lnTo>
                    <a:lnTo>
                      <a:pt x="55" y="31"/>
                    </a:lnTo>
                    <a:lnTo>
                      <a:pt x="61" y="27"/>
                    </a:lnTo>
                    <a:lnTo>
                      <a:pt x="67" y="23"/>
                    </a:lnTo>
                    <a:lnTo>
                      <a:pt x="73" y="20"/>
                    </a:lnTo>
                    <a:lnTo>
                      <a:pt x="80" y="16"/>
                    </a:lnTo>
                    <a:lnTo>
                      <a:pt x="86" y="13"/>
                    </a:lnTo>
                    <a:lnTo>
                      <a:pt x="93" y="11"/>
                    </a:lnTo>
                    <a:lnTo>
                      <a:pt x="100" y="8"/>
                    </a:lnTo>
                    <a:lnTo>
                      <a:pt x="107" y="6"/>
                    </a:lnTo>
                    <a:lnTo>
                      <a:pt x="114" y="4"/>
                    </a:lnTo>
                    <a:lnTo>
                      <a:pt x="121" y="3"/>
                    </a:lnTo>
                    <a:lnTo>
                      <a:pt x="129" y="2"/>
                    </a:lnTo>
                    <a:lnTo>
                      <a:pt x="137" y="1"/>
                    </a:lnTo>
                    <a:lnTo>
                      <a:pt x="144" y="0"/>
                    </a:lnTo>
                    <a:lnTo>
                      <a:pt x="152" y="0"/>
                    </a:lnTo>
                    <a:lnTo>
                      <a:pt x="160" y="0"/>
                    </a:lnTo>
                    <a:lnTo>
                      <a:pt x="167" y="1"/>
                    </a:lnTo>
                    <a:lnTo>
                      <a:pt x="175" y="2"/>
                    </a:lnTo>
                    <a:lnTo>
                      <a:pt x="182" y="3"/>
                    </a:lnTo>
                    <a:lnTo>
                      <a:pt x="190" y="4"/>
                    </a:lnTo>
                    <a:lnTo>
                      <a:pt x="197" y="6"/>
                    </a:lnTo>
                    <a:lnTo>
                      <a:pt x="204" y="8"/>
                    </a:lnTo>
                    <a:lnTo>
                      <a:pt x="211" y="11"/>
                    </a:lnTo>
                    <a:lnTo>
                      <a:pt x="218" y="13"/>
                    </a:lnTo>
                    <a:lnTo>
                      <a:pt x="224" y="16"/>
                    </a:lnTo>
                    <a:lnTo>
                      <a:pt x="230" y="20"/>
                    </a:lnTo>
                    <a:lnTo>
                      <a:pt x="237" y="23"/>
                    </a:lnTo>
                    <a:lnTo>
                      <a:pt x="243" y="27"/>
                    </a:lnTo>
                    <a:lnTo>
                      <a:pt x="248" y="31"/>
                    </a:lnTo>
                    <a:lnTo>
                      <a:pt x="254" y="35"/>
                    </a:lnTo>
                    <a:lnTo>
                      <a:pt x="259" y="39"/>
                    </a:lnTo>
                    <a:lnTo>
                      <a:pt x="264" y="44"/>
                    </a:lnTo>
                    <a:lnTo>
                      <a:pt x="269" y="49"/>
                    </a:lnTo>
                    <a:lnTo>
                      <a:pt x="274" y="54"/>
                    </a:lnTo>
                    <a:lnTo>
                      <a:pt x="278" y="59"/>
                    </a:lnTo>
                    <a:lnTo>
                      <a:pt x="282" y="65"/>
                    </a:lnTo>
                    <a:lnTo>
                      <a:pt x="285" y="71"/>
                    </a:lnTo>
                    <a:lnTo>
                      <a:pt x="289" y="76"/>
                    </a:lnTo>
                    <a:lnTo>
                      <a:pt x="292" y="82"/>
                    </a:lnTo>
                    <a:lnTo>
                      <a:pt x="294" y="89"/>
                    </a:lnTo>
                    <a:lnTo>
                      <a:pt x="297" y="94"/>
                    </a:lnTo>
                    <a:lnTo>
                      <a:pt x="299" y="101"/>
                    </a:lnTo>
                    <a:lnTo>
                      <a:pt x="301" y="108"/>
                    </a:lnTo>
                    <a:lnTo>
                      <a:pt x="302" y="114"/>
                    </a:lnTo>
                    <a:lnTo>
                      <a:pt x="303" y="121"/>
                    </a:lnTo>
                    <a:lnTo>
                      <a:pt x="304" y="128"/>
                    </a:lnTo>
                    <a:lnTo>
                      <a:pt x="304" y="135"/>
                    </a:lnTo>
                    <a:lnTo>
                      <a:pt x="304" y="142"/>
                    </a:lnTo>
                    <a:lnTo>
                      <a:pt x="303" y="149"/>
                    </a:lnTo>
                    <a:lnTo>
                      <a:pt x="302" y="155"/>
                    </a:lnTo>
                    <a:lnTo>
                      <a:pt x="301" y="162"/>
                    </a:lnTo>
                    <a:lnTo>
                      <a:pt x="299" y="169"/>
                    </a:lnTo>
                    <a:lnTo>
                      <a:pt x="297" y="175"/>
                    </a:lnTo>
                    <a:lnTo>
                      <a:pt x="294" y="181"/>
                    </a:lnTo>
                    <a:lnTo>
                      <a:pt x="292" y="188"/>
                    </a:lnTo>
                    <a:lnTo>
                      <a:pt x="289" y="194"/>
                    </a:lnTo>
                    <a:lnTo>
                      <a:pt x="285" y="199"/>
                    </a:lnTo>
                    <a:lnTo>
                      <a:pt x="282" y="205"/>
                    </a:lnTo>
                    <a:lnTo>
                      <a:pt x="278" y="210"/>
                    </a:lnTo>
                    <a:lnTo>
                      <a:pt x="274" y="216"/>
                    </a:lnTo>
                    <a:lnTo>
                      <a:pt x="269" y="221"/>
                    </a:lnTo>
                    <a:lnTo>
                      <a:pt x="264" y="226"/>
                    </a:lnTo>
                    <a:lnTo>
                      <a:pt x="259" y="231"/>
                    </a:lnTo>
                    <a:lnTo>
                      <a:pt x="254" y="235"/>
                    </a:lnTo>
                    <a:lnTo>
                      <a:pt x="248" y="239"/>
                    </a:lnTo>
                    <a:lnTo>
                      <a:pt x="243" y="243"/>
                    </a:lnTo>
                    <a:lnTo>
                      <a:pt x="237" y="247"/>
                    </a:lnTo>
                    <a:lnTo>
                      <a:pt x="230" y="250"/>
                    </a:lnTo>
                    <a:lnTo>
                      <a:pt x="224" y="254"/>
                    </a:lnTo>
                    <a:lnTo>
                      <a:pt x="218" y="257"/>
                    </a:lnTo>
                    <a:lnTo>
                      <a:pt x="211" y="259"/>
                    </a:lnTo>
                    <a:lnTo>
                      <a:pt x="204" y="262"/>
                    </a:lnTo>
                    <a:lnTo>
                      <a:pt x="197" y="264"/>
                    </a:lnTo>
                    <a:lnTo>
                      <a:pt x="190" y="266"/>
                    </a:lnTo>
                    <a:lnTo>
                      <a:pt x="182" y="267"/>
                    </a:lnTo>
                    <a:lnTo>
                      <a:pt x="175" y="268"/>
                    </a:lnTo>
                    <a:lnTo>
                      <a:pt x="167" y="269"/>
                    </a:lnTo>
                    <a:lnTo>
                      <a:pt x="160" y="270"/>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71" name="Freeform 434"/>
              <p:cNvSpPr/>
              <p:nvPr/>
            </p:nvSpPr>
            <p:spPr bwMode="auto">
              <a:xfrm>
                <a:off x="3831" y="2863"/>
                <a:ext cx="176" cy="265"/>
              </a:xfrm>
              <a:custGeom>
                <a:avLst/>
                <a:gdLst>
                  <a:gd name="T0" fmla="*/ 0 w 176"/>
                  <a:gd name="T1" fmla="*/ 252 h 265"/>
                  <a:gd name="T2" fmla="*/ 154 w 176"/>
                  <a:gd name="T3" fmla="*/ 0 h 265"/>
                  <a:gd name="T4" fmla="*/ 175 w 176"/>
                  <a:gd name="T5" fmla="*/ 10 h 265"/>
                  <a:gd name="T6" fmla="*/ 21 w 176"/>
                  <a:gd name="T7" fmla="*/ 264 h 265"/>
                  <a:gd name="T8" fmla="*/ 0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0" y="252"/>
                    </a:moveTo>
                    <a:lnTo>
                      <a:pt x="154" y="0"/>
                    </a:lnTo>
                    <a:lnTo>
                      <a:pt x="175" y="10"/>
                    </a:lnTo>
                    <a:lnTo>
                      <a:pt x="21" y="264"/>
                    </a:lnTo>
                    <a:lnTo>
                      <a:pt x="0"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67" name="Rectangle 435"/>
            <p:cNvSpPr>
              <a:spLocks noChangeArrowheads="1"/>
            </p:cNvSpPr>
            <p:nvPr/>
          </p:nvSpPr>
          <p:spPr bwMode="auto">
            <a:xfrm flipH="1">
              <a:off x="2404" y="3221"/>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授权复查</a:t>
              </a:r>
              <a:endParaRPr kumimoji="1" lang="zh-CN" altLang="en-US" sz="2215" b="1">
                <a:latin typeface="Helvetica" panose="020B0604020202020204" pitchFamily="34" charset="0"/>
                <a:ea typeface="宋体" panose="02010600030101010101" pitchFamily="2" charset="-122"/>
              </a:endParaRPr>
            </a:p>
          </p:txBody>
        </p:sp>
        <p:sp>
          <p:nvSpPr>
            <p:cNvPr id="44068" name="Line 436"/>
            <p:cNvSpPr>
              <a:spLocks noChangeShapeType="1"/>
            </p:cNvSpPr>
            <p:nvPr/>
          </p:nvSpPr>
          <p:spPr bwMode="auto">
            <a:xfrm flipH="1">
              <a:off x="3564" y="3085"/>
              <a:ext cx="240" cy="156"/>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712117" name="Group 437"/>
          <p:cNvGrpSpPr/>
          <p:nvPr/>
        </p:nvGrpSpPr>
        <p:grpSpPr bwMode="auto">
          <a:xfrm>
            <a:off x="9269046" y="2745154"/>
            <a:ext cx="2471616" cy="2526324"/>
            <a:chOff x="4348" y="1744"/>
            <a:chExt cx="1168" cy="1293"/>
          </a:xfrm>
        </p:grpSpPr>
        <p:grpSp>
          <p:nvGrpSpPr>
            <p:cNvPr id="44055" name="Group 438"/>
            <p:cNvGrpSpPr/>
            <p:nvPr/>
          </p:nvGrpSpPr>
          <p:grpSpPr bwMode="auto">
            <a:xfrm>
              <a:off x="5148" y="2652"/>
              <a:ext cx="365" cy="325"/>
              <a:chOff x="5148" y="2652"/>
              <a:chExt cx="365" cy="325"/>
            </a:xfrm>
          </p:grpSpPr>
          <p:sp>
            <p:nvSpPr>
              <p:cNvPr id="44063" name="Freeform 439"/>
              <p:cNvSpPr/>
              <p:nvPr/>
            </p:nvSpPr>
            <p:spPr bwMode="auto">
              <a:xfrm>
                <a:off x="5148" y="2652"/>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64" name="Freeform 440"/>
              <p:cNvSpPr/>
              <p:nvPr/>
            </p:nvSpPr>
            <p:spPr bwMode="auto">
              <a:xfrm>
                <a:off x="5179" y="2680"/>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65" name="Freeform 441"/>
              <p:cNvSpPr/>
              <p:nvPr/>
            </p:nvSpPr>
            <p:spPr bwMode="auto">
              <a:xfrm>
                <a:off x="5247" y="2682"/>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56" name="Rectangle 442"/>
            <p:cNvSpPr>
              <a:spLocks noChangeArrowheads="1"/>
            </p:cNvSpPr>
            <p:nvPr/>
          </p:nvSpPr>
          <p:spPr bwMode="auto">
            <a:xfrm>
              <a:off x="4348" y="1744"/>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入侵检测</a:t>
              </a:r>
              <a:endParaRPr kumimoji="1" lang="zh-CN" altLang="en-US" sz="2215" b="1">
                <a:latin typeface="Helvetica" panose="020B0604020202020204" pitchFamily="34" charset="0"/>
                <a:ea typeface="宋体" panose="02010600030101010101" pitchFamily="2" charset="-122"/>
              </a:endParaRPr>
            </a:p>
            <a:p>
              <a:pPr algn="ctr">
                <a:spcBef>
                  <a:spcPct val="0"/>
                </a:spcBef>
                <a:buClrTx/>
                <a:buFontTx/>
                <a:buNone/>
              </a:pPr>
              <a:r>
                <a:rPr kumimoji="1" lang="zh-CN" altLang="en-US" sz="2215" b="1">
                  <a:latin typeface="Helvetica" panose="020B0604020202020204" pitchFamily="34" charset="0"/>
                  <a:ea typeface="宋体" panose="02010600030101010101" pitchFamily="2" charset="-122"/>
                </a:rPr>
                <a:t>实时监控</a:t>
              </a:r>
              <a:endParaRPr kumimoji="1" lang="zh-CN" altLang="en-US" sz="2215" b="1">
                <a:latin typeface="Helvetica" panose="020B0604020202020204" pitchFamily="34" charset="0"/>
                <a:ea typeface="宋体" panose="02010600030101010101" pitchFamily="2" charset="-122"/>
              </a:endParaRPr>
            </a:p>
          </p:txBody>
        </p:sp>
        <p:sp>
          <p:nvSpPr>
            <p:cNvPr id="44057" name="Line 443"/>
            <p:cNvSpPr>
              <a:spLocks noChangeShapeType="1"/>
            </p:cNvSpPr>
            <p:nvPr/>
          </p:nvSpPr>
          <p:spPr bwMode="auto">
            <a:xfrm flipH="1" flipV="1">
              <a:off x="5160" y="2436"/>
              <a:ext cx="132" cy="228"/>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nvGrpSpPr>
            <p:cNvPr id="44058" name="Group 444"/>
            <p:cNvGrpSpPr/>
            <p:nvPr/>
          </p:nvGrpSpPr>
          <p:grpSpPr bwMode="auto">
            <a:xfrm>
              <a:off x="4416" y="2712"/>
              <a:ext cx="365" cy="325"/>
              <a:chOff x="4416" y="2712"/>
              <a:chExt cx="365" cy="325"/>
            </a:xfrm>
          </p:grpSpPr>
          <p:sp>
            <p:nvSpPr>
              <p:cNvPr id="44060" name="Freeform 445"/>
              <p:cNvSpPr/>
              <p:nvPr/>
            </p:nvSpPr>
            <p:spPr bwMode="auto">
              <a:xfrm>
                <a:off x="4416" y="2712"/>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61" name="Freeform 446"/>
              <p:cNvSpPr/>
              <p:nvPr/>
            </p:nvSpPr>
            <p:spPr bwMode="auto">
              <a:xfrm>
                <a:off x="4447" y="2740"/>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62" name="Freeform 447"/>
              <p:cNvSpPr/>
              <p:nvPr/>
            </p:nvSpPr>
            <p:spPr bwMode="auto">
              <a:xfrm>
                <a:off x="4515" y="2742"/>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59" name="Line 448"/>
            <p:cNvSpPr>
              <a:spLocks noChangeShapeType="1"/>
            </p:cNvSpPr>
            <p:nvPr/>
          </p:nvSpPr>
          <p:spPr bwMode="auto">
            <a:xfrm flipV="1">
              <a:off x="4656" y="2436"/>
              <a:ext cx="132" cy="276"/>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grpSp>
        <p:nvGrpSpPr>
          <p:cNvPr id="712129" name="Group 449"/>
          <p:cNvGrpSpPr/>
          <p:nvPr/>
        </p:nvGrpSpPr>
        <p:grpSpPr bwMode="auto">
          <a:xfrm>
            <a:off x="3614615" y="3667369"/>
            <a:ext cx="3089031" cy="2151185"/>
            <a:chOff x="3192" y="964"/>
            <a:chExt cx="1460" cy="1101"/>
          </a:xfrm>
        </p:grpSpPr>
        <p:grpSp>
          <p:nvGrpSpPr>
            <p:cNvPr id="44049" name="Group 450"/>
            <p:cNvGrpSpPr/>
            <p:nvPr/>
          </p:nvGrpSpPr>
          <p:grpSpPr bwMode="auto">
            <a:xfrm>
              <a:off x="3192" y="1740"/>
              <a:ext cx="365" cy="325"/>
              <a:chOff x="3192" y="1740"/>
              <a:chExt cx="365" cy="325"/>
            </a:xfrm>
          </p:grpSpPr>
          <p:sp>
            <p:nvSpPr>
              <p:cNvPr id="44052" name="Freeform 451"/>
              <p:cNvSpPr/>
              <p:nvPr/>
            </p:nvSpPr>
            <p:spPr bwMode="auto">
              <a:xfrm>
                <a:off x="3192" y="1740"/>
                <a:ext cx="365" cy="325"/>
              </a:xfrm>
              <a:custGeom>
                <a:avLst/>
                <a:gdLst>
                  <a:gd name="T0" fmla="*/ 200 w 365"/>
                  <a:gd name="T1" fmla="*/ 322 h 325"/>
                  <a:gd name="T2" fmla="*/ 227 w 365"/>
                  <a:gd name="T3" fmla="*/ 318 h 325"/>
                  <a:gd name="T4" fmla="*/ 252 w 365"/>
                  <a:gd name="T5" fmla="*/ 311 h 325"/>
                  <a:gd name="T6" fmla="*/ 276 w 365"/>
                  <a:gd name="T7" fmla="*/ 300 h 325"/>
                  <a:gd name="T8" fmla="*/ 297 w 365"/>
                  <a:gd name="T9" fmla="*/ 287 h 325"/>
                  <a:gd name="T10" fmla="*/ 316 w 365"/>
                  <a:gd name="T11" fmla="*/ 270 h 325"/>
                  <a:gd name="T12" fmla="*/ 332 w 365"/>
                  <a:gd name="T13" fmla="*/ 252 h 325"/>
                  <a:gd name="T14" fmla="*/ 345 w 365"/>
                  <a:gd name="T15" fmla="*/ 232 h 325"/>
                  <a:gd name="T16" fmla="*/ 355 w 365"/>
                  <a:gd name="T17" fmla="*/ 209 h 325"/>
                  <a:gd name="T18" fmla="*/ 361 w 365"/>
                  <a:gd name="T19" fmla="*/ 186 h 325"/>
                  <a:gd name="T20" fmla="*/ 364 w 365"/>
                  <a:gd name="T21" fmla="*/ 161 h 325"/>
                  <a:gd name="T22" fmla="*/ 361 w 365"/>
                  <a:gd name="T23" fmla="*/ 137 h 325"/>
                  <a:gd name="T24" fmla="*/ 355 w 365"/>
                  <a:gd name="T25" fmla="*/ 113 h 325"/>
                  <a:gd name="T26" fmla="*/ 345 w 365"/>
                  <a:gd name="T27" fmla="*/ 91 h 325"/>
                  <a:gd name="T28" fmla="*/ 332 w 365"/>
                  <a:gd name="T29" fmla="*/ 71 h 325"/>
                  <a:gd name="T30" fmla="*/ 316 w 365"/>
                  <a:gd name="T31" fmla="*/ 52 h 325"/>
                  <a:gd name="T32" fmla="*/ 297 w 365"/>
                  <a:gd name="T33" fmla="*/ 36 h 325"/>
                  <a:gd name="T34" fmla="*/ 276 w 365"/>
                  <a:gd name="T35" fmla="*/ 23 h 325"/>
                  <a:gd name="T36" fmla="*/ 252 w 365"/>
                  <a:gd name="T37" fmla="*/ 12 h 325"/>
                  <a:gd name="T38" fmla="*/ 227 w 365"/>
                  <a:gd name="T39" fmla="*/ 5 h 325"/>
                  <a:gd name="T40" fmla="*/ 200 w 365"/>
                  <a:gd name="T41" fmla="*/ 0 h 325"/>
                  <a:gd name="T42" fmla="*/ 172 w 365"/>
                  <a:gd name="T43" fmla="*/ 0 h 325"/>
                  <a:gd name="T44" fmla="*/ 145 w 365"/>
                  <a:gd name="T45" fmla="*/ 3 h 325"/>
                  <a:gd name="T46" fmla="*/ 119 w 365"/>
                  <a:gd name="T47" fmla="*/ 9 h 325"/>
                  <a:gd name="T48" fmla="*/ 94 w 365"/>
                  <a:gd name="T49" fmla="*/ 19 h 325"/>
                  <a:gd name="T50" fmla="*/ 73 w 365"/>
                  <a:gd name="T51" fmla="*/ 32 h 325"/>
                  <a:gd name="T52" fmla="*/ 53 w 365"/>
                  <a:gd name="T53" fmla="*/ 47 h 325"/>
                  <a:gd name="T54" fmla="*/ 36 w 365"/>
                  <a:gd name="T55" fmla="*/ 65 h 325"/>
                  <a:gd name="T56" fmla="*/ 21 w 365"/>
                  <a:gd name="T57" fmla="*/ 84 h 325"/>
                  <a:gd name="T58" fmla="*/ 10 w 365"/>
                  <a:gd name="T59" fmla="*/ 106 h 325"/>
                  <a:gd name="T60" fmla="*/ 3 w 365"/>
                  <a:gd name="T61" fmla="*/ 129 h 325"/>
                  <a:gd name="T62" fmla="*/ 0 w 365"/>
                  <a:gd name="T63" fmla="*/ 153 h 325"/>
                  <a:gd name="T64" fmla="*/ 0 w 365"/>
                  <a:gd name="T65" fmla="*/ 178 h 325"/>
                  <a:gd name="T66" fmla="*/ 5 w 365"/>
                  <a:gd name="T67" fmla="*/ 202 h 325"/>
                  <a:gd name="T68" fmla="*/ 14 w 365"/>
                  <a:gd name="T69" fmla="*/ 225 h 325"/>
                  <a:gd name="T70" fmla="*/ 26 w 365"/>
                  <a:gd name="T71" fmla="*/ 245 h 325"/>
                  <a:gd name="T72" fmla="*/ 41 w 365"/>
                  <a:gd name="T73" fmla="*/ 264 h 325"/>
                  <a:gd name="T74" fmla="*/ 59 w 365"/>
                  <a:gd name="T75" fmla="*/ 281 h 325"/>
                  <a:gd name="T76" fmla="*/ 80 w 365"/>
                  <a:gd name="T77" fmla="*/ 296 h 325"/>
                  <a:gd name="T78" fmla="*/ 102 w 365"/>
                  <a:gd name="T79" fmla="*/ 307 h 325"/>
                  <a:gd name="T80" fmla="*/ 127 w 365"/>
                  <a:gd name="T81" fmla="*/ 316 h 325"/>
                  <a:gd name="T82" fmla="*/ 154 w 365"/>
                  <a:gd name="T83" fmla="*/ 322 h 325"/>
                  <a:gd name="T84" fmla="*/ 181 w 365"/>
                  <a:gd name="T85" fmla="*/ 324 h 3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5"/>
                  <a:gd name="T130" fmla="*/ 0 h 325"/>
                  <a:gd name="T131" fmla="*/ 365 w 365"/>
                  <a:gd name="T132" fmla="*/ 325 h 3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5" h="325">
                    <a:moveTo>
                      <a:pt x="181" y="324"/>
                    </a:moveTo>
                    <a:lnTo>
                      <a:pt x="191" y="323"/>
                    </a:lnTo>
                    <a:lnTo>
                      <a:pt x="200" y="322"/>
                    </a:lnTo>
                    <a:lnTo>
                      <a:pt x="209" y="322"/>
                    </a:lnTo>
                    <a:lnTo>
                      <a:pt x="218" y="320"/>
                    </a:lnTo>
                    <a:lnTo>
                      <a:pt x="227" y="318"/>
                    </a:lnTo>
                    <a:lnTo>
                      <a:pt x="235" y="316"/>
                    </a:lnTo>
                    <a:lnTo>
                      <a:pt x="244" y="314"/>
                    </a:lnTo>
                    <a:lnTo>
                      <a:pt x="252" y="311"/>
                    </a:lnTo>
                    <a:lnTo>
                      <a:pt x="260" y="307"/>
                    </a:lnTo>
                    <a:lnTo>
                      <a:pt x="268" y="304"/>
                    </a:lnTo>
                    <a:lnTo>
                      <a:pt x="276" y="300"/>
                    </a:lnTo>
                    <a:lnTo>
                      <a:pt x="283" y="296"/>
                    </a:lnTo>
                    <a:lnTo>
                      <a:pt x="290" y="291"/>
                    </a:lnTo>
                    <a:lnTo>
                      <a:pt x="297" y="287"/>
                    </a:lnTo>
                    <a:lnTo>
                      <a:pt x="304" y="281"/>
                    </a:lnTo>
                    <a:lnTo>
                      <a:pt x="310" y="276"/>
                    </a:lnTo>
                    <a:lnTo>
                      <a:pt x="316" y="270"/>
                    </a:lnTo>
                    <a:lnTo>
                      <a:pt x="322" y="264"/>
                    </a:lnTo>
                    <a:lnTo>
                      <a:pt x="327" y="258"/>
                    </a:lnTo>
                    <a:lnTo>
                      <a:pt x="332" y="252"/>
                    </a:lnTo>
                    <a:lnTo>
                      <a:pt x="337" y="245"/>
                    </a:lnTo>
                    <a:lnTo>
                      <a:pt x="341" y="239"/>
                    </a:lnTo>
                    <a:lnTo>
                      <a:pt x="345" y="232"/>
                    </a:lnTo>
                    <a:lnTo>
                      <a:pt x="349" y="225"/>
                    </a:lnTo>
                    <a:lnTo>
                      <a:pt x="353" y="217"/>
                    </a:lnTo>
                    <a:lnTo>
                      <a:pt x="355" y="209"/>
                    </a:lnTo>
                    <a:lnTo>
                      <a:pt x="358" y="202"/>
                    </a:lnTo>
                    <a:lnTo>
                      <a:pt x="360" y="194"/>
                    </a:lnTo>
                    <a:lnTo>
                      <a:pt x="361" y="186"/>
                    </a:lnTo>
                    <a:lnTo>
                      <a:pt x="362" y="178"/>
                    </a:lnTo>
                    <a:lnTo>
                      <a:pt x="363" y="170"/>
                    </a:lnTo>
                    <a:lnTo>
                      <a:pt x="364" y="161"/>
                    </a:lnTo>
                    <a:lnTo>
                      <a:pt x="363" y="153"/>
                    </a:lnTo>
                    <a:lnTo>
                      <a:pt x="362" y="145"/>
                    </a:lnTo>
                    <a:lnTo>
                      <a:pt x="361" y="137"/>
                    </a:lnTo>
                    <a:lnTo>
                      <a:pt x="360" y="129"/>
                    </a:lnTo>
                    <a:lnTo>
                      <a:pt x="358" y="121"/>
                    </a:lnTo>
                    <a:lnTo>
                      <a:pt x="355" y="113"/>
                    </a:lnTo>
                    <a:lnTo>
                      <a:pt x="353" y="106"/>
                    </a:lnTo>
                    <a:lnTo>
                      <a:pt x="349" y="98"/>
                    </a:lnTo>
                    <a:lnTo>
                      <a:pt x="345" y="91"/>
                    </a:lnTo>
                    <a:lnTo>
                      <a:pt x="341" y="84"/>
                    </a:lnTo>
                    <a:lnTo>
                      <a:pt x="337" y="77"/>
                    </a:lnTo>
                    <a:lnTo>
                      <a:pt x="332" y="71"/>
                    </a:lnTo>
                    <a:lnTo>
                      <a:pt x="327" y="65"/>
                    </a:lnTo>
                    <a:lnTo>
                      <a:pt x="322" y="58"/>
                    </a:lnTo>
                    <a:lnTo>
                      <a:pt x="316" y="52"/>
                    </a:lnTo>
                    <a:lnTo>
                      <a:pt x="310" y="47"/>
                    </a:lnTo>
                    <a:lnTo>
                      <a:pt x="304" y="42"/>
                    </a:lnTo>
                    <a:lnTo>
                      <a:pt x="297" y="36"/>
                    </a:lnTo>
                    <a:lnTo>
                      <a:pt x="290" y="32"/>
                    </a:lnTo>
                    <a:lnTo>
                      <a:pt x="283" y="27"/>
                    </a:lnTo>
                    <a:lnTo>
                      <a:pt x="276" y="23"/>
                    </a:lnTo>
                    <a:lnTo>
                      <a:pt x="268" y="19"/>
                    </a:lnTo>
                    <a:lnTo>
                      <a:pt x="260" y="15"/>
                    </a:lnTo>
                    <a:lnTo>
                      <a:pt x="252" y="12"/>
                    </a:lnTo>
                    <a:lnTo>
                      <a:pt x="244" y="9"/>
                    </a:lnTo>
                    <a:lnTo>
                      <a:pt x="235" y="7"/>
                    </a:lnTo>
                    <a:lnTo>
                      <a:pt x="227" y="5"/>
                    </a:lnTo>
                    <a:lnTo>
                      <a:pt x="218" y="3"/>
                    </a:lnTo>
                    <a:lnTo>
                      <a:pt x="209" y="1"/>
                    </a:lnTo>
                    <a:lnTo>
                      <a:pt x="200" y="0"/>
                    </a:lnTo>
                    <a:lnTo>
                      <a:pt x="191" y="0"/>
                    </a:lnTo>
                    <a:lnTo>
                      <a:pt x="181" y="0"/>
                    </a:lnTo>
                    <a:lnTo>
                      <a:pt x="172" y="0"/>
                    </a:lnTo>
                    <a:lnTo>
                      <a:pt x="163" y="0"/>
                    </a:lnTo>
                    <a:lnTo>
                      <a:pt x="154" y="1"/>
                    </a:lnTo>
                    <a:lnTo>
                      <a:pt x="145" y="3"/>
                    </a:lnTo>
                    <a:lnTo>
                      <a:pt x="136" y="5"/>
                    </a:lnTo>
                    <a:lnTo>
                      <a:pt x="127" y="7"/>
                    </a:lnTo>
                    <a:lnTo>
                      <a:pt x="119" y="9"/>
                    </a:lnTo>
                    <a:lnTo>
                      <a:pt x="111" y="12"/>
                    </a:lnTo>
                    <a:lnTo>
                      <a:pt x="102" y="15"/>
                    </a:lnTo>
                    <a:lnTo>
                      <a:pt x="94" y="19"/>
                    </a:lnTo>
                    <a:lnTo>
                      <a:pt x="87" y="23"/>
                    </a:lnTo>
                    <a:lnTo>
                      <a:pt x="80" y="27"/>
                    </a:lnTo>
                    <a:lnTo>
                      <a:pt x="73" y="32"/>
                    </a:lnTo>
                    <a:lnTo>
                      <a:pt x="66" y="36"/>
                    </a:lnTo>
                    <a:lnTo>
                      <a:pt x="59" y="42"/>
                    </a:lnTo>
                    <a:lnTo>
                      <a:pt x="53" y="47"/>
                    </a:lnTo>
                    <a:lnTo>
                      <a:pt x="47" y="52"/>
                    </a:lnTo>
                    <a:lnTo>
                      <a:pt x="41" y="58"/>
                    </a:lnTo>
                    <a:lnTo>
                      <a:pt x="36" y="65"/>
                    </a:lnTo>
                    <a:lnTo>
                      <a:pt x="31" y="71"/>
                    </a:lnTo>
                    <a:lnTo>
                      <a:pt x="26" y="77"/>
                    </a:lnTo>
                    <a:lnTo>
                      <a:pt x="21" y="84"/>
                    </a:lnTo>
                    <a:lnTo>
                      <a:pt x="17" y="91"/>
                    </a:lnTo>
                    <a:lnTo>
                      <a:pt x="14" y="98"/>
                    </a:lnTo>
                    <a:lnTo>
                      <a:pt x="10" y="106"/>
                    </a:lnTo>
                    <a:lnTo>
                      <a:pt x="8" y="113"/>
                    </a:lnTo>
                    <a:lnTo>
                      <a:pt x="5" y="121"/>
                    </a:lnTo>
                    <a:lnTo>
                      <a:pt x="3" y="129"/>
                    </a:lnTo>
                    <a:lnTo>
                      <a:pt x="2" y="137"/>
                    </a:lnTo>
                    <a:lnTo>
                      <a:pt x="0" y="145"/>
                    </a:lnTo>
                    <a:lnTo>
                      <a:pt x="0" y="153"/>
                    </a:lnTo>
                    <a:lnTo>
                      <a:pt x="0" y="161"/>
                    </a:lnTo>
                    <a:lnTo>
                      <a:pt x="0" y="170"/>
                    </a:lnTo>
                    <a:lnTo>
                      <a:pt x="0" y="178"/>
                    </a:lnTo>
                    <a:lnTo>
                      <a:pt x="2" y="186"/>
                    </a:lnTo>
                    <a:lnTo>
                      <a:pt x="3" y="194"/>
                    </a:lnTo>
                    <a:lnTo>
                      <a:pt x="5" y="202"/>
                    </a:lnTo>
                    <a:lnTo>
                      <a:pt x="8" y="209"/>
                    </a:lnTo>
                    <a:lnTo>
                      <a:pt x="10" y="217"/>
                    </a:lnTo>
                    <a:lnTo>
                      <a:pt x="14" y="225"/>
                    </a:lnTo>
                    <a:lnTo>
                      <a:pt x="17" y="232"/>
                    </a:lnTo>
                    <a:lnTo>
                      <a:pt x="21" y="239"/>
                    </a:lnTo>
                    <a:lnTo>
                      <a:pt x="26" y="245"/>
                    </a:lnTo>
                    <a:lnTo>
                      <a:pt x="31" y="252"/>
                    </a:lnTo>
                    <a:lnTo>
                      <a:pt x="36" y="258"/>
                    </a:lnTo>
                    <a:lnTo>
                      <a:pt x="41" y="264"/>
                    </a:lnTo>
                    <a:lnTo>
                      <a:pt x="47" y="270"/>
                    </a:lnTo>
                    <a:lnTo>
                      <a:pt x="53" y="276"/>
                    </a:lnTo>
                    <a:lnTo>
                      <a:pt x="59" y="281"/>
                    </a:lnTo>
                    <a:lnTo>
                      <a:pt x="66" y="287"/>
                    </a:lnTo>
                    <a:lnTo>
                      <a:pt x="73" y="291"/>
                    </a:lnTo>
                    <a:lnTo>
                      <a:pt x="80" y="296"/>
                    </a:lnTo>
                    <a:lnTo>
                      <a:pt x="87" y="300"/>
                    </a:lnTo>
                    <a:lnTo>
                      <a:pt x="94" y="304"/>
                    </a:lnTo>
                    <a:lnTo>
                      <a:pt x="102" y="307"/>
                    </a:lnTo>
                    <a:lnTo>
                      <a:pt x="111" y="311"/>
                    </a:lnTo>
                    <a:lnTo>
                      <a:pt x="119" y="314"/>
                    </a:lnTo>
                    <a:lnTo>
                      <a:pt x="127" y="316"/>
                    </a:lnTo>
                    <a:lnTo>
                      <a:pt x="136" y="318"/>
                    </a:lnTo>
                    <a:lnTo>
                      <a:pt x="145" y="320"/>
                    </a:lnTo>
                    <a:lnTo>
                      <a:pt x="154" y="322"/>
                    </a:lnTo>
                    <a:lnTo>
                      <a:pt x="163" y="322"/>
                    </a:lnTo>
                    <a:lnTo>
                      <a:pt x="172" y="323"/>
                    </a:lnTo>
                    <a:lnTo>
                      <a:pt x="181" y="324"/>
                    </a:lnTo>
                    <a:lnTo>
                      <a:pt x="181" y="323"/>
                    </a:lnTo>
                    <a:lnTo>
                      <a:pt x="181" y="324"/>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53" name="Freeform 452"/>
              <p:cNvSpPr/>
              <p:nvPr/>
            </p:nvSpPr>
            <p:spPr bwMode="auto">
              <a:xfrm>
                <a:off x="3223" y="1768"/>
                <a:ext cx="305" cy="271"/>
              </a:xfrm>
              <a:custGeom>
                <a:avLst/>
                <a:gdLst>
                  <a:gd name="T0" fmla="*/ 167 w 305"/>
                  <a:gd name="T1" fmla="*/ 269 h 271"/>
                  <a:gd name="T2" fmla="*/ 190 w 305"/>
                  <a:gd name="T3" fmla="*/ 265 h 271"/>
                  <a:gd name="T4" fmla="*/ 211 w 305"/>
                  <a:gd name="T5" fmla="*/ 259 h 271"/>
                  <a:gd name="T6" fmla="*/ 230 w 305"/>
                  <a:gd name="T7" fmla="*/ 250 h 271"/>
                  <a:gd name="T8" fmla="*/ 248 w 305"/>
                  <a:gd name="T9" fmla="*/ 239 h 271"/>
                  <a:gd name="T10" fmla="*/ 264 w 305"/>
                  <a:gd name="T11" fmla="*/ 225 h 271"/>
                  <a:gd name="T12" fmla="*/ 277 w 305"/>
                  <a:gd name="T13" fmla="*/ 210 h 271"/>
                  <a:gd name="T14" fmla="*/ 288 w 305"/>
                  <a:gd name="T15" fmla="*/ 193 h 271"/>
                  <a:gd name="T16" fmla="*/ 296 w 305"/>
                  <a:gd name="T17" fmla="*/ 175 h 271"/>
                  <a:gd name="T18" fmla="*/ 302 w 305"/>
                  <a:gd name="T19" fmla="*/ 155 h 271"/>
                  <a:gd name="T20" fmla="*/ 304 w 305"/>
                  <a:gd name="T21" fmla="*/ 134 h 271"/>
                  <a:gd name="T22" fmla="*/ 302 w 305"/>
                  <a:gd name="T23" fmla="*/ 113 h 271"/>
                  <a:gd name="T24" fmla="*/ 296 w 305"/>
                  <a:gd name="T25" fmla="*/ 94 h 271"/>
                  <a:gd name="T26" fmla="*/ 288 w 305"/>
                  <a:gd name="T27" fmla="*/ 76 h 271"/>
                  <a:gd name="T28" fmla="*/ 277 w 305"/>
                  <a:gd name="T29" fmla="*/ 59 h 271"/>
                  <a:gd name="T30" fmla="*/ 264 w 305"/>
                  <a:gd name="T31" fmla="*/ 44 h 271"/>
                  <a:gd name="T32" fmla="*/ 248 w 305"/>
                  <a:gd name="T33" fmla="*/ 30 h 271"/>
                  <a:gd name="T34" fmla="*/ 230 w 305"/>
                  <a:gd name="T35" fmla="*/ 19 h 271"/>
                  <a:gd name="T36" fmla="*/ 211 w 305"/>
                  <a:gd name="T37" fmla="*/ 10 h 271"/>
                  <a:gd name="T38" fmla="*/ 190 w 305"/>
                  <a:gd name="T39" fmla="*/ 4 h 271"/>
                  <a:gd name="T40" fmla="*/ 167 w 305"/>
                  <a:gd name="T41" fmla="*/ 0 h 271"/>
                  <a:gd name="T42" fmla="*/ 144 w 305"/>
                  <a:gd name="T43" fmla="*/ 0 h 271"/>
                  <a:gd name="T44" fmla="*/ 121 w 305"/>
                  <a:gd name="T45" fmla="*/ 2 h 271"/>
                  <a:gd name="T46" fmla="*/ 99 w 305"/>
                  <a:gd name="T47" fmla="*/ 8 h 271"/>
                  <a:gd name="T48" fmla="*/ 79 w 305"/>
                  <a:gd name="T49" fmla="*/ 16 h 271"/>
                  <a:gd name="T50" fmla="*/ 61 w 305"/>
                  <a:gd name="T51" fmla="*/ 26 h 271"/>
                  <a:gd name="T52" fmla="*/ 44 w 305"/>
                  <a:gd name="T53" fmla="*/ 39 h 271"/>
                  <a:gd name="T54" fmla="*/ 30 w 305"/>
                  <a:gd name="T55" fmla="*/ 53 h 271"/>
                  <a:gd name="T56" fmla="*/ 18 w 305"/>
                  <a:gd name="T57" fmla="*/ 70 h 271"/>
                  <a:gd name="T58" fmla="*/ 9 w 305"/>
                  <a:gd name="T59" fmla="*/ 88 h 271"/>
                  <a:gd name="T60" fmla="*/ 3 w 305"/>
                  <a:gd name="T61" fmla="*/ 107 h 271"/>
                  <a:gd name="T62" fmla="*/ 0 w 305"/>
                  <a:gd name="T63" fmla="*/ 127 h 271"/>
                  <a:gd name="T64" fmla="*/ 0 w 305"/>
                  <a:gd name="T65" fmla="*/ 148 h 271"/>
                  <a:gd name="T66" fmla="*/ 5 w 305"/>
                  <a:gd name="T67" fmla="*/ 168 h 271"/>
                  <a:gd name="T68" fmla="*/ 12 w 305"/>
                  <a:gd name="T69" fmla="*/ 187 h 271"/>
                  <a:gd name="T70" fmla="*/ 22 w 305"/>
                  <a:gd name="T71" fmla="*/ 204 h 271"/>
                  <a:gd name="T72" fmla="*/ 35 w 305"/>
                  <a:gd name="T73" fmla="*/ 220 h 271"/>
                  <a:gd name="T74" fmla="*/ 49 w 305"/>
                  <a:gd name="T75" fmla="*/ 234 h 271"/>
                  <a:gd name="T76" fmla="*/ 67 w 305"/>
                  <a:gd name="T77" fmla="*/ 246 h 271"/>
                  <a:gd name="T78" fmla="*/ 86 w 305"/>
                  <a:gd name="T79" fmla="*/ 256 h 271"/>
                  <a:gd name="T80" fmla="*/ 106 w 305"/>
                  <a:gd name="T81" fmla="*/ 264 h 271"/>
                  <a:gd name="T82" fmla="*/ 128 w 305"/>
                  <a:gd name="T83" fmla="*/ 268 h 271"/>
                  <a:gd name="T84" fmla="*/ 152 w 305"/>
                  <a:gd name="T85" fmla="*/ 270 h 2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05"/>
                  <a:gd name="T130" fmla="*/ 0 h 271"/>
                  <a:gd name="T131" fmla="*/ 305 w 305"/>
                  <a:gd name="T132" fmla="*/ 271 h 2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05" h="271">
                    <a:moveTo>
                      <a:pt x="152" y="270"/>
                    </a:moveTo>
                    <a:lnTo>
                      <a:pt x="159" y="269"/>
                    </a:lnTo>
                    <a:lnTo>
                      <a:pt x="167" y="269"/>
                    </a:lnTo>
                    <a:lnTo>
                      <a:pt x="175" y="268"/>
                    </a:lnTo>
                    <a:lnTo>
                      <a:pt x="182" y="267"/>
                    </a:lnTo>
                    <a:lnTo>
                      <a:pt x="190" y="265"/>
                    </a:lnTo>
                    <a:lnTo>
                      <a:pt x="197" y="264"/>
                    </a:lnTo>
                    <a:lnTo>
                      <a:pt x="204" y="261"/>
                    </a:lnTo>
                    <a:lnTo>
                      <a:pt x="211" y="259"/>
                    </a:lnTo>
                    <a:lnTo>
                      <a:pt x="217" y="256"/>
                    </a:lnTo>
                    <a:lnTo>
                      <a:pt x="224" y="253"/>
                    </a:lnTo>
                    <a:lnTo>
                      <a:pt x="230" y="250"/>
                    </a:lnTo>
                    <a:lnTo>
                      <a:pt x="236" y="246"/>
                    </a:lnTo>
                    <a:lnTo>
                      <a:pt x="242" y="243"/>
                    </a:lnTo>
                    <a:lnTo>
                      <a:pt x="248" y="239"/>
                    </a:lnTo>
                    <a:lnTo>
                      <a:pt x="254" y="234"/>
                    </a:lnTo>
                    <a:lnTo>
                      <a:pt x="259" y="230"/>
                    </a:lnTo>
                    <a:lnTo>
                      <a:pt x="264" y="225"/>
                    </a:lnTo>
                    <a:lnTo>
                      <a:pt x="269" y="220"/>
                    </a:lnTo>
                    <a:lnTo>
                      <a:pt x="273" y="215"/>
                    </a:lnTo>
                    <a:lnTo>
                      <a:pt x="277" y="210"/>
                    </a:lnTo>
                    <a:lnTo>
                      <a:pt x="282" y="204"/>
                    </a:lnTo>
                    <a:lnTo>
                      <a:pt x="285" y="199"/>
                    </a:lnTo>
                    <a:lnTo>
                      <a:pt x="288" y="193"/>
                    </a:lnTo>
                    <a:lnTo>
                      <a:pt x="291" y="187"/>
                    </a:lnTo>
                    <a:lnTo>
                      <a:pt x="294" y="181"/>
                    </a:lnTo>
                    <a:lnTo>
                      <a:pt x="296" y="175"/>
                    </a:lnTo>
                    <a:lnTo>
                      <a:pt x="299" y="168"/>
                    </a:lnTo>
                    <a:lnTo>
                      <a:pt x="300" y="161"/>
                    </a:lnTo>
                    <a:lnTo>
                      <a:pt x="302" y="155"/>
                    </a:lnTo>
                    <a:lnTo>
                      <a:pt x="303" y="148"/>
                    </a:lnTo>
                    <a:lnTo>
                      <a:pt x="303" y="141"/>
                    </a:lnTo>
                    <a:lnTo>
                      <a:pt x="304" y="134"/>
                    </a:lnTo>
                    <a:lnTo>
                      <a:pt x="303" y="127"/>
                    </a:lnTo>
                    <a:lnTo>
                      <a:pt x="303" y="120"/>
                    </a:lnTo>
                    <a:lnTo>
                      <a:pt x="302" y="113"/>
                    </a:lnTo>
                    <a:lnTo>
                      <a:pt x="300" y="107"/>
                    </a:lnTo>
                    <a:lnTo>
                      <a:pt x="299" y="101"/>
                    </a:lnTo>
                    <a:lnTo>
                      <a:pt x="296" y="94"/>
                    </a:lnTo>
                    <a:lnTo>
                      <a:pt x="294" y="88"/>
                    </a:lnTo>
                    <a:lnTo>
                      <a:pt x="291" y="82"/>
                    </a:lnTo>
                    <a:lnTo>
                      <a:pt x="288" y="76"/>
                    </a:lnTo>
                    <a:lnTo>
                      <a:pt x="285" y="70"/>
                    </a:lnTo>
                    <a:lnTo>
                      <a:pt x="282" y="64"/>
                    </a:lnTo>
                    <a:lnTo>
                      <a:pt x="277" y="59"/>
                    </a:lnTo>
                    <a:lnTo>
                      <a:pt x="273" y="53"/>
                    </a:lnTo>
                    <a:lnTo>
                      <a:pt x="269" y="48"/>
                    </a:lnTo>
                    <a:lnTo>
                      <a:pt x="264" y="44"/>
                    </a:lnTo>
                    <a:lnTo>
                      <a:pt x="259" y="39"/>
                    </a:lnTo>
                    <a:lnTo>
                      <a:pt x="254" y="34"/>
                    </a:lnTo>
                    <a:lnTo>
                      <a:pt x="248" y="30"/>
                    </a:lnTo>
                    <a:lnTo>
                      <a:pt x="242" y="26"/>
                    </a:lnTo>
                    <a:lnTo>
                      <a:pt x="236" y="23"/>
                    </a:lnTo>
                    <a:lnTo>
                      <a:pt x="230" y="19"/>
                    </a:lnTo>
                    <a:lnTo>
                      <a:pt x="224" y="16"/>
                    </a:lnTo>
                    <a:lnTo>
                      <a:pt x="217" y="13"/>
                    </a:lnTo>
                    <a:lnTo>
                      <a:pt x="211" y="10"/>
                    </a:lnTo>
                    <a:lnTo>
                      <a:pt x="204" y="8"/>
                    </a:lnTo>
                    <a:lnTo>
                      <a:pt x="197" y="5"/>
                    </a:lnTo>
                    <a:lnTo>
                      <a:pt x="190" y="4"/>
                    </a:lnTo>
                    <a:lnTo>
                      <a:pt x="182" y="2"/>
                    </a:lnTo>
                    <a:lnTo>
                      <a:pt x="175" y="1"/>
                    </a:lnTo>
                    <a:lnTo>
                      <a:pt x="167" y="0"/>
                    </a:lnTo>
                    <a:lnTo>
                      <a:pt x="159" y="0"/>
                    </a:lnTo>
                    <a:lnTo>
                      <a:pt x="152" y="0"/>
                    </a:lnTo>
                    <a:lnTo>
                      <a:pt x="144" y="0"/>
                    </a:lnTo>
                    <a:lnTo>
                      <a:pt x="136" y="0"/>
                    </a:lnTo>
                    <a:lnTo>
                      <a:pt x="128" y="1"/>
                    </a:lnTo>
                    <a:lnTo>
                      <a:pt x="121" y="2"/>
                    </a:lnTo>
                    <a:lnTo>
                      <a:pt x="113" y="4"/>
                    </a:lnTo>
                    <a:lnTo>
                      <a:pt x="106" y="5"/>
                    </a:lnTo>
                    <a:lnTo>
                      <a:pt x="99" y="8"/>
                    </a:lnTo>
                    <a:lnTo>
                      <a:pt x="92" y="10"/>
                    </a:lnTo>
                    <a:lnTo>
                      <a:pt x="86" y="13"/>
                    </a:lnTo>
                    <a:lnTo>
                      <a:pt x="79" y="16"/>
                    </a:lnTo>
                    <a:lnTo>
                      <a:pt x="73" y="19"/>
                    </a:lnTo>
                    <a:lnTo>
                      <a:pt x="67" y="23"/>
                    </a:lnTo>
                    <a:lnTo>
                      <a:pt x="61" y="26"/>
                    </a:lnTo>
                    <a:lnTo>
                      <a:pt x="55" y="30"/>
                    </a:lnTo>
                    <a:lnTo>
                      <a:pt x="49" y="34"/>
                    </a:lnTo>
                    <a:lnTo>
                      <a:pt x="44" y="39"/>
                    </a:lnTo>
                    <a:lnTo>
                      <a:pt x="39" y="44"/>
                    </a:lnTo>
                    <a:lnTo>
                      <a:pt x="35" y="48"/>
                    </a:lnTo>
                    <a:lnTo>
                      <a:pt x="30" y="53"/>
                    </a:lnTo>
                    <a:lnTo>
                      <a:pt x="26" y="59"/>
                    </a:lnTo>
                    <a:lnTo>
                      <a:pt x="22" y="64"/>
                    </a:lnTo>
                    <a:lnTo>
                      <a:pt x="18" y="70"/>
                    </a:lnTo>
                    <a:lnTo>
                      <a:pt x="15" y="76"/>
                    </a:lnTo>
                    <a:lnTo>
                      <a:pt x="12" y="82"/>
                    </a:lnTo>
                    <a:lnTo>
                      <a:pt x="9" y="88"/>
                    </a:lnTo>
                    <a:lnTo>
                      <a:pt x="7" y="94"/>
                    </a:lnTo>
                    <a:lnTo>
                      <a:pt x="5" y="101"/>
                    </a:lnTo>
                    <a:lnTo>
                      <a:pt x="3" y="107"/>
                    </a:lnTo>
                    <a:lnTo>
                      <a:pt x="2" y="113"/>
                    </a:lnTo>
                    <a:lnTo>
                      <a:pt x="0" y="120"/>
                    </a:lnTo>
                    <a:lnTo>
                      <a:pt x="0" y="127"/>
                    </a:lnTo>
                    <a:lnTo>
                      <a:pt x="0" y="134"/>
                    </a:lnTo>
                    <a:lnTo>
                      <a:pt x="0" y="141"/>
                    </a:lnTo>
                    <a:lnTo>
                      <a:pt x="0" y="148"/>
                    </a:lnTo>
                    <a:lnTo>
                      <a:pt x="2" y="155"/>
                    </a:lnTo>
                    <a:lnTo>
                      <a:pt x="3" y="161"/>
                    </a:lnTo>
                    <a:lnTo>
                      <a:pt x="5" y="168"/>
                    </a:lnTo>
                    <a:lnTo>
                      <a:pt x="7" y="175"/>
                    </a:lnTo>
                    <a:lnTo>
                      <a:pt x="9" y="181"/>
                    </a:lnTo>
                    <a:lnTo>
                      <a:pt x="12" y="187"/>
                    </a:lnTo>
                    <a:lnTo>
                      <a:pt x="15" y="193"/>
                    </a:lnTo>
                    <a:lnTo>
                      <a:pt x="18" y="199"/>
                    </a:lnTo>
                    <a:lnTo>
                      <a:pt x="22" y="204"/>
                    </a:lnTo>
                    <a:lnTo>
                      <a:pt x="26" y="210"/>
                    </a:lnTo>
                    <a:lnTo>
                      <a:pt x="30" y="215"/>
                    </a:lnTo>
                    <a:lnTo>
                      <a:pt x="35" y="220"/>
                    </a:lnTo>
                    <a:lnTo>
                      <a:pt x="39" y="225"/>
                    </a:lnTo>
                    <a:lnTo>
                      <a:pt x="44" y="230"/>
                    </a:lnTo>
                    <a:lnTo>
                      <a:pt x="49" y="234"/>
                    </a:lnTo>
                    <a:lnTo>
                      <a:pt x="55" y="239"/>
                    </a:lnTo>
                    <a:lnTo>
                      <a:pt x="61" y="243"/>
                    </a:lnTo>
                    <a:lnTo>
                      <a:pt x="67" y="246"/>
                    </a:lnTo>
                    <a:lnTo>
                      <a:pt x="73" y="250"/>
                    </a:lnTo>
                    <a:lnTo>
                      <a:pt x="79" y="253"/>
                    </a:lnTo>
                    <a:lnTo>
                      <a:pt x="86" y="256"/>
                    </a:lnTo>
                    <a:lnTo>
                      <a:pt x="92" y="259"/>
                    </a:lnTo>
                    <a:lnTo>
                      <a:pt x="99" y="261"/>
                    </a:lnTo>
                    <a:lnTo>
                      <a:pt x="106" y="264"/>
                    </a:lnTo>
                    <a:lnTo>
                      <a:pt x="113" y="265"/>
                    </a:lnTo>
                    <a:lnTo>
                      <a:pt x="121" y="267"/>
                    </a:lnTo>
                    <a:lnTo>
                      <a:pt x="128" y="268"/>
                    </a:lnTo>
                    <a:lnTo>
                      <a:pt x="136" y="269"/>
                    </a:lnTo>
                    <a:lnTo>
                      <a:pt x="144" y="269"/>
                    </a:lnTo>
                    <a:lnTo>
                      <a:pt x="152" y="270"/>
                    </a:ln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sp>
            <p:nvSpPr>
              <p:cNvPr id="44054" name="Freeform 453"/>
              <p:cNvSpPr/>
              <p:nvPr/>
            </p:nvSpPr>
            <p:spPr bwMode="auto">
              <a:xfrm>
                <a:off x="3291" y="1770"/>
                <a:ext cx="176" cy="265"/>
              </a:xfrm>
              <a:custGeom>
                <a:avLst/>
                <a:gdLst>
                  <a:gd name="T0" fmla="*/ 175 w 176"/>
                  <a:gd name="T1" fmla="*/ 252 h 265"/>
                  <a:gd name="T2" fmla="*/ 20 w 176"/>
                  <a:gd name="T3" fmla="*/ 0 h 265"/>
                  <a:gd name="T4" fmla="*/ 0 w 176"/>
                  <a:gd name="T5" fmla="*/ 10 h 265"/>
                  <a:gd name="T6" fmla="*/ 153 w 176"/>
                  <a:gd name="T7" fmla="*/ 264 h 265"/>
                  <a:gd name="T8" fmla="*/ 175 w 176"/>
                  <a:gd name="T9" fmla="*/ 252 h 265"/>
                  <a:gd name="T10" fmla="*/ 0 60000 65536"/>
                  <a:gd name="T11" fmla="*/ 0 60000 65536"/>
                  <a:gd name="T12" fmla="*/ 0 60000 65536"/>
                  <a:gd name="T13" fmla="*/ 0 60000 65536"/>
                  <a:gd name="T14" fmla="*/ 0 60000 65536"/>
                  <a:gd name="T15" fmla="*/ 0 w 176"/>
                  <a:gd name="T16" fmla="*/ 0 h 265"/>
                  <a:gd name="T17" fmla="*/ 176 w 176"/>
                  <a:gd name="T18" fmla="*/ 265 h 265"/>
                </a:gdLst>
                <a:ahLst/>
                <a:cxnLst>
                  <a:cxn ang="T10">
                    <a:pos x="T0" y="T1"/>
                  </a:cxn>
                  <a:cxn ang="T11">
                    <a:pos x="T2" y="T3"/>
                  </a:cxn>
                  <a:cxn ang="T12">
                    <a:pos x="T4" y="T5"/>
                  </a:cxn>
                  <a:cxn ang="T13">
                    <a:pos x="T6" y="T7"/>
                  </a:cxn>
                  <a:cxn ang="T14">
                    <a:pos x="T8" y="T9"/>
                  </a:cxn>
                </a:cxnLst>
                <a:rect l="T15" t="T16" r="T17" b="T18"/>
                <a:pathLst>
                  <a:path w="176" h="265">
                    <a:moveTo>
                      <a:pt x="175" y="252"/>
                    </a:moveTo>
                    <a:lnTo>
                      <a:pt x="20" y="0"/>
                    </a:lnTo>
                    <a:lnTo>
                      <a:pt x="0" y="10"/>
                    </a:lnTo>
                    <a:lnTo>
                      <a:pt x="153" y="264"/>
                    </a:lnTo>
                    <a:lnTo>
                      <a:pt x="175" y="252"/>
                    </a:lnTo>
                  </a:path>
                </a:pathLst>
              </a:custGeom>
              <a:solidFill>
                <a:srgbClr val="CC0000"/>
              </a:solidFill>
              <a:ln>
                <a:noFill/>
              </a:ln>
              <a:extLst>
                <a:ext uri="{91240B29-F687-4F45-9708-019B960494DF}">
                  <a14:hiddenLine xmlns:a14="http://schemas.microsoft.com/office/drawing/2010/main" w="9525">
                    <a:solidFill>
                      <a:srgbClr val="000000"/>
                    </a:solidFill>
                    <a:round/>
                  </a14:hiddenLine>
                </a:ext>
              </a:extLst>
            </p:spPr>
            <p:txBody>
              <a:bodyPr lIns="116427" tIns="58212" rIns="116427" bIns="58212"/>
              <a:lstStyle/>
              <a:p>
                <a:endParaRPr lang="zh-CN" altLang="en-US" sz="100"/>
              </a:p>
            </p:txBody>
          </p:sp>
        </p:grpSp>
        <p:sp>
          <p:nvSpPr>
            <p:cNvPr id="44050" name="Rectangle 454"/>
            <p:cNvSpPr>
              <a:spLocks noChangeArrowheads="1"/>
            </p:cNvSpPr>
            <p:nvPr/>
          </p:nvSpPr>
          <p:spPr bwMode="auto">
            <a:xfrm>
              <a:off x="3484" y="964"/>
              <a:ext cx="1168" cy="688"/>
            </a:xfrm>
            <a:prstGeom prst="rect">
              <a:avLst/>
            </a:prstGeom>
            <a:solidFill>
              <a:schemeClr val="accent1"/>
            </a:solidFill>
            <a:ln w="50799">
              <a:solidFill>
                <a:srgbClr val="CC0000"/>
              </a:solidFill>
              <a:miter lim="800000"/>
            </a:ln>
          </p:spPr>
          <p:txBody>
            <a:bodyPr wrap="none" lIns="113284" tIns="56643" rIns="113284" bIns="56643" anchor="ct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kumimoji="1" lang="zh-CN" altLang="en-US" sz="2215" b="1">
                  <a:latin typeface="Helvetica" panose="020B0604020202020204" pitchFamily="34" charset="0"/>
                  <a:ea typeface="宋体" panose="02010600030101010101" pitchFamily="2" charset="-122"/>
                </a:rPr>
                <a:t>病毒防护</a:t>
              </a:r>
              <a:endParaRPr kumimoji="1" lang="en-US" altLang="zh-CN" sz="2215" b="1">
                <a:latin typeface="Helvetica" panose="020B0604020202020204" pitchFamily="34" charset="0"/>
                <a:ea typeface="宋体" panose="02010600030101010101" pitchFamily="2" charset="-122"/>
              </a:endParaRPr>
            </a:p>
          </p:txBody>
        </p:sp>
        <p:sp>
          <p:nvSpPr>
            <p:cNvPr id="44051" name="Line 455"/>
            <p:cNvSpPr>
              <a:spLocks noChangeShapeType="1"/>
            </p:cNvSpPr>
            <p:nvPr/>
          </p:nvSpPr>
          <p:spPr bwMode="auto">
            <a:xfrm flipV="1">
              <a:off x="3540" y="1656"/>
              <a:ext cx="384" cy="168"/>
            </a:xfrm>
            <a:prstGeom prst="line">
              <a:avLst/>
            </a:prstGeom>
            <a:noFill/>
            <a:ln w="50799">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2073"/>
                                        </p:tgtEl>
                                        <p:attrNameLst>
                                          <p:attrName>style.visibility</p:attrName>
                                        </p:attrNameLst>
                                      </p:cBhvr>
                                      <p:to>
                                        <p:strVal val="visible"/>
                                      </p:to>
                                    </p:set>
                                    <p:animEffect transition="in" filter="wipe(left)">
                                      <p:cBhvr>
                                        <p:cTn id="7" dur="500"/>
                                        <p:tgtEl>
                                          <p:spTgt spid="7120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12080"/>
                                        </p:tgtEl>
                                        <p:attrNameLst>
                                          <p:attrName>style.visibility</p:attrName>
                                        </p:attrNameLst>
                                      </p:cBhvr>
                                      <p:to>
                                        <p:strVal val="visible"/>
                                      </p:to>
                                    </p:set>
                                    <p:animEffect transition="in" filter="wipe(down)">
                                      <p:cBhvr>
                                        <p:cTn id="12" dur="500"/>
                                        <p:tgtEl>
                                          <p:spTgt spid="7120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2087"/>
                                        </p:tgtEl>
                                        <p:attrNameLst>
                                          <p:attrName>style.visibility</p:attrName>
                                        </p:attrNameLst>
                                      </p:cBhvr>
                                      <p:to>
                                        <p:strVal val="visible"/>
                                      </p:to>
                                    </p:set>
                                    <p:animEffect transition="in" filter="wipe(left)">
                                      <p:cBhvr>
                                        <p:cTn id="17" dur="500"/>
                                        <p:tgtEl>
                                          <p:spTgt spid="7120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2096"/>
                                        </p:tgtEl>
                                        <p:attrNameLst>
                                          <p:attrName>style.visibility</p:attrName>
                                        </p:attrNameLst>
                                      </p:cBhvr>
                                      <p:to>
                                        <p:strVal val="visible"/>
                                      </p:to>
                                    </p:set>
                                    <p:animEffect transition="in" filter="wipe(up)">
                                      <p:cBhvr>
                                        <p:cTn id="22" dur="500"/>
                                        <p:tgtEl>
                                          <p:spTgt spid="7120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12103"/>
                                        </p:tgtEl>
                                        <p:attrNameLst>
                                          <p:attrName>style.visibility</p:attrName>
                                        </p:attrNameLst>
                                      </p:cBhvr>
                                      <p:to>
                                        <p:strVal val="visible"/>
                                      </p:to>
                                    </p:set>
                                    <p:animEffect transition="in" filter="wipe(up)">
                                      <p:cBhvr>
                                        <p:cTn id="27" dur="500"/>
                                        <p:tgtEl>
                                          <p:spTgt spid="71210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12110"/>
                                        </p:tgtEl>
                                        <p:attrNameLst>
                                          <p:attrName>style.visibility</p:attrName>
                                        </p:attrNameLst>
                                      </p:cBhvr>
                                      <p:to>
                                        <p:strVal val="visible"/>
                                      </p:to>
                                    </p:set>
                                    <p:animEffect transition="in" filter="wipe(up)">
                                      <p:cBhvr>
                                        <p:cTn id="32" dur="500"/>
                                        <p:tgtEl>
                                          <p:spTgt spid="7121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12117"/>
                                        </p:tgtEl>
                                        <p:attrNameLst>
                                          <p:attrName>style.visibility</p:attrName>
                                        </p:attrNameLst>
                                      </p:cBhvr>
                                      <p:to>
                                        <p:strVal val="visible"/>
                                      </p:to>
                                    </p:set>
                                    <p:animEffect transition="in" filter="wipe(down)">
                                      <p:cBhvr>
                                        <p:cTn id="37" dur="500"/>
                                        <p:tgtEl>
                                          <p:spTgt spid="7121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12129"/>
                                        </p:tgtEl>
                                        <p:attrNameLst>
                                          <p:attrName>style.visibility</p:attrName>
                                        </p:attrNameLst>
                                      </p:cBhvr>
                                      <p:to>
                                        <p:strVal val="visible"/>
                                      </p:to>
                                    </p:set>
                                    <p:animEffect transition="in" filter="wipe(left)">
                                      <p:cBhvr>
                                        <p:cTn id="42" dur="500"/>
                                        <p:tgtEl>
                                          <p:spTgt spid="712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867508" y="150446"/>
            <a:ext cx="7299569" cy="599831"/>
          </a:xfrm>
        </p:spPr>
        <p:txBody>
          <a:bodyPr lIns="116427" tIns="58212" rIns="116427" bIns="58212"/>
          <a:lstStyle/>
          <a:p>
            <a:r>
              <a:rPr lang="zh-CN" altLang="en-US">
                <a:solidFill>
                  <a:schemeClr val="tx1"/>
                </a:solidFill>
              </a:rPr>
              <a:t>高素质的人员队伍</a:t>
            </a:r>
            <a:endParaRPr lang="zh-CN" altLang="en-US">
              <a:solidFill>
                <a:schemeClr val="tx1"/>
              </a:solidFill>
            </a:endParaRPr>
          </a:p>
        </p:txBody>
      </p:sp>
      <p:pic>
        <p:nvPicPr>
          <p:cNvPr id="45059" name="Picture 3" descr="图片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3231" y="859693"/>
            <a:ext cx="10371015" cy="614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5059"/>
                                        </p:tgtEl>
                                        <p:attrNameLst>
                                          <p:attrName>style.visibility</p:attrName>
                                        </p:attrNameLst>
                                      </p:cBhvr>
                                      <p:to>
                                        <p:strVal val="visible"/>
                                      </p:to>
                                    </p:set>
                                    <p:anim calcmode="lin" valueType="num">
                                      <p:cBhvr>
                                        <p:cTn id="7" dur="500" fill="hold"/>
                                        <p:tgtEl>
                                          <p:spTgt spid="45059"/>
                                        </p:tgtEl>
                                        <p:attrNameLst>
                                          <p:attrName>ppt_w</p:attrName>
                                        </p:attrNameLst>
                                      </p:cBhvr>
                                      <p:tavLst>
                                        <p:tav tm="0">
                                          <p:val>
                                            <p:fltVal val="0"/>
                                          </p:val>
                                        </p:tav>
                                        <p:tav tm="100000">
                                          <p:val>
                                            <p:strVal val="#ppt_w"/>
                                          </p:val>
                                        </p:tav>
                                      </p:tavLst>
                                    </p:anim>
                                    <p:anim calcmode="lin" valueType="num">
                                      <p:cBhvr>
                                        <p:cTn id="8" dur="500" fill="hold"/>
                                        <p:tgtEl>
                                          <p:spTgt spid="45059"/>
                                        </p:tgtEl>
                                        <p:attrNameLst>
                                          <p:attrName>ppt_h</p:attrName>
                                        </p:attrNameLst>
                                      </p:cBhvr>
                                      <p:tavLst>
                                        <p:tav tm="0">
                                          <p:val>
                                            <p:fltVal val="0"/>
                                          </p:val>
                                        </p:tav>
                                        <p:tav tm="100000">
                                          <p:val>
                                            <p:strVal val="#ppt_h"/>
                                          </p:val>
                                        </p:tav>
                                      </p:tavLst>
                                    </p:anim>
                                    <p:animEffect transition="in" filter="fade">
                                      <p:cBhvr>
                                        <p:cTn id="9" dur="500"/>
                                        <p:tgtEl>
                                          <p:spTgt spid="45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488831" y="82062"/>
            <a:ext cx="8684847" cy="599830"/>
          </a:xfrm>
        </p:spPr>
        <p:txBody>
          <a:bodyPr/>
          <a:lstStyle/>
          <a:p>
            <a:r>
              <a:rPr lang="zh-CN" altLang="en-US">
                <a:solidFill>
                  <a:schemeClr val="tx1"/>
                </a:solidFill>
              </a:rPr>
              <a:t>内容</a:t>
            </a:r>
            <a:endParaRPr lang="zh-CN" altLang="en-US">
              <a:solidFill>
                <a:schemeClr val="tx1"/>
              </a:solidFill>
            </a:endParaRPr>
          </a:p>
        </p:txBody>
      </p:sp>
      <p:sp>
        <p:nvSpPr>
          <p:cNvPr id="324611" name="AutoShape 3"/>
          <p:cNvSpPr>
            <a:spLocks noChangeArrowheads="1"/>
          </p:cNvSpPr>
          <p:nvPr/>
        </p:nvSpPr>
        <p:spPr bwMode="ltGray">
          <a:xfrm rot="5400000">
            <a:off x="-3040185" y="592015"/>
            <a:ext cx="5937739" cy="6359770"/>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ln>
          <a:effectLst/>
        </p:spPr>
        <p:txBody>
          <a:bodyPr wrap="none" anchor="ctr"/>
          <a:lstStyle/>
          <a:p>
            <a:pPr eaLnBrk="1" hangingPunct="1">
              <a:defRPr/>
            </a:pPr>
            <a:endParaRPr lang="zh-CN" altLang="en-US" sz="100"/>
          </a:p>
        </p:txBody>
      </p:sp>
      <p:sp>
        <p:nvSpPr>
          <p:cNvPr id="324612" name="AutoShape 4"/>
          <p:cNvSpPr>
            <a:spLocks noChangeArrowheads="1"/>
          </p:cNvSpPr>
          <p:nvPr/>
        </p:nvSpPr>
        <p:spPr bwMode="ltGray">
          <a:xfrm rot="5400000" flipH="1">
            <a:off x="-2539023" y="1171331"/>
            <a:ext cx="4962769" cy="5238262"/>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bg2">
                  <a:alpha val="56000"/>
                </a:schemeClr>
              </a:gs>
              <a:gs pos="100000">
                <a:schemeClr val="bg2">
                  <a:gamma/>
                  <a:tint val="0"/>
                  <a:invGamma/>
                  <a:alpha val="48000"/>
                </a:schemeClr>
              </a:gs>
            </a:gsLst>
            <a:lin ang="5400000" scaled="1"/>
          </a:gradFill>
          <a:ln w="0" algn="ctr">
            <a:noFill/>
            <a:miter lim="800000"/>
          </a:ln>
          <a:effectLst/>
        </p:spPr>
        <p:txBody>
          <a:bodyPr wrap="none" anchor="ctr"/>
          <a:lstStyle/>
          <a:p>
            <a:pPr eaLnBrk="1" hangingPunct="1">
              <a:defRPr/>
            </a:pPr>
            <a:endParaRPr lang="zh-CN" altLang="en-US" sz="100"/>
          </a:p>
        </p:txBody>
      </p:sp>
      <p:sp>
        <p:nvSpPr>
          <p:cNvPr id="46085" name="AutoShape 5"/>
          <p:cNvSpPr>
            <a:spLocks noChangeArrowheads="1"/>
          </p:cNvSpPr>
          <p:nvPr/>
        </p:nvSpPr>
        <p:spPr bwMode="gray">
          <a:xfrm>
            <a:off x="2371969" y="5296877"/>
            <a:ext cx="6471138" cy="625231"/>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chemeClr val="tx2"/>
                </a:solidFill>
                <a:latin typeface="Arial" panose="020B0604020202020204" pitchFamily="34" charset="0"/>
                <a:ea typeface="宋体" panose="02010600030101010101" pitchFamily="2" charset="-122"/>
              </a:rPr>
              <a:t>三、网络空间安全涉及的内容</a:t>
            </a:r>
            <a:endParaRPr lang="zh-CN" altLang="en-US" sz="3445" b="1">
              <a:solidFill>
                <a:schemeClr val="tx2"/>
              </a:solidFill>
              <a:latin typeface="Arial" panose="020B0604020202020204" pitchFamily="34" charset="0"/>
              <a:ea typeface="宋体" panose="02010600030101010101" pitchFamily="2" charset="-122"/>
            </a:endParaRPr>
          </a:p>
        </p:txBody>
      </p:sp>
      <p:sp>
        <p:nvSpPr>
          <p:cNvPr id="46086" name="AutoShape 7"/>
          <p:cNvSpPr>
            <a:spLocks noChangeArrowheads="1"/>
          </p:cNvSpPr>
          <p:nvPr/>
        </p:nvSpPr>
        <p:spPr bwMode="gray">
          <a:xfrm>
            <a:off x="3194539" y="3251201"/>
            <a:ext cx="6535615" cy="652585"/>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rgbClr val="FF0000"/>
                </a:solidFill>
                <a:latin typeface="Arial" panose="020B0604020202020204" pitchFamily="34" charset="0"/>
                <a:ea typeface="宋体" panose="02010600030101010101" pitchFamily="2" charset="-122"/>
              </a:rPr>
              <a:t>二、</a:t>
            </a:r>
            <a:r>
              <a:rPr lang="zh-CN" altLang="en-US" sz="3445" b="1">
                <a:solidFill>
                  <a:srgbClr val="FF0000"/>
                </a:solidFill>
                <a:latin typeface="Arial" panose="020B0604020202020204" pitchFamily="34" charset="0"/>
                <a:ea typeface="宋体" panose="02010600030101010101" pitchFamily="2" charset="-122"/>
              </a:rPr>
              <a:t>信息安全形势和任务</a:t>
            </a:r>
            <a:endParaRPr lang="en-US" altLang="zh-CN" sz="3445" b="1">
              <a:solidFill>
                <a:srgbClr val="FF0000"/>
              </a:solidFill>
              <a:latin typeface="Arial" panose="020B0604020202020204" pitchFamily="34" charset="0"/>
              <a:ea typeface="宋体" panose="02010600030101010101" pitchFamily="2" charset="-122"/>
            </a:endParaRPr>
          </a:p>
        </p:txBody>
      </p:sp>
      <p:grpSp>
        <p:nvGrpSpPr>
          <p:cNvPr id="46087" name="Group 9"/>
          <p:cNvGrpSpPr/>
          <p:nvPr/>
        </p:nvGrpSpPr>
        <p:grpSpPr bwMode="auto">
          <a:xfrm>
            <a:off x="1873739" y="1336177"/>
            <a:ext cx="508000" cy="540060"/>
            <a:chOff x="2078" y="1558"/>
            <a:chExt cx="1615" cy="1860"/>
          </a:xfrm>
        </p:grpSpPr>
        <p:sp>
          <p:nvSpPr>
            <p:cNvPr id="46103"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46104"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0" name="Oval 12"/>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46106" name="Oval 13"/>
            <p:cNvSpPr>
              <a:spLocks noChangeArrowheads="1"/>
            </p:cNvSpPr>
            <p:nvPr/>
          </p:nvSpPr>
          <p:spPr bwMode="gray">
            <a:xfrm>
              <a:off x="2254" y="1558"/>
              <a:ext cx="1355" cy="1860"/>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2" name="Oval 14"/>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46108" name="Oval 15"/>
            <p:cNvSpPr>
              <a:spLocks noChangeArrowheads="1"/>
            </p:cNvSpPr>
            <p:nvPr/>
          </p:nvSpPr>
          <p:spPr bwMode="gray">
            <a:xfrm>
              <a:off x="2337" y="1583"/>
              <a:ext cx="1096" cy="1811"/>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46088" name="Group 23"/>
          <p:cNvGrpSpPr/>
          <p:nvPr/>
        </p:nvGrpSpPr>
        <p:grpSpPr bwMode="auto">
          <a:xfrm>
            <a:off x="2788139" y="3336916"/>
            <a:ext cx="508000" cy="540060"/>
            <a:chOff x="2078" y="1558"/>
            <a:chExt cx="1615" cy="1860"/>
          </a:xfrm>
        </p:grpSpPr>
        <p:sp>
          <p:nvSpPr>
            <p:cNvPr id="46097" name="Oval 2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46098" name="Oval 2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4" name="Oval 26"/>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46100" name="Oval 27"/>
            <p:cNvSpPr>
              <a:spLocks noChangeArrowheads="1"/>
            </p:cNvSpPr>
            <p:nvPr/>
          </p:nvSpPr>
          <p:spPr bwMode="gray">
            <a:xfrm>
              <a:off x="2254" y="1558"/>
              <a:ext cx="1355" cy="1860"/>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6" name="Oval 28"/>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46102" name="Oval 29"/>
            <p:cNvSpPr>
              <a:spLocks noChangeArrowheads="1"/>
            </p:cNvSpPr>
            <p:nvPr/>
          </p:nvSpPr>
          <p:spPr bwMode="gray">
            <a:xfrm>
              <a:off x="2337" y="1583"/>
              <a:ext cx="1096" cy="1811"/>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46089" name="Group 37"/>
          <p:cNvGrpSpPr/>
          <p:nvPr/>
        </p:nvGrpSpPr>
        <p:grpSpPr bwMode="auto">
          <a:xfrm>
            <a:off x="1975339" y="5322023"/>
            <a:ext cx="474784" cy="540060"/>
            <a:chOff x="2078" y="1558"/>
            <a:chExt cx="1615" cy="1860"/>
          </a:xfrm>
        </p:grpSpPr>
        <p:sp>
          <p:nvSpPr>
            <p:cNvPr id="46091" name="Oval 3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46092" name="Oval 3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48" name="Oval 40"/>
            <p:cNvSpPr>
              <a:spLocks noChangeArrowheads="1"/>
            </p:cNvSpPr>
            <p:nvPr/>
          </p:nvSpPr>
          <p:spPr bwMode="gray">
            <a:xfrm>
              <a:off x="2251" y="2119"/>
              <a:ext cx="1424"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46094" name="Oval 41"/>
            <p:cNvSpPr>
              <a:spLocks noChangeArrowheads="1"/>
            </p:cNvSpPr>
            <p:nvPr/>
          </p:nvSpPr>
          <p:spPr bwMode="gray">
            <a:xfrm>
              <a:off x="2254" y="1558"/>
              <a:ext cx="1424" cy="1860"/>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50" name="Oval 42"/>
            <p:cNvSpPr>
              <a:spLocks noChangeArrowheads="1"/>
            </p:cNvSpPr>
            <p:nvPr/>
          </p:nvSpPr>
          <p:spPr bwMode="gray">
            <a:xfrm>
              <a:off x="2337" y="2143"/>
              <a:ext cx="1097"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46096" name="Oval 43"/>
            <p:cNvSpPr>
              <a:spLocks noChangeArrowheads="1"/>
            </p:cNvSpPr>
            <p:nvPr/>
          </p:nvSpPr>
          <p:spPr bwMode="gray">
            <a:xfrm>
              <a:off x="2337" y="1583"/>
              <a:ext cx="1096" cy="1811"/>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sp>
        <p:nvSpPr>
          <p:cNvPr id="46090" name="AutoShape 44"/>
          <p:cNvSpPr>
            <a:spLocks noChangeArrowheads="1"/>
          </p:cNvSpPr>
          <p:nvPr/>
        </p:nvSpPr>
        <p:spPr bwMode="gray">
          <a:xfrm>
            <a:off x="2336800" y="1301262"/>
            <a:ext cx="6418385" cy="595922"/>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chemeClr val="tx2"/>
                </a:solidFill>
                <a:latin typeface="Arial" panose="020B0604020202020204" pitchFamily="34" charset="0"/>
                <a:ea typeface="宋体" panose="02010600030101010101" pitchFamily="2" charset="-122"/>
              </a:rPr>
              <a:t>一、</a:t>
            </a:r>
            <a:r>
              <a:rPr lang="zh-CN" altLang="en-US" sz="3445" b="1">
                <a:solidFill>
                  <a:schemeClr val="tx2"/>
                </a:solidFill>
                <a:latin typeface="Arial" panose="020B0604020202020204" pitchFamily="34" charset="0"/>
                <a:ea typeface="宋体" panose="02010600030101010101" pitchFamily="2" charset="-122"/>
              </a:rPr>
              <a:t>信息安全基本常识</a:t>
            </a:r>
            <a:endParaRPr lang="en-US" altLang="zh-CN" sz="3445" b="1">
              <a:solidFill>
                <a:schemeClr val="tx2"/>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1488831" y="82062"/>
            <a:ext cx="8684847" cy="599830"/>
          </a:xfrm>
        </p:spPr>
        <p:txBody>
          <a:bodyPr lIns="116446" tIns="58222" rIns="116446" bIns="58222"/>
          <a:lstStyle/>
          <a:p>
            <a:r>
              <a:rPr lang="zh-CN" altLang="en-US">
                <a:solidFill>
                  <a:schemeClr val="tx1"/>
                </a:solidFill>
              </a:rPr>
              <a:t>我国信息化迅猛发展</a:t>
            </a:r>
            <a:endParaRPr lang="zh-CN" altLang="en-US">
              <a:solidFill>
                <a:schemeClr val="tx1"/>
              </a:solidFill>
            </a:endParaRPr>
          </a:p>
        </p:txBody>
      </p:sp>
      <p:pic>
        <p:nvPicPr>
          <p:cNvPr id="47108" name="Picture 4" descr="信息时代"/>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4923" y="607646"/>
            <a:ext cx="4343401" cy="543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Rectangle 5"/>
          <p:cNvSpPr>
            <a:spLocks noRot="1" noChangeArrowheads="1"/>
          </p:cNvSpPr>
          <p:nvPr/>
        </p:nvSpPr>
        <p:spPr bwMode="auto">
          <a:xfrm>
            <a:off x="867508" y="2229338"/>
            <a:ext cx="8585200" cy="332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370" tIns="56187" rIns="112370" bIns="56187"/>
          <a:lstStyle>
            <a:lvl1pPr marL="354330" indent="-354330" defTabSz="9461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68350" indent="-295275" defTabSz="9461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94615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94615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94615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Tx/>
              <a:buFontTx/>
              <a:buChar char="•"/>
            </a:pPr>
            <a:r>
              <a:rPr lang="zh-CN" altLang="en-US" sz="3445" b="1">
                <a:latin typeface="Arial" panose="020B0604020202020204" pitchFamily="34" charset="0"/>
                <a:ea typeface="宋体" panose="02010600030101010101" pitchFamily="2" charset="-122"/>
              </a:rPr>
              <a:t>现在信息技术已经广泛应用于促进</a:t>
            </a:r>
            <a:endParaRPr lang="zh-CN" altLang="en-US" sz="3445" b="1">
              <a:latin typeface="Arial" panose="020B0604020202020204" pitchFamily="34" charset="0"/>
              <a:ea typeface="宋体" panose="02010600030101010101" pitchFamily="2" charset="-122"/>
            </a:endParaRPr>
          </a:p>
          <a:p>
            <a:pPr lvl="1" eaLnBrk="1" hangingPunct="1">
              <a:buClrTx/>
              <a:buFontTx/>
              <a:buChar char="–"/>
            </a:pPr>
            <a:r>
              <a:rPr lang="zh-CN" altLang="en-US" sz="3445" b="1">
                <a:latin typeface="Arial" panose="020B0604020202020204" pitchFamily="34" charset="0"/>
                <a:ea typeface="宋体" panose="02010600030101010101" pitchFamily="2" charset="-122"/>
              </a:rPr>
              <a:t>国民经济发展</a:t>
            </a:r>
            <a:endParaRPr lang="zh-CN" altLang="en-US" sz="3445" b="1">
              <a:latin typeface="Arial" panose="020B0604020202020204" pitchFamily="34" charset="0"/>
              <a:ea typeface="宋体" panose="02010600030101010101" pitchFamily="2" charset="-122"/>
            </a:endParaRPr>
          </a:p>
          <a:p>
            <a:pPr lvl="1" eaLnBrk="1" hangingPunct="1">
              <a:buClrTx/>
              <a:buFontTx/>
              <a:buChar char="–"/>
            </a:pPr>
            <a:r>
              <a:rPr lang="zh-CN" altLang="en-US" sz="3445" b="1">
                <a:latin typeface="Arial" panose="020B0604020202020204" pitchFamily="34" charset="0"/>
                <a:ea typeface="宋体" panose="02010600030101010101" pitchFamily="2" charset="-122"/>
              </a:rPr>
              <a:t>政府管理和服务水平提高</a:t>
            </a:r>
            <a:endParaRPr lang="zh-CN" altLang="en-US" sz="3445" b="1">
              <a:latin typeface="Arial" panose="020B0604020202020204" pitchFamily="34" charset="0"/>
              <a:ea typeface="宋体" panose="02010600030101010101" pitchFamily="2" charset="-122"/>
            </a:endParaRPr>
          </a:p>
          <a:p>
            <a:pPr lvl="1" eaLnBrk="1" hangingPunct="1">
              <a:buClrTx/>
              <a:buFontTx/>
              <a:buChar char="–"/>
            </a:pPr>
            <a:r>
              <a:rPr lang="zh-CN" altLang="en-US" sz="3445" b="1">
                <a:latin typeface="Arial" panose="020B0604020202020204" pitchFamily="34" charset="0"/>
                <a:ea typeface="宋体" panose="02010600030101010101" pitchFamily="2" charset="-122"/>
              </a:rPr>
              <a:t>企业竞争力增强</a:t>
            </a:r>
            <a:endParaRPr lang="zh-CN" altLang="en-US" sz="3445" b="1">
              <a:latin typeface="Arial" panose="020B0604020202020204" pitchFamily="34" charset="0"/>
              <a:ea typeface="宋体" panose="02010600030101010101" pitchFamily="2" charset="-122"/>
            </a:endParaRPr>
          </a:p>
          <a:p>
            <a:pPr lvl="1" eaLnBrk="1" hangingPunct="1">
              <a:buClrTx/>
              <a:buFontTx/>
              <a:buChar char="–"/>
            </a:pPr>
            <a:r>
              <a:rPr lang="zh-CN" altLang="en-US" sz="3445" b="1">
                <a:latin typeface="Arial" panose="020B0604020202020204" pitchFamily="34" charset="0"/>
                <a:ea typeface="宋体" panose="02010600030101010101" pitchFamily="2" charset="-122"/>
              </a:rPr>
              <a:t>人民生活水平该改善</a:t>
            </a:r>
            <a:endParaRPr lang="zh-CN" altLang="en-US" sz="3445" b="1">
              <a:latin typeface="Arial" panose="020B0604020202020204" pitchFamily="34" charset="0"/>
              <a:ea typeface="宋体" panose="02010600030101010101" pitchFamily="2" charset="-122"/>
            </a:endParaRPr>
          </a:p>
        </p:txBody>
      </p:sp>
      <p:grpSp>
        <p:nvGrpSpPr>
          <p:cNvPr id="4" name="组合 3"/>
          <p:cNvGrpSpPr/>
          <p:nvPr/>
        </p:nvGrpSpPr>
        <p:grpSpPr bwMode="auto">
          <a:xfrm>
            <a:off x="955431" y="5873262"/>
            <a:ext cx="9310076" cy="1084384"/>
            <a:chOff x="769938" y="5445125"/>
            <a:chExt cx="7564437" cy="881063"/>
          </a:xfrm>
        </p:grpSpPr>
        <p:grpSp>
          <p:nvGrpSpPr>
            <p:cNvPr id="47112" name="Group 6"/>
            <p:cNvGrpSpPr/>
            <p:nvPr/>
          </p:nvGrpSpPr>
          <p:grpSpPr bwMode="auto">
            <a:xfrm>
              <a:off x="7227888" y="5732463"/>
              <a:ext cx="1106487" cy="593725"/>
              <a:chOff x="2061" y="1529"/>
              <a:chExt cx="1384" cy="917"/>
            </a:xfrm>
          </p:grpSpPr>
          <p:sp>
            <p:nvSpPr>
              <p:cNvPr id="47114" name="Freeform 7"/>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15" name="Freeform 8"/>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16" name="Freeform 9"/>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17" name="Freeform 10"/>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47118" name="Freeform 11"/>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47119" name="Freeform 12"/>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47120" name="Freeform 13"/>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47121" name="Freeform 14"/>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46" tIns="58222" rIns="116446" bIns="58222"/>
              <a:lstStyle/>
              <a:p>
                <a:endParaRPr lang="zh-CN" altLang="en-US" sz="100"/>
              </a:p>
            </p:txBody>
          </p:sp>
          <p:sp>
            <p:nvSpPr>
              <p:cNvPr id="47122" name="Freeform 15"/>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23" name="Freeform 16"/>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24" name="Freeform 17"/>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25" name="Freeform 18"/>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26" name="Freeform 19"/>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27" name="Freeform 20"/>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28" name="Freeform 21"/>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29" name="Freeform 22"/>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0" name="Freeform 23"/>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1" name="Freeform 24"/>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2" name="Freeform 25"/>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3" name="Freeform 26"/>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4" name="Freeform 27"/>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5" name="Freeform 28"/>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6" name="Freeform 29"/>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37" name="Line 30"/>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7138" name="Line 31"/>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47139" name="Freeform 32"/>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40" name="Freeform 33"/>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41" name="Freeform 34"/>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42" name="Freeform 35"/>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47143" name="Freeform 36"/>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47144" name="Freeform 37"/>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47145" name="Freeform 38"/>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grpSp>
        <p:sp>
          <p:nvSpPr>
            <p:cNvPr id="47113" name="AutoShape 39"/>
            <p:cNvSpPr>
              <a:spLocks noChangeArrowheads="1"/>
            </p:cNvSpPr>
            <p:nvPr/>
          </p:nvSpPr>
          <p:spPr bwMode="auto">
            <a:xfrm>
              <a:off x="769938" y="5445125"/>
              <a:ext cx="6481762" cy="506413"/>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503" tIns="56252" rIns="112503" bIns="56252"/>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我国正在信息化时代中</a:t>
              </a:r>
              <a:r>
                <a:rPr lang="en-US" altLang="zh-CN" sz="2955" b="1">
                  <a:solidFill>
                    <a:srgbClr val="0000CC"/>
                  </a:solidFill>
                  <a:latin typeface="Arial" panose="020B0604020202020204" pitchFamily="34" charset="0"/>
                  <a:ea typeface="宋体" panose="02010600030101010101" pitchFamily="2" charset="-122"/>
                </a:rPr>
                <a:t>……</a:t>
              </a:r>
              <a:endParaRPr lang="en-US" altLang="zh-CN" sz="2955" b="1">
                <a:solidFill>
                  <a:srgbClr val="0000CC"/>
                </a:solidFill>
                <a:latin typeface="Arial" panose="020B0604020202020204" pitchFamily="34" charset="0"/>
                <a:ea typeface="宋体" panose="02010600030101010101" pitchFamily="2" charset="-122"/>
              </a:endParaRPr>
            </a:p>
          </p:txBody>
        </p:sp>
      </p:grpSp>
      <p:sp>
        <p:nvSpPr>
          <p:cNvPr id="2" name="矩形 1"/>
          <p:cNvSpPr/>
          <p:nvPr/>
        </p:nvSpPr>
        <p:spPr>
          <a:xfrm>
            <a:off x="826478" y="1545492"/>
            <a:ext cx="4954905" cy="568960"/>
          </a:xfrm>
          <a:prstGeom prst="rect">
            <a:avLst/>
          </a:prstGeom>
        </p:spPr>
        <p:txBody>
          <a:bodyPr wrap="none">
            <a:spAutoFit/>
          </a:bodyPr>
          <a:lstStyle/>
          <a:p>
            <a:pPr marL="342900" indent="-342900">
              <a:lnSpc>
                <a:spcPct val="90000"/>
              </a:lnSpc>
              <a:spcBef>
                <a:spcPct val="20000"/>
              </a:spcBef>
              <a:buClr>
                <a:srgbClr val="3399FF"/>
              </a:buClr>
              <a:buFont typeface="Wingdings" panose="05000000000000000000" pitchFamily="2" charset="2"/>
              <a:buChar char="v"/>
              <a:defRPr/>
            </a:pPr>
            <a:r>
              <a:rPr lang="en-US" altLang="zh-CN" sz="3445" dirty="0">
                <a:latin typeface="+mn-lt"/>
                <a:ea typeface="+mn-ea"/>
              </a:rPr>
              <a:t>2000</a:t>
            </a:r>
            <a:r>
              <a:rPr lang="zh-CN" altLang="en-US" sz="3445" dirty="0">
                <a:latin typeface="+mn-lt"/>
                <a:ea typeface="+mn-ea"/>
              </a:rPr>
              <a:t>年后取得长足进步</a:t>
            </a:r>
            <a:endParaRPr lang="zh-CN" altLang="en-US" sz="3445" dirty="0">
              <a:latin typeface="+mn-lt"/>
              <a:ea typeface="+mn-ea"/>
            </a:endParaRPr>
          </a:p>
        </p:txBody>
      </p:sp>
      <p:sp>
        <p:nvSpPr>
          <p:cNvPr id="3" name="矩形 2"/>
          <p:cNvSpPr/>
          <p:nvPr/>
        </p:nvSpPr>
        <p:spPr>
          <a:xfrm>
            <a:off x="826478" y="974969"/>
            <a:ext cx="7583805" cy="568960"/>
          </a:xfrm>
          <a:prstGeom prst="rect">
            <a:avLst/>
          </a:prstGeom>
        </p:spPr>
        <p:txBody>
          <a:bodyPr wrap="none">
            <a:spAutoFit/>
          </a:bodyPr>
          <a:lstStyle/>
          <a:p>
            <a:pPr marL="342900" indent="-342900">
              <a:lnSpc>
                <a:spcPct val="90000"/>
              </a:lnSpc>
              <a:spcBef>
                <a:spcPct val="20000"/>
              </a:spcBef>
              <a:buClr>
                <a:srgbClr val="3399FF"/>
              </a:buClr>
              <a:buFont typeface="Wingdings" panose="05000000000000000000" pitchFamily="2" charset="2"/>
              <a:buChar char="v"/>
              <a:defRPr/>
            </a:pPr>
            <a:r>
              <a:rPr lang="zh-CN" altLang="en-US" sz="3445" dirty="0">
                <a:latin typeface="+mn-lt"/>
                <a:ea typeface="+mn-ea"/>
              </a:rPr>
              <a:t>我国信息化建设起步于</a:t>
            </a:r>
            <a:r>
              <a:rPr lang="en-US" altLang="zh-CN" sz="3445" dirty="0">
                <a:latin typeface="+mn-lt"/>
                <a:ea typeface="+mn-ea"/>
              </a:rPr>
              <a:t>20</a:t>
            </a:r>
            <a:r>
              <a:rPr lang="zh-CN" altLang="en-US" sz="3445" dirty="0">
                <a:latin typeface="+mn-lt"/>
                <a:ea typeface="+mn-ea"/>
              </a:rPr>
              <a:t>世纪</a:t>
            </a:r>
            <a:r>
              <a:rPr lang="en-US" altLang="zh-CN" sz="3445" dirty="0">
                <a:latin typeface="+mn-lt"/>
                <a:ea typeface="+mn-ea"/>
              </a:rPr>
              <a:t>80</a:t>
            </a:r>
            <a:r>
              <a:rPr lang="zh-CN" altLang="en-US" sz="3445" dirty="0">
                <a:latin typeface="+mn-lt"/>
                <a:ea typeface="+mn-ea"/>
              </a:rPr>
              <a:t>年代</a:t>
            </a:r>
            <a:endParaRPr lang="zh-CN" altLang="en-US" sz="3445" dirty="0">
              <a:latin typeface="+mn-lt"/>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1000" fill="hold"/>
                                        <p:tgtEl>
                                          <p:spTgt spid="2"/>
                                        </p:tgtEl>
                                        <p:attrNameLst>
                                          <p:attrName>ppt_x</p:attrName>
                                        </p:attrNameLst>
                                      </p:cBhvr>
                                      <p:tavLst>
                                        <p:tav tm="0">
                                          <p:val>
                                            <p:strVal val="#ppt_x"/>
                                          </p:val>
                                        </p:tav>
                                        <p:tav tm="100000">
                                          <p:val>
                                            <p:strVal val="#ppt_x"/>
                                          </p:val>
                                        </p:tav>
                                      </p:tavLst>
                                    </p:anim>
                                    <p:anim calcmode="lin" valueType="num">
                                      <p:cBhvr additive="base">
                                        <p:cTn id="13" dur="10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47109"/>
                                        </p:tgtEl>
                                        <p:attrNameLst>
                                          <p:attrName>style.visibility</p:attrName>
                                        </p:attrNameLst>
                                      </p:cBhvr>
                                      <p:to>
                                        <p:strVal val="visible"/>
                                      </p:to>
                                    </p:set>
                                    <p:anim calcmode="lin" valueType="num">
                                      <p:cBhvr>
                                        <p:cTn id="17" dur="2000" fill="hold"/>
                                        <p:tgtEl>
                                          <p:spTgt spid="47109"/>
                                        </p:tgtEl>
                                        <p:attrNameLst>
                                          <p:attrName>ppt_w</p:attrName>
                                        </p:attrNameLst>
                                      </p:cBhvr>
                                      <p:tavLst>
                                        <p:tav tm="0">
                                          <p:val>
                                            <p:fltVal val="0"/>
                                          </p:val>
                                        </p:tav>
                                        <p:tav tm="100000">
                                          <p:val>
                                            <p:strVal val="#ppt_w"/>
                                          </p:val>
                                        </p:tav>
                                      </p:tavLst>
                                    </p:anim>
                                    <p:anim calcmode="lin" valueType="num">
                                      <p:cBhvr>
                                        <p:cTn id="18" dur="2000" fill="hold"/>
                                        <p:tgtEl>
                                          <p:spTgt spid="47109"/>
                                        </p:tgtEl>
                                        <p:attrNameLst>
                                          <p:attrName>ppt_h</p:attrName>
                                        </p:attrNameLst>
                                      </p:cBhvr>
                                      <p:tavLst>
                                        <p:tav tm="0">
                                          <p:val>
                                            <p:fltVal val="0"/>
                                          </p:val>
                                        </p:tav>
                                        <p:tav tm="100000">
                                          <p:val>
                                            <p:strVal val="#ppt_h"/>
                                          </p:val>
                                        </p:tav>
                                      </p:tavLst>
                                    </p:anim>
                                    <p:animEffect transition="in" filter="fade">
                                      <p:cBhvr>
                                        <p:cTn id="19" dur="2000"/>
                                        <p:tgtEl>
                                          <p:spTgt spid="47109"/>
                                        </p:tgtEl>
                                      </p:cBhvr>
                                    </p:animEffect>
                                  </p:childTnLst>
                                </p:cTn>
                              </p:par>
                            </p:childTnLst>
                          </p:cTn>
                        </p:par>
                        <p:par>
                          <p:cTn id="20" fill="hold">
                            <p:stCondLst>
                              <p:cond delay="3500"/>
                            </p:stCondLst>
                            <p:childTnLst>
                              <p:par>
                                <p:cTn id="21" presetID="2" presetClass="entr" presetSubtype="4"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2000" fill="hold"/>
                                        <p:tgtEl>
                                          <p:spTgt spid="4"/>
                                        </p:tgtEl>
                                        <p:attrNameLst>
                                          <p:attrName>ppt_x</p:attrName>
                                        </p:attrNameLst>
                                      </p:cBhvr>
                                      <p:tavLst>
                                        <p:tav tm="0">
                                          <p:val>
                                            <p:strVal val="#ppt_x"/>
                                          </p:val>
                                        </p:tav>
                                        <p:tav tm="100000">
                                          <p:val>
                                            <p:strVal val="#ppt_x"/>
                                          </p:val>
                                        </p:tav>
                                      </p:tavLst>
                                    </p:anim>
                                    <p:anim calcmode="lin" valueType="num">
                                      <p:cBhvr additive="base">
                                        <p:cTn id="24" dur="2000" fill="hold"/>
                                        <p:tgtEl>
                                          <p:spTgt spid="4"/>
                                        </p:tgtEl>
                                        <p:attrNameLst>
                                          <p:attrName>ppt_y</p:attrName>
                                        </p:attrNameLst>
                                      </p:cBhvr>
                                      <p:tavLst>
                                        <p:tav tm="0">
                                          <p:val>
                                            <p:strVal val="1+#ppt_h/2"/>
                                          </p:val>
                                        </p:tav>
                                        <p:tav tm="100000">
                                          <p:val>
                                            <p:strVal val="#ppt_y"/>
                                          </p:val>
                                        </p:tav>
                                      </p:tavLst>
                                    </p:anim>
                                  </p:childTnLst>
                                </p:cTn>
                              </p:par>
                            </p:childTnLst>
                          </p:cTn>
                        </p:par>
                        <p:par>
                          <p:cTn id="25" fill="hold">
                            <p:stCondLst>
                              <p:cond delay="5500"/>
                            </p:stCondLst>
                            <p:childTnLst>
                              <p:par>
                                <p:cTn id="26" presetID="53" presetClass="entr" presetSubtype="16" fill="hold" nodeType="afterEffect">
                                  <p:stCondLst>
                                    <p:cond delay="0"/>
                                  </p:stCondLst>
                                  <p:childTnLst>
                                    <p:set>
                                      <p:cBhvr>
                                        <p:cTn id="27" dur="1" fill="hold">
                                          <p:stCondLst>
                                            <p:cond delay="0"/>
                                          </p:stCondLst>
                                        </p:cTn>
                                        <p:tgtEl>
                                          <p:spTgt spid="47108"/>
                                        </p:tgtEl>
                                        <p:attrNameLst>
                                          <p:attrName>style.visibility</p:attrName>
                                        </p:attrNameLst>
                                      </p:cBhvr>
                                      <p:to>
                                        <p:strVal val="visible"/>
                                      </p:to>
                                    </p:set>
                                    <p:anim calcmode="lin" valueType="num">
                                      <p:cBhvr>
                                        <p:cTn id="28" dur="2000" fill="hold"/>
                                        <p:tgtEl>
                                          <p:spTgt spid="47108"/>
                                        </p:tgtEl>
                                        <p:attrNameLst>
                                          <p:attrName>ppt_w</p:attrName>
                                        </p:attrNameLst>
                                      </p:cBhvr>
                                      <p:tavLst>
                                        <p:tav tm="0">
                                          <p:val>
                                            <p:fltVal val="0"/>
                                          </p:val>
                                        </p:tav>
                                        <p:tav tm="100000">
                                          <p:val>
                                            <p:strVal val="#ppt_w"/>
                                          </p:val>
                                        </p:tav>
                                      </p:tavLst>
                                    </p:anim>
                                    <p:anim calcmode="lin" valueType="num">
                                      <p:cBhvr>
                                        <p:cTn id="29" dur="2000" fill="hold"/>
                                        <p:tgtEl>
                                          <p:spTgt spid="47108"/>
                                        </p:tgtEl>
                                        <p:attrNameLst>
                                          <p:attrName>ppt_h</p:attrName>
                                        </p:attrNameLst>
                                      </p:cBhvr>
                                      <p:tavLst>
                                        <p:tav tm="0">
                                          <p:val>
                                            <p:fltVal val="0"/>
                                          </p:val>
                                        </p:tav>
                                        <p:tav tm="100000">
                                          <p:val>
                                            <p:strVal val="#ppt_h"/>
                                          </p:val>
                                        </p:tav>
                                      </p:tavLst>
                                    </p:anim>
                                    <p:animEffect transition="in" filter="fade">
                                      <p:cBhvr>
                                        <p:cTn id="30" dur="20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64677" y="1744785"/>
            <a:ext cx="8481060" cy="924560"/>
          </a:xfrm>
          <a:prstGeom prst="rect">
            <a:avLst/>
          </a:prstGeom>
        </p:spPr>
        <p:txBody>
          <a:bodyPr wrap="none">
            <a:spAutoFit/>
          </a:bodyPr>
          <a:lstStyle/>
          <a:p>
            <a:pPr>
              <a:defRPr/>
            </a:pPr>
            <a:r>
              <a:rPr lang="zh-CN" altLang="en-US" sz="5415" b="1" kern="0" dirty="0">
                <a:latin typeface="黑体" panose="02010609060101010101" pitchFamily="49" charset="-122"/>
                <a:ea typeface="黑体" panose="02010609060101010101" pitchFamily="49" charset="-122"/>
              </a:rPr>
              <a:t>我国网络空间安全生态环境</a:t>
            </a:r>
            <a:endParaRPr lang="zh-CN" altLang="en-US" sz="5415" b="1" dirty="0">
              <a:latin typeface="黑体" panose="02010609060101010101" pitchFamily="49" charset="-122"/>
              <a:ea typeface="黑体" panose="02010609060101010101" pitchFamily="49" charset="-122"/>
            </a:endParaRPr>
          </a:p>
        </p:txBody>
      </p:sp>
      <p:grpSp>
        <p:nvGrpSpPr>
          <p:cNvPr id="5" name="组合 4"/>
          <p:cNvGrpSpPr/>
          <p:nvPr/>
        </p:nvGrpSpPr>
        <p:grpSpPr bwMode="auto">
          <a:xfrm>
            <a:off x="6983046" y="3694723"/>
            <a:ext cx="4753708" cy="2004646"/>
            <a:chOff x="5673080" y="3415227"/>
            <a:chExt cx="3863132" cy="1629144"/>
          </a:xfrm>
        </p:grpSpPr>
        <p:pic>
          <p:nvPicPr>
            <p:cNvPr id="4813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609184" y="3415227"/>
              <a:ext cx="2927028" cy="1629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矩形 2"/>
            <p:cNvSpPr>
              <a:spLocks noChangeArrowheads="1"/>
            </p:cNvSpPr>
            <p:nvPr/>
          </p:nvSpPr>
          <p:spPr bwMode="auto">
            <a:xfrm>
              <a:off x="5673080" y="3861048"/>
              <a:ext cx="1374722" cy="566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940" b="1"/>
                <a:t>不乐观</a:t>
              </a:r>
              <a:endParaRPr lang="zh-CN" altLang="en-US" sz="3940" b="1"/>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gray">
          <a:xfrm>
            <a:off x="246185" y="60569"/>
            <a:ext cx="8772769" cy="865554"/>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chemeClr val="tx1"/>
                </a:solidFill>
              </a:rPr>
              <a:t>我国信息化迅猛发展的数据（</a:t>
            </a:r>
            <a:r>
              <a:rPr lang="en-US" altLang="zh-CN" sz="3445" kern="0" dirty="0">
                <a:solidFill>
                  <a:schemeClr val="tx1"/>
                </a:solidFill>
              </a:rPr>
              <a:t>2020</a:t>
            </a:r>
            <a:r>
              <a:rPr lang="zh-CN" altLang="en-US" sz="3445" kern="0" dirty="0">
                <a:solidFill>
                  <a:schemeClr val="tx1"/>
                </a:solidFill>
              </a:rPr>
              <a:t>年）</a:t>
            </a:r>
            <a:endParaRPr lang="zh-CN" altLang="en-US" sz="2215" b="0" i="1" kern="0" dirty="0">
              <a:solidFill>
                <a:schemeClr val="tx1"/>
              </a:solidFill>
            </a:endParaRPr>
          </a:p>
        </p:txBody>
      </p:sp>
      <p:sp>
        <p:nvSpPr>
          <p:cNvPr id="5" name="Rectangle 2"/>
          <p:cNvSpPr txBox="1">
            <a:spLocks noChangeArrowheads="1"/>
          </p:cNvSpPr>
          <p:nvPr/>
        </p:nvSpPr>
        <p:spPr bwMode="gray">
          <a:xfrm>
            <a:off x="336062" y="857738"/>
            <a:ext cx="3278554" cy="865554"/>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基础设施</a:t>
            </a:r>
            <a:endParaRPr lang="zh-CN" altLang="en-US" sz="2215" b="0" i="1" kern="0" dirty="0">
              <a:solidFill>
                <a:srgbClr val="FF0000"/>
              </a:solidFill>
            </a:endParaRPr>
          </a:p>
        </p:txBody>
      </p:sp>
      <p:pic>
        <p:nvPicPr>
          <p:cNvPr id="2" name="图片 1"/>
          <p:cNvPicPr>
            <a:picLocks noChangeAspect="1"/>
          </p:cNvPicPr>
          <p:nvPr/>
        </p:nvPicPr>
        <p:blipFill>
          <a:blip r:embed="rId1"/>
          <a:stretch>
            <a:fillRect/>
          </a:stretch>
        </p:blipFill>
        <p:spPr>
          <a:xfrm>
            <a:off x="246185" y="2099622"/>
            <a:ext cx="8023246" cy="4149479"/>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3" name="图片 2"/>
          <p:cNvPicPr>
            <a:picLocks noChangeAspect="1"/>
          </p:cNvPicPr>
          <p:nvPr/>
        </p:nvPicPr>
        <p:blipFill>
          <a:blip r:embed="rId2"/>
          <a:stretch>
            <a:fillRect/>
          </a:stretch>
        </p:blipFill>
        <p:spPr>
          <a:xfrm>
            <a:off x="5032497" y="1124744"/>
            <a:ext cx="7090018" cy="4038570"/>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txBox="1">
            <a:spLocks noChangeArrowheads="1"/>
          </p:cNvSpPr>
          <p:nvPr/>
        </p:nvSpPr>
        <p:spPr bwMode="gray">
          <a:xfrm>
            <a:off x="336062" y="150446"/>
            <a:ext cx="3278554" cy="865554"/>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基础设施</a:t>
            </a:r>
            <a:endParaRPr lang="zh-CN" altLang="en-US" sz="2215" b="0" i="1" kern="0" dirty="0">
              <a:solidFill>
                <a:srgbClr val="FF0000"/>
              </a:solidFill>
            </a:endParaRPr>
          </a:p>
        </p:txBody>
      </p:sp>
      <p:pic>
        <p:nvPicPr>
          <p:cNvPr id="3" name="图片 2"/>
          <p:cNvPicPr>
            <a:picLocks noChangeAspect="1"/>
          </p:cNvPicPr>
          <p:nvPr/>
        </p:nvPicPr>
        <p:blipFill>
          <a:blip r:embed="rId1"/>
          <a:stretch>
            <a:fillRect/>
          </a:stretch>
        </p:blipFill>
        <p:spPr>
          <a:xfrm>
            <a:off x="1310238" y="1213369"/>
            <a:ext cx="9039774" cy="5218838"/>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gray">
          <a:xfrm>
            <a:off x="179754" y="60569"/>
            <a:ext cx="3278554" cy="865554"/>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基础设施</a:t>
            </a:r>
            <a:endParaRPr lang="zh-CN" altLang="en-US" sz="2215" b="0" i="1" kern="0" dirty="0">
              <a:solidFill>
                <a:srgbClr val="FF0000"/>
              </a:solidFill>
            </a:endParaRPr>
          </a:p>
        </p:txBody>
      </p:sp>
      <p:pic>
        <p:nvPicPr>
          <p:cNvPr id="3" name="图片 2"/>
          <p:cNvPicPr>
            <a:picLocks noChangeAspect="1"/>
          </p:cNvPicPr>
          <p:nvPr/>
        </p:nvPicPr>
        <p:blipFill>
          <a:blip r:embed="rId1"/>
          <a:stretch>
            <a:fillRect/>
          </a:stretch>
        </p:blipFill>
        <p:spPr>
          <a:xfrm>
            <a:off x="423985" y="1213369"/>
            <a:ext cx="8153521" cy="4436005"/>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4" name="图片 3"/>
          <p:cNvPicPr>
            <a:picLocks noChangeAspect="1"/>
          </p:cNvPicPr>
          <p:nvPr/>
        </p:nvPicPr>
        <p:blipFill>
          <a:blip r:embed="rId2"/>
          <a:stretch>
            <a:fillRect/>
          </a:stretch>
        </p:blipFill>
        <p:spPr>
          <a:xfrm>
            <a:off x="4589371" y="1922371"/>
            <a:ext cx="7355894" cy="4395685"/>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
                                        <p:tgtEl>
                                          <p:spTgt spid="4"/>
                                        </p:tgtEl>
                                      </p:cBhvr>
                                    </p:animEffect>
                                    <p:anim calcmode="lin" valueType="num">
                                      <p:cBhvr>
                                        <p:cTn id="13" dur="10" fill="hold"/>
                                        <p:tgtEl>
                                          <p:spTgt spid="4"/>
                                        </p:tgtEl>
                                        <p:attrNameLst>
                                          <p:attrName>ppt_x</p:attrName>
                                        </p:attrNameLst>
                                      </p:cBhvr>
                                      <p:tavLst>
                                        <p:tav tm="0">
                                          <p:val>
                                            <p:strVal val="#ppt_x"/>
                                          </p:val>
                                        </p:tav>
                                        <p:tav tm="100000">
                                          <p:val>
                                            <p:strVal val="#ppt_x"/>
                                          </p:val>
                                        </p:tav>
                                      </p:tavLst>
                                    </p:anim>
                                    <p:anim calcmode="lin" valueType="num">
                                      <p:cBhvr>
                                        <p:cTn id="14" dur="1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gray">
          <a:xfrm>
            <a:off x="179754" y="60569"/>
            <a:ext cx="3278554" cy="865554"/>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基础设施篇</a:t>
            </a:r>
            <a:endParaRPr lang="zh-CN" altLang="en-US" sz="2215" b="0" i="1" kern="0" dirty="0">
              <a:solidFill>
                <a:srgbClr val="FF0000"/>
              </a:solidFill>
            </a:endParaRPr>
          </a:p>
        </p:txBody>
      </p:sp>
      <p:pic>
        <p:nvPicPr>
          <p:cNvPr id="2" name="图片 1"/>
          <p:cNvPicPr>
            <a:picLocks noChangeAspect="1"/>
          </p:cNvPicPr>
          <p:nvPr/>
        </p:nvPicPr>
        <p:blipFill>
          <a:blip r:embed="rId1"/>
          <a:stretch>
            <a:fillRect/>
          </a:stretch>
        </p:blipFill>
        <p:spPr>
          <a:xfrm>
            <a:off x="246735" y="1656495"/>
            <a:ext cx="8307798" cy="4551820"/>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3" name="图片 2"/>
          <p:cNvPicPr>
            <a:picLocks noChangeAspect="1"/>
          </p:cNvPicPr>
          <p:nvPr/>
        </p:nvPicPr>
        <p:blipFill>
          <a:blip r:embed="rId2"/>
          <a:stretch>
            <a:fillRect/>
          </a:stretch>
        </p:blipFill>
        <p:spPr>
          <a:xfrm>
            <a:off x="3791744" y="1301994"/>
            <a:ext cx="8064896" cy="4551820"/>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gray">
          <a:xfrm>
            <a:off x="179754" y="60569"/>
            <a:ext cx="3278554" cy="865554"/>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基础设施篇</a:t>
            </a:r>
            <a:endParaRPr lang="zh-CN" altLang="en-US" sz="2215" b="0" i="1" kern="0" dirty="0">
              <a:solidFill>
                <a:srgbClr val="FF0000"/>
              </a:solidFill>
            </a:endParaRPr>
          </a:p>
        </p:txBody>
      </p:sp>
      <p:pic>
        <p:nvPicPr>
          <p:cNvPr id="3" name="图片 2"/>
          <p:cNvPicPr>
            <a:picLocks noChangeAspect="1"/>
          </p:cNvPicPr>
          <p:nvPr/>
        </p:nvPicPr>
        <p:blipFill>
          <a:blip r:embed="rId1"/>
          <a:stretch>
            <a:fillRect/>
          </a:stretch>
        </p:blipFill>
        <p:spPr>
          <a:xfrm>
            <a:off x="512610" y="1390620"/>
            <a:ext cx="8460262" cy="4796601"/>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5" name="图片 4"/>
          <p:cNvPicPr>
            <a:picLocks noChangeAspect="1"/>
          </p:cNvPicPr>
          <p:nvPr/>
        </p:nvPicPr>
        <p:blipFill>
          <a:blip r:embed="rId2"/>
          <a:stretch>
            <a:fillRect/>
          </a:stretch>
        </p:blipFill>
        <p:spPr>
          <a:xfrm>
            <a:off x="2994117" y="1036119"/>
            <a:ext cx="8619788" cy="4904917"/>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gray">
          <a:xfrm>
            <a:off x="158262" y="113324"/>
            <a:ext cx="4275015"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网民规模和特点</a:t>
            </a:r>
            <a:endParaRPr lang="zh-CN" altLang="en-US" sz="2215" b="0" i="1" kern="0" dirty="0">
              <a:solidFill>
                <a:srgbClr val="FF0000"/>
              </a:solidFill>
            </a:endParaRPr>
          </a:p>
        </p:txBody>
      </p:sp>
      <p:pic>
        <p:nvPicPr>
          <p:cNvPr id="3" name="图片 2"/>
          <p:cNvPicPr>
            <a:picLocks noChangeAspect="1"/>
          </p:cNvPicPr>
          <p:nvPr/>
        </p:nvPicPr>
        <p:blipFill>
          <a:blip r:embed="rId1"/>
          <a:stretch>
            <a:fillRect/>
          </a:stretch>
        </p:blipFill>
        <p:spPr>
          <a:xfrm>
            <a:off x="2295770" y="1124744"/>
            <a:ext cx="7799020" cy="4599775"/>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0" name="Rectangle 2"/>
          <p:cNvSpPr txBox="1">
            <a:spLocks noChangeArrowheads="1"/>
          </p:cNvSpPr>
          <p:nvPr/>
        </p:nvSpPr>
        <p:spPr bwMode="gray">
          <a:xfrm>
            <a:off x="3082742" y="5875487"/>
            <a:ext cx="7267269"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460" kern="0" dirty="0">
                <a:solidFill>
                  <a:schemeClr val="tx1"/>
                </a:solidFill>
              </a:rPr>
              <a:t>截止</a:t>
            </a:r>
            <a:r>
              <a:rPr lang="en-US" altLang="zh-CN" sz="2460" kern="0" dirty="0">
                <a:solidFill>
                  <a:schemeClr val="tx1"/>
                </a:solidFill>
              </a:rPr>
              <a:t>2020</a:t>
            </a:r>
            <a:r>
              <a:rPr lang="zh-CN" altLang="en-US" sz="2460" kern="0" dirty="0">
                <a:solidFill>
                  <a:schemeClr val="tx1"/>
                </a:solidFill>
              </a:rPr>
              <a:t>年</a:t>
            </a:r>
            <a:r>
              <a:rPr lang="en-US" altLang="zh-CN" sz="2460" kern="0" dirty="0">
                <a:solidFill>
                  <a:schemeClr val="tx1"/>
                </a:solidFill>
              </a:rPr>
              <a:t>12</a:t>
            </a:r>
            <a:r>
              <a:rPr lang="zh-CN" altLang="en-US" sz="2460" kern="0" dirty="0">
                <a:solidFill>
                  <a:schemeClr val="tx1"/>
                </a:solidFill>
              </a:rPr>
              <a:t>月，全国网民数</a:t>
            </a:r>
            <a:r>
              <a:rPr lang="en-US" altLang="zh-CN" sz="3445" kern="0" dirty="0">
                <a:solidFill>
                  <a:srgbClr val="FF0000"/>
                </a:solidFill>
              </a:rPr>
              <a:t>9.89</a:t>
            </a:r>
            <a:r>
              <a:rPr lang="zh-CN" altLang="en-US" sz="3445" kern="0" dirty="0">
                <a:solidFill>
                  <a:srgbClr val="FF0000"/>
                </a:solidFill>
              </a:rPr>
              <a:t>亿</a:t>
            </a:r>
            <a:endParaRPr lang="zh-CN" altLang="en-US" sz="3445" kern="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gray">
          <a:xfrm>
            <a:off x="158262" y="113324"/>
            <a:ext cx="4275015"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网民规模和特点</a:t>
            </a:r>
            <a:endParaRPr lang="zh-CN" altLang="en-US" sz="2215" b="0" i="1" kern="0" dirty="0">
              <a:solidFill>
                <a:srgbClr val="FF0000"/>
              </a:solidFill>
            </a:endParaRPr>
          </a:p>
        </p:txBody>
      </p:sp>
      <p:sp>
        <p:nvSpPr>
          <p:cNvPr id="2" name="矩形 1"/>
          <p:cNvSpPr/>
          <p:nvPr/>
        </p:nvSpPr>
        <p:spPr>
          <a:xfrm>
            <a:off x="2816866" y="6087757"/>
            <a:ext cx="6911975" cy="622300"/>
          </a:xfrm>
          <a:prstGeom prst="rect">
            <a:avLst/>
          </a:prstGeom>
        </p:spPr>
        <p:txBody>
          <a:bodyPr wrap="none">
            <a:spAutoFit/>
          </a:bodyPr>
          <a:lstStyle/>
          <a:p>
            <a:r>
              <a:rPr lang="zh-CN" altLang="en-US" sz="2460" b="1" kern="0" dirty="0"/>
              <a:t>截止</a:t>
            </a:r>
            <a:r>
              <a:rPr lang="en-US" altLang="zh-CN" sz="2460" b="1" kern="0" dirty="0"/>
              <a:t>2020</a:t>
            </a:r>
            <a:r>
              <a:rPr lang="zh-CN" altLang="en-US" sz="2460" b="1" kern="0" dirty="0"/>
              <a:t>年</a:t>
            </a:r>
            <a:r>
              <a:rPr lang="en-US" altLang="zh-CN" sz="2460" b="1" kern="0" dirty="0"/>
              <a:t>12</a:t>
            </a:r>
            <a:r>
              <a:rPr lang="zh-CN" altLang="en-US" sz="2460" b="1" kern="0" dirty="0"/>
              <a:t>月，全国</a:t>
            </a:r>
            <a:r>
              <a:rPr lang="zh-CN" altLang="en-US" sz="2460" b="1" dirty="0"/>
              <a:t>手机网民规模达</a:t>
            </a:r>
            <a:r>
              <a:rPr lang="en-US" altLang="zh-CN" sz="3445" b="1" dirty="0">
                <a:solidFill>
                  <a:srgbClr val="FF0000"/>
                </a:solidFill>
              </a:rPr>
              <a:t>9.86</a:t>
            </a:r>
            <a:r>
              <a:rPr lang="zh-CN" altLang="en-US" sz="3445" b="1" dirty="0">
                <a:solidFill>
                  <a:srgbClr val="FF0000"/>
                </a:solidFill>
              </a:rPr>
              <a:t>亿</a:t>
            </a:r>
            <a:endParaRPr lang="zh-CN" altLang="en-US" sz="3445" b="1" dirty="0">
              <a:solidFill>
                <a:srgbClr val="FF0000"/>
              </a:solidFill>
            </a:endParaRPr>
          </a:p>
        </p:txBody>
      </p:sp>
      <p:pic>
        <p:nvPicPr>
          <p:cNvPr id="3" name="图片 2"/>
          <p:cNvPicPr>
            <a:picLocks noChangeAspect="1"/>
          </p:cNvPicPr>
          <p:nvPr/>
        </p:nvPicPr>
        <p:blipFill>
          <a:blip r:embed="rId1"/>
          <a:stretch>
            <a:fillRect/>
          </a:stretch>
        </p:blipFill>
        <p:spPr>
          <a:xfrm>
            <a:off x="1753364" y="1036119"/>
            <a:ext cx="8224513" cy="4674987"/>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gray">
          <a:xfrm>
            <a:off x="158262" y="113324"/>
            <a:ext cx="4275015"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网民规模和特点</a:t>
            </a:r>
            <a:endParaRPr lang="zh-CN" altLang="en-US" sz="2215" b="0" i="1" kern="0" dirty="0">
              <a:solidFill>
                <a:srgbClr val="FF0000"/>
              </a:solidFill>
            </a:endParaRPr>
          </a:p>
        </p:txBody>
      </p:sp>
      <p:pic>
        <p:nvPicPr>
          <p:cNvPr id="2" name="图片 1"/>
          <p:cNvPicPr>
            <a:picLocks noChangeAspect="1"/>
          </p:cNvPicPr>
          <p:nvPr/>
        </p:nvPicPr>
        <p:blipFill>
          <a:blip r:embed="rId1"/>
          <a:stretch>
            <a:fillRect/>
          </a:stretch>
        </p:blipFill>
        <p:spPr>
          <a:xfrm>
            <a:off x="335360" y="2010996"/>
            <a:ext cx="8546638" cy="4236030"/>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3" name="图片 2"/>
          <p:cNvPicPr>
            <a:picLocks noChangeAspect="1"/>
          </p:cNvPicPr>
          <p:nvPr/>
        </p:nvPicPr>
        <p:blipFill>
          <a:blip r:embed="rId2"/>
          <a:stretch>
            <a:fillRect/>
          </a:stretch>
        </p:blipFill>
        <p:spPr>
          <a:xfrm>
            <a:off x="3525868" y="1213369"/>
            <a:ext cx="8329985" cy="4383484"/>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
                                        <p:tgtEl>
                                          <p:spTgt spid="2"/>
                                        </p:tgtEl>
                                      </p:cBhvr>
                                    </p:animEffect>
                                    <p:anim calcmode="lin" valueType="num">
                                      <p:cBhvr>
                                        <p:cTn id="8" dur="10" fill="hold"/>
                                        <p:tgtEl>
                                          <p:spTgt spid="2"/>
                                        </p:tgtEl>
                                        <p:attrNameLst>
                                          <p:attrName>ppt_x</p:attrName>
                                        </p:attrNameLst>
                                      </p:cBhvr>
                                      <p:tavLst>
                                        <p:tav tm="0">
                                          <p:val>
                                            <p:strVal val="#ppt_x"/>
                                          </p:val>
                                        </p:tav>
                                        <p:tav tm="100000">
                                          <p:val>
                                            <p:strVal val="#ppt_x"/>
                                          </p:val>
                                        </p:tav>
                                      </p:tavLst>
                                    </p:anim>
                                    <p:anim calcmode="lin" valueType="num">
                                      <p:cBhvr>
                                        <p:cTn id="9" dur="1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gray">
          <a:xfrm>
            <a:off x="158262" y="113324"/>
            <a:ext cx="4275015"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网民规模和特点</a:t>
            </a:r>
            <a:endParaRPr lang="zh-CN" altLang="en-US" sz="2215" b="0" i="1" kern="0" dirty="0">
              <a:solidFill>
                <a:srgbClr val="FF0000"/>
              </a:solidFill>
            </a:endParaRPr>
          </a:p>
        </p:txBody>
      </p:sp>
      <p:pic>
        <p:nvPicPr>
          <p:cNvPr id="4" name="图片 3"/>
          <p:cNvPicPr>
            <a:picLocks noChangeAspect="1"/>
          </p:cNvPicPr>
          <p:nvPr/>
        </p:nvPicPr>
        <p:blipFill>
          <a:blip r:embed="rId1"/>
          <a:stretch>
            <a:fillRect/>
          </a:stretch>
        </p:blipFill>
        <p:spPr>
          <a:xfrm>
            <a:off x="4146245" y="238492"/>
            <a:ext cx="6377354" cy="6506308"/>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35360" y="1213369"/>
            <a:ext cx="7887646" cy="4912481"/>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3" name="图片 2"/>
          <p:cNvPicPr>
            <a:picLocks noChangeAspect="1"/>
          </p:cNvPicPr>
          <p:nvPr/>
        </p:nvPicPr>
        <p:blipFill>
          <a:blip r:embed="rId2"/>
          <a:stretch>
            <a:fillRect/>
          </a:stretch>
        </p:blipFill>
        <p:spPr>
          <a:xfrm>
            <a:off x="4412121" y="2099622"/>
            <a:ext cx="7288949" cy="4534480"/>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4" name="Rectangle 2"/>
          <p:cNvSpPr txBox="1">
            <a:spLocks noChangeArrowheads="1"/>
          </p:cNvSpPr>
          <p:nvPr/>
        </p:nvSpPr>
        <p:spPr bwMode="gray">
          <a:xfrm>
            <a:off x="158262" y="113324"/>
            <a:ext cx="8330619"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网民遭遇各类网络安全与诈骗问题</a:t>
            </a:r>
            <a:endParaRPr lang="zh-CN" altLang="en-US" sz="2215" b="0" i="1" kern="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250" fill="hold"/>
                                        <p:tgtEl>
                                          <p:spTgt spid="3"/>
                                        </p:tgtEl>
                                        <p:attrNameLst>
                                          <p:attrName>ppt_x</p:attrName>
                                        </p:attrNameLst>
                                      </p:cBhvr>
                                      <p:tavLst>
                                        <p:tav tm="0">
                                          <p:val>
                                            <p:strVal val="#ppt_x"/>
                                          </p:val>
                                        </p:tav>
                                        <p:tav tm="100000">
                                          <p:val>
                                            <p:strVal val="#ppt_x"/>
                                          </p:val>
                                        </p:tav>
                                      </p:tavLst>
                                    </p:anim>
                                    <p:anim calcmode="lin" valueType="num">
                                      <p:cBhvr additive="base">
                                        <p:cTn id="14" dur="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37415" y="1656495"/>
            <a:ext cx="8139938" cy="4091812"/>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3" name="图片 2"/>
          <p:cNvPicPr>
            <a:picLocks noChangeAspect="1"/>
          </p:cNvPicPr>
          <p:nvPr/>
        </p:nvPicPr>
        <p:blipFill>
          <a:blip r:embed="rId2"/>
          <a:stretch>
            <a:fillRect/>
          </a:stretch>
        </p:blipFill>
        <p:spPr>
          <a:xfrm>
            <a:off x="4057620" y="2002362"/>
            <a:ext cx="7950763" cy="4347390"/>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4" name="Rectangle 2"/>
          <p:cNvSpPr txBox="1">
            <a:spLocks noChangeArrowheads="1"/>
          </p:cNvSpPr>
          <p:nvPr/>
        </p:nvSpPr>
        <p:spPr bwMode="gray">
          <a:xfrm>
            <a:off x="246735" y="149866"/>
            <a:ext cx="8330619"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网站被串改及政府网站被串改数据</a:t>
            </a:r>
            <a:endParaRPr lang="zh-CN" altLang="en-US" sz="2215" b="0" i="1" kern="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191477" y="-27353"/>
            <a:ext cx="8297985"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网络安全问题（恶意程序）</a:t>
            </a:r>
            <a:endParaRPr lang="zh-CN" altLang="en-US" sz="2215" b="0" i="1" kern="0" dirty="0">
              <a:solidFill>
                <a:srgbClr val="FF0000"/>
              </a:solidFill>
            </a:endParaRPr>
          </a:p>
        </p:txBody>
      </p:sp>
      <p:pic>
        <p:nvPicPr>
          <p:cNvPr id="3" name="图片 2"/>
          <p:cNvPicPr>
            <a:picLocks noChangeAspect="1"/>
          </p:cNvPicPr>
          <p:nvPr/>
        </p:nvPicPr>
        <p:blipFill>
          <a:blip r:embed="rId1"/>
          <a:stretch>
            <a:fillRect/>
          </a:stretch>
        </p:blipFill>
        <p:spPr>
          <a:xfrm>
            <a:off x="246735" y="1036119"/>
            <a:ext cx="8790507" cy="4192194"/>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4" name="图片 3"/>
          <p:cNvPicPr>
            <a:picLocks noChangeAspect="1"/>
          </p:cNvPicPr>
          <p:nvPr/>
        </p:nvPicPr>
        <p:blipFill>
          <a:blip r:embed="rId2"/>
          <a:stretch>
            <a:fillRect/>
          </a:stretch>
        </p:blipFill>
        <p:spPr>
          <a:xfrm>
            <a:off x="3082742" y="2010996"/>
            <a:ext cx="8951148" cy="4422766"/>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circle(in)">
                                      <p:cBhvr>
                                        <p:cTn id="1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12610" y="1479245"/>
            <a:ext cx="8534400" cy="4607169"/>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4" name="图片 3"/>
          <p:cNvPicPr>
            <a:picLocks noChangeAspect="1"/>
          </p:cNvPicPr>
          <p:nvPr/>
        </p:nvPicPr>
        <p:blipFill>
          <a:blip r:embed="rId2"/>
          <a:stretch>
            <a:fillRect/>
          </a:stretch>
        </p:blipFill>
        <p:spPr>
          <a:xfrm>
            <a:off x="2728241" y="1105015"/>
            <a:ext cx="8854373" cy="4981399"/>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Rectangle 2"/>
          <p:cNvSpPr txBox="1">
            <a:spLocks noChangeArrowheads="1"/>
          </p:cNvSpPr>
          <p:nvPr/>
        </p:nvSpPr>
        <p:spPr bwMode="gray">
          <a:xfrm>
            <a:off x="191477" y="-27353"/>
            <a:ext cx="8297985"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网络安全问题（移动互联网恶意程序）</a:t>
            </a:r>
            <a:endParaRPr lang="zh-CN" altLang="en-US" sz="2215" b="0" i="1" kern="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
                                        <p:tgtEl>
                                          <p:spTgt spid="3"/>
                                        </p:tgtEl>
                                      </p:cBhvr>
                                    </p:animEffect>
                                    <p:anim calcmode="lin" valueType="num">
                                      <p:cBhvr>
                                        <p:cTn id="8" dur="10" fill="hold"/>
                                        <p:tgtEl>
                                          <p:spTgt spid="3"/>
                                        </p:tgtEl>
                                        <p:attrNameLst>
                                          <p:attrName>ppt_x</p:attrName>
                                        </p:attrNameLst>
                                      </p:cBhvr>
                                      <p:tavLst>
                                        <p:tav tm="0">
                                          <p:val>
                                            <p:strVal val="#ppt_x"/>
                                          </p:val>
                                        </p:tav>
                                        <p:tav tm="100000">
                                          <p:val>
                                            <p:strVal val="#ppt_x"/>
                                          </p:val>
                                        </p:tav>
                                      </p:tavLst>
                                    </p:anim>
                                    <p:anim calcmode="lin" valueType="num">
                                      <p:cBhvr>
                                        <p:cTn id="9" dur="1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
                                        <p:tgtEl>
                                          <p:spTgt spid="4"/>
                                        </p:tgtEl>
                                      </p:cBhvr>
                                    </p:animEffect>
                                    <p:anim calcmode="lin" valueType="num">
                                      <p:cBhvr>
                                        <p:cTn id="15" dur="10" fill="hold"/>
                                        <p:tgtEl>
                                          <p:spTgt spid="4"/>
                                        </p:tgtEl>
                                        <p:attrNameLst>
                                          <p:attrName>ppt_x</p:attrName>
                                        </p:attrNameLst>
                                      </p:cBhvr>
                                      <p:tavLst>
                                        <p:tav tm="0">
                                          <p:val>
                                            <p:strVal val="#ppt_x"/>
                                          </p:val>
                                        </p:tav>
                                        <p:tav tm="100000">
                                          <p:val>
                                            <p:strVal val="#ppt_x"/>
                                          </p:val>
                                        </p:tav>
                                      </p:tavLst>
                                    </p:anim>
                                    <p:anim calcmode="lin" valueType="num">
                                      <p:cBhvr>
                                        <p:cTn id="16" dur="1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gray">
          <a:xfrm>
            <a:off x="191477" y="-27353"/>
            <a:ext cx="8297985" cy="86360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445" kern="0" dirty="0">
                <a:solidFill>
                  <a:srgbClr val="FF0000"/>
                </a:solidFill>
              </a:rPr>
              <a:t>网络安全问题（安全漏洞）</a:t>
            </a:r>
            <a:endParaRPr lang="zh-CN" altLang="en-US" sz="2215" b="0" i="1" kern="0" dirty="0">
              <a:solidFill>
                <a:srgbClr val="FF0000"/>
              </a:solidFill>
            </a:endParaRPr>
          </a:p>
        </p:txBody>
      </p:sp>
      <p:pic>
        <p:nvPicPr>
          <p:cNvPr id="6" name="图片 5"/>
          <p:cNvPicPr>
            <a:picLocks noChangeAspect="1"/>
          </p:cNvPicPr>
          <p:nvPr/>
        </p:nvPicPr>
        <p:blipFill>
          <a:blip r:embed="rId1"/>
          <a:stretch>
            <a:fillRect/>
          </a:stretch>
        </p:blipFill>
        <p:spPr>
          <a:xfrm>
            <a:off x="335360" y="1567870"/>
            <a:ext cx="8393723" cy="4724400"/>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 name="图片 6"/>
          <p:cNvPicPr>
            <a:picLocks noChangeAspect="1"/>
          </p:cNvPicPr>
          <p:nvPr/>
        </p:nvPicPr>
        <p:blipFill>
          <a:blip r:embed="rId2"/>
          <a:stretch>
            <a:fillRect/>
          </a:stretch>
        </p:blipFill>
        <p:spPr>
          <a:xfrm>
            <a:off x="2285115" y="1301994"/>
            <a:ext cx="9626898" cy="5261143"/>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ppt_x"/>
                                          </p:val>
                                        </p:tav>
                                        <p:tav tm="100000">
                                          <p:val>
                                            <p:strVal val="#ppt_x"/>
                                          </p:val>
                                        </p:tav>
                                      </p:tavLst>
                                    </p:anim>
                                    <p:anim calcmode="lin" valueType="num">
                                      <p:cBhvr additive="base">
                                        <p:cTn id="8" dur="25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outVertical)">
                                      <p:cBhvr>
                                        <p:cTn id="13"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511908" y="50962"/>
            <a:ext cx="7297615" cy="599831"/>
          </a:xfrm>
        </p:spPr>
        <p:txBody>
          <a:bodyPr lIns="116427" tIns="58212" rIns="116427" bIns="58212"/>
          <a:lstStyle/>
          <a:p>
            <a:r>
              <a:rPr lang="zh-CN" altLang="en-US" dirty="0">
                <a:solidFill>
                  <a:schemeClr val="tx1"/>
                </a:solidFill>
              </a:rPr>
              <a:t>回顾：信息安全</a:t>
            </a:r>
            <a:endParaRPr lang="en-US" altLang="zh-CN" dirty="0">
              <a:solidFill>
                <a:schemeClr val="tx1"/>
              </a:solidFill>
            </a:endParaRPr>
          </a:p>
        </p:txBody>
      </p:sp>
      <p:pic>
        <p:nvPicPr>
          <p:cNvPr id="43011" name="Picture 3" descr="图片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336693" y="2620108"/>
            <a:ext cx="4779108" cy="417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4"/>
          <p:cNvSpPr txBox="1">
            <a:spLocks noChangeArrowheads="1"/>
          </p:cNvSpPr>
          <p:nvPr/>
        </p:nvSpPr>
        <p:spPr bwMode="auto">
          <a:xfrm>
            <a:off x="511908" y="947615"/>
            <a:ext cx="10992338" cy="147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955" b="1" dirty="0">
                <a:latin typeface="Arial" panose="020B0604020202020204" pitchFamily="34" charset="0"/>
                <a:ea typeface="宋体" panose="02010600030101010101" pitchFamily="2" charset="-122"/>
              </a:rPr>
              <a:t>信息本身的</a:t>
            </a:r>
            <a:r>
              <a:rPr lang="zh-CN" altLang="en-US" sz="2955" b="1" dirty="0">
                <a:solidFill>
                  <a:srgbClr val="FF0000"/>
                </a:solidFill>
                <a:latin typeface="Arial" panose="020B0604020202020204" pitchFamily="34" charset="0"/>
                <a:ea typeface="宋体" panose="02010600030101010101" pitchFamily="2" charset="-122"/>
              </a:rPr>
              <a:t>机密性（</a:t>
            </a:r>
            <a:r>
              <a:rPr lang="en-US" altLang="zh-CN" sz="2955" b="1" dirty="0">
                <a:solidFill>
                  <a:srgbClr val="FF0000"/>
                </a:solidFill>
                <a:latin typeface="Arial" panose="020B0604020202020204" pitchFamily="34" charset="0"/>
                <a:ea typeface="宋体" panose="02010600030101010101" pitchFamily="2" charset="-122"/>
              </a:rPr>
              <a:t>Confidentiality</a:t>
            </a:r>
            <a:r>
              <a:rPr lang="zh-CN" altLang="en-US" sz="2955" b="1" dirty="0">
                <a:solidFill>
                  <a:srgbClr val="FF0000"/>
                </a:solidFill>
                <a:latin typeface="Arial" panose="020B0604020202020204" pitchFamily="34" charset="0"/>
                <a:ea typeface="宋体" panose="02010600030101010101" pitchFamily="2" charset="-122"/>
              </a:rPr>
              <a:t>）</a:t>
            </a:r>
            <a:r>
              <a:rPr lang="zh-CN" altLang="en-US" sz="2955" b="1" dirty="0">
                <a:latin typeface="Arial" panose="020B0604020202020204" pitchFamily="34" charset="0"/>
                <a:ea typeface="宋体" panose="02010600030101010101" pitchFamily="2" charset="-122"/>
              </a:rPr>
              <a:t>、</a:t>
            </a:r>
            <a:r>
              <a:rPr lang="zh-CN" altLang="en-US" sz="2955" b="1" dirty="0">
                <a:solidFill>
                  <a:srgbClr val="FF0000"/>
                </a:solidFill>
                <a:latin typeface="Arial" panose="020B0604020202020204" pitchFamily="34" charset="0"/>
                <a:ea typeface="宋体" panose="02010600030101010101" pitchFamily="2" charset="-122"/>
              </a:rPr>
              <a:t>完整性（</a:t>
            </a:r>
            <a:r>
              <a:rPr lang="en-US" altLang="zh-CN" sz="2955" b="1" dirty="0">
                <a:solidFill>
                  <a:srgbClr val="FF0000"/>
                </a:solidFill>
                <a:latin typeface="Arial" panose="020B0604020202020204" pitchFamily="34" charset="0"/>
                <a:ea typeface="宋体" panose="02010600030101010101" pitchFamily="2" charset="-122"/>
              </a:rPr>
              <a:t>Integrity</a:t>
            </a:r>
            <a:r>
              <a:rPr lang="zh-CN" altLang="en-US" sz="2955" b="1" dirty="0">
                <a:solidFill>
                  <a:srgbClr val="FF0000"/>
                </a:solidFill>
                <a:latin typeface="Arial" panose="020B0604020202020204" pitchFamily="34" charset="0"/>
                <a:ea typeface="宋体" panose="02010600030101010101" pitchFamily="2" charset="-122"/>
              </a:rPr>
              <a:t>）</a:t>
            </a:r>
            <a:r>
              <a:rPr lang="zh-CN" altLang="en-US" sz="2955" b="1" dirty="0">
                <a:latin typeface="Arial" panose="020B0604020202020204" pitchFamily="34" charset="0"/>
                <a:ea typeface="宋体" panose="02010600030101010101" pitchFamily="2" charset="-122"/>
              </a:rPr>
              <a:t>和</a:t>
            </a:r>
            <a:r>
              <a:rPr lang="zh-CN" altLang="en-US" sz="2955" b="1" dirty="0">
                <a:solidFill>
                  <a:srgbClr val="FF0000"/>
                </a:solidFill>
                <a:latin typeface="Arial" panose="020B0604020202020204" pitchFamily="34" charset="0"/>
                <a:ea typeface="宋体" panose="02010600030101010101" pitchFamily="2" charset="-122"/>
              </a:rPr>
              <a:t>可用性（</a:t>
            </a:r>
            <a:r>
              <a:rPr lang="en-US" altLang="zh-CN" sz="2955" b="1" dirty="0">
                <a:solidFill>
                  <a:srgbClr val="FF0000"/>
                </a:solidFill>
                <a:latin typeface="Arial" panose="020B0604020202020204" pitchFamily="34" charset="0"/>
                <a:ea typeface="宋体" panose="02010600030101010101" pitchFamily="2" charset="-122"/>
              </a:rPr>
              <a:t>Availability</a:t>
            </a:r>
            <a:r>
              <a:rPr lang="zh-CN" altLang="en-US" sz="2955" b="1" dirty="0">
                <a:solidFill>
                  <a:srgbClr val="FF0000"/>
                </a:solidFill>
                <a:latin typeface="Arial" panose="020B0604020202020204" pitchFamily="34" charset="0"/>
                <a:ea typeface="宋体" panose="02010600030101010101" pitchFamily="2" charset="-122"/>
              </a:rPr>
              <a:t>）</a:t>
            </a:r>
            <a:r>
              <a:rPr lang="zh-CN" altLang="en-US" sz="2955" b="1" dirty="0">
                <a:latin typeface="Arial" panose="020B0604020202020204" pitchFamily="34" charset="0"/>
                <a:ea typeface="宋体" panose="02010600030101010101" pitchFamily="2" charset="-122"/>
              </a:rPr>
              <a:t>的保持，即防止未经授权使用信息、防止对信息的非法修改和破坏、确保及时可靠地使用信息。</a:t>
            </a:r>
            <a:endParaRPr lang="zh-CN" altLang="en-US" sz="2955" b="1" dirty="0">
              <a:latin typeface="Arial" panose="020B0604020202020204" pitchFamily="34" charset="0"/>
              <a:ea typeface="宋体" panose="02010600030101010101" pitchFamily="2" charset="-122"/>
            </a:endParaRPr>
          </a:p>
        </p:txBody>
      </p:sp>
      <p:sp>
        <p:nvSpPr>
          <p:cNvPr id="43013" name="Text Box 5"/>
          <p:cNvSpPr txBox="1">
            <a:spLocks noChangeArrowheads="1"/>
          </p:cNvSpPr>
          <p:nvPr/>
        </p:nvSpPr>
        <p:spPr bwMode="auto">
          <a:xfrm>
            <a:off x="511908" y="2897554"/>
            <a:ext cx="7621954" cy="3526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12503" tIns="56252" rIns="112503" bIns="56252">
            <a:spAutoFit/>
          </a:bodyPr>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955" b="1">
                <a:solidFill>
                  <a:srgbClr val="CC0000"/>
                </a:solidFill>
                <a:latin typeface="Arial" panose="020B0604020202020204" pitchFamily="34" charset="0"/>
                <a:ea typeface="宋体" panose="02010600030101010101" pitchFamily="2" charset="-122"/>
              </a:rPr>
              <a:t>机密性：</a:t>
            </a:r>
            <a:r>
              <a:rPr lang="zh-CN" altLang="en-US" sz="2955" b="1">
                <a:latin typeface="Arial" panose="020B0604020202020204" pitchFamily="34" charset="0"/>
                <a:ea typeface="宋体" panose="02010600030101010101" pitchFamily="2" charset="-122"/>
              </a:rPr>
              <a:t>确保信息没有非授权的泄漏，不被非授权的个人、组织和计算机程序使用</a:t>
            </a:r>
            <a:endParaRPr lang="zh-CN" altLang="en-US" sz="2955" b="1">
              <a:latin typeface="Arial" panose="020B0604020202020204" pitchFamily="34" charset="0"/>
              <a:ea typeface="宋体" panose="02010600030101010101" pitchFamily="2" charset="-122"/>
            </a:endParaRPr>
          </a:p>
          <a:p>
            <a:pPr eaLnBrk="1" hangingPunct="1">
              <a:spcBef>
                <a:spcPct val="50000"/>
              </a:spcBef>
              <a:buClrTx/>
              <a:buFontTx/>
              <a:buNone/>
            </a:pPr>
            <a:r>
              <a:rPr lang="zh-CN" altLang="en-US" sz="2955" b="1">
                <a:solidFill>
                  <a:srgbClr val="CC0000"/>
                </a:solidFill>
                <a:latin typeface="Arial" panose="020B0604020202020204" pitchFamily="34" charset="0"/>
                <a:ea typeface="宋体" panose="02010600030101010101" pitchFamily="2" charset="-122"/>
              </a:rPr>
              <a:t>完整性：</a:t>
            </a:r>
            <a:r>
              <a:rPr lang="zh-CN" altLang="en-US" sz="2955" b="1">
                <a:latin typeface="Arial" panose="020B0604020202020204" pitchFamily="34" charset="0"/>
                <a:ea typeface="宋体" panose="02010600030101010101" pitchFamily="2" charset="-122"/>
              </a:rPr>
              <a:t>确保信息没有遭到篡改和破坏</a:t>
            </a:r>
            <a:endParaRPr lang="zh-CN" altLang="en-US" sz="2955" b="1">
              <a:latin typeface="Arial" panose="020B0604020202020204" pitchFamily="34" charset="0"/>
              <a:ea typeface="宋体" panose="02010600030101010101" pitchFamily="2" charset="-122"/>
            </a:endParaRPr>
          </a:p>
          <a:p>
            <a:pPr eaLnBrk="1" hangingPunct="1">
              <a:spcBef>
                <a:spcPct val="50000"/>
              </a:spcBef>
              <a:buClrTx/>
              <a:buFontTx/>
              <a:buNone/>
            </a:pPr>
            <a:r>
              <a:rPr lang="zh-CN" altLang="en-US" sz="2955" b="1">
                <a:solidFill>
                  <a:srgbClr val="CC0000"/>
                </a:solidFill>
                <a:latin typeface="Arial" panose="020B0604020202020204" pitchFamily="34" charset="0"/>
                <a:ea typeface="宋体" panose="02010600030101010101" pitchFamily="2" charset="-122"/>
              </a:rPr>
              <a:t>可用性：</a:t>
            </a:r>
            <a:r>
              <a:rPr lang="zh-CN" altLang="en-US" sz="2955" b="1">
                <a:latin typeface="Arial" panose="020B0604020202020204" pitchFamily="34" charset="0"/>
                <a:ea typeface="宋体" panose="02010600030101010101" pitchFamily="2" charset="-122"/>
              </a:rPr>
              <a:t>确保拥有授权的用户或程序可以及时、正常使用信息</a:t>
            </a:r>
            <a:endParaRPr lang="zh-CN" altLang="en-US" sz="2955" b="1">
              <a:latin typeface="Arial" panose="020B0604020202020204" pitchFamily="34" charset="0"/>
              <a:ea typeface="宋体" panose="02010600030101010101" pitchFamily="2" charset="-122"/>
            </a:endParaRPr>
          </a:p>
          <a:p>
            <a:pPr eaLnBrk="1" hangingPunct="1">
              <a:spcBef>
                <a:spcPct val="50000"/>
              </a:spcBef>
              <a:buClrTx/>
              <a:buFontTx/>
              <a:buNone/>
            </a:pPr>
            <a:endParaRPr lang="en-US" altLang="zh-CN" sz="2955" b="1">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1664677" y="504093"/>
            <a:ext cx="9571893" cy="974969"/>
          </a:xfrm>
          <a:prstGeom prst="rect">
            <a:avLst/>
          </a:prstGeom>
          <a:noFill/>
          <a:ln w="9525">
            <a:noFill/>
            <a:miter lim="800000"/>
          </a:ln>
        </p:spPr>
        <p:txBody>
          <a:bodyPr lIns="116446" tIns="58222" rIns="116446" bIns="58222" anchor="ctr"/>
          <a:lstStyle/>
          <a:p>
            <a:pPr>
              <a:defRPr/>
            </a:pPr>
            <a:r>
              <a:rPr lang="en-US" altLang="zh-CN" sz="5415" b="1" kern="0" dirty="0">
                <a:latin typeface="+mj-lt"/>
                <a:ea typeface="+mj-ea"/>
                <a:cs typeface="+mj-cs"/>
              </a:rPr>
              <a:t>2020</a:t>
            </a:r>
            <a:r>
              <a:rPr lang="zh-CN" altLang="en-US" sz="5415" b="1" kern="0" dirty="0">
                <a:latin typeface="+mj-lt"/>
                <a:ea typeface="+mj-ea"/>
                <a:cs typeface="+mj-cs"/>
              </a:rPr>
              <a:t>年国际著名信息安全事件</a:t>
            </a:r>
            <a:endParaRPr lang="en-US" altLang="zh-CN" sz="5415" b="1" kern="0" dirty="0">
              <a:latin typeface="+mj-lt"/>
              <a:ea typeface="+mj-ea"/>
              <a:cs typeface="+mj-cs"/>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5115" y="1833746"/>
            <a:ext cx="7197013" cy="432024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3"/>
          <p:cNvSpPr>
            <a:spLocks noChangeArrowheads="1"/>
          </p:cNvSpPr>
          <p:nvPr/>
        </p:nvSpPr>
        <p:spPr bwMode="auto">
          <a:xfrm>
            <a:off x="423985" y="150446"/>
            <a:ext cx="10723653"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en-US" altLang="zh-CN" sz="2955" b="1" dirty="0">
                <a:solidFill>
                  <a:srgbClr val="0000FF"/>
                </a:solidFill>
                <a:latin typeface="Times New Roman" panose="02020603050405020304" pitchFamily="18" charset="0"/>
                <a:cs typeface="Times New Roman" panose="02020603050405020304" pitchFamily="18" charset="0"/>
              </a:rPr>
              <a:t>No.1:</a:t>
            </a:r>
            <a:r>
              <a:rPr lang="zh-CN" altLang="en-US" sz="2955" b="1" dirty="0">
                <a:solidFill>
                  <a:srgbClr val="0000FF"/>
                </a:solidFill>
                <a:latin typeface="Times New Roman" panose="02020603050405020304" pitchFamily="18" charset="0"/>
                <a:cs typeface="Times New Roman" panose="02020603050405020304" pitchFamily="18" charset="0"/>
              </a:rPr>
              <a:t> 雅诗兰黛泄露</a:t>
            </a:r>
            <a:r>
              <a:rPr lang="en-US" altLang="zh-CN" sz="2955" b="1" dirty="0">
                <a:solidFill>
                  <a:srgbClr val="0000FF"/>
                </a:solidFill>
                <a:latin typeface="Times New Roman" panose="02020603050405020304" pitchFamily="18" charset="0"/>
                <a:cs typeface="Times New Roman" panose="02020603050405020304" pitchFamily="18" charset="0"/>
              </a:rPr>
              <a:t>4.4</a:t>
            </a:r>
            <a:r>
              <a:rPr lang="zh-CN" altLang="en-US" sz="2955" b="1" dirty="0">
                <a:solidFill>
                  <a:srgbClr val="0000FF"/>
                </a:solidFill>
                <a:latin typeface="Times New Roman" panose="02020603050405020304" pitchFamily="18" charset="0"/>
                <a:cs typeface="Times New Roman" panose="02020603050405020304" pitchFamily="18" charset="0"/>
              </a:rPr>
              <a:t>亿数据记录，官方声明未涵盖客户信息</a:t>
            </a:r>
            <a:endParaRPr lang="zh-CN" altLang="en-US" sz="2955" b="1" dirty="0">
              <a:solidFill>
                <a:srgbClr val="0000FF"/>
              </a:solidFill>
              <a:latin typeface="Times New Roman" panose="02020603050405020304" pitchFamily="18" charset="0"/>
              <a:cs typeface="Times New Roman" panose="02020603050405020304" pitchFamily="18" charset="0"/>
            </a:endParaRPr>
          </a:p>
        </p:txBody>
      </p:sp>
      <p:sp>
        <p:nvSpPr>
          <p:cNvPr id="5" name="矩形 4"/>
          <p:cNvSpPr/>
          <p:nvPr/>
        </p:nvSpPr>
        <p:spPr>
          <a:xfrm>
            <a:off x="6532489" y="1354198"/>
            <a:ext cx="4615150" cy="2059940"/>
          </a:xfrm>
          <a:prstGeom prst="rect">
            <a:avLst/>
          </a:prstGeom>
        </p:spPr>
        <p:txBody>
          <a:bodyPr wrap="square">
            <a:spAutoFit/>
          </a:bodyPr>
          <a:lstStyle/>
          <a:p>
            <a:pPr>
              <a:defRPr/>
            </a:pP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2020</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年</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1</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月</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，安全研究员在网上发现了一个数据库，其中包含 “大量记录”。这个在网上公开的数据库没有密码保护，总共包含</a:t>
            </a:r>
            <a:r>
              <a:rPr lang="en-US" altLang="zh-CN" sz="2955"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440,336,852</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条记录。</a:t>
            </a:r>
            <a:endPar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grpSp>
        <p:nvGrpSpPr>
          <p:cNvPr id="7" name="组合 6"/>
          <p:cNvGrpSpPr/>
          <p:nvPr/>
        </p:nvGrpSpPr>
        <p:grpSpPr>
          <a:xfrm>
            <a:off x="520752" y="1235686"/>
            <a:ext cx="5486623" cy="5180501"/>
            <a:chOff x="423111" y="1646932"/>
            <a:chExt cx="4457881" cy="4209157"/>
          </a:xfrm>
          <a:scene3d>
            <a:camera prst="orthographicFront">
              <a:rot lat="0" lon="0" rev="0"/>
            </a:camera>
            <a:lightRig rig="contrasting" dir="t">
              <a:rot lat="0" lon="0" rev="1500000"/>
            </a:lightRig>
          </a:scene3d>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35974" y="1916832"/>
              <a:ext cx="2545018" cy="1880890"/>
            </a:xfrm>
            <a:prstGeom prst="rect">
              <a:avLst/>
            </a:prstGeom>
            <a:ln>
              <a:noFill/>
            </a:ln>
            <a:effectLst>
              <a:outerShdw blurRad="149987" dist="250190" dir="8460000" algn="ctr">
                <a:srgbClr val="000000">
                  <a:alpha val="28000"/>
                </a:srgbClr>
              </a:outerShdw>
            </a:effectLst>
            <a:sp3d prstMaterial="metal">
              <a:bevelT w="88900" h="88900"/>
            </a:sp3d>
          </p:spPr>
        </p:pic>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rcRect b="10083"/>
            <a:stretch>
              <a:fillRect/>
            </a:stretch>
          </p:blipFill>
          <p:spPr bwMode="auto">
            <a:xfrm>
              <a:off x="704528" y="3573016"/>
              <a:ext cx="3385660" cy="2283073"/>
            </a:xfrm>
            <a:prstGeom prst="rect">
              <a:avLst/>
            </a:prstGeom>
            <a:noFill/>
            <a:ln>
              <a:noFill/>
            </a:ln>
            <a:effectLst>
              <a:outerShdw blurRad="149987" dist="250190" dir="8460000" algn="ctr">
                <a:srgbClr val="000000">
                  <a:alpha val="28000"/>
                </a:srgbClr>
              </a:outerShdw>
            </a:effectLst>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111" y="1646932"/>
              <a:ext cx="1926084" cy="1926084"/>
            </a:xfrm>
            <a:prstGeom prst="rect">
              <a:avLst/>
            </a:prstGeom>
            <a:ln>
              <a:noFill/>
            </a:ln>
            <a:effectLst>
              <a:outerShdw blurRad="149987" dist="250190" dir="8460000" algn="ctr">
                <a:srgbClr val="000000">
                  <a:alpha val="28000"/>
                </a:srgbClr>
              </a:outerShdw>
            </a:effectLst>
            <a:sp3d prstMaterial="metal">
              <a:bevelT w="88900" h="88900"/>
            </a:sp3d>
          </p:spPr>
        </p:pic>
      </p:grpSp>
      <p:sp>
        <p:nvSpPr>
          <p:cNvPr id="8" name="矩形 7"/>
          <p:cNvSpPr/>
          <p:nvPr/>
        </p:nvSpPr>
        <p:spPr>
          <a:xfrm>
            <a:off x="6184625" y="4488377"/>
            <a:ext cx="5228889" cy="1906905"/>
          </a:xfrm>
          <a:prstGeom prst="rect">
            <a:avLst/>
          </a:prstGeom>
        </p:spPr>
        <p:txBody>
          <a:bodyPr wrap="square">
            <a:spAutoFit/>
          </a:bodyPr>
          <a:lstStyle/>
          <a:p>
            <a:r>
              <a:rPr lang="zh-CN" altLang="en-US" sz="1970" b="1" dirty="0">
                <a:latin typeface="方正大标宋简体" panose="02010601030101010101" pitchFamily="2" charset="-122"/>
                <a:ea typeface="方正大标宋简体" panose="02010601030101010101" pitchFamily="2" charset="-122"/>
                <a:cs typeface="Times New Roman" panose="02020603050405020304" pitchFamily="18" charset="0"/>
              </a:rPr>
              <a:t>以纯文本格式存储的用户电子邮件，包括来自</a:t>
            </a:r>
            <a:r>
              <a:rPr lang="en-US" altLang="zh-CN" sz="1970" b="1" dirty="0">
                <a:latin typeface="方正大标宋简体" panose="02010601030101010101" pitchFamily="2" charset="-122"/>
                <a:ea typeface="方正大标宋简体" panose="02010601030101010101" pitchFamily="2" charset="-122"/>
                <a:cs typeface="Times New Roman" panose="02020603050405020304" pitchFamily="18" charset="0"/>
              </a:rPr>
              <a:t>@ estee.com</a:t>
            </a:r>
            <a:r>
              <a:rPr lang="zh-CN" altLang="en-US" sz="1970" b="1" dirty="0">
                <a:latin typeface="方正大标宋简体" panose="02010601030101010101" pitchFamily="2" charset="-122"/>
                <a:ea typeface="方正大标宋简体" panose="02010601030101010101" pitchFamily="2" charset="-122"/>
                <a:cs typeface="Times New Roman" panose="02020603050405020304" pitchFamily="18" charset="0"/>
              </a:rPr>
              <a:t>域的内部电子邮件地址；内部大量</a:t>
            </a:r>
            <a:r>
              <a:rPr lang="en-US" altLang="zh-CN" sz="1970" b="1" dirty="0">
                <a:latin typeface="方正大标宋简体" panose="02010601030101010101" pitchFamily="2" charset="-122"/>
                <a:ea typeface="方正大标宋简体" panose="02010601030101010101" pitchFamily="2" charset="-122"/>
                <a:cs typeface="Times New Roman" panose="02020603050405020304" pitchFamily="18" charset="0"/>
              </a:rPr>
              <a:t>IT</a:t>
            </a:r>
            <a:r>
              <a:rPr lang="zh-CN" altLang="en-US" sz="1970" b="1" dirty="0">
                <a:latin typeface="方正大标宋简体" panose="02010601030101010101" pitchFamily="2" charset="-122"/>
                <a:ea typeface="方正大标宋简体" panose="02010601030101010101" pitchFamily="2" charset="-122"/>
                <a:cs typeface="Times New Roman" panose="02020603050405020304" pitchFamily="18" charset="0"/>
              </a:rPr>
              <a:t>日志，包括生产、审核、错误、内容管理系统和中间件报告；参考报告和其他内部文件；对公司内部使用的</a:t>
            </a:r>
            <a:r>
              <a:rPr lang="en-US" altLang="zh-CN" sz="1970" b="1" dirty="0">
                <a:latin typeface="方正大标宋简体" panose="02010601030101010101" pitchFamily="2" charset="-122"/>
                <a:ea typeface="方正大标宋简体" panose="02010601030101010101" pitchFamily="2" charset="-122"/>
                <a:cs typeface="Times New Roman" panose="02020603050405020304" pitchFamily="18" charset="0"/>
              </a:rPr>
              <a:t>IP</a:t>
            </a:r>
            <a:r>
              <a:rPr lang="zh-CN" altLang="en-US" sz="1970" b="1" dirty="0">
                <a:latin typeface="方正大标宋简体" panose="02010601030101010101" pitchFamily="2" charset="-122"/>
                <a:ea typeface="方正大标宋简体" panose="02010601030101010101" pitchFamily="2" charset="-122"/>
                <a:cs typeface="Times New Roman" panose="02020603050405020304" pitchFamily="18" charset="0"/>
              </a:rPr>
              <a:t>地址，端口、路径和存储的引用等。</a:t>
            </a:r>
            <a:endParaRPr lang="zh-CN" altLang="en-US" sz="1970" b="1"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3985" y="238370"/>
            <a:ext cx="11590215" cy="546100"/>
          </a:xfrm>
          <a:prstGeom prst="rect">
            <a:avLst/>
          </a:prstGeom>
        </p:spPr>
        <p:txBody>
          <a:bodyPr>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No.2: </a:t>
            </a:r>
            <a:r>
              <a:rPr lang="zh-CN" altLang="en-US" sz="2955" b="1" dirty="0">
                <a:solidFill>
                  <a:srgbClr val="0000FF"/>
                </a:solidFill>
                <a:latin typeface="Times New Roman" panose="02020603050405020304" pitchFamily="18" charset="0"/>
                <a:ea typeface="+mn-ea"/>
                <a:cs typeface="Times New Roman" panose="02020603050405020304" pitchFamily="18" charset="0"/>
              </a:rPr>
              <a:t>迪卡侬</a:t>
            </a:r>
            <a:r>
              <a:rPr lang="en-US" altLang="zh-CN" sz="2955" b="1" dirty="0">
                <a:solidFill>
                  <a:srgbClr val="0000FF"/>
                </a:solidFill>
                <a:latin typeface="Times New Roman" panose="02020603050405020304" pitchFamily="18" charset="0"/>
                <a:ea typeface="+mn-ea"/>
                <a:cs typeface="Times New Roman" panose="02020603050405020304" pitchFamily="18" charset="0"/>
              </a:rPr>
              <a:t>1.23</a:t>
            </a:r>
            <a:r>
              <a:rPr lang="zh-CN" altLang="en-US" sz="2955" b="1" dirty="0">
                <a:solidFill>
                  <a:srgbClr val="0000FF"/>
                </a:solidFill>
                <a:latin typeface="Times New Roman" panose="02020603050405020304" pitchFamily="18" charset="0"/>
                <a:ea typeface="+mn-ea"/>
                <a:cs typeface="Times New Roman" panose="02020603050405020304" pitchFamily="18" charset="0"/>
              </a:rPr>
              <a:t>亿个人信息泄露</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8" name="矩形 7"/>
          <p:cNvSpPr/>
          <p:nvPr/>
        </p:nvSpPr>
        <p:spPr>
          <a:xfrm>
            <a:off x="601236" y="1311048"/>
            <a:ext cx="5830277" cy="1226185"/>
          </a:xfrm>
          <a:prstGeom prst="rect">
            <a:avLst/>
          </a:prstGeom>
        </p:spPr>
        <p:txBody>
          <a:bodyPr>
            <a:spAutoFit/>
          </a:bodyPr>
          <a:lstStyle/>
          <a:p>
            <a:pPr>
              <a:defRPr/>
            </a:pP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2020</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年</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月</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24</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日</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公布。个人信息数据库泄露。该数据库属于迪卡侬西班牙和迪卡侬英国公司。</a:t>
            </a:r>
            <a:endParaRPr lang="en-US" altLang="zh-CN" sz="2460" b="1" dirty="0">
              <a:latin typeface="Times New Roman" panose="02020603050405020304" pitchFamily="18" charset="0"/>
              <a:ea typeface="+mn-ea"/>
              <a:cs typeface="Times New Roman" panose="02020603050405020304" pitchFamily="18" charset="0"/>
            </a:endParaRPr>
          </a:p>
        </p:txBody>
      </p:sp>
      <p:sp>
        <p:nvSpPr>
          <p:cNvPr id="5" name="矩形 4"/>
          <p:cNvSpPr/>
          <p:nvPr/>
        </p:nvSpPr>
        <p:spPr>
          <a:xfrm>
            <a:off x="601236" y="3429000"/>
            <a:ext cx="6096000" cy="106680"/>
          </a:xfrm>
          <a:prstGeom prst="rect">
            <a:avLst/>
          </a:prstGeom>
        </p:spPr>
        <p:txBody>
          <a:bodyPr>
            <a:spAutoFit/>
          </a:bodyPr>
          <a:lstStyle/>
          <a:p>
            <a:r>
              <a:rPr lang="zh-CN" altLang="en-US" sz="100" dirty="0">
                <a:latin typeface="方正大标宋简体" panose="02010601030101010101" pitchFamily="2" charset="-122"/>
                <a:ea typeface="方正大标宋简体" panose="02010601030101010101" pitchFamily="2" charset="-122"/>
              </a:rPr>
              <a:t>泄露的数据涉及员工系统用户名、未加密的密码、</a:t>
            </a:r>
            <a:r>
              <a:rPr lang="en-US" altLang="zh-CN" sz="100" dirty="0">
                <a:latin typeface="方正大标宋简体" panose="02010601030101010101" pitchFamily="2" charset="-122"/>
                <a:ea typeface="方正大标宋简体" panose="02010601030101010101" pitchFamily="2" charset="-122"/>
              </a:rPr>
              <a:t>API</a:t>
            </a:r>
            <a:r>
              <a:rPr lang="zh-CN" altLang="en-US" sz="100" dirty="0">
                <a:latin typeface="方正大标宋简体" panose="02010601030101010101" pitchFamily="2" charset="-122"/>
                <a:ea typeface="方正大标宋简体" panose="02010601030101010101" pitchFamily="2" charset="-122"/>
              </a:rPr>
              <a:t>日志、</a:t>
            </a:r>
            <a:r>
              <a:rPr lang="en-US" altLang="zh-CN" sz="100" dirty="0">
                <a:latin typeface="方正大标宋简体" panose="02010601030101010101" pitchFamily="2" charset="-122"/>
                <a:ea typeface="方正大标宋简体" panose="02010601030101010101" pitchFamily="2" charset="-122"/>
              </a:rPr>
              <a:t>API</a:t>
            </a:r>
            <a:r>
              <a:rPr lang="zh-CN" altLang="en-US" sz="100" dirty="0">
                <a:latin typeface="方正大标宋简体" panose="02010601030101010101" pitchFamily="2" charset="-122"/>
                <a:ea typeface="方正大标宋简体" panose="02010601030101010101" pitchFamily="2" charset="-122"/>
              </a:rPr>
              <a:t>用户名、个人身份信息等。对于迪卡侬员工来说，涉及的信息包括姓名、地址、电话号码、生日、学历和合同明细，而对于客户来说，涉及的信息包括未加密的电子邮件、登录信息和</a:t>
            </a:r>
            <a:r>
              <a:rPr lang="en-US" altLang="zh-CN" sz="100" dirty="0">
                <a:latin typeface="方正大标宋简体" panose="02010601030101010101" pitchFamily="2" charset="-122"/>
                <a:ea typeface="方正大标宋简体" panose="02010601030101010101" pitchFamily="2" charset="-122"/>
              </a:rPr>
              <a:t>IP</a:t>
            </a:r>
            <a:r>
              <a:rPr lang="zh-CN" altLang="en-US" sz="100" dirty="0">
                <a:latin typeface="方正大标宋简体" panose="02010601030101010101" pitchFamily="2" charset="-122"/>
                <a:ea typeface="方正大标宋简体" panose="02010601030101010101" pitchFamily="2" charset="-122"/>
              </a:rPr>
              <a:t>地址。</a:t>
            </a:r>
            <a:endParaRPr lang="zh-CN" altLang="en-US" sz="100" dirty="0">
              <a:latin typeface="方正大标宋简体" panose="02010601030101010101" pitchFamily="2" charset="-122"/>
              <a:ea typeface="方正大标宋简体" panose="02010601030101010101" pitchFamily="2" charset="-122"/>
            </a:endParaRPr>
          </a:p>
        </p:txBody>
      </p:sp>
      <p:grpSp>
        <p:nvGrpSpPr>
          <p:cNvPr id="10" name="组合 9"/>
          <p:cNvGrpSpPr/>
          <p:nvPr/>
        </p:nvGrpSpPr>
        <p:grpSpPr>
          <a:xfrm>
            <a:off x="6805002" y="639742"/>
            <a:ext cx="4512846" cy="5815439"/>
            <a:chOff x="5529064" y="1162728"/>
            <a:chExt cx="3666687" cy="4725044"/>
          </a:xfrm>
          <a:scene3d>
            <a:camera prst="orthographicFront">
              <a:rot lat="0" lon="0" rev="0"/>
            </a:camera>
            <a:lightRig rig="contrasting" dir="t">
              <a:rot lat="0" lon="0" rev="1500000"/>
            </a:lightRig>
          </a:scene3d>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529064" y="1162728"/>
              <a:ext cx="3666687" cy="2420788"/>
            </a:xfrm>
            <a:prstGeom prst="rect">
              <a:avLst/>
            </a:prstGeom>
            <a:ln>
              <a:noFill/>
            </a:ln>
            <a:effectLst>
              <a:outerShdw blurRad="149987" dist="250190" dir="8460000" algn="ctr">
                <a:srgbClr val="000000">
                  <a:alpha val="28000"/>
                </a:srgbClr>
              </a:outerShdw>
            </a:effectLst>
            <a:sp3d prstMaterial="metal">
              <a:bevelT w="88900" h="88900"/>
            </a:sp3d>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29064" y="3583516"/>
              <a:ext cx="3666687" cy="2304256"/>
            </a:xfrm>
            <a:prstGeom prst="rect">
              <a:avLst/>
            </a:prstGeom>
            <a:noFill/>
            <a:ln>
              <a:noFill/>
            </a:ln>
            <a:effectLst>
              <a:outerShdw blurRad="149987" dist="250190" dir="8460000" algn="ctr">
                <a:srgbClr val="000000">
                  <a:alpha val="28000"/>
                </a:srgbClr>
              </a:outerShdw>
            </a:effectLst>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矩形 1"/>
          <p:cNvSpPr>
            <a:spLocks noChangeArrowheads="1"/>
          </p:cNvSpPr>
          <p:nvPr/>
        </p:nvSpPr>
        <p:spPr bwMode="auto">
          <a:xfrm>
            <a:off x="689708" y="238370"/>
            <a:ext cx="10634784" cy="1001395"/>
          </a:xfrm>
          <a:prstGeom prst="rect">
            <a:avLst/>
          </a:prstGeom>
        </p:spPr>
        <p:txBody>
          <a:bodyPr>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No.3</a:t>
            </a:r>
            <a:r>
              <a:rPr lang="zh-CN" altLang="zh-CN" sz="2955" b="1" dirty="0">
                <a:solidFill>
                  <a:srgbClr val="0000FF"/>
                </a:solidFill>
                <a:latin typeface="Times New Roman" panose="02020603050405020304" pitchFamily="18" charset="0"/>
                <a:ea typeface="+mn-ea"/>
                <a:cs typeface="Times New Roman" panose="02020603050405020304" pitchFamily="18" charset="0"/>
              </a:rPr>
              <a:t>：</a:t>
            </a:r>
            <a:r>
              <a:rPr lang="zh-CN" altLang="en-US" sz="2955" b="1" dirty="0">
                <a:solidFill>
                  <a:srgbClr val="0000FF"/>
                </a:solidFill>
                <a:latin typeface="Times New Roman" panose="02020603050405020304" pitchFamily="18" charset="0"/>
                <a:ea typeface="+mn-ea"/>
                <a:cs typeface="Times New Roman" panose="02020603050405020304" pitchFamily="18" charset="0"/>
              </a:rPr>
              <a:t>号称“世界上最安全的在线备份”云备份，暴露了超过</a:t>
            </a:r>
            <a:r>
              <a:rPr lang="en-US" altLang="zh-CN" sz="2955" b="1" dirty="0">
                <a:solidFill>
                  <a:srgbClr val="0000FF"/>
                </a:solidFill>
                <a:latin typeface="Times New Roman" panose="02020603050405020304" pitchFamily="18" charset="0"/>
                <a:ea typeface="+mn-ea"/>
                <a:cs typeface="Times New Roman" panose="02020603050405020304" pitchFamily="18" charset="0"/>
              </a:rPr>
              <a:t>1.35</a:t>
            </a:r>
            <a:r>
              <a:rPr lang="zh-CN" altLang="en-US" sz="2955" b="1" dirty="0">
                <a:solidFill>
                  <a:srgbClr val="0000FF"/>
                </a:solidFill>
                <a:latin typeface="Times New Roman" panose="02020603050405020304" pitchFamily="18" charset="0"/>
                <a:ea typeface="+mn-ea"/>
                <a:cs typeface="Times New Roman" panose="02020603050405020304" pitchFamily="18" charset="0"/>
              </a:rPr>
              <a:t>亿在线客户的个人记录</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69636" name="矩形 3"/>
          <p:cNvSpPr>
            <a:spLocks noChangeArrowheads="1"/>
          </p:cNvSpPr>
          <p:nvPr/>
        </p:nvSpPr>
        <p:spPr bwMode="auto">
          <a:xfrm>
            <a:off x="1044484" y="1976284"/>
            <a:ext cx="4962617" cy="273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buNone/>
            </a:pPr>
            <a:r>
              <a:rPr lang="en-US" altLang="zh-CN" sz="2460" b="1" dirty="0">
                <a:solidFill>
                  <a:srgbClr val="0000FF"/>
                </a:solidFill>
                <a:latin typeface="Times New Roman" panose="02020603050405020304" pitchFamily="18" charset="0"/>
                <a:cs typeface="Times New Roman" panose="02020603050405020304" pitchFamily="18" charset="0"/>
              </a:rPr>
              <a:t>2020</a:t>
            </a:r>
            <a:r>
              <a:rPr lang="zh-CN" altLang="en-US" sz="2460" b="1" dirty="0">
                <a:solidFill>
                  <a:srgbClr val="0000FF"/>
                </a:solidFill>
                <a:latin typeface="Times New Roman" panose="02020603050405020304" pitchFamily="18" charset="0"/>
                <a:cs typeface="Times New Roman" panose="02020603050405020304" pitchFamily="18" charset="0"/>
              </a:rPr>
              <a:t>年</a:t>
            </a:r>
            <a:r>
              <a:rPr lang="en-US" altLang="zh-CN" sz="2460" b="1" dirty="0">
                <a:solidFill>
                  <a:srgbClr val="0000FF"/>
                </a:solidFill>
                <a:latin typeface="Times New Roman" panose="02020603050405020304" pitchFamily="18" charset="0"/>
                <a:cs typeface="Times New Roman" panose="02020603050405020304" pitchFamily="18" charset="0"/>
              </a:rPr>
              <a:t>4</a:t>
            </a:r>
            <a:r>
              <a:rPr lang="zh-CN" altLang="en-US" sz="2460" b="1" dirty="0">
                <a:solidFill>
                  <a:srgbClr val="0000FF"/>
                </a:solidFill>
                <a:latin typeface="Times New Roman" panose="02020603050405020304" pitchFamily="18" charset="0"/>
                <a:cs typeface="Times New Roman" panose="02020603050405020304" pitchFamily="18" charset="0"/>
              </a:rPr>
              <a:t>月</a:t>
            </a:r>
            <a:r>
              <a:rPr lang="zh-CN" altLang="en-US" sz="2460" b="1" dirty="0">
                <a:latin typeface="Times New Roman" panose="02020603050405020304" pitchFamily="18" charset="0"/>
                <a:cs typeface="Times New Roman" panose="02020603050405020304" pitchFamily="18" charset="0"/>
              </a:rPr>
              <a:t>，号称“世界上最安全的在线备份”云备份提供商</a:t>
            </a:r>
            <a:r>
              <a:rPr lang="en-US" altLang="zh-CN" sz="2460" b="1" dirty="0">
                <a:latin typeface="Times New Roman" panose="02020603050405020304" pitchFamily="18" charset="0"/>
                <a:cs typeface="Times New Roman" panose="02020603050405020304" pitchFamily="18" charset="0"/>
              </a:rPr>
              <a:t>SOS</a:t>
            </a:r>
            <a:r>
              <a:rPr lang="zh-CN" altLang="en-US" sz="2460" b="1" dirty="0">
                <a:latin typeface="Times New Roman" panose="02020603050405020304" pitchFamily="18" charset="0"/>
                <a:cs typeface="Times New Roman" panose="02020603050405020304" pitchFamily="18" charset="0"/>
              </a:rPr>
              <a:t>，发生了超大规模数据泄露。</a:t>
            </a:r>
            <a:r>
              <a:rPr lang="en-US" altLang="zh-CN" sz="2460" b="1" dirty="0">
                <a:latin typeface="Times New Roman" panose="02020603050405020304" pitchFamily="18" charset="0"/>
                <a:cs typeface="Times New Roman" panose="02020603050405020304" pitchFamily="18" charset="0"/>
              </a:rPr>
              <a:t>SOS</a:t>
            </a:r>
            <a:r>
              <a:rPr lang="zh-CN" altLang="en-US" sz="2460" b="1" dirty="0">
                <a:latin typeface="Times New Roman" panose="02020603050405020304" pitchFamily="18" charset="0"/>
                <a:cs typeface="Times New Roman" panose="02020603050405020304" pitchFamily="18" charset="0"/>
              </a:rPr>
              <a:t>在世界各大洲都有数据中心，规模很大，实力很强。</a:t>
            </a:r>
            <a:r>
              <a:rPr lang="en-US" altLang="zh-CN" sz="2460" b="1" dirty="0">
                <a:latin typeface="Times New Roman" panose="02020603050405020304" pitchFamily="18" charset="0"/>
                <a:cs typeface="Times New Roman" panose="02020603050405020304" pitchFamily="18" charset="0"/>
              </a:rPr>
              <a:t>SOS</a:t>
            </a:r>
            <a:r>
              <a:rPr lang="zh-CN" altLang="en-US" sz="2460" b="1" dirty="0">
                <a:latin typeface="Times New Roman" panose="02020603050405020304" pitchFamily="18" charset="0"/>
                <a:cs typeface="Times New Roman" panose="02020603050405020304" pitchFamily="18" charset="0"/>
              </a:rPr>
              <a:t>在线备份已经暴露了超过</a:t>
            </a:r>
            <a:r>
              <a:rPr lang="en-US" altLang="zh-CN" sz="2460" b="1" dirty="0">
                <a:latin typeface="Times New Roman" panose="02020603050405020304" pitchFamily="18" charset="0"/>
                <a:cs typeface="Times New Roman" panose="02020603050405020304" pitchFamily="18" charset="0"/>
              </a:rPr>
              <a:t>1.35</a:t>
            </a:r>
            <a:r>
              <a:rPr lang="zh-CN" altLang="en-US" sz="2460" b="1" dirty="0">
                <a:latin typeface="Times New Roman" panose="02020603050405020304" pitchFamily="18" charset="0"/>
                <a:cs typeface="Times New Roman" panose="02020603050405020304" pitchFamily="18" charset="0"/>
              </a:rPr>
              <a:t>亿在线客户的个人记录。</a:t>
            </a:r>
            <a:endParaRPr lang="zh-CN" altLang="en-US" sz="246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835202" y="5757320"/>
            <a:ext cx="10046560" cy="622300"/>
          </a:xfrm>
          <a:prstGeom prst="rect">
            <a:avLst/>
          </a:prstGeom>
        </p:spPr>
        <p:txBody>
          <a:bodyPr wrap="square">
            <a:spAutoFit/>
          </a:bodyPr>
          <a:lstStyle/>
          <a:p>
            <a:r>
              <a:rPr lang="zh-CN" altLang="en-US" sz="100" dirty="0">
                <a:latin typeface="方正大标宋简体" panose="02010601030101010101" pitchFamily="2" charset="-122"/>
                <a:ea typeface="方正大标宋简体" panose="02010601030101010101" pitchFamily="2" charset="-122"/>
              </a:rPr>
              <a:t>研究人员总共确定了大约</a:t>
            </a:r>
            <a:r>
              <a:rPr lang="en-US" altLang="zh-CN" sz="3445" dirty="0">
                <a:solidFill>
                  <a:srgbClr val="FF0000"/>
                </a:solidFill>
                <a:latin typeface="方正大标宋简体" panose="02010601030101010101" pitchFamily="2" charset="-122"/>
                <a:ea typeface="方正大标宋简体" panose="02010601030101010101" pitchFamily="2" charset="-122"/>
              </a:rPr>
              <a:t>70GB</a:t>
            </a:r>
            <a:r>
              <a:rPr lang="zh-CN" altLang="en-US" sz="100" dirty="0">
                <a:latin typeface="方正大标宋简体" panose="02010601030101010101" pitchFamily="2" charset="-122"/>
                <a:ea typeface="方正大标宋简体" panose="02010601030101010101" pitchFamily="2" charset="-122"/>
              </a:rPr>
              <a:t>的数据属于公司的用户帐户。这包括：全名、用户名、电话号码、电子邮件地址、公司内部详细信息（公司客户）。</a:t>
            </a:r>
            <a:endParaRPr lang="zh-CN" altLang="en-US" sz="100" dirty="0">
              <a:latin typeface="方正大标宋简体" panose="02010601030101010101" pitchFamily="2" charset="-122"/>
              <a:ea typeface="方正大标宋简体" panose="02010601030101010101" pitchFamily="2" charset="-122"/>
            </a:endParaRPr>
          </a:p>
        </p:txBody>
      </p:sp>
      <p:grpSp>
        <p:nvGrpSpPr>
          <p:cNvPr id="9" name="组合 8"/>
          <p:cNvGrpSpPr/>
          <p:nvPr/>
        </p:nvGrpSpPr>
        <p:grpSpPr>
          <a:xfrm>
            <a:off x="6273250" y="1093741"/>
            <a:ext cx="5849540" cy="4663579"/>
            <a:chOff x="4880769" y="1498285"/>
            <a:chExt cx="4752751" cy="3789158"/>
          </a:xfrm>
          <a:scene3d>
            <a:camera prst="orthographicFront">
              <a:rot lat="0" lon="0" rev="0"/>
            </a:camera>
            <a:lightRig rig="contrasting" dir="t">
              <a:rot lat="0" lon="0" rev="1500000"/>
            </a:lightRig>
          </a:scene3d>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80769" y="1498285"/>
              <a:ext cx="3316947" cy="3789158"/>
            </a:xfrm>
            <a:prstGeom prst="rect">
              <a:avLst/>
            </a:prstGeom>
            <a:ln>
              <a:noFill/>
            </a:ln>
            <a:effectLst>
              <a:outerShdw blurRad="149987" dist="250190" dir="8460000" algn="ctr">
                <a:srgbClr val="000000">
                  <a:alpha val="28000"/>
                </a:srgbClr>
              </a:outerShdw>
            </a:effectLst>
            <a:sp3d prstMaterial="metal">
              <a:bevelT w="88900" h="88900"/>
            </a:sp3d>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5288" y="1498285"/>
              <a:ext cx="2088232" cy="1426659"/>
            </a:xfrm>
            <a:prstGeom prst="rect">
              <a:avLst/>
            </a:prstGeom>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9636"/>
                                        </p:tgtEl>
                                        <p:attrNameLst>
                                          <p:attrName>style.visibility</p:attrName>
                                        </p:attrNameLst>
                                      </p:cBhvr>
                                      <p:to>
                                        <p:strVal val="visible"/>
                                      </p:to>
                                    </p:set>
                                    <p:anim calcmode="lin" valueType="num">
                                      <p:cBhvr additive="base">
                                        <p:cTn id="7" dur="1000" fill="hold"/>
                                        <p:tgtEl>
                                          <p:spTgt spid="69636"/>
                                        </p:tgtEl>
                                        <p:attrNameLst>
                                          <p:attrName>ppt_x</p:attrName>
                                        </p:attrNameLst>
                                      </p:cBhvr>
                                      <p:tavLst>
                                        <p:tav tm="0">
                                          <p:val>
                                            <p:strVal val="#ppt_x"/>
                                          </p:val>
                                        </p:tav>
                                        <p:tav tm="100000">
                                          <p:val>
                                            <p:strVal val="#ppt_x"/>
                                          </p:val>
                                        </p:tav>
                                      </p:tavLst>
                                    </p:anim>
                                    <p:anim calcmode="lin" valueType="num">
                                      <p:cBhvr additive="base">
                                        <p:cTn id="8" dur="1000" fill="hold"/>
                                        <p:tgtEl>
                                          <p:spTgt spid="6963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1785" y="150446"/>
            <a:ext cx="10900508" cy="546100"/>
          </a:xfrm>
          <a:prstGeom prst="rect">
            <a:avLst/>
          </a:prstGeom>
        </p:spPr>
        <p:txBody>
          <a:bodyPr>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No.4: </a:t>
            </a:r>
            <a:r>
              <a:rPr lang="zh-CN" altLang="en-US" sz="2955" b="1" dirty="0">
                <a:solidFill>
                  <a:srgbClr val="0000FF"/>
                </a:solidFill>
                <a:latin typeface="Times New Roman" panose="02020603050405020304" pitchFamily="18" charset="0"/>
                <a:ea typeface="+mn-ea"/>
                <a:cs typeface="Times New Roman" panose="02020603050405020304" pitchFamily="18" charset="0"/>
              </a:rPr>
              <a:t>委内瑞拉国家电网干线遭攻击，全国大面积停电</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5" name="矩形 4"/>
          <p:cNvSpPr/>
          <p:nvPr/>
        </p:nvSpPr>
        <p:spPr>
          <a:xfrm>
            <a:off x="6805002" y="1213369"/>
            <a:ext cx="4970830" cy="4254500"/>
          </a:xfrm>
          <a:prstGeom prst="rect">
            <a:avLst/>
          </a:prstGeom>
        </p:spPr>
        <p:txBody>
          <a:bodyPr wrap="square">
            <a:spAutoFit/>
          </a:bodyPr>
          <a:lstStyle/>
          <a:p>
            <a:pPr>
              <a:defRPr/>
            </a:pPr>
            <a:r>
              <a:rPr lang="en-US" altLang="zh-CN" sz="2460" b="1" dirty="0">
                <a:solidFill>
                  <a:srgbClr val="0000FF"/>
                </a:solidFill>
                <a:latin typeface="Times New Roman" panose="02020603050405020304" pitchFamily="18" charset="0"/>
                <a:ea typeface="+mn-ea"/>
                <a:cs typeface="Times New Roman" panose="02020603050405020304" pitchFamily="18" charset="0"/>
              </a:rPr>
              <a:t>2020</a:t>
            </a:r>
            <a:r>
              <a:rPr lang="zh-CN" altLang="en-US" sz="2460" b="1" dirty="0">
                <a:solidFill>
                  <a:srgbClr val="0000FF"/>
                </a:solidFill>
                <a:latin typeface="Times New Roman" panose="02020603050405020304" pitchFamily="18" charset="0"/>
                <a:ea typeface="+mn-ea"/>
                <a:cs typeface="Times New Roman" panose="02020603050405020304" pitchFamily="18" charset="0"/>
              </a:rPr>
              <a:t>年</a:t>
            </a:r>
            <a:r>
              <a:rPr lang="en-US" altLang="zh-CN" sz="2460" b="1" dirty="0">
                <a:solidFill>
                  <a:srgbClr val="0000FF"/>
                </a:solidFill>
                <a:latin typeface="Times New Roman" panose="02020603050405020304" pitchFamily="18" charset="0"/>
                <a:ea typeface="+mn-ea"/>
                <a:cs typeface="Times New Roman" panose="02020603050405020304" pitchFamily="18" charset="0"/>
              </a:rPr>
              <a:t>5</a:t>
            </a:r>
            <a:r>
              <a:rPr lang="zh-CN" altLang="en-US" sz="2460" b="1" dirty="0">
                <a:solidFill>
                  <a:srgbClr val="0000FF"/>
                </a:solidFill>
                <a:latin typeface="Times New Roman" panose="02020603050405020304" pitchFamily="18" charset="0"/>
                <a:ea typeface="+mn-ea"/>
                <a:cs typeface="Times New Roman" panose="02020603050405020304" pitchFamily="18" charset="0"/>
              </a:rPr>
              <a:t>月</a:t>
            </a:r>
            <a:r>
              <a:rPr lang="zh-CN" altLang="en-US" sz="2460" b="1" dirty="0">
                <a:latin typeface="Times New Roman" panose="02020603050405020304" pitchFamily="18" charset="0"/>
                <a:ea typeface="+mn-ea"/>
                <a:cs typeface="Times New Roman" panose="02020603050405020304" pitchFamily="18" charset="0"/>
              </a:rPr>
              <a:t>，委内瑞拉副总统罗德里格斯宣布消息，委内瑞拉国家电网干线遭到攻击，造成全国大面积停电。委国家电力公司组织人力全力抢修，部分地区已经恢复供电。罗德里格斯表示，国家电网的</a:t>
            </a:r>
            <a:r>
              <a:rPr lang="en-US" altLang="zh-CN" sz="3940" b="1" dirty="0">
                <a:solidFill>
                  <a:srgbClr val="FF0000"/>
                </a:solidFill>
                <a:latin typeface="Times New Roman" panose="02020603050405020304" pitchFamily="18" charset="0"/>
                <a:ea typeface="+mn-ea"/>
                <a:cs typeface="Times New Roman" panose="02020603050405020304" pitchFamily="18" charset="0"/>
              </a:rPr>
              <a:t>765</a:t>
            </a:r>
            <a:r>
              <a:rPr lang="zh-CN" altLang="en-US" sz="3940" b="1" dirty="0">
                <a:solidFill>
                  <a:srgbClr val="FF0000"/>
                </a:solidFill>
                <a:latin typeface="Times New Roman" panose="02020603050405020304" pitchFamily="18" charset="0"/>
                <a:ea typeface="+mn-ea"/>
                <a:cs typeface="Times New Roman" panose="02020603050405020304" pitchFamily="18" charset="0"/>
              </a:rPr>
              <a:t>干线</a:t>
            </a:r>
            <a:r>
              <a:rPr lang="zh-CN" altLang="en-US" sz="2460" b="1" dirty="0">
                <a:latin typeface="Times New Roman" panose="02020603050405020304" pitchFamily="18" charset="0"/>
                <a:ea typeface="+mn-ea"/>
                <a:cs typeface="Times New Roman" panose="02020603050405020304" pitchFamily="18" charset="0"/>
              </a:rPr>
              <a:t>遭到攻击。这也是在委挫败雇佣兵入侵委内瑞拉数小时后发生的。除首都加拉加斯外，全国</a:t>
            </a:r>
            <a:r>
              <a:rPr lang="en-US" altLang="zh-CN" sz="3445" b="1" dirty="0">
                <a:solidFill>
                  <a:srgbClr val="FF0000"/>
                </a:solidFill>
                <a:latin typeface="Times New Roman" panose="02020603050405020304" pitchFamily="18" charset="0"/>
                <a:ea typeface="+mn-ea"/>
                <a:cs typeface="Times New Roman" panose="02020603050405020304" pitchFamily="18" charset="0"/>
              </a:rPr>
              <a:t>11</a:t>
            </a:r>
            <a:r>
              <a:rPr lang="zh-CN" altLang="en-US" sz="3445" b="1" dirty="0">
                <a:solidFill>
                  <a:srgbClr val="FF0000"/>
                </a:solidFill>
                <a:latin typeface="Times New Roman" panose="02020603050405020304" pitchFamily="18" charset="0"/>
                <a:ea typeface="+mn-ea"/>
                <a:cs typeface="Times New Roman" panose="02020603050405020304" pitchFamily="18" charset="0"/>
              </a:rPr>
              <a:t>个州府</a:t>
            </a:r>
            <a:r>
              <a:rPr lang="zh-CN" altLang="en-US" sz="2460" b="1" dirty="0">
                <a:latin typeface="Times New Roman" panose="02020603050405020304" pitchFamily="18" charset="0"/>
                <a:ea typeface="+mn-ea"/>
                <a:cs typeface="Times New Roman" panose="02020603050405020304" pitchFamily="18" charset="0"/>
              </a:rPr>
              <a:t>均发生停电。</a:t>
            </a:r>
            <a:endParaRPr lang="zh-CN" altLang="en-US" sz="2460" b="1" dirty="0">
              <a:latin typeface="Times New Roman" panose="02020603050405020304" pitchFamily="18" charset="0"/>
              <a:ea typeface="+mn-ea"/>
              <a:cs typeface="Times New Roman" panose="02020603050405020304" pitchFamily="18" charset="0"/>
            </a:endParaRPr>
          </a:p>
        </p:txBody>
      </p:sp>
      <p:grpSp>
        <p:nvGrpSpPr>
          <p:cNvPr id="6" name="组合 5"/>
          <p:cNvGrpSpPr/>
          <p:nvPr/>
        </p:nvGrpSpPr>
        <p:grpSpPr>
          <a:xfrm>
            <a:off x="532768" y="1036119"/>
            <a:ext cx="5519270" cy="5583390"/>
            <a:chOff x="432874" y="1484784"/>
            <a:chExt cx="4484407" cy="4536504"/>
          </a:xfrm>
          <a:scene3d>
            <a:camera prst="orthographicFront">
              <a:rot lat="0" lon="0" rev="0"/>
            </a:camera>
            <a:lightRig rig="contrasting" dir="t">
              <a:rot lat="0" lon="0" rev="1500000"/>
            </a:lightRig>
          </a:scene3d>
        </p:grpSpPr>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52785" y="1484784"/>
              <a:ext cx="4464496" cy="2448272"/>
            </a:xfrm>
            <a:prstGeom prst="rect">
              <a:avLst/>
            </a:prstGeom>
            <a:noFill/>
            <a:ln>
              <a:noFill/>
            </a:ln>
            <a:effectLst>
              <a:outerShdw blurRad="149987" dist="250190" dir="8460000" algn="ctr">
                <a:srgbClr val="000000">
                  <a:alpha val="28000"/>
                </a:srgbClr>
              </a:outerShdw>
            </a:effectLst>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874" y="3933056"/>
              <a:ext cx="4484407" cy="2088232"/>
            </a:xfrm>
            <a:prstGeom prst="rect">
              <a:avLst/>
            </a:prstGeom>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矩形 3"/>
          <p:cNvSpPr>
            <a:spLocks noChangeArrowheads="1"/>
          </p:cNvSpPr>
          <p:nvPr/>
        </p:nvSpPr>
        <p:spPr bwMode="auto">
          <a:xfrm>
            <a:off x="458436" y="149866"/>
            <a:ext cx="10388878" cy="546100"/>
          </a:xfrm>
          <a:prstGeom prst="rect">
            <a:avLst/>
          </a:prstGeom>
        </p:spPr>
        <p:txBody>
          <a:bodyPr wrap="square">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No.5: </a:t>
            </a:r>
            <a:r>
              <a:rPr lang="zh-CN" altLang="en-US" sz="2955" b="1" dirty="0">
                <a:solidFill>
                  <a:srgbClr val="0000FF"/>
                </a:solidFill>
                <a:latin typeface="Times New Roman" panose="02020603050405020304" pitchFamily="18" charset="0"/>
                <a:ea typeface="+mn-ea"/>
                <a:cs typeface="Times New Roman" panose="02020603050405020304" pitchFamily="18" charset="0"/>
              </a:rPr>
              <a:t>日本本田汽车遭勒索软件重创，全球多地业务陷入停顿</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4" name="矩形 3"/>
          <p:cNvSpPr/>
          <p:nvPr/>
        </p:nvSpPr>
        <p:spPr>
          <a:xfrm>
            <a:off x="689862" y="1390620"/>
            <a:ext cx="4785762" cy="4027170"/>
          </a:xfrm>
          <a:prstGeom prst="rect">
            <a:avLst/>
          </a:prstGeom>
        </p:spPr>
        <p:txBody>
          <a:bodyPr wrap="square">
            <a:spAutoFit/>
          </a:bodyPr>
          <a:lstStyle/>
          <a:p>
            <a:pPr>
              <a:defRPr/>
            </a:pPr>
            <a:r>
              <a:rPr lang="en-US" altLang="zh-CN" sz="2460" b="1" dirty="0">
                <a:solidFill>
                  <a:srgbClr val="0000FF"/>
                </a:solidFill>
                <a:latin typeface="Times New Roman" panose="02020603050405020304" pitchFamily="18" charset="0"/>
                <a:ea typeface="+mn-ea"/>
                <a:cs typeface="Times New Roman" panose="02020603050405020304" pitchFamily="18" charset="0"/>
              </a:rPr>
              <a:t>2020</a:t>
            </a:r>
            <a:r>
              <a:rPr lang="zh-CN" altLang="en-US" sz="2460" b="1" dirty="0">
                <a:solidFill>
                  <a:srgbClr val="0000FF"/>
                </a:solidFill>
                <a:latin typeface="Times New Roman" panose="02020603050405020304" pitchFamily="18" charset="0"/>
                <a:ea typeface="+mn-ea"/>
                <a:cs typeface="Times New Roman" panose="02020603050405020304" pitchFamily="18" charset="0"/>
              </a:rPr>
              <a:t>年</a:t>
            </a:r>
            <a:r>
              <a:rPr lang="en-US" altLang="zh-CN" sz="2460" b="1" dirty="0">
                <a:solidFill>
                  <a:srgbClr val="0000FF"/>
                </a:solidFill>
                <a:latin typeface="Times New Roman" panose="02020603050405020304" pitchFamily="18" charset="0"/>
                <a:ea typeface="+mn-ea"/>
                <a:cs typeface="Times New Roman" panose="02020603050405020304" pitchFamily="18" charset="0"/>
              </a:rPr>
              <a:t>6</a:t>
            </a:r>
            <a:r>
              <a:rPr lang="zh-CN" altLang="en-US" sz="2460" b="1" dirty="0">
                <a:solidFill>
                  <a:srgbClr val="0000FF"/>
                </a:solidFill>
                <a:latin typeface="Times New Roman" panose="02020603050405020304" pitchFamily="18" charset="0"/>
                <a:ea typeface="+mn-ea"/>
                <a:cs typeface="Times New Roman" panose="02020603050405020304" pitchFamily="18" charset="0"/>
              </a:rPr>
              <a:t>月</a:t>
            </a:r>
            <a:r>
              <a:rPr lang="en-US" altLang="zh-CN" sz="2460" b="1" dirty="0">
                <a:solidFill>
                  <a:srgbClr val="0000FF"/>
                </a:solidFill>
                <a:latin typeface="Times New Roman" panose="02020603050405020304" pitchFamily="18" charset="0"/>
                <a:ea typeface="+mn-ea"/>
                <a:cs typeface="Times New Roman" panose="02020603050405020304" pitchFamily="18" charset="0"/>
              </a:rPr>
              <a:t>9</a:t>
            </a:r>
            <a:r>
              <a:rPr lang="zh-CN" altLang="en-US" sz="2460" b="1" dirty="0">
                <a:solidFill>
                  <a:srgbClr val="0000FF"/>
                </a:solidFill>
                <a:latin typeface="Times New Roman" panose="02020603050405020304" pitchFamily="18" charset="0"/>
                <a:ea typeface="+mn-ea"/>
                <a:cs typeface="Times New Roman" panose="02020603050405020304" pitchFamily="18" charset="0"/>
              </a:rPr>
              <a:t>日 </a:t>
            </a:r>
            <a:r>
              <a:rPr lang="zh-CN" altLang="en-US" sz="2460" b="1" dirty="0">
                <a:latin typeface="Times New Roman" panose="02020603050405020304" pitchFamily="18" charset="0"/>
                <a:ea typeface="+mn-ea"/>
                <a:cs typeface="Times New Roman" panose="02020603050405020304" pitchFamily="18" charset="0"/>
              </a:rPr>
              <a:t>，本田公司在一份简短声明中确认：勒索软件攻击在其日本总部以外多国工厂造成了生产停顿问题。与本田的轻描淡写不同，</a:t>
            </a:r>
            <a:r>
              <a:rPr lang="en-US" altLang="zh-CN" sz="2460" b="1" dirty="0">
                <a:latin typeface="Times New Roman" panose="02020603050405020304" pitchFamily="18" charset="0"/>
                <a:ea typeface="+mn-ea"/>
                <a:cs typeface="Times New Roman" panose="02020603050405020304" pitchFamily="18" charset="0"/>
              </a:rPr>
              <a:t>BBC</a:t>
            </a:r>
            <a:r>
              <a:rPr lang="zh-CN" altLang="en-US" sz="2460" b="1" dirty="0">
                <a:latin typeface="Times New Roman" panose="02020603050405020304" pitchFamily="18" charset="0"/>
                <a:ea typeface="+mn-ea"/>
                <a:cs typeface="Times New Roman" panose="02020603050405020304" pitchFamily="18" charset="0"/>
              </a:rPr>
              <a:t>的报道显示本田过去</a:t>
            </a:r>
            <a:r>
              <a:rPr lang="en-US" altLang="zh-CN" sz="3445" b="1" dirty="0">
                <a:solidFill>
                  <a:srgbClr val="FF0000"/>
                </a:solidFill>
                <a:latin typeface="Times New Roman" panose="02020603050405020304" pitchFamily="18" charset="0"/>
                <a:ea typeface="+mn-ea"/>
                <a:cs typeface="Times New Roman" panose="02020603050405020304" pitchFamily="18" charset="0"/>
              </a:rPr>
              <a:t>48</a:t>
            </a:r>
            <a:r>
              <a:rPr lang="zh-CN" altLang="en-US" sz="3445" b="1" dirty="0">
                <a:solidFill>
                  <a:srgbClr val="FF0000"/>
                </a:solidFill>
                <a:latin typeface="Times New Roman" panose="02020603050405020304" pitchFamily="18" charset="0"/>
                <a:ea typeface="+mn-ea"/>
                <a:cs typeface="Times New Roman" panose="02020603050405020304" pitchFamily="18" charset="0"/>
              </a:rPr>
              <a:t>小时</a:t>
            </a:r>
            <a:r>
              <a:rPr lang="zh-CN" altLang="en-US" sz="2460" b="1" dirty="0">
                <a:latin typeface="Times New Roman" panose="02020603050405020304" pitchFamily="18" charset="0"/>
                <a:ea typeface="+mn-ea"/>
                <a:cs typeface="Times New Roman" panose="02020603050405020304" pitchFamily="18" charset="0"/>
              </a:rPr>
              <a:t>遭遇了极为惨烈的勒索软件攻击：勒索软件已经传播到本田的整个网络，影响了本田的计算机服务器、电子邮件以及其他内网功能。</a:t>
            </a:r>
            <a:endParaRPr lang="zh-CN" altLang="en-US" sz="2460" b="1" dirty="0">
              <a:latin typeface="Times New Roman" panose="02020603050405020304" pitchFamily="18" charset="0"/>
              <a:ea typeface="+mn-ea"/>
              <a:cs typeface="Times New Roman" panose="02020603050405020304" pitchFamily="18" charset="0"/>
            </a:endParaRPr>
          </a:p>
        </p:txBody>
      </p:sp>
      <p:grpSp>
        <p:nvGrpSpPr>
          <p:cNvPr id="8" name="组合 7"/>
          <p:cNvGrpSpPr/>
          <p:nvPr/>
        </p:nvGrpSpPr>
        <p:grpSpPr>
          <a:xfrm>
            <a:off x="5918750" y="770243"/>
            <a:ext cx="5451231" cy="5901439"/>
            <a:chOff x="4736975" y="1226369"/>
            <a:chExt cx="4429125" cy="4794919"/>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36975" y="1226369"/>
              <a:ext cx="4429125" cy="2657475"/>
            </a:xfrm>
            <a:prstGeom prst="rect">
              <a:avLst/>
            </a:prstGeom>
            <a:noFill/>
            <a:ln>
              <a:noFill/>
            </a:ln>
            <a:effectLst>
              <a:outerShdw blurRad="149987" dist="250190" dir="8460000" algn="ctr">
                <a:srgbClr val="000000">
                  <a:alpha val="28000"/>
                </a:srgbClr>
              </a:outerShdw>
            </a:effectLst>
            <a:sp3d prstMaterial="metal">
              <a:bevelT w="88900" h="88900"/>
            </a:sp3d>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2328" y="3789040"/>
              <a:ext cx="4377136" cy="2232248"/>
            </a:xfrm>
            <a:prstGeom prst="rect">
              <a:avLst/>
            </a:prstGeom>
            <a:noFill/>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3"/>
          <p:cNvSpPr>
            <a:spLocks noChangeArrowheads="1"/>
          </p:cNvSpPr>
          <p:nvPr/>
        </p:nvSpPr>
        <p:spPr bwMode="auto">
          <a:xfrm>
            <a:off x="246185" y="150446"/>
            <a:ext cx="10634785" cy="546100"/>
          </a:xfrm>
          <a:prstGeom prst="rect">
            <a:avLst/>
          </a:prstGeom>
        </p:spPr>
        <p:txBody>
          <a:bodyPr>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No.6:  </a:t>
            </a:r>
            <a:r>
              <a:rPr lang="zh-CN" altLang="en-US" sz="2955" b="1" dirty="0">
                <a:solidFill>
                  <a:srgbClr val="0000FF"/>
                </a:solidFill>
                <a:latin typeface="Times New Roman" panose="02020603050405020304" pitchFamily="18" charset="0"/>
                <a:ea typeface="+mn-ea"/>
                <a:cs typeface="Times New Roman" panose="02020603050405020304" pitchFamily="18" charset="0"/>
              </a:rPr>
              <a:t>新西兰证交所连续一周遭受</a:t>
            </a:r>
            <a:r>
              <a:rPr lang="en-US" altLang="zh-CN" sz="2955" b="1" dirty="0">
                <a:solidFill>
                  <a:srgbClr val="0000FF"/>
                </a:solidFill>
                <a:latin typeface="Times New Roman" panose="02020603050405020304" pitchFamily="18" charset="0"/>
                <a:ea typeface="+mn-ea"/>
                <a:cs typeface="Times New Roman" panose="02020603050405020304" pitchFamily="18" charset="0"/>
              </a:rPr>
              <a:t>DDoS</a:t>
            </a:r>
            <a:r>
              <a:rPr lang="zh-CN" altLang="en-US" sz="2955" b="1" dirty="0">
                <a:solidFill>
                  <a:srgbClr val="0000FF"/>
                </a:solidFill>
                <a:latin typeface="Times New Roman" panose="02020603050405020304" pitchFamily="18" charset="0"/>
                <a:ea typeface="+mn-ea"/>
                <a:cs typeface="Times New Roman" panose="02020603050405020304" pitchFamily="18" charset="0"/>
              </a:rPr>
              <a:t>攻击导致交易中断</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73731" name="矩形 4"/>
          <p:cNvSpPr>
            <a:spLocks noChangeArrowheads="1"/>
          </p:cNvSpPr>
          <p:nvPr/>
        </p:nvSpPr>
        <p:spPr bwMode="auto">
          <a:xfrm>
            <a:off x="423985" y="947494"/>
            <a:ext cx="11166779" cy="1681480"/>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60" b="1" dirty="0">
                <a:solidFill>
                  <a:srgbClr val="0000FF"/>
                </a:solidFill>
                <a:latin typeface="Times New Roman" panose="02020603050405020304" pitchFamily="18" charset="0"/>
                <a:ea typeface="+mn-ea"/>
                <a:cs typeface="Times New Roman" panose="02020603050405020304" pitchFamily="18" charset="0"/>
              </a:rPr>
              <a:t>2020</a:t>
            </a:r>
            <a:r>
              <a:rPr lang="zh-CN" altLang="en-US" sz="2460" b="1" dirty="0">
                <a:solidFill>
                  <a:srgbClr val="0000FF"/>
                </a:solidFill>
                <a:latin typeface="Times New Roman" panose="02020603050405020304" pitchFamily="18" charset="0"/>
                <a:ea typeface="+mn-ea"/>
                <a:cs typeface="Times New Roman" panose="02020603050405020304" pitchFamily="18" charset="0"/>
              </a:rPr>
              <a:t>年</a:t>
            </a:r>
            <a:r>
              <a:rPr lang="en-US" altLang="zh-CN" sz="2460" b="1" dirty="0">
                <a:solidFill>
                  <a:srgbClr val="0000FF"/>
                </a:solidFill>
                <a:latin typeface="Times New Roman" panose="02020603050405020304" pitchFamily="18" charset="0"/>
                <a:ea typeface="+mn-ea"/>
                <a:cs typeface="Times New Roman" panose="02020603050405020304" pitchFamily="18" charset="0"/>
              </a:rPr>
              <a:t>8</a:t>
            </a:r>
            <a:r>
              <a:rPr lang="zh-CN" altLang="en-US" sz="2460" b="1" dirty="0">
                <a:solidFill>
                  <a:srgbClr val="0000FF"/>
                </a:solidFill>
                <a:latin typeface="Times New Roman" panose="02020603050405020304" pitchFamily="18" charset="0"/>
                <a:ea typeface="+mn-ea"/>
                <a:cs typeface="Times New Roman" panose="02020603050405020304" pitchFamily="18" charset="0"/>
              </a:rPr>
              <a:t>月</a:t>
            </a:r>
            <a:r>
              <a:rPr lang="en-US" altLang="zh-CN" sz="2460" b="1" dirty="0">
                <a:solidFill>
                  <a:srgbClr val="0000FF"/>
                </a:solidFill>
                <a:latin typeface="Times New Roman" panose="02020603050405020304" pitchFamily="18" charset="0"/>
                <a:ea typeface="+mn-ea"/>
                <a:cs typeface="Times New Roman" panose="02020603050405020304" pitchFamily="18" charset="0"/>
              </a:rPr>
              <a:t>31</a:t>
            </a:r>
            <a:r>
              <a:rPr lang="zh-CN" altLang="en-US" sz="2460" b="1" dirty="0">
                <a:solidFill>
                  <a:srgbClr val="0000FF"/>
                </a:solidFill>
                <a:latin typeface="Times New Roman" panose="02020603050405020304" pitchFamily="18" charset="0"/>
                <a:ea typeface="+mn-ea"/>
                <a:cs typeface="Times New Roman" panose="02020603050405020304" pitchFamily="18" charset="0"/>
              </a:rPr>
              <a:t>日</a:t>
            </a:r>
            <a:r>
              <a:rPr lang="zh-CN" altLang="en-US" sz="2460" b="1" dirty="0">
                <a:latin typeface="Times New Roman" panose="02020603050405020304" pitchFamily="18" charset="0"/>
                <a:ea typeface="+mn-ea"/>
                <a:cs typeface="Times New Roman" panose="02020603050405020304" pitchFamily="18" charset="0"/>
              </a:rPr>
              <a:t>，新西兰证券交易所网站在周一的市场交易开盘不久再次崩溃。这已是自</a:t>
            </a:r>
            <a:r>
              <a:rPr lang="en-US" altLang="zh-CN" sz="2460" b="1" dirty="0">
                <a:latin typeface="Times New Roman" panose="02020603050405020304" pitchFamily="18" charset="0"/>
                <a:ea typeface="+mn-ea"/>
                <a:cs typeface="Times New Roman" panose="02020603050405020304" pitchFamily="18" charset="0"/>
              </a:rPr>
              <a:t>8</a:t>
            </a:r>
            <a:r>
              <a:rPr lang="zh-CN" altLang="en-US" sz="2460" b="1" dirty="0">
                <a:latin typeface="Times New Roman" panose="02020603050405020304" pitchFamily="18" charset="0"/>
                <a:ea typeface="+mn-ea"/>
                <a:cs typeface="Times New Roman" panose="02020603050405020304" pitchFamily="18" charset="0"/>
              </a:rPr>
              <a:t>月</a:t>
            </a:r>
            <a:r>
              <a:rPr lang="en-US" altLang="zh-CN" sz="2460" b="1" dirty="0">
                <a:latin typeface="Times New Roman" panose="02020603050405020304" pitchFamily="18" charset="0"/>
                <a:ea typeface="+mn-ea"/>
                <a:cs typeface="Times New Roman" panose="02020603050405020304" pitchFamily="18" charset="0"/>
              </a:rPr>
              <a:t>25</a:t>
            </a:r>
            <a:r>
              <a:rPr lang="zh-CN" altLang="en-US" sz="2460" b="1" dirty="0">
                <a:latin typeface="Times New Roman" panose="02020603050405020304" pitchFamily="18" charset="0"/>
                <a:ea typeface="+mn-ea"/>
                <a:cs typeface="Times New Roman" panose="02020603050405020304" pitchFamily="18" charset="0"/>
              </a:rPr>
              <a:t>日以来，新西兰证券交易所</a:t>
            </a:r>
            <a:r>
              <a:rPr lang="zh-CN" altLang="en-US" sz="2955" b="1" dirty="0">
                <a:solidFill>
                  <a:srgbClr val="FF0000"/>
                </a:solidFill>
                <a:latin typeface="Times New Roman" panose="02020603050405020304" pitchFamily="18" charset="0"/>
                <a:ea typeface="+mn-ea"/>
                <a:cs typeface="Times New Roman" panose="02020603050405020304" pitchFamily="18" charset="0"/>
              </a:rPr>
              <a:t>连续第</a:t>
            </a:r>
            <a:r>
              <a:rPr lang="en-US" altLang="zh-CN" sz="2955" b="1" dirty="0">
                <a:solidFill>
                  <a:srgbClr val="FF0000"/>
                </a:solidFill>
                <a:latin typeface="Times New Roman" panose="02020603050405020304" pitchFamily="18" charset="0"/>
                <a:ea typeface="+mn-ea"/>
                <a:cs typeface="Times New Roman" panose="02020603050405020304" pitchFamily="18" charset="0"/>
              </a:rPr>
              <a:t>5</a:t>
            </a:r>
            <a:r>
              <a:rPr lang="zh-CN" altLang="en-US" sz="2955" b="1" dirty="0">
                <a:solidFill>
                  <a:srgbClr val="FF0000"/>
                </a:solidFill>
                <a:latin typeface="Times New Roman" panose="02020603050405020304" pitchFamily="18" charset="0"/>
                <a:ea typeface="+mn-ea"/>
                <a:cs typeface="Times New Roman" panose="02020603050405020304" pitchFamily="18" charset="0"/>
              </a:rPr>
              <a:t>天“宕机”</a:t>
            </a:r>
            <a:r>
              <a:rPr lang="zh-CN" altLang="en-US" sz="2460" b="1" dirty="0">
                <a:latin typeface="Times New Roman" panose="02020603050405020304" pitchFamily="18" charset="0"/>
                <a:ea typeface="+mn-ea"/>
                <a:cs typeface="Times New Roman" panose="02020603050405020304" pitchFamily="18" charset="0"/>
              </a:rPr>
              <a:t>。</a:t>
            </a:r>
            <a:r>
              <a:rPr lang="en-US" altLang="zh-CN" sz="2460" b="1" dirty="0">
                <a:latin typeface="Times New Roman" panose="02020603050405020304" pitchFamily="18" charset="0"/>
                <a:ea typeface="+mn-ea"/>
                <a:cs typeface="Times New Roman" panose="02020603050405020304" pitchFamily="18" charset="0"/>
              </a:rPr>
              <a:t>8</a:t>
            </a:r>
            <a:r>
              <a:rPr lang="zh-CN" altLang="en-US" sz="2460" b="1" dirty="0">
                <a:latin typeface="Times New Roman" panose="02020603050405020304" pitchFamily="18" charset="0"/>
                <a:ea typeface="+mn-ea"/>
                <a:cs typeface="Times New Roman" panose="02020603050405020304" pitchFamily="18" charset="0"/>
              </a:rPr>
              <a:t>月</a:t>
            </a:r>
            <a:r>
              <a:rPr lang="en-US" altLang="zh-CN" sz="2460" b="1" dirty="0">
                <a:latin typeface="Times New Roman" panose="02020603050405020304" pitchFamily="18" charset="0"/>
                <a:ea typeface="+mn-ea"/>
                <a:cs typeface="Times New Roman" panose="02020603050405020304" pitchFamily="18" charset="0"/>
              </a:rPr>
              <a:t>25</a:t>
            </a:r>
            <a:r>
              <a:rPr lang="zh-CN" altLang="en-US" sz="2460" b="1" dirty="0">
                <a:latin typeface="Times New Roman" panose="02020603050405020304" pitchFamily="18" charset="0"/>
                <a:ea typeface="+mn-ea"/>
                <a:cs typeface="Times New Roman" panose="02020603050405020304" pitchFamily="18" charset="0"/>
              </a:rPr>
              <a:t>日，新西兰证券交易所收到分布式拒绝服务（</a:t>
            </a:r>
            <a:r>
              <a:rPr lang="en-US" altLang="zh-CN" sz="2460" b="1" dirty="0">
                <a:latin typeface="Times New Roman" panose="02020603050405020304" pitchFamily="18" charset="0"/>
                <a:ea typeface="+mn-ea"/>
                <a:cs typeface="Times New Roman" panose="02020603050405020304" pitchFamily="18" charset="0"/>
              </a:rPr>
              <a:t>DDoS</a:t>
            </a:r>
            <a:r>
              <a:rPr lang="zh-CN" altLang="en-US" sz="2460" b="1" dirty="0">
                <a:latin typeface="Times New Roman" panose="02020603050405020304" pitchFamily="18" charset="0"/>
                <a:ea typeface="+mn-ea"/>
                <a:cs typeface="Times New Roman" panose="02020603050405020304" pitchFamily="18" charset="0"/>
              </a:rPr>
              <a:t>）攻击，袭击迫使交易所暂停其现金市场交易</a:t>
            </a:r>
            <a:r>
              <a:rPr lang="en-US" altLang="zh-CN" sz="2460" b="1" dirty="0">
                <a:latin typeface="Times New Roman" panose="02020603050405020304" pitchFamily="18" charset="0"/>
                <a:ea typeface="+mn-ea"/>
                <a:cs typeface="Times New Roman" panose="02020603050405020304" pitchFamily="18" charset="0"/>
              </a:rPr>
              <a:t>1</a:t>
            </a:r>
            <a:r>
              <a:rPr lang="zh-CN" altLang="en-US" sz="2460" b="1" dirty="0">
                <a:latin typeface="Times New Roman" panose="02020603050405020304" pitchFamily="18" charset="0"/>
                <a:ea typeface="+mn-ea"/>
                <a:cs typeface="Times New Roman" panose="02020603050405020304" pitchFamily="18" charset="0"/>
              </a:rPr>
              <a:t>小时，扰乱了其债务市场。</a:t>
            </a:r>
            <a:endParaRPr lang="zh-CN" altLang="en-US" sz="2460" b="1" dirty="0">
              <a:latin typeface="Times New Roman" panose="02020603050405020304" pitchFamily="18" charset="0"/>
              <a:ea typeface="+mn-ea"/>
              <a:cs typeface="Times New Roman" panose="02020603050405020304" pitchFamily="18" charset="0"/>
            </a:endParaRPr>
          </a:p>
        </p:txBody>
      </p:sp>
      <p:grpSp>
        <p:nvGrpSpPr>
          <p:cNvPr id="5" name="组合 4"/>
          <p:cNvGrpSpPr/>
          <p:nvPr/>
        </p:nvGrpSpPr>
        <p:grpSpPr>
          <a:xfrm>
            <a:off x="3614494" y="2719998"/>
            <a:ext cx="7573298" cy="3881285"/>
            <a:chOff x="1640632" y="2492896"/>
            <a:chExt cx="6930917" cy="365760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40632" y="3501008"/>
              <a:ext cx="3511690" cy="1948988"/>
            </a:xfrm>
            <a:prstGeom prst="rect">
              <a:avLst/>
            </a:prstGeom>
            <a:noFill/>
            <a:ln>
              <a:no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2549" y="2492896"/>
              <a:ext cx="3429000" cy="3657600"/>
            </a:xfrm>
            <a:prstGeom prst="rect">
              <a:avLst/>
            </a:prstGeom>
            <a:noFill/>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3731"/>
                                        </p:tgtEl>
                                        <p:attrNameLst>
                                          <p:attrName>style.visibility</p:attrName>
                                        </p:attrNameLst>
                                      </p:cBhvr>
                                      <p:to>
                                        <p:strVal val="visible"/>
                                      </p:to>
                                    </p:set>
                                    <p:anim calcmode="lin" valueType="num">
                                      <p:cBhvr additive="base">
                                        <p:cTn id="7" dur="1000" fill="hold"/>
                                        <p:tgtEl>
                                          <p:spTgt spid="73731"/>
                                        </p:tgtEl>
                                        <p:attrNameLst>
                                          <p:attrName>ppt_x</p:attrName>
                                        </p:attrNameLst>
                                      </p:cBhvr>
                                      <p:tavLst>
                                        <p:tav tm="0">
                                          <p:val>
                                            <p:strVal val="0-#ppt_w/2"/>
                                          </p:val>
                                        </p:tav>
                                        <p:tav tm="100000">
                                          <p:val>
                                            <p:strVal val="#ppt_x"/>
                                          </p:val>
                                        </p:tav>
                                      </p:tavLst>
                                    </p:anim>
                                    <p:anim calcmode="lin" valueType="num">
                                      <p:cBhvr additive="base">
                                        <p:cTn id="8" dur="1000" fill="hold"/>
                                        <p:tgtEl>
                                          <p:spTgt spid="737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3"/>
          <p:cNvSpPr>
            <a:spLocks noChangeArrowheads="1"/>
          </p:cNvSpPr>
          <p:nvPr/>
        </p:nvSpPr>
        <p:spPr bwMode="auto">
          <a:xfrm>
            <a:off x="312709" y="238492"/>
            <a:ext cx="11699631" cy="546100"/>
          </a:xfrm>
          <a:prstGeom prst="rect">
            <a:avLst/>
          </a:prstGeom>
        </p:spPr>
        <p:txBody>
          <a:bodyPr wrap="square">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No.7:</a:t>
            </a:r>
            <a:r>
              <a:rPr lang="zh-CN" altLang="en-US" sz="2955" b="1" dirty="0">
                <a:solidFill>
                  <a:srgbClr val="0000FF"/>
                </a:solidFill>
                <a:latin typeface="Times New Roman" panose="02020603050405020304" pitchFamily="18" charset="0"/>
                <a:ea typeface="+mn-ea"/>
                <a:cs typeface="Times New Roman" panose="02020603050405020304" pitchFamily="18" charset="0"/>
              </a:rPr>
              <a:t>微软</a:t>
            </a:r>
            <a:r>
              <a:rPr lang="en-US" altLang="zh-CN" sz="2955" b="1" dirty="0">
                <a:solidFill>
                  <a:srgbClr val="0000FF"/>
                </a:solidFill>
                <a:latin typeface="Times New Roman" panose="02020603050405020304" pitchFamily="18" charset="0"/>
                <a:ea typeface="+mn-ea"/>
                <a:cs typeface="Times New Roman" panose="02020603050405020304" pitchFamily="18" charset="0"/>
              </a:rPr>
              <a:t>Bing</a:t>
            </a:r>
            <a:r>
              <a:rPr lang="zh-CN" altLang="en-US" sz="2955" b="1" dirty="0">
                <a:solidFill>
                  <a:srgbClr val="0000FF"/>
                </a:solidFill>
                <a:latin typeface="Times New Roman" panose="02020603050405020304" pitchFamily="18" charset="0"/>
                <a:ea typeface="+mn-ea"/>
                <a:cs typeface="Times New Roman" panose="02020603050405020304" pitchFamily="18" charset="0"/>
              </a:rPr>
              <a:t>应用数据库或遭泄露，多达</a:t>
            </a:r>
            <a:r>
              <a:rPr lang="en-US" altLang="zh-CN" sz="2955" b="1" dirty="0">
                <a:solidFill>
                  <a:srgbClr val="0000FF"/>
                </a:solidFill>
                <a:latin typeface="Times New Roman" panose="02020603050405020304" pitchFamily="18" charset="0"/>
                <a:ea typeface="+mn-ea"/>
                <a:cs typeface="Times New Roman" panose="02020603050405020304" pitchFamily="18" charset="0"/>
              </a:rPr>
              <a:t>1</a:t>
            </a:r>
            <a:r>
              <a:rPr lang="zh-CN" altLang="en-US" sz="2955" b="1" dirty="0">
                <a:solidFill>
                  <a:srgbClr val="0000FF"/>
                </a:solidFill>
                <a:latin typeface="Times New Roman" panose="02020603050405020304" pitchFamily="18" charset="0"/>
                <a:ea typeface="+mn-ea"/>
                <a:cs typeface="Times New Roman" panose="02020603050405020304" pitchFamily="18" charset="0"/>
              </a:rPr>
              <a:t>亿条搜索纪录被截取</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74756" name="矩形 6"/>
          <p:cNvSpPr>
            <a:spLocks noChangeArrowheads="1"/>
          </p:cNvSpPr>
          <p:nvPr/>
        </p:nvSpPr>
        <p:spPr bwMode="auto">
          <a:xfrm>
            <a:off x="445570" y="1036119"/>
            <a:ext cx="11433908" cy="847725"/>
          </a:xfrm>
          <a:prstGeom prst="rect">
            <a:avLst/>
          </a:prstGeom>
          <a:noFill/>
          <a:ln>
            <a:noFill/>
          </a:ln>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marL="0" indent="0">
              <a:buNone/>
              <a:defRPr/>
            </a:pPr>
            <a:r>
              <a:rPr lang="en-US" altLang="zh-CN" sz="2460" b="1" dirty="0">
                <a:solidFill>
                  <a:srgbClr val="0000FF"/>
                </a:solidFill>
                <a:latin typeface="Times New Roman" panose="02020603050405020304" pitchFamily="18" charset="0"/>
                <a:ea typeface="+mn-ea"/>
                <a:cs typeface="Times New Roman" panose="02020603050405020304" pitchFamily="18" charset="0"/>
              </a:rPr>
              <a:t>2020</a:t>
            </a:r>
            <a:r>
              <a:rPr lang="zh-CN" altLang="en-US" sz="2460" b="1" dirty="0">
                <a:solidFill>
                  <a:srgbClr val="0000FF"/>
                </a:solidFill>
                <a:latin typeface="Times New Roman" panose="02020603050405020304" pitchFamily="18" charset="0"/>
                <a:ea typeface="+mn-ea"/>
                <a:cs typeface="Times New Roman" panose="02020603050405020304" pitchFamily="18" charset="0"/>
              </a:rPr>
              <a:t>年</a:t>
            </a:r>
            <a:r>
              <a:rPr lang="en-US" altLang="zh-CN" sz="2460" b="1" dirty="0">
                <a:solidFill>
                  <a:srgbClr val="0000FF"/>
                </a:solidFill>
                <a:latin typeface="Times New Roman" panose="02020603050405020304" pitchFamily="18" charset="0"/>
                <a:ea typeface="+mn-ea"/>
                <a:cs typeface="Times New Roman" panose="02020603050405020304" pitchFamily="18" charset="0"/>
              </a:rPr>
              <a:t>9</a:t>
            </a:r>
            <a:r>
              <a:rPr lang="zh-CN" altLang="en-US" sz="2460" b="1" dirty="0">
                <a:solidFill>
                  <a:srgbClr val="0000FF"/>
                </a:solidFill>
                <a:latin typeface="Times New Roman" panose="02020603050405020304" pitchFamily="18" charset="0"/>
                <a:ea typeface="+mn-ea"/>
                <a:cs typeface="Times New Roman" panose="02020603050405020304" pitchFamily="18" charset="0"/>
              </a:rPr>
              <a:t>月，</a:t>
            </a:r>
            <a:r>
              <a:rPr lang="zh-CN" altLang="en-US" sz="2460" b="1" dirty="0">
                <a:latin typeface="Times New Roman" panose="02020603050405020304" pitchFamily="18" charset="0"/>
                <a:ea typeface="+mn-ea"/>
                <a:cs typeface="Times New Roman" panose="02020603050405020304" pitchFamily="18" charset="0"/>
              </a:rPr>
              <a:t>网络安全网站</a:t>
            </a:r>
            <a:r>
              <a:rPr lang="en-US" altLang="zh-CN" sz="2460" b="1" dirty="0" err="1">
                <a:latin typeface="Times New Roman" panose="02020603050405020304" pitchFamily="18" charset="0"/>
                <a:ea typeface="+mn-ea"/>
                <a:cs typeface="Times New Roman" panose="02020603050405020304" pitchFamily="18" charset="0"/>
              </a:rPr>
              <a:t>Wizcase</a:t>
            </a:r>
            <a:r>
              <a:rPr lang="zh-CN" altLang="en-US" sz="2460" b="1" dirty="0">
                <a:latin typeface="Times New Roman" panose="02020603050405020304" pitchFamily="18" charset="0"/>
                <a:ea typeface="+mn-ea"/>
                <a:cs typeface="Times New Roman" panose="02020603050405020304" pitchFamily="18" charset="0"/>
              </a:rPr>
              <a:t>报导，一个不受保护的</a:t>
            </a:r>
            <a:r>
              <a:rPr lang="en-US" altLang="zh-CN" sz="2460" b="1" dirty="0">
                <a:latin typeface="Times New Roman" panose="02020603050405020304" pitchFamily="18" charset="0"/>
                <a:ea typeface="+mn-ea"/>
                <a:cs typeface="Times New Roman" panose="02020603050405020304" pitchFamily="18" charset="0"/>
              </a:rPr>
              <a:t>Elastic</a:t>
            </a:r>
            <a:r>
              <a:rPr lang="zh-CN" altLang="en-US" sz="2460" b="1" dirty="0">
                <a:latin typeface="Times New Roman" panose="02020603050405020304" pitchFamily="18" charset="0"/>
                <a:ea typeface="+mn-ea"/>
                <a:cs typeface="Times New Roman" panose="02020603050405020304" pitchFamily="18" charset="0"/>
              </a:rPr>
              <a:t>服务器可能已经将微软旗下的</a:t>
            </a:r>
            <a:r>
              <a:rPr lang="en-US" altLang="zh-CN" sz="2460" b="1" dirty="0">
                <a:latin typeface="Times New Roman" panose="02020603050405020304" pitchFamily="18" charset="0"/>
                <a:ea typeface="+mn-ea"/>
                <a:cs typeface="Times New Roman" panose="02020603050405020304" pitchFamily="18" charset="0"/>
              </a:rPr>
              <a:t>Bing</a:t>
            </a:r>
            <a:r>
              <a:rPr lang="zh-CN" altLang="en-US" sz="2460" b="1" dirty="0">
                <a:latin typeface="Times New Roman" panose="02020603050405020304" pitchFamily="18" charset="0"/>
                <a:ea typeface="+mn-ea"/>
                <a:cs typeface="Times New Roman" panose="02020603050405020304" pitchFamily="18" charset="0"/>
              </a:rPr>
              <a:t>移动版应用的数据库泄露出去。</a:t>
            </a:r>
            <a:endParaRPr lang="zh-CN" altLang="en-US" sz="2460" b="1" dirty="0">
              <a:latin typeface="Times New Roman" panose="02020603050405020304" pitchFamily="18" charset="0"/>
              <a:ea typeface="+mn-ea"/>
              <a:cs typeface="Times New Roman" panose="02020603050405020304" pitchFamily="18" charset="0"/>
            </a:endParaRPr>
          </a:p>
        </p:txBody>
      </p:sp>
      <p:sp>
        <p:nvSpPr>
          <p:cNvPr id="5" name="矩形 4"/>
          <p:cNvSpPr/>
          <p:nvPr/>
        </p:nvSpPr>
        <p:spPr>
          <a:xfrm>
            <a:off x="7310983" y="2141140"/>
            <a:ext cx="4279780" cy="121920"/>
          </a:xfrm>
          <a:prstGeom prst="rect">
            <a:avLst/>
          </a:prstGeom>
        </p:spPr>
        <p:txBody>
          <a:bodyPr wrap="square">
            <a:spAutoFit/>
          </a:bodyPr>
          <a:lstStyle/>
          <a:p>
            <a:r>
              <a:rPr lang="zh-CN" altLang="en-US" sz="100" dirty="0">
                <a:latin typeface="Times New Roman" panose="02020603050405020304" pitchFamily="18" charset="0"/>
                <a:ea typeface="方正大标宋简体" panose="02010601030101010101" pitchFamily="2" charset="-122"/>
                <a:cs typeface="Times New Roman" panose="02020603050405020304" pitchFamily="18" charset="0"/>
              </a:rPr>
              <a:t>该服务器泄露的数据还包括明文搜索词、执行搜索的确切时间、位置坐标、用户从搜索结果中访问过的 </a:t>
            </a:r>
            <a:r>
              <a:rPr lang="en-US" altLang="zh-CN" sz="100" dirty="0">
                <a:latin typeface="Times New Roman" panose="02020603050405020304" pitchFamily="18" charset="0"/>
                <a:ea typeface="方正大标宋简体" panose="02010601030101010101" pitchFamily="2" charset="-122"/>
                <a:cs typeface="Times New Roman" panose="02020603050405020304" pitchFamily="18" charset="0"/>
              </a:rPr>
              <a:t>URL </a:t>
            </a:r>
            <a:r>
              <a:rPr lang="zh-CN" altLang="en-US" sz="100" dirty="0">
                <a:latin typeface="Times New Roman" panose="02020603050405020304" pitchFamily="18" charset="0"/>
                <a:ea typeface="方正大标宋简体" panose="02010601030101010101" pitchFamily="2" charset="-122"/>
                <a:cs typeface="Times New Roman" panose="02020603050405020304" pitchFamily="18" charset="0"/>
              </a:rPr>
              <a:t>地址、设备型号、操作系统以及分配给每个用户的 </a:t>
            </a:r>
            <a:r>
              <a:rPr lang="en-US" altLang="zh-CN" sz="100" dirty="0">
                <a:latin typeface="Times New Roman" panose="02020603050405020304" pitchFamily="18" charset="0"/>
                <a:ea typeface="方正大标宋简体" panose="02010601030101010101" pitchFamily="2" charset="-122"/>
                <a:cs typeface="Times New Roman" panose="02020603050405020304" pitchFamily="18" charset="0"/>
              </a:rPr>
              <a:t>3 </a:t>
            </a:r>
            <a:r>
              <a:rPr lang="zh-CN" altLang="en-US" sz="100" dirty="0">
                <a:latin typeface="Times New Roman" panose="02020603050405020304" pitchFamily="18" charset="0"/>
                <a:ea typeface="方正大标宋简体" panose="02010601030101010101" pitchFamily="2" charset="-122"/>
                <a:cs typeface="Times New Roman" panose="02020603050405020304" pitchFamily="18" charset="0"/>
              </a:rPr>
              <a:t>个独立 </a:t>
            </a:r>
            <a:r>
              <a:rPr lang="en-US" altLang="zh-CN" sz="100" dirty="0">
                <a:latin typeface="Times New Roman" panose="02020603050405020304" pitchFamily="18" charset="0"/>
                <a:ea typeface="方正大标宋简体" panose="02010601030101010101" pitchFamily="2" charset="-122"/>
                <a:cs typeface="Times New Roman" panose="02020603050405020304" pitchFamily="18" charset="0"/>
              </a:rPr>
              <a:t>ID</a:t>
            </a:r>
            <a:r>
              <a:rPr lang="zh-CN" altLang="en-US" sz="100" dirty="0">
                <a:latin typeface="Times New Roman" panose="02020603050405020304" pitchFamily="18" charset="0"/>
                <a:ea typeface="方正大标宋简体" panose="02010601030101010101" pitchFamily="2" charset="-122"/>
                <a:cs typeface="Times New Roman" panose="02020603050405020304" pitchFamily="18" charset="0"/>
              </a:rPr>
              <a:t>和</a:t>
            </a:r>
            <a:r>
              <a:rPr lang="en-US" altLang="zh-CN" sz="100" dirty="0">
                <a:latin typeface="Times New Roman" panose="02020603050405020304" pitchFamily="18" charset="0"/>
                <a:ea typeface="方正大标宋简体" panose="02010601030101010101" pitchFamily="2" charset="-122"/>
                <a:cs typeface="Times New Roman" panose="02020603050405020304" pitchFamily="18" charset="0"/>
              </a:rPr>
              <a:t>GPS</a:t>
            </a:r>
            <a:r>
              <a:rPr lang="zh-CN" altLang="en-US" sz="100" dirty="0">
                <a:latin typeface="Times New Roman" panose="02020603050405020304" pitchFamily="18" charset="0"/>
                <a:ea typeface="方正大标宋简体" panose="02010601030101010101" pitchFamily="2" charset="-122"/>
                <a:cs typeface="Times New Roman" panose="02020603050405020304" pitchFamily="18" charset="0"/>
              </a:rPr>
              <a:t>坐标等，涉及全球 </a:t>
            </a:r>
            <a:r>
              <a:rPr lang="en-US" altLang="zh-CN" sz="100" dirty="0">
                <a:latin typeface="Times New Roman" panose="02020603050405020304" pitchFamily="18" charset="0"/>
                <a:ea typeface="方正大标宋简体" panose="02010601030101010101" pitchFamily="2" charset="-122"/>
                <a:cs typeface="Times New Roman" panose="02020603050405020304" pitchFamily="18" charset="0"/>
              </a:rPr>
              <a:t>70 </a:t>
            </a:r>
            <a:r>
              <a:rPr lang="zh-CN" altLang="en-US" sz="100" dirty="0">
                <a:latin typeface="Times New Roman" panose="02020603050405020304" pitchFamily="18" charset="0"/>
                <a:ea typeface="方正大标宋简体" panose="02010601030101010101" pitchFamily="2" charset="-122"/>
                <a:cs typeface="Times New Roman" panose="02020603050405020304" pitchFamily="18" charset="0"/>
              </a:rPr>
              <a:t>多个国家和地区的用户都处于潜在危险之中。</a:t>
            </a:r>
            <a:endParaRPr lang="en-US" altLang="zh-CN" sz="100" dirty="0">
              <a:latin typeface="Times New Roman" panose="02020603050405020304" pitchFamily="18" charset="0"/>
              <a:ea typeface="方正大标宋简体" panose="02010601030101010101" pitchFamily="2" charset="-122"/>
              <a:cs typeface="Times New Roman" panose="02020603050405020304" pitchFamily="18" charset="0"/>
            </a:endParaRPr>
          </a:p>
          <a:p>
            <a:r>
              <a:rPr lang="zh-CN" altLang="en-US" sz="100" dirty="0">
                <a:solidFill>
                  <a:srgbClr val="FF0000"/>
                </a:solidFill>
                <a:latin typeface="Times New Roman" panose="02020603050405020304" pitchFamily="18" charset="0"/>
                <a:ea typeface="方正大标宋简体" panose="02010601030101010101" pitchFamily="2" charset="-122"/>
                <a:cs typeface="Times New Roman" panose="02020603050405020304" pitchFamily="18" charset="0"/>
              </a:rPr>
              <a:t>暴露的</a:t>
            </a:r>
            <a:r>
              <a:rPr lang="en-US" altLang="zh-CN" sz="100" dirty="0">
                <a:solidFill>
                  <a:srgbClr val="FF0000"/>
                </a:solidFill>
                <a:latin typeface="Times New Roman" panose="02020603050405020304" pitchFamily="18" charset="0"/>
                <a:ea typeface="方正大标宋简体" panose="02010601030101010101" pitchFamily="2" charset="-122"/>
                <a:cs typeface="Times New Roman" panose="02020603050405020304" pitchFamily="18" charset="0"/>
              </a:rPr>
              <a:t>6.5 TB</a:t>
            </a:r>
            <a:r>
              <a:rPr lang="zh-CN" altLang="en-US" sz="100" dirty="0">
                <a:solidFill>
                  <a:srgbClr val="FF0000"/>
                </a:solidFill>
                <a:latin typeface="Times New Roman" panose="02020603050405020304" pitchFamily="18" charset="0"/>
                <a:ea typeface="方正大标宋简体" panose="02010601030101010101" pitchFamily="2" charset="-122"/>
                <a:cs typeface="Times New Roman" panose="02020603050405020304" pitchFamily="18" charset="0"/>
              </a:rPr>
              <a:t>服务器每天接收多达</a:t>
            </a:r>
            <a:r>
              <a:rPr lang="en-US" altLang="zh-CN" sz="100" dirty="0">
                <a:solidFill>
                  <a:srgbClr val="FF0000"/>
                </a:solidFill>
                <a:latin typeface="Times New Roman" panose="02020603050405020304" pitchFamily="18" charset="0"/>
                <a:ea typeface="方正大标宋简体" panose="02010601030101010101" pitchFamily="2" charset="-122"/>
                <a:cs typeface="Times New Roman" panose="02020603050405020304" pitchFamily="18" charset="0"/>
              </a:rPr>
              <a:t>200G</a:t>
            </a:r>
            <a:r>
              <a:rPr lang="zh-CN" altLang="en-US" sz="100" dirty="0">
                <a:solidFill>
                  <a:srgbClr val="FF0000"/>
                </a:solidFill>
                <a:latin typeface="Times New Roman" panose="02020603050405020304" pitchFamily="18" charset="0"/>
                <a:ea typeface="方正大标宋简体" panose="02010601030101010101" pitchFamily="2" charset="-122"/>
                <a:cs typeface="Times New Roman" panose="02020603050405020304" pitchFamily="18" charset="0"/>
              </a:rPr>
              <a:t>的数据。</a:t>
            </a:r>
            <a:endParaRPr lang="zh-CN" altLang="en-US" sz="100" dirty="0">
              <a:solidFill>
                <a:srgbClr val="FF0000"/>
              </a:solidFill>
              <a:latin typeface="Times New Roman" panose="02020603050405020304" pitchFamily="18" charset="0"/>
              <a:ea typeface="方正大标宋简体" panose="02010601030101010101" pitchFamily="2" charset="-122"/>
              <a:cs typeface="Times New Roman" panose="02020603050405020304" pitchFamily="18" charset="0"/>
            </a:endParaRPr>
          </a:p>
        </p:txBody>
      </p:sp>
      <p:grpSp>
        <p:nvGrpSpPr>
          <p:cNvPr id="8" name="组合 7"/>
          <p:cNvGrpSpPr/>
          <p:nvPr/>
        </p:nvGrpSpPr>
        <p:grpSpPr>
          <a:xfrm>
            <a:off x="689861" y="2276872"/>
            <a:ext cx="5937890" cy="4326236"/>
            <a:chOff x="612841" y="2689701"/>
            <a:chExt cx="4653979" cy="3515067"/>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2841" y="2689701"/>
              <a:ext cx="4017674" cy="2283231"/>
            </a:xfrm>
            <a:prstGeom prst="rect">
              <a:avLst/>
            </a:prstGeom>
            <a:noFill/>
            <a:ln>
              <a:noFill/>
            </a:ln>
            <a:effectLst>
              <a:outerShdw blurRad="149987" dist="250190" dir="8460000" algn="ctr">
                <a:srgbClr val="000000">
                  <a:alpha val="28000"/>
                </a:srgbClr>
              </a:outerShdw>
            </a:effectLst>
            <a:sp3d prstMaterial="metal">
              <a:bevelT w="88900" h="88900"/>
            </a:sp3d>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648" y="4149080"/>
              <a:ext cx="3482172" cy="2055688"/>
            </a:xfrm>
            <a:prstGeom prst="rect">
              <a:avLst/>
            </a:prstGeom>
            <a:noFill/>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4756"/>
                                        </p:tgtEl>
                                        <p:attrNameLst>
                                          <p:attrName>style.visibility</p:attrName>
                                        </p:attrNameLst>
                                      </p:cBhvr>
                                      <p:to>
                                        <p:strVal val="visible"/>
                                      </p:to>
                                    </p:set>
                                    <p:animEffect transition="in" filter="wipe(up)">
                                      <p:cBhvr>
                                        <p:cTn id="7" dur="1000"/>
                                        <p:tgtEl>
                                          <p:spTgt spid="74756"/>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矩形 4"/>
          <p:cNvSpPr>
            <a:spLocks noChangeArrowheads="1"/>
          </p:cNvSpPr>
          <p:nvPr/>
        </p:nvSpPr>
        <p:spPr bwMode="auto">
          <a:xfrm>
            <a:off x="421369" y="1656495"/>
            <a:ext cx="5760640" cy="213550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60" b="1" dirty="0">
                <a:latin typeface="Times New Roman" panose="02020603050405020304" pitchFamily="18" charset="0"/>
                <a:ea typeface="+mn-ea"/>
                <a:cs typeface="Times New Roman" panose="02020603050405020304" pitchFamily="18" charset="0"/>
              </a:rPr>
              <a:t>NBC</a:t>
            </a:r>
            <a:r>
              <a:rPr lang="zh-CN" altLang="en-US" sz="2460" b="1" dirty="0">
                <a:latin typeface="Times New Roman" panose="02020603050405020304" pitchFamily="18" charset="0"/>
                <a:ea typeface="+mn-ea"/>
                <a:cs typeface="Times New Roman" panose="02020603050405020304" pitchFamily="18" charset="0"/>
              </a:rPr>
              <a:t>新闻网于</a:t>
            </a:r>
            <a:r>
              <a:rPr lang="en-US" altLang="zh-CN" sz="2460" b="1" dirty="0">
                <a:solidFill>
                  <a:srgbClr val="0000FF"/>
                </a:solidFill>
                <a:latin typeface="Times New Roman" panose="02020603050405020304" pitchFamily="18" charset="0"/>
                <a:ea typeface="+mn-ea"/>
                <a:cs typeface="Times New Roman" panose="02020603050405020304" pitchFamily="18" charset="0"/>
              </a:rPr>
              <a:t>2020</a:t>
            </a:r>
            <a:r>
              <a:rPr lang="zh-CN" altLang="en-US" sz="2460" b="1" dirty="0">
                <a:solidFill>
                  <a:srgbClr val="0000FF"/>
                </a:solidFill>
                <a:latin typeface="Times New Roman" panose="02020603050405020304" pitchFamily="18" charset="0"/>
                <a:ea typeface="+mn-ea"/>
                <a:cs typeface="Times New Roman" panose="02020603050405020304" pitchFamily="18" charset="0"/>
              </a:rPr>
              <a:t>年</a:t>
            </a:r>
            <a:r>
              <a:rPr lang="en-US" altLang="zh-CN" sz="2460" b="1" dirty="0">
                <a:solidFill>
                  <a:srgbClr val="0000FF"/>
                </a:solidFill>
                <a:latin typeface="Times New Roman" panose="02020603050405020304" pitchFamily="18" charset="0"/>
                <a:ea typeface="+mn-ea"/>
                <a:cs typeface="Times New Roman" panose="02020603050405020304" pitchFamily="18" charset="0"/>
              </a:rPr>
              <a:t>10</a:t>
            </a:r>
            <a:r>
              <a:rPr lang="zh-CN" altLang="en-US" sz="2460" b="1" dirty="0">
                <a:solidFill>
                  <a:srgbClr val="0000FF"/>
                </a:solidFill>
                <a:latin typeface="Times New Roman" panose="02020603050405020304" pitchFamily="18" charset="0"/>
                <a:ea typeface="+mn-ea"/>
                <a:cs typeface="Times New Roman" panose="02020603050405020304" pitchFamily="18" charset="0"/>
              </a:rPr>
              <a:t>月</a:t>
            </a:r>
            <a:r>
              <a:rPr lang="en-US" altLang="zh-CN" sz="2460" b="1" dirty="0">
                <a:solidFill>
                  <a:srgbClr val="0000FF"/>
                </a:solidFill>
                <a:latin typeface="Times New Roman" panose="02020603050405020304" pitchFamily="18" charset="0"/>
                <a:ea typeface="+mn-ea"/>
                <a:cs typeface="Times New Roman" panose="02020603050405020304" pitchFamily="18" charset="0"/>
              </a:rPr>
              <a:t>22</a:t>
            </a:r>
            <a:r>
              <a:rPr lang="zh-CN" altLang="en-US" sz="2460" b="1" dirty="0">
                <a:latin typeface="Times New Roman" panose="02020603050405020304" pitchFamily="18" charset="0"/>
                <a:ea typeface="+mn-ea"/>
                <a:cs typeface="Times New Roman" panose="02020603050405020304" pitchFamily="18" charset="0"/>
              </a:rPr>
              <a:t>日报道，美国一家网络安全公司</a:t>
            </a:r>
            <a:r>
              <a:rPr lang="en-US" altLang="zh-CN" sz="2460" b="1" dirty="0" err="1">
                <a:latin typeface="Times New Roman" panose="02020603050405020304" pitchFamily="18" charset="0"/>
                <a:ea typeface="+mn-ea"/>
                <a:cs typeface="Times New Roman" panose="02020603050405020304" pitchFamily="18" charset="0"/>
              </a:rPr>
              <a:t>Trustwave</a:t>
            </a:r>
            <a:r>
              <a:rPr lang="zh-CN" altLang="en-US" sz="2460" b="1" dirty="0">
                <a:latin typeface="Times New Roman" panose="02020603050405020304" pitchFamily="18" charset="0"/>
                <a:ea typeface="+mn-ea"/>
                <a:cs typeface="Times New Roman" panose="02020603050405020304" pitchFamily="18" charset="0"/>
              </a:rPr>
              <a:t>表示，他们发现一名黑客正在出售超过</a:t>
            </a:r>
            <a:r>
              <a:rPr lang="en-US" altLang="zh-CN" sz="2460" b="1" dirty="0">
                <a:latin typeface="Times New Roman" panose="02020603050405020304" pitchFamily="18" charset="0"/>
                <a:ea typeface="+mn-ea"/>
                <a:cs typeface="Times New Roman" panose="02020603050405020304" pitchFamily="18" charset="0"/>
              </a:rPr>
              <a:t>2</a:t>
            </a:r>
            <a:r>
              <a:rPr lang="zh-CN" altLang="en-US" sz="2460" b="1" dirty="0">
                <a:latin typeface="Times New Roman" panose="02020603050405020304" pitchFamily="18" charset="0"/>
                <a:ea typeface="+mn-ea"/>
                <a:cs typeface="Times New Roman" panose="02020603050405020304" pitchFamily="18" charset="0"/>
              </a:rPr>
              <a:t>亿美国人的个人识别信息，其中包括</a:t>
            </a:r>
            <a:r>
              <a:rPr lang="en-US" altLang="zh-CN" sz="3445" b="1" dirty="0">
                <a:solidFill>
                  <a:srgbClr val="FF0000"/>
                </a:solidFill>
                <a:latin typeface="Times New Roman" panose="02020603050405020304" pitchFamily="18" charset="0"/>
                <a:ea typeface="+mn-ea"/>
                <a:cs typeface="Times New Roman" panose="02020603050405020304" pitchFamily="18" charset="0"/>
              </a:rPr>
              <a:t>1.86</a:t>
            </a:r>
            <a:r>
              <a:rPr lang="zh-CN" altLang="en-US" sz="3445" b="1" dirty="0">
                <a:solidFill>
                  <a:srgbClr val="FF0000"/>
                </a:solidFill>
                <a:latin typeface="Times New Roman" panose="02020603050405020304" pitchFamily="18" charset="0"/>
                <a:ea typeface="+mn-ea"/>
                <a:cs typeface="Times New Roman" panose="02020603050405020304" pitchFamily="18" charset="0"/>
              </a:rPr>
              <a:t>亿</a:t>
            </a:r>
            <a:r>
              <a:rPr lang="zh-CN" altLang="en-US" sz="2460" b="1" dirty="0">
                <a:latin typeface="Times New Roman" panose="02020603050405020304" pitchFamily="18" charset="0"/>
                <a:ea typeface="+mn-ea"/>
                <a:cs typeface="Times New Roman" panose="02020603050405020304" pitchFamily="18" charset="0"/>
              </a:rPr>
              <a:t>选民的注册数据。</a:t>
            </a:r>
            <a:endParaRPr lang="zh-CN" altLang="en-US" sz="2460" b="1" dirty="0">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405424" y="4847004"/>
            <a:ext cx="6096000" cy="106680"/>
          </a:xfrm>
          <a:prstGeom prst="rect">
            <a:avLst/>
          </a:prstGeom>
        </p:spPr>
        <p:txBody>
          <a:bodyPr>
            <a:spAutoFit/>
          </a:bodyPr>
          <a:lstStyle/>
          <a:p>
            <a:r>
              <a:rPr lang="zh-CN" altLang="en-US" sz="100" dirty="0">
                <a:latin typeface="方正大标宋简体" panose="02010601030101010101" pitchFamily="2" charset="-122"/>
                <a:ea typeface="方正大标宋简体" panose="02010601030101010101" pitchFamily="2" charset="-122"/>
              </a:rPr>
              <a:t>泄露的信息包括：姓名、电子邮件地址、电话号码和选民登记记录的信息数据等。</a:t>
            </a:r>
            <a:endParaRPr lang="zh-CN" altLang="en-US" sz="100" dirty="0">
              <a:latin typeface="方正大标宋简体" panose="02010601030101010101" pitchFamily="2" charset="-122"/>
              <a:ea typeface="方正大标宋简体" panose="02010601030101010101" pitchFamily="2" charset="-122"/>
            </a:endParaRPr>
          </a:p>
        </p:txBody>
      </p:sp>
      <p:sp>
        <p:nvSpPr>
          <p:cNvPr id="75778" name="矩形 3"/>
          <p:cNvSpPr>
            <a:spLocks noChangeArrowheads="1"/>
          </p:cNvSpPr>
          <p:nvPr/>
        </p:nvSpPr>
        <p:spPr bwMode="auto">
          <a:xfrm>
            <a:off x="246735" y="247084"/>
            <a:ext cx="9040447" cy="546100"/>
          </a:xfrm>
          <a:prstGeom prst="rect">
            <a:avLst/>
          </a:prstGeom>
        </p:spPr>
        <p:txBody>
          <a:bodyPr>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No.8: </a:t>
            </a:r>
            <a:r>
              <a:rPr lang="zh-CN" altLang="en-US" sz="2955" b="1" dirty="0">
                <a:solidFill>
                  <a:srgbClr val="0000FF"/>
                </a:solidFill>
                <a:latin typeface="Times New Roman" panose="02020603050405020304" pitchFamily="18" charset="0"/>
                <a:ea typeface="+mn-ea"/>
                <a:cs typeface="Times New Roman" panose="02020603050405020304" pitchFamily="18" charset="0"/>
              </a:rPr>
              <a:t>美国</a:t>
            </a:r>
            <a:r>
              <a:rPr lang="en-US" altLang="zh-CN" sz="2955" b="1" dirty="0">
                <a:solidFill>
                  <a:srgbClr val="0000FF"/>
                </a:solidFill>
                <a:latin typeface="Times New Roman" panose="02020603050405020304" pitchFamily="18" charset="0"/>
                <a:ea typeface="+mn-ea"/>
                <a:cs typeface="Times New Roman" panose="02020603050405020304" pitchFamily="18" charset="0"/>
              </a:rPr>
              <a:t>1.86</a:t>
            </a:r>
            <a:r>
              <a:rPr lang="zh-CN" altLang="en-US" sz="2955" b="1" dirty="0">
                <a:solidFill>
                  <a:srgbClr val="0000FF"/>
                </a:solidFill>
                <a:latin typeface="Times New Roman" panose="02020603050405020304" pitchFamily="18" charset="0"/>
                <a:ea typeface="+mn-ea"/>
                <a:cs typeface="Times New Roman" panose="02020603050405020304" pitchFamily="18" charset="0"/>
              </a:rPr>
              <a:t>亿选民数据在暗网被黑客出售</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grpSp>
        <p:nvGrpSpPr>
          <p:cNvPr id="10" name="组合 9"/>
          <p:cNvGrpSpPr/>
          <p:nvPr/>
        </p:nvGrpSpPr>
        <p:grpSpPr>
          <a:xfrm>
            <a:off x="6982252" y="970199"/>
            <a:ext cx="5051372" cy="5865678"/>
            <a:chOff x="5673080" y="1431224"/>
            <a:chExt cx="4104240" cy="4765863"/>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89104" y="1431224"/>
              <a:ext cx="3888216" cy="2327077"/>
            </a:xfrm>
            <a:prstGeom prst="rect">
              <a:avLst/>
            </a:prstGeom>
            <a:noFill/>
            <a:ln>
              <a:no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3080" y="3731261"/>
              <a:ext cx="3307404" cy="2465826"/>
            </a:xfrm>
            <a:prstGeom prst="rect">
              <a:avLst/>
            </a:prstGeom>
            <a:noFill/>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5779"/>
                                        </p:tgtEl>
                                        <p:attrNameLst>
                                          <p:attrName>style.visibility</p:attrName>
                                        </p:attrNameLst>
                                      </p:cBhvr>
                                      <p:to>
                                        <p:strVal val="visible"/>
                                      </p:to>
                                    </p:set>
                                    <p:anim calcmode="lin" valueType="num">
                                      <p:cBhvr additive="base">
                                        <p:cTn id="7" dur="1000" fill="hold"/>
                                        <p:tgtEl>
                                          <p:spTgt spid="75779"/>
                                        </p:tgtEl>
                                        <p:attrNameLst>
                                          <p:attrName>ppt_x</p:attrName>
                                        </p:attrNameLst>
                                      </p:cBhvr>
                                      <p:tavLst>
                                        <p:tav tm="0">
                                          <p:val>
                                            <p:strVal val="0-#ppt_w/2"/>
                                          </p:val>
                                        </p:tav>
                                        <p:tav tm="100000">
                                          <p:val>
                                            <p:strVal val="#ppt_x"/>
                                          </p:val>
                                        </p:tav>
                                      </p:tavLst>
                                    </p:anim>
                                    <p:anim calcmode="lin" valueType="num">
                                      <p:cBhvr additive="base">
                                        <p:cTn id="8" dur="1000" fill="hold"/>
                                        <p:tgtEl>
                                          <p:spTgt spid="7577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3"/>
          <p:cNvSpPr>
            <a:spLocks noChangeArrowheads="1"/>
          </p:cNvSpPr>
          <p:nvPr/>
        </p:nvSpPr>
        <p:spPr bwMode="auto">
          <a:xfrm>
            <a:off x="246185" y="224692"/>
            <a:ext cx="10742246" cy="546100"/>
          </a:xfrm>
          <a:prstGeom prst="rect">
            <a:avLst/>
          </a:prstGeom>
        </p:spPr>
        <p:txBody>
          <a:bodyPr>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No.9: </a:t>
            </a:r>
            <a:r>
              <a:rPr lang="zh-CN" altLang="en-US" sz="2955" b="1" dirty="0">
                <a:solidFill>
                  <a:srgbClr val="0000FF"/>
                </a:solidFill>
                <a:latin typeface="Times New Roman" panose="02020603050405020304" pitchFamily="18" charset="0"/>
                <a:ea typeface="+mn-ea"/>
                <a:cs typeface="Times New Roman" panose="02020603050405020304" pitchFamily="18" charset="0"/>
              </a:rPr>
              <a:t>富士康被黑客攻击，索要</a:t>
            </a:r>
            <a:r>
              <a:rPr lang="en-US" altLang="zh-CN" sz="2955" b="1" dirty="0">
                <a:solidFill>
                  <a:srgbClr val="0000FF"/>
                </a:solidFill>
                <a:latin typeface="Times New Roman" panose="02020603050405020304" pitchFamily="18" charset="0"/>
                <a:ea typeface="+mn-ea"/>
                <a:cs typeface="Times New Roman" panose="02020603050405020304" pitchFamily="18" charset="0"/>
              </a:rPr>
              <a:t>2.3</a:t>
            </a:r>
            <a:r>
              <a:rPr lang="zh-CN" altLang="en-US" sz="2955" b="1" dirty="0">
                <a:solidFill>
                  <a:srgbClr val="0000FF"/>
                </a:solidFill>
                <a:latin typeface="Times New Roman" panose="02020603050405020304" pitchFamily="18" charset="0"/>
                <a:ea typeface="+mn-ea"/>
                <a:cs typeface="Times New Roman" panose="02020603050405020304" pitchFamily="18" charset="0"/>
              </a:rPr>
              <a:t>亿赎金</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68611" name="矩形 4"/>
          <p:cNvSpPr>
            <a:spLocks noChangeArrowheads="1"/>
          </p:cNvSpPr>
          <p:nvPr/>
        </p:nvSpPr>
        <p:spPr bwMode="auto">
          <a:xfrm>
            <a:off x="6539126" y="1462611"/>
            <a:ext cx="4830854" cy="2425065"/>
          </a:xfrm>
          <a:prstGeom prst="rect">
            <a:avLst/>
          </a:prstGeom>
          <a:noFill/>
          <a:ln>
            <a:noFill/>
          </a:ln>
        </p:spPr>
        <p:txBody>
          <a:bodyPr wrap="square">
            <a:spAutoFit/>
          </a:bodyPr>
          <a:lstStyle>
            <a:lvl1pPr marL="285750" indent="-2857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marL="0" indent="0">
              <a:lnSpc>
                <a:spcPts val="2600"/>
              </a:lnSpc>
              <a:spcBef>
                <a:spcPct val="0"/>
              </a:spcBef>
              <a:buClrTx/>
              <a:buNone/>
              <a:defRPr/>
            </a:pPr>
            <a:r>
              <a:rPr lang="en-US" altLang="zh-CN" sz="2215" b="1" dirty="0">
                <a:solidFill>
                  <a:srgbClr val="0000FF"/>
                </a:solidFill>
                <a:latin typeface="Times New Roman" panose="02020603050405020304" pitchFamily="18" charset="0"/>
                <a:ea typeface="+mn-ea"/>
                <a:cs typeface="Times New Roman" panose="02020603050405020304" pitchFamily="18" charset="0"/>
              </a:rPr>
              <a:t>2020</a:t>
            </a:r>
            <a:r>
              <a:rPr lang="zh-CN" altLang="en-US" sz="2215" b="1" dirty="0">
                <a:solidFill>
                  <a:srgbClr val="0000FF"/>
                </a:solidFill>
                <a:latin typeface="Times New Roman" panose="02020603050405020304" pitchFamily="18" charset="0"/>
                <a:ea typeface="+mn-ea"/>
                <a:cs typeface="Times New Roman" panose="02020603050405020304" pitchFamily="18" charset="0"/>
              </a:rPr>
              <a:t>年</a:t>
            </a:r>
            <a:r>
              <a:rPr lang="en-US" altLang="zh-CN" sz="2215" b="1" dirty="0">
                <a:solidFill>
                  <a:srgbClr val="0000FF"/>
                </a:solidFill>
                <a:latin typeface="Times New Roman" panose="02020603050405020304" pitchFamily="18" charset="0"/>
                <a:ea typeface="+mn-ea"/>
                <a:cs typeface="Times New Roman" panose="02020603050405020304" pitchFamily="18" charset="0"/>
              </a:rPr>
              <a:t>11 </a:t>
            </a:r>
            <a:r>
              <a:rPr lang="zh-CN" altLang="en-US" sz="2215" b="1" dirty="0">
                <a:solidFill>
                  <a:srgbClr val="0000FF"/>
                </a:solidFill>
                <a:latin typeface="Times New Roman" panose="02020603050405020304" pitchFamily="18" charset="0"/>
                <a:ea typeface="+mn-ea"/>
                <a:cs typeface="Times New Roman" panose="02020603050405020304" pitchFamily="18" charset="0"/>
              </a:rPr>
              <a:t>月 </a:t>
            </a:r>
            <a:r>
              <a:rPr lang="en-US" altLang="zh-CN" sz="2215" b="1" dirty="0">
                <a:solidFill>
                  <a:srgbClr val="0000FF"/>
                </a:solidFill>
                <a:latin typeface="Times New Roman" panose="02020603050405020304" pitchFamily="18" charset="0"/>
                <a:ea typeface="+mn-ea"/>
                <a:cs typeface="Times New Roman" panose="02020603050405020304" pitchFamily="18" charset="0"/>
              </a:rPr>
              <a:t>29 </a:t>
            </a:r>
            <a:r>
              <a:rPr lang="zh-CN" altLang="en-US" sz="2215" b="1" dirty="0">
                <a:solidFill>
                  <a:srgbClr val="0000FF"/>
                </a:solidFill>
                <a:latin typeface="Times New Roman" panose="02020603050405020304" pitchFamily="18" charset="0"/>
                <a:ea typeface="+mn-ea"/>
                <a:cs typeface="Times New Roman" panose="02020603050405020304" pitchFamily="18" charset="0"/>
              </a:rPr>
              <a:t>日前</a:t>
            </a:r>
            <a:r>
              <a:rPr lang="zh-CN" altLang="en-US" sz="2215" b="1" dirty="0">
                <a:latin typeface="Times New Roman" panose="02020603050405020304" pitchFamily="18" charset="0"/>
                <a:ea typeface="+mn-ea"/>
                <a:cs typeface="Times New Roman" panose="02020603050405020304" pitchFamily="18" charset="0"/>
              </a:rPr>
              <a:t>后，富士康在其位于墨西哥华雷斯城的富士康 </a:t>
            </a:r>
            <a:r>
              <a:rPr lang="en-US" altLang="zh-CN" sz="2215" b="1" dirty="0">
                <a:latin typeface="Times New Roman" panose="02020603050405020304" pitchFamily="18" charset="0"/>
                <a:ea typeface="+mn-ea"/>
                <a:cs typeface="Times New Roman" panose="02020603050405020304" pitchFamily="18" charset="0"/>
              </a:rPr>
              <a:t>CTBG MX </a:t>
            </a:r>
            <a:r>
              <a:rPr lang="zh-CN" altLang="en-US" sz="2215" b="1" dirty="0">
                <a:latin typeface="Times New Roman" panose="02020603050405020304" pitchFamily="18" charset="0"/>
                <a:ea typeface="+mn-ea"/>
                <a:cs typeface="Times New Roman" panose="02020603050405020304" pitchFamily="18" charset="0"/>
              </a:rPr>
              <a:t>设备遭受了攻击。攻击者在对设备加密之前先窃取了未经加密的文件，不法分子声称已加密约</a:t>
            </a:r>
            <a:r>
              <a:rPr lang="en-US" altLang="zh-CN" sz="2215" b="1" dirty="0">
                <a:latin typeface="Times New Roman" panose="02020603050405020304" pitchFamily="18" charset="0"/>
                <a:ea typeface="+mn-ea"/>
                <a:cs typeface="Times New Roman" panose="02020603050405020304" pitchFamily="18" charset="0"/>
              </a:rPr>
              <a:t>1200</a:t>
            </a:r>
            <a:r>
              <a:rPr lang="zh-CN" altLang="en-US" sz="2215" b="1" dirty="0">
                <a:latin typeface="Times New Roman" panose="02020603050405020304" pitchFamily="18" charset="0"/>
                <a:ea typeface="+mn-ea"/>
                <a:cs typeface="Times New Roman" panose="02020603050405020304" pitchFamily="18" charset="0"/>
              </a:rPr>
              <a:t>台服务器，窃取了</a:t>
            </a:r>
            <a:r>
              <a:rPr lang="en-US" altLang="zh-CN" sz="2215" b="1" dirty="0">
                <a:latin typeface="Times New Roman" panose="02020603050405020304" pitchFamily="18" charset="0"/>
                <a:ea typeface="+mn-ea"/>
                <a:cs typeface="Times New Roman" panose="02020603050405020304" pitchFamily="18" charset="0"/>
              </a:rPr>
              <a:t>100 GB</a:t>
            </a:r>
            <a:r>
              <a:rPr lang="zh-CN" altLang="en-US" sz="2215" b="1" dirty="0">
                <a:latin typeface="Times New Roman" panose="02020603050405020304" pitchFamily="18" charset="0"/>
                <a:ea typeface="+mn-ea"/>
                <a:cs typeface="Times New Roman" panose="02020603050405020304" pitchFamily="18" charset="0"/>
              </a:rPr>
              <a:t>的未加密文件，并删除</a:t>
            </a:r>
            <a:r>
              <a:rPr lang="en-US" altLang="zh-CN" sz="2215" b="1" dirty="0">
                <a:latin typeface="Times New Roman" panose="02020603050405020304" pitchFamily="18" charset="0"/>
                <a:ea typeface="+mn-ea"/>
                <a:cs typeface="Times New Roman" panose="02020603050405020304" pitchFamily="18" charset="0"/>
              </a:rPr>
              <a:t>20</a:t>
            </a:r>
            <a:r>
              <a:rPr lang="zh-CN" altLang="en-US" sz="2215" b="1" dirty="0">
                <a:latin typeface="Times New Roman" panose="02020603050405020304" pitchFamily="18" charset="0"/>
                <a:ea typeface="+mn-ea"/>
                <a:cs typeface="Times New Roman" panose="02020603050405020304" pitchFamily="18" charset="0"/>
              </a:rPr>
              <a:t>～</a:t>
            </a:r>
            <a:r>
              <a:rPr lang="en-US" altLang="zh-CN" sz="2215" b="1" dirty="0">
                <a:latin typeface="Times New Roman" panose="02020603050405020304" pitchFamily="18" charset="0"/>
                <a:ea typeface="+mn-ea"/>
                <a:cs typeface="Times New Roman" panose="02020603050405020304" pitchFamily="18" charset="0"/>
              </a:rPr>
              <a:t>30TB</a:t>
            </a:r>
            <a:r>
              <a:rPr lang="zh-CN" altLang="en-US" sz="2215" b="1" dirty="0">
                <a:latin typeface="Times New Roman" panose="02020603050405020304" pitchFamily="18" charset="0"/>
                <a:ea typeface="+mn-ea"/>
                <a:cs typeface="Times New Roman" panose="02020603050405020304" pitchFamily="18" charset="0"/>
              </a:rPr>
              <a:t>的备份。</a:t>
            </a:r>
            <a:endParaRPr lang="zh-CN" altLang="en-US" sz="2215" b="1" dirty="0">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878598" y="5467380"/>
            <a:ext cx="10236993" cy="546100"/>
          </a:xfrm>
          <a:prstGeom prst="rect">
            <a:avLst/>
          </a:prstGeom>
        </p:spPr>
        <p:txBody>
          <a:bodyPr wrap="square">
            <a:spAutoFit/>
          </a:bodyPr>
          <a:lstStyle/>
          <a:p>
            <a:r>
              <a:rPr lang="zh-CN" altLang="en-US" sz="100" dirty="0">
                <a:latin typeface="方正大标宋简体" panose="02010601030101010101" pitchFamily="2" charset="-122"/>
                <a:ea typeface="方正大标宋简体" panose="02010601030101010101" pitchFamily="2" charset="-122"/>
              </a:rPr>
              <a:t>勒索信里面附有指向</a:t>
            </a:r>
            <a:r>
              <a:rPr lang="en-US" altLang="zh-CN" sz="100" dirty="0" err="1">
                <a:latin typeface="方正大标宋简体" panose="02010601030101010101" pitchFamily="2" charset="-122"/>
                <a:ea typeface="方正大标宋简体" panose="02010601030101010101" pitchFamily="2" charset="-122"/>
              </a:rPr>
              <a:t>DoppelPaymer</a:t>
            </a:r>
            <a:r>
              <a:rPr lang="en-US" altLang="zh-CN" sz="100" dirty="0">
                <a:latin typeface="方正大标宋简体" panose="02010601030101010101" pitchFamily="2" charset="-122"/>
                <a:ea typeface="方正大标宋简体" panose="02010601030101010101" pitchFamily="2" charset="-122"/>
              </a:rPr>
              <a:t> Tor</a:t>
            </a:r>
            <a:r>
              <a:rPr lang="zh-CN" altLang="en-US" sz="100" dirty="0">
                <a:latin typeface="方正大标宋简体" panose="02010601030101010101" pitchFamily="2" charset="-122"/>
                <a:ea typeface="方正大标宋简体" panose="02010601030101010101" pitchFamily="2" charset="-122"/>
              </a:rPr>
              <a:t>付款网站上富士康受害者页面的链接，不法分子索要</a:t>
            </a:r>
            <a:r>
              <a:rPr lang="en-US" altLang="zh-CN" sz="2955" dirty="0">
                <a:solidFill>
                  <a:srgbClr val="FF0000"/>
                </a:solidFill>
                <a:latin typeface="方正大标宋简体" panose="02010601030101010101" pitchFamily="2" charset="-122"/>
                <a:ea typeface="方正大标宋简体" panose="02010601030101010101" pitchFamily="2" charset="-122"/>
              </a:rPr>
              <a:t>1804.0955</a:t>
            </a:r>
            <a:r>
              <a:rPr lang="zh-CN" altLang="en-US" sz="2955" dirty="0">
                <a:solidFill>
                  <a:srgbClr val="FF0000"/>
                </a:solidFill>
                <a:latin typeface="方正大标宋简体" panose="02010601030101010101" pitchFamily="2" charset="-122"/>
                <a:ea typeface="方正大标宋简体" panose="02010601030101010101" pitchFamily="2" charset="-122"/>
              </a:rPr>
              <a:t>个比特币</a:t>
            </a:r>
            <a:r>
              <a:rPr lang="zh-CN" altLang="en-US" sz="100" dirty="0">
                <a:latin typeface="方正大标宋简体" panose="02010601030101010101" pitchFamily="2" charset="-122"/>
                <a:ea typeface="方正大标宋简体" panose="02010601030101010101" pitchFamily="2" charset="-122"/>
              </a:rPr>
              <a:t>的赎金，按当天的比特币价格折算，约合</a:t>
            </a:r>
            <a:r>
              <a:rPr lang="en-US" altLang="zh-CN" sz="100" dirty="0">
                <a:latin typeface="方正大标宋简体" panose="02010601030101010101" pitchFamily="2" charset="-122"/>
                <a:ea typeface="方正大标宋简体" panose="02010601030101010101" pitchFamily="2" charset="-122"/>
              </a:rPr>
              <a:t>34686000</a:t>
            </a:r>
            <a:r>
              <a:rPr lang="zh-CN" altLang="en-US" sz="100" dirty="0">
                <a:latin typeface="方正大标宋简体" panose="02010601030101010101" pitchFamily="2" charset="-122"/>
                <a:ea typeface="方正大标宋简体" panose="02010601030101010101" pitchFamily="2" charset="-122"/>
              </a:rPr>
              <a:t>美元（</a:t>
            </a:r>
            <a:r>
              <a:rPr lang="en-US" altLang="zh-CN" sz="100" dirty="0">
                <a:latin typeface="方正大标宋简体" panose="02010601030101010101" pitchFamily="2" charset="-122"/>
                <a:ea typeface="方正大标宋简体" panose="02010601030101010101" pitchFamily="2" charset="-122"/>
              </a:rPr>
              <a:t>2.3</a:t>
            </a:r>
            <a:r>
              <a:rPr lang="zh-CN" altLang="en-US" sz="100" dirty="0">
                <a:latin typeface="方正大标宋简体" panose="02010601030101010101" pitchFamily="2" charset="-122"/>
                <a:ea typeface="方正大标宋简体" panose="02010601030101010101" pitchFamily="2" charset="-122"/>
              </a:rPr>
              <a:t>亿人民币）。</a:t>
            </a:r>
            <a:endParaRPr lang="zh-CN" altLang="en-US" sz="100" dirty="0">
              <a:latin typeface="方正大标宋简体" panose="02010601030101010101" pitchFamily="2" charset="-122"/>
              <a:ea typeface="方正大标宋简体" panose="02010601030101010101" pitchFamily="2" charset="-122"/>
            </a:endParaRPr>
          </a:p>
        </p:txBody>
      </p:sp>
      <p:grpSp>
        <p:nvGrpSpPr>
          <p:cNvPr id="7" name="组合 6"/>
          <p:cNvGrpSpPr/>
          <p:nvPr/>
        </p:nvGrpSpPr>
        <p:grpSpPr>
          <a:xfrm>
            <a:off x="512610" y="1124744"/>
            <a:ext cx="5362758" cy="4167515"/>
            <a:chOff x="416496" y="1556792"/>
            <a:chExt cx="4357241" cy="3386106"/>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16496" y="1556792"/>
              <a:ext cx="3472025" cy="2700822"/>
            </a:xfrm>
            <a:prstGeom prst="rect">
              <a:avLst/>
            </a:prstGeom>
            <a:noFill/>
            <a:ln>
              <a:noFill/>
            </a:ln>
            <a:effectLst>
              <a:outerShdw blurRad="149987" dist="250190" dir="8460000" algn="ctr">
                <a:srgbClr val="000000">
                  <a:alpha val="28000"/>
                </a:srgbClr>
              </a:outerShdw>
            </a:effectLst>
            <a:sp3d prstMaterial="metal">
              <a:bevelT w="88900" h="88900"/>
            </a:sp3d>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866" y="3284984"/>
              <a:ext cx="2486871" cy="1657914"/>
            </a:xfrm>
            <a:prstGeom prst="rect">
              <a:avLst/>
            </a:prstGeom>
            <a:noFill/>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8611"/>
                                        </p:tgtEl>
                                        <p:attrNameLst>
                                          <p:attrName>style.visibility</p:attrName>
                                        </p:attrNameLst>
                                      </p:cBhvr>
                                      <p:to>
                                        <p:strVal val="visible"/>
                                      </p:to>
                                    </p:set>
                                    <p:anim calcmode="lin" valueType="num">
                                      <p:cBhvr additive="base">
                                        <p:cTn id="7" dur="500" fill="hold"/>
                                        <p:tgtEl>
                                          <p:spTgt spid="68611"/>
                                        </p:tgtEl>
                                        <p:attrNameLst>
                                          <p:attrName>ppt_x</p:attrName>
                                        </p:attrNameLst>
                                      </p:cBhvr>
                                      <p:tavLst>
                                        <p:tav tm="0">
                                          <p:val>
                                            <p:strVal val="1+#ppt_w/2"/>
                                          </p:val>
                                        </p:tav>
                                        <p:tav tm="100000">
                                          <p:val>
                                            <p:strVal val="#ppt_x"/>
                                          </p:val>
                                        </p:tav>
                                      </p:tavLst>
                                    </p:anim>
                                    <p:anim calcmode="lin" valueType="num">
                                      <p:cBhvr additive="base">
                                        <p:cTn id="8" dur="500" fill="hold"/>
                                        <p:tgtEl>
                                          <p:spTgt spid="686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utoUpdateAnimBg="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3"/>
          <p:cNvSpPr>
            <a:spLocks noChangeArrowheads="1"/>
          </p:cNvSpPr>
          <p:nvPr/>
        </p:nvSpPr>
        <p:spPr bwMode="auto">
          <a:xfrm>
            <a:off x="511908" y="218831"/>
            <a:ext cx="11431954" cy="546100"/>
          </a:xfrm>
          <a:prstGeom prst="rect">
            <a:avLst/>
          </a:prstGeom>
        </p:spPr>
        <p:txBody>
          <a:bodyPr>
            <a:spAutoFit/>
          </a:bodyPr>
          <a:lstStyle/>
          <a:p>
            <a:pPr>
              <a:defRPr/>
            </a:pPr>
            <a:r>
              <a:rPr lang="en-US" altLang="zh-CN" sz="2955" b="1" dirty="0">
                <a:solidFill>
                  <a:srgbClr val="0000FF"/>
                </a:solidFill>
                <a:latin typeface="Times New Roman" panose="02020603050405020304" pitchFamily="18" charset="0"/>
                <a:ea typeface="+mn-ea"/>
                <a:cs typeface="Times New Roman" panose="02020603050405020304" pitchFamily="18" charset="0"/>
              </a:rPr>
              <a:t>No.10:  </a:t>
            </a:r>
            <a:r>
              <a:rPr lang="zh-CN" altLang="en-US" sz="2955" b="1" dirty="0">
                <a:solidFill>
                  <a:srgbClr val="0000FF"/>
                </a:solidFill>
                <a:latin typeface="Times New Roman" panose="02020603050405020304" pitchFamily="18" charset="0"/>
                <a:ea typeface="+mn-ea"/>
                <a:cs typeface="Times New Roman" panose="02020603050405020304" pitchFamily="18" charset="0"/>
              </a:rPr>
              <a:t>巴西卫生部官网存严重漏洞 </a:t>
            </a:r>
            <a:r>
              <a:rPr lang="en-US" altLang="zh-CN" sz="2955" b="1" dirty="0">
                <a:solidFill>
                  <a:srgbClr val="0000FF"/>
                </a:solidFill>
                <a:latin typeface="Times New Roman" panose="02020603050405020304" pitchFamily="18" charset="0"/>
                <a:ea typeface="+mn-ea"/>
                <a:cs typeface="Times New Roman" panose="02020603050405020304" pitchFamily="18" charset="0"/>
              </a:rPr>
              <a:t>2.43</a:t>
            </a:r>
            <a:r>
              <a:rPr lang="zh-CN" altLang="en-US" sz="2955" b="1" dirty="0">
                <a:solidFill>
                  <a:srgbClr val="0000FF"/>
                </a:solidFill>
                <a:latin typeface="Times New Roman" panose="02020603050405020304" pitchFamily="18" charset="0"/>
                <a:ea typeface="+mn-ea"/>
                <a:cs typeface="Times New Roman" panose="02020603050405020304" pitchFamily="18" charset="0"/>
              </a:rPr>
              <a:t>亿巴西人个人信息被泄露</a:t>
            </a:r>
            <a:endParaRPr lang="zh-CN" altLang="en-US" sz="2955" b="1" dirty="0">
              <a:solidFill>
                <a:srgbClr val="0000FF"/>
              </a:solidFill>
              <a:latin typeface="Times New Roman" panose="02020603050405020304" pitchFamily="18" charset="0"/>
              <a:ea typeface="+mn-ea"/>
              <a:cs typeface="Times New Roman" panose="02020603050405020304" pitchFamily="18" charset="0"/>
            </a:endParaRPr>
          </a:p>
        </p:txBody>
      </p:sp>
      <p:sp>
        <p:nvSpPr>
          <p:cNvPr id="70659" name="矩形 4"/>
          <p:cNvSpPr>
            <a:spLocks noChangeArrowheads="1"/>
          </p:cNvSpPr>
          <p:nvPr/>
        </p:nvSpPr>
        <p:spPr bwMode="auto">
          <a:xfrm>
            <a:off x="321511" y="1301994"/>
            <a:ext cx="6306240" cy="1758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600"/>
              </a:lnSpc>
              <a:spcBef>
                <a:spcPct val="0"/>
              </a:spcBef>
              <a:buClrTx/>
              <a:buNone/>
            </a:pP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巴西当地媒体 </a:t>
            </a:r>
            <a:r>
              <a:rPr lang="en-US" altLang="zh-CN" sz="2460" b="1" dirty="0" err="1">
                <a:latin typeface="方正大标宋简体" panose="02010601030101010101" pitchFamily="2" charset="-122"/>
                <a:ea typeface="方正大标宋简体" panose="02010601030101010101" pitchFamily="2" charset="-122"/>
                <a:cs typeface="Times New Roman" panose="02020603050405020304" pitchFamily="18" charset="0"/>
              </a:rPr>
              <a:t>Estadao</a:t>
            </a:r>
            <a:r>
              <a:rPr lang="en-US" altLang="zh-CN" sz="2460" b="1" dirty="0">
                <a:latin typeface="方正大标宋简体" panose="02010601030101010101" pitchFamily="2" charset="-122"/>
                <a:ea typeface="方正大标宋简体" panose="02010601030101010101" pitchFamily="2" charset="-122"/>
                <a:cs typeface="Times New Roman" panose="02020603050405020304" pitchFamily="18" charset="0"/>
              </a:rPr>
              <a:t> </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于</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2020</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年</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12</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月</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曝出：</a:t>
            </a:r>
            <a:r>
              <a:rPr lang="zh-CN" altLang="en-US" sz="2460" dirty="0">
                <a:latin typeface="方正大标宋简体" panose="02010601030101010101" pitchFamily="2" charset="-122"/>
                <a:ea typeface="方正大标宋简体" panose="02010601030101010101" pitchFamily="2" charset="-122"/>
              </a:rPr>
              <a:t> 继一周前</a:t>
            </a:r>
            <a:r>
              <a:rPr lang="en-US" altLang="zh-CN" sz="2460" dirty="0">
                <a:latin typeface="方正大标宋简体" panose="02010601030101010101" pitchFamily="2" charset="-122"/>
                <a:ea typeface="方正大标宋简体" panose="02010601030101010101" pitchFamily="2" charset="-122"/>
              </a:rPr>
              <a:t>1600 </a:t>
            </a:r>
            <a:r>
              <a:rPr lang="zh-CN" altLang="en-US" sz="2460" dirty="0">
                <a:latin typeface="方正大标宋简体" panose="02010601030101010101" pitchFamily="2" charset="-122"/>
                <a:ea typeface="方正大标宋简体" panose="02010601030101010101" pitchFamily="2" charset="-122"/>
              </a:rPr>
              <a:t>万巴西 </a:t>
            </a:r>
            <a:r>
              <a:rPr lang="en-US" altLang="zh-CN" sz="2460" dirty="0">
                <a:latin typeface="方正大标宋简体" panose="02010601030101010101" pitchFamily="2" charset="-122"/>
                <a:ea typeface="方正大标宋简体" panose="02010601030101010101" pitchFamily="2" charset="-122"/>
              </a:rPr>
              <a:t>COVID-19 </a:t>
            </a:r>
            <a:r>
              <a:rPr lang="zh-CN" altLang="en-US" sz="2460" dirty="0">
                <a:latin typeface="方正大标宋简体" panose="02010601030101010101" pitchFamily="2" charset="-122"/>
                <a:ea typeface="方正大标宋简体" panose="02010601030101010101" pitchFamily="2" charset="-122"/>
              </a:rPr>
              <a:t>患者个人数据被曝光之后，包括在世和已故的在内，有超过 </a:t>
            </a:r>
            <a:r>
              <a:rPr lang="en-US" altLang="zh-CN" sz="3445" dirty="0">
                <a:solidFill>
                  <a:srgbClr val="FF0000"/>
                </a:solidFill>
                <a:latin typeface="方正大标宋简体" panose="02010601030101010101" pitchFamily="2" charset="-122"/>
                <a:ea typeface="方正大标宋简体" panose="02010601030101010101" pitchFamily="2" charset="-122"/>
              </a:rPr>
              <a:t>2.43 </a:t>
            </a:r>
            <a:r>
              <a:rPr lang="zh-CN" altLang="en-US" sz="3445" dirty="0">
                <a:solidFill>
                  <a:srgbClr val="FF0000"/>
                </a:solidFill>
                <a:latin typeface="方正大标宋简体" panose="02010601030101010101" pitchFamily="2" charset="-122"/>
                <a:ea typeface="方正大标宋简体" panose="02010601030101010101" pitchFamily="2" charset="-122"/>
              </a:rPr>
              <a:t>亿</a:t>
            </a:r>
            <a:r>
              <a:rPr lang="zh-CN" altLang="en-US" sz="2460" dirty="0">
                <a:latin typeface="方正大标宋简体" panose="02010601030101010101" pitchFamily="2" charset="-122"/>
                <a:ea typeface="方正大标宋简体" panose="02010601030101010101" pitchFamily="2" charset="-122"/>
              </a:rPr>
              <a:t>巴西人的个人信息已经在网络上曝光。</a:t>
            </a:r>
            <a:endPar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sp>
        <p:nvSpPr>
          <p:cNvPr id="2" name="矩形 1"/>
          <p:cNvSpPr/>
          <p:nvPr/>
        </p:nvSpPr>
        <p:spPr>
          <a:xfrm>
            <a:off x="682585" y="4320452"/>
            <a:ext cx="5584092" cy="106680"/>
          </a:xfrm>
          <a:prstGeom prst="rect">
            <a:avLst/>
          </a:prstGeom>
        </p:spPr>
        <p:txBody>
          <a:bodyPr wrap="square">
            <a:spAutoFit/>
          </a:bodyPr>
          <a:lstStyle/>
          <a:p>
            <a:r>
              <a:rPr lang="zh-CN" altLang="en-US" sz="100" dirty="0">
                <a:latin typeface="方正大标宋简体" panose="02010601030101010101" pitchFamily="2" charset="-122"/>
                <a:ea typeface="方正大标宋简体" panose="02010601030101010101" pitchFamily="2" charset="-122"/>
              </a:rPr>
              <a:t>该数据库包含巴西人提供给政府的所有个人信息，从全名到家庭住址，从电话号码到医疗详细信息。</a:t>
            </a:r>
            <a:endParaRPr lang="zh-CN" altLang="en-US" sz="100" dirty="0">
              <a:latin typeface="方正大标宋简体" panose="02010601030101010101" pitchFamily="2" charset="-122"/>
              <a:ea typeface="方正大标宋简体" panose="02010601030101010101" pitchFamily="2" charset="-122"/>
            </a:endParaRPr>
          </a:p>
        </p:txBody>
      </p:sp>
      <p:grpSp>
        <p:nvGrpSpPr>
          <p:cNvPr id="5" name="组合 4"/>
          <p:cNvGrpSpPr/>
          <p:nvPr/>
        </p:nvGrpSpPr>
        <p:grpSpPr>
          <a:xfrm>
            <a:off x="6654121" y="1272674"/>
            <a:ext cx="4608512" cy="5374769"/>
            <a:chOff x="5419560" y="1628800"/>
            <a:chExt cx="3744416" cy="4367000"/>
          </a:xfrm>
          <a:scene3d>
            <a:camera prst="orthographicFront">
              <a:rot lat="0" lon="0" rev="0"/>
            </a:camera>
            <a:lightRig rig="glow" dir="t">
              <a:rot lat="0" lon="0" rev="4800000"/>
            </a:lightRig>
          </a:scene3d>
        </p:grpSpPr>
        <p:pic>
          <p:nvPicPr>
            <p:cNvPr id="164866" name="Picture 2" descr="https://wangzhan.360.cn/wp-content/uploads/2020/12/120410.jpeg?x-oss-process=image/resize,m_fill,w_1400,h_95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19560" y="1628800"/>
              <a:ext cx="3744416" cy="2540854"/>
            </a:xfrm>
            <a:prstGeom prst="rect">
              <a:avLst/>
            </a:prstGeom>
            <a:noFill/>
            <a:ln>
              <a:noFill/>
            </a:ln>
            <a:effectLst>
              <a:outerShdw blurRad="190500" dist="228600" dir="2700000" algn="ctr">
                <a:srgbClr val="000000">
                  <a:alpha val="30000"/>
                </a:srgbClr>
              </a:outerShdw>
            </a:effectLst>
            <a:sp3d prstMaterial="matte">
              <a:bevelT w="127000" h="63500"/>
            </a:sp3d>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9560" y="4169654"/>
              <a:ext cx="3744416" cy="1826146"/>
            </a:xfrm>
            <a:prstGeom prst="rect">
              <a:avLst/>
            </a:prstGeom>
            <a:noFill/>
            <a:ln>
              <a:noFill/>
            </a:ln>
            <a:effectLst>
              <a:outerShdw blurRad="190500" dist="228600" dir="2700000" algn="ctr">
                <a:srgbClr val="000000">
                  <a:alpha val="30000"/>
                </a:srgbClr>
              </a:outerShdw>
            </a:effectLst>
            <a:sp3d prstMaterial="matte">
              <a:bevelT w="127000" h="635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0659"/>
                                        </p:tgtEl>
                                        <p:attrNameLst>
                                          <p:attrName>style.visibility</p:attrName>
                                        </p:attrNameLst>
                                      </p:cBhvr>
                                      <p:to>
                                        <p:strVal val="visible"/>
                                      </p:to>
                                    </p:set>
                                    <p:anim calcmode="lin" valueType="num">
                                      <p:cBhvr additive="base">
                                        <p:cTn id="7" dur="500" fill="hold"/>
                                        <p:tgtEl>
                                          <p:spTgt spid="70659"/>
                                        </p:tgtEl>
                                        <p:attrNameLst>
                                          <p:attrName>ppt_x</p:attrName>
                                        </p:attrNameLst>
                                      </p:cBhvr>
                                      <p:tavLst>
                                        <p:tav tm="0">
                                          <p:val>
                                            <p:strVal val="#ppt_x"/>
                                          </p:val>
                                        </p:tav>
                                        <p:tav tm="100000">
                                          <p:val>
                                            <p:strVal val="#ppt_x"/>
                                          </p:val>
                                        </p:tav>
                                      </p:tavLst>
                                    </p:anim>
                                    <p:anim calcmode="lin" valueType="num">
                                      <p:cBhvr additive="base">
                                        <p:cTn id="8" dur="500" fill="hold"/>
                                        <p:tgtEl>
                                          <p:spTgt spid="7065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1311031" y="504093"/>
            <a:ext cx="9925538" cy="974969"/>
          </a:xfrm>
          <a:prstGeom prst="rect">
            <a:avLst/>
          </a:prstGeom>
          <a:noFill/>
          <a:ln w="9525">
            <a:noFill/>
            <a:miter lim="800000"/>
          </a:ln>
        </p:spPr>
        <p:txBody>
          <a:bodyPr lIns="116446" tIns="58222" rIns="116446" bIns="58222" anchor="ctr"/>
          <a:lstStyle/>
          <a:p>
            <a:pPr>
              <a:defRPr/>
            </a:pPr>
            <a:r>
              <a:rPr lang="zh-CN" altLang="en-US" sz="5415" b="1" kern="0" dirty="0">
                <a:latin typeface="Times New Roman" panose="02020603050405020304" pitchFamily="18" charset="0"/>
                <a:ea typeface="+mj-ea"/>
                <a:cs typeface="Times New Roman" panose="02020603050405020304" pitchFamily="18" charset="0"/>
              </a:rPr>
              <a:t>​</a:t>
            </a:r>
            <a:r>
              <a:rPr lang="en-US" altLang="zh-CN" sz="5415" b="1" kern="0" dirty="0">
                <a:latin typeface="Times New Roman" panose="02020603050405020304" pitchFamily="18" charset="0"/>
                <a:ea typeface="+mj-ea"/>
                <a:cs typeface="Times New Roman" panose="02020603050405020304" pitchFamily="18" charset="0"/>
              </a:rPr>
              <a:t>2020</a:t>
            </a:r>
            <a:r>
              <a:rPr lang="zh-CN" altLang="en-US" sz="5415" b="1" kern="0" dirty="0">
                <a:latin typeface="Times New Roman" panose="02020603050405020304" pitchFamily="18" charset="0"/>
                <a:ea typeface="+mj-ea"/>
                <a:cs typeface="Times New Roman" panose="02020603050405020304" pitchFamily="18" charset="0"/>
              </a:rPr>
              <a:t>年中国十大网络安全事件</a:t>
            </a:r>
            <a:endParaRPr lang="en-US" altLang="zh-CN" sz="5415" b="1" kern="0" dirty="0">
              <a:latin typeface="Times New Roman" panose="02020603050405020304" pitchFamily="18" charset="0"/>
              <a:ea typeface="+mj-ea"/>
              <a:cs typeface="Times New Roman" panose="02020603050405020304" pitchFamily="18"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41989" y="2010996"/>
            <a:ext cx="8439561" cy="424322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矩形 1"/>
          <p:cNvSpPr>
            <a:spLocks noChangeArrowheads="1"/>
          </p:cNvSpPr>
          <p:nvPr/>
        </p:nvSpPr>
        <p:spPr bwMode="auto">
          <a:xfrm>
            <a:off x="777631" y="238492"/>
            <a:ext cx="7535545" cy="546100"/>
          </a:xfrm>
          <a:prstGeom prst="rect">
            <a:avLst/>
          </a:prstGeom>
          <a:noFill/>
          <a:ln>
            <a:noFill/>
          </a:ln>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No.1  </a:t>
            </a:r>
            <a:r>
              <a:rPr lang="zh-CN" altLang="en-US" sz="2955" b="1" dirty="0">
                <a:solidFill>
                  <a:srgbClr val="FF0000"/>
                </a:solidFill>
                <a:latin typeface="Times New Roman" panose="02020603050405020304" pitchFamily="18" charset="0"/>
                <a:ea typeface="+mn-ea"/>
                <a:cs typeface="Times New Roman" panose="02020603050405020304" pitchFamily="18" charset="0"/>
              </a:rPr>
              <a:t>土耳其“图兰军”对我国网站发起攻击</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83971" name="矩形 2"/>
          <p:cNvSpPr>
            <a:spLocks noChangeArrowheads="1"/>
          </p:cNvSpPr>
          <p:nvPr/>
        </p:nvSpPr>
        <p:spPr bwMode="auto">
          <a:xfrm>
            <a:off x="512610" y="947494"/>
            <a:ext cx="10369152" cy="1378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460" b="1" dirty="0">
                <a:solidFill>
                  <a:srgbClr val="0000FF"/>
                </a:solidFill>
                <a:latin typeface="Times New Roman" panose="02020603050405020304" pitchFamily="18" charset="0"/>
                <a:cs typeface="Times New Roman" panose="02020603050405020304" pitchFamily="18" charset="0"/>
              </a:rPr>
              <a:t>​</a:t>
            </a:r>
            <a:r>
              <a:rPr lang="en-US" altLang="zh-CN" sz="2460" b="1" dirty="0">
                <a:solidFill>
                  <a:srgbClr val="0000FF"/>
                </a:solidFill>
                <a:latin typeface="Times New Roman" panose="02020603050405020304" pitchFamily="18" charset="0"/>
                <a:cs typeface="Times New Roman" panose="02020603050405020304" pitchFamily="18" charset="0"/>
              </a:rPr>
              <a:t>2020</a:t>
            </a:r>
            <a:r>
              <a:rPr lang="zh-CN" altLang="en-US" sz="2460" b="1" dirty="0">
                <a:solidFill>
                  <a:srgbClr val="0000FF"/>
                </a:solidFill>
                <a:latin typeface="Times New Roman" panose="02020603050405020304" pitchFamily="18" charset="0"/>
                <a:cs typeface="Times New Roman" panose="02020603050405020304" pitchFamily="18" charset="0"/>
              </a:rPr>
              <a:t>年</a:t>
            </a:r>
            <a:r>
              <a:rPr lang="en-US" altLang="zh-CN" sz="2460" b="1" dirty="0">
                <a:solidFill>
                  <a:srgbClr val="0000FF"/>
                </a:solidFill>
                <a:latin typeface="Times New Roman" panose="02020603050405020304" pitchFamily="18" charset="0"/>
                <a:cs typeface="Times New Roman" panose="02020603050405020304" pitchFamily="18" charset="0"/>
              </a:rPr>
              <a:t>1</a:t>
            </a:r>
            <a:r>
              <a:rPr lang="zh-CN" altLang="en-US" sz="2460" b="1" dirty="0">
                <a:solidFill>
                  <a:srgbClr val="0000FF"/>
                </a:solidFill>
                <a:latin typeface="Times New Roman" panose="02020603050405020304" pitchFamily="18" charset="0"/>
                <a:cs typeface="Times New Roman" panose="02020603050405020304" pitchFamily="18" charset="0"/>
              </a:rPr>
              <a:t>月</a:t>
            </a:r>
            <a:r>
              <a:rPr lang="en-US" altLang="zh-CN" sz="2460" b="1" dirty="0">
                <a:solidFill>
                  <a:srgbClr val="0000FF"/>
                </a:solidFill>
                <a:latin typeface="Times New Roman" panose="02020603050405020304" pitchFamily="18" charset="0"/>
                <a:cs typeface="Times New Roman" panose="02020603050405020304" pitchFamily="18" charset="0"/>
              </a:rPr>
              <a:t>21</a:t>
            </a:r>
            <a:r>
              <a:rPr lang="zh-CN" altLang="en-US" sz="2460" b="1" dirty="0">
                <a:solidFill>
                  <a:srgbClr val="0000FF"/>
                </a:solidFill>
                <a:latin typeface="Times New Roman" panose="02020603050405020304" pitchFamily="18" charset="0"/>
                <a:cs typeface="Times New Roman" panose="02020603050405020304" pitchFamily="18" charset="0"/>
              </a:rPr>
              <a:t>日</a:t>
            </a:r>
            <a:r>
              <a:rPr lang="zh-CN" altLang="en-US" sz="2460" b="1" dirty="0">
                <a:latin typeface="Times New Roman" panose="02020603050405020304" pitchFamily="18" charset="0"/>
                <a:cs typeface="Times New Roman" panose="02020603050405020304" pitchFamily="18" charset="0"/>
              </a:rPr>
              <a:t>，土耳其黑客组织图兰军（</a:t>
            </a:r>
            <a:r>
              <a:rPr lang="en-US" altLang="zh-CN" sz="2460" dirty="0">
                <a:latin typeface="Times New Roman" panose="02020603050405020304" pitchFamily="18" charset="0"/>
                <a:cs typeface="Times New Roman" panose="02020603050405020304" pitchFamily="18" charset="0"/>
              </a:rPr>
              <a:t> </a:t>
            </a:r>
            <a:r>
              <a:rPr lang="en-US" altLang="zh-CN" sz="2460" dirty="0" err="1">
                <a:latin typeface="Times New Roman" panose="02020603050405020304" pitchFamily="18" charset="0"/>
                <a:cs typeface="Times New Roman" panose="02020603050405020304" pitchFamily="18" charset="0"/>
              </a:rPr>
              <a:t>Turan</a:t>
            </a:r>
            <a:r>
              <a:rPr lang="en-US" altLang="zh-CN" sz="2460" dirty="0">
                <a:latin typeface="Times New Roman" panose="02020603050405020304" pitchFamily="18" charset="0"/>
                <a:cs typeface="Times New Roman" panose="02020603050405020304" pitchFamily="18" charset="0"/>
              </a:rPr>
              <a:t> </a:t>
            </a:r>
            <a:r>
              <a:rPr lang="zh-CN" altLang="en-US" sz="2460" b="1" dirty="0">
                <a:latin typeface="Times New Roman" panose="02020603050405020304" pitchFamily="18" charset="0"/>
                <a:cs typeface="Times New Roman" panose="02020603050405020304" pitchFamily="18" charset="0"/>
              </a:rPr>
              <a:t>）宣称第二天下午三点对中国站点发起攻击，后来计划临时改变。该组织</a:t>
            </a:r>
            <a:r>
              <a:rPr lang="en-US" altLang="zh-CN" sz="2460" b="1" dirty="0">
                <a:latin typeface="Times New Roman" panose="02020603050405020304" pitchFamily="18" charset="0"/>
                <a:cs typeface="Times New Roman" panose="02020603050405020304" pitchFamily="18" charset="0"/>
              </a:rPr>
              <a:t>2019</a:t>
            </a:r>
            <a:r>
              <a:rPr lang="zh-CN" altLang="en-US" sz="2460" b="1" dirty="0">
                <a:latin typeface="Times New Roman" panose="02020603050405020304" pitchFamily="18" charset="0"/>
                <a:cs typeface="Times New Roman" panose="02020603050405020304" pitchFamily="18" charset="0"/>
              </a:rPr>
              <a:t>年</a:t>
            </a:r>
            <a:r>
              <a:rPr lang="en-US" altLang="zh-CN" sz="2460" b="1" dirty="0">
                <a:latin typeface="Times New Roman" panose="02020603050405020304" pitchFamily="18" charset="0"/>
                <a:cs typeface="Times New Roman" panose="02020603050405020304" pitchFamily="18" charset="0"/>
              </a:rPr>
              <a:t>12</a:t>
            </a:r>
            <a:r>
              <a:rPr lang="zh-CN" altLang="en-US" sz="2460" b="1" dirty="0">
                <a:latin typeface="Times New Roman" panose="02020603050405020304" pitchFamily="18" charset="0"/>
                <a:cs typeface="Times New Roman" panose="02020603050405020304" pitchFamily="18" charset="0"/>
              </a:rPr>
              <a:t>月</a:t>
            </a:r>
            <a:r>
              <a:rPr lang="en-US" altLang="zh-CN" sz="2460" b="1" dirty="0">
                <a:latin typeface="Times New Roman" panose="02020603050405020304" pitchFamily="18" charset="0"/>
                <a:cs typeface="Times New Roman" panose="02020603050405020304" pitchFamily="18" charset="0"/>
              </a:rPr>
              <a:t>22</a:t>
            </a:r>
            <a:r>
              <a:rPr lang="zh-CN" altLang="en-US" sz="2460" b="1" dirty="0">
                <a:latin typeface="Times New Roman" panose="02020603050405020304" pitchFamily="18" charset="0"/>
                <a:cs typeface="Times New Roman" panose="02020603050405020304" pitchFamily="18" charset="0"/>
              </a:rPr>
              <a:t>日成立，据不完全统计，在</a:t>
            </a:r>
            <a:r>
              <a:rPr lang="en-US" altLang="zh-CN" sz="2460" b="1" dirty="0">
                <a:latin typeface="Times New Roman" panose="02020603050405020304" pitchFamily="18" charset="0"/>
                <a:cs typeface="Times New Roman" panose="02020603050405020304" pitchFamily="18" charset="0"/>
              </a:rPr>
              <a:t>1</a:t>
            </a:r>
            <a:r>
              <a:rPr lang="zh-CN" altLang="en-US" sz="2460" b="1" dirty="0">
                <a:latin typeface="Times New Roman" panose="02020603050405020304" pitchFamily="18" charset="0"/>
                <a:cs typeface="Times New Roman" panose="02020603050405020304" pitchFamily="18" charset="0"/>
              </a:rPr>
              <a:t>个月内攻击篡改了至少</a:t>
            </a:r>
            <a:r>
              <a:rPr lang="zh-CN" altLang="en-US" sz="3445" b="1" dirty="0">
                <a:solidFill>
                  <a:srgbClr val="FF0000"/>
                </a:solidFill>
                <a:latin typeface="Times New Roman" panose="02020603050405020304" pitchFamily="18" charset="0"/>
                <a:cs typeface="Times New Roman" panose="02020603050405020304" pitchFamily="18" charset="0"/>
              </a:rPr>
              <a:t>一百多个</a:t>
            </a:r>
            <a:r>
              <a:rPr lang="zh-CN" altLang="en-US" sz="2460" b="1" dirty="0">
                <a:latin typeface="Times New Roman" panose="02020603050405020304" pitchFamily="18" charset="0"/>
                <a:cs typeface="Times New Roman" panose="02020603050405020304" pitchFamily="18" charset="0"/>
              </a:rPr>
              <a:t>中国网站。</a:t>
            </a:r>
            <a:endParaRPr lang="zh-CN" altLang="en-US" sz="2460" b="1" dirty="0">
              <a:latin typeface="Times New Roman" panose="02020603050405020304" pitchFamily="18" charset="0"/>
              <a:cs typeface="Times New Roman" panose="02020603050405020304" pitchFamily="18" charset="0"/>
            </a:endParaRPr>
          </a:p>
        </p:txBody>
      </p:sp>
      <p:grpSp>
        <p:nvGrpSpPr>
          <p:cNvPr id="8" name="组合 7"/>
          <p:cNvGrpSpPr/>
          <p:nvPr/>
        </p:nvGrpSpPr>
        <p:grpSpPr>
          <a:xfrm>
            <a:off x="777631" y="2631373"/>
            <a:ext cx="10627980" cy="4111334"/>
            <a:chOff x="631825" y="2780928"/>
            <a:chExt cx="8635234" cy="3340459"/>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1825" y="3284984"/>
              <a:ext cx="4104456" cy="2462674"/>
            </a:xfrm>
            <a:prstGeom prst="rect">
              <a:avLst/>
            </a:prstGeom>
            <a:noFill/>
            <a:ln>
              <a:noFill/>
            </a:ln>
            <a:effectLst>
              <a:outerShdw blurRad="149987" dist="250190" dir="8460000" algn="ctr">
                <a:srgbClr val="000000">
                  <a:alpha val="28000"/>
                </a:srgbClr>
              </a:outerShdw>
            </a:effectLst>
            <a:sp3d prstMaterial="metal">
              <a:bevelT w="88900" h="88900"/>
            </a:sp3d>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0912" y="2780928"/>
              <a:ext cx="3753594" cy="2415103"/>
            </a:xfrm>
            <a:prstGeom prst="rect">
              <a:avLst/>
            </a:prstGeom>
            <a:noFill/>
            <a:ln>
              <a:no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7216" y="3717032"/>
              <a:ext cx="2369843" cy="2404355"/>
            </a:xfrm>
            <a:prstGeom prst="rect">
              <a:avLst/>
            </a:prstGeom>
            <a:noFill/>
            <a:ln>
              <a:no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3971"/>
                                        </p:tgtEl>
                                        <p:attrNameLst>
                                          <p:attrName>style.visibility</p:attrName>
                                        </p:attrNameLst>
                                      </p:cBhvr>
                                      <p:to>
                                        <p:strVal val="visible"/>
                                      </p:to>
                                    </p:set>
                                    <p:anim calcmode="lin" valueType="num">
                                      <p:cBhvr>
                                        <p:cTn id="7" dur="1000" fill="hold"/>
                                        <p:tgtEl>
                                          <p:spTgt spid="83971"/>
                                        </p:tgtEl>
                                        <p:attrNameLst>
                                          <p:attrName>ppt_w</p:attrName>
                                        </p:attrNameLst>
                                      </p:cBhvr>
                                      <p:tavLst>
                                        <p:tav tm="0">
                                          <p:val>
                                            <p:fltVal val="0"/>
                                          </p:val>
                                        </p:tav>
                                        <p:tav tm="100000">
                                          <p:val>
                                            <p:strVal val="#ppt_w"/>
                                          </p:val>
                                        </p:tav>
                                      </p:tavLst>
                                    </p:anim>
                                    <p:anim calcmode="lin" valueType="num">
                                      <p:cBhvr>
                                        <p:cTn id="8" dur="1000" fill="hold"/>
                                        <p:tgtEl>
                                          <p:spTgt spid="83971"/>
                                        </p:tgtEl>
                                        <p:attrNameLst>
                                          <p:attrName>ppt_h</p:attrName>
                                        </p:attrNameLst>
                                      </p:cBhvr>
                                      <p:tavLst>
                                        <p:tav tm="0">
                                          <p:val>
                                            <p:fltVal val="0"/>
                                          </p:val>
                                        </p:tav>
                                        <p:tav tm="100000">
                                          <p:val>
                                            <p:strVal val="#ppt_h"/>
                                          </p:val>
                                        </p:tav>
                                      </p:tavLst>
                                    </p:anim>
                                    <p:animEffect transition="in" filter="fade">
                                      <p:cBhvr>
                                        <p:cTn id="9" dur="1000"/>
                                        <p:tgtEl>
                                          <p:spTgt spid="83971"/>
                                        </p:tgtEl>
                                      </p:cBhvr>
                                    </p:animEffect>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矩形 1"/>
          <p:cNvSpPr>
            <a:spLocks noChangeArrowheads="1"/>
          </p:cNvSpPr>
          <p:nvPr/>
        </p:nvSpPr>
        <p:spPr bwMode="auto">
          <a:xfrm>
            <a:off x="336062" y="201246"/>
            <a:ext cx="6779895" cy="546100"/>
          </a:xfrm>
          <a:prstGeom prst="rect">
            <a:avLst/>
          </a:prstGeom>
          <a:noFill/>
          <a:ln>
            <a:noFill/>
          </a:ln>
        </p:spPr>
        <p:txBody>
          <a:bodyPr wrap="non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No.2  </a:t>
            </a:r>
            <a:r>
              <a:rPr lang="zh-CN" altLang="en-US" sz="2955" b="1" dirty="0">
                <a:solidFill>
                  <a:srgbClr val="FF0000"/>
                </a:solidFill>
                <a:latin typeface="Times New Roman" panose="02020603050405020304" pitchFamily="18" charset="0"/>
                <a:ea typeface="+mn-ea"/>
                <a:cs typeface="Times New Roman" panose="02020603050405020304" pitchFamily="18" charset="0"/>
              </a:rPr>
              <a:t>疫情期间多个组织对我国发起攻击</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3" name="矩形 2"/>
          <p:cNvSpPr/>
          <p:nvPr/>
        </p:nvSpPr>
        <p:spPr>
          <a:xfrm>
            <a:off x="439525" y="947494"/>
            <a:ext cx="6099601" cy="137160"/>
          </a:xfrm>
          <a:prstGeom prst="rect">
            <a:avLst/>
          </a:prstGeom>
        </p:spPr>
        <p:txBody>
          <a:bodyPr wrap="square">
            <a:spAutoFit/>
          </a:bodyPr>
          <a:lstStyle/>
          <a:p>
            <a:r>
              <a:rPr lang="zh-CN" altLang="en-US" sz="100" dirty="0">
                <a:solidFill>
                  <a:srgbClr val="0000FF"/>
                </a:solidFill>
                <a:latin typeface="方正大标宋简体" panose="02010601030101010101" pitchFamily="2" charset="-122"/>
                <a:ea typeface="方正大标宋简体" panose="02010601030101010101" pitchFamily="2" charset="-122"/>
              </a:rPr>
              <a:t>​</a:t>
            </a:r>
            <a:r>
              <a:rPr lang="en-US" altLang="zh-CN" sz="100" dirty="0">
                <a:solidFill>
                  <a:srgbClr val="0000FF"/>
                </a:solidFill>
                <a:latin typeface="方正大标宋简体" panose="02010601030101010101" pitchFamily="2" charset="-122"/>
                <a:ea typeface="方正大标宋简体" panose="02010601030101010101" pitchFamily="2" charset="-122"/>
              </a:rPr>
              <a:t>2020</a:t>
            </a:r>
            <a:r>
              <a:rPr lang="zh-CN" altLang="en-US" sz="100" dirty="0">
                <a:solidFill>
                  <a:srgbClr val="0000FF"/>
                </a:solidFill>
                <a:latin typeface="方正大标宋简体" panose="02010601030101010101" pitchFamily="2" charset="-122"/>
                <a:ea typeface="方正大标宋简体" panose="02010601030101010101" pitchFamily="2" charset="-122"/>
              </a:rPr>
              <a:t>年</a:t>
            </a:r>
            <a:r>
              <a:rPr lang="en-US" altLang="zh-CN" sz="100" dirty="0">
                <a:solidFill>
                  <a:srgbClr val="0000FF"/>
                </a:solidFill>
                <a:latin typeface="方正大标宋简体" panose="02010601030101010101" pitchFamily="2" charset="-122"/>
                <a:ea typeface="方正大标宋简体" panose="02010601030101010101" pitchFamily="2" charset="-122"/>
              </a:rPr>
              <a:t>2</a:t>
            </a:r>
            <a:r>
              <a:rPr lang="zh-CN" altLang="en-US" sz="100" dirty="0">
                <a:solidFill>
                  <a:srgbClr val="0000FF"/>
                </a:solidFill>
                <a:latin typeface="方正大标宋简体" panose="02010601030101010101" pitchFamily="2" charset="-122"/>
                <a:ea typeface="方正大标宋简体" panose="02010601030101010101" pitchFamily="2" charset="-122"/>
              </a:rPr>
              <a:t>月</a:t>
            </a:r>
            <a:r>
              <a:rPr lang="zh-CN" altLang="en-US" sz="100" dirty="0">
                <a:latin typeface="方正大标宋简体" panose="02010601030101010101" pitchFamily="2" charset="-122"/>
                <a:ea typeface="方正大标宋简体" panose="02010601030101010101" pitchFamily="2" charset="-122"/>
              </a:rPr>
              <a:t>，在中国境内疫情期间，境外多个国家和地区对中国发动网络攻击，越南</a:t>
            </a:r>
            <a:r>
              <a:rPr lang="zh-CN" altLang="en-US" sz="100" dirty="0">
                <a:solidFill>
                  <a:srgbClr val="FF0000"/>
                </a:solidFill>
                <a:latin typeface="方正大标宋简体" panose="02010601030101010101" pitchFamily="2" charset="-122"/>
                <a:ea typeface="方正大标宋简体" panose="02010601030101010101" pitchFamily="2" charset="-122"/>
              </a:rPr>
              <a:t>“海莲花”</a:t>
            </a:r>
            <a:r>
              <a:rPr lang="zh-CN" altLang="en-US" sz="100" dirty="0">
                <a:latin typeface="方正大标宋简体" panose="02010601030101010101" pitchFamily="2" charset="-122"/>
                <a:ea typeface="方正大标宋简体" panose="02010601030101010101" pitchFamily="2" charset="-122"/>
              </a:rPr>
              <a:t>黑客组织利用疫情话题攻击我国政府机构，印度</a:t>
            </a:r>
            <a:r>
              <a:rPr lang="zh-CN" altLang="en-US" sz="100" dirty="0">
                <a:solidFill>
                  <a:srgbClr val="FF0000"/>
                </a:solidFill>
                <a:latin typeface="方正大标宋简体" panose="02010601030101010101" pitchFamily="2" charset="-122"/>
                <a:ea typeface="方正大标宋简体" panose="02010601030101010101" pitchFamily="2" charset="-122"/>
              </a:rPr>
              <a:t>“白象”</a:t>
            </a:r>
            <a:r>
              <a:rPr lang="zh-CN" altLang="en-US" sz="100" dirty="0">
                <a:latin typeface="方正大标宋简体" panose="02010601030101010101" pitchFamily="2" charset="-122"/>
                <a:ea typeface="方正大标宋简体" panose="02010601030101010101" pitchFamily="2" charset="-122"/>
              </a:rPr>
              <a:t>黑客组织借新型肺炎对我国发起攻击，中国台湾地区的</a:t>
            </a:r>
            <a:r>
              <a:rPr lang="zh-CN" altLang="en-US" sz="100" dirty="0">
                <a:solidFill>
                  <a:srgbClr val="FF0000"/>
                </a:solidFill>
                <a:latin typeface="方正大标宋简体" panose="02010601030101010101" pitchFamily="2" charset="-122"/>
                <a:ea typeface="方正大标宋简体" panose="02010601030101010101" pitchFamily="2" charset="-122"/>
              </a:rPr>
              <a:t>“绿斑”</a:t>
            </a:r>
            <a:r>
              <a:rPr lang="zh-CN" altLang="en-US" sz="100" dirty="0">
                <a:latin typeface="方正大标宋简体" panose="02010601030101010101" pitchFamily="2" charset="-122"/>
                <a:ea typeface="方正大标宋简体" panose="02010601030101010101" pitchFamily="2" charset="-122"/>
              </a:rPr>
              <a:t>黑客团伙的利用虚假“疫情统计表格”和“药方”窃取情报。</a:t>
            </a:r>
            <a:endParaRPr lang="zh-CN" altLang="en-US" sz="100" dirty="0">
              <a:latin typeface="方正大标宋简体" panose="02010601030101010101" pitchFamily="2" charset="-122"/>
              <a:ea typeface="方正大标宋简体" panose="02010601030101010101" pitchFamily="2" charset="-122"/>
            </a:endParaRPr>
          </a:p>
          <a:p>
            <a:endParaRPr lang="zh-CN" altLang="en-US" sz="100" dirty="0">
              <a:latin typeface="方正大标宋简体" panose="02010601030101010101" pitchFamily="2" charset="-122"/>
              <a:ea typeface="方正大标宋简体" panose="02010601030101010101" pitchFamily="2" charset="-122"/>
            </a:endParaRPr>
          </a:p>
          <a:p>
            <a:r>
              <a:rPr lang="zh-CN" altLang="en-US" sz="100" dirty="0">
                <a:latin typeface="方正大标宋简体" panose="02010601030101010101" pitchFamily="2" charset="-122"/>
                <a:ea typeface="方正大标宋简体" panose="02010601030101010101" pitchFamily="2" charset="-122"/>
              </a:rPr>
              <a:t>​</a:t>
            </a:r>
            <a:endParaRPr lang="zh-CN" altLang="en-US" sz="100" dirty="0">
              <a:latin typeface="方正大标宋简体" panose="02010601030101010101" pitchFamily="2" charset="-122"/>
              <a:ea typeface="方正大标宋简体" panose="02010601030101010101" pitchFamily="2" charset="-122"/>
            </a:endParaRPr>
          </a:p>
        </p:txBody>
      </p:sp>
      <p:grpSp>
        <p:nvGrpSpPr>
          <p:cNvPr id="9" name="组合 8"/>
          <p:cNvGrpSpPr/>
          <p:nvPr/>
        </p:nvGrpSpPr>
        <p:grpSpPr>
          <a:xfrm>
            <a:off x="1769934" y="1124744"/>
            <a:ext cx="10389401" cy="5694421"/>
            <a:chOff x="1438071" y="1556792"/>
            <a:chExt cx="8441388" cy="4626717"/>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686543" y="1556792"/>
              <a:ext cx="4192916" cy="1986118"/>
            </a:xfrm>
            <a:prstGeom prst="rect">
              <a:avLst/>
            </a:prstGeom>
            <a:noFill/>
            <a:ln>
              <a:solidFill>
                <a:srgbClr val="92D050"/>
              </a:solidFill>
            </a:ln>
            <a:effectLst>
              <a:outerShdw blurRad="149987" dist="250190" dir="8460000" algn="ctr">
                <a:srgbClr val="000000">
                  <a:alpha val="28000"/>
                </a:srgbClr>
              </a:outerShdw>
            </a:effectLst>
            <a:sp3d prstMaterial="metal">
              <a:bevelT w="88900" h="88900"/>
            </a:sp3d>
          </p:spPr>
        </p:pic>
        <p:pic>
          <p:nvPicPr>
            <p:cNvPr id="7" name="图片 6"/>
            <p:cNvPicPr>
              <a:picLocks noChangeAspect="1"/>
            </p:cNvPicPr>
            <p:nvPr/>
          </p:nvPicPr>
          <p:blipFill>
            <a:blip r:embed="rId2"/>
            <a:stretch>
              <a:fillRect/>
            </a:stretch>
          </p:blipFill>
          <p:spPr>
            <a:xfrm>
              <a:off x="1438071" y="3554609"/>
              <a:ext cx="7658100" cy="2628900"/>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矩形 3"/>
          <p:cNvSpPr>
            <a:spLocks noChangeArrowheads="1"/>
          </p:cNvSpPr>
          <p:nvPr/>
        </p:nvSpPr>
        <p:spPr bwMode="auto">
          <a:xfrm>
            <a:off x="867508" y="248138"/>
            <a:ext cx="6304280" cy="546100"/>
          </a:xfrm>
          <a:prstGeom prst="rect">
            <a:avLst/>
          </a:prstGeom>
          <a:noFill/>
          <a:ln>
            <a:noFill/>
          </a:ln>
        </p:spPr>
        <p:txBody>
          <a:bodyPr wrap="non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No.3  </a:t>
            </a:r>
            <a:r>
              <a:rPr lang="zh-CN" altLang="en-US" sz="2955" b="1" dirty="0">
                <a:solidFill>
                  <a:srgbClr val="FF0000"/>
                </a:solidFill>
                <a:latin typeface="Times New Roman" panose="02020603050405020304" pitchFamily="18" charset="0"/>
                <a:ea typeface="+mn-ea"/>
                <a:cs typeface="Times New Roman" panose="02020603050405020304" pitchFamily="18" charset="0"/>
              </a:rPr>
              <a:t>疑似</a:t>
            </a:r>
            <a:r>
              <a:rPr lang="en-US" altLang="zh-CN" sz="2955" b="1" dirty="0">
                <a:solidFill>
                  <a:srgbClr val="FF0000"/>
                </a:solidFill>
                <a:latin typeface="Times New Roman" panose="02020603050405020304" pitchFamily="18" charset="0"/>
                <a:ea typeface="+mn-ea"/>
                <a:cs typeface="Times New Roman" panose="02020603050405020304" pitchFamily="18" charset="0"/>
              </a:rPr>
              <a:t>5.38</a:t>
            </a:r>
            <a:r>
              <a:rPr lang="zh-CN" altLang="en-US" sz="2955" b="1" dirty="0">
                <a:solidFill>
                  <a:srgbClr val="FF0000"/>
                </a:solidFill>
                <a:latin typeface="Times New Roman" panose="02020603050405020304" pitchFamily="18" charset="0"/>
                <a:ea typeface="+mn-ea"/>
                <a:cs typeface="Times New Roman" panose="02020603050405020304" pitchFamily="18" charset="0"/>
              </a:rPr>
              <a:t>亿条微博用户信息泄露</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87043" name="矩形 4"/>
          <p:cNvSpPr>
            <a:spLocks noChangeArrowheads="1"/>
          </p:cNvSpPr>
          <p:nvPr/>
        </p:nvSpPr>
        <p:spPr bwMode="auto">
          <a:xfrm>
            <a:off x="423984" y="4492503"/>
            <a:ext cx="11521830" cy="188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800"/>
              </a:lnSpc>
              <a:spcBef>
                <a:spcPct val="0"/>
              </a:spcBef>
              <a:buClrTx/>
              <a:buNone/>
            </a:pPr>
            <a:r>
              <a:rPr lang="en-US" altLang="zh-CN" sz="2215" b="1" dirty="0">
                <a:solidFill>
                  <a:srgbClr val="0000FF"/>
                </a:solidFill>
              </a:rPr>
              <a:t>2020</a:t>
            </a:r>
            <a:r>
              <a:rPr lang="zh-CN" altLang="en-US" sz="2215" b="1" dirty="0">
                <a:solidFill>
                  <a:srgbClr val="0000FF"/>
                </a:solidFill>
              </a:rPr>
              <a:t>年</a:t>
            </a:r>
            <a:r>
              <a:rPr lang="en-US" altLang="zh-CN" sz="2215" b="1" dirty="0">
                <a:solidFill>
                  <a:srgbClr val="0000FF"/>
                </a:solidFill>
              </a:rPr>
              <a:t>3</a:t>
            </a:r>
            <a:r>
              <a:rPr lang="zh-CN" altLang="en-US" sz="2215" b="1" dirty="0">
                <a:solidFill>
                  <a:srgbClr val="0000FF"/>
                </a:solidFill>
              </a:rPr>
              <a:t>月</a:t>
            </a:r>
            <a:r>
              <a:rPr lang="en-US" altLang="zh-CN" sz="2215" b="1" dirty="0">
                <a:solidFill>
                  <a:srgbClr val="0000FF"/>
                </a:solidFill>
              </a:rPr>
              <a:t>19</a:t>
            </a:r>
            <a:r>
              <a:rPr lang="zh-CN" altLang="en-US" sz="2215" b="1" dirty="0">
                <a:solidFill>
                  <a:srgbClr val="0000FF"/>
                </a:solidFill>
              </a:rPr>
              <a:t>日</a:t>
            </a:r>
            <a:r>
              <a:rPr lang="zh-CN" altLang="en-US" sz="2215" b="1" dirty="0"/>
              <a:t>，有用户发现</a:t>
            </a:r>
            <a:r>
              <a:rPr lang="en-US" altLang="zh-CN" sz="2955" b="1" dirty="0">
                <a:solidFill>
                  <a:srgbClr val="FF0000"/>
                </a:solidFill>
              </a:rPr>
              <a:t>5.38</a:t>
            </a:r>
            <a:r>
              <a:rPr lang="zh-CN" altLang="en-US" sz="2955" b="1" dirty="0">
                <a:solidFill>
                  <a:srgbClr val="FF0000"/>
                </a:solidFill>
              </a:rPr>
              <a:t>亿</a:t>
            </a:r>
            <a:r>
              <a:rPr lang="zh-CN" altLang="en-US" sz="2215" b="1" dirty="0"/>
              <a:t>条微博用户信息在暗网出售，但是不含密码，其中</a:t>
            </a:r>
            <a:r>
              <a:rPr lang="en-US" altLang="zh-CN" sz="2215" b="1" dirty="0"/>
              <a:t>1.7</a:t>
            </a:r>
            <a:r>
              <a:rPr lang="zh-CN" altLang="en-US" sz="2215" b="1" dirty="0"/>
              <a:t>亿条有账户信息。微博方面表示是攻击者非法调用了接口获取了用户信息，但是有其他人指出数据来源是通过脱库进行，而非</a:t>
            </a:r>
            <a:r>
              <a:rPr lang="en-US" altLang="zh-CN" sz="2215" b="1" dirty="0"/>
              <a:t>API</a:t>
            </a:r>
            <a:r>
              <a:rPr lang="zh-CN" altLang="en-US" sz="2215" b="1" dirty="0"/>
              <a:t>接口，同时部分非公开信息不大可能是通过</a:t>
            </a:r>
            <a:r>
              <a:rPr lang="en-US" altLang="zh-CN" sz="2215" b="1" dirty="0"/>
              <a:t>API</a:t>
            </a:r>
            <a:r>
              <a:rPr lang="zh-CN" altLang="en-US" sz="2215" b="1" dirty="0"/>
              <a:t>获取。</a:t>
            </a:r>
            <a:r>
              <a:rPr lang="en-US" altLang="zh-CN" sz="2215" b="1" dirty="0"/>
              <a:t>1.72</a:t>
            </a:r>
            <a:r>
              <a:rPr lang="zh-CN" altLang="en-US" sz="2215" b="1" dirty="0"/>
              <a:t>亿条微博账户基本信息，包括用户</a:t>
            </a:r>
            <a:r>
              <a:rPr lang="en-US" altLang="zh-CN" sz="2215" b="1" dirty="0"/>
              <a:t>ID</a:t>
            </a:r>
            <a:r>
              <a:rPr lang="zh-CN" altLang="en-US" sz="2215" b="1" dirty="0"/>
              <a:t>、账号发布的微博数、粉丝数、关注数、性别、地理位置等。</a:t>
            </a:r>
            <a:endParaRPr lang="zh-CN" altLang="en-US" sz="2215" b="1"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28516" y="1212979"/>
            <a:ext cx="4151761" cy="275702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84900" y="947494"/>
            <a:ext cx="5244123" cy="2996359"/>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7043"/>
                                        </p:tgtEl>
                                        <p:attrNameLst>
                                          <p:attrName>style.visibility</p:attrName>
                                        </p:attrNameLst>
                                      </p:cBhvr>
                                      <p:to>
                                        <p:strVal val="visible"/>
                                      </p:to>
                                    </p:set>
                                    <p:anim calcmode="lin" valueType="num">
                                      <p:cBhvr>
                                        <p:cTn id="7" dur="1000" fill="hold"/>
                                        <p:tgtEl>
                                          <p:spTgt spid="87043"/>
                                        </p:tgtEl>
                                        <p:attrNameLst>
                                          <p:attrName>ppt_w</p:attrName>
                                        </p:attrNameLst>
                                      </p:cBhvr>
                                      <p:tavLst>
                                        <p:tav tm="0">
                                          <p:val>
                                            <p:fltVal val="0"/>
                                          </p:val>
                                        </p:tav>
                                        <p:tav tm="100000">
                                          <p:val>
                                            <p:strVal val="#ppt_w"/>
                                          </p:val>
                                        </p:tav>
                                      </p:tavLst>
                                    </p:anim>
                                    <p:anim calcmode="lin" valueType="num">
                                      <p:cBhvr>
                                        <p:cTn id="8" dur="1000" fill="hold"/>
                                        <p:tgtEl>
                                          <p:spTgt spid="87043"/>
                                        </p:tgtEl>
                                        <p:attrNameLst>
                                          <p:attrName>ppt_h</p:attrName>
                                        </p:attrNameLst>
                                      </p:cBhvr>
                                      <p:tavLst>
                                        <p:tav tm="0">
                                          <p:val>
                                            <p:fltVal val="0"/>
                                          </p:val>
                                        </p:tav>
                                        <p:tav tm="100000">
                                          <p:val>
                                            <p:strVal val="#ppt_h"/>
                                          </p:val>
                                        </p:tav>
                                      </p:tavLst>
                                    </p:anim>
                                    <p:animEffect transition="in" filter="fade">
                                      <p:cBhvr>
                                        <p:cTn id="9" dur="1000"/>
                                        <p:tgtEl>
                                          <p:spTgt spid="87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1"/>
          <p:cNvSpPr>
            <a:spLocks noChangeArrowheads="1"/>
          </p:cNvSpPr>
          <p:nvPr/>
        </p:nvSpPr>
        <p:spPr bwMode="auto">
          <a:xfrm>
            <a:off x="689708" y="326292"/>
            <a:ext cx="3775075" cy="546100"/>
          </a:xfrm>
          <a:prstGeom prst="rect">
            <a:avLst/>
          </a:prstGeom>
          <a:noFill/>
          <a:ln>
            <a:noFill/>
          </a:ln>
        </p:spPr>
        <p:txBody>
          <a:bodyPr wrap="non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No.4  </a:t>
            </a:r>
            <a:r>
              <a:rPr lang="zh-CN" altLang="en-US" sz="2955" b="1" dirty="0">
                <a:solidFill>
                  <a:srgbClr val="FF0000"/>
                </a:solidFill>
                <a:latin typeface="Times New Roman" panose="02020603050405020304" pitchFamily="18" charset="0"/>
                <a:ea typeface="+mn-ea"/>
                <a:cs typeface="Times New Roman" panose="02020603050405020304" pitchFamily="18" charset="0"/>
              </a:rPr>
              <a:t>深信服</a:t>
            </a:r>
            <a:r>
              <a:rPr lang="en-US" altLang="zh-CN" sz="2955" b="1" dirty="0">
                <a:solidFill>
                  <a:srgbClr val="FF0000"/>
                </a:solidFill>
                <a:latin typeface="Times New Roman" panose="02020603050405020304" pitchFamily="18" charset="0"/>
                <a:ea typeface="+mn-ea"/>
                <a:cs typeface="Times New Roman" panose="02020603050405020304" pitchFamily="18" charset="0"/>
              </a:rPr>
              <a:t>VPN</a:t>
            </a:r>
            <a:r>
              <a:rPr lang="zh-CN" altLang="en-US" sz="2955" b="1" dirty="0">
                <a:solidFill>
                  <a:srgbClr val="FF0000"/>
                </a:solidFill>
                <a:latin typeface="Times New Roman" panose="02020603050405020304" pitchFamily="18" charset="0"/>
                <a:ea typeface="+mn-ea"/>
                <a:cs typeface="Times New Roman" panose="02020603050405020304" pitchFamily="18" charset="0"/>
              </a:rPr>
              <a:t>事件</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88067" name="矩形 2"/>
          <p:cNvSpPr>
            <a:spLocks noChangeArrowheads="1"/>
          </p:cNvSpPr>
          <p:nvPr/>
        </p:nvSpPr>
        <p:spPr bwMode="auto">
          <a:xfrm>
            <a:off x="6361876" y="1147303"/>
            <a:ext cx="4963013" cy="3938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3000"/>
              </a:lnSpc>
              <a:spcBef>
                <a:spcPct val="0"/>
              </a:spcBef>
              <a:buClrTx/>
              <a:buFontTx/>
              <a:buNone/>
            </a:pPr>
            <a:r>
              <a:rPr lang="en-US" altLang="zh-CN" sz="2460" b="1" dirty="0">
                <a:solidFill>
                  <a:srgbClr val="0000FF"/>
                </a:solidFill>
                <a:latin typeface="Times New Roman" panose="02020603050405020304" pitchFamily="18" charset="0"/>
                <a:cs typeface="Times New Roman" panose="02020603050405020304" pitchFamily="18" charset="0"/>
              </a:rPr>
              <a:t>2020</a:t>
            </a:r>
            <a:r>
              <a:rPr lang="zh-CN" altLang="en-US" sz="2460" b="1" dirty="0">
                <a:solidFill>
                  <a:srgbClr val="0000FF"/>
                </a:solidFill>
                <a:latin typeface="Times New Roman" panose="02020603050405020304" pitchFamily="18" charset="0"/>
                <a:cs typeface="Times New Roman" panose="02020603050405020304" pitchFamily="18" charset="0"/>
              </a:rPr>
              <a:t>年</a:t>
            </a:r>
            <a:r>
              <a:rPr lang="en-US" altLang="zh-CN" sz="2460" b="1" dirty="0">
                <a:solidFill>
                  <a:srgbClr val="0000FF"/>
                </a:solidFill>
                <a:latin typeface="Times New Roman" panose="02020603050405020304" pitchFamily="18" charset="0"/>
                <a:cs typeface="Times New Roman" panose="02020603050405020304" pitchFamily="18" charset="0"/>
              </a:rPr>
              <a:t>4</a:t>
            </a:r>
            <a:r>
              <a:rPr lang="zh-CN" altLang="en-US" sz="2460" b="1" dirty="0">
                <a:solidFill>
                  <a:srgbClr val="0000FF"/>
                </a:solidFill>
                <a:latin typeface="Times New Roman" panose="02020603050405020304" pitchFamily="18" charset="0"/>
                <a:cs typeface="Times New Roman" panose="02020603050405020304" pitchFamily="18" charset="0"/>
              </a:rPr>
              <a:t>月</a:t>
            </a:r>
            <a:r>
              <a:rPr lang="zh-CN" altLang="en-US" sz="2460" b="1" dirty="0">
                <a:latin typeface="Times New Roman" panose="02020603050405020304" pitchFamily="18" charset="0"/>
                <a:cs typeface="Times New Roman" panose="02020603050405020304" pitchFamily="18" charset="0"/>
              </a:rPr>
              <a:t>，</a:t>
            </a:r>
            <a:r>
              <a:rPr lang="en-US" altLang="zh-CN" sz="2460" b="1" dirty="0">
                <a:latin typeface="Times New Roman" panose="02020603050405020304" pitchFamily="18" charset="0"/>
                <a:cs typeface="Times New Roman" panose="02020603050405020304" pitchFamily="18" charset="0"/>
              </a:rPr>
              <a:t>360</a:t>
            </a:r>
            <a:r>
              <a:rPr lang="zh-CN" altLang="en-US" sz="2460" b="1" dirty="0">
                <a:latin typeface="Times New Roman" panose="02020603050405020304" pitchFamily="18" charset="0"/>
                <a:cs typeface="Times New Roman" panose="02020603050405020304" pitchFamily="18" charset="0"/>
              </a:rPr>
              <a:t>监测到中国、意大利、英国、巴基斯坦、以色列等多达个国家机构已经遭到攻击。深信服表示，</a:t>
            </a:r>
            <a:r>
              <a:rPr lang="en-US" altLang="zh-CN" sz="2460" b="1" dirty="0">
                <a:latin typeface="Times New Roman" panose="02020603050405020304" pitchFamily="18" charset="0"/>
                <a:cs typeface="Times New Roman" panose="02020603050405020304" pitchFamily="18" charset="0"/>
              </a:rPr>
              <a:t>APT</a:t>
            </a:r>
            <a:r>
              <a:rPr lang="zh-CN" altLang="en-US" sz="2460" b="1" dirty="0">
                <a:latin typeface="Times New Roman" panose="02020603050405020304" pitchFamily="18" charset="0"/>
                <a:cs typeface="Times New Roman" panose="02020603050405020304" pitchFamily="18" charset="0"/>
              </a:rPr>
              <a:t>组织</a:t>
            </a:r>
            <a:r>
              <a:rPr lang="en-US" altLang="zh-CN" sz="2460" b="1" dirty="0">
                <a:latin typeface="Times New Roman" panose="02020603050405020304" pitchFamily="18" charset="0"/>
                <a:cs typeface="Times New Roman" panose="02020603050405020304" pitchFamily="18" charset="0"/>
              </a:rPr>
              <a:t>Dark hotel(APT-C-06)</a:t>
            </a:r>
            <a:r>
              <a:rPr lang="zh-CN" altLang="en-US" sz="2460" b="1" dirty="0">
                <a:latin typeface="Times New Roman" panose="02020603050405020304" pitchFamily="18" charset="0"/>
                <a:cs typeface="Times New Roman" panose="02020603050405020304" pitchFamily="18" charset="0"/>
              </a:rPr>
              <a:t>利用</a:t>
            </a:r>
            <a:r>
              <a:rPr lang="en-US" altLang="zh-CN" sz="2460" b="1" dirty="0">
                <a:latin typeface="Times New Roman" panose="02020603050405020304" pitchFamily="18" charset="0"/>
                <a:cs typeface="Times New Roman" panose="02020603050405020304" pitchFamily="18" charset="0"/>
              </a:rPr>
              <a:t>VPN</a:t>
            </a:r>
            <a:r>
              <a:rPr lang="zh-CN" altLang="en-US" sz="2460" b="1" dirty="0">
                <a:latin typeface="Times New Roman" panose="02020603050405020304" pitchFamily="18" charset="0"/>
                <a:cs typeface="Times New Roman" panose="02020603050405020304" pitchFamily="18" charset="0"/>
              </a:rPr>
              <a:t>客户端更新过程中的漏洞，用后门取代了合法的更新，黑客攻击了少量</a:t>
            </a:r>
            <a:r>
              <a:rPr lang="en-US" altLang="zh-CN" sz="2460" b="1" dirty="0">
                <a:latin typeface="Times New Roman" panose="02020603050405020304" pitchFamily="18" charset="0"/>
                <a:cs typeface="Times New Roman" panose="02020603050405020304" pitchFamily="18" charset="0"/>
              </a:rPr>
              <a:t>VPN</a:t>
            </a:r>
            <a:r>
              <a:rPr lang="zh-CN" altLang="en-US" sz="2460" b="1" dirty="0">
                <a:latin typeface="Times New Roman" panose="02020603050405020304" pitchFamily="18" charset="0"/>
                <a:cs typeface="Times New Roman" panose="02020603050405020304" pitchFamily="18" charset="0"/>
              </a:rPr>
              <a:t>服务器并注入恶意软件。这些攻击主要针对的是</a:t>
            </a:r>
            <a:r>
              <a:rPr lang="zh-CN" altLang="en-US" sz="2460" b="1" dirty="0">
                <a:solidFill>
                  <a:srgbClr val="FF0000"/>
                </a:solidFill>
                <a:latin typeface="Times New Roman" panose="02020603050405020304" pitchFamily="18" charset="0"/>
                <a:cs typeface="Times New Roman" panose="02020603050405020304" pitchFamily="18" charset="0"/>
              </a:rPr>
              <a:t>中国的组织</a:t>
            </a:r>
            <a:r>
              <a:rPr lang="zh-CN" altLang="en-US" sz="2460" b="1" dirty="0">
                <a:latin typeface="Times New Roman" panose="02020603050405020304" pitchFamily="18" charset="0"/>
                <a:cs typeface="Times New Roman" panose="02020603050405020304" pitchFamily="18" charset="0"/>
              </a:rPr>
              <a:t>以及一些其他国家机构。</a:t>
            </a:r>
            <a:endParaRPr lang="zh-CN" altLang="en-US" sz="2460" b="1"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1643" y="1176984"/>
            <a:ext cx="4230700" cy="2997108"/>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236" y="4226627"/>
            <a:ext cx="5583390" cy="2508738"/>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8067"/>
                                        </p:tgtEl>
                                        <p:attrNameLst>
                                          <p:attrName>style.visibility</p:attrName>
                                        </p:attrNameLst>
                                      </p:cBhvr>
                                      <p:to>
                                        <p:strVal val="visible"/>
                                      </p:to>
                                    </p:set>
                                    <p:anim calcmode="lin" valueType="num">
                                      <p:cBhvr>
                                        <p:cTn id="7" dur="1000" fill="hold"/>
                                        <p:tgtEl>
                                          <p:spTgt spid="88067"/>
                                        </p:tgtEl>
                                        <p:attrNameLst>
                                          <p:attrName>ppt_w</p:attrName>
                                        </p:attrNameLst>
                                      </p:cBhvr>
                                      <p:tavLst>
                                        <p:tav tm="0">
                                          <p:val>
                                            <p:fltVal val="0"/>
                                          </p:val>
                                        </p:tav>
                                        <p:tav tm="100000">
                                          <p:val>
                                            <p:strVal val="#ppt_w"/>
                                          </p:val>
                                        </p:tav>
                                      </p:tavLst>
                                    </p:anim>
                                    <p:anim calcmode="lin" valueType="num">
                                      <p:cBhvr>
                                        <p:cTn id="8" dur="1000" fill="hold"/>
                                        <p:tgtEl>
                                          <p:spTgt spid="88067"/>
                                        </p:tgtEl>
                                        <p:attrNameLst>
                                          <p:attrName>ppt_h</p:attrName>
                                        </p:attrNameLst>
                                      </p:cBhvr>
                                      <p:tavLst>
                                        <p:tav tm="0">
                                          <p:val>
                                            <p:fltVal val="0"/>
                                          </p:val>
                                        </p:tav>
                                        <p:tav tm="100000">
                                          <p:val>
                                            <p:strVal val="#ppt_h"/>
                                          </p:val>
                                        </p:tav>
                                      </p:tavLst>
                                    </p:anim>
                                    <p:animEffect transition="in" filter="fade">
                                      <p:cBhvr>
                                        <p:cTn id="9" dur="1000"/>
                                        <p:tgtEl>
                                          <p:spTgt spid="88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矩形 1"/>
          <p:cNvSpPr>
            <a:spLocks noChangeArrowheads="1"/>
          </p:cNvSpPr>
          <p:nvPr/>
        </p:nvSpPr>
        <p:spPr bwMode="auto">
          <a:xfrm>
            <a:off x="867508" y="300893"/>
            <a:ext cx="6024245" cy="546100"/>
          </a:xfrm>
          <a:prstGeom prst="rect">
            <a:avLst/>
          </a:prstGeom>
          <a:noFill/>
          <a:ln>
            <a:noFill/>
          </a:ln>
        </p:spPr>
        <p:txBody>
          <a:bodyPr wrap="non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No.6  </a:t>
            </a:r>
            <a:r>
              <a:rPr lang="zh-CN" altLang="en-US" sz="2955" b="1" dirty="0">
                <a:solidFill>
                  <a:srgbClr val="FF0000"/>
                </a:solidFill>
                <a:latin typeface="Times New Roman" panose="02020603050405020304" pitchFamily="18" charset="0"/>
                <a:ea typeface="+mn-ea"/>
                <a:cs typeface="Times New Roman" panose="02020603050405020304" pitchFamily="18" charset="0"/>
              </a:rPr>
              <a:t>多地高校数万学生隐私遭泄漏</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89091" name="矩形 2"/>
          <p:cNvSpPr>
            <a:spLocks noChangeArrowheads="1"/>
          </p:cNvSpPr>
          <p:nvPr/>
        </p:nvSpPr>
        <p:spPr bwMode="auto">
          <a:xfrm>
            <a:off x="601236" y="1615384"/>
            <a:ext cx="5140263" cy="3573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buNone/>
            </a:pPr>
            <a:r>
              <a:rPr lang="en-US" altLang="zh-CN" sz="2460" b="1" dirty="0">
                <a:solidFill>
                  <a:srgbClr val="0000FF"/>
                </a:solidFill>
                <a:latin typeface="方正大标宋简体" panose="02010601030101010101" pitchFamily="2" charset="-122"/>
                <a:ea typeface="方正大标宋简体" panose="02010601030101010101" pitchFamily="2" charset="-122"/>
              </a:rPr>
              <a:t>2020</a:t>
            </a:r>
            <a:r>
              <a:rPr lang="zh-CN" altLang="en-US" sz="2460" b="1" dirty="0">
                <a:solidFill>
                  <a:srgbClr val="0000FF"/>
                </a:solidFill>
                <a:latin typeface="方正大标宋简体" panose="02010601030101010101" pitchFamily="2" charset="-122"/>
                <a:ea typeface="方正大标宋简体" panose="02010601030101010101" pitchFamily="2" charset="-122"/>
              </a:rPr>
              <a:t>年</a:t>
            </a:r>
            <a:r>
              <a:rPr lang="en-US" altLang="zh-CN" sz="2460" b="1" dirty="0">
                <a:solidFill>
                  <a:srgbClr val="0000FF"/>
                </a:solidFill>
                <a:latin typeface="方正大标宋简体" panose="02010601030101010101" pitchFamily="2" charset="-122"/>
                <a:ea typeface="方正大标宋简体" panose="02010601030101010101" pitchFamily="2" charset="-122"/>
              </a:rPr>
              <a:t>4</a:t>
            </a:r>
            <a:r>
              <a:rPr lang="zh-CN" altLang="en-US" sz="2460" b="1" dirty="0">
                <a:solidFill>
                  <a:srgbClr val="0000FF"/>
                </a:solidFill>
                <a:latin typeface="方正大标宋简体" panose="02010601030101010101" pitchFamily="2" charset="-122"/>
                <a:ea typeface="方正大标宋简体" panose="02010601030101010101" pitchFamily="2" charset="-122"/>
              </a:rPr>
              <a:t>月</a:t>
            </a:r>
            <a:r>
              <a:rPr lang="zh-CN" altLang="en-US" sz="2460" b="1" dirty="0">
                <a:latin typeface="方正大标宋简体" panose="02010601030101010101" pitchFamily="2" charset="-122"/>
                <a:ea typeface="方正大标宋简体" panose="02010601030101010101" pitchFamily="2" charset="-122"/>
              </a:rPr>
              <a:t>，河南财经政法大学、西北工业大学明德学院、重庆大学城市科技学院、</a:t>
            </a:r>
            <a:r>
              <a:rPr lang="zh-CN" altLang="en-US" sz="2460" dirty="0">
                <a:latin typeface="方正大标宋简体" panose="02010601030101010101" pitchFamily="2" charset="-122"/>
                <a:ea typeface="方正大标宋简体" panose="02010601030101010101" pitchFamily="2" charset="-122"/>
              </a:rPr>
              <a:t>郑州西亚斯学院等学校学校近</a:t>
            </a:r>
            <a:r>
              <a:rPr lang="zh-CN" altLang="en-US" sz="2955" dirty="0">
                <a:solidFill>
                  <a:srgbClr val="FF0000"/>
                </a:solidFill>
                <a:latin typeface="方正大标宋简体" panose="02010601030101010101" pitchFamily="2" charset="-122"/>
                <a:ea typeface="方正大标宋简体" panose="02010601030101010101" pitchFamily="2" charset="-122"/>
              </a:rPr>
              <a:t>数万学生</a:t>
            </a:r>
            <a:r>
              <a:rPr lang="zh-CN" altLang="en-US" sz="2460" dirty="0">
                <a:latin typeface="方正大标宋简体" panose="02010601030101010101" pitchFamily="2" charset="-122"/>
                <a:ea typeface="方正大标宋简体" panose="02010601030101010101" pitchFamily="2" charset="-122"/>
              </a:rPr>
              <a:t>个人信息被泄露，以表格的形式在微信、</a:t>
            </a:r>
            <a:r>
              <a:rPr lang="en-US" altLang="zh-CN" sz="2460" dirty="0">
                <a:latin typeface="方正大标宋简体" panose="02010601030101010101" pitchFamily="2" charset="-122"/>
                <a:ea typeface="方正大标宋简体" panose="02010601030101010101" pitchFamily="2" charset="-122"/>
              </a:rPr>
              <a:t>QQ</a:t>
            </a:r>
            <a:r>
              <a:rPr lang="zh-CN" altLang="en-US" sz="2460" dirty="0">
                <a:latin typeface="方正大标宋简体" panose="02010601030101010101" pitchFamily="2" charset="-122"/>
                <a:ea typeface="方正大标宋简体" panose="02010601030101010101" pitchFamily="2" charset="-122"/>
              </a:rPr>
              <a:t>等社交平台上流传。信息具体到名字、身份证号、年龄、专业及宿舍门牌号等等。</a:t>
            </a:r>
            <a:br>
              <a:rPr lang="zh-CN" altLang="en-US" sz="2460" dirty="0">
                <a:latin typeface="方正大标宋简体" panose="02010601030101010101" pitchFamily="2" charset="-122"/>
                <a:ea typeface="方正大标宋简体" panose="02010601030101010101" pitchFamily="2" charset="-122"/>
              </a:rPr>
            </a:br>
            <a:endParaRPr lang="zh-CN" altLang="en-US" sz="2460" b="1" dirty="0">
              <a:solidFill>
                <a:srgbClr val="FF0000"/>
              </a:solidFill>
              <a:latin typeface="方正大标宋简体" panose="02010601030101010101" pitchFamily="2" charset="-122"/>
              <a:ea typeface="方正大标宋简体" panose="02010601030101010101" pitchFamily="2" charset="-122"/>
            </a:endParaRPr>
          </a:p>
        </p:txBody>
      </p:sp>
      <p:grpSp>
        <p:nvGrpSpPr>
          <p:cNvPr id="5" name="组合 4"/>
          <p:cNvGrpSpPr/>
          <p:nvPr/>
        </p:nvGrpSpPr>
        <p:grpSpPr>
          <a:xfrm>
            <a:off x="6157889" y="1567870"/>
            <a:ext cx="5476185" cy="4781584"/>
            <a:chOff x="4919404" y="2132856"/>
            <a:chExt cx="4449400" cy="3885037"/>
          </a:xfrm>
        </p:grpSpPr>
        <p:pic>
          <p:nvPicPr>
            <p:cNvPr id="3" name="图片 2"/>
            <p:cNvPicPr>
              <a:picLocks noChangeAspect="1"/>
            </p:cNvPicPr>
            <p:nvPr/>
          </p:nvPicPr>
          <p:blipFill>
            <a:blip r:embed="rId1"/>
            <a:stretch>
              <a:fillRect/>
            </a:stretch>
          </p:blipFill>
          <p:spPr>
            <a:xfrm>
              <a:off x="5003285" y="2132856"/>
              <a:ext cx="4281639" cy="1979811"/>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2"/>
            <a:stretch>
              <a:fillRect/>
            </a:stretch>
          </p:blipFill>
          <p:spPr>
            <a:xfrm>
              <a:off x="4919404" y="4112667"/>
              <a:ext cx="4449400" cy="1905226"/>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9091"/>
                                        </p:tgtEl>
                                        <p:attrNameLst>
                                          <p:attrName>style.visibility</p:attrName>
                                        </p:attrNameLst>
                                      </p:cBhvr>
                                      <p:to>
                                        <p:strVal val="visible"/>
                                      </p:to>
                                    </p:set>
                                    <p:anim calcmode="lin" valueType="num">
                                      <p:cBhvr>
                                        <p:cTn id="7" dur="1000" fill="hold"/>
                                        <p:tgtEl>
                                          <p:spTgt spid="89091"/>
                                        </p:tgtEl>
                                        <p:attrNameLst>
                                          <p:attrName>ppt_w</p:attrName>
                                        </p:attrNameLst>
                                      </p:cBhvr>
                                      <p:tavLst>
                                        <p:tav tm="0">
                                          <p:val>
                                            <p:fltVal val="0"/>
                                          </p:val>
                                        </p:tav>
                                        <p:tav tm="100000">
                                          <p:val>
                                            <p:strVal val="#ppt_w"/>
                                          </p:val>
                                        </p:tav>
                                      </p:tavLst>
                                    </p:anim>
                                    <p:anim calcmode="lin" valueType="num">
                                      <p:cBhvr>
                                        <p:cTn id="8" dur="1000" fill="hold"/>
                                        <p:tgtEl>
                                          <p:spTgt spid="89091"/>
                                        </p:tgtEl>
                                        <p:attrNameLst>
                                          <p:attrName>ppt_h</p:attrName>
                                        </p:attrNameLst>
                                      </p:cBhvr>
                                      <p:tavLst>
                                        <p:tav tm="0">
                                          <p:val>
                                            <p:fltVal val="0"/>
                                          </p:val>
                                        </p:tav>
                                        <p:tav tm="100000">
                                          <p:val>
                                            <p:strVal val="#ppt_h"/>
                                          </p:val>
                                        </p:tav>
                                      </p:tavLst>
                                    </p:anim>
                                    <p:animEffect transition="in" filter="fade">
                                      <p:cBhvr>
                                        <p:cTn id="9" dur="1000"/>
                                        <p:tgtEl>
                                          <p:spTgt spid="89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矩形 1"/>
          <p:cNvSpPr>
            <a:spLocks noChangeArrowheads="1"/>
          </p:cNvSpPr>
          <p:nvPr/>
        </p:nvSpPr>
        <p:spPr bwMode="auto">
          <a:xfrm>
            <a:off x="689708" y="326292"/>
            <a:ext cx="7153910" cy="546100"/>
          </a:xfrm>
          <a:prstGeom prst="rect">
            <a:avLst/>
          </a:prstGeom>
          <a:noFill/>
          <a:ln>
            <a:noFill/>
          </a:ln>
        </p:spPr>
        <p:txBody>
          <a:bodyPr wrap="non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No.6  </a:t>
            </a:r>
            <a:r>
              <a:rPr lang="zh-CN" altLang="en-US" sz="2955" b="1" dirty="0">
                <a:solidFill>
                  <a:srgbClr val="FF0000"/>
                </a:solidFill>
                <a:latin typeface="Times New Roman" panose="02020603050405020304" pitchFamily="18" charset="0"/>
                <a:ea typeface="+mn-ea"/>
                <a:cs typeface="Times New Roman" panose="02020603050405020304" pitchFamily="18" charset="0"/>
              </a:rPr>
              <a:t>中国台湾地区</a:t>
            </a:r>
            <a:r>
              <a:rPr lang="en-US" altLang="zh-CN" sz="2955" b="1" dirty="0">
                <a:solidFill>
                  <a:srgbClr val="FF0000"/>
                </a:solidFill>
                <a:latin typeface="Times New Roman" panose="02020603050405020304" pitchFamily="18" charset="0"/>
                <a:ea typeface="+mn-ea"/>
                <a:cs typeface="Times New Roman" panose="02020603050405020304" pitchFamily="18" charset="0"/>
              </a:rPr>
              <a:t>84%</a:t>
            </a:r>
            <a:r>
              <a:rPr lang="zh-CN" altLang="en-US" sz="2955" b="1" dirty="0">
                <a:solidFill>
                  <a:srgbClr val="FF0000"/>
                </a:solidFill>
                <a:latin typeface="Times New Roman" panose="02020603050405020304" pitchFamily="18" charset="0"/>
                <a:ea typeface="+mn-ea"/>
                <a:cs typeface="Times New Roman" panose="02020603050405020304" pitchFamily="18" charset="0"/>
              </a:rPr>
              <a:t>的公民信息被泄露</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94211" name="矩形 3"/>
          <p:cNvSpPr>
            <a:spLocks noChangeArrowheads="1"/>
          </p:cNvSpPr>
          <p:nvPr/>
        </p:nvSpPr>
        <p:spPr bwMode="auto">
          <a:xfrm>
            <a:off x="5830124" y="1745121"/>
            <a:ext cx="5760640" cy="31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2020</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年</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6</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月</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，根据威胁情报机构</a:t>
            </a:r>
            <a:r>
              <a:rPr lang="en-US" altLang="zh-CN" sz="2460" b="1" dirty="0" err="1">
                <a:latin typeface="方正大标宋简体" panose="02010601030101010101" pitchFamily="2" charset="-122"/>
                <a:ea typeface="方正大标宋简体" panose="02010601030101010101" pitchFamily="2" charset="-122"/>
                <a:cs typeface="Times New Roman" panose="02020603050405020304" pitchFamily="18" charset="0"/>
              </a:rPr>
              <a:t>Cyble</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消息，</a:t>
            </a:r>
            <a:r>
              <a:rPr lang="zh-CN" altLang="en-US" sz="2955"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近</a:t>
            </a:r>
            <a:r>
              <a:rPr lang="en-US" altLang="zh-CN" sz="2955"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2000</a:t>
            </a:r>
            <a:r>
              <a:rPr lang="zh-CN" altLang="en-US" sz="2955"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万</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中国台湾地区人民的隐私信息已经出现在暗网上。中国台湾地区台湾人口约为</a:t>
            </a:r>
            <a:r>
              <a:rPr lang="en-US" altLang="zh-CN" sz="2460" b="1" dirty="0">
                <a:latin typeface="方正大标宋简体" panose="02010601030101010101" pitchFamily="2" charset="-122"/>
                <a:ea typeface="方正大标宋简体" panose="02010601030101010101" pitchFamily="2" charset="-122"/>
                <a:cs typeface="Times New Roman" panose="02020603050405020304" pitchFamily="18" charset="0"/>
              </a:rPr>
              <a:t>2380</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万人，这几乎意味着所有中国台湾地区民众的信息都被曝光了。据</a:t>
            </a:r>
            <a:r>
              <a:rPr lang="en-US" altLang="zh-CN" sz="2460" b="1" dirty="0" err="1">
                <a:latin typeface="方正大标宋简体" panose="02010601030101010101" pitchFamily="2" charset="-122"/>
                <a:ea typeface="方正大标宋简体" panose="02010601030101010101" pitchFamily="2" charset="-122"/>
                <a:cs typeface="Times New Roman" panose="02020603050405020304" pitchFamily="18" charset="0"/>
              </a:rPr>
              <a:t>Cyble</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消息，这些信息包含个人的全名，身份</a:t>
            </a:r>
            <a:r>
              <a:rPr lang="en-US" altLang="zh-CN" sz="2460" b="1" dirty="0">
                <a:latin typeface="方正大标宋简体" panose="02010601030101010101" pitchFamily="2" charset="-122"/>
                <a:ea typeface="方正大标宋简体" panose="02010601030101010101" pitchFamily="2" charset="-122"/>
                <a:cs typeface="Times New Roman" panose="02020603050405020304" pitchFamily="18" charset="0"/>
              </a:rPr>
              <a:t>ID</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，电话号码等等，该</a:t>
            </a:r>
            <a:r>
              <a:rPr lang="zh-CN" altLang="en-US" sz="2460" dirty="0">
                <a:latin typeface="方正大标宋简体" panose="02010601030101010101" pitchFamily="2" charset="-122"/>
                <a:ea typeface="方正大标宋简体" panose="02010601030101010101" pitchFamily="2" charset="-122"/>
                <a:cs typeface="Times New Roman" panose="02020603050405020304" pitchFamily="18" charset="0"/>
              </a:rPr>
              <a:t>数据库大约</a:t>
            </a:r>
            <a:r>
              <a:rPr lang="en-US" altLang="zh-CN" sz="2460" dirty="0">
                <a:latin typeface="方正大标宋简体" panose="02010601030101010101" pitchFamily="2" charset="-122"/>
                <a:ea typeface="方正大标宋简体" panose="02010601030101010101" pitchFamily="2" charset="-122"/>
                <a:cs typeface="Times New Roman" panose="02020603050405020304" pitchFamily="18" charset="0"/>
              </a:rPr>
              <a:t>3.5GB </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a:t>
            </a:r>
            <a:endPar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grpSp>
        <p:nvGrpSpPr>
          <p:cNvPr id="5" name="组合 4"/>
          <p:cNvGrpSpPr/>
          <p:nvPr/>
        </p:nvGrpSpPr>
        <p:grpSpPr>
          <a:xfrm>
            <a:off x="601236" y="1479245"/>
            <a:ext cx="4821705" cy="4908202"/>
            <a:chOff x="488504" y="1844824"/>
            <a:chExt cx="3917635" cy="3987914"/>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8504" y="1844824"/>
              <a:ext cx="3801819" cy="2140283"/>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8624" y="3644270"/>
              <a:ext cx="2837515" cy="2188468"/>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4211"/>
                                        </p:tgtEl>
                                        <p:attrNameLst>
                                          <p:attrName>style.visibility</p:attrName>
                                        </p:attrNameLst>
                                      </p:cBhvr>
                                      <p:to>
                                        <p:strVal val="visible"/>
                                      </p:to>
                                    </p:set>
                                    <p:anim calcmode="lin" valueType="num">
                                      <p:cBhvr additive="base">
                                        <p:cTn id="7" dur="500" fill="hold"/>
                                        <p:tgtEl>
                                          <p:spTgt spid="94211"/>
                                        </p:tgtEl>
                                        <p:attrNameLst>
                                          <p:attrName>ppt_x</p:attrName>
                                        </p:attrNameLst>
                                      </p:cBhvr>
                                      <p:tavLst>
                                        <p:tav tm="0">
                                          <p:val>
                                            <p:strVal val="#ppt_x"/>
                                          </p:val>
                                        </p:tav>
                                        <p:tav tm="100000">
                                          <p:val>
                                            <p:strVal val="#ppt_x"/>
                                          </p:val>
                                        </p:tav>
                                      </p:tavLst>
                                    </p:anim>
                                    <p:anim calcmode="lin" valueType="num">
                                      <p:cBhvr additive="base">
                                        <p:cTn id="8" dur="500" fill="hold"/>
                                        <p:tgtEl>
                                          <p:spTgt spid="942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矩形 1"/>
          <p:cNvSpPr>
            <a:spLocks noChangeArrowheads="1"/>
          </p:cNvSpPr>
          <p:nvPr/>
        </p:nvSpPr>
        <p:spPr bwMode="auto">
          <a:xfrm>
            <a:off x="511906" y="238370"/>
            <a:ext cx="8951851" cy="546100"/>
          </a:xfrm>
          <a:prstGeom prst="rect">
            <a:avLst/>
          </a:prstGeom>
          <a:noFill/>
          <a:ln>
            <a:noFill/>
          </a:ln>
        </p:spPr>
        <p:txBody>
          <a:bodyPr wrap="squar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No.7   34</a:t>
            </a:r>
            <a:r>
              <a:rPr lang="zh-CN" altLang="en-US" sz="2955" b="1" dirty="0">
                <a:solidFill>
                  <a:srgbClr val="FF0000"/>
                </a:solidFill>
                <a:latin typeface="Times New Roman" panose="02020603050405020304" pitchFamily="18" charset="0"/>
                <a:ea typeface="+mn-ea"/>
                <a:cs typeface="Times New Roman" panose="02020603050405020304" pitchFamily="18" charset="0"/>
              </a:rPr>
              <a:t>万条智慧养老服务数据库存在安全问题</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90115" name="矩形 3"/>
          <p:cNvSpPr>
            <a:spLocks noChangeArrowheads="1"/>
          </p:cNvSpPr>
          <p:nvPr/>
        </p:nvSpPr>
        <p:spPr bwMode="auto">
          <a:xfrm>
            <a:off x="6273250" y="1479245"/>
            <a:ext cx="4697137" cy="34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600"/>
              </a:lnSpc>
              <a:spcBef>
                <a:spcPct val="0"/>
              </a:spcBef>
              <a:buClrTx/>
              <a:buNone/>
            </a:pP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2020</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年</a:t>
            </a:r>
            <a:r>
              <a:rPr lang="en-US" altLang="zh-CN"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7</a:t>
            </a:r>
            <a:r>
              <a:rPr lang="zh-CN" altLang="en-US" sz="2460" b="1"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月</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a:t>
            </a:r>
            <a:r>
              <a:rPr lang="en-US" altLang="zh-CN" sz="2460" b="1" dirty="0" err="1">
                <a:latin typeface="方正大标宋简体" panose="02010601030101010101" pitchFamily="2" charset="-122"/>
                <a:ea typeface="方正大标宋简体" panose="02010601030101010101" pitchFamily="2" charset="-122"/>
                <a:cs typeface="Times New Roman" panose="02020603050405020304" pitchFamily="18" charset="0"/>
              </a:rPr>
              <a:t>Cybernews</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研究人员发现</a:t>
            </a:r>
            <a:r>
              <a:rPr lang="zh-CN" altLang="en-US" sz="2460" b="1" dirty="0">
                <a:solidFill>
                  <a:srgbClr val="C00000"/>
                </a:solidFill>
                <a:latin typeface="方正大标宋简体" panose="02010601030101010101" pitchFamily="2" charset="-122"/>
                <a:ea typeface="方正大标宋简体" panose="02010601030101010101" pitchFamily="2" charset="-122"/>
                <a:cs typeface="Times New Roman" panose="02020603050405020304" pitchFamily="18" charset="0"/>
              </a:rPr>
              <a:t>上海孝信网络（</a:t>
            </a:r>
            <a:r>
              <a:rPr lang="zh-CN" altLang="en-US" sz="2460" dirty="0">
                <a:latin typeface="方正大标宋简体" panose="02010601030101010101" pitchFamily="2" charset="-122"/>
                <a:ea typeface="方正大标宋简体" panose="02010601030101010101" pitchFamily="2" charset="-122"/>
              </a:rPr>
              <a:t>为中国</a:t>
            </a:r>
            <a:r>
              <a:rPr lang="en-US" altLang="zh-CN" sz="2460" dirty="0">
                <a:latin typeface="方正大标宋简体" panose="02010601030101010101" pitchFamily="2" charset="-122"/>
                <a:ea typeface="方正大标宋简体" panose="02010601030101010101" pitchFamily="2" charset="-122"/>
              </a:rPr>
              <a:t>2</a:t>
            </a:r>
            <a:r>
              <a:rPr lang="zh-CN" altLang="en-US" sz="2460" dirty="0">
                <a:latin typeface="方正大标宋简体" panose="02010601030101010101" pitchFamily="2" charset="-122"/>
                <a:ea typeface="方正大标宋简体" panose="02010601030101010101" pitchFamily="2" charset="-122"/>
              </a:rPr>
              <a:t>亿老年人提供智慧养老服务</a:t>
            </a:r>
            <a:r>
              <a:rPr lang="zh-CN" altLang="en-US" sz="2460" b="1" dirty="0">
                <a:solidFill>
                  <a:srgbClr val="C00000"/>
                </a:solidFill>
                <a:latin typeface="方正大标宋简体" panose="02010601030101010101" pitchFamily="2" charset="-122"/>
                <a:ea typeface="方正大标宋简体" panose="02010601030101010101" pitchFamily="2" charset="-122"/>
                <a:cs typeface="Times New Roman" panose="02020603050405020304" pitchFamily="18" charset="0"/>
              </a:rPr>
              <a:t>）</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的一个含有几十万用户数据的数据库存在安全问题。这个数据库中含有超过</a:t>
            </a:r>
            <a:r>
              <a:rPr lang="en-US" altLang="zh-CN" sz="2955"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34</a:t>
            </a:r>
            <a:r>
              <a:rPr lang="zh-CN" altLang="en-US" sz="2955"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万条</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的</a:t>
            </a:r>
            <a:r>
              <a:rPr lang="en-US" altLang="zh-CN" sz="2460" b="1" dirty="0">
                <a:latin typeface="方正大标宋简体" panose="02010601030101010101" pitchFamily="2" charset="-122"/>
                <a:ea typeface="方正大标宋简体" panose="02010601030101010101" pitchFamily="2" charset="-122"/>
                <a:cs typeface="Times New Roman" panose="02020603050405020304" pitchFamily="18" charset="0"/>
              </a:rPr>
              <a:t>GPS</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位置信息、个人</a:t>
            </a:r>
            <a:r>
              <a:rPr lang="en-US" altLang="zh-CN" sz="2460" b="1" dirty="0">
                <a:latin typeface="方正大标宋简体" panose="02010601030101010101" pitchFamily="2" charset="-122"/>
                <a:ea typeface="方正大标宋简体" panose="02010601030101010101" pitchFamily="2" charset="-122"/>
                <a:cs typeface="Times New Roman" panose="02020603050405020304" pitchFamily="18" charset="0"/>
              </a:rPr>
              <a:t>ID</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、手机号、地址、 用户亲属和监护人的姓名和手机号、</a:t>
            </a:r>
            <a:r>
              <a:rPr lang="en-US" altLang="zh-CN" sz="2460" b="1" dirty="0">
                <a:latin typeface="方正大标宋简体" panose="02010601030101010101" pitchFamily="2" charset="-122"/>
                <a:ea typeface="方正大标宋简体" panose="02010601030101010101" pitchFamily="2" charset="-122"/>
                <a:cs typeface="Times New Roman" panose="02020603050405020304" pitchFamily="18" charset="0"/>
              </a:rPr>
              <a:t>GPS</a:t>
            </a:r>
            <a:r>
              <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rPr>
              <a:t>位置、哈希的口令等敏感信息记录。</a:t>
            </a:r>
            <a:endParaRPr lang="zh-CN" altLang="en-US" sz="2460" b="1"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grpSp>
        <p:nvGrpSpPr>
          <p:cNvPr id="7" name="组合 6"/>
          <p:cNvGrpSpPr/>
          <p:nvPr/>
        </p:nvGrpSpPr>
        <p:grpSpPr>
          <a:xfrm>
            <a:off x="511906" y="1124744"/>
            <a:ext cx="4888523" cy="5497177"/>
            <a:chOff x="415924" y="1556792"/>
            <a:chExt cx="3971925" cy="4466456"/>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5924" y="3127648"/>
              <a:ext cx="3971925" cy="2895600"/>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520" y="1556792"/>
              <a:ext cx="2905125" cy="1600200"/>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0115"/>
                                        </p:tgtEl>
                                        <p:attrNameLst>
                                          <p:attrName>style.visibility</p:attrName>
                                        </p:attrNameLst>
                                      </p:cBhvr>
                                      <p:to>
                                        <p:strVal val="visible"/>
                                      </p:to>
                                    </p:set>
                                    <p:anim calcmode="lin" valueType="num">
                                      <p:cBhvr additive="base">
                                        <p:cTn id="7" dur="500" fill="hold"/>
                                        <p:tgtEl>
                                          <p:spTgt spid="90115"/>
                                        </p:tgtEl>
                                        <p:attrNameLst>
                                          <p:attrName>ppt_x</p:attrName>
                                        </p:attrNameLst>
                                      </p:cBhvr>
                                      <p:tavLst>
                                        <p:tav tm="0">
                                          <p:val>
                                            <p:strVal val="1+#ppt_w/2"/>
                                          </p:val>
                                        </p:tav>
                                        <p:tav tm="100000">
                                          <p:val>
                                            <p:strVal val="#ppt_x"/>
                                          </p:val>
                                        </p:tav>
                                      </p:tavLst>
                                    </p:anim>
                                    <p:anim calcmode="lin" valueType="num">
                                      <p:cBhvr additive="base">
                                        <p:cTn id="8" dur="500" fill="hold"/>
                                        <p:tgtEl>
                                          <p:spTgt spid="9011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矩形 1"/>
          <p:cNvSpPr>
            <a:spLocks noChangeArrowheads="1"/>
          </p:cNvSpPr>
          <p:nvPr/>
        </p:nvSpPr>
        <p:spPr bwMode="auto">
          <a:xfrm>
            <a:off x="335360" y="1567870"/>
            <a:ext cx="5228889" cy="332295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2800"/>
              </a:lnSpc>
              <a:defRPr/>
            </a:pPr>
            <a:r>
              <a:rPr lang="en-US" altLang="zh-CN" sz="2460"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2020</a:t>
            </a:r>
            <a:r>
              <a:rPr lang="zh-CN" altLang="en-US" sz="2460"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年</a:t>
            </a:r>
            <a:r>
              <a:rPr lang="en-US" altLang="zh-CN" sz="2460"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8</a:t>
            </a:r>
            <a:r>
              <a:rPr lang="zh-CN" altLang="en-US" sz="2460"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月</a:t>
            </a:r>
            <a:r>
              <a:rPr lang="en-US" altLang="zh-CN" sz="2460"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3</a:t>
            </a:r>
            <a:r>
              <a:rPr lang="zh-CN" altLang="en-US" sz="2460" dirty="0">
                <a:solidFill>
                  <a:srgbClr val="0000FF"/>
                </a:solidFill>
                <a:latin typeface="方正大标宋简体" panose="02010601030101010101" pitchFamily="2" charset="-122"/>
                <a:ea typeface="方正大标宋简体" panose="02010601030101010101" pitchFamily="2" charset="-122"/>
                <a:cs typeface="Times New Roman" panose="02020603050405020304" pitchFamily="18" charset="0"/>
              </a:rPr>
              <a:t>日</a:t>
            </a:r>
            <a:r>
              <a:rPr lang="zh-CN" altLang="en-US" sz="2460" dirty="0">
                <a:latin typeface="方正大标宋简体" panose="02010601030101010101" pitchFamily="2" charset="-122"/>
                <a:ea typeface="方正大标宋简体" panose="02010601030101010101" pitchFamily="2" charset="-122"/>
                <a:cs typeface="Times New Roman" panose="02020603050405020304" pitchFamily="18" charset="0"/>
              </a:rPr>
              <a:t>，全球晶圆代工龙头大厂台积电位于中国台湾地区新竹科学园区的 </a:t>
            </a:r>
            <a:r>
              <a:rPr lang="en-US" altLang="zh-CN" sz="2460" dirty="0">
                <a:latin typeface="方正大标宋简体" panose="02010601030101010101" pitchFamily="2" charset="-122"/>
                <a:ea typeface="方正大标宋简体" panose="02010601030101010101" pitchFamily="2" charset="-122"/>
                <a:cs typeface="Times New Roman" panose="02020603050405020304" pitchFamily="18" charset="0"/>
              </a:rPr>
              <a:t>12 </a:t>
            </a:r>
            <a:r>
              <a:rPr lang="zh-CN" altLang="en-US" sz="2460" dirty="0">
                <a:latin typeface="方正大标宋简体" panose="02010601030101010101" pitchFamily="2" charset="-122"/>
                <a:ea typeface="方正大标宋简体" panose="02010601030101010101" pitchFamily="2" charset="-122"/>
                <a:cs typeface="Times New Roman" panose="02020603050405020304" pitchFamily="18" charset="0"/>
              </a:rPr>
              <a:t>寸晶圆厂和营运总部突然传出电脑遭病毒入侵，且生产线全数停摆的消息，而不到几个小时，台积电位于台中科学园区的 </a:t>
            </a:r>
            <a:r>
              <a:rPr lang="en-US" altLang="zh-CN" sz="2460" dirty="0">
                <a:latin typeface="方正大标宋简体" panose="02010601030101010101" pitchFamily="2" charset="-122"/>
                <a:ea typeface="方正大标宋简体" panose="02010601030101010101" pitchFamily="2" charset="-122"/>
                <a:cs typeface="Times New Roman" panose="02020603050405020304" pitchFamily="18" charset="0"/>
              </a:rPr>
              <a:t>Fab 15 </a:t>
            </a:r>
            <a:r>
              <a:rPr lang="zh-CN" altLang="en-US" sz="2460" dirty="0">
                <a:latin typeface="方正大标宋简体" panose="02010601030101010101" pitchFamily="2" charset="-122"/>
                <a:ea typeface="方正大标宋简体" panose="02010601030101010101" pitchFamily="2" charset="-122"/>
                <a:cs typeface="Times New Roman" panose="02020603050405020304" pitchFamily="18" charset="0"/>
              </a:rPr>
              <a:t>厂，以及台南科学园区的 </a:t>
            </a:r>
            <a:r>
              <a:rPr lang="en-US" altLang="zh-CN" sz="2460" dirty="0">
                <a:latin typeface="方正大标宋简体" panose="02010601030101010101" pitchFamily="2" charset="-122"/>
                <a:ea typeface="方正大标宋简体" panose="02010601030101010101" pitchFamily="2" charset="-122"/>
                <a:cs typeface="Times New Roman" panose="02020603050405020304" pitchFamily="18" charset="0"/>
              </a:rPr>
              <a:t>Fab 14 </a:t>
            </a:r>
            <a:r>
              <a:rPr lang="zh-CN" altLang="en-US" sz="2460" dirty="0">
                <a:latin typeface="方正大标宋简体" panose="02010601030101010101" pitchFamily="2" charset="-122"/>
                <a:ea typeface="方正大标宋简体" panose="02010601030101010101" pitchFamily="2" charset="-122"/>
                <a:cs typeface="Times New Roman" panose="02020603050405020304" pitchFamily="18" charset="0"/>
              </a:rPr>
              <a:t>厂也陆续传出同样消息，生产设备受到</a:t>
            </a:r>
            <a:r>
              <a:rPr lang="en-US" altLang="zh-CN" sz="2955" dirty="0" err="1">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WannaCry</a:t>
            </a:r>
            <a:r>
              <a:rPr lang="zh-CN" altLang="en-US" sz="2955"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勒索病毒</a:t>
            </a:r>
            <a:r>
              <a:rPr lang="zh-CN" altLang="en-US" sz="2460" dirty="0">
                <a:latin typeface="方正大标宋简体" panose="02010601030101010101" pitchFamily="2" charset="-122"/>
                <a:ea typeface="方正大标宋简体" panose="02010601030101010101" pitchFamily="2" charset="-122"/>
                <a:cs typeface="Times New Roman" panose="02020603050405020304" pitchFamily="18" charset="0"/>
              </a:rPr>
              <a:t>变种感染。</a:t>
            </a:r>
            <a:endParaRPr lang="zh-CN" altLang="en-US" sz="2460"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sp>
        <p:nvSpPr>
          <p:cNvPr id="96259" name="矩形 1"/>
          <p:cNvSpPr>
            <a:spLocks noChangeArrowheads="1"/>
          </p:cNvSpPr>
          <p:nvPr/>
        </p:nvSpPr>
        <p:spPr bwMode="auto">
          <a:xfrm>
            <a:off x="762047" y="327117"/>
            <a:ext cx="7978868" cy="546100"/>
          </a:xfrm>
          <a:prstGeom prst="rect">
            <a:avLst/>
          </a:prstGeom>
          <a:noFill/>
          <a:ln>
            <a:noFill/>
          </a:ln>
        </p:spPr>
        <p:txBody>
          <a:bodyPr wrap="squar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No.8  </a:t>
            </a:r>
            <a:r>
              <a:rPr lang="zh-CN" altLang="en-US" sz="2955" b="1" dirty="0">
                <a:solidFill>
                  <a:srgbClr val="FF0000"/>
                </a:solidFill>
                <a:latin typeface="Times New Roman" panose="02020603050405020304" pitchFamily="18" charset="0"/>
                <a:ea typeface="+mn-ea"/>
                <a:cs typeface="Times New Roman" panose="02020603050405020304" pitchFamily="18" charset="0"/>
              </a:rPr>
              <a:t>台积电生产工厂和营运总部中勒索病毒</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grpSp>
        <p:nvGrpSpPr>
          <p:cNvPr id="2" name="组合 1"/>
          <p:cNvGrpSpPr/>
          <p:nvPr/>
        </p:nvGrpSpPr>
        <p:grpSpPr>
          <a:xfrm>
            <a:off x="6007375" y="1124744"/>
            <a:ext cx="5438626" cy="5303531"/>
            <a:chOff x="4880992" y="1556792"/>
            <a:chExt cx="4418884" cy="4309119"/>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80992" y="3578825"/>
              <a:ext cx="4062587" cy="2287086"/>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3120" y="1556792"/>
              <a:ext cx="3266756" cy="2259140"/>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9330"/>
                                        </p:tgtEl>
                                        <p:attrNameLst>
                                          <p:attrName>style.visibility</p:attrName>
                                        </p:attrNameLst>
                                      </p:cBhvr>
                                      <p:to>
                                        <p:strVal val="visible"/>
                                      </p:to>
                                    </p:set>
                                    <p:anim calcmode="lin" valueType="num">
                                      <p:cBhvr>
                                        <p:cTn id="7" dur="1000" fill="hold"/>
                                        <p:tgtEl>
                                          <p:spTgt spid="99330"/>
                                        </p:tgtEl>
                                        <p:attrNameLst>
                                          <p:attrName>ppt_w</p:attrName>
                                        </p:attrNameLst>
                                      </p:cBhvr>
                                      <p:tavLst>
                                        <p:tav tm="0">
                                          <p:val>
                                            <p:fltVal val="0"/>
                                          </p:val>
                                        </p:tav>
                                        <p:tav tm="100000">
                                          <p:val>
                                            <p:strVal val="#ppt_w"/>
                                          </p:val>
                                        </p:tav>
                                      </p:tavLst>
                                    </p:anim>
                                    <p:anim calcmode="lin" valueType="num">
                                      <p:cBhvr>
                                        <p:cTn id="8" dur="1000" fill="hold"/>
                                        <p:tgtEl>
                                          <p:spTgt spid="99330"/>
                                        </p:tgtEl>
                                        <p:attrNameLst>
                                          <p:attrName>ppt_h</p:attrName>
                                        </p:attrNameLst>
                                      </p:cBhvr>
                                      <p:tavLst>
                                        <p:tav tm="0">
                                          <p:val>
                                            <p:fltVal val="0"/>
                                          </p:val>
                                        </p:tav>
                                        <p:tav tm="100000">
                                          <p:val>
                                            <p:strVal val="#ppt_h"/>
                                          </p:val>
                                        </p:tav>
                                      </p:tavLst>
                                    </p:anim>
                                    <p:animEffect transition="in" filter="fade">
                                      <p:cBhvr>
                                        <p:cTn id="9" dur="1000"/>
                                        <p:tgtEl>
                                          <p:spTgt spid="99330"/>
                                        </p:tgtEl>
                                      </p:cBhvr>
                                    </p:animEffect>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250" fill="hold"/>
                                        <p:tgtEl>
                                          <p:spTgt spid="2"/>
                                        </p:tgtEl>
                                        <p:attrNameLst>
                                          <p:attrName>ppt_x</p:attrName>
                                        </p:attrNameLst>
                                      </p:cBhvr>
                                      <p:tavLst>
                                        <p:tav tm="0">
                                          <p:val>
                                            <p:strVal val="#ppt_x"/>
                                          </p:val>
                                        </p:tav>
                                        <p:tav tm="100000">
                                          <p:val>
                                            <p:strVal val="#ppt_x"/>
                                          </p:val>
                                        </p:tav>
                                      </p:tavLst>
                                    </p:anim>
                                    <p:anim calcmode="lin" valueType="num">
                                      <p:cBhvr additive="base">
                                        <p:cTn id="14" dur="2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矩形 1"/>
          <p:cNvSpPr>
            <a:spLocks noChangeArrowheads="1"/>
          </p:cNvSpPr>
          <p:nvPr/>
        </p:nvSpPr>
        <p:spPr bwMode="auto">
          <a:xfrm>
            <a:off x="601236" y="318050"/>
            <a:ext cx="9837004" cy="546100"/>
          </a:xfrm>
          <a:prstGeom prst="rect">
            <a:avLst/>
          </a:prstGeom>
          <a:noFill/>
          <a:ln>
            <a:noFill/>
          </a:ln>
        </p:spPr>
        <p:txBody>
          <a:bodyPr wrap="square">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No.9</a:t>
            </a:r>
            <a:r>
              <a:rPr lang="zh-CN" altLang="en-US" sz="2955" b="1" dirty="0">
                <a:solidFill>
                  <a:srgbClr val="FF0000"/>
                </a:solidFill>
                <a:latin typeface="Times New Roman" panose="02020603050405020304" pitchFamily="18" charset="0"/>
                <a:ea typeface="+mn-ea"/>
                <a:cs typeface="Times New Roman" panose="02020603050405020304" pitchFamily="18" charset="0"/>
              </a:rPr>
              <a:t>  泰州警方：</a:t>
            </a:r>
            <a:r>
              <a:rPr lang="en-US" altLang="zh-CN" sz="2955" b="1" dirty="0">
                <a:solidFill>
                  <a:srgbClr val="FF0000"/>
                </a:solidFill>
                <a:latin typeface="Times New Roman" panose="02020603050405020304" pitchFamily="18" charset="0"/>
                <a:ea typeface="+mn-ea"/>
                <a:cs typeface="Times New Roman" panose="02020603050405020304" pitchFamily="18" charset="0"/>
              </a:rPr>
              <a:t>800</a:t>
            </a:r>
            <a:r>
              <a:rPr lang="zh-CN" altLang="en-US" sz="2955" b="1" dirty="0">
                <a:solidFill>
                  <a:srgbClr val="FF0000"/>
                </a:solidFill>
                <a:latin typeface="Times New Roman" panose="02020603050405020304" pitchFamily="18" charset="0"/>
                <a:ea typeface="+mn-ea"/>
                <a:cs typeface="Times New Roman" panose="02020603050405020304" pitchFamily="18" charset="0"/>
              </a:rPr>
              <a:t>万条公民个人信息被售卖</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sp>
        <p:nvSpPr>
          <p:cNvPr id="100355" name="矩形 4"/>
          <p:cNvSpPr>
            <a:spLocks noChangeArrowheads="1"/>
          </p:cNvSpPr>
          <p:nvPr/>
        </p:nvSpPr>
        <p:spPr bwMode="auto">
          <a:xfrm>
            <a:off x="1558730" y="1234540"/>
            <a:ext cx="8242146" cy="398780"/>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2400"/>
              </a:lnSpc>
              <a:defRPr/>
            </a:pPr>
            <a:r>
              <a:rPr lang="zh-CN" altLang="en-US" sz="100" b="1" dirty="0">
                <a:latin typeface="Times New Roman" panose="02020603050405020304" pitchFamily="18" charset="0"/>
                <a:ea typeface="+mn-ea"/>
                <a:cs typeface="Times New Roman" panose="02020603050405020304" pitchFamily="18" charset="0"/>
              </a:rPr>
              <a:t>​</a:t>
            </a:r>
            <a:r>
              <a:rPr lang="en-US" altLang="zh-CN" sz="100" b="1" dirty="0">
                <a:solidFill>
                  <a:srgbClr val="0000FF"/>
                </a:solidFill>
                <a:latin typeface="Times New Roman" panose="02020603050405020304" pitchFamily="18" charset="0"/>
                <a:ea typeface="+mn-ea"/>
                <a:cs typeface="Times New Roman" panose="02020603050405020304" pitchFamily="18" charset="0"/>
              </a:rPr>
              <a:t>2020</a:t>
            </a:r>
            <a:r>
              <a:rPr lang="zh-CN" altLang="en-US" sz="100" b="1" dirty="0">
                <a:solidFill>
                  <a:srgbClr val="0000FF"/>
                </a:solidFill>
                <a:latin typeface="Times New Roman" panose="02020603050405020304" pitchFamily="18" charset="0"/>
                <a:ea typeface="+mn-ea"/>
                <a:cs typeface="Times New Roman" panose="02020603050405020304" pitchFamily="18" charset="0"/>
              </a:rPr>
              <a:t>年</a:t>
            </a:r>
            <a:r>
              <a:rPr lang="en-US" altLang="zh-CN" sz="100" b="1" dirty="0">
                <a:solidFill>
                  <a:srgbClr val="0000FF"/>
                </a:solidFill>
                <a:latin typeface="Times New Roman" panose="02020603050405020304" pitchFamily="18" charset="0"/>
                <a:ea typeface="+mn-ea"/>
                <a:cs typeface="Times New Roman" panose="02020603050405020304" pitchFamily="18" charset="0"/>
              </a:rPr>
              <a:t>10</a:t>
            </a:r>
            <a:r>
              <a:rPr lang="zh-CN" altLang="en-US" sz="100" b="1" dirty="0">
                <a:solidFill>
                  <a:srgbClr val="0000FF"/>
                </a:solidFill>
                <a:latin typeface="Times New Roman" panose="02020603050405020304" pitchFamily="18" charset="0"/>
                <a:ea typeface="+mn-ea"/>
                <a:cs typeface="Times New Roman" panose="02020603050405020304" pitchFamily="18" charset="0"/>
              </a:rPr>
              <a:t>月</a:t>
            </a:r>
            <a:r>
              <a:rPr lang="en-US" altLang="zh-CN" sz="100" b="1" dirty="0">
                <a:solidFill>
                  <a:srgbClr val="0000FF"/>
                </a:solidFill>
                <a:latin typeface="Times New Roman" panose="02020603050405020304" pitchFamily="18" charset="0"/>
                <a:ea typeface="+mn-ea"/>
                <a:cs typeface="Times New Roman" panose="02020603050405020304" pitchFamily="18" charset="0"/>
              </a:rPr>
              <a:t>15</a:t>
            </a:r>
            <a:r>
              <a:rPr lang="zh-CN" altLang="en-US" sz="100" b="1" dirty="0">
                <a:solidFill>
                  <a:srgbClr val="0000FF"/>
                </a:solidFill>
                <a:latin typeface="Times New Roman" panose="02020603050405020304" pitchFamily="18" charset="0"/>
                <a:ea typeface="+mn-ea"/>
                <a:cs typeface="Times New Roman" panose="02020603050405020304" pitchFamily="18" charset="0"/>
              </a:rPr>
              <a:t>日</a:t>
            </a:r>
            <a:r>
              <a:rPr lang="zh-CN" altLang="en-US" sz="100" b="1" dirty="0">
                <a:latin typeface="Times New Roman" panose="02020603050405020304" pitchFamily="18" charset="0"/>
                <a:ea typeface="+mn-ea"/>
                <a:cs typeface="Times New Roman" panose="02020603050405020304" pitchFamily="18" charset="0"/>
              </a:rPr>
              <a:t>，央视新闻消息，江苏泰州警方破获一起侵犯公民个人信息案，抓获犯罪嫌疑人</a:t>
            </a:r>
            <a:r>
              <a:rPr lang="en-US" altLang="zh-CN" sz="100" b="1" dirty="0">
                <a:latin typeface="Times New Roman" panose="02020603050405020304" pitchFamily="18" charset="0"/>
                <a:ea typeface="+mn-ea"/>
                <a:cs typeface="Times New Roman" panose="02020603050405020304" pitchFamily="18" charset="0"/>
              </a:rPr>
              <a:t>7</a:t>
            </a:r>
            <a:r>
              <a:rPr lang="zh-CN" altLang="en-US" sz="100" b="1" dirty="0">
                <a:latin typeface="Times New Roman" panose="02020603050405020304" pitchFamily="18" charset="0"/>
                <a:ea typeface="+mn-ea"/>
                <a:cs typeface="Times New Roman" panose="02020603050405020304" pitchFamily="18" charset="0"/>
              </a:rPr>
              <a:t>名，被售卖的公民个人信息达</a:t>
            </a:r>
            <a:r>
              <a:rPr lang="en-US" altLang="zh-CN" sz="2955" b="1" dirty="0">
                <a:solidFill>
                  <a:srgbClr val="FF0000"/>
                </a:solidFill>
                <a:latin typeface="Times New Roman" panose="02020603050405020304" pitchFamily="18" charset="0"/>
                <a:ea typeface="+mn-ea"/>
                <a:cs typeface="Times New Roman" panose="02020603050405020304" pitchFamily="18" charset="0"/>
              </a:rPr>
              <a:t>800</a:t>
            </a:r>
            <a:r>
              <a:rPr lang="zh-CN" altLang="en-US" sz="2955" b="1" dirty="0">
                <a:solidFill>
                  <a:srgbClr val="FF0000"/>
                </a:solidFill>
                <a:latin typeface="Times New Roman" panose="02020603050405020304" pitchFamily="18" charset="0"/>
                <a:ea typeface="+mn-ea"/>
                <a:cs typeface="Times New Roman" panose="02020603050405020304" pitchFamily="18" charset="0"/>
              </a:rPr>
              <a:t>多万</a:t>
            </a:r>
            <a:r>
              <a:rPr lang="zh-CN" altLang="en-US" sz="100" b="1" dirty="0">
                <a:latin typeface="Times New Roman" panose="02020603050405020304" pitchFamily="18" charset="0"/>
                <a:ea typeface="+mn-ea"/>
                <a:cs typeface="Times New Roman" panose="02020603050405020304" pitchFamily="18" charset="0"/>
              </a:rPr>
              <a:t>条。</a:t>
            </a:r>
            <a:endParaRPr lang="zh-CN" altLang="en-US" sz="100" b="1" dirty="0">
              <a:latin typeface="Times New Roman" panose="02020603050405020304" pitchFamily="18" charset="0"/>
              <a:ea typeface="+mn-ea"/>
              <a:cs typeface="Times New Roman" panose="02020603050405020304" pitchFamily="18" charset="0"/>
            </a:endParaRPr>
          </a:p>
        </p:txBody>
      </p:sp>
      <p:grpSp>
        <p:nvGrpSpPr>
          <p:cNvPr id="6" name="组合 5"/>
          <p:cNvGrpSpPr/>
          <p:nvPr/>
        </p:nvGrpSpPr>
        <p:grpSpPr>
          <a:xfrm>
            <a:off x="1221612" y="2631373"/>
            <a:ext cx="9716204" cy="3951726"/>
            <a:chOff x="992560" y="2780928"/>
            <a:chExt cx="7894416" cy="3210777"/>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560" y="3501008"/>
              <a:ext cx="4128120" cy="1928606"/>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4840" y="2780928"/>
              <a:ext cx="4272136" cy="3210777"/>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0355"/>
                                        </p:tgtEl>
                                        <p:attrNameLst>
                                          <p:attrName>style.visibility</p:attrName>
                                        </p:attrNameLst>
                                      </p:cBhvr>
                                      <p:to>
                                        <p:strVal val="visible"/>
                                      </p:to>
                                    </p:set>
                                    <p:anim calcmode="lin" valueType="num">
                                      <p:cBhvr additive="base">
                                        <p:cTn id="7" dur="1000" fill="hold"/>
                                        <p:tgtEl>
                                          <p:spTgt spid="100355"/>
                                        </p:tgtEl>
                                        <p:attrNameLst>
                                          <p:attrName>ppt_x</p:attrName>
                                        </p:attrNameLst>
                                      </p:cBhvr>
                                      <p:tavLst>
                                        <p:tav tm="0">
                                          <p:val>
                                            <p:strVal val="0-#ppt_w/2"/>
                                          </p:val>
                                        </p:tav>
                                        <p:tav tm="100000">
                                          <p:val>
                                            <p:strVal val="#ppt_x"/>
                                          </p:val>
                                        </p:tav>
                                      </p:tavLst>
                                    </p:anim>
                                    <p:anim calcmode="lin" valueType="num">
                                      <p:cBhvr additive="base">
                                        <p:cTn id="8" dur="1000" fill="hold"/>
                                        <p:tgtEl>
                                          <p:spTgt spid="10035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矩形 1"/>
          <p:cNvSpPr>
            <a:spLocks noChangeArrowheads="1"/>
          </p:cNvSpPr>
          <p:nvPr/>
        </p:nvSpPr>
        <p:spPr bwMode="auto">
          <a:xfrm>
            <a:off x="7220990" y="1991593"/>
            <a:ext cx="4614374" cy="3649980"/>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2460" b="1" dirty="0">
                <a:solidFill>
                  <a:srgbClr val="0000FF"/>
                </a:solidFill>
                <a:latin typeface="Times New Roman" panose="02020603050405020304" pitchFamily="18" charset="0"/>
                <a:ea typeface="+mn-ea"/>
                <a:cs typeface="Times New Roman" panose="02020603050405020304" pitchFamily="18" charset="0"/>
              </a:rPr>
              <a:t>​</a:t>
            </a:r>
            <a:r>
              <a:rPr lang="en-US" altLang="zh-CN" sz="2460" b="1" dirty="0">
                <a:solidFill>
                  <a:srgbClr val="0000FF"/>
                </a:solidFill>
                <a:latin typeface="Times New Roman" panose="02020603050405020304" pitchFamily="18" charset="0"/>
                <a:ea typeface="+mn-ea"/>
                <a:cs typeface="Times New Roman" panose="02020603050405020304" pitchFamily="18" charset="0"/>
              </a:rPr>
              <a:t>2020</a:t>
            </a:r>
            <a:r>
              <a:rPr lang="zh-CN" altLang="en-US" sz="2460" b="1" dirty="0">
                <a:solidFill>
                  <a:srgbClr val="0000FF"/>
                </a:solidFill>
                <a:latin typeface="Times New Roman" panose="02020603050405020304" pitchFamily="18" charset="0"/>
                <a:ea typeface="+mn-ea"/>
                <a:cs typeface="Times New Roman" panose="02020603050405020304" pitchFamily="18" charset="0"/>
              </a:rPr>
              <a:t>年</a:t>
            </a:r>
            <a:r>
              <a:rPr lang="en-US" altLang="zh-CN" sz="2460" b="1" dirty="0">
                <a:solidFill>
                  <a:srgbClr val="0000FF"/>
                </a:solidFill>
                <a:latin typeface="Times New Roman" panose="02020603050405020304" pitchFamily="18" charset="0"/>
                <a:ea typeface="+mn-ea"/>
                <a:cs typeface="Times New Roman" panose="02020603050405020304" pitchFamily="18" charset="0"/>
              </a:rPr>
              <a:t>12</a:t>
            </a:r>
            <a:r>
              <a:rPr lang="zh-CN" altLang="en-US" sz="2460" b="1" dirty="0">
                <a:solidFill>
                  <a:srgbClr val="0000FF"/>
                </a:solidFill>
                <a:latin typeface="Times New Roman" panose="02020603050405020304" pitchFamily="18" charset="0"/>
                <a:ea typeface="+mn-ea"/>
                <a:cs typeface="Times New Roman" panose="02020603050405020304" pitchFamily="18" charset="0"/>
              </a:rPr>
              <a:t>月</a:t>
            </a:r>
            <a:r>
              <a:rPr lang="zh-CN" altLang="en-US" sz="2460" b="1" dirty="0">
                <a:latin typeface="Times New Roman" panose="02020603050405020304" pitchFamily="18" charset="0"/>
                <a:ea typeface="+mn-ea"/>
                <a:cs typeface="Times New Roman" panose="02020603050405020304" pitchFamily="18" charset="0"/>
              </a:rPr>
              <a:t>中旬，蔓灵花</a:t>
            </a:r>
            <a:r>
              <a:rPr lang="en-US" altLang="zh-CN" sz="2460" b="1" dirty="0">
                <a:latin typeface="Times New Roman" panose="02020603050405020304" pitchFamily="18" charset="0"/>
                <a:ea typeface="+mn-ea"/>
                <a:cs typeface="Times New Roman" panose="02020603050405020304" pitchFamily="18" charset="0"/>
              </a:rPr>
              <a:t>APT</a:t>
            </a:r>
            <a:r>
              <a:rPr lang="zh-CN" altLang="en-US" sz="2460" b="1" dirty="0">
                <a:latin typeface="Times New Roman" panose="02020603050405020304" pitchFamily="18" charset="0"/>
                <a:ea typeface="+mn-ea"/>
                <a:cs typeface="Times New Roman" panose="02020603050405020304" pitchFamily="18" charset="0"/>
              </a:rPr>
              <a:t>组织，利用病毒邮件对我国关键领域发动钓鱼邮件攻击。邮件内容以“海事政策分析和对南亚的港口安全影响”、“</a:t>
            </a:r>
            <a:r>
              <a:rPr lang="en-US" altLang="zh-CN" sz="2460" b="1" dirty="0">
                <a:latin typeface="Times New Roman" panose="02020603050405020304" pitchFamily="18" charset="0"/>
                <a:ea typeface="+mn-ea"/>
                <a:cs typeface="Times New Roman" panose="02020603050405020304" pitchFamily="18" charset="0"/>
              </a:rPr>
              <a:t>2020</a:t>
            </a:r>
            <a:r>
              <a:rPr lang="zh-CN" altLang="en-US" sz="2460" b="1" dirty="0">
                <a:latin typeface="Times New Roman" panose="02020603050405020304" pitchFamily="18" charset="0"/>
                <a:ea typeface="+mn-ea"/>
                <a:cs typeface="Times New Roman" panose="02020603050405020304" pitchFamily="18" charset="0"/>
              </a:rPr>
              <a:t>年自主研发项目立项论证报告”等主题，主要针对我国政府部门、科研机构相关人员发起</a:t>
            </a:r>
            <a:r>
              <a:rPr lang="zh-CN" altLang="en-US" sz="2955" b="1" dirty="0">
                <a:solidFill>
                  <a:srgbClr val="FF0000"/>
                </a:solidFill>
                <a:latin typeface="Times New Roman" panose="02020603050405020304" pitchFamily="18" charset="0"/>
                <a:ea typeface="+mn-ea"/>
                <a:cs typeface="Times New Roman" panose="02020603050405020304" pitchFamily="18" charset="0"/>
              </a:rPr>
              <a:t>定向邮件攻击</a:t>
            </a:r>
            <a:r>
              <a:rPr lang="zh-CN" altLang="en-US" sz="2460" b="1" dirty="0">
                <a:latin typeface="Times New Roman" panose="02020603050405020304" pitchFamily="18" charset="0"/>
                <a:ea typeface="+mn-ea"/>
                <a:cs typeface="Times New Roman" panose="02020603050405020304" pitchFamily="18" charset="0"/>
              </a:rPr>
              <a:t>。</a:t>
            </a:r>
            <a:endParaRPr lang="zh-CN" altLang="en-US" sz="2460" b="1" dirty="0">
              <a:latin typeface="Times New Roman" panose="02020603050405020304" pitchFamily="18" charset="0"/>
              <a:ea typeface="+mn-ea"/>
              <a:cs typeface="Times New Roman" panose="02020603050405020304" pitchFamily="18" charset="0"/>
            </a:endParaRPr>
          </a:p>
        </p:txBody>
      </p:sp>
      <p:sp>
        <p:nvSpPr>
          <p:cNvPr id="98309" name="矩形 2"/>
          <p:cNvSpPr>
            <a:spLocks noChangeArrowheads="1"/>
          </p:cNvSpPr>
          <p:nvPr/>
        </p:nvSpPr>
        <p:spPr bwMode="auto">
          <a:xfrm>
            <a:off x="867508" y="203201"/>
            <a:ext cx="10456985" cy="546100"/>
          </a:xfrm>
          <a:prstGeom prst="rect">
            <a:avLst/>
          </a:prstGeom>
          <a:noFill/>
          <a:ln>
            <a:noFill/>
          </a:ln>
        </p:spPr>
        <p:txBody>
          <a:bodyPr>
            <a:spAutoFit/>
          </a:bodyPr>
          <a:lstStyle/>
          <a:p>
            <a:pPr>
              <a:defRPr/>
            </a:pPr>
            <a:r>
              <a:rPr lang="en-US" altLang="zh-CN" sz="2955" b="1" dirty="0">
                <a:solidFill>
                  <a:srgbClr val="FF0000"/>
                </a:solidFill>
                <a:latin typeface="Times New Roman" panose="02020603050405020304" pitchFamily="18" charset="0"/>
                <a:ea typeface="+mn-ea"/>
                <a:cs typeface="Times New Roman" panose="02020603050405020304" pitchFamily="18" charset="0"/>
              </a:rPr>
              <a:t>No.10  </a:t>
            </a:r>
            <a:r>
              <a:rPr lang="zh-CN" altLang="en-US" sz="2955" b="1" dirty="0">
                <a:solidFill>
                  <a:srgbClr val="FF0000"/>
                </a:solidFill>
                <a:latin typeface="Times New Roman" panose="02020603050405020304" pitchFamily="18" charset="0"/>
                <a:ea typeface="+mn-ea"/>
                <a:cs typeface="Times New Roman" panose="02020603050405020304" pitchFamily="18" charset="0"/>
              </a:rPr>
              <a:t>蔓灵花组织对我国关键领域发动钓鱼邮件攻击</a:t>
            </a:r>
            <a:endParaRPr lang="zh-CN" altLang="en-US" sz="2955" b="1" dirty="0">
              <a:solidFill>
                <a:srgbClr val="FF0000"/>
              </a:solidFill>
              <a:latin typeface="Times New Roman" panose="02020603050405020304" pitchFamily="18" charset="0"/>
              <a:ea typeface="+mn-ea"/>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9861" y="947494"/>
            <a:ext cx="5216539" cy="3922284"/>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238" y="2188247"/>
            <a:ext cx="6077439" cy="3692622"/>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2644" y="1375673"/>
            <a:ext cx="7924800" cy="3516923"/>
          </a:xfrm>
          <a:prstGeom prst="rect">
            <a:avLst/>
          </a:prstGeom>
          <a:noFill/>
          <a:ln>
            <a:solidFill>
              <a:srgbClr val="00B050"/>
            </a:solidFill>
          </a:ln>
          <a:effectLst>
            <a:outerShdw blurRad="149987" dist="250190" dir="8460000" algn="ctr">
              <a:srgbClr val="000000">
                <a:alpha val="28000"/>
              </a:srgbClr>
            </a:outerShdw>
          </a:effectLst>
          <a:sp3d prstMaterial="metal">
            <a:bevelT w="88900" h="88900"/>
          </a:sp3d>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1378"/>
                                        </p:tgtEl>
                                        <p:attrNameLst>
                                          <p:attrName>style.visibility</p:attrName>
                                        </p:attrNameLst>
                                      </p:cBhvr>
                                      <p:to>
                                        <p:strVal val="visible"/>
                                      </p:to>
                                    </p:set>
                                    <p:anim calcmode="lin" valueType="num">
                                      <p:cBhvr additive="base">
                                        <p:cTn id="7" dur="1000" fill="hold"/>
                                        <p:tgtEl>
                                          <p:spTgt spid="101378"/>
                                        </p:tgtEl>
                                        <p:attrNameLst>
                                          <p:attrName>ppt_x</p:attrName>
                                        </p:attrNameLst>
                                      </p:cBhvr>
                                      <p:tavLst>
                                        <p:tav tm="0">
                                          <p:val>
                                            <p:strVal val="#ppt_x"/>
                                          </p:val>
                                        </p:tav>
                                        <p:tav tm="100000">
                                          <p:val>
                                            <p:strVal val="#ppt_x"/>
                                          </p:val>
                                        </p:tav>
                                      </p:tavLst>
                                    </p:anim>
                                    <p:anim calcmode="lin" valueType="num">
                                      <p:cBhvr additive="base">
                                        <p:cTn id="8" dur="1000" fill="hold"/>
                                        <p:tgtEl>
                                          <p:spTgt spid="101378"/>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1+#ppt_w/2"/>
                                          </p:val>
                                        </p:tav>
                                        <p:tav tm="100000">
                                          <p:val>
                                            <p:strVal val="#ppt_x"/>
                                          </p:val>
                                        </p:tav>
                                      </p:tavLst>
                                    </p:anim>
                                    <p:anim calcmode="lin" valueType="num">
                                      <p:cBhvr additive="base">
                                        <p:cTn id="25"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23985" y="5467380"/>
            <a:ext cx="11344030" cy="106680"/>
          </a:xfrm>
          <a:prstGeom prst="rect">
            <a:avLst/>
          </a:prstGeom>
          <a:noFill/>
        </p:spPr>
        <p:txBody>
          <a:bodyPr wrap="square" rtlCol="0">
            <a:spAutoFit/>
          </a:bodyPr>
          <a:lstStyle/>
          <a:p>
            <a:r>
              <a:rPr kumimoji="1" lang="en-GB" altLang="zh-CN" sz="100" dirty="0"/>
              <a:t>https://</a:t>
            </a:r>
            <a:r>
              <a:rPr kumimoji="1" lang="en-GB" altLang="zh-CN" sz="100" dirty="0" err="1"/>
              <a:t>www.bilibili.com</a:t>
            </a:r>
            <a:r>
              <a:rPr kumimoji="1" lang="en-GB" altLang="zh-CN" sz="100" dirty="0"/>
              <a:t>/video/BV1uu4y1X7FX/?</a:t>
            </a:r>
            <a:r>
              <a:rPr kumimoji="1" lang="en-GB" altLang="zh-CN" sz="100" dirty="0" err="1"/>
              <a:t>spm_id_from</a:t>
            </a:r>
            <a:r>
              <a:rPr kumimoji="1" lang="en-GB" altLang="zh-CN" sz="100" dirty="0"/>
              <a:t>=333.788.top_right_bar_window_custom_collection.content.click&amp;vd_source=0991c0bfd7ce6d8c34ea5d7729eaded5</a:t>
            </a:r>
            <a:endParaRPr kumimoji="1" lang="zh-CN" altLang="en-US" sz="100" dirty="0"/>
          </a:p>
        </p:txBody>
      </p:sp>
      <p:pic>
        <p:nvPicPr>
          <p:cNvPr id="1648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40185" y="61241"/>
            <a:ext cx="8311631" cy="5193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idx="4294967295"/>
          </p:nvPr>
        </p:nvSpPr>
        <p:spPr>
          <a:xfrm>
            <a:off x="955431" y="150446"/>
            <a:ext cx="8684846" cy="619370"/>
          </a:xfrm>
        </p:spPr>
        <p:txBody>
          <a:bodyPr lIns="116446" tIns="58222" rIns="116446" bIns="58222"/>
          <a:lstStyle/>
          <a:p>
            <a:r>
              <a:rPr lang="zh-CN" altLang="en-US">
                <a:solidFill>
                  <a:srgbClr val="FF0000"/>
                </a:solidFill>
              </a:rPr>
              <a:t>网络空间安全趋势</a:t>
            </a:r>
            <a:endParaRPr lang="zh-CN" altLang="en-US">
              <a:solidFill>
                <a:srgbClr val="FF0000"/>
              </a:solidFill>
            </a:endParaRPr>
          </a:p>
        </p:txBody>
      </p:sp>
      <p:sp>
        <p:nvSpPr>
          <p:cNvPr id="97283" name="Rectangle 3"/>
          <p:cNvSpPr>
            <a:spLocks noGrp="1" noChangeArrowheads="1"/>
          </p:cNvSpPr>
          <p:nvPr>
            <p:ph type="body" idx="4294967295"/>
          </p:nvPr>
        </p:nvSpPr>
        <p:spPr>
          <a:xfrm>
            <a:off x="777631" y="947615"/>
            <a:ext cx="11238523" cy="1205524"/>
          </a:xfrm>
        </p:spPr>
        <p:txBody>
          <a:bodyPr lIns="116446" tIns="58222" rIns="116446" bIns="58222"/>
          <a:lstStyle/>
          <a:p>
            <a:r>
              <a:rPr lang="zh-CN" altLang="en-US">
                <a:solidFill>
                  <a:srgbClr val="0000FF"/>
                </a:solidFill>
              </a:rPr>
              <a:t>隐蔽性：</a:t>
            </a:r>
            <a:r>
              <a:rPr lang="zh-CN" altLang="en-US" sz="2955" b="1"/>
              <a:t>信息安全的一个最大特点就是看不见摸不着。在不知不觉中就已经中了招，在不知不觉中就已经遭受了重大损失。</a:t>
            </a:r>
            <a:endParaRPr lang="zh-CN" altLang="en-US" sz="2955" b="1"/>
          </a:p>
        </p:txBody>
      </p:sp>
      <p:pic>
        <p:nvPicPr>
          <p:cNvPr id="11981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6031" y="2805724"/>
            <a:ext cx="5330092" cy="381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3" name="WordArt 6"/>
          <p:cNvSpPr>
            <a:spLocks noChangeArrowheads="1" noChangeShapeType="1" noTextEdit="1"/>
          </p:cNvSpPr>
          <p:nvPr/>
        </p:nvSpPr>
        <p:spPr bwMode="auto">
          <a:xfrm>
            <a:off x="6183924" y="3681047"/>
            <a:ext cx="5361354" cy="1785815"/>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333"/>
              </a:avLst>
            </a:prstTxWarp>
          </a:bodyPr>
          <a:lstStyle/>
          <a:p>
            <a:pPr algn="ctr"/>
            <a:r>
              <a:rPr lang="zh-CN" altLang="en-US" sz="4430" b="1" kern="10">
                <a:effectLst>
                  <a:outerShdw dist="45791" dir="2021404" algn="ctr" rotWithShape="0">
                    <a:srgbClr val="B2B2B2">
                      <a:alpha val="79999"/>
                    </a:srgbClr>
                  </a:outerShdw>
                </a:effectLst>
                <a:latin typeface="宋体" panose="02010600030101010101" pitchFamily="2" charset="-122"/>
              </a:rPr>
              <a:t>想一想</a:t>
            </a:r>
            <a:endParaRPr lang="zh-CN" altLang="en-US" sz="4430" b="1" kern="10">
              <a:effectLst>
                <a:outerShdw dist="45791" dir="2021404" algn="ctr" rotWithShape="0">
                  <a:srgbClr val="B2B2B2">
                    <a:alpha val="79999"/>
                  </a:srgbClr>
                </a:outerShdw>
              </a:effectLst>
              <a:latin typeface="宋体" panose="02010600030101010101" pitchFamily="2" charset="-122"/>
            </a:endParaRPr>
          </a:p>
          <a:p>
            <a:pPr algn="ctr"/>
            <a:r>
              <a:rPr lang="zh-CN" altLang="en-US" sz="4430" b="1" kern="10">
                <a:effectLst>
                  <a:outerShdw dist="45791" dir="2021404" algn="ctr" rotWithShape="0">
                    <a:srgbClr val="B2B2B2">
                      <a:alpha val="79999"/>
                    </a:srgbClr>
                  </a:outerShdw>
                </a:effectLst>
                <a:latin typeface="宋体" panose="02010600030101010101" pitchFamily="2" charset="-122"/>
              </a:rPr>
              <a:t>你的计算机上的病毒和流氓软件</a:t>
            </a:r>
            <a:endParaRPr lang="zh-CN" altLang="en-US" sz="4430" b="1" kern="10">
              <a:effectLst>
                <a:outerShdw dist="45791" dir="2021404" algn="ctr" rotWithShape="0">
                  <a:srgbClr val="B2B2B2">
                    <a:alpha val="79999"/>
                  </a:srgbClr>
                </a:outerShdw>
              </a:effectLst>
              <a:latin typeface="宋体" panose="02010600030101010101" pitchFamily="2" charset="-122"/>
            </a:endParaRPr>
          </a:p>
          <a:p>
            <a:pPr algn="ctr"/>
            <a:r>
              <a:rPr lang="zh-CN" altLang="en-US" sz="4430" b="1" kern="10">
                <a:effectLst>
                  <a:outerShdw dist="45791" dir="2021404" algn="ctr" rotWithShape="0">
                    <a:srgbClr val="B2B2B2">
                      <a:alpha val="79999"/>
                    </a:srgbClr>
                  </a:outerShdw>
                </a:effectLst>
                <a:latin typeface="宋体" panose="02010600030101010101" pitchFamily="2" charset="-122"/>
              </a:rPr>
              <a:t>能回忆出是何时中招的吗？</a:t>
            </a:r>
            <a:endParaRPr lang="zh-CN" altLang="en-US" sz="4430" b="1" kern="10">
              <a:effectLst>
                <a:outerShdw dist="45791" dir="2021404" algn="ctr" rotWithShape="0">
                  <a:srgbClr val="B2B2B2">
                    <a:alpha val="79999"/>
                  </a:srgbClr>
                </a:outerShdw>
              </a:effectLst>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9812"/>
                                        </p:tgtEl>
                                        <p:attrNameLst>
                                          <p:attrName>style.visibility</p:attrName>
                                        </p:attrNameLst>
                                      </p:cBhvr>
                                      <p:to>
                                        <p:strVal val="visible"/>
                                      </p:to>
                                    </p:set>
                                    <p:anim calcmode="lin" valueType="num">
                                      <p:cBhvr>
                                        <p:cTn id="7" dur="1000" fill="hold"/>
                                        <p:tgtEl>
                                          <p:spTgt spid="119812"/>
                                        </p:tgtEl>
                                        <p:attrNameLst>
                                          <p:attrName>ppt_w</p:attrName>
                                        </p:attrNameLst>
                                      </p:cBhvr>
                                      <p:tavLst>
                                        <p:tav tm="0">
                                          <p:val>
                                            <p:fltVal val="0"/>
                                          </p:val>
                                        </p:tav>
                                        <p:tav tm="100000">
                                          <p:val>
                                            <p:strVal val="#ppt_w"/>
                                          </p:val>
                                        </p:tav>
                                      </p:tavLst>
                                    </p:anim>
                                    <p:anim calcmode="lin" valueType="num">
                                      <p:cBhvr>
                                        <p:cTn id="8" dur="1000" fill="hold"/>
                                        <p:tgtEl>
                                          <p:spTgt spid="119812"/>
                                        </p:tgtEl>
                                        <p:attrNameLst>
                                          <p:attrName>ppt_h</p:attrName>
                                        </p:attrNameLst>
                                      </p:cBhvr>
                                      <p:tavLst>
                                        <p:tav tm="0">
                                          <p:val>
                                            <p:fltVal val="0"/>
                                          </p:val>
                                        </p:tav>
                                        <p:tav tm="100000">
                                          <p:val>
                                            <p:strVal val="#ppt_h"/>
                                          </p:val>
                                        </p:tav>
                                      </p:tavLst>
                                    </p:anim>
                                    <p:animEffect transition="in" filter="fade">
                                      <p:cBhvr>
                                        <p:cTn id="9" dur="1000"/>
                                        <p:tgtEl>
                                          <p:spTgt spid="119812"/>
                                        </p:tgtEl>
                                      </p:cBhvr>
                                    </p:animEffect>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9813"/>
                                        </p:tgtEl>
                                        <p:attrNameLst>
                                          <p:attrName>style.visibility</p:attrName>
                                        </p:attrNameLst>
                                      </p:cBhvr>
                                      <p:to>
                                        <p:strVal val="visible"/>
                                      </p:to>
                                    </p:set>
                                    <p:animEffect transition="in" filter="fade">
                                      <p:cBhvr>
                                        <p:cTn id="13" dur="1000"/>
                                        <p:tgtEl>
                                          <p:spTgt spid="119813"/>
                                        </p:tgtEl>
                                      </p:cBhvr>
                                    </p:animEffect>
                                    <p:anim calcmode="lin" valueType="num">
                                      <p:cBhvr>
                                        <p:cTn id="14" dur="1000" fill="hold"/>
                                        <p:tgtEl>
                                          <p:spTgt spid="119813"/>
                                        </p:tgtEl>
                                        <p:attrNameLst>
                                          <p:attrName>ppt_x</p:attrName>
                                        </p:attrNameLst>
                                      </p:cBhvr>
                                      <p:tavLst>
                                        <p:tav tm="0">
                                          <p:val>
                                            <p:strVal val="#ppt_x"/>
                                          </p:val>
                                        </p:tav>
                                        <p:tav tm="100000">
                                          <p:val>
                                            <p:strVal val="#ppt_x"/>
                                          </p:val>
                                        </p:tav>
                                      </p:tavLst>
                                    </p:anim>
                                    <p:anim calcmode="lin" valueType="num">
                                      <p:cBhvr>
                                        <p:cTn id="15" dur="1000" fill="hold"/>
                                        <p:tgtEl>
                                          <p:spTgt spid="1198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type="body" idx="4294967295"/>
          </p:nvPr>
        </p:nvSpPr>
        <p:spPr>
          <a:xfrm>
            <a:off x="711200" y="980831"/>
            <a:ext cx="10922000" cy="1738923"/>
          </a:xfrm>
        </p:spPr>
        <p:txBody>
          <a:bodyPr lIns="116446" tIns="58222" rIns="116446" bIns="58222"/>
          <a:lstStyle/>
          <a:p>
            <a:r>
              <a:rPr lang="zh-CN" altLang="en-US">
                <a:solidFill>
                  <a:srgbClr val="0000FF"/>
                </a:solidFill>
              </a:rPr>
              <a:t>趋利性：</a:t>
            </a:r>
            <a:r>
              <a:rPr lang="zh-CN" altLang="en-US" sz="2955" b="1"/>
              <a:t>为了炫耀能力的黑客少了，为了非法取得政治、经济利益的人越来越多</a:t>
            </a:r>
            <a:endParaRPr lang="en-US" altLang="zh-CN" sz="2955" b="1"/>
          </a:p>
        </p:txBody>
      </p:sp>
      <p:pic>
        <p:nvPicPr>
          <p:cNvPr id="120836" name="Picture 4" descr="qul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1031" y="2276231"/>
            <a:ext cx="10013461"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bwMode="gray">
          <a:xfrm>
            <a:off x="955431" y="150446"/>
            <a:ext cx="8684846" cy="619370"/>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940" kern="0">
                <a:solidFill>
                  <a:srgbClr val="FF0000"/>
                </a:solidFill>
              </a:rPr>
              <a:t>网络空间安全趋势</a:t>
            </a:r>
            <a:endParaRPr lang="zh-CN" altLang="en-US" sz="3940" kern="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20836"/>
                                        </p:tgtEl>
                                        <p:attrNameLst>
                                          <p:attrName>style.visibility</p:attrName>
                                        </p:attrNameLst>
                                      </p:cBhvr>
                                      <p:to>
                                        <p:strVal val="visible"/>
                                      </p:to>
                                    </p:set>
                                    <p:anim calcmode="lin" valueType="num">
                                      <p:cBhvr>
                                        <p:cTn id="7" dur="500" fill="hold"/>
                                        <p:tgtEl>
                                          <p:spTgt spid="120836"/>
                                        </p:tgtEl>
                                        <p:attrNameLst>
                                          <p:attrName>ppt_w</p:attrName>
                                        </p:attrNameLst>
                                      </p:cBhvr>
                                      <p:tavLst>
                                        <p:tav tm="0">
                                          <p:val>
                                            <p:fltVal val="0"/>
                                          </p:val>
                                        </p:tav>
                                        <p:tav tm="100000">
                                          <p:val>
                                            <p:strVal val="#ppt_w"/>
                                          </p:val>
                                        </p:tav>
                                      </p:tavLst>
                                    </p:anim>
                                    <p:anim calcmode="lin" valueType="num">
                                      <p:cBhvr>
                                        <p:cTn id="8" dur="500" fill="hold"/>
                                        <p:tgtEl>
                                          <p:spTgt spid="120836"/>
                                        </p:tgtEl>
                                        <p:attrNameLst>
                                          <p:attrName>ppt_h</p:attrName>
                                        </p:attrNameLst>
                                      </p:cBhvr>
                                      <p:tavLst>
                                        <p:tav tm="0">
                                          <p:val>
                                            <p:fltVal val="0"/>
                                          </p:val>
                                        </p:tav>
                                        <p:tav tm="100000">
                                          <p:val>
                                            <p:strVal val="#ppt_h"/>
                                          </p:val>
                                        </p:tav>
                                      </p:tavLst>
                                    </p:anim>
                                    <p:animEffect transition="in" filter="fade">
                                      <p:cBhvr>
                                        <p:cTn id="9" dur="5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511908" y="150446"/>
            <a:ext cx="8684847" cy="599831"/>
          </a:xfrm>
          <a:prstGeom prst="rect">
            <a:avLst/>
          </a:prstGeom>
          <a:noFill/>
          <a:ln>
            <a:noFill/>
          </a:ln>
        </p:spPr>
        <p:txBody>
          <a:bodyPr lIns="116446" tIns="58222" rIns="116446" bIns="58222"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940" kern="0">
                <a:solidFill>
                  <a:srgbClr val="0000FF"/>
                </a:solidFill>
              </a:rPr>
              <a:t>新应用导致新的安全问题</a:t>
            </a:r>
            <a:endParaRPr lang="en-US" altLang="zh-CN" sz="3940" kern="0" dirty="0">
              <a:solidFill>
                <a:srgbClr val="0000FF"/>
              </a:solidFill>
            </a:endParaRPr>
          </a:p>
        </p:txBody>
      </p:sp>
      <p:sp>
        <p:nvSpPr>
          <p:cNvPr id="3" name="矩形 2"/>
          <p:cNvSpPr/>
          <p:nvPr/>
        </p:nvSpPr>
        <p:spPr>
          <a:xfrm>
            <a:off x="689708" y="1213338"/>
            <a:ext cx="11256107" cy="3091815"/>
          </a:xfrm>
          <a:prstGeom prst="rect">
            <a:avLst/>
          </a:prstGeom>
        </p:spPr>
        <p:txBody>
          <a:bodyPr>
            <a:spAutoFit/>
          </a:bodyPr>
          <a:lstStyle/>
          <a:p>
            <a:pPr marL="285750" indent="-285750">
              <a:lnSpc>
                <a:spcPts val="2600"/>
              </a:lnSpc>
              <a:buClr>
                <a:srgbClr val="0000FF"/>
              </a:buClr>
              <a:buFont typeface="Wingdings" panose="05000000000000000000" pitchFamily="2" charset="2"/>
              <a:buChar char="u"/>
              <a:defRPr/>
            </a:pPr>
            <a:r>
              <a:rPr lang="zh-CN" altLang="en-US" sz="2460" b="1" dirty="0">
                <a:latin typeface="+mn-ea"/>
                <a:ea typeface="+mn-ea"/>
              </a:rPr>
              <a:t>人工智能各领域应用</a:t>
            </a:r>
            <a:r>
              <a:rPr lang="zh-CN" altLang="en-US" sz="2955" b="1" dirty="0">
                <a:solidFill>
                  <a:srgbClr val="FF0000"/>
                </a:solidFill>
                <a:latin typeface="+mn-ea"/>
                <a:ea typeface="+mn-ea"/>
              </a:rPr>
              <a:t>（</a:t>
            </a:r>
            <a:r>
              <a:rPr lang="en-US" altLang="zh-CN" sz="2955" b="1" dirty="0">
                <a:solidFill>
                  <a:srgbClr val="FF0000"/>
                </a:solidFill>
                <a:latin typeface="+mn-ea"/>
                <a:ea typeface="+mn-ea"/>
              </a:rPr>
              <a:t>A</a:t>
            </a:r>
            <a:r>
              <a:rPr lang="zh-CN" altLang="en-US" sz="2955" b="1" dirty="0">
                <a:solidFill>
                  <a:srgbClr val="FF0000"/>
                </a:solidFill>
                <a:latin typeface="+mn-ea"/>
                <a:ea typeface="+mn-ea"/>
              </a:rPr>
              <a:t>）</a:t>
            </a:r>
            <a:r>
              <a:rPr lang="zh-CN" altLang="en-US" sz="2460" b="1" dirty="0">
                <a:latin typeface="+mn-ea"/>
                <a:ea typeface="+mn-ea"/>
              </a:rPr>
              <a:t> </a:t>
            </a:r>
            <a:r>
              <a:rPr lang="en-US" altLang="zh-CN" sz="2460" b="1" dirty="0">
                <a:latin typeface="+mn-ea"/>
                <a:ea typeface="+mn-ea"/>
              </a:rPr>
              <a:t>——</a:t>
            </a:r>
            <a:r>
              <a:rPr lang="zh-CN" altLang="en-US" sz="2460" b="1" dirty="0">
                <a:latin typeface="+mn-ea"/>
                <a:ea typeface="+mn-ea"/>
              </a:rPr>
              <a:t>工业控制、智能生活等将存在灾难性风险；</a:t>
            </a:r>
            <a:endParaRPr lang="en-US" altLang="zh-CN" sz="2460" b="1" dirty="0">
              <a:latin typeface="+mn-ea"/>
              <a:ea typeface="+mn-ea"/>
            </a:endParaRPr>
          </a:p>
          <a:p>
            <a:pPr marL="285750" indent="-285750">
              <a:lnSpc>
                <a:spcPts val="2600"/>
              </a:lnSpc>
              <a:buClr>
                <a:srgbClr val="0000FF"/>
              </a:buClr>
              <a:buFont typeface="Wingdings" panose="05000000000000000000" pitchFamily="2" charset="2"/>
              <a:buChar char="u"/>
              <a:defRPr/>
            </a:pPr>
            <a:r>
              <a:rPr lang="zh-CN" altLang="en-US" sz="2460" b="1" dirty="0">
                <a:latin typeface="+mn-ea"/>
                <a:ea typeface="+mn-ea"/>
              </a:rPr>
              <a:t>大数据</a:t>
            </a:r>
            <a:r>
              <a:rPr lang="en-US" altLang="zh-CN" sz="2955" b="1" dirty="0">
                <a:solidFill>
                  <a:srgbClr val="FF0000"/>
                </a:solidFill>
                <a:latin typeface="+mn-ea"/>
                <a:ea typeface="+mn-ea"/>
              </a:rPr>
              <a:t>(B)</a:t>
            </a:r>
            <a:r>
              <a:rPr lang="zh-CN" altLang="en-US" sz="2460" b="1" dirty="0">
                <a:latin typeface="+mn-ea"/>
                <a:ea typeface="+mn-ea"/>
              </a:rPr>
              <a:t> </a:t>
            </a:r>
            <a:r>
              <a:rPr lang="en-US" altLang="zh-CN" sz="2460" b="1" dirty="0">
                <a:latin typeface="+mn-ea"/>
                <a:ea typeface="+mn-ea"/>
              </a:rPr>
              <a:t>——</a:t>
            </a:r>
            <a:r>
              <a:rPr lang="zh-CN" altLang="en-US" sz="2460" b="1" dirty="0">
                <a:latin typeface="+mn-ea"/>
                <a:ea typeface="+mn-ea"/>
              </a:rPr>
              <a:t>风险也更集中了；</a:t>
            </a:r>
            <a:endParaRPr lang="en-US" altLang="zh-CN" sz="2460" b="1" dirty="0">
              <a:latin typeface="+mn-ea"/>
              <a:ea typeface="+mn-ea"/>
            </a:endParaRPr>
          </a:p>
          <a:p>
            <a:pPr marL="285750" indent="-285750">
              <a:lnSpc>
                <a:spcPts val="2600"/>
              </a:lnSpc>
              <a:buClr>
                <a:srgbClr val="0000FF"/>
              </a:buClr>
              <a:buFont typeface="Wingdings" panose="05000000000000000000" pitchFamily="2" charset="2"/>
              <a:buChar char="u"/>
              <a:defRPr/>
            </a:pPr>
            <a:r>
              <a:rPr lang="zh-CN" altLang="en-US" sz="2460" b="1" dirty="0">
                <a:latin typeface="+mn-ea"/>
                <a:ea typeface="+mn-ea"/>
              </a:rPr>
              <a:t>云计算</a:t>
            </a:r>
            <a:r>
              <a:rPr lang="en-US" altLang="zh-CN" sz="2955" b="1" dirty="0">
                <a:solidFill>
                  <a:srgbClr val="FF0000"/>
                </a:solidFill>
                <a:latin typeface="+mn-ea"/>
                <a:ea typeface="+mn-ea"/>
              </a:rPr>
              <a:t>(C)</a:t>
            </a:r>
            <a:r>
              <a:rPr lang="en-US" altLang="zh-CN" sz="2460" b="1" dirty="0">
                <a:latin typeface="+mn-ea"/>
                <a:ea typeface="+mn-ea"/>
              </a:rPr>
              <a:t>——</a:t>
            </a:r>
            <a:r>
              <a:rPr lang="zh-CN" altLang="en-US" sz="2460" b="1" dirty="0">
                <a:latin typeface="+mn-ea"/>
                <a:ea typeface="+mn-ea"/>
              </a:rPr>
              <a:t>安全已经不再是自己可以控制的；</a:t>
            </a:r>
            <a:endParaRPr lang="en-US" altLang="zh-CN" sz="2460" b="1" dirty="0">
              <a:latin typeface="+mn-ea"/>
              <a:ea typeface="+mn-ea"/>
            </a:endParaRPr>
          </a:p>
          <a:p>
            <a:pPr marL="285750" indent="-285750">
              <a:lnSpc>
                <a:spcPts val="2600"/>
              </a:lnSpc>
              <a:buClr>
                <a:srgbClr val="0000FF"/>
              </a:buClr>
              <a:buFont typeface="Wingdings" panose="05000000000000000000" pitchFamily="2" charset="2"/>
              <a:buChar char="u"/>
              <a:defRPr/>
            </a:pPr>
            <a:r>
              <a:rPr lang="zh-CN" altLang="en-US" sz="2460" b="1" dirty="0">
                <a:latin typeface="+mn-ea"/>
                <a:ea typeface="+mn-ea"/>
              </a:rPr>
              <a:t>系统复杂度更大 </a:t>
            </a:r>
            <a:r>
              <a:rPr lang="en-US" altLang="zh-CN" sz="2460" b="1" dirty="0">
                <a:latin typeface="+mn-ea"/>
                <a:ea typeface="+mn-ea"/>
              </a:rPr>
              <a:t>——</a:t>
            </a:r>
            <a:r>
              <a:rPr lang="zh-CN" altLang="en-US" sz="2460" b="1" dirty="0">
                <a:latin typeface="+mn-ea"/>
                <a:ea typeface="+mn-ea"/>
              </a:rPr>
              <a:t>安全问题解决难度加大；</a:t>
            </a:r>
            <a:endParaRPr lang="zh-CN" altLang="en-US" sz="2460" b="1" dirty="0">
              <a:latin typeface="+mn-ea"/>
              <a:ea typeface="+mn-ea"/>
            </a:endParaRPr>
          </a:p>
          <a:p>
            <a:pPr marL="285750" indent="-285750">
              <a:lnSpc>
                <a:spcPts val="2600"/>
              </a:lnSpc>
              <a:buClr>
                <a:srgbClr val="0000FF"/>
              </a:buClr>
              <a:buFont typeface="Wingdings" panose="05000000000000000000" pitchFamily="2" charset="2"/>
              <a:buChar char="u"/>
              <a:defRPr/>
            </a:pPr>
            <a:r>
              <a:rPr lang="en-US" altLang="zh-CN" sz="2460" b="1" dirty="0">
                <a:latin typeface="+mn-ea"/>
                <a:ea typeface="+mn-ea"/>
              </a:rPr>
              <a:t>3G/4G/5G</a:t>
            </a:r>
            <a:r>
              <a:rPr lang="zh-CN" altLang="en-US" sz="2460" b="1" dirty="0">
                <a:latin typeface="+mn-ea"/>
                <a:ea typeface="+mn-ea"/>
              </a:rPr>
              <a:t>、物联网、三网合一</a:t>
            </a:r>
            <a:r>
              <a:rPr lang="en-US" altLang="zh-CN" sz="2460" b="1" dirty="0">
                <a:latin typeface="+mn-ea"/>
                <a:ea typeface="+mn-ea"/>
              </a:rPr>
              <a:t>——IP</a:t>
            </a:r>
            <a:r>
              <a:rPr lang="zh-CN" altLang="en-US" sz="2460" b="1" dirty="0">
                <a:latin typeface="+mn-ea"/>
                <a:ea typeface="+mn-ea"/>
              </a:rPr>
              <a:t>网络中安全问题引入到了电话、手机、广播电视中；</a:t>
            </a:r>
            <a:endParaRPr lang="zh-CN" altLang="en-US" sz="2460" b="1" dirty="0">
              <a:latin typeface="+mn-ea"/>
              <a:ea typeface="+mn-ea"/>
            </a:endParaRPr>
          </a:p>
          <a:p>
            <a:pPr marL="285750" indent="-285750">
              <a:lnSpc>
                <a:spcPts val="2600"/>
              </a:lnSpc>
              <a:buClr>
                <a:srgbClr val="0000FF"/>
              </a:buClr>
              <a:buFont typeface="Wingdings" panose="05000000000000000000" pitchFamily="2" charset="2"/>
              <a:buChar char="u"/>
              <a:defRPr/>
            </a:pPr>
            <a:r>
              <a:rPr lang="en-US" altLang="zh-CN" sz="2460" b="1" dirty="0">
                <a:latin typeface="+mn-ea"/>
                <a:ea typeface="+mn-ea"/>
              </a:rPr>
              <a:t>Web2.0 </a:t>
            </a:r>
            <a:r>
              <a:rPr lang="zh-CN" altLang="en-US" sz="2460" b="1" dirty="0">
                <a:latin typeface="+mn-ea"/>
                <a:ea typeface="+mn-ea"/>
              </a:rPr>
              <a:t>、微博、人肉搜索</a:t>
            </a:r>
            <a:r>
              <a:rPr lang="en-US" altLang="zh-CN" sz="2460" b="1" dirty="0">
                <a:latin typeface="+mn-ea"/>
                <a:ea typeface="+mn-ea"/>
              </a:rPr>
              <a:t>——</a:t>
            </a:r>
            <a:r>
              <a:rPr lang="zh-CN" altLang="en-US" sz="2460" b="1" dirty="0">
                <a:latin typeface="+mn-ea"/>
                <a:ea typeface="+mn-ea"/>
              </a:rPr>
              <a:t>网络安全与日常生活越来越贴近；</a:t>
            </a:r>
            <a:endParaRPr lang="en-US" altLang="zh-CN" sz="2460" b="1" dirty="0">
              <a:latin typeface="+mn-ea"/>
              <a:ea typeface="+mn-ea"/>
            </a:endParaRPr>
          </a:p>
          <a:p>
            <a:pPr marL="285750" indent="-285750">
              <a:lnSpc>
                <a:spcPts val="2600"/>
              </a:lnSpc>
              <a:buClr>
                <a:srgbClr val="0000FF"/>
              </a:buClr>
              <a:buFont typeface="Wingdings" panose="05000000000000000000" pitchFamily="2" charset="2"/>
              <a:buChar char="u"/>
              <a:defRPr/>
            </a:pPr>
            <a:r>
              <a:rPr lang="zh-CN" altLang="en-US" sz="2460" b="1" dirty="0">
                <a:latin typeface="+mn-ea"/>
                <a:ea typeface="+mn-ea"/>
              </a:rPr>
              <a:t>个人信息泄露 </a:t>
            </a:r>
            <a:r>
              <a:rPr lang="en-US" altLang="zh-CN" sz="2460" b="1" dirty="0">
                <a:latin typeface="+mn-ea"/>
                <a:ea typeface="+mn-ea"/>
              </a:rPr>
              <a:t>——</a:t>
            </a:r>
            <a:r>
              <a:rPr lang="zh-CN" altLang="en-US" sz="2460" b="1" dirty="0">
                <a:latin typeface="+mn-ea"/>
                <a:ea typeface="+mn-ea"/>
              </a:rPr>
              <a:t>严重影响个人财产安全；</a:t>
            </a:r>
            <a:endParaRPr lang="en-US" altLang="zh-CN" sz="2460" b="1" dirty="0">
              <a:latin typeface="+mn-ea"/>
              <a:ea typeface="+mn-ea"/>
            </a:endParaRPr>
          </a:p>
          <a:p>
            <a:pPr marL="285750" indent="-285750">
              <a:lnSpc>
                <a:spcPts val="2600"/>
              </a:lnSpc>
              <a:buClr>
                <a:srgbClr val="0000FF"/>
              </a:buClr>
              <a:buFont typeface="Wingdings" panose="05000000000000000000" pitchFamily="2" charset="2"/>
              <a:buChar char="u"/>
              <a:defRPr/>
            </a:pPr>
            <a:r>
              <a:rPr lang="en-US" altLang="zh-CN" sz="2460" b="1" dirty="0">
                <a:latin typeface="+mn-ea"/>
                <a:ea typeface="+mn-ea"/>
              </a:rPr>
              <a:t>……</a:t>
            </a:r>
            <a:endParaRPr lang="en-US" altLang="zh-CN" sz="2460" b="1" dirty="0">
              <a:latin typeface="+mn-ea"/>
              <a:ea typeface="+mn-ea"/>
            </a:endParaRPr>
          </a:p>
        </p:txBody>
      </p:sp>
      <p:sp>
        <p:nvSpPr>
          <p:cNvPr id="4" name="矩形 1"/>
          <p:cNvSpPr>
            <a:spLocks noChangeArrowheads="1"/>
          </p:cNvSpPr>
          <p:nvPr/>
        </p:nvSpPr>
        <p:spPr bwMode="auto">
          <a:xfrm>
            <a:off x="1045308" y="5232401"/>
            <a:ext cx="940181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en-US" altLang="zh-CN" sz="3445"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460" b="1">
                <a:latin typeface="Times New Roman" panose="02020603050405020304" pitchFamily="18" charset="0"/>
                <a:ea typeface="宋体" panose="02010600030101010101" pitchFamily="2" charset="-122"/>
                <a:cs typeface="Times New Roman" panose="02020603050405020304" pitchFamily="18" charset="0"/>
              </a:rPr>
              <a:t>(Artificial Intelligence)</a:t>
            </a:r>
            <a:r>
              <a:rPr lang="en-US" altLang="zh-CN" sz="3445"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2460" b="1">
                <a:latin typeface="Times New Roman" panose="02020603050405020304" pitchFamily="18" charset="0"/>
                <a:ea typeface="宋体" panose="02010600030101010101" pitchFamily="2" charset="-122"/>
                <a:cs typeface="Times New Roman" panose="02020603050405020304" pitchFamily="18" charset="0"/>
              </a:rPr>
              <a:t>(Big Data)</a:t>
            </a:r>
            <a:r>
              <a:rPr lang="en-US" altLang="zh-CN" sz="3445"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2460" b="1">
                <a:latin typeface="Times New Roman" panose="02020603050405020304" pitchFamily="18" charset="0"/>
                <a:ea typeface="宋体" panose="02010600030101010101" pitchFamily="2" charset="-122"/>
                <a:cs typeface="Times New Roman" panose="02020603050405020304" pitchFamily="18" charset="0"/>
              </a:rPr>
              <a:t>(Cloud Computing)</a:t>
            </a:r>
            <a:r>
              <a:rPr lang="zh-CN" altLang="en-US" sz="2460" b="1">
                <a:latin typeface="Times New Roman" panose="02020603050405020304" pitchFamily="18" charset="0"/>
                <a:ea typeface="宋体" panose="02010600030101010101" pitchFamily="2" charset="-122"/>
                <a:cs typeface="Times New Roman" panose="02020603050405020304" pitchFamily="18" charset="0"/>
              </a:rPr>
              <a:t>很时髦，</a:t>
            </a:r>
            <a:endParaRPr lang="zh-CN" altLang="en-US" sz="246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2"/>
          <p:cNvSpPr>
            <a:spLocks noChangeArrowheads="1"/>
          </p:cNvSpPr>
          <p:nvPr/>
        </p:nvSpPr>
        <p:spPr bwMode="auto">
          <a:xfrm>
            <a:off x="6863862" y="6053016"/>
            <a:ext cx="458343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FF0000"/>
                </a:solidFill>
                <a:cs typeface="Times New Roman" panose="02020603050405020304" pitchFamily="18" charset="0"/>
              </a:rPr>
              <a:t>但也有巨大安全风险！</a:t>
            </a:r>
            <a:endParaRPr lang="zh-CN" altLang="en-US" sz="3445" b="1">
              <a:solidFill>
                <a:srgbClr val="FF0000"/>
              </a:solidFill>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2000" fill="hold"/>
                                        <p:tgtEl>
                                          <p:spTgt spid="4"/>
                                        </p:tgtEl>
                                        <p:attrNameLst>
                                          <p:attrName>ppt_x</p:attrName>
                                        </p:attrNameLst>
                                      </p:cBhvr>
                                      <p:tavLst>
                                        <p:tav tm="0">
                                          <p:val>
                                            <p:strVal val="#ppt_x"/>
                                          </p:val>
                                        </p:tav>
                                        <p:tav tm="100000">
                                          <p:val>
                                            <p:strVal val="#ppt_x"/>
                                          </p:val>
                                        </p:tav>
                                      </p:tavLst>
                                    </p:anim>
                                    <p:anim calcmode="lin" valueType="num">
                                      <p:cBhvr additive="base">
                                        <p:cTn id="14" dur="2000" fill="hold"/>
                                        <p:tgtEl>
                                          <p:spTgt spid="4"/>
                                        </p:tgtEl>
                                        <p:attrNameLst>
                                          <p:attrName>ppt_y</p:attrName>
                                        </p:attrNameLst>
                                      </p:cBhvr>
                                      <p:tavLst>
                                        <p:tav tm="0">
                                          <p:val>
                                            <p:strVal val="1+#ppt_h/2"/>
                                          </p:val>
                                        </p:tav>
                                        <p:tav tm="100000">
                                          <p:val>
                                            <p:strVal val="#ppt_y"/>
                                          </p:val>
                                        </p:tav>
                                      </p:tavLst>
                                    </p:anim>
                                  </p:childTnLst>
                                </p:cTn>
                              </p:par>
                            </p:childTnLst>
                          </p:cTn>
                        </p:par>
                        <p:par>
                          <p:cTn id="15" fill="hold">
                            <p:stCondLst>
                              <p:cond delay="20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Text Box 2"/>
          <p:cNvSpPr txBox="1">
            <a:spLocks noChangeArrowheads="1"/>
          </p:cNvSpPr>
          <p:nvPr/>
        </p:nvSpPr>
        <p:spPr bwMode="auto">
          <a:xfrm>
            <a:off x="543169" y="-115277"/>
            <a:ext cx="11121292" cy="84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50000"/>
              </a:spcBef>
              <a:buClrTx/>
              <a:buFontTx/>
              <a:buNone/>
            </a:pPr>
            <a:r>
              <a:rPr lang="zh-CN" altLang="en-US" sz="4925">
                <a:solidFill>
                  <a:srgbClr val="6600CC"/>
                </a:solidFill>
                <a:latin typeface="华文琥珀" panose="02010800040101010101" pitchFamily="2" charset="-122"/>
                <a:ea typeface="华文琥珀" panose="02010800040101010101" pitchFamily="2" charset="-122"/>
              </a:rPr>
              <a:t>历史上的信息安全事情很多</a:t>
            </a:r>
            <a:r>
              <a:rPr lang="en-US" altLang="zh-CN" sz="4925">
                <a:solidFill>
                  <a:srgbClr val="6600CC"/>
                </a:solidFill>
                <a:latin typeface="Arial" panose="020B0604020202020204" pitchFamily="34" charset="0"/>
                <a:ea typeface="华文琥珀" panose="02010800040101010101" pitchFamily="2" charset="-122"/>
              </a:rPr>
              <a:t>……</a:t>
            </a:r>
            <a:endParaRPr lang="en-US" altLang="zh-CN" sz="4925">
              <a:solidFill>
                <a:srgbClr val="6600CC"/>
              </a:solidFill>
              <a:latin typeface="华文琥珀" panose="02010800040101010101" pitchFamily="2" charset="-122"/>
              <a:ea typeface="华文琥珀" panose="02010800040101010101" pitchFamily="2" charset="-122"/>
            </a:endParaRPr>
          </a:p>
        </p:txBody>
      </p:sp>
      <p:pic>
        <p:nvPicPr>
          <p:cNvPr id="2"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1729016">
            <a:off x="1445846" y="1225062"/>
            <a:ext cx="3913554" cy="5027247"/>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pic>
        <p:nvPicPr>
          <p:cNvPr id="1095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371142">
            <a:off x="5832231" y="1240692"/>
            <a:ext cx="4134338" cy="5289062"/>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pic>
        <p:nvPicPr>
          <p:cNvPr id="1095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6050790">
            <a:off x="1961662" y="2647462"/>
            <a:ext cx="3798277" cy="4923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8462" y="613508"/>
            <a:ext cx="5089770" cy="367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897797">
            <a:off x="4255477" y="2102339"/>
            <a:ext cx="4726354" cy="4276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382900">
            <a:off x="6101862" y="3219939"/>
            <a:ext cx="4427415" cy="3573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956" name="Text Box 4"/>
          <p:cNvSpPr txBox="1">
            <a:spLocks noChangeArrowheads="1"/>
          </p:cNvSpPr>
          <p:nvPr/>
        </p:nvSpPr>
        <p:spPr bwMode="auto">
          <a:xfrm>
            <a:off x="1100016" y="2659185"/>
            <a:ext cx="9548446" cy="2251075"/>
          </a:xfrm>
          <a:prstGeom prst="rect">
            <a:avLst/>
          </a:prstGeom>
          <a:noFill/>
          <a:ln w="9525">
            <a:noFill/>
            <a:miter lim="800000"/>
          </a:ln>
          <a:effectLst>
            <a:outerShdw dist="35921" dir="2700000" algn="ctr" rotWithShape="0">
              <a:schemeClr val="bg2"/>
            </a:outerShdw>
          </a:effectLst>
        </p:spPr>
        <p:txBody>
          <a:bodyPr>
            <a:spAutoFit/>
          </a:bodyPr>
          <a:lstStyle/>
          <a:p>
            <a:pPr algn="ctr" eaLnBrk="1" hangingPunct="1">
              <a:lnSpc>
                <a:spcPct val="70000"/>
              </a:lnSpc>
              <a:spcBef>
                <a:spcPct val="50000"/>
              </a:spcBef>
              <a:defRPr/>
            </a:pPr>
            <a:r>
              <a:rPr lang="zh-CN" altLang="en-US" sz="7385" dirty="0">
                <a:solidFill>
                  <a:srgbClr val="FF0707"/>
                </a:solidFill>
                <a:effectLst>
                  <a:outerShdw blurRad="38100" dist="38100" dir="2700000" algn="tl">
                    <a:srgbClr val="C0C0C0"/>
                  </a:outerShdw>
                </a:effectLst>
                <a:latin typeface="Comic Sans MS" panose="030F0702030302020204" pitchFamily="66" charset="0"/>
                <a:ea typeface="华文新魏" panose="02010800040101010101" pitchFamily="2" charset="-122"/>
              </a:rPr>
              <a:t>网络 安 全</a:t>
            </a:r>
            <a:endParaRPr lang="zh-CN" altLang="en-US" sz="7385" dirty="0">
              <a:solidFill>
                <a:srgbClr val="FF0707"/>
              </a:solidFill>
              <a:effectLst>
                <a:outerShdw blurRad="38100" dist="38100" dir="2700000" algn="tl">
                  <a:srgbClr val="C0C0C0"/>
                </a:outerShdw>
              </a:effectLst>
              <a:latin typeface="Comic Sans MS" panose="030F0702030302020204" pitchFamily="66" charset="0"/>
              <a:ea typeface="华文新魏" panose="02010800040101010101" pitchFamily="2" charset="-122"/>
            </a:endParaRPr>
          </a:p>
          <a:p>
            <a:pPr algn="ctr" eaLnBrk="1" hangingPunct="1">
              <a:lnSpc>
                <a:spcPct val="70000"/>
              </a:lnSpc>
              <a:spcBef>
                <a:spcPct val="50000"/>
              </a:spcBef>
              <a:defRPr/>
            </a:pPr>
            <a:r>
              <a:rPr lang="zh-CN" altLang="en-US" sz="7385" dirty="0">
                <a:solidFill>
                  <a:srgbClr val="FF0707"/>
                </a:solidFill>
                <a:effectLst>
                  <a:outerShdw blurRad="38100" dist="38100" dir="2700000" algn="tl">
                    <a:srgbClr val="C0C0C0"/>
                  </a:outerShdw>
                </a:effectLst>
                <a:latin typeface="Comic Sans MS" panose="030F0702030302020204" pitchFamily="66" charset="0"/>
                <a:ea typeface="华文新魏" panose="02010800040101010101" pitchFamily="2" charset="-122"/>
              </a:rPr>
              <a:t>迫 在 眉 睫！！！</a:t>
            </a:r>
            <a:endParaRPr lang="zh-CN" altLang="en-US" sz="7385" dirty="0">
              <a:solidFill>
                <a:srgbClr val="FF0707"/>
              </a:solidFill>
              <a:effectLst>
                <a:outerShdw blurRad="38100" dist="38100" dir="2700000" algn="tl">
                  <a:srgbClr val="C0C0C0"/>
                </a:outerShdw>
              </a:effectLst>
              <a:latin typeface="Comic Sans MS" panose="030F0702030302020204" pitchFamily="66" charset="0"/>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style.rotation</p:attrName>
                                        </p:attrNameLst>
                                      </p:cBhvr>
                                      <p:tavLst>
                                        <p:tav tm="0">
                                          <p:val>
                                            <p:fltVal val="720"/>
                                          </p:val>
                                        </p:tav>
                                        <p:tav tm="100000">
                                          <p:val>
                                            <p:fltVal val="0"/>
                                          </p:val>
                                        </p:tav>
                                      </p:tavLst>
                                    </p:anim>
                                    <p:anim calcmode="lin" valueType="num">
                                      <p:cBhvr>
                                        <p:cTn id="9" dur="1000" fill="hold"/>
                                        <p:tgtEl>
                                          <p:spTgt spid="2"/>
                                        </p:tgtEl>
                                        <p:attrNameLst>
                                          <p:attrName>ppt_h</p:attrName>
                                        </p:attrNameLst>
                                      </p:cBhvr>
                                      <p:tavLst>
                                        <p:tav tm="0">
                                          <p:val>
                                            <p:fltVal val="0"/>
                                          </p:val>
                                        </p:tav>
                                        <p:tav tm="100000">
                                          <p:val>
                                            <p:strVal val="#ppt_h"/>
                                          </p:val>
                                        </p:tav>
                                      </p:tavLst>
                                    </p:anim>
                                    <p:anim calcmode="lin" valueType="num">
                                      <p:cBhvr>
                                        <p:cTn id="10" dur="1000" fill="hold"/>
                                        <p:tgtEl>
                                          <p:spTgt spid="2"/>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5"/>
                                            </p:cond>
                                          </p:stCondLst>
                                          <p:endCondLst>
                                            <p:cond evt="onStopAudio" delay="0">
                                              <p:tgtEl>
                                                <p:sldTgt/>
                                              </p:tgtEl>
                                            </p:cond>
                                          </p:endCondLst>
                                        </p:cTn>
                                        <p:tgtEl>
                                          <p:sndTgt r:embed="rId7" name="explode.wav"/>
                                        </p:tgtEl>
                                      </p:cMediaNode>
                                    </p:audio>
                                  </p:subTnLst>
                                </p:cTn>
                              </p:par>
                            </p:childTnLst>
                          </p:cTn>
                        </p:par>
                        <p:par>
                          <p:cTn id="11" fill="hold">
                            <p:stCondLst>
                              <p:cond delay="1000"/>
                            </p:stCondLst>
                            <p:childTnLst>
                              <p:par>
                                <p:cTn id="12" presetID="35" presetClass="entr" presetSubtype="0" fill="hold" nodeType="afterEffect">
                                  <p:stCondLst>
                                    <p:cond delay="0"/>
                                  </p:stCondLst>
                                  <p:childTnLst>
                                    <p:set>
                                      <p:cBhvr>
                                        <p:cTn id="13" dur="1" fill="hold">
                                          <p:stCondLst>
                                            <p:cond delay="0"/>
                                          </p:stCondLst>
                                        </p:cTn>
                                        <p:tgtEl>
                                          <p:spTgt spid="109572"/>
                                        </p:tgtEl>
                                        <p:attrNameLst>
                                          <p:attrName>style.visibility</p:attrName>
                                        </p:attrNameLst>
                                      </p:cBhvr>
                                      <p:to>
                                        <p:strVal val="visible"/>
                                      </p:to>
                                    </p:set>
                                    <p:animEffect transition="in" filter="fade">
                                      <p:cBhvr>
                                        <p:cTn id="14" dur="1000"/>
                                        <p:tgtEl>
                                          <p:spTgt spid="109572"/>
                                        </p:tgtEl>
                                      </p:cBhvr>
                                    </p:animEffect>
                                    <p:anim calcmode="lin" valueType="num">
                                      <p:cBhvr>
                                        <p:cTn id="15" dur="1000" fill="hold"/>
                                        <p:tgtEl>
                                          <p:spTgt spid="109572"/>
                                        </p:tgtEl>
                                        <p:attrNameLst>
                                          <p:attrName>style.rotation</p:attrName>
                                        </p:attrNameLst>
                                      </p:cBhvr>
                                      <p:tavLst>
                                        <p:tav tm="0">
                                          <p:val>
                                            <p:fltVal val="720"/>
                                          </p:val>
                                        </p:tav>
                                        <p:tav tm="100000">
                                          <p:val>
                                            <p:fltVal val="0"/>
                                          </p:val>
                                        </p:tav>
                                      </p:tavLst>
                                    </p:anim>
                                    <p:anim calcmode="lin" valueType="num">
                                      <p:cBhvr>
                                        <p:cTn id="16" dur="1000" fill="hold"/>
                                        <p:tgtEl>
                                          <p:spTgt spid="109572"/>
                                        </p:tgtEl>
                                        <p:attrNameLst>
                                          <p:attrName>ppt_h</p:attrName>
                                        </p:attrNameLst>
                                      </p:cBhvr>
                                      <p:tavLst>
                                        <p:tav tm="0">
                                          <p:val>
                                            <p:fltVal val="0"/>
                                          </p:val>
                                        </p:tav>
                                        <p:tav tm="100000">
                                          <p:val>
                                            <p:strVal val="#ppt_h"/>
                                          </p:val>
                                        </p:tav>
                                      </p:tavLst>
                                    </p:anim>
                                    <p:anim calcmode="lin" valueType="num">
                                      <p:cBhvr>
                                        <p:cTn id="17" dur="1000" fill="hold"/>
                                        <p:tgtEl>
                                          <p:spTgt spid="109572"/>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2"/>
                                            </p:cond>
                                          </p:stCondLst>
                                          <p:endCondLst>
                                            <p:cond evt="onStopAudio" delay="0">
                                              <p:tgtEl>
                                                <p:sldTgt/>
                                              </p:tgtEl>
                                            </p:cond>
                                          </p:endCondLst>
                                        </p:cTn>
                                        <p:tgtEl>
                                          <p:sndTgt r:embed="rId7" name="explode.wav"/>
                                        </p:tgtEl>
                                      </p:cMediaNode>
                                    </p:audio>
                                  </p:subTnLst>
                                </p:cTn>
                              </p:par>
                            </p:childTnLst>
                          </p:cTn>
                        </p:par>
                        <p:par>
                          <p:cTn id="18" fill="hold">
                            <p:stCondLst>
                              <p:cond delay="2000"/>
                            </p:stCondLst>
                            <p:childTnLst>
                              <p:par>
                                <p:cTn id="19" presetID="35" presetClass="entr" presetSubtype="0" fill="hold" nodeType="afterEffect">
                                  <p:stCondLst>
                                    <p:cond delay="0"/>
                                  </p:stCondLst>
                                  <p:childTnLst>
                                    <p:set>
                                      <p:cBhvr>
                                        <p:cTn id="20" dur="1" fill="hold">
                                          <p:stCondLst>
                                            <p:cond delay="0"/>
                                          </p:stCondLst>
                                        </p:cTn>
                                        <p:tgtEl>
                                          <p:spTgt spid="109573"/>
                                        </p:tgtEl>
                                        <p:attrNameLst>
                                          <p:attrName>style.visibility</p:attrName>
                                        </p:attrNameLst>
                                      </p:cBhvr>
                                      <p:to>
                                        <p:strVal val="visible"/>
                                      </p:to>
                                    </p:set>
                                    <p:animEffect transition="in" filter="fade">
                                      <p:cBhvr>
                                        <p:cTn id="21" dur="1000"/>
                                        <p:tgtEl>
                                          <p:spTgt spid="109573"/>
                                        </p:tgtEl>
                                      </p:cBhvr>
                                    </p:animEffect>
                                    <p:anim calcmode="lin" valueType="num">
                                      <p:cBhvr>
                                        <p:cTn id="22" dur="1000" fill="hold"/>
                                        <p:tgtEl>
                                          <p:spTgt spid="109573"/>
                                        </p:tgtEl>
                                        <p:attrNameLst>
                                          <p:attrName>style.rotation</p:attrName>
                                        </p:attrNameLst>
                                      </p:cBhvr>
                                      <p:tavLst>
                                        <p:tav tm="0">
                                          <p:val>
                                            <p:fltVal val="720"/>
                                          </p:val>
                                        </p:tav>
                                        <p:tav tm="100000">
                                          <p:val>
                                            <p:fltVal val="0"/>
                                          </p:val>
                                        </p:tav>
                                      </p:tavLst>
                                    </p:anim>
                                    <p:anim calcmode="lin" valueType="num">
                                      <p:cBhvr>
                                        <p:cTn id="23" dur="1000" fill="hold"/>
                                        <p:tgtEl>
                                          <p:spTgt spid="109573"/>
                                        </p:tgtEl>
                                        <p:attrNameLst>
                                          <p:attrName>ppt_h</p:attrName>
                                        </p:attrNameLst>
                                      </p:cBhvr>
                                      <p:tavLst>
                                        <p:tav tm="0">
                                          <p:val>
                                            <p:fltVal val="0"/>
                                          </p:val>
                                        </p:tav>
                                        <p:tav tm="100000">
                                          <p:val>
                                            <p:strVal val="#ppt_h"/>
                                          </p:val>
                                        </p:tav>
                                      </p:tavLst>
                                    </p:anim>
                                    <p:anim calcmode="lin" valueType="num">
                                      <p:cBhvr>
                                        <p:cTn id="24" dur="1000" fill="hold"/>
                                        <p:tgtEl>
                                          <p:spTgt spid="109573"/>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9"/>
                                            </p:cond>
                                          </p:stCondLst>
                                          <p:endCondLst>
                                            <p:cond evt="onStopAudio" delay="0">
                                              <p:tgtEl>
                                                <p:sldTgt/>
                                              </p:tgtEl>
                                            </p:cond>
                                          </p:endCondLst>
                                        </p:cTn>
                                        <p:tgtEl>
                                          <p:sndTgt r:embed="rId7" name="explode.wav"/>
                                        </p:tgtEl>
                                      </p:cMediaNode>
                                    </p:audio>
                                  </p:subTnLst>
                                </p:cTn>
                              </p:par>
                            </p:childTnLst>
                          </p:cTn>
                        </p:par>
                        <p:par>
                          <p:cTn id="25" fill="hold">
                            <p:stCondLst>
                              <p:cond delay="3000"/>
                            </p:stCondLst>
                            <p:childTnLst>
                              <p:par>
                                <p:cTn id="26" presetID="35" presetClass="entr" presetSubtype="0" fill="hold" nodeType="afterEffect">
                                  <p:stCondLst>
                                    <p:cond delay="0"/>
                                  </p:stCondLst>
                                  <p:childTnLst>
                                    <p:set>
                                      <p:cBhvr>
                                        <p:cTn id="27" dur="1" fill="hold">
                                          <p:stCondLst>
                                            <p:cond delay="0"/>
                                          </p:stCondLst>
                                        </p:cTn>
                                        <p:tgtEl>
                                          <p:spTgt spid="109574"/>
                                        </p:tgtEl>
                                        <p:attrNameLst>
                                          <p:attrName>style.visibility</p:attrName>
                                        </p:attrNameLst>
                                      </p:cBhvr>
                                      <p:to>
                                        <p:strVal val="visible"/>
                                      </p:to>
                                    </p:set>
                                    <p:animEffect transition="in" filter="fade">
                                      <p:cBhvr>
                                        <p:cTn id="28" dur="1000"/>
                                        <p:tgtEl>
                                          <p:spTgt spid="109574"/>
                                        </p:tgtEl>
                                      </p:cBhvr>
                                    </p:animEffect>
                                    <p:anim calcmode="lin" valueType="num">
                                      <p:cBhvr>
                                        <p:cTn id="29" dur="1000" fill="hold"/>
                                        <p:tgtEl>
                                          <p:spTgt spid="109574"/>
                                        </p:tgtEl>
                                        <p:attrNameLst>
                                          <p:attrName>style.rotation</p:attrName>
                                        </p:attrNameLst>
                                      </p:cBhvr>
                                      <p:tavLst>
                                        <p:tav tm="0">
                                          <p:val>
                                            <p:fltVal val="720"/>
                                          </p:val>
                                        </p:tav>
                                        <p:tav tm="100000">
                                          <p:val>
                                            <p:fltVal val="0"/>
                                          </p:val>
                                        </p:tav>
                                      </p:tavLst>
                                    </p:anim>
                                    <p:anim calcmode="lin" valueType="num">
                                      <p:cBhvr>
                                        <p:cTn id="30" dur="1000" fill="hold"/>
                                        <p:tgtEl>
                                          <p:spTgt spid="109574"/>
                                        </p:tgtEl>
                                        <p:attrNameLst>
                                          <p:attrName>ppt_h</p:attrName>
                                        </p:attrNameLst>
                                      </p:cBhvr>
                                      <p:tavLst>
                                        <p:tav tm="0">
                                          <p:val>
                                            <p:fltVal val="0"/>
                                          </p:val>
                                        </p:tav>
                                        <p:tav tm="100000">
                                          <p:val>
                                            <p:strVal val="#ppt_h"/>
                                          </p:val>
                                        </p:tav>
                                      </p:tavLst>
                                    </p:anim>
                                    <p:anim calcmode="lin" valueType="num">
                                      <p:cBhvr>
                                        <p:cTn id="31" dur="1000" fill="hold"/>
                                        <p:tgtEl>
                                          <p:spTgt spid="109574"/>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26"/>
                                            </p:cond>
                                          </p:stCondLst>
                                          <p:endCondLst>
                                            <p:cond evt="onStopAudio" delay="0">
                                              <p:tgtEl>
                                                <p:sldTgt/>
                                              </p:tgtEl>
                                            </p:cond>
                                          </p:endCondLst>
                                        </p:cTn>
                                        <p:tgtEl>
                                          <p:sndTgt r:embed="rId7" name="explode.wav"/>
                                        </p:tgtEl>
                                      </p:cMediaNode>
                                    </p:audio>
                                  </p:subTnLst>
                                </p:cTn>
                              </p:par>
                            </p:childTnLst>
                          </p:cTn>
                        </p:par>
                        <p:par>
                          <p:cTn id="32" fill="hold">
                            <p:stCondLst>
                              <p:cond delay="4000"/>
                            </p:stCondLst>
                            <p:childTnLst>
                              <p:par>
                                <p:cTn id="33" presetID="35" presetClass="entr" presetSubtype="0" fill="hold" nodeType="afterEffect">
                                  <p:stCondLst>
                                    <p:cond delay="0"/>
                                  </p:stCondLst>
                                  <p:childTnLst>
                                    <p:set>
                                      <p:cBhvr>
                                        <p:cTn id="34" dur="1" fill="hold">
                                          <p:stCondLst>
                                            <p:cond delay="0"/>
                                          </p:stCondLst>
                                        </p:cTn>
                                        <p:tgtEl>
                                          <p:spTgt spid="109575"/>
                                        </p:tgtEl>
                                        <p:attrNameLst>
                                          <p:attrName>style.visibility</p:attrName>
                                        </p:attrNameLst>
                                      </p:cBhvr>
                                      <p:to>
                                        <p:strVal val="visible"/>
                                      </p:to>
                                    </p:set>
                                    <p:animEffect transition="in" filter="fade">
                                      <p:cBhvr>
                                        <p:cTn id="35" dur="1000"/>
                                        <p:tgtEl>
                                          <p:spTgt spid="109575"/>
                                        </p:tgtEl>
                                      </p:cBhvr>
                                    </p:animEffect>
                                    <p:anim calcmode="lin" valueType="num">
                                      <p:cBhvr>
                                        <p:cTn id="36" dur="1000" fill="hold"/>
                                        <p:tgtEl>
                                          <p:spTgt spid="109575"/>
                                        </p:tgtEl>
                                        <p:attrNameLst>
                                          <p:attrName>style.rotation</p:attrName>
                                        </p:attrNameLst>
                                      </p:cBhvr>
                                      <p:tavLst>
                                        <p:tav tm="0">
                                          <p:val>
                                            <p:fltVal val="720"/>
                                          </p:val>
                                        </p:tav>
                                        <p:tav tm="100000">
                                          <p:val>
                                            <p:fltVal val="0"/>
                                          </p:val>
                                        </p:tav>
                                      </p:tavLst>
                                    </p:anim>
                                    <p:anim calcmode="lin" valueType="num">
                                      <p:cBhvr>
                                        <p:cTn id="37" dur="1000" fill="hold"/>
                                        <p:tgtEl>
                                          <p:spTgt spid="109575"/>
                                        </p:tgtEl>
                                        <p:attrNameLst>
                                          <p:attrName>ppt_h</p:attrName>
                                        </p:attrNameLst>
                                      </p:cBhvr>
                                      <p:tavLst>
                                        <p:tav tm="0">
                                          <p:val>
                                            <p:fltVal val="0"/>
                                          </p:val>
                                        </p:tav>
                                        <p:tav tm="100000">
                                          <p:val>
                                            <p:strVal val="#ppt_h"/>
                                          </p:val>
                                        </p:tav>
                                      </p:tavLst>
                                    </p:anim>
                                    <p:anim calcmode="lin" valueType="num">
                                      <p:cBhvr>
                                        <p:cTn id="38" dur="1000" fill="hold"/>
                                        <p:tgtEl>
                                          <p:spTgt spid="109575"/>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33"/>
                                            </p:cond>
                                          </p:stCondLst>
                                          <p:endCondLst>
                                            <p:cond evt="onStopAudio" delay="0">
                                              <p:tgtEl>
                                                <p:sldTgt/>
                                              </p:tgtEl>
                                            </p:cond>
                                          </p:endCondLst>
                                        </p:cTn>
                                        <p:tgtEl>
                                          <p:sndTgt r:embed="rId7" name="explode.wav"/>
                                        </p:tgtEl>
                                      </p:cMediaNode>
                                    </p:audio>
                                  </p:subTnLst>
                                </p:cTn>
                              </p:par>
                            </p:childTnLst>
                          </p:cTn>
                        </p:par>
                        <p:par>
                          <p:cTn id="39" fill="hold">
                            <p:stCondLst>
                              <p:cond delay="5000"/>
                            </p:stCondLst>
                            <p:childTnLst>
                              <p:par>
                                <p:cTn id="40" presetID="35" presetClass="entr" presetSubtype="0" fill="hold" nodeType="afterEffect">
                                  <p:stCondLst>
                                    <p:cond delay="0"/>
                                  </p:stCondLst>
                                  <p:childTnLst>
                                    <p:set>
                                      <p:cBhvr>
                                        <p:cTn id="41" dur="1" fill="hold">
                                          <p:stCondLst>
                                            <p:cond delay="0"/>
                                          </p:stCondLst>
                                        </p:cTn>
                                        <p:tgtEl>
                                          <p:spTgt spid="109576"/>
                                        </p:tgtEl>
                                        <p:attrNameLst>
                                          <p:attrName>style.visibility</p:attrName>
                                        </p:attrNameLst>
                                      </p:cBhvr>
                                      <p:to>
                                        <p:strVal val="visible"/>
                                      </p:to>
                                    </p:set>
                                    <p:animEffect transition="in" filter="fade">
                                      <p:cBhvr>
                                        <p:cTn id="42" dur="1000"/>
                                        <p:tgtEl>
                                          <p:spTgt spid="109576"/>
                                        </p:tgtEl>
                                      </p:cBhvr>
                                    </p:animEffect>
                                    <p:anim calcmode="lin" valueType="num">
                                      <p:cBhvr>
                                        <p:cTn id="43" dur="1000" fill="hold"/>
                                        <p:tgtEl>
                                          <p:spTgt spid="109576"/>
                                        </p:tgtEl>
                                        <p:attrNameLst>
                                          <p:attrName>style.rotation</p:attrName>
                                        </p:attrNameLst>
                                      </p:cBhvr>
                                      <p:tavLst>
                                        <p:tav tm="0">
                                          <p:val>
                                            <p:fltVal val="720"/>
                                          </p:val>
                                        </p:tav>
                                        <p:tav tm="100000">
                                          <p:val>
                                            <p:fltVal val="0"/>
                                          </p:val>
                                        </p:tav>
                                      </p:tavLst>
                                    </p:anim>
                                    <p:anim calcmode="lin" valueType="num">
                                      <p:cBhvr>
                                        <p:cTn id="44" dur="1000" fill="hold"/>
                                        <p:tgtEl>
                                          <p:spTgt spid="109576"/>
                                        </p:tgtEl>
                                        <p:attrNameLst>
                                          <p:attrName>ppt_h</p:attrName>
                                        </p:attrNameLst>
                                      </p:cBhvr>
                                      <p:tavLst>
                                        <p:tav tm="0">
                                          <p:val>
                                            <p:fltVal val="0"/>
                                          </p:val>
                                        </p:tav>
                                        <p:tav tm="100000">
                                          <p:val>
                                            <p:strVal val="#ppt_h"/>
                                          </p:val>
                                        </p:tav>
                                      </p:tavLst>
                                    </p:anim>
                                    <p:anim calcmode="lin" valueType="num">
                                      <p:cBhvr>
                                        <p:cTn id="45" dur="1000" fill="hold"/>
                                        <p:tgtEl>
                                          <p:spTgt spid="109576"/>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40"/>
                                            </p:cond>
                                          </p:stCondLst>
                                          <p:endCondLst>
                                            <p:cond evt="onStopAudio" delay="0">
                                              <p:tgtEl>
                                                <p:sldTgt/>
                                              </p:tgtEl>
                                            </p:cond>
                                          </p:endCondLst>
                                        </p:cTn>
                                        <p:tgtEl>
                                          <p:sndTgt r:embed="rId7" name="explode.wav"/>
                                        </p:tgtEl>
                                      </p:cMediaNode>
                                    </p:audio>
                                  </p:sub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381956"/>
                                        </p:tgtEl>
                                        <p:attrNameLst>
                                          <p:attrName>style.visibility</p:attrName>
                                        </p:attrNameLst>
                                      </p:cBhvr>
                                      <p:to>
                                        <p:strVal val="visible"/>
                                      </p:to>
                                    </p:set>
                                    <p:anim calcmode="lin" valueType="num">
                                      <p:cBhvr>
                                        <p:cTn id="50" dur="1000" fill="hold"/>
                                        <p:tgtEl>
                                          <p:spTgt spid="381956"/>
                                        </p:tgtEl>
                                        <p:attrNameLst>
                                          <p:attrName>ppt_w</p:attrName>
                                        </p:attrNameLst>
                                      </p:cBhvr>
                                      <p:tavLst>
                                        <p:tav tm="0">
                                          <p:val>
                                            <p:fltVal val="0"/>
                                          </p:val>
                                        </p:tav>
                                        <p:tav tm="100000">
                                          <p:val>
                                            <p:strVal val="#ppt_w"/>
                                          </p:val>
                                        </p:tav>
                                      </p:tavLst>
                                    </p:anim>
                                    <p:anim calcmode="lin" valueType="num">
                                      <p:cBhvr>
                                        <p:cTn id="51" dur="1000" fill="hold"/>
                                        <p:tgtEl>
                                          <p:spTgt spid="381956"/>
                                        </p:tgtEl>
                                        <p:attrNameLst>
                                          <p:attrName>ppt_h</p:attrName>
                                        </p:attrNameLst>
                                      </p:cBhvr>
                                      <p:tavLst>
                                        <p:tav tm="0">
                                          <p:val>
                                            <p:fltVal val="0"/>
                                          </p:val>
                                        </p:tav>
                                        <p:tav tm="100000">
                                          <p:val>
                                            <p:strVal val="#ppt_h"/>
                                          </p:val>
                                        </p:tav>
                                      </p:tavLst>
                                    </p:anim>
                                    <p:animEffect transition="in" filter="fade">
                                      <p:cBhvr>
                                        <p:cTn id="52" dur="1000"/>
                                        <p:tgtEl>
                                          <p:spTgt spid="381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6"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idx="4294967295"/>
          </p:nvPr>
        </p:nvSpPr>
        <p:spPr>
          <a:xfrm>
            <a:off x="1045308" y="150446"/>
            <a:ext cx="8684846" cy="599831"/>
          </a:xfrm>
        </p:spPr>
        <p:txBody>
          <a:bodyPr lIns="116446" tIns="58222" rIns="116446" bIns="58222"/>
          <a:lstStyle/>
          <a:p>
            <a:r>
              <a:rPr lang="zh-CN" altLang="en-US">
                <a:solidFill>
                  <a:schemeClr val="tx1"/>
                </a:solidFill>
              </a:rPr>
              <a:t>网络空间安全受到高度重视 </a:t>
            </a:r>
            <a:endParaRPr lang="en-US" altLang="zh-CN">
              <a:solidFill>
                <a:schemeClr val="tx1"/>
              </a:solidFill>
            </a:endParaRPr>
          </a:p>
        </p:txBody>
      </p:sp>
      <p:sp>
        <p:nvSpPr>
          <p:cNvPr id="2" name="矩形 1"/>
          <p:cNvSpPr/>
          <p:nvPr/>
        </p:nvSpPr>
        <p:spPr>
          <a:xfrm>
            <a:off x="1053124" y="1035539"/>
            <a:ext cx="7498080" cy="583565"/>
          </a:xfrm>
          <a:prstGeom prst="rect">
            <a:avLst/>
          </a:prstGeom>
        </p:spPr>
        <p:txBody>
          <a:bodyPr wrap="none">
            <a:spAutoFit/>
          </a:bodyPr>
          <a:lstStyle/>
          <a:p>
            <a:pPr>
              <a:defRPr/>
            </a:pPr>
            <a:r>
              <a:rPr lang="zh-CN" altLang="en-US" sz="3200" dirty="0">
                <a:solidFill>
                  <a:srgbClr val="FF0000"/>
                </a:solidFill>
                <a:latin typeface="+mn-lt"/>
                <a:ea typeface="+mn-ea"/>
              </a:rPr>
              <a:t>党中央、国务院对信息安全提出明确要求</a:t>
            </a:r>
            <a:endParaRPr lang="zh-CN" altLang="en-US" sz="3200" dirty="0">
              <a:solidFill>
                <a:srgbClr val="FF0000"/>
              </a:solidFill>
              <a:latin typeface="+mn-lt"/>
              <a:ea typeface="+mn-ea"/>
            </a:endParaRPr>
          </a:p>
        </p:txBody>
      </p:sp>
      <p:sp>
        <p:nvSpPr>
          <p:cNvPr id="3" name="矩形 2"/>
          <p:cNvSpPr>
            <a:spLocks noChangeArrowheads="1"/>
          </p:cNvSpPr>
          <p:nvPr/>
        </p:nvSpPr>
        <p:spPr bwMode="auto">
          <a:xfrm>
            <a:off x="455247" y="1766278"/>
            <a:ext cx="11006015" cy="1911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a:spcBef>
                <a:spcPct val="0"/>
              </a:spcBef>
              <a:buClrTx/>
              <a:buFontTx/>
              <a:buNone/>
            </a:pPr>
            <a:r>
              <a:rPr lang="en-US" altLang="zh-CN" sz="2955" b="1">
                <a:solidFill>
                  <a:srgbClr val="0000FF"/>
                </a:solidFill>
                <a:latin typeface="Arial" panose="020B0604020202020204" pitchFamily="34" charset="0"/>
                <a:ea typeface="宋体" panose="02010600030101010101" pitchFamily="2" charset="-122"/>
              </a:rPr>
              <a:t>2003</a:t>
            </a:r>
            <a:r>
              <a:rPr lang="zh-CN" altLang="en-US" sz="2955" b="1">
                <a:solidFill>
                  <a:srgbClr val="0000FF"/>
                </a:solidFill>
                <a:latin typeface="Arial" panose="020B0604020202020204" pitchFamily="34" charset="0"/>
                <a:ea typeface="宋体" panose="02010600030101010101" pitchFamily="2" charset="-122"/>
              </a:rPr>
              <a:t>年</a:t>
            </a:r>
            <a:r>
              <a:rPr lang="en-US" altLang="zh-CN" sz="2955" b="1">
                <a:solidFill>
                  <a:srgbClr val="0000FF"/>
                </a:solidFill>
                <a:latin typeface="Arial" panose="020B0604020202020204" pitchFamily="34" charset="0"/>
                <a:ea typeface="宋体" panose="02010600030101010101" pitchFamily="2" charset="-122"/>
              </a:rPr>
              <a:t>9</a:t>
            </a:r>
            <a:r>
              <a:rPr lang="zh-CN" altLang="en-US" sz="2955" b="1">
                <a:solidFill>
                  <a:srgbClr val="0000FF"/>
                </a:solidFill>
                <a:latin typeface="Arial" panose="020B0604020202020204" pitchFamily="34" charset="0"/>
                <a:ea typeface="宋体" panose="02010600030101010101" pitchFamily="2" charset="-122"/>
              </a:rPr>
              <a:t>月，中央办公厅、国务院办公厅转发了</a:t>
            </a:r>
            <a:r>
              <a:rPr lang="en-US" altLang="zh-CN" sz="2955" b="1">
                <a:solidFill>
                  <a:srgbClr val="0000FF"/>
                </a:solidFill>
                <a:latin typeface="Arial" panose="020B0604020202020204" pitchFamily="34" charset="0"/>
                <a:ea typeface="宋体" panose="02010600030101010101" pitchFamily="2" charset="-122"/>
              </a:rPr>
              <a:t>《</a:t>
            </a:r>
            <a:r>
              <a:rPr lang="zh-CN" altLang="en-US" sz="2955" b="1">
                <a:solidFill>
                  <a:srgbClr val="0000FF"/>
                </a:solidFill>
                <a:latin typeface="Arial" panose="020B0604020202020204" pitchFamily="34" charset="0"/>
                <a:ea typeface="宋体" panose="02010600030101010101" pitchFamily="2" charset="-122"/>
              </a:rPr>
              <a:t>国家信息化领导小组关于加强信息安全保障工作的意见</a:t>
            </a:r>
            <a:r>
              <a:rPr lang="en-US" altLang="zh-CN" sz="2955" b="1">
                <a:solidFill>
                  <a:srgbClr val="0000FF"/>
                </a:solidFill>
                <a:latin typeface="Arial" panose="020B0604020202020204" pitchFamily="34" charset="0"/>
                <a:ea typeface="宋体" panose="02010600030101010101" pitchFamily="2" charset="-122"/>
              </a:rPr>
              <a:t>》</a:t>
            </a:r>
            <a:r>
              <a:rPr lang="zh-CN" altLang="en-US" sz="2955" b="1">
                <a:solidFill>
                  <a:srgbClr val="0000FF"/>
                </a:solidFill>
                <a:latin typeface="Arial" panose="020B0604020202020204" pitchFamily="34" charset="0"/>
                <a:ea typeface="宋体" panose="02010600030101010101" pitchFamily="2" charset="-122"/>
              </a:rPr>
              <a:t>，第一次把信息安全提到了促进经济发展、维护社会稳定、保障国家安全、加强精神文明建设的高度。</a:t>
            </a:r>
            <a:endParaRPr lang="zh-CN" altLang="en-US" sz="2955" b="1">
              <a:solidFill>
                <a:srgbClr val="0000FF"/>
              </a:solidFill>
              <a:latin typeface="Arial" panose="020B0604020202020204" pitchFamily="34" charset="0"/>
              <a:ea typeface="宋体" panose="02010600030101010101" pitchFamily="2" charset="-122"/>
            </a:endParaRPr>
          </a:p>
        </p:txBody>
      </p:sp>
      <p:sp>
        <p:nvSpPr>
          <p:cNvPr id="4" name="矩形 3"/>
          <p:cNvSpPr>
            <a:spLocks noChangeArrowheads="1"/>
          </p:cNvSpPr>
          <p:nvPr/>
        </p:nvSpPr>
        <p:spPr bwMode="auto">
          <a:xfrm>
            <a:off x="478693" y="3815862"/>
            <a:ext cx="10845799" cy="145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a:spcBef>
                <a:spcPct val="0"/>
              </a:spcBef>
              <a:buClrTx/>
              <a:buFontTx/>
              <a:buNone/>
            </a:pPr>
            <a:r>
              <a:rPr lang="en-US" altLang="zh-CN" sz="2955" b="1">
                <a:solidFill>
                  <a:srgbClr val="0000FF"/>
                </a:solidFill>
                <a:latin typeface="Arial" panose="020B0604020202020204" pitchFamily="34" charset="0"/>
                <a:ea typeface="宋体" panose="02010600030101010101" pitchFamily="2" charset="-122"/>
              </a:rPr>
              <a:t>2004</a:t>
            </a:r>
            <a:r>
              <a:rPr lang="zh-CN" altLang="en-US" sz="2955" b="1">
                <a:solidFill>
                  <a:srgbClr val="0000FF"/>
                </a:solidFill>
                <a:latin typeface="Arial" panose="020B0604020202020204" pitchFamily="34" charset="0"/>
                <a:ea typeface="宋体" panose="02010600030101010101" pitchFamily="2" charset="-122"/>
              </a:rPr>
              <a:t>年秋，党的十六届四中全会将信息安全与政治安全、经济安全、文化安全并列为国家安全的重要组成要素。非传统安全问题日益得到重视。</a:t>
            </a:r>
            <a:endParaRPr lang="zh-CN" altLang="en-US" sz="2955" b="1">
              <a:solidFill>
                <a:srgbClr val="0000FF"/>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2000" fill="hold"/>
                                        <p:tgtEl>
                                          <p:spTgt spid="3"/>
                                        </p:tgtEl>
                                        <p:attrNameLst>
                                          <p:attrName>ppt_w</p:attrName>
                                        </p:attrNameLst>
                                      </p:cBhvr>
                                      <p:tavLst>
                                        <p:tav tm="0">
                                          <p:val>
                                            <p:fltVal val="0"/>
                                          </p:val>
                                        </p:tav>
                                        <p:tav tm="100000">
                                          <p:val>
                                            <p:strVal val="#ppt_w"/>
                                          </p:val>
                                        </p:tav>
                                      </p:tavLst>
                                    </p:anim>
                                    <p:anim calcmode="lin" valueType="num">
                                      <p:cBhvr>
                                        <p:cTn id="12" dur="2000" fill="hold"/>
                                        <p:tgtEl>
                                          <p:spTgt spid="3"/>
                                        </p:tgtEl>
                                        <p:attrNameLst>
                                          <p:attrName>ppt_h</p:attrName>
                                        </p:attrNameLst>
                                      </p:cBhvr>
                                      <p:tavLst>
                                        <p:tav tm="0">
                                          <p:val>
                                            <p:fltVal val="0"/>
                                          </p:val>
                                        </p:tav>
                                        <p:tav tm="100000">
                                          <p:val>
                                            <p:strVal val="#ppt_h"/>
                                          </p:val>
                                        </p:tav>
                                      </p:tavLst>
                                    </p:anim>
                                    <p:animEffect transition="in" filter="fade">
                                      <p:cBhvr>
                                        <p:cTn id="13" dur="2000"/>
                                        <p:tgtEl>
                                          <p:spTgt spid="3"/>
                                        </p:tgtEl>
                                      </p:cBhvr>
                                    </p:animEffect>
                                  </p:childTnLst>
                                </p:cTn>
                              </p:par>
                            </p:childTnLst>
                          </p:cTn>
                        </p:par>
                        <p:par>
                          <p:cTn id="14" fill="hold">
                            <p:stCondLst>
                              <p:cond delay="500"/>
                            </p:stCondLst>
                            <p:childTnLst>
                              <p:par>
                                <p:cTn id="15" presetID="5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2000" fill="hold"/>
                                        <p:tgtEl>
                                          <p:spTgt spid="4"/>
                                        </p:tgtEl>
                                        <p:attrNameLst>
                                          <p:attrName>ppt_w</p:attrName>
                                        </p:attrNameLst>
                                      </p:cBhvr>
                                      <p:tavLst>
                                        <p:tav tm="0">
                                          <p:val>
                                            <p:fltVal val="0"/>
                                          </p:val>
                                        </p:tav>
                                        <p:tav tm="100000">
                                          <p:val>
                                            <p:strVal val="#ppt_w"/>
                                          </p:val>
                                        </p:tav>
                                      </p:tavLst>
                                    </p:anim>
                                    <p:anim calcmode="lin" valueType="num">
                                      <p:cBhvr>
                                        <p:cTn id="18" dur="2000" fill="hold"/>
                                        <p:tgtEl>
                                          <p:spTgt spid="4"/>
                                        </p:tgtEl>
                                        <p:attrNameLst>
                                          <p:attrName>ppt_h</p:attrName>
                                        </p:attrNameLst>
                                      </p:cBhvr>
                                      <p:tavLst>
                                        <p:tav tm="0">
                                          <p:val>
                                            <p:fltVal val="0"/>
                                          </p:val>
                                        </p:tav>
                                        <p:tav tm="100000">
                                          <p:val>
                                            <p:strVal val="#ppt_h"/>
                                          </p:val>
                                        </p:tav>
                                      </p:tavLst>
                                    </p:anim>
                                    <p:animEffect transition="in" filter="fade">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11424" y="61241"/>
            <a:ext cx="10369152" cy="6824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955431" y="947615"/>
            <a:ext cx="10113108" cy="2821305"/>
          </a:xfrm>
          <a:prstGeom prst="rect">
            <a:avLst/>
          </a:prstGeom>
          <a:noFill/>
          <a:ln w="9525" algn="ctr">
            <a:noFill/>
            <a:miter lim="800000"/>
          </a:ln>
          <a:effectLst/>
        </p:spPr>
        <p:txBody>
          <a:bodyPr>
            <a:spAutoFit/>
          </a:bodyPr>
          <a:lstStyle/>
          <a:p>
            <a:pPr eaLnBrk="1" hangingPunct="1">
              <a:spcBef>
                <a:spcPct val="50000"/>
              </a:spcBef>
              <a:defRPr/>
            </a:pPr>
            <a:r>
              <a:rPr lang="zh-CN" altLang="en-US" sz="4430" b="1" dirty="0">
                <a:solidFill>
                  <a:srgbClr val="FF0000"/>
                </a:solidFill>
                <a:effectLst>
                  <a:outerShdw blurRad="38100" dist="38100" dir="2700000" algn="tl">
                    <a:srgbClr val="C0C0C0"/>
                  </a:outerShdw>
                </a:effectLst>
                <a:latin typeface="+mn-ea"/>
                <a:ea typeface="+mn-ea"/>
              </a:rPr>
              <a:t>习近平：</a:t>
            </a:r>
            <a:r>
              <a:rPr lang="zh-CN" altLang="en-US" sz="2955" b="1" dirty="0">
                <a:latin typeface="+mn-ea"/>
                <a:ea typeface="+mn-ea"/>
              </a:rPr>
              <a:t>网络安全和信息化是事关国家安全和国家发展、事关广大人民群众工作生活的重大战略问题，要从国际国内大势出发，总体布局，统筹各方，创新发展，努力把我国建设成为网络强国</a:t>
            </a:r>
            <a:endParaRPr lang="en-US" altLang="zh-CN" sz="2955" b="1" dirty="0">
              <a:effectLst>
                <a:outerShdw blurRad="38100" dist="38100" dir="2700000" algn="tl">
                  <a:srgbClr val="C0C0C0"/>
                </a:outerShdw>
              </a:effectLst>
              <a:latin typeface="+mn-ea"/>
              <a:ea typeface="+mn-ea"/>
            </a:endParaRPr>
          </a:p>
          <a:p>
            <a:pPr eaLnBrk="1" hangingPunct="1">
              <a:spcBef>
                <a:spcPct val="50000"/>
              </a:spcBef>
              <a:defRPr/>
            </a:pPr>
            <a:r>
              <a:rPr lang="en-US" altLang="zh-CN" sz="2955" b="1" dirty="0">
                <a:effectLst>
                  <a:outerShdw blurRad="38100" dist="38100" dir="2700000" algn="tl">
                    <a:srgbClr val="C0C0C0"/>
                  </a:outerShdw>
                </a:effectLst>
                <a:latin typeface="+mn-ea"/>
                <a:ea typeface="+mn-ea"/>
              </a:rPr>
              <a:t>         </a:t>
            </a:r>
            <a:endParaRPr lang="zh-CN" altLang="en-US" sz="100" b="1" dirty="0">
              <a:effectLst>
                <a:outerShdw blurRad="38100" dist="38100" dir="2700000" algn="tl">
                  <a:srgbClr val="C0C0C0"/>
                </a:outerShdw>
              </a:effectLst>
              <a:latin typeface="+mn-ea"/>
              <a:ea typeface="+mn-ea"/>
            </a:endParaRPr>
          </a:p>
        </p:txBody>
      </p:sp>
      <p:sp>
        <p:nvSpPr>
          <p:cNvPr id="2" name="矩形 1"/>
          <p:cNvSpPr/>
          <p:nvPr/>
        </p:nvSpPr>
        <p:spPr>
          <a:xfrm>
            <a:off x="2905370" y="3516924"/>
            <a:ext cx="8557846" cy="106680"/>
          </a:xfrm>
          <a:prstGeom prst="rect">
            <a:avLst/>
          </a:prstGeom>
        </p:spPr>
        <p:txBody>
          <a:bodyPr>
            <a:spAutoFit/>
          </a:bodyPr>
          <a:lstStyle/>
          <a:p>
            <a:pPr>
              <a:defRPr/>
            </a:pPr>
            <a:r>
              <a:rPr lang="en-US" altLang="zh-CN" sz="100" b="1" dirty="0">
                <a:latin typeface="+mn-ea"/>
                <a:ea typeface="+mn-ea"/>
              </a:rPr>
              <a:t>2016</a:t>
            </a:r>
            <a:r>
              <a:rPr lang="zh-CN" altLang="en-US" sz="100" b="1" dirty="0">
                <a:latin typeface="+mn-ea"/>
                <a:ea typeface="+mn-ea"/>
              </a:rPr>
              <a:t>年</a:t>
            </a:r>
            <a:r>
              <a:rPr lang="en-US" altLang="zh-CN" sz="100" b="1" dirty="0">
                <a:latin typeface="+mn-ea"/>
                <a:ea typeface="+mn-ea"/>
              </a:rPr>
              <a:t>4</a:t>
            </a:r>
            <a:r>
              <a:rPr lang="zh-CN" altLang="en-US" sz="100" b="1" dirty="0">
                <a:latin typeface="+mn-ea"/>
                <a:ea typeface="+mn-ea"/>
              </a:rPr>
              <a:t>月</a:t>
            </a:r>
            <a:r>
              <a:rPr lang="en-US" altLang="zh-CN" sz="100" b="1" dirty="0">
                <a:latin typeface="+mn-ea"/>
                <a:ea typeface="+mn-ea"/>
              </a:rPr>
              <a:t>19</a:t>
            </a:r>
            <a:r>
              <a:rPr lang="zh-CN" altLang="en-US" sz="100" b="1" dirty="0">
                <a:latin typeface="+mn-ea"/>
                <a:ea typeface="+mn-ea"/>
              </a:rPr>
              <a:t>日，习近平在网络安全和信息化工作座谈会上的讲话</a:t>
            </a:r>
            <a:endParaRPr lang="zh-CN" altLang="en-US" sz="100" b="1" dirty="0">
              <a:latin typeface="+mn-ea"/>
              <a:ea typeface="+mn-ea"/>
            </a:endParaRPr>
          </a:p>
        </p:txBody>
      </p:sp>
      <p:grpSp>
        <p:nvGrpSpPr>
          <p:cNvPr id="8" name="组合 7"/>
          <p:cNvGrpSpPr/>
          <p:nvPr/>
        </p:nvGrpSpPr>
        <p:grpSpPr bwMode="auto">
          <a:xfrm>
            <a:off x="1711569" y="4403970"/>
            <a:ext cx="8550031" cy="2145323"/>
            <a:chOff x="1391350" y="4221088"/>
            <a:chExt cx="6946294" cy="1743576"/>
          </a:xfrm>
        </p:grpSpPr>
        <p:pic>
          <p:nvPicPr>
            <p:cNvPr id="103429"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91350" y="4227180"/>
              <a:ext cx="3312369" cy="173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0"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36976" y="4221088"/>
              <a:ext cx="3600668" cy="173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3">
                                            <p:txEl>
                                              <p:pRg st="1" end="1"/>
                                            </p:txEl>
                                          </p:spTgt>
                                        </p:tgtEl>
                                      </p:cBhvr>
                                    </p:animEffect>
                                  </p:childTnLst>
                                </p:cTn>
                              </p:par>
                            </p:childTnLst>
                          </p:cTn>
                        </p:par>
                        <p:par>
                          <p:cTn id="16" fill="hold">
                            <p:stCondLst>
                              <p:cond delay="2000"/>
                            </p:stCondLst>
                            <p:childTnLst>
                              <p:par>
                                <p:cTn id="17" presetID="53" presetClass="entr" presetSubtype="16"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1000" fill="hold"/>
                                        <p:tgtEl>
                                          <p:spTgt spid="2"/>
                                        </p:tgtEl>
                                        <p:attrNameLst>
                                          <p:attrName>ppt_w</p:attrName>
                                        </p:attrNameLst>
                                      </p:cBhvr>
                                      <p:tavLst>
                                        <p:tav tm="0">
                                          <p:val>
                                            <p:fltVal val="0"/>
                                          </p:val>
                                        </p:tav>
                                        <p:tav tm="100000">
                                          <p:val>
                                            <p:strVal val="#ppt_w"/>
                                          </p:val>
                                        </p:tav>
                                      </p:tavLst>
                                    </p:anim>
                                    <p:anim calcmode="lin" valueType="num">
                                      <p:cBhvr>
                                        <p:cTn id="20" dur="1000" fill="hold"/>
                                        <p:tgtEl>
                                          <p:spTgt spid="2"/>
                                        </p:tgtEl>
                                        <p:attrNameLst>
                                          <p:attrName>ppt_h</p:attrName>
                                        </p:attrNameLst>
                                      </p:cBhvr>
                                      <p:tavLst>
                                        <p:tav tm="0">
                                          <p:val>
                                            <p:fltVal val="0"/>
                                          </p:val>
                                        </p:tav>
                                        <p:tav tm="100000">
                                          <p:val>
                                            <p:strVal val="#ppt_h"/>
                                          </p:val>
                                        </p:tav>
                                      </p:tavLst>
                                    </p:anim>
                                    <p:animEffect transition="in" filter="fade">
                                      <p:cBhvr>
                                        <p:cTn id="21" dur="1000"/>
                                        <p:tgtEl>
                                          <p:spTgt spid="2"/>
                                        </p:tgtEl>
                                      </p:cBhvr>
                                    </p:animEffect>
                                  </p:childTnLst>
                                </p:cTn>
                              </p:par>
                            </p:childTnLst>
                          </p:cTn>
                        </p:par>
                        <p:par>
                          <p:cTn id="22" fill="hold">
                            <p:stCondLst>
                              <p:cond delay="3000"/>
                            </p:stCondLst>
                            <p:childTnLst>
                              <p:par>
                                <p:cTn id="23" presetID="5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2000" fill="hold"/>
                                        <p:tgtEl>
                                          <p:spTgt spid="8"/>
                                        </p:tgtEl>
                                        <p:attrNameLst>
                                          <p:attrName>ppt_w</p:attrName>
                                        </p:attrNameLst>
                                      </p:cBhvr>
                                      <p:tavLst>
                                        <p:tav tm="0">
                                          <p:val>
                                            <p:fltVal val="0"/>
                                          </p:val>
                                        </p:tav>
                                        <p:tav tm="100000">
                                          <p:val>
                                            <p:strVal val="#ppt_w"/>
                                          </p:val>
                                        </p:tav>
                                      </p:tavLst>
                                    </p:anim>
                                    <p:anim calcmode="lin" valueType="num">
                                      <p:cBhvr>
                                        <p:cTn id="26" dur="2000" fill="hold"/>
                                        <p:tgtEl>
                                          <p:spTgt spid="8"/>
                                        </p:tgtEl>
                                        <p:attrNameLst>
                                          <p:attrName>ppt_h</p:attrName>
                                        </p:attrNameLst>
                                      </p:cBhvr>
                                      <p:tavLst>
                                        <p:tav tm="0">
                                          <p:val>
                                            <p:fltVal val="0"/>
                                          </p:val>
                                        </p:tav>
                                        <p:tav tm="100000">
                                          <p:val>
                                            <p:strVal val="#ppt_h"/>
                                          </p:val>
                                        </p:tav>
                                      </p:tavLst>
                                    </p:anim>
                                    <p:animEffect transition="in" filter="fade">
                                      <p:cBhvr>
                                        <p:cTn id="2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矩形 2"/>
          <p:cNvSpPr>
            <a:spLocks noChangeArrowheads="1"/>
          </p:cNvSpPr>
          <p:nvPr/>
        </p:nvSpPr>
        <p:spPr bwMode="auto">
          <a:xfrm>
            <a:off x="336062" y="60569"/>
            <a:ext cx="1134403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3445" b="1">
                <a:solidFill>
                  <a:srgbClr val="FF0000"/>
                </a:solidFill>
                <a:latin typeface="Arial" panose="020B0604020202020204" pitchFamily="34" charset="0"/>
                <a:ea typeface="宋体" panose="02010600030101010101" pitchFamily="2" charset="-122"/>
              </a:rPr>
              <a:t>中央网络安全和信息化领导小组第一次会议（</a:t>
            </a:r>
            <a:r>
              <a:rPr lang="en-US" altLang="zh-CN" sz="3445" b="1">
                <a:solidFill>
                  <a:srgbClr val="FF0000"/>
                </a:solidFill>
                <a:latin typeface="Arial" panose="020B0604020202020204" pitchFamily="34" charset="0"/>
                <a:ea typeface="宋体" panose="02010600030101010101" pitchFamily="2" charset="-122"/>
              </a:rPr>
              <a:t>2014.2.27</a:t>
            </a:r>
            <a:r>
              <a:rPr lang="zh-CN" altLang="en-US" sz="3445" b="1">
                <a:solidFill>
                  <a:srgbClr val="FF0000"/>
                </a:solidFill>
                <a:latin typeface="Arial" panose="020B0604020202020204" pitchFamily="34" charset="0"/>
                <a:ea typeface="宋体" panose="02010600030101010101" pitchFamily="2" charset="-122"/>
              </a:rPr>
              <a:t>）</a:t>
            </a:r>
            <a:endParaRPr lang="zh-CN" altLang="en-US" sz="3445" b="1">
              <a:solidFill>
                <a:srgbClr val="FF0000"/>
              </a:solidFill>
              <a:latin typeface="Arial" panose="020B0604020202020204" pitchFamily="34" charset="0"/>
              <a:ea typeface="宋体" panose="02010600030101010101" pitchFamily="2" charset="-122"/>
            </a:endParaRPr>
          </a:p>
        </p:txBody>
      </p:sp>
      <p:pic>
        <p:nvPicPr>
          <p:cNvPr id="5"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7631" y="859693"/>
            <a:ext cx="9571893" cy="6193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985" y="769816"/>
            <a:ext cx="10990384" cy="6183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908" y="769816"/>
            <a:ext cx="10902462" cy="6027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矩形 1"/>
          <p:cNvSpPr>
            <a:spLocks noChangeArrowheads="1"/>
          </p:cNvSpPr>
          <p:nvPr/>
        </p:nvSpPr>
        <p:spPr bwMode="auto">
          <a:xfrm>
            <a:off x="601785" y="1338385"/>
            <a:ext cx="11078308" cy="1114425"/>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lang="zh-CN" altLang="en-US" sz="2215" b="1" dirty="0">
                <a:solidFill>
                  <a:srgbClr val="FF0000"/>
                </a:solidFill>
                <a:latin typeface="+mn-ea"/>
                <a:ea typeface="+mn-ea"/>
              </a:rPr>
              <a:t>网络安全和信息化</a:t>
            </a:r>
            <a:r>
              <a:rPr lang="zh-CN" altLang="en-US" sz="2215" b="1" dirty="0">
                <a:latin typeface="+mn-ea"/>
                <a:ea typeface="+mn-ea"/>
              </a:rPr>
              <a:t>是事关国家安全和国家发展、事关广大人民群众工作生活的重大战略问题，要从国际国内大势出发，总体布局，统筹各方，创新发展，努力把我国建设成为网络强国。</a:t>
            </a:r>
            <a:endParaRPr lang="zh-CN" altLang="en-US" sz="2215" b="1" dirty="0">
              <a:latin typeface="+mn-ea"/>
              <a:ea typeface="+mn-ea"/>
            </a:endParaRPr>
          </a:p>
        </p:txBody>
      </p:sp>
      <p:sp>
        <p:nvSpPr>
          <p:cNvPr id="106499" name="矩形 2"/>
          <p:cNvSpPr>
            <a:spLocks noChangeArrowheads="1"/>
          </p:cNvSpPr>
          <p:nvPr/>
        </p:nvSpPr>
        <p:spPr bwMode="auto">
          <a:xfrm>
            <a:off x="336062" y="238370"/>
            <a:ext cx="986409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3445" b="1"/>
              <a:t>中央网络安全和信息化领导小组组长习近平指出：</a:t>
            </a:r>
            <a:endParaRPr lang="zh-CN" altLang="en-US" sz="3445" b="1"/>
          </a:p>
        </p:txBody>
      </p:sp>
      <p:sp>
        <p:nvSpPr>
          <p:cNvPr id="108548" name="矩形 3"/>
          <p:cNvSpPr>
            <a:spLocks noChangeArrowheads="1"/>
          </p:cNvSpPr>
          <p:nvPr/>
        </p:nvSpPr>
        <p:spPr bwMode="auto">
          <a:xfrm>
            <a:off x="601785" y="2647462"/>
            <a:ext cx="11078308" cy="2138045"/>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lang="zh-CN" altLang="en-US" sz="2215" b="1" dirty="0">
                <a:solidFill>
                  <a:srgbClr val="FF0000"/>
                </a:solidFill>
                <a:latin typeface="+mn-ea"/>
                <a:ea typeface="+mn-ea"/>
              </a:rPr>
              <a:t>没有网络安全就没有国家安全</a:t>
            </a:r>
            <a:r>
              <a:rPr lang="zh-CN" altLang="en-US" sz="2215" b="1" dirty="0">
                <a:latin typeface="+mn-ea"/>
                <a:ea typeface="+mn-ea"/>
              </a:rPr>
              <a:t>，没有信息化就没有现代化。建设网络强国，要有自己的技术，有过硬的技术</a:t>
            </a:r>
            <a:r>
              <a:rPr lang="en-US" altLang="zh-CN" sz="2215" b="1" dirty="0">
                <a:latin typeface="+mn-ea"/>
                <a:ea typeface="+mn-ea"/>
              </a:rPr>
              <a:t>;</a:t>
            </a:r>
            <a:r>
              <a:rPr lang="zh-CN" altLang="en-US" sz="2215" b="1" dirty="0">
                <a:latin typeface="+mn-ea"/>
                <a:ea typeface="+mn-ea"/>
              </a:rPr>
              <a:t>要有丰富全面的信息服务，繁荣发展的网络文化</a:t>
            </a:r>
            <a:r>
              <a:rPr lang="en-US" altLang="zh-CN" sz="2215" b="1" dirty="0">
                <a:latin typeface="+mn-ea"/>
                <a:ea typeface="+mn-ea"/>
              </a:rPr>
              <a:t>;</a:t>
            </a:r>
            <a:r>
              <a:rPr lang="zh-CN" altLang="en-US" sz="2215" b="1" dirty="0">
                <a:latin typeface="+mn-ea"/>
                <a:ea typeface="+mn-ea"/>
              </a:rPr>
              <a:t>要有良好的信息基础设施，形成实力雄厚的信息经济</a:t>
            </a:r>
            <a:r>
              <a:rPr lang="en-US" altLang="zh-CN" sz="2215" b="1" dirty="0">
                <a:latin typeface="+mn-ea"/>
                <a:ea typeface="+mn-ea"/>
              </a:rPr>
              <a:t>;</a:t>
            </a:r>
            <a:r>
              <a:rPr lang="zh-CN" altLang="en-US" sz="2215" b="1" dirty="0">
                <a:latin typeface="+mn-ea"/>
                <a:ea typeface="+mn-ea"/>
              </a:rPr>
              <a:t>要</a:t>
            </a:r>
            <a:r>
              <a:rPr lang="zh-CN" altLang="en-US" sz="2215" b="1" dirty="0">
                <a:solidFill>
                  <a:srgbClr val="FF0000"/>
                </a:solidFill>
                <a:latin typeface="+mn-ea"/>
                <a:ea typeface="+mn-ea"/>
              </a:rPr>
              <a:t>有高素质的网络安全和信息化人才队伍</a:t>
            </a:r>
            <a:r>
              <a:rPr lang="en-US" altLang="zh-CN" sz="2215" b="1" dirty="0">
                <a:solidFill>
                  <a:srgbClr val="FF0000"/>
                </a:solidFill>
                <a:latin typeface="+mn-ea"/>
                <a:ea typeface="+mn-ea"/>
              </a:rPr>
              <a:t>;</a:t>
            </a:r>
            <a:r>
              <a:rPr lang="zh-CN" altLang="en-US" sz="2215" b="1" dirty="0">
                <a:latin typeface="+mn-ea"/>
                <a:ea typeface="+mn-ea"/>
              </a:rPr>
              <a:t>要积极开展双边、多边的互联网国际交流合作。建设网络强国的战略部署要与“两个一百年”奋斗目标同步推进，向着网络基础设施基本普及、自主创新能力显著增强、信息经济全面发展、网络安全保障有力的目标不断前进。</a:t>
            </a:r>
            <a:endParaRPr lang="zh-CN" altLang="en-US" sz="2215" b="1" dirty="0">
              <a:latin typeface="+mn-ea"/>
              <a:ea typeface="+mn-ea"/>
            </a:endParaRPr>
          </a:p>
        </p:txBody>
      </p:sp>
      <p:sp>
        <p:nvSpPr>
          <p:cNvPr id="108549" name="矩形 4"/>
          <p:cNvSpPr>
            <a:spLocks noChangeArrowheads="1"/>
          </p:cNvSpPr>
          <p:nvPr/>
        </p:nvSpPr>
        <p:spPr bwMode="auto">
          <a:xfrm>
            <a:off x="646724" y="5216770"/>
            <a:ext cx="10988431" cy="1114425"/>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lang="zh-CN" altLang="en-US" sz="2215" b="1" dirty="0">
                <a:solidFill>
                  <a:srgbClr val="FF0000"/>
                </a:solidFill>
                <a:latin typeface="+mn-ea"/>
                <a:ea typeface="+mn-ea"/>
              </a:rPr>
              <a:t>建设网络强国，要把人才资源汇聚起来，建设一支政治强、业务精、作风好的强大队伍。“千军易得，一将难求”，要培养造就世界水平的科学家、网络科技领军人才、卓越工程师、高水平创新团队。</a:t>
            </a:r>
            <a:endParaRPr lang="zh-CN" altLang="en-US" sz="2215" b="1" dirty="0">
              <a:solidFill>
                <a:srgbClr val="FF0000"/>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8546"/>
                                        </p:tgtEl>
                                        <p:attrNameLst>
                                          <p:attrName>style.visibility</p:attrName>
                                        </p:attrNameLst>
                                      </p:cBhvr>
                                      <p:to>
                                        <p:strVal val="visible"/>
                                      </p:to>
                                    </p:set>
                                    <p:anim calcmode="lin" valueType="num">
                                      <p:cBhvr additive="base">
                                        <p:cTn id="7" dur="500" fill="hold"/>
                                        <p:tgtEl>
                                          <p:spTgt spid="108546"/>
                                        </p:tgtEl>
                                        <p:attrNameLst>
                                          <p:attrName>ppt_x</p:attrName>
                                        </p:attrNameLst>
                                      </p:cBhvr>
                                      <p:tavLst>
                                        <p:tav tm="0">
                                          <p:val>
                                            <p:strVal val="#ppt_x"/>
                                          </p:val>
                                        </p:tav>
                                        <p:tav tm="100000">
                                          <p:val>
                                            <p:strVal val="#ppt_x"/>
                                          </p:val>
                                        </p:tav>
                                      </p:tavLst>
                                    </p:anim>
                                    <p:anim calcmode="lin" valueType="num">
                                      <p:cBhvr additive="base">
                                        <p:cTn id="8" dur="500" fill="hold"/>
                                        <p:tgtEl>
                                          <p:spTgt spid="10854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08548"/>
                                        </p:tgtEl>
                                        <p:attrNameLst>
                                          <p:attrName>style.visibility</p:attrName>
                                        </p:attrNameLst>
                                      </p:cBhvr>
                                      <p:to>
                                        <p:strVal val="visible"/>
                                      </p:to>
                                    </p:set>
                                    <p:anim calcmode="lin" valueType="num">
                                      <p:cBhvr additive="base">
                                        <p:cTn id="12" dur="1500" fill="hold"/>
                                        <p:tgtEl>
                                          <p:spTgt spid="108548"/>
                                        </p:tgtEl>
                                        <p:attrNameLst>
                                          <p:attrName>ppt_x</p:attrName>
                                        </p:attrNameLst>
                                      </p:cBhvr>
                                      <p:tavLst>
                                        <p:tav tm="0">
                                          <p:val>
                                            <p:strVal val="#ppt_x"/>
                                          </p:val>
                                        </p:tav>
                                        <p:tav tm="100000">
                                          <p:val>
                                            <p:strVal val="#ppt_x"/>
                                          </p:val>
                                        </p:tav>
                                      </p:tavLst>
                                    </p:anim>
                                    <p:anim calcmode="lin" valueType="num">
                                      <p:cBhvr additive="base">
                                        <p:cTn id="13" dur="1500" fill="hold"/>
                                        <p:tgtEl>
                                          <p:spTgt spid="108548"/>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grpId="0" nodeType="afterEffect">
                                  <p:stCondLst>
                                    <p:cond delay="0"/>
                                  </p:stCondLst>
                                  <p:childTnLst>
                                    <p:set>
                                      <p:cBhvr>
                                        <p:cTn id="16" dur="1" fill="hold">
                                          <p:stCondLst>
                                            <p:cond delay="0"/>
                                          </p:stCondLst>
                                        </p:cTn>
                                        <p:tgtEl>
                                          <p:spTgt spid="108549"/>
                                        </p:tgtEl>
                                        <p:attrNameLst>
                                          <p:attrName>style.visibility</p:attrName>
                                        </p:attrNameLst>
                                      </p:cBhvr>
                                      <p:to>
                                        <p:strVal val="visible"/>
                                      </p:to>
                                    </p:set>
                                    <p:anim calcmode="lin" valueType="num">
                                      <p:cBhvr additive="base">
                                        <p:cTn id="17" dur="2500" fill="hold"/>
                                        <p:tgtEl>
                                          <p:spTgt spid="108549"/>
                                        </p:tgtEl>
                                        <p:attrNameLst>
                                          <p:attrName>ppt_x</p:attrName>
                                        </p:attrNameLst>
                                      </p:cBhvr>
                                      <p:tavLst>
                                        <p:tav tm="0">
                                          <p:val>
                                            <p:strVal val="#ppt_x"/>
                                          </p:val>
                                        </p:tav>
                                        <p:tav tm="100000">
                                          <p:val>
                                            <p:strVal val="#ppt_x"/>
                                          </p:val>
                                        </p:tav>
                                      </p:tavLst>
                                    </p:anim>
                                    <p:anim calcmode="lin" valueType="num">
                                      <p:cBhvr additive="base">
                                        <p:cTn id="18" dur="2500" fill="hold"/>
                                        <p:tgtEl>
                                          <p:spTgt spid="1085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48" grpId="0"/>
      <p:bldP spid="108549"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矩形 1"/>
          <p:cNvSpPr>
            <a:spLocks noChangeArrowheads="1"/>
          </p:cNvSpPr>
          <p:nvPr/>
        </p:nvSpPr>
        <p:spPr bwMode="auto">
          <a:xfrm>
            <a:off x="777631" y="1834662"/>
            <a:ext cx="10724662"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215" b="1"/>
              <a:t>    健全坚持正确舆论导向的体制机制。健全基础管理、内容管理、行业管理以及</a:t>
            </a:r>
            <a:r>
              <a:rPr lang="zh-CN" altLang="en-US" sz="2215" b="1">
                <a:solidFill>
                  <a:srgbClr val="FF0000"/>
                </a:solidFill>
              </a:rPr>
              <a:t>网络违法犯罪防范和打击</a:t>
            </a:r>
            <a:r>
              <a:rPr lang="zh-CN" altLang="en-US" sz="2215" b="1"/>
              <a:t>等工作联动机制，</a:t>
            </a:r>
            <a:r>
              <a:rPr lang="zh-CN" altLang="en-US" sz="2215" b="1">
                <a:solidFill>
                  <a:srgbClr val="FF0000"/>
                </a:solidFill>
              </a:rPr>
              <a:t>健全网络突发事件处置机制，形成正面引导和依法管理相结合的网络舆论工作格局</a:t>
            </a:r>
            <a:r>
              <a:rPr lang="zh-CN" altLang="en-US" sz="2215" b="1"/>
              <a:t>。整合新闻媒体资源，推动传统媒体和新兴媒体融合发展。推动新闻发布制度化。严格新闻工作者职业资格制度，重视新型媒介运用和管理，规范传播秩序。</a:t>
            </a:r>
            <a:endParaRPr lang="zh-CN" altLang="en-US" sz="2215" b="1"/>
          </a:p>
        </p:txBody>
      </p:sp>
      <p:sp>
        <p:nvSpPr>
          <p:cNvPr id="107523" name="Rectangle 1"/>
          <p:cNvSpPr>
            <a:spLocks noChangeArrowheads="1"/>
          </p:cNvSpPr>
          <p:nvPr/>
        </p:nvSpPr>
        <p:spPr bwMode="auto">
          <a:xfrm>
            <a:off x="423985" y="324803"/>
            <a:ext cx="11078308" cy="1001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zh-CN" sz="2955" b="1">
                <a:solidFill>
                  <a:srgbClr val="FF0000"/>
                </a:solidFill>
                <a:latin typeface="微软雅黑" panose="020B0503020204020204" charset="-122"/>
                <a:ea typeface="微软雅黑" panose="020B0503020204020204" charset="-122"/>
                <a:cs typeface="宋体" panose="02010600030101010101" pitchFamily="2" charset="-122"/>
              </a:rPr>
              <a:t>中共中央关于全面深化改革若干重大问题的决定</a:t>
            </a:r>
            <a:r>
              <a:rPr lang="en-US" altLang="zh-CN" sz="2955" b="1">
                <a:solidFill>
                  <a:srgbClr val="FF0000"/>
                </a:solidFill>
                <a:latin typeface="微软雅黑" panose="020B0503020204020204" charset="-122"/>
                <a:ea typeface="微软雅黑" panose="020B0503020204020204" charset="-122"/>
                <a:cs typeface="宋体" panose="02010600030101010101" pitchFamily="2" charset="-122"/>
              </a:rPr>
              <a:t>(</a:t>
            </a:r>
            <a:r>
              <a:rPr lang="zh-CN" altLang="en-US" sz="2955" b="1">
                <a:solidFill>
                  <a:srgbClr val="FF0000"/>
                </a:solidFill>
                <a:latin typeface="微软雅黑" panose="020B0503020204020204" charset="-122"/>
                <a:ea typeface="微软雅黑" panose="020B0503020204020204" charset="-122"/>
                <a:cs typeface="宋体" panose="02010600030101010101" pitchFamily="2" charset="-122"/>
              </a:rPr>
              <a:t>中国共产党第十八届中央委员会第三次全体会议通过</a:t>
            </a:r>
            <a:r>
              <a:rPr lang="en-US" altLang="zh-CN" sz="2955" b="1">
                <a:solidFill>
                  <a:srgbClr val="FF0000"/>
                </a:solidFill>
                <a:latin typeface="微软雅黑" panose="020B0503020204020204" charset="-122"/>
                <a:ea typeface="微软雅黑" panose="020B0503020204020204" charset="-122"/>
                <a:cs typeface="宋体" panose="02010600030101010101" pitchFamily="2" charset="-122"/>
              </a:rPr>
              <a:t>)</a:t>
            </a:r>
            <a:r>
              <a:rPr lang="en-US" altLang="zh-CN" sz="2955">
                <a:solidFill>
                  <a:srgbClr val="FF0000"/>
                </a:solidFill>
                <a:latin typeface="Arial" panose="020B0604020202020204" pitchFamily="34" charset="0"/>
                <a:ea typeface="微软雅黑" panose="020B0503020204020204" charset="-122"/>
                <a:cs typeface="宋体" panose="02010600030101010101" pitchFamily="2" charset="-122"/>
              </a:rPr>
              <a:t> </a:t>
            </a:r>
            <a:endParaRPr lang="en-US" altLang="zh-CN" sz="2955">
              <a:solidFill>
                <a:srgbClr val="FF0000"/>
              </a:solidFill>
              <a:latin typeface="Arial" panose="020B0604020202020204" pitchFamily="34" charset="0"/>
              <a:ea typeface="微软雅黑" panose="020B0503020204020204" charset="-122"/>
              <a:cs typeface="宋体" panose="02010600030101010101" pitchFamily="2" charset="-122"/>
            </a:endParaRPr>
          </a:p>
        </p:txBody>
      </p:sp>
      <p:sp>
        <p:nvSpPr>
          <p:cNvPr id="111620" name="矩形 3"/>
          <p:cNvSpPr>
            <a:spLocks noChangeArrowheads="1"/>
          </p:cNvSpPr>
          <p:nvPr/>
        </p:nvSpPr>
        <p:spPr bwMode="auto">
          <a:xfrm>
            <a:off x="601785" y="4226169"/>
            <a:ext cx="1045698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215" b="1"/>
              <a:t>    坚持积极利用、科学发展、依法管理、确保安全的方针，加大依法管理网络力度，</a:t>
            </a:r>
            <a:r>
              <a:rPr lang="zh-CN" altLang="en-US" sz="2215" b="1">
                <a:solidFill>
                  <a:srgbClr val="FF0000"/>
                </a:solidFill>
              </a:rPr>
              <a:t>加快完善互联网管理领导体制，确保国家网络和信息安全。</a:t>
            </a:r>
            <a:endParaRPr lang="en-US" altLang="zh-CN" sz="2215" b="1">
              <a:solidFill>
                <a:srgbClr val="FF0000"/>
              </a:solidFill>
            </a:endParaRPr>
          </a:p>
          <a:p>
            <a:pPr eaLnBrk="1" hangingPunct="1">
              <a:spcBef>
                <a:spcPct val="0"/>
              </a:spcBef>
              <a:buClrTx/>
              <a:buFontTx/>
              <a:buNone/>
            </a:pPr>
            <a:r>
              <a:rPr lang="zh-CN" altLang="en-US" sz="2215">
                <a:latin typeface="Arial" panose="020B0604020202020204" pitchFamily="34" charset="0"/>
                <a:ea typeface="宋体" panose="02010600030101010101" pitchFamily="2" charset="-122"/>
              </a:rPr>
              <a:t>       </a:t>
            </a:r>
            <a:r>
              <a:rPr lang="zh-CN" altLang="en-US" sz="2215" b="1"/>
              <a:t>设立国家安全委员会，完善国家安全体制和国家安全战略，确保国家安全。</a:t>
            </a:r>
            <a:endParaRPr lang="zh-CN" altLang="en-US" sz="2215" b="1"/>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1618"/>
                                        </p:tgtEl>
                                        <p:attrNameLst>
                                          <p:attrName>style.visibility</p:attrName>
                                        </p:attrNameLst>
                                      </p:cBhvr>
                                      <p:to>
                                        <p:strVal val="visible"/>
                                      </p:to>
                                    </p:set>
                                    <p:anim calcmode="lin" valueType="num">
                                      <p:cBhvr additive="base">
                                        <p:cTn id="7" dur="500" fill="hold"/>
                                        <p:tgtEl>
                                          <p:spTgt spid="111618"/>
                                        </p:tgtEl>
                                        <p:attrNameLst>
                                          <p:attrName>ppt_x</p:attrName>
                                        </p:attrNameLst>
                                      </p:cBhvr>
                                      <p:tavLst>
                                        <p:tav tm="0">
                                          <p:val>
                                            <p:strVal val="#ppt_x"/>
                                          </p:val>
                                        </p:tav>
                                        <p:tav tm="100000">
                                          <p:val>
                                            <p:strVal val="#ppt_x"/>
                                          </p:val>
                                        </p:tav>
                                      </p:tavLst>
                                    </p:anim>
                                    <p:anim calcmode="lin" valueType="num">
                                      <p:cBhvr additive="base">
                                        <p:cTn id="8" dur="500" fill="hold"/>
                                        <p:tgtEl>
                                          <p:spTgt spid="11161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11620"/>
                                        </p:tgtEl>
                                        <p:attrNameLst>
                                          <p:attrName>style.visibility</p:attrName>
                                        </p:attrNameLst>
                                      </p:cBhvr>
                                      <p:to>
                                        <p:strVal val="visible"/>
                                      </p:to>
                                    </p:set>
                                    <p:anim calcmode="lin" valueType="num">
                                      <p:cBhvr additive="base">
                                        <p:cTn id="12" dur="2000" fill="hold"/>
                                        <p:tgtEl>
                                          <p:spTgt spid="111620"/>
                                        </p:tgtEl>
                                        <p:attrNameLst>
                                          <p:attrName>ppt_x</p:attrName>
                                        </p:attrNameLst>
                                      </p:cBhvr>
                                      <p:tavLst>
                                        <p:tav tm="0">
                                          <p:val>
                                            <p:strVal val="#ppt_x"/>
                                          </p:val>
                                        </p:tav>
                                        <p:tav tm="100000">
                                          <p:val>
                                            <p:strVal val="#ppt_x"/>
                                          </p:val>
                                        </p:tav>
                                      </p:tavLst>
                                    </p:anim>
                                    <p:anim calcmode="lin" valueType="num">
                                      <p:cBhvr additive="base">
                                        <p:cTn id="13" dur="2000" fill="hold"/>
                                        <p:tgtEl>
                                          <p:spTgt spid="1116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p:bldP spid="11162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矩形 1"/>
          <p:cNvSpPr>
            <a:spLocks noChangeArrowheads="1"/>
          </p:cNvSpPr>
          <p:nvPr/>
        </p:nvSpPr>
        <p:spPr bwMode="auto">
          <a:xfrm>
            <a:off x="689708" y="3602893"/>
            <a:ext cx="10722708" cy="1114425"/>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en-US" altLang="zh-CN" sz="2215" b="1" dirty="0">
                <a:latin typeface="+mn-ea"/>
                <a:ea typeface="+mn-ea"/>
              </a:rPr>
              <a:t>2016</a:t>
            </a:r>
            <a:r>
              <a:rPr lang="zh-CN" altLang="en-US" sz="2215" b="1" dirty="0">
                <a:latin typeface="+mn-ea"/>
                <a:ea typeface="+mn-ea"/>
              </a:rPr>
              <a:t>年</a:t>
            </a:r>
            <a:r>
              <a:rPr lang="en-US" altLang="zh-CN" sz="2215" b="1" dirty="0">
                <a:latin typeface="+mn-ea"/>
                <a:ea typeface="+mn-ea"/>
              </a:rPr>
              <a:t>4</a:t>
            </a:r>
            <a:r>
              <a:rPr lang="zh-CN" altLang="en-US" sz="2215" b="1" dirty="0">
                <a:latin typeface="+mn-ea"/>
                <a:ea typeface="+mn-ea"/>
              </a:rPr>
              <a:t>月</a:t>
            </a:r>
            <a:r>
              <a:rPr lang="en-US" altLang="zh-CN" sz="2215" b="1" dirty="0">
                <a:latin typeface="+mn-ea"/>
                <a:ea typeface="+mn-ea"/>
              </a:rPr>
              <a:t>19</a:t>
            </a:r>
            <a:r>
              <a:rPr lang="zh-CN" altLang="en-US" sz="2215" b="1" dirty="0">
                <a:latin typeface="+mn-ea"/>
                <a:ea typeface="+mn-ea"/>
              </a:rPr>
              <a:t>日，习近平总书记在网络安全和信息化工作座谈会上发表重要讲话，提出要</a:t>
            </a:r>
            <a:r>
              <a:rPr lang="zh-CN" altLang="en-US" sz="2215" b="1" dirty="0">
                <a:solidFill>
                  <a:srgbClr val="FF0000"/>
                </a:solidFill>
                <a:latin typeface="+mn-ea"/>
                <a:ea typeface="+mn-ea"/>
              </a:rPr>
              <a:t>“坚持政策引导和依法管理并举”，“加快网络立法进程，完善依法监管措施，化解网络风险”</a:t>
            </a:r>
            <a:r>
              <a:rPr lang="zh-CN" altLang="en-US" sz="2215" b="1" dirty="0">
                <a:latin typeface="+mn-ea"/>
                <a:ea typeface="+mn-ea"/>
              </a:rPr>
              <a:t>。</a:t>
            </a:r>
            <a:endParaRPr lang="zh-CN" altLang="en-US" sz="2215" b="1" dirty="0">
              <a:latin typeface="+mn-ea"/>
              <a:ea typeface="+mn-ea"/>
            </a:endParaRPr>
          </a:p>
        </p:txBody>
      </p:sp>
      <p:sp>
        <p:nvSpPr>
          <p:cNvPr id="109571" name="矩形 3"/>
          <p:cNvSpPr>
            <a:spLocks noChangeArrowheads="1"/>
          </p:cNvSpPr>
          <p:nvPr/>
        </p:nvSpPr>
        <p:spPr bwMode="auto">
          <a:xfrm>
            <a:off x="689708" y="2545862"/>
            <a:ext cx="10722708" cy="773430"/>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en-US" altLang="zh-CN" sz="2215" b="1" dirty="0">
                <a:latin typeface="+mn-ea"/>
                <a:ea typeface="+mn-ea"/>
              </a:rPr>
              <a:t>2015</a:t>
            </a:r>
            <a:r>
              <a:rPr lang="zh-CN" altLang="en-US" sz="2215" b="1" dirty="0">
                <a:latin typeface="+mn-ea"/>
                <a:ea typeface="+mn-ea"/>
              </a:rPr>
              <a:t>年</a:t>
            </a:r>
            <a:r>
              <a:rPr lang="en-US" altLang="zh-CN" sz="2215" b="1" dirty="0">
                <a:latin typeface="+mn-ea"/>
                <a:ea typeface="+mn-ea"/>
              </a:rPr>
              <a:t>12</a:t>
            </a:r>
            <a:r>
              <a:rPr lang="zh-CN" altLang="en-US" sz="2215" b="1" dirty="0">
                <a:latin typeface="+mn-ea"/>
                <a:ea typeface="+mn-ea"/>
              </a:rPr>
              <a:t>月，习总书记出席第二届世界互联网大会，提出要</a:t>
            </a:r>
            <a:r>
              <a:rPr lang="zh-CN" altLang="en-US" sz="2215" b="1" dirty="0">
                <a:solidFill>
                  <a:srgbClr val="FF0000"/>
                </a:solidFill>
                <a:latin typeface="+mn-ea"/>
                <a:ea typeface="+mn-ea"/>
              </a:rPr>
              <a:t>“保障网络安全，促进有序发展”和“构建互联网治理体系，促进公平正义”</a:t>
            </a:r>
            <a:r>
              <a:rPr lang="zh-CN" altLang="en-US" sz="2215" b="1" dirty="0">
                <a:latin typeface="+mn-ea"/>
                <a:ea typeface="+mn-ea"/>
              </a:rPr>
              <a:t>。</a:t>
            </a:r>
            <a:endParaRPr lang="zh-CN" altLang="en-US" sz="2215" b="1" dirty="0">
              <a:latin typeface="+mn-ea"/>
              <a:ea typeface="+mn-ea"/>
            </a:endParaRPr>
          </a:p>
        </p:txBody>
      </p:sp>
      <p:sp>
        <p:nvSpPr>
          <p:cNvPr id="109572" name="矩形 4"/>
          <p:cNvSpPr>
            <a:spLocks noChangeArrowheads="1"/>
          </p:cNvSpPr>
          <p:nvPr/>
        </p:nvSpPr>
        <p:spPr bwMode="auto">
          <a:xfrm>
            <a:off x="689708" y="947615"/>
            <a:ext cx="10722708" cy="1455420"/>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en-US" altLang="zh-CN" sz="2215" b="1" dirty="0">
                <a:latin typeface="+mn-ea"/>
                <a:ea typeface="+mn-ea"/>
              </a:rPr>
              <a:t>2014</a:t>
            </a:r>
            <a:r>
              <a:rPr lang="zh-CN" altLang="en-US" sz="2215" b="1" dirty="0">
                <a:latin typeface="+mn-ea"/>
                <a:ea typeface="+mn-ea"/>
              </a:rPr>
              <a:t>年</a:t>
            </a:r>
            <a:r>
              <a:rPr lang="en-US" altLang="zh-CN" sz="2215" b="1" dirty="0">
                <a:latin typeface="+mn-ea"/>
                <a:ea typeface="+mn-ea"/>
              </a:rPr>
              <a:t>7</a:t>
            </a:r>
            <a:r>
              <a:rPr lang="zh-CN" altLang="en-US" sz="2215" b="1" dirty="0">
                <a:latin typeface="+mn-ea"/>
                <a:ea typeface="+mn-ea"/>
              </a:rPr>
              <a:t>月</a:t>
            </a:r>
            <a:r>
              <a:rPr lang="en-US" altLang="zh-CN" sz="2215" b="1" dirty="0">
                <a:latin typeface="+mn-ea"/>
                <a:ea typeface="+mn-ea"/>
              </a:rPr>
              <a:t>16</a:t>
            </a:r>
            <a:r>
              <a:rPr lang="zh-CN" altLang="en-US" sz="2215" b="1" dirty="0">
                <a:latin typeface="+mn-ea"/>
                <a:ea typeface="+mn-ea"/>
              </a:rPr>
              <a:t>日，习近平总书记在巴西国会做</a:t>
            </a:r>
            <a:r>
              <a:rPr lang="en-US" altLang="zh-CN" sz="2215" b="1" dirty="0">
                <a:latin typeface="+mn-ea"/>
                <a:ea typeface="+mn-ea"/>
              </a:rPr>
              <a:t>《</a:t>
            </a:r>
            <a:r>
              <a:rPr lang="zh-CN" altLang="en-US" sz="2215" b="1" dirty="0">
                <a:latin typeface="+mn-ea"/>
                <a:ea typeface="+mn-ea"/>
              </a:rPr>
              <a:t>弘扬传统友好共谱合作新篇</a:t>
            </a:r>
            <a:r>
              <a:rPr lang="en-US" altLang="zh-CN" sz="2215" b="1" dirty="0">
                <a:latin typeface="+mn-ea"/>
                <a:ea typeface="+mn-ea"/>
              </a:rPr>
              <a:t>》</a:t>
            </a:r>
            <a:r>
              <a:rPr lang="zh-CN" altLang="en-US" sz="2215" b="1" dirty="0">
                <a:latin typeface="+mn-ea"/>
                <a:ea typeface="+mn-ea"/>
              </a:rPr>
              <a:t>的演讲中强调，</a:t>
            </a:r>
            <a:r>
              <a:rPr lang="zh-CN" altLang="en-US" sz="2215" b="1" dirty="0">
                <a:solidFill>
                  <a:srgbClr val="FF0000"/>
                </a:solidFill>
                <a:latin typeface="+mn-ea"/>
                <a:ea typeface="+mn-ea"/>
              </a:rPr>
              <a:t>“国际社会要本着相互尊重和相互信任的原则，通过积极有效的国际合作，共同构建和平、安全、开放、合作的网络空间，建立多边、民主、透明的国际互联网治理体系”</a:t>
            </a:r>
            <a:r>
              <a:rPr lang="zh-CN" altLang="en-US" sz="2215" b="1" dirty="0">
                <a:latin typeface="+mn-ea"/>
                <a:ea typeface="+mn-ea"/>
              </a:rPr>
              <a:t>。</a:t>
            </a:r>
            <a:endParaRPr lang="zh-CN" altLang="en-US" sz="2215" b="1" dirty="0">
              <a:latin typeface="+mn-ea"/>
              <a:ea typeface="+mn-ea"/>
            </a:endParaRPr>
          </a:p>
        </p:txBody>
      </p:sp>
      <p:sp>
        <p:nvSpPr>
          <p:cNvPr id="109573" name="矩形 5"/>
          <p:cNvSpPr>
            <a:spLocks noChangeArrowheads="1"/>
          </p:cNvSpPr>
          <p:nvPr/>
        </p:nvSpPr>
        <p:spPr bwMode="auto">
          <a:xfrm>
            <a:off x="689708" y="4999892"/>
            <a:ext cx="10722708" cy="1797050"/>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en-US" altLang="zh-CN" sz="2215" b="1" dirty="0">
                <a:latin typeface="+mn-ea"/>
                <a:ea typeface="+mn-ea"/>
              </a:rPr>
              <a:t>2016</a:t>
            </a:r>
            <a:r>
              <a:rPr lang="zh-CN" altLang="en-US" sz="2215" b="1" dirty="0">
                <a:latin typeface="+mn-ea"/>
                <a:ea typeface="+mn-ea"/>
              </a:rPr>
              <a:t>年</a:t>
            </a:r>
            <a:r>
              <a:rPr lang="en-US" altLang="zh-CN" sz="2215" b="1" dirty="0">
                <a:latin typeface="+mn-ea"/>
                <a:ea typeface="+mn-ea"/>
              </a:rPr>
              <a:t>10</a:t>
            </a:r>
            <a:r>
              <a:rPr lang="zh-CN" altLang="en-US" sz="2215" b="1" dirty="0">
                <a:latin typeface="+mn-ea"/>
                <a:ea typeface="+mn-ea"/>
              </a:rPr>
              <a:t>月，习总书记在中共中央政治局第三十六次集体学习会议上再次强调网络空间治理的迫切性，提出</a:t>
            </a:r>
            <a:r>
              <a:rPr lang="zh-CN" altLang="en-US" sz="2215" b="1" dirty="0">
                <a:solidFill>
                  <a:srgbClr val="FF0000"/>
                </a:solidFill>
                <a:latin typeface="+mn-ea"/>
                <a:ea typeface="+mn-ea"/>
              </a:rPr>
              <a:t>“加快推进网络信息技术自主创新，加快数字经济对经济发展的推动，加快提高网络管理水平，加快增强网络空间安全防御能力，加快用网络信息技术推进社会治理，加快提升我国对网络空间的国际话语权和规则制定权，朝着建设网络强国目标不懈努力”</a:t>
            </a:r>
            <a:r>
              <a:rPr lang="zh-CN" altLang="en-US" sz="2215" b="1" dirty="0">
                <a:latin typeface="+mn-ea"/>
                <a:ea typeface="+mn-ea"/>
              </a:rPr>
              <a:t>。</a:t>
            </a:r>
            <a:endParaRPr lang="zh-CN" altLang="en-US" sz="2215" b="1" dirty="0">
              <a:latin typeface="+mn-ea"/>
              <a:ea typeface="+mn-ea"/>
            </a:endParaRPr>
          </a:p>
        </p:txBody>
      </p:sp>
      <p:sp>
        <p:nvSpPr>
          <p:cNvPr id="2" name="矩形 1"/>
          <p:cNvSpPr/>
          <p:nvPr/>
        </p:nvSpPr>
        <p:spPr>
          <a:xfrm>
            <a:off x="336062" y="169985"/>
            <a:ext cx="1943100" cy="622300"/>
          </a:xfrm>
          <a:prstGeom prst="rect">
            <a:avLst/>
          </a:prstGeom>
        </p:spPr>
        <p:txBody>
          <a:bodyPr wrap="none">
            <a:spAutoFit/>
          </a:bodyPr>
          <a:lstStyle/>
          <a:p>
            <a:pPr>
              <a:defRPr/>
            </a:pPr>
            <a:r>
              <a:rPr lang="zh-CN" altLang="en-US" sz="3445" b="1" dirty="0">
                <a:solidFill>
                  <a:srgbClr val="FF0000"/>
                </a:solidFill>
                <a:latin typeface="+mn-ea"/>
                <a:ea typeface="+mn-ea"/>
              </a:rPr>
              <a:t>重要指示</a:t>
            </a:r>
            <a:endParaRPr lang="zh-CN" altLang="en-US" sz="3445"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9572"/>
                                        </p:tgtEl>
                                        <p:attrNameLst>
                                          <p:attrName>style.visibility</p:attrName>
                                        </p:attrNameLst>
                                      </p:cBhvr>
                                      <p:to>
                                        <p:strVal val="visible"/>
                                      </p:to>
                                    </p:set>
                                    <p:anim calcmode="lin" valueType="num">
                                      <p:cBhvr additive="base">
                                        <p:cTn id="7" dur="1000" fill="hold"/>
                                        <p:tgtEl>
                                          <p:spTgt spid="109572"/>
                                        </p:tgtEl>
                                        <p:attrNameLst>
                                          <p:attrName>ppt_x</p:attrName>
                                        </p:attrNameLst>
                                      </p:cBhvr>
                                      <p:tavLst>
                                        <p:tav tm="0">
                                          <p:val>
                                            <p:strVal val="#ppt_x"/>
                                          </p:val>
                                        </p:tav>
                                        <p:tav tm="100000">
                                          <p:val>
                                            <p:strVal val="#ppt_x"/>
                                          </p:val>
                                        </p:tav>
                                      </p:tavLst>
                                    </p:anim>
                                    <p:anim calcmode="lin" valueType="num">
                                      <p:cBhvr additive="base">
                                        <p:cTn id="8" dur="1000" fill="hold"/>
                                        <p:tgtEl>
                                          <p:spTgt spid="10957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109571"/>
                                        </p:tgtEl>
                                        <p:attrNameLst>
                                          <p:attrName>style.visibility</p:attrName>
                                        </p:attrNameLst>
                                      </p:cBhvr>
                                      <p:to>
                                        <p:strVal val="visible"/>
                                      </p:to>
                                    </p:set>
                                    <p:anim calcmode="lin" valueType="num">
                                      <p:cBhvr additive="base">
                                        <p:cTn id="12" dur="1000" fill="hold"/>
                                        <p:tgtEl>
                                          <p:spTgt spid="109571"/>
                                        </p:tgtEl>
                                        <p:attrNameLst>
                                          <p:attrName>ppt_x</p:attrName>
                                        </p:attrNameLst>
                                      </p:cBhvr>
                                      <p:tavLst>
                                        <p:tav tm="0">
                                          <p:val>
                                            <p:strVal val="#ppt_x"/>
                                          </p:val>
                                        </p:tav>
                                        <p:tav tm="100000">
                                          <p:val>
                                            <p:strVal val="#ppt_x"/>
                                          </p:val>
                                        </p:tav>
                                      </p:tavLst>
                                    </p:anim>
                                    <p:anim calcmode="lin" valueType="num">
                                      <p:cBhvr additive="base">
                                        <p:cTn id="13" dur="1000" fill="hold"/>
                                        <p:tgtEl>
                                          <p:spTgt spid="109571"/>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grpId="0" nodeType="afterEffect">
                                  <p:stCondLst>
                                    <p:cond delay="0"/>
                                  </p:stCondLst>
                                  <p:childTnLst>
                                    <p:set>
                                      <p:cBhvr>
                                        <p:cTn id="16" dur="1" fill="hold">
                                          <p:stCondLst>
                                            <p:cond delay="0"/>
                                          </p:stCondLst>
                                        </p:cTn>
                                        <p:tgtEl>
                                          <p:spTgt spid="109570"/>
                                        </p:tgtEl>
                                        <p:attrNameLst>
                                          <p:attrName>style.visibility</p:attrName>
                                        </p:attrNameLst>
                                      </p:cBhvr>
                                      <p:to>
                                        <p:strVal val="visible"/>
                                      </p:to>
                                    </p:set>
                                    <p:anim calcmode="lin" valueType="num">
                                      <p:cBhvr additive="base">
                                        <p:cTn id="17" dur="1500" fill="hold"/>
                                        <p:tgtEl>
                                          <p:spTgt spid="109570"/>
                                        </p:tgtEl>
                                        <p:attrNameLst>
                                          <p:attrName>ppt_x</p:attrName>
                                        </p:attrNameLst>
                                      </p:cBhvr>
                                      <p:tavLst>
                                        <p:tav tm="0">
                                          <p:val>
                                            <p:strVal val="#ppt_x"/>
                                          </p:val>
                                        </p:tav>
                                        <p:tav tm="100000">
                                          <p:val>
                                            <p:strVal val="#ppt_x"/>
                                          </p:val>
                                        </p:tav>
                                      </p:tavLst>
                                    </p:anim>
                                    <p:anim calcmode="lin" valueType="num">
                                      <p:cBhvr additive="base">
                                        <p:cTn id="18" dur="1500" fill="hold"/>
                                        <p:tgtEl>
                                          <p:spTgt spid="109570"/>
                                        </p:tgtEl>
                                        <p:attrNameLst>
                                          <p:attrName>ppt_y</p:attrName>
                                        </p:attrNameLst>
                                      </p:cBhvr>
                                      <p:tavLst>
                                        <p:tav tm="0">
                                          <p:val>
                                            <p:strVal val="1+#ppt_h/2"/>
                                          </p:val>
                                        </p:tav>
                                        <p:tav tm="100000">
                                          <p:val>
                                            <p:strVal val="#ppt_y"/>
                                          </p:val>
                                        </p:tav>
                                      </p:tavLst>
                                    </p:anim>
                                  </p:childTnLst>
                                </p:cTn>
                              </p:par>
                            </p:childTnLst>
                          </p:cTn>
                        </p:par>
                        <p:par>
                          <p:cTn id="19" fill="hold">
                            <p:stCondLst>
                              <p:cond delay="3500"/>
                            </p:stCondLst>
                            <p:childTnLst>
                              <p:par>
                                <p:cTn id="20" presetID="2" presetClass="entr" presetSubtype="4" fill="hold" grpId="0" nodeType="afterEffect">
                                  <p:stCondLst>
                                    <p:cond delay="0"/>
                                  </p:stCondLst>
                                  <p:childTnLst>
                                    <p:set>
                                      <p:cBhvr>
                                        <p:cTn id="21" dur="1" fill="hold">
                                          <p:stCondLst>
                                            <p:cond delay="0"/>
                                          </p:stCondLst>
                                        </p:cTn>
                                        <p:tgtEl>
                                          <p:spTgt spid="109573"/>
                                        </p:tgtEl>
                                        <p:attrNameLst>
                                          <p:attrName>style.visibility</p:attrName>
                                        </p:attrNameLst>
                                      </p:cBhvr>
                                      <p:to>
                                        <p:strVal val="visible"/>
                                      </p:to>
                                    </p:set>
                                    <p:anim calcmode="lin" valueType="num">
                                      <p:cBhvr additive="base">
                                        <p:cTn id="22" dur="1500" fill="hold"/>
                                        <p:tgtEl>
                                          <p:spTgt spid="109573"/>
                                        </p:tgtEl>
                                        <p:attrNameLst>
                                          <p:attrName>ppt_x</p:attrName>
                                        </p:attrNameLst>
                                      </p:cBhvr>
                                      <p:tavLst>
                                        <p:tav tm="0">
                                          <p:val>
                                            <p:strVal val="#ppt_x"/>
                                          </p:val>
                                        </p:tav>
                                        <p:tav tm="100000">
                                          <p:val>
                                            <p:strVal val="#ppt_x"/>
                                          </p:val>
                                        </p:tav>
                                      </p:tavLst>
                                    </p:anim>
                                    <p:anim calcmode="lin" valueType="num">
                                      <p:cBhvr additive="base">
                                        <p:cTn id="23" dur="1500" fill="hold"/>
                                        <p:tgtEl>
                                          <p:spTgt spid="109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71" grpId="0"/>
      <p:bldP spid="109572" grpId="0"/>
      <p:bldP spid="10957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1"/>
          <p:cNvSpPr>
            <a:spLocks noChangeArrowheads="1"/>
          </p:cNvSpPr>
          <p:nvPr/>
        </p:nvSpPr>
        <p:spPr bwMode="auto">
          <a:xfrm>
            <a:off x="689708" y="2475523"/>
            <a:ext cx="10724661" cy="773430"/>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en-US" altLang="zh-CN" sz="2215" b="1" dirty="0">
                <a:latin typeface="+mn-ea"/>
                <a:ea typeface="+mn-ea"/>
              </a:rPr>
              <a:t>《</a:t>
            </a:r>
            <a:r>
              <a:rPr lang="zh-CN" altLang="en-US" sz="2215" b="1" dirty="0">
                <a:latin typeface="+mn-ea"/>
                <a:ea typeface="+mn-ea"/>
              </a:rPr>
              <a:t>网络安全法</a:t>
            </a:r>
            <a:r>
              <a:rPr lang="en-US" altLang="zh-CN" sz="2215" b="1" dirty="0">
                <a:latin typeface="+mn-ea"/>
                <a:ea typeface="+mn-ea"/>
              </a:rPr>
              <a:t>》</a:t>
            </a:r>
            <a:r>
              <a:rPr lang="zh-CN" altLang="en-US" sz="2215" b="1" dirty="0">
                <a:latin typeface="+mn-ea"/>
                <a:ea typeface="+mn-ea"/>
              </a:rPr>
              <a:t>第二条和第二十条规定</a:t>
            </a:r>
            <a:r>
              <a:rPr lang="zh-CN" altLang="en-US" sz="2215" b="1" dirty="0">
                <a:solidFill>
                  <a:srgbClr val="FF0000"/>
                </a:solidFill>
                <a:latin typeface="+mn-ea"/>
                <a:ea typeface="+mn-ea"/>
              </a:rPr>
              <a:t>“国家支持培养网络安全人才；采取多种方式培养网络安全人才，促进网络安全人才交流”。</a:t>
            </a:r>
            <a:endParaRPr lang="zh-CN" altLang="en-US" sz="2215" b="1" dirty="0">
              <a:solidFill>
                <a:srgbClr val="FF0000"/>
              </a:solidFill>
              <a:latin typeface="+mn-ea"/>
              <a:ea typeface="+mn-ea"/>
            </a:endParaRPr>
          </a:p>
        </p:txBody>
      </p:sp>
      <p:sp>
        <p:nvSpPr>
          <p:cNvPr id="110595" name="矩形 2"/>
          <p:cNvSpPr>
            <a:spLocks noChangeArrowheads="1"/>
          </p:cNvSpPr>
          <p:nvPr/>
        </p:nvSpPr>
        <p:spPr bwMode="auto">
          <a:xfrm>
            <a:off x="689708" y="1076569"/>
            <a:ext cx="10724661" cy="773430"/>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zh-CN" altLang="en-US" sz="2215" b="1" dirty="0">
                <a:latin typeface="+mn-ea"/>
                <a:ea typeface="+mn-ea"/>
              </a:rPr>
              <a:t>习总书记提出</a:t>
            </a:r>
            <a:r>
              <a:rPr lang="zh-CN" altLang="en-US" sz="2215" b="1" dirty="0">
                <a:solidFill>
                  <a:srgbClr val="FF0000"/>
                </a:solidFill>
                <a:latin typeface="+mn-ea"/>
                <a:ea typeface="+mn-ea"/>
              </a:rPr>
              <a:t>“网信领域可以先行先试，抓紧调研，制定吸引人才、培养人才、留住人才的办法”</a:t>
            </a:r>
            <a:endParaRPr lang="zh-CN" altLang="en-US" sz="2215" b="1" dirty="0">
              <a:solidFill>
                <a:srgbClr val="FF0000"/>
              </a:solidFill>
              <a:latin typeface="+mn-ea"/>
              <a:ea typeface="+mn-ea"/>
            </a:endParaRPr>
          </a:p>
        </p:txBody>
      </p:sp>
      <p:sp>
        <p:nvSpPr>
          <p:cNvPr id="110596" name="矩形 3"/>
          <p:cNvSpPr>
            <a:spLocks noChangeArrowheads="1"/>
          </p:cNvSpPr>
          <p:nvPr/>
        </p:nvSpPr>
        <p:spPr bwMode="auto">
          <a:xfrm>
            <a:off x="867508" y="4050323"/>
            <a:ext cx="10546862" cy="1114425"/>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defRPr/>
            </a:pPr>
            <a:r>
              <a:rPr lang="en-US" altLang="zh-CN" sz="2215" b="1" dirty="0">
                <a:latin typeface="+mn-ea"/>
                <a:ea typeface="+mn-ea"/>
              </a:rPr>
              <a:t>2016</a:t>
            </a:r>
            <a:r>
              <a:rPr lang="zh-CN" altLang="en-US" sz="2215" b="1" dirty="0">
                <a:latin typeface="+mn-ea"/>
                <a:ea typeface="+mn-ea"/>
              </a:rPr>
              <a:t>年</a:t>
            </a:r>
            <a:r>
              <a:rPr lang="en-US" altLang="zh-CN" sz="2215" b="1" dirty="0">
                <a:latin typeface="+mn-ea"/>
                <a:ea typeface="+mn-ea"/>
              </a:rPr>
              <a:t>6</a:t>
            </a:r>
            <a:r>
              <a:rPr lang="zh-CN" altLang="en-US" sz="2215" b="1" dirty="0">
                <a:latin typeface="+mn-ea"/>
                <a:ea typeface="+mn-ea"/>
              </a:rPr>
              <a:t>月，发改委、教育部等六部门联合印发</a:t>
            </a:r>
            <a:r>
              <a:rPr lang="en-US" altLang="zh-CN" sz="2215" b="1" dirty="0">
                <a:solidFill>
                  <a:srgbClr val="FF0000"/>
                </a:solidFill>
                <a:latin typeface="+mn-ea"/>
                <a:ea typeface="+mn-ea"/>
              </a:rPr>
              <a:t>《</a:t>
            </a:r>
            <a:r>
              <a:rPr lang="zh-CN" altLang="en-US" sz="2215" b="1" dirty="0">
                <a:solidFill>
                  <a:srgbClr val="FF0000"/>
                </a:solidFill>
                <a:latin typeface="+mn-ea"/>
                <a:ea typeface="+mn-ea"/>
              </a:rPr>
              <a:t>关于加强网络安全学科建设和人才培养的意见</a:t>
            </a:r>
            <a:r>
              <a:rPr lang="en-US" altLang="zh-CN" sz="2215" b="1" dirty="0">
                <a:solidFill>
                  <a:srgbClr val="FF0000"/>
                </a:solidFill>
                <a:latin typeface="+mn-ea"/>
                <a:ea typeface="+mn-ea"/>
              </a:rPr>
              <a:t>》</a:t>
            </a:r>
            <a:r>
              <a:rPr lang="zh-CN" altLang="en-US" sz="2215" b="1" dirty="0">
                <a:latin typeface="+mn-ea"/>
                <a:ea typeface="+mn-ea"/>
              </a:rPr>
              <a:t>，积极响应习总书记的号召和</a:t>
            </a:r>
            <a:r>
              <a:rPr lang="en-US" altLang="zh-CN" sz="2215" b="1" dirty="0">
                <a:latin typeface="+mn-ea"/>
                <a:ea typeface="+mn-ea"/>
              </a:rPr>
              <a:t>《</a:t>
            </a:r>
            <a:r>
              <a:rPr lang="zh-CN" altLang="en-US" sz="2215" b="1" dirty="0">
                <a:latin typeface="+mn-ea"/>
                <a:ea typeface="+mn-ea"/>
              </a:rPr>
              <a:t>网络安全法</a:t>
            </a:r>
            <a:r>
              <a:rPr lang="en-US" altLang="zh-CN" sz="2215" b="1" dirty="0">
                <a:latin typeface="+mn-ea"/>
                <a:ea typeface="+mn-ea"/>
              </a:rPr>
              <a:t>》</a:t>
            </a:r>
            <a:r>
              <a:rPr lang="zh-CN" altLang="en-US" sz="2215" b="1" dirty="0">
                <a:latin typeface="+mn-ea"/>
                <a:ea typeface="+mn-ea"/>
              </a:rPr>
              <a:t>的规定，要求加快网络安全学科专业和院系建设，创新网络安全人才培养机制并完善配套措施。</a:t>
            </a:r>
            <a:endParaRPr lang="zh-CN" altLang="en-US" sz="2215" b="1" dirty="0">
              <a:latin typeface="+mn-ea"/>
              <a:ea typeface="+mn-ea"/>
            </a:endParaRPr>
          </a:p>
        </p:txBody>
      </p:sp>
      <p:sp>
        <p:nvSpPr>
          <p:cNvPr id="5" name="矩形 4"/>
          <p:cNvSpPr/>
          <p:nvPr/>
        </p:nvSpPr>
        <p:spPr>
          <a:xfrm>
            <a:off x="336062" y="169985"/>
            <a:ext cx="2823210" cy="622300"/>
          </a:xfrm>
          <a:prstGeom prst="rect">
            <a:avLst/>
          </a:prstGeom>
        </p:spPr>
        <p:txBody>
          <a:bodyPr wrap="none">
            <a:spAutoFit/>
          </a:bodyPr>
          <a:lstStyle/>
          <a:p>
            <a:pPr>
              <a:defRPr/>
            </a:pPr>
            <a:r>
              <a:rPr lang="zh-CN" altLang="en-US" sz="3445" b="1" dirty="0">
                <a:solidFill>
                  <a:srgbClr val="FF0000"/>
                </a:solidFill>
                <a:latin typeface="+mn-ea"/>
                <a:ea typeface="+mn-ea"/>
              </a:rPr>
              <a:t>网安人才培养</a:t>
            </a:r>
            <a:endParaRPr lang="zh-CN" altLang="en-US" sz="3445"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0595"/>
                                        </p:tgtEl>
                                        <p:attrNameLst>
                                          <p:attrName>style.visibility</p:attrName>
                                        </p:attrNameLst>
                                      </p:cBhvr>
                                      <p:to>
                                        <p:strVal val="visible"/>
                                      </p:to>
                                    </p:set>
                                    <p:anim calcmode="lin" valueType="num">
                                      <p:cBhvr additive="base">
                                        <p:cTn id="7" dur="500" fill="hold"/>
                                        <p:tgtEl>
                                          <p:spTgt spid="110595"/>
                                        </p:tgtEl>
                                        <p:attrNameLst>
                                          <p:attrName>ppt_x</p:attrName>
                                        </p:attrNameLst>
                                      </p:cBhvr>
                                      <p:tavLst>
                                        <p:tav tm="0">
                                          <p:val>
                                            <p:strVal val="#ppt_x"/>
                                          </p:val>
                                        </p:tav>
                                        <p:tav tm="100000">
                                          <p:val>
                                            <p:strVal val="#ppt_x"/>
                                          </p:val>
                                        </p:tav>
                                      </p:tavLst>
                                    </p:anim>
                                    <p:anim calcmode="lin" valueType="num">
                                      <p:cBhvr additive="base">
                                        <p:cTn id="8" dur="500" fill="hold"/>
                                        <p:tgtEl>
                                          <p:spTgt spid="11059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10594"/>
                                        </p:tgtEl>
                                        <p:attrNameLst>
                                          <p:attrName>style.visibility</p:attrName>
                                        </p:attrNameLst>
                                      </p:cBhvr>
                                      <p:to>
                                        <p:strVal val="visible"/>
                                      </p:to>
                                    </p:set>
                                    <p:anim calcmode="lin" valueType="num">
                                      <p:cBhvr additive="base">
                                        <p:cTn id="12" dur="1000" fill="hold"/>
                                        <p:tgtEl>
                                          <p:spTgt spid="110594"/>
                                        </p:tgtEl>
                                        <p:attrNameLst>
                                          <p:attrName>ppt_x</p:attrName>
                                        </p:attrNameLst>
                                      </p:cBhvr>
                                      <p:tavLst>
                                        <p:tav tm="0">
                                          <p:val>
                                            <p:strVal val="#ppt_x"/>
                                          </p:val>
                                        </p:tav>
                                        <p:tav tm="100000">
                                          <p:val>
                                            <p:strVal val="#ppt_x"/>
                                          </p:val>
                                        </p:tav>
                                      </p:tavLst>
                                    </p:anim>
                                    <p:anim calcmode="lin" valueType="num">
                                      <p:cBhvr additive="base">
                                        <p:cTn id="13" dur="1000" fill="hold"/>
                                        <p:tgtEl>
                                          <p:spTgt spid="110594"/>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grpId="0" nodeType="afterEffect">
                                  <p:stCondLst>
                                    <p:cond delay="0"/>
                                  </p:stCondLst>
                                  <p:childTnLst>
                                    <p:set>
                                      <p:cBhvr>
                                        <p:cTn id="16" dur="1" fill="hold">
                                          <p:stCondLst>
                                            <p:cond delay="0"/>
                                          </p:stCondLst>
                                        </p:cTn>
                                        <p:tgtEl>
                                          <p:spTgt spid="110596"/>
                                        </p:tgtEl>
                                        <p:attrNameLst>
                                          <p:attrName>style.visibility</p:attrName>
                                        </p:attrNameLst>
                                      </p:cBhvr>
                                      <p:to>
                                        <p:strVal val="visible"/>
                                      </p:to>
                                    </p:set>
                                    <p:anim calcmode="lin" valueType="num">
                                      <p:cBhvr additive="base">
                                        <p:cTn id="17" dur="1000" fill="hold"/>
                                        <p:tgtEl>
                                          <p:spTgt spid="110596"/>
                                        </p:tgtEl>
                                        <p:attrNameLst>
                                          <p:attrName>ppt_x</p:attrName>
                                        </p:attrNameLst>
                                      </p:cBhvr>
                                      <p:tavLst>
                                        <p:tav tm="0">
                                          <p:val>
                                            <p:strVal val="#ppt_x"/>
                                          </p:val>
                                        </p:tav>
                                        <p:tav tm="100000">
                                          <p:val>
                                            <p:strVal val="#ppt_x"/>
                                          </p:val>
                                        </p:tav>
                                      </p:tavLst>
                                    </p:anim>
                                    <p:anim calcmode="lin" valueType="num">
                                      <p:cBhvr additive="base">
                                        <p:cTn id="18" dur="1000" fill="hold"/>
                                        <p:tgtEl>
                                          <p:spTgt spid="1105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p:bldP spid="110595" grpId="0"/>
      <p:bldP spid="11059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1"/>
          <p:cNvSpPr>
            <a:spLocks noChangeArrowheads="1"/>
          </p:cNvSpPr>
          <p:nvPr/>
        </p:nvSpPr>
        <p:spPr bwMode="auto">
          <a:xfrm>
            <a:off x="689708" y="185615"/>
            <a:ext cx="10456985" cy="887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t>在</a:t>
            </a:r>
            <a:r>
              <a:rPr lang="zh-CN" altLang="en-US" sz="2955" b="1">
                <a:solidFill>
                  <a:srgbClr val="0000FF"/>
                </a:solidFill>
              </a:rPr>
              <a:t>党的十九大报告</a:t>
            </a:r>
            <a:r>
              <a:rPr lang="zh-CN" altLang="en-US" sz="2215" b="1"/>
              <a:t>中，对于如何全面建设和应用互联网做出了深具前瞻性的重要部署。主要体现在以下几个方面：</a:t>
            </a:r>
            <a:endParaRPr lang="zh-CN" altLang="en-US" sz="2215" b="1"/>
          </a:p>
        </p:txBody>
      </p:sp>
      <p:sp>
        <p:nvSpPr>
          <p:cNvPr id="111619" name="矩形 2"/>
          <p:cNvSpPr>
            <a:spLocks noChangeArrowheads="1"/>
          </p:cNvSpPr>
          <p:nvPr/>
        </p:nvSpPr>
        <p:spPr bwMode="auto">
          <a:xfrm>
            <a:off x="777631" y="1301262"/>
            <a:ext cx="363220" cy="10668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00" b="1" dirty="0">
                <a:solidFill>
                  <a:srgbClr val="FF0000"/>
                </a:solidFill>
                <a:latin typeface="+mn-ea"/>
                <a:ea typeface="+mn-ea"/>
              </a:rPr>
              <a:t>1</a:t>
            </a:r>
            <a:r>
              <a:rPr lang="zh-CN" altLang="en-US" sz="100" b="1" dirty="0">
                <a:solidFill>
                  <a:srgbClr val="FF0000"/>
                </a:solidFill>
                <a:latin typeface="+mn-ea"/>
                <a:ea typeface="+mn-ea"/>
              </a:rPr>
              <a:t>、以建设网络强国为基本目标</a:t>
            </a:r>
            <a:endParaRPr lang="zh-CN" altLang="en-US" sz="100" dirty="0">
              <a:solidFill>
                <a:srgbClr val="FF0000"/>
              </a:solidFill>
              <a:latin typeface="+mn-ea"/>
              <a:ea typeface="+mn-ea"/>
            </a:endParaRPr>
          </a:p>
        </p:txBody>
      </p:sp>
      <p:sp>
        <p:nvSpPr>
          <p:cNvPr id="114692" name="矩形 3"/>
          <p:cNvSpPr>
            <a:spLocks noChangeArrowheads="1"/>
          </p:cNvSpPr>
          <p:nvPr/>
        </p:nvSpPr>
        <p:spPr bwMode="auto">
          <a:xfrm>
            <a:off x="877278" y="2016370"/>
            <a:ext cx="1062501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latin typeface="宋体" panose="02010600030101010101" pitchFamily="2" charset="-122"/>
                <a:ea typeface="宋体" panose="02010600030101010101" pitchFamily="2" charset="-122"/>
              </a:rPr>
              <a:t>习近平总书记又将网络强国作为创新型国家的基本内涵之一。可以展望，网络强国的建设，将全面推动我国作为现代化强国的基础设施建设，为全面建设有中国特色的社会主义强国奠定基础。</a:t>
            </a:r>
            <a:endParaRPr lang="zh-CN" altLang="en-US" sz="2215" b="1">
              <a:latin typeface="宋体" panose="02010600030101010101" pitchFamily="2" charset="-122"/>
              <a:ea typeface="宋体" panose="02010600030101010101" pitchFamily="2" charset="-122"/>
            </a:endParaRPr>
          </a:p>
        </p:txBody>
      </p:sp>
      <p:sp>
        <p:nvSpPr>
          <p:cNvPr id="111621" name="矩形 4"/>
          <p:cNvSpPr>
            <a:spLocks noChangeArrowheads="1"/>
          </p:cNvSpPr>
          <p:nvPr/>
        </p:nvSpPr>
        <p:spPr bwMode="auto">
          <a:xfrm>
            <a:off x="719015" y="3530600"/>
            <a:ext cx="10961077" cy="10668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00" b="1" dirty="0">
                <a:solidFill>
                  <a:srgbClr val="FF0000"/>
                </a:solidFill>
                <a:latin typeface="+mn-ea"/>
                <a:ea typeface="+mn-ea"/>
              </a:rPr>
              <a:t>2</a:t>
            </a:r>
            <a:r>
              <a:rPr lang="zh-CN" altLang="en-US" sz="100" b="1" dirty="0">
                <a:solidFill>
                  <a:srgbClr val="FF0000"/>
                </a:solidFill>
                <a:latin typeface="+mn-ea"/>
                <a:ea typeface="+mn-ea"/>
              </a:rPr>
              <a:t>、以互联网等新兴技术与实体经济的深度融合为建设现代化经济体系的重要路径</a:t>
            </a:r>
            <a:endParaRPr lang="zh-CN" altLang="en-US" sz="100" dirty="0">
              <a:solidFill>
                <a:srgbClr val="FF0000"/>
              </a:solidFill>
              <a:latin typeface="+mn-ea"/>
              <a:ea typeface="+mn-ea"/>
            </a:endParaRPr>
          </a:p>
        </p:txBody>
      </p:sp>
      <p:sp>
        <p:nvSpPr>
          <p:cNvPr id="114694" name="矩形 5"/>
          <p:cNvSpPr>
            <a:spLocks noChangeArrowheads="1"/>
          </p:cNvSpPr>
          <p:nvPr/>
        </p:nvSpPr>
        <p:spPr bwMode="auto">
          <a:xfrm>
            <a:off x="844062" y="4398108"/>
            <a:ext cx="10302631"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latin typeface="宋体" panose="02010600030101010101" pitchFamily="2" charset="-122"/>
                <a:ea typeface="宋体" panose="02010600030101010101" pitchFamily="2" charset="-122"/>
              </a:rPr>
              <a:t>习近平总书记在报告中指出，“建设现代化经济体系，必须把发展经济的着力点放在实体经济上，把提高供给体系质量作为主攻方向，显著增强我国经济质量优势。加快建设制造强国，加快发展先进制造业，推动互联网、大数据、人工智能和实体经济深度融合，在中高端消费、创新引领、绿色低碳、共享经济、现代供应链、人力资本服务等领域培育新增长点、形成新动能。”</a:t>
            </a:r>
            <a:endParaRPr lang="zh-CN" altLang="en-US" sz="2215" b="1">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1619"/>
                                        </p:tgtEl>
                                        <p:attrNameLst>
                                          <p:attrName>style.visibility</p:attrName>
                                        </p:attrNameLst>
                                      </p:cBhvr>
                                      <p:to>
                                        <p:strVal val="visible"/>
                                      </p:to>
                                    </p:set>
                                    <p:anim calcmode="lin" valueType="num">
                                      <p:cBhvr additive="base">
                                        <p:cTn id="7" dur="1000" fill="hold"/>
                                        <p:tgtEl>
                                          <p:spTgt spid="111619"/>
                                        </p:tgtEl>
                                        <p:attrNameLst>
                                          <p:attrName>ppt_x</p:attrName>
                                        </p:attrNameLst>
                                      </p:cBhvr>
                                      <p:tavLst>
                                        <p:tav tm="0">
                                          <p:val>
                                            <p:strVal val="#ppt_x"/>
                                          </p:val>
                                        </p:tav>
                                        <p:tav tm="100000">
                                          <p:val>
                                            <p:strVal val="#ppt_x"/>
                                          </p:val>
                                        </p:tav>
                                      </p:tavLst>
                                    </p:anim>
                                    <p:anim calcmode="lin" valueType="num">
                                      <p:cBhvr additive="base">
                                        <p:cTn id="8" dur="1000" fill="hold"/>
                                        <p:tgtEl>
                                          <p:spTgt spid="111619"/>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114692"/>
                                        </p:tgtEl>
                                        <p:attrNameLst>
                                          <p:attrName>style.visibility</p:attrName>
                                        </p:attrNameLst>
                                      </p:cBhvr>
                                      <p:to>
                                        <p:strVal val="visible"/>
                                      </p:to>
                                    </p:set>
                                    <p:anim calcmode="lin" valueType="num">
                                      <p:cBhvr additive="base">
                                        <p:cTn id="12" dur="1000" fill="hold"/>
                                        <p:tgtEl>
                                          <p:spTgt spid="114692"/>
                                        </p:tgtEl>
                                        <p:attrNameLst>
                                          <p:attrName>ppt_x</p:attrName>
                                        </p:attrNameLst>
                                      </p:cBhvr>
                                      <p:tavLst>
                                        <p:tav tm="0">
                                          <p:val>
                                            <p:strVal val="#ppt_x"/>
                                          </p:val>
                                        </p:tav>
                                        <p:tav tm="100000">
                                          <p:val>
                                            <p:strVal val="#ppt_x"/>
                                          </p:val>
                                        </p:tav>
                                      </p:tavLst>
                                    </p:anim>
                                    <p:anim calcmode="lin" valueType="num">
                                      <p:cBhvr additive="base">
                                        <p:cTn id="13" dur="1000" fill="hold"/>
                                        <p:tgtEl>
                                          <p:spTgt spid="114692"/>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grpId="0" nodeType="afterEffect">
                                  <p:stCondLst>
                                    <p:cond delay="0"/>
                                  </p:stCondLst>
                                  <p:childTnLst>
                                    <p:set>
                                      <p:cBhvr>
                                        <p:cTn id="16" dur="1" fill="hold">
                                          <p:stCondLst>
                                            <p:cond delay="0"/>
                                          </p:stCondLst>
                                        </p:cTn>
                                        <p:tgtEl>
                                          <p:spTgt spid="111621"/>
                                        </p:tgtEl>
                                        <p:attrNameLst>
                                          <p:attrName>style.visibility</p:attrName>
                                        </p:attrNameLst>
                                      </p:cBhvr>
                                      <p:to>
                                        <p:strVal val="visible"/>
                                      </p:to>
                                    </p:set>
                                    <p:anim calcmode="lin" valueType="num">
                                      <p:cBhvr additive="base">
                                        <p:cTn id="17" dur="1000" fill="hold"/>
                                        <p:tgtEl>
                                          <p:spTgt spid="111621"/>
                                        </p:tgtEl>
                                        <p:attrNameLst>
                                          <p:attrName>ppt_x</p:attrName>
                                        </p:attrNameLst>
                                      </p:cBhvr>
                                      <p:tavLst>
                                        <p:tav tm="0">
                                          <p:val>
                                            <p:strVal val="#ppt_x"/>
                                          </p:val>
                                        </p:tav>
                                        <p:tav tm="100000">
                                          <p:val>
                                            <p:strVal val="#ppt_x"/>
                                          </p:val>
                                        </p:tav>
                                      </p:tavLst>
                                    </p:anim>
                                    <p:anim calcmode="lin" valueType="num">
                                      <p:cBhvr additive="base">
                                        <p:cTn id="18" dur="1000" fill="hold"/>
                                        <p:tgtEl>
                                          <p:spTgt spid="111621"/>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grpId="0" nodeType="afterEffect">
                                  <p:stCondLst>
                                    <p:cond delay="0"/>
                                  </p:stCondLst>
                                  <p:childTnLst>
                                    <p:set>
                                      <p:cBhvr>
                                        <p:cTn id="21" dur="1" fill="hold">
                                          <p:stCondLst>
                                            <p:cond delay="0"/>
                                          </p:stCondLst>
                                        </p:cTn>
                                        <p:tgtEl>
                                          <p:spTgt spid="114694"/>
                                        </p:tgtEl>
                                        <p:attrNameLst>
                                          <p:attrName>style.visibility</p:attrName>
                                        </p:attrNameLst>
                                      </p:cBhvr>
                                      <p:to>
                                        <p:strVal val="visible"/>
                                      </p:to>
                                    </p:set>
                                    <p:anim calcmode="lin" valueType="num">
                                      <p:cBhvr additive="base">
                                        <p:cTn id="22" dur="1000" fill="hold"/>
                                        <p:tgtEl>
                                          <p:spTgt spid="114694"/>
                                        </p:tgtEl>
                                        <p:attrNameLst>
                                          <p:attrName>ppt_x</p:attrName>
                                        </p:attrNameLst>
                                      </p:cBhvr>
                                      <p:tavLst>
                                        <p:tav tm="0">
                                          <p:val>
                                            <p:strVal val="#ppt_x"/>
                                          </p:val>
                                        </p:tav>
                                        <p:tav tm="100000">
                                          <p:val>
                                            <p:strVal val="#ppt_x"/>
                                          </p:val>
                                        </p:tav>
                                      </p:tavLst>
                                    </p:anim>
                                    <p:anim calcmode="lin" valueType="num">
                                      <p:cBhvr additive="base">
                                        <p:cTn id="23" dur="1000" fill="hold"/>
                                        <p:tgtEl>
                                          <p:spTgt spid="1146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p:bldP spid="114692" grpId="0"/>
      <p:bldP spid="111621" grpId="0"/>
      <p:bldP spid="11469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矩形 1"/>
          <p:cNvSpPr>
            <a:spLocks noChangeArrowheads="1"/>
          </p:cNvSpPr>
          <p:nvPr/>
        </p:nvSpPr>
        <p:spPr bwMode="auto">
          <a:xfrm>
            <a:off x="1045308" y="326292"/>
            <a:ext cx="10369061" cy="10668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00" b="1" dirty="0">
                <a:solidFill>
                  <a:srgbClr val="FF0000"/>
                </a:solidFill>
                <a:latin typeface="+mn-ea"/>
                <a:ea typeface="+mn-ea"/>
              </a:rPr>
              <a:t>3</a:t>
            </a:r>
            <a:r>
              <a:rPr lang="zh-CN" altLang="en-US" sz="100" b="1" dirty="0">
                <a:solidFill>
                  <a:srgbClr val="FF0000"/>
                </a:solidFill>
                <a:latin typeface="+mn-ea"/>
                <a:ea typeface="+mn-ea"/>
              </a:rPr>
              <a:t>、以加强互联网内容建设，建立网络综合治理体系，营造清朗的网络空间来推动社会主义文化繁荣兴盛</a:t>
            </a:r>
            <a:endParaRPr lang="zh-CN" altLang="en-US" sz="100" dirty="0">
              <a:solidFill>
                <a:srgbClr val="FF0000"/>
              </a:solidFill>
              <a:latin typeface="+mn-ea"/>
              <a:ea typeface="+mn-ea"/>
            </a:endParaRPr>
          </a:p>
        </p:txBody>
      </p:sp>
      <p:sp>
        <p:nvSpPr>
          <p:cNvPr id="115715" name="矩形 2"/>
          <p:cNvSpPr>
            <a:spLocks noChangeArrowheads="1"/>
          </p:cNvSpPr>
          <p:nvPr/>
        </p:nvSpPr>
        <p:spPr bwMode="auto">
          <a:xfrm>
            <a:off x="955431" y="1479062"/>
            <a:ext cx="10458938"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latin typeface="Arial" panose="020B0604020202020204" pitchFamily="34" charset="0"/>
                <a:ea typeface="宋体" panose="02010600030101010101" pitchFamily="2" charset="-122"/>
              </a:rPr>
              <a:t>“如果我们党过不了互联网和新兴媒体这一关，可能就过不了长期执政这一关”，并率先提出要推进传统媒体与新兴媒体的融合发展，以使主流媒体牢牢掌握网络空间的话语权，巩固网络舆论阵地，牢牢把握意识形态工作领导权。</a:t>
            </a:r>
            <a:endParaRPr lang="zh-CN" altLang="en-US" sz="2215" b="1">
              <a:latin typeface="Arial" panose="020B0604020202020204" pitchFamily="34" charset="0"/>
              <a:ea typeface="宋体" panose="02010600030101010101" pitchFamily="2" charset="-122"/>
            </a:endParaRPr>
          </a:p>
        </p:txBody>
      </p:sp>
      <p:sp>
        <p:nvSpPr>
          <p:cNvPr id="112644" name="矩形 3"/>
          <p:cNvSpPr>
            <a:spLocks noChangeArrowheads="1"/>
          </p:cNvSpPr>
          <p:nvPr/>
        </p:nvSpPr>
        <p:spPr bwMode="auto">
          <a:xfrm>
            <a:off x="1045308" y="3339123"/>
            <a:ext cx="7620000" cy="10668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00" b="1" dirty="0">
                <a:solidFill>
                  <a:srgbClr val="FF0000"/>
                </a:solidFill>
                <a:latin typeface="+mn-ea"/>
                <a:ea typeface="+mn-ea"/>
              </a:rPr>
              <a:t>4</a:t>
            </a:r>
            <a:r>
              <a:rPr lang="zh-CN" altLang="en-US" sz="100" b="1" dirty="0">
                <a:solidFill>
                  <a:srgbClr val="FF0000"/>
                </a:solidFill>
                <a:latin typeface="+mn-ea"/>
                <a:ea typeface="+mn-ea"/>
              </a:rPr>
              <a:t>、借助网络、平台、智能化推进社会建设</a:t>
            </a:r>
            <a:endParaRPr lang="zh-CN" altLang="en-US" sz="100" dirty="0">
              <a:solidFill>
                <a:srgbClr val="FF0000"/>
              </a:solidFill>
              <a:latin typeface="+mn-ea"/>
              <a:ea typeface="+mn-ea"/>
            </a:endParaRPr>
          </a:p>
        </p:txBody>
      </p:sp>
      <p:sp>
        <p:nvSpPr>
          <p:cNvPr id="115717" name="矩形 4"/>
          <p:cNvSpPr>
            <a:spLocks noChangeArrowheads="1"/>
          </p:cNvSpPr>
          <p:nvPr/>
        </p:nvSpPr>
        <p:spPr bwMode="auto">
          <a:xfrm>
            <a:off x="1221154" y="4134339"/>
            <a:ext cx="10193215" cy="2138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latin typeface="Arial" panose="020B0604020202020204" pitchFamily="34" charset="0"/>
                <a:ea typeface="宋体" panose="02010600030101010101" pitchFamily="2" charset="-122"/>
              </a:rPr>
              <a:t>习近平总书记对于互联网及其相关技术在“提高保障和改善民生水平，加强和创新社会治理”中的应用也给予了高度关注，他在报告中表示，要“高度重视农村义务教育，办好学前教育、特殊教育和网络教育，普及高中阶段教育，努力让每个孩子都能享有公平而有质量的教育”。在社会保障体系建设方面，他要求“建立全国统一的社会保险公共服务平台”。他还要求，提高社会治理社会化、法治化、智能化、专业化水平，打造共建共治共享的社会治理格局。</a:t>
            </a:r>
            <a:endParaRPr lang="zh-CN" altLang="en-US" sz="2215" b="1">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2642"/>
                                        </p:tgtEl>
                                        <p:attrNameLst>
                                          <p:attrName>style.visibility</p:attrName>
                                        </p:attrNameLst>
                                      </p:cBhvr>
                                      <p:to>
                                        <p:strVal val="visible"/>
                                      </p:to>
                                    </p:set>
                                    <p:anim calcmode="lin" valueType="num">
                                      <p:cBhvr additive="base">
                                        <p:cTn id="7" dur="1000" fill="hold"/>
                                        <p:tgtEl>
                                          <p:spTgt spid="112642"/>
                                        </p:tgtEl>
                                        <p:attrNameLst>
                                          <p:attrName>ppt_x</p:attrName>
                                        </p:attrNameLst>
                                      </p:cBhvr>
                                      <p:tavLst>
                                        <p:tav tm="0">
                                          <p:val>
                                            <p:strVal val="#ppt_x"/>
                                          </p:val>
                                        </p:tav>
                                        <p:tav tm="100000">
                                          <p:val>
                                            <p:strVal val="#ppt_x"/>
                                          </p:val>
                                        </p:tav>
                                      </p:tavLst>
                                    </p:anim>
                                    <p:anim calcmode="lin" valueType="num">
                                      <p:cBhvr additive="base">
                                        <p:cTn id="8" dur="1000" fill="hold"/>
                                        <p:tgtEl>
                                          <p:spTgt spid="11264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115715"/>
                                        </p:tgtEl>
                                        <p:attrNameLst>
                                          <p:attrName>style.visibility</p:attrName>
                                        </p:attrNameLst>
                                      </p:cBhvr>
                                      <p:to>
                                        <p:strVal val="visible"/>
                                      </p:to>
                                    </p:set>
                                    <p:anim calcmode="lin" valueType="num">
                                      <p:cBhvr additive="base">
                                        <p:cTn id="12" dur="1000" fill="hold"/>
                                        <p:tgtEl>
                                          <p:spTgt spid="115715"/>
                                        </p:tgtEl>
                                        <p:attrNameLst>
                                          <p:attrName>ppt_x</p:attrName>
                                        </p:attrNameLst>
                                      </p:cBhvr>
                                      <p:tavLst>
                                        <p:tav tm="0">
                                          <p:val>
                                            <p:strVal val="#ppt_x"/>
                                          </p:val>
                                        </p:tav>
                                        <p:tav tm="100000">
                                          <p:val>
                                            <p:strVal val="#ppt_x"/>
                                          </p:val>
                                        </p:tav>
                                      </p:tavLst>
                                    </p:anim>
                                    <p:anim calcmode="lin" valueType="num">
                                      <p:cBhvr additive="base">
                                        <p:cTn id="13" dur="1000" fill="hold"/>
                                        <p:tgtEl>
                                          <p:spTgt spid="11571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grpId="0" nodeType="afterEffect">
                                  <p:stCondLst>
                                    <p:cond delay="0"/>
                                  </p:stCondLst>
                                  <p:childTnLst>
                                    <p:set>
                                      <p:cBhvr>
                                        <p:cTn id="16" dur="1" fill="hold">
                                          <p:stCondLst>
                                            <p:cond delay="0"/>
                                          </p:stCondLst>
                                        </p:cTn>
                                        <p:tgtEl>
                                          <p:spTgt spid="112644"/>
                                        </p:tgtEl>
                                        <p:attrNameLst>
                                          <p:attrName>style.visibility</p:attrName>
                                        </p:attrNameLst>
                                      </p:cBhvr>
                                      <p:to>
                                        <p:strVal val="visible"/>
                                      </p:to>
                                    </p:set>
                                    <p:anim calcmode="lin" valueType="num">
                                      <p:cBhvr additive="base">
                                        <p:cTn id="17" dur="1000" fill="hold"/>
                                        <p:tgtEl>
                                          <p:spTgt spid="112644"/>
                                        </p:tgtEl>
                                        <p:attrNameLst>
                                          <p:attrName>ppt_x</p:attrName>
                                        </p:attrNameLst>
                                      </p:cBhvr>
                                      <p:tavLst>
                                        <p:tav tm="0">
                                          <p:val>
                                            <p:strVal val="#ppt_x"/>
                                          </p:val>
                                        </p:tav>
                                        <p:tav tm="100000">
                                          <p:val>
                                            <p:strVal val="#ppt_x"/>
                                          </p:val>
                                        </p:tav>
                                      </p:tavLst>
                                    </p:anim>
                                    <p:anim calcmode="lin" valueType="num">
                                      <p:cBhvr additive="base">
                                        <p:cTn id="18" dur="1000" fill="hold"/>
                                        <p:tgtEl>
                                          <p:spTgt spid="112644"/>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grpId="0" nodeType="afterEffect">
                                  <p:stCondLst>
                                    <p:cond delay="0"/>
                                  </p:stCondLst>
                                  <p:childTnLst>
                                    <p:set>
                                      <p:cBhvr>
                                        <p:cTn id="21" dur="1" fill="hold">
                                          <p:stCondLst>
                                            <p:cond delay="0"/>
                                          </p:stCondLst>
                                        </p:cTn>
                                        <p:tgtEl>
                                          <p:spTgt spid="115717"/>
                                        </p:tgtEl>
                                        <p:attrNameLst>
                                          <p:attrName>style.visibility</p:attrName>
                                        </p:attrNameLst>
                                      </p:cBhvr>
                                      <p:to>
                                        <p:strVal val="visible"/>
                                      </p:to>
                                    </p:set>
                                    <p:anim calcmode="lin" valueType="num">
                                      <p:cBhvr additive="base">
                                        <p:cTn id="22" dur="1000" fill="hold"/>
                                        <p:tgtEl>
                                          <p:spTgt spid="115717"/>
                                        </p:tgtEl>
                                        <p:attrNameLst>
                                          <p:attrName>ppt_x</p:attrName>
                                        </p:attrNameLst>
                                      </p:cBhvr>
                                      <p:tavLst>
                                        <p:tav tm="0">
                                          <p:val>
                                            <p:strVal val="#ppt_x"/>
                                          </p:val>
                                        </p:tav>
                                        <p:tav tm="100000">
                                          <p:val>
                                            <p:strVal val="#ppt_x"/>
                                          </p:val>
                                        </p:tav>
                                      </p:tavLst>
                                    </p:anim>
                                    <p:anim calcmode="lin" valueType="num">
                                      <p:cBhvr additive="base">
                                        <p:cTn id="23" dur="1000" fill="hold"/>
                                        <p:tgtEl>
                                          <p:spTgt spid="1157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p:bldP spid="115715" grpId="0"/>
      <p:bldP spid="112644" grpId="0"/>
      <p:bldP spid="11571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矩形 1"/>
          <p:cNvSpPr>
            <a:spLocks noChangeArrowheads="1"/>
          </p:cNvSpPr>
          <p:nvPr/>
        </p:nvSpPr>
        <p:spPr bwMode="auto">
          <a:xfrm>
            <a:off x="689708" y="326292"/>
            <a:ext cx="10812585" cy="10668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00" b="1" dirty="0">
                <a:solidFill>
                  <a:srgbClr val="FF0000"/>
                </a:solidFill>
                <a:latin typeface="+mn-ea"/>
                <a:ea typeface="+mn-ea"/>
              </a:rPr>
              <a:t>5</a:t>
            </a:r>
            <a:r>
              <a:rPr lang="zh-CN" altLang="en-US" sz="100" b="1" dirty="0">
                <a:solidFill>
                  <a:srgbClr val="FF0000"/>
                </a:solidFill>
                <a:latin typeface="+mn-ea"/>
                <a:ea typeface="+mn-ea"/>
              </a:rPr>
              <a:t>、以提高基于网络信息体系的联合作战能力来推进国防现代化建设</a:t>
            </a:r>
            <a:endParaRPr lang="zh-CN" altLang="en-US" sz="100" b="1" dirty="0">
              <a:solidFill>
                <a:srgbClr val="FF0000"/>
              </a:solidFill>
              <a:latin typeface="+mn-ea"/>
              <a:ea typeface="+mn-ea"/>
            </a:endParaRPr>
          </a:p>
        </p:txBody>
      </p:sp>
      <p:sp>
        <p:nvSpPr>
          <p:cNvPr id="116739" name="矩形 2"/>
          <p:cNvSpPr>
            <a:spLocks noChangeArrowheads="1"/>
          </p:cNvSpPr>
          <p:nvPr/>
        </p:nvSpPr>
        <p:spPr bwMode="auto">
          <a:xfrm>
            <a:off x="889001" y="947615"/>
            <a:ext cx="10081846"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latin typeface="Arial" panose="020B0604020202020204" pitchFamily="34" charset="0"/>
                <a:ea typeface="宋体" panose="02010600030101010101" pitchFamily="2" charset="-122"/>
              </a:rPr>
              <a:t>习近平总书记在报告中指出，要通过“军事智能化发展，提高基于网络信息体系的联合作战能力、全域作战能力，有效塑造态势、管控危机、遏制战争、打赢战争。”</a:t>
            </a:r>
            <a:endParaRPr lang="zh-CN" altLang="en-US" sz="2215" b="1">
              <a:latin typeface="Arial" panose="020B0604020202020204" pitchFamily="34" charset="0"/>
              <a:ea typeface="宋体" panose="02010600030101010101" pitchFamily="2" charset="-122"/>
            </a:endParaRPr>
          </a:p>
        </p:txBody>
      </p:sp>
      <p:sp>
        <p:nvSpPr>
          <p:cNvPr id="113668" name="矩形 3"/>
          <p:cNvSpPr>
            <a:spLocks noChangeArrowheads="1"/>
          </p:cNvSpPr>
          <p:nvPr/>
        </p:nvSpPr>
        <p:spPr bwMode="auto">
          <a:xfrm>
            <a:off x="689708" y="2276231"/>
            <a:ext cx="7709877" cy="10668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00" b="1" dirty="0">
                <a:solidFill>
                  <a:srgbClr val="FF0000"/>
                </a:solidFill>
                <a:latin typeface="+mn-ea"/>
                <a:ea typeface="+mn-ea"/>
              </a:rPr>
              <a:t>6</a:t>
            </a:r>
            <a:r>
              <a:rPr lang="zh-CN" altLang="en-US" sz="100" b="1" dirty="0">
                <a:solidFill>
                  <a:srgbClr val="FF0000"/>
                </a:solidFill>
                <a:latin typeface="+mn-ea"/>
                <a:ea typeface="+mn-ea"/>
              </a:rPr>
              <a:t>、以网络安全问题为重要切入点，参与全球治理</a:t>
            </a:r>
            <a:endParaRPr lang="zh-CN" altLang="en-US" sz="100" b="1" dirty="0">
              <a:solidFill>
                <a:srgbClr val="FF0000"/>
              </a:solidFill>
              <a:latin typeface="+mn-ea"/>
              <a:ea typeface="+mn-ea"/>
            </a:endParaRPr>
          </a:p>
        </p:txBody>
      </p:sp>
      <p:sp>
        <p:nvSpPr>
          <p:cNvPr id="116741" name="矩形 4"/>
          <p:cNvSpPr>
            <a:spLocks noChangeArrowheads="1"/>
          </p:cNvSpPr>
          <p:nvPr/>
        </p:nvSpPr>
        <p:spPr bwMode="auto">
          <a:xfrm>
            <a:off x="889001" y="2985478"/>
            <a:ext cx="10081846" cy="1455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latin typeface="Arial" panose="020B0604020202020204" pitchFamily="34" charset="0"/>
                <a:ea typeface="宋体" panose="02010600030101010101" pitchFamily="2" charset="-122"/>
              </a:rPr>
              <a:t>习近平同志在报告中指出，“恐怖主义、网络安全、重大传染性疾病、气候变化等非传统安全威胁持续蔓延，人类面临许多共同挑战”，需要各国人民同心协力，构建人类命运共同体。我国作为互联网大国和强国，在关系到人类命运的网络安全问题上，应该有所作为，也必须有所作为。</a:t>
            </a:r>
            <a:endParaRPr lang="zh-CN" altLang="en-US" sz="2215" b="1">
              <a:latin typeface="Arial" panose="020B0604020202020204" pitchFamily="34" charset="0"/>
              <a:ea typeface="宋体" panose="02010600030101010101" pitchFamily="2" charset="-122"/>
            </a:endParaRPr>
          </a:p>
        </p:txBody>
      </p:sp>
      <p:sp>
        <p:nvSpPr>
          <p:cNvPr id="113670" name="矩形 5"/>
          <p:cNvSpPr>
            <a:spLocks noChangeArrowheads="1"/>
          </p:cNvSpPr>
          <p:nvPr/>
        </p:nvSpPr>
        <p:spPr bwMode="auto">
          <a:xfrm>
            <a:off x="689708" y="4757615"/>
            <a:ext cx="9837615" cy="10668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00" b="1" dirty="0">
                <a:solidFill>
                  <a:srgbClr val="FF0000"/>
                </a:solidFill>
                <a:latin typeface="+mn-ea"/>
                <a:ea typeface="+mn-ea"/>
              </a:rPr>
              <a:t>7</a:t>
            </a:r>
            <a:r>
              <a:rPr lang="zh-CN" altLang="en-US" sz="100" b="1" dirty="0">
                <a:solidFill>
                  <a:srgbClr val="FF0000"/>
                </a:solidFill>
                <a:latin typeface="+mn-ea"/>
                <a:ea typeface="+mn-ea"/>
              </a:rPr>
              <a:t>、借助互联网技术和信息化手段，提高党的执政能力</a:t>
            </a:r>
            <a:endParaRPr lang="zh-CN" altLang="en-US" sz="100" b="1" dirty="0">
              <a:solidFill>
                <a:srgbClr val="FF0000"/>
              </a:solidFill>
              <a:latin typeface="+mn-ea"/>
              <a:ea typeface="+mn-ea"/>
            </a:endParaRPr>
          </a:p>
        </p:txBody>
      </p:sp>
      <p:sp>
        <p:nvSpPr>
          <p:cNvPr id="116743" name="矩形 6"/>
          <p:cNvSpPr>
            <a:spLocks noChangeArrowheads="1"/>
          </p:cNvSpPr>
          <p:nvPr/>
        </p:nvSpPr>
        <p:spPr bwMode="auto">
          <a:xfrm>
            <a:off x="889001" y="5556739"/>
            <a:ext cx="1025769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b="1">
                <a:latin typeface="Arial" panose="020B0604020202020204" pitchFamily="34" charset="0"/>
                <a:ea typeface="宋体" panose="02010600030101010101" pitchFamily="2" charset="-122"/>
              </a:rPr>
              <a:t>习近平总书记在强调“全面增强执政本领”时提到，我们党要“增强改革创新本领，保持锐意进取的精神风貌，善于结合实际创造性推动工作，善于运用互联网技术和信息化手段开展工作。”</a:t>
            </a:r>
            <a:endParaRPr lang="zh-CN" altLang="en-US" sz="2215" b="1">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3666"/>
                                        </p:tgtEl>
                                        <p:attrNameLst>
                                          <p:attrName>style.visibility</p:attrName>
                                        </p:attrNameLst>
                                      </p:cBhvr>
                                      <p:to>
                                        <p:strVal val="visible"/>
                                      </p:to>
                                    </p:set>
                                    <p:anim calcmode="lin" valueType="num">
                                      <p:cBhvr additive="base">
                                        <p:cTn id="7" dur="1000" fill="hold"/>
                                        <p:tgtEl>
                                          <p:spTgt spid="113666"/>
                                        </p:tgtEl>
                                        <p:attrNameLst>
                                          <p:attrName>ppt_x</p:attrName>
                                        </p:attrNameLst>
                                      </p:cBhvr>
                                      <p:tavLst>
                                        <p:tav tm="0">
                                          <p:val>
                                            <p:strVal val="#ppt_x"/>
                                          </p:val>
                                        </p:tav>
                                        <p:tav tm="100000">
                                          <p:val>
                                            <p:strVal val="#ppt_x"/>
                                          </p:val>
                                        </p:tav>
                                      </p:tavLst>
                                    </p:anim>
                                    <p:anim calcmode="lin" valueType="num">
                                      <p:cBhvr additive="base">
                                        <p:cTn id="8" dur="1000" fill="hold"/>
                                        <p:tgtEl>
                                          <p:spTgt spid="11366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116739"/>
                                        </p:tgtEl>
                                        <p:attrNameLst>
                                          <p:attrName>style.visibility</p:attrName>
                                        </p:attrNameLst>
                                      </p:cBhvr>
                                      <p:to>
                                        <p:strVal val="visible"/>
                                      </p:to>
                                    </p:set>
                                    <p:anim calcmode="lin" valueType="num">
                                      <p:cBhvr additive="base">
                                        <p:cTn id="12" dur="1000" fill="hold"/>
                                        <p:tgtEl>
                                          <p:spTgt spid="116739"/>
                                        </p:tgtEl>
                                        <p:attrNameLst>
                                          <p:attrName>ppt_x</p:attrName>
                                        </p:attrNameLst>
                                      </p:cBhvr>
                                      <p:tavLst>
                                        <p:tav tm="0">
                                          <p:val>
                                            <p:strVal val="#ppt_x"/>
                                          </p:val>
                                        </p:tav>
                                        <p:tav tm="100000">
                                          <p:val>
                                            <p:strVal val="#ppt_x"/>
                                          </p:val>
                                        </p:tav>
                                      </p:tavLst>
                                    </p:anim>
                                    <p:anim calcmode="lin" valueType="num">
                                      <p:cBhvr additive="base">
                                        <p:cTn id="13" dur="1000" fill="hold"/>
                                        <p:tgtEl>
                                          <p:spTgt spid="116739"/>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grpId="0" nodeType="afterEffect">
                                  <p:stCondLst>
                                    <p:cond delay="0"/>
                                  </p:stCondLst>
                                  <p:childTnLst>
                                    <p:set>
                                      <p:cBhvr>
                                        <p:cTn id="16" dur="1" fill="hold">
                                          <p:stCondLst>
                                            <p:cond delay="0"/>
                                          </p:stCondLst>
                                        </p:cTn>
                                        <p:tgtEl>
                                          <p:spTgt spid="113668"/>
                                        </p:tgtEl>
                                        <p:attrNameLst>
                                          <p:attrName>style.visibility</p:attrName>
                                        </p:attrNameLst>
                                      </p:cBhvr>
                                      <p:to>
                                        <p:strVal val="visible"/>
                                      </p:to>
                                    </p:set>
                                    <p:anim calcmode="lin" valueType="num">
                                      <p:cBhvr additive="base">
                                        <p:cTn id="17" dur="1000" fill="hold"/>
                                        <p:tgtEl>
                                          <p:spTgt spid="113668"/>
                                        </p:tgtEl>
                                        <p:attrNameLst>
                                          <p:attrName>ppt_x</p:attrName>
                                        </p:attrNameLst>
                                      </p:cBhvr>
                                      <p:tavLst>
                                        <p:tav tm="0">
                                          <p:val>
                                            <p:strVal val="#ppt_x"/>
                                          </p:val>
                                        </p:tav>
                                        <p:tav tm="100000">
                                          <p:val>
                                            <p:strVal val="#ppt_x"/>
                                          </p:val>
                                        </p:tav>
                                      </p:tavLst>
                                    </p:anim>
                                    <p:anim calcmode="lin" valueType="num">
                                      <p:cBhvr additive="base">
                                        <p:cTn id="18" dur="1000" fill="hold"/>
                                        <p:tgtEl>
                                          <p:spTgt spid="113668"/>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grpId="0" nodeType="afterEffect">
                                  <p:stCondLst>
                                    <p:cond delay="0"/>
                                  </p:stCondLst>
                                  <p:childTnLst>
                                    <p:set>
                                      <p:cBhvr>
                                        <p:cTn id="21" dur="1" fill="hold">
                                          <p:stCondLst>
                                            <p:cond delay="0"/>
                                          </p:stCondLst>
                                        </p:cTn>
                                        <p:tgtEl>
                                          <p:spTgt spid="116741"/>
                                        </p:tgtEl>
                                        <p:attrNameLst>
                                          <p:attrName>style.visibility</p:attrName>
                                        </p:attrNameLst>
                                      </p:cBhvr>
                                      <p:to>
                                        <p:strVal val="visible"/>
                                      </p:to>
                                    </p:set>
                                    <p:anim calcmode="lin" valueType="num">
                                      <p:cBhvr additive="base">
                                        <p:cTn id="22" dur="1000" fill="hold"/>
                                        <p:tgtEl>
                                          <p:spTgt spid="116741"/>
                                        </p:tgtEl>
                                        <p:attrNameLst>
                                          <p:attrName>ppt_x</p:attrName>
                                        </p:attrNameLst>
                                      </p:cBhvr>
                                      <p:tavLst>
                                        <p:tav tm="0">
                                          <p:val>
                                            <p:strVal val="#ppt_x"/>
                                          </p:val>
                                        </p:tav>
                                        <p:tav tm="100000">
                                          <p:val>
                                            <p:strVal val="#ppt_x"/>
                                          </p:val>
                                        </p:tav>
                                      </p:tavLst>
                                    </p:anim>
                                    <p:anim calcmode="lin" valueType="num">
                                      <p:cBhvr additive="base">
                                        <p:cTn id="23" dur="1000" fill="hold"/>
                                        <p:tgtEl>
                                          <p:spTgt spid="116741"/>
                                        </p:tgtEl>
                                        <p:attrNameLst>
                                          <p:attrName>ppt_y</p:attrName>
                                        </p:attrNameLst>
                                      </p:cBhvr>
                                      <p:tavLst>
                                        <p:tav tm="0">
                                          <p:val>
                                            <p:strVal val="1+#ppt_h/2"/>
                                          </p:val>
                                        </p:tav>
                                        <p:tav tm="100000">
                                          <p:val>
                                            <p:strVal val="#ppt_y"/>
                                          </p:val>
                                        </p:tav>
                                      </p:tavLst>
                                    </p:anim>
                                  </p:childTnLst>
                                </p:cTn>
                              </p:par>
                            </p:childTnLst>
                          </p:cTn>
                        </p:par>
                        <p:par>
                          <p:cTn id="24" fill="hold">
                            <p:stCondLst>
                              <p:cond delay="4000"/>
                            </p:stCondLst>
                            <p:childTnLst>
                              <p:par>
                                <p:cTn id="25" presetID="2" presetClass="entr" presetSubtype="4" fill="hold" grpId="0" nodeType="afterEffect">
                                  <p:stCondLst>
                                    <p:cond delay="0"/>
                                  </p:stCondLst>
                                  <p:childTnLst>
                                    <p:set>
                                      <p:cBhvr>
                                        <p:cTn id="26" dur="1" fill="hold">
                                          <p:stCondLst>
                                            <p:cond delay="0"/>
                                          </p:stCondLst>
                                        </p:cTn>
                                        <p:tgtEl>
                                          <p:spTgt spid="113670"/>
                                        </p:tgtEl>
                                        <p:attrNameLst>
                                          <p:attrName>style.visibility</p:attrName>
                                        </p:attrNameLst>
                                      </p:cBhvr>
                                      <p:to>
                                        <p:strVal val="visible"/>
                                      </p:to>
                                    </p:set>
                                    <p:anim calcmode="lin" valueType="num">
                                      <p:cBhvr additive="base">
                                        <p:cTn id="27" dur="1000" fill="hold"/>
                                        <p:tgtEl>
                                          <p:spTgt spid="113670"/>
                                        </p:tgtEl>
                                        <p:attrNameLst>
                                          <p:attrName>ppt_x</p:attrName>
                                        </p:attrNameLst>
                                      </p:cBhvr>
                                      <p:tavLst>
                                        <p:tav tm="0">
                                          <p:val>
                                            <p:strVal val="#ppt_x"/>
                                          </p:val>
                                        </p:tav>
                                        <p:tav tm="100000">
                                          <p:val>
                                            <p:strVal val="#ppt_x"/>
                                          </p:val>
                                        </p:tav>
                                      </p:tavLst>
                                    </p:anim>
                                    <p:anim calcmode="lin" valueType="num">
                                      <p:cBhvr additive="base">
                                        <p:cTn id="28" dur="1000" fill="hold"/>
                                        <p:tgtEl>
                                          <p:spTgt spid="113670"/>
                                        </p:tgtEl>
                                        <p:attrNameLst>
                                          <p:attrName>ppt_y</p:attrName>
                                        </p:attrNameLst>
                                      </p:cBhvr>
                                      <p:tavLst>
                                        <p:tav tm="0">
                                          <p:val>
                                            <p:strVal val="1+#ppt_h/2"/>
                                          </p:val>
                                        </p:tav>
                                        <p:tav tm="100000">
                                          <p:val>
                                            <p:strVal val="#ppt_y"/>
                                          </p:val>
                                        </p:tav>
                                      </p:tavLst>
                                    </p:anim>
                                  </p:childTnLst>
                                </p:cTn>
                              </p:par>
                            </p:childTnLst>
                          </p:cTn>
                        </p:par>
                        <p:par>
                          <p:cTn id="29" fill="hold">
                            <p:stCondLst>
                              <p:cond delay="5000"/>
                            </p:stCondLst>
                            <p:childTnLst>
                              <p:par>
                                <p:cTn id="30" presetID="2" presetClass="entr" presetSubtype="4" fill="hold" grpId="0" nodeType="afterEffect">
                                  <p:stCondLst>
                                    <p:cond delay="0"/>
                                  </p:stCondLst>
                                  <p:childTnLst>
                                    <p:set>
                                      <p:cBhvr>
                                        <p:cTn id="31" dur="1" fill="hold">
                                          <p:stCondLst>
                                            <p:cond delay="0"/>
                                          </p:stCondLst>
                                        </p:cTn>
                                        <p:tgtEl>
                                          <p:spTgt spid="116743"/>
                                        </p:tgtEl>
                                        <p:attrNameLst>
                                          <p:attrName>style.visibility</p:attrName>
                                        </p:attrNameLst>
                                      </p:cBhvr>
                                      <p:to>
                                        <p:strVal val="visible"/>
                                      </p:to>
                                    </p:set>
                                    <p:anim calcmode="lin" valueType="num">
                                      <p:cBhvr additive="base">
                                        <p:cTn id="32" dur="1000" fill="hold"/>
                                        <p:tgtEl>
                                          <p:spTgt spid="116743"/>
                                        </p:tgtEl>
                                        <p:attrNameLst>
                                          <p:attrName>ppt_x</p:attrName>
                                        </p:attrNameLst>
                                      </p:cBhvr>
                                      <p:tavLst>
                                        <p:tav tm="0">
                                          <p:val>
                                            <p:strVal val="#ppt_x"/>
                                          </p:val>
                                        </p:tav>
                                        <p:tav tm="100000">
                                          <p:val>
                                            <p:strVal val="#ppt_x"/>
                                          </p:val>
                                        </p:tav>
                                      </p:tavLst>
                                    </p:anim>
                                    <p:anim calcmode="lin" valueType="num">
                                      <p:cBhvr additive="base">
                                        <p:cTn id="33" dur="1000" fill="hold"/>
                                        <p:tgtEl>
                                          <p:spTgt spid="1167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p:bldP spid="116739" grpId="0"/>
      <p:bldP spid="113668" grpId="0"/>
      <p:bldP spid="116741" grpId="0"/>
      <p:bldP spid="113670" grpId="0"/>
      <p:bldP spid="11674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微视频：网络强国之路【720P】">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1"/>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1785" y="1568938"/>
            <a:ext cx="4519247" cy="3774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五边形 4"/>
          <p:cNvSpPr/>
          <p:nvPr/>
        </p:nvSpPr>
        <p:spPr>
          <a:xfrm flipH="1">
            <a:off x="5140570" y="1479062"/>
            <a:ext cx="6893169" cy="621323"/>
          </a:xfrm>
          <a:prstGeom prst="homePlate">
            <a:avLst/>
          </a:prstGeom>
        </p:spPr>
        <p:style>
          <a:lnRef idx="1">
            <a:schemeClr val="accent2"/>
          </a:lnRef>
          <a:fillRef idx="2">
            <a:schemeClr val="accent2"/>
          </a:fillRef>
          <a:effectRef idx="1">
            <a:schemeClr val="accent2"/>
          </a:effectRef>
          <a:fontRef idx="minor">
            <a:schemeClr val="dk1"/>
          </a:fontRef>
        </p:style>
        <p:txBody>
          <a:bodyPr anchor="ctr"/>
          <a:lstStyle/>
          <a:p>
            <a:pPr>
              <a:defRPr/>
            </a:pPr>
            <a:r>
              <a:rPr lang="en-US" altLang="zh-CN" sz="100"/>
              <a:t>1.</a:t>
            </a:r>
            <a:r>
              <a:rPr lang="zh-CN" altLang="en-US" sz="100"/>
              <a:t>明确了网络空间的主权的原则</a:t>
            </a:r>
            <a:endParaRPr lang="zh-CN" altLang="en-US" sz="100" dirty="0"/>
          </a:p>
        </p:txBody>
      </p:sp>
      <p:sp>
        <p:nvSpPr>
          <p:cNvPr id="6" name="五边形 5"/>
          <p:cNvSpPr/>
          <p:nvPr/>
        </p:nvSpPr>
        <p:spPr>
          <a:xfrm flipH="1">
            <a:off x="5140570" y="2201985"/>
            <a:ext cx="6893169" cy="619370"/>
          </a:xfrm>
          <a:prstGeom prst="homePlate">
            <a:avLst/>
          </a:prstGeom>
        </p:spPr>
        <p:style>
          <a:lnRef idx="1">
            <a:schemeClr val="accent2"/>
          </a:lnRef>
          <a:fillRef idx="2">
            <a:schemeClr val="accent2"/>
          </a:fillRef>
          <a:effectRef idx="1">
            <a:schemeClr val="accent2"/>
          </a:effectRef>
          <a:fontRef idx="minor">
            <a:schemeClr val="dk1"/>
          </a:fontRef>
        </p:style>
        <p:txBody>
          <a:bodyPr anchor="ctr"/>
          <a:lstStyle/>
          <a:p>
            <a:pPr>
              <a:defRPr/>
            </a:pPr>
            <a:r>
              <a:rPr lang="en-US" altLang="zh-CN" sz="100" dirty="0"/>
              <a:t>2.</a:t>
            </a:r>
            <a:r>
              <a:rPr lang="zh-CN" altLang="en-US" sz="100" dirty="0"/>
              <a:t>明确了网络产品和服务提供者的安全义务</a:t>
            </a:r>
            <a:endParaRPr lang="zh-CN" altLang="en-US" sz="100" dirty="0"/>
          </a:p>
        </p:txBody>
      </p:sp>
      <p:sp>
        <p:nvSpPr>
          <p:cNvPr id="7" name="五边形 6"/>
          <p:cNvSpPr/>
          <p:nvPr/>
        </p:nvSpPr>
        <p:spPr>
          <a:xfrm flipH="1">
            <a:off x="5121031" y="2897554"/>
            <a:ext cx="6912708" cy="619370"/>
          </a:xfrm>
          <a:prstGeom prst="homePlate">
            <a:avLst/>
          </a:prstGeom>
        </p:spPr>
        <p:style>
          <a:lnRef idx="1">
            <a:schemeClr val="accent2"/>
          </a:lnRef>
          <a:fillRef idx="2">
            <a:schemeClr val="accent2"/>
          </a:fillRef>
          <a:effectRef idx="1">
            <a:schemeClr val="accent2"/>
          </a:effectRef>
          <a:fontRef idx="minor">
            <a:schemeClr val="dk1"/>
          </a:fontRef>
        </p:style>
        <p:txBody>
          <a:bodyPr anchor="ctr"/>
          <a:lstStyle/>
          <a:p>
            <a:pPr>
              <a:defRPr/>
            </a:pPr>
            <a:r>
              <a:rPr lang="en-US" altLang="zh-CN" sz="100" dirty="0"/>
              <a:t>3.</a:t>
            </a:r>
            <a:r>
              <a:rPr lang="zh-CN" altLang="en-US" sz="100" dirty="0"/>
              <a:t>明确了网络运营者的安全义务</a:t>
            </a:r>
            <a:endParaRPr lang="zh-CN" altLang="en-US" sz="100" dirty="0"/>
          </a:p>
        </p:txBody>
      </p:sp>
      <p:sp>
        <p:nvSpPr>
          <p:cNvPr id="8" name="五边形 7"/>
          <p:cNvSpPr/>
          <p:nvPr/>
        </p:nvSpPr>
        <p:spPr>
          <a:xfrm flipH="1">
            <a:off x="5140570" y="3606801"/>
            <a:ext cx="6893169" cy="619369"/>
          </a:xfrm>
          <a:prstGeom prst="homePlate">
            <a:avLst/>
          </a:prstGeom>
        </p:spPr>
        <p:style>
          <a:lnRef idx="1">
            <a:schemeClr val="accent2"/>
          </a:lnRef>
          <a:fillRef idx="2">
            <a:schemeClr val="accent2"/>
          </a:fillRef>
          <a:effectRef idx="1">
            <a:schemeClr val="accent2"/>
          </a:effectRef>
          <a:fontRef idx="minor">
            <a:schemeClr val="dk1"/>
          </a:fontRef>
        </p:style>
        <p:txBody>
          <a:bodyPr anchor="ctr"/>
          <a:lstStyle/>
          <a:p>
            <a:pPr>
              <a:defRPr/>
            </a:pPr>
            <a:r>
              <a:rPr lang="en-US" altLang="zh-CN" sz="100" dirty="0"/>
              <a:t>4.</a:t>
            </a:r>
            <a:r>
              <a:rPr lang="zh-CN" altLang="en-US" sz="100" dirty="0"/>
              <a:t>进一步完善了个人信息保护规则</a:t>
            </a:r>
            <a:endParaRPr lang="zh-CN" altLang="en-US" sz="100" dirty="0"/>
          </a:p>
        </p:txBody>
      </p:sp>
      <p:sp>
        <p:nvSpPr>
          <p:cNvPr id="9" name="五边形 8"/>
          <p:cNvSpPr/>
          <p:nvPr/>
        </p:nvSpPr>
        <p:spPr>
          <a:xfrm flipH="1">
            <a:off x="5121031" y="4316046"/>
            <a:ext cx="6912708" cy="619370"/>
          </a:xfrm>
          <a:prstGeom prst="homePlate">
            <a:avLst/>
          </a:prstGeom>
        </p:spPr>
        <p:style>
          <a:lnRef idx="1">
            <a:schemeClr val="accent2"/>
          </a:lnRef>
          <a:fillRef idx="2">
            <a:schemeClr val="accent2"/>
          </a:fillRef>
          <a:effectRef idx="1">
            <a:schemeClr val="accent2"/>
          </a:effectRef>
          <a:fontRef idx="minor">
            <a:schemeClr val="dk1"/>
          </a:fontRef>
        </p:style>
        <p:txBody>
          <a:bodyPr anchor="ctr"/>
          <a:lstStyle/>
          <a:p>
            <a:pPr>
              <a:defRPr/>
            </a:pPr>
            <a:r>
              <a:rPr lang="en-US" altLang="zh-CN" sz="100" dirty="0"/>
              <a:t>5.</a:t>
            </a:r>
            <a:r>
              <a:rPr lang="zh-CN" altLang="en-US" sz="100" dirty="0"/>
              <a:t>建立了关键信息基础设施的安全保护制度</a:t>
            </a:r>
            <a:endParaRPr lang="zh-CN" altLang="en-US" sz="100" dirty="0"/>
          </a:p>
        </p:txBody>
      </p:sp>
      <p:sp>
        <p:nvSpPr>
          <p:cNvPr id="10" name="五边形 9"/>
          <p:cNvSpPr/>
          <p:nvPr/>
        </p:nvSpPr>
        <p:spPr>
          <a:xfrm flipH="1">
            <a:off x="5121031" y="5023338"/>
            <a:ext cx="6912708" cy="621323"/>
          </a:xfrm>
          <a:prstGeom prst="homePlate">
            <a:avLst/>
          </a:prstGeom>
        </p:spPr>
        <p:style>
          <a:lnRef idx="1">
            <a:schemeClr val="accent2"/>
          </a:lnRef>
          <a:fillRef idx="2">
            <a:schemeClr val="accent2"/>
          </a:fillRef>
          <a:effectRef idx="1">
            <a:schemeClr val="accent2"/>
          </a:effectRef>
          <a:fontRef idx="minor">
            <a:schemeClr val="dk1"/>
          </a:fontRef>
        </p:style>
        <p:txBody>
          <a:bodyPr anchor="ctr"/>
          <a:lstStyle/>
          <a:p>
            <a:pPr>
              <a:defRPr/>
            </a:pPr>
            <a:r>
              <a:rPr lang="en-US" altLang="zh-CN" sz="100" dirty="0"/>
              <a:t>6.</a:t>
            </a:r>
            <a:r>
              <a:rPr lang="zh-CN" altLang="en-US" sz="100" dirty="0"/>
              <a:t>确立了关键信息基础设施重要数据跨境传输的规则</a:t>
            </a:r>
            <a:endParaRPr lang="zh-CN" altLang="en-US" sz="100" dirty="0"/>
          </a:p>
        </p:txBody>
      </p:sp>
      <p:sp>
        <p:nvSpPr>
          <p:cNvPr id="11" name="矩形 10"/>
          <p:cNvSpPr/>
          <p:nvPr/>
        </p:nvSpPr>
        <p:spPr>
          <a:xfrm>
            <a:off x="867508" y="203201"/>
            <a:ext cx="9189720" cy="622300"/>
          </a:xfrm>
          <a:prstGeom prst="rect">
            <a:avLst/>
          </a:prstGeom>
        </p:spPr>
        <p:txBody>
          <a:bodyPr wrap="none">
            <a:spAutoFit/>
          </a:bodyPr>
          <a:lstStyle/>
          <a:p>
            <a:pPr>
              <a:defRPr/>
            </a:pPr>
            <a:r>
              <a:rPr lang="zh-CN" altLang="en-US" sz="3445" b="1" dirty="0">
                <a:solidFill>
                  <a:srgbClr val="FF0000"/>
                </a:solidFill>
                <a:latin typeface="+mn-ea"/>
                <a:ea typeface="+mn-ea"/>
              </a:rPr>
              <a:t>课堂扩展：</a:t>
            </a:r>
            <a:r>
              <a:rPr lang="en-US" altLang="zh-CN" sz="2955" b="1" dirty="0">
                <a:solidFill>
                  <a:srgbClr val="FF0000"/>
                </a:solidFill>
                <a:latin typeface="+mn-ea"/>
                <a:ea typeface="+mn-ea"/>
              </a:rPr>
              <a:t>2017</a:t>
            </a:r>
            <a:r>
              <a:rPr lang="zh-CN" altLang="en-US" sz="2955" b="1" dirty="0">
                <a:solidFill>
                  <a:srgbClr val="FF0000"/>
                </a:solidFill>
                <a:latin typeface="+mn-ea"/>
                <a:ea typeface="+mn-ea"/>
              </a:rPr>
              <a:t>年</a:t>
            </a:r>
            <a:r>
              <a:rPr lang="en-US" altLang="zh-CN" sz="2955" b="1" dirty="0">
                <a:solidFill>
                  <a:srgbClr val="FF0000"/>
                </a:solidFill>
                <a:latin typeface="+mn-ea"/>
                <a:ea typeface="+mn-ea"/>
              </a:rPr>
              <a:t>6</a:t>
            </a:r>
            <a:r>
              <a:rPr lang="zh-CN" altLang="en-US" sz="2955" b="1" dirty="0">
                <a:solidFill>
                  <a:srgbClr val="FF0000"/>
                </a:solidFill>
                <a:latin typeface="+mn-ea"/>
                <a:ea typeface="+mn-ea"/>
              </a:rPr>
              <a:t>月</a:t>
            </a:r>
            <a:r>
              <a:rPr lang="en-US" altLang="zh-CN" sz="2955" b="1" dirty="0">
                <a:solidFill>
                  <a:srgbClr val="FF0000"/>
                </a:solidFill>
                <a:latin typeface="+mn-ea"/>
                <a:ea typeface="+mn-ea"/>
              </a:rPr>
              <a:t>1</a:t>
            </a:r>
            <a:r>
              <a:rPr lang="zh-CN" altLang="en-US" sz="2955" b="1" dirty="0">
                <a:solidFill>
                  <a:srgbClr val="FF0000"/>
                </a:solidFill>
                <a:latin typeface="+mn-ea"/>
                <a:ea typeface="+mn-ea"/>
              </a:rPr>
              <a:t>日正式实施的</a:t>
            </a:r>
            <a:r>
              <a:rPr lang="en-US" altLang="zh-CN" sz="2955" b="1" dirty="0">
                <a:solidFill>
                  <a:srgbClr val="FF0000"/>
                </a:solidFill>
                <a:latin typeface="+mn-ea"/>
                <a:ea typeface="+mn-ea"/>
              </a:rPr>
              <a:t>《</a:t>
            </a:r>
            <a:r>
              <a:rPr lang="zh-CN" altLang="en-US" sz="2955" b="1" dirty="0">
                <a:solidFill>
                  <a:srgbClr val="FF0000"/>
                </a:solidFill>
                <a:latin typeface="+mn-ea"/>
                <a:ea typeface="+mn-ea"/>
              </a:rPr>
              <a:t>网络安全法</a:t>
            </a:r>
            <a:r>
              <a:rPr lang="en-US" altLang="zh-CN" sz="2955" b="1" dirty="0">
                <a:solidFill>
                  <a:srgbClr val="FF0000"/>
                </a:solidFill>
                <a:latin typeface="+mn-ea"/>
                <a:ea typeface="+mn-ea"/>
              </a:rPr>
              <a:t>》</a:t>
            </a:r>
            <a:endParaRPr lang="zh-CN" altLang="en-US" sz="2955" dirty="0">
              <a:solidFill>
                <a:srgbClr val="FF0000"/>
              </a:solidFill>
              <a:latin typeface="+mn-ea"/>
              <a:ea typeface="+mn-ea"/>
            </a:endParaRPr>
          </a:p>
        </p:txBody>
      </p:sp>
      <p:sp>
        <p:nvSpPr>
          <p:cNvPr id="2" name="文本框 1"/>
          <p:cNvSpPr txBox="1"/>
          <p:nvPr/>
        </p:nvSpPr>
        <p:spPr>
          <a:xfrm>
            <a:off x="164802" y="6087757"/>
            <a:ext cx="11868938" cy="696595"/>
          </a:xfrm>
          <a:prstGeom prst="rect">
            <a:avLst/>
          </a:prstGeom>
          <a:noFill/>
        </p:spPr>
        <p:txBody>
          <a:bodyPr wrap="square" rtlCol="0">
            <a:spAutoFit/>
          </a:bodyPr>
          <a:lstStyle/>
          <a:p>
            <a:r>
              <a:rPr kumimoji="1" lang="en-GB" altLang="zh-CN" sz="1970" dirty="0"/>
              <a:t>https://</a:t>
            </a:r>
            <a:r>
              <a:rPr kumimoji="1" lang="en-GB" altLang="zh-CN" sz="1970" dirty="0" err="1"/>
              <a:t>www.bilibili.com</a:t>
            </a:r>
            <a:r>
              <a:rPr kumimoji="1" lang="en-GB" altLang="zh-CN" sz="1970" dirty="0"/>
              <a:t>/video/BV1Qr4y1a7U9/?</a:t>
            </a:r>
            <a:r>
              <a:rPr kumimoji="1" lang="en-GB" altLang="zh-CN" sz="1970" dirty="0" err="1"/>
              <a:t>spm_id_from</a:t>
            </a:r>
            <a:r>
              <a:rPr kumimoji="1" lang="en-GB" altLang="zh-CN" sz="1970" dirty="0"/>
              <a:t>=333.1007.top_right_bar_window_custom_collection.content.click&amp;vd_source=0991c0bfd7ce6d8c34ea5d7729eaded5</a:t>
            </a:r>
            <a:endParaRPr kumimoji="1" lang="zh-CN" altLang="en-US" sz="1970"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1000" fill="hold"/>
                                        <p:tgtEl>
                                          <p:spTgt spid="6"/>
                                        </p:tgtEl>
                                        <p:attrNameLst>
                                          <p:attrName>ppt_x</p:attrName>
                                        </p:attrNameLst>
                                      </p:cBhvr>
                                      <p:tavLst>
                                        <p:tav tm="0">
                                          <p:val>
                                            <p:strVal val="#ppt_x"/>
                                          </p:val>
                                        </p:tav>
                                        <p:tav tm="100000">
                                          <p:val>
                                            <p:strVal val="#ppt_x"/>
                                          </p:val>
                                        </p:tav>
                                      </p:tavLst>
                                    </p:anim>
                                    <p:anim calcmode="lin" valueType="num">
                                      <p:cBhvr additive="base">
                                        <p:cTn id="13" dur="10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500" fill="hold"/>
                                        <p:tgtEl>
                                          <p:spTgt spid="7"/>
                                        </p:tgtEl>
                                        <p:attrNameLst>
                                          <p:attrName>ppt_x</p:attrName>
                                        </p:attrNameLst>
                                      </p:cBhvr>
                                      <p:tavLst>
                                        <p:tav tm="0">
                                          <p:val>
                                            <p:strVal val="#ppt_x"/>
                                          </p:val>
                                        </p:tav>
                                        <p:tav tm="100000">
                                          <p:val>
                                            <p:strVal val="#ppt_x"/>
                                          </p:val>
                                        </p:tav>
                                      </p:tavLst>
                                    </p:anim>
                                    <p:anim calcmode="lin" valueType="num">
                                      <p:cBhvr additive="base">
                                        <p:cTn id="18" dur="1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2000" fill="hold"/>
                                        <p:tgtEl>
                                          <p:spTgt spid="8"/>
                                        </p:tgtEl>
                                        <p:attrNameLst>
                                          <p:attrName>ppt_x</p:attrName>
                                        </p:attrNameLst>
                                      </p:cBhvr>
                                      <p:tavLst>
                                        <p:tav tm="0">
                                          <p:val>
                                            <p:strVal val="#ppt_x"/>
                                          </p:val>
                                        </p:tav>
                                        <p:tav tm="100000">
                                          <p:val>
                                            <p:strVal val="#ppt_x"/>
                                          </p:val>
                                        </p:tav>
                                      </p:tavLst>
                                    </p:anim>
                                    <p:anim calcmode="lin" valueType="num">
                                      <p:cBhvr additive="base">
                                        <p:cTn id="23" dur="2000" fill="hold"/>
                                        <p:tgtEl>
                                          <p:spTgt spid="8"/>
                                        </p:tgtEl>
                                        <p:attrNameLst>
                                          <p:attrName>ppt_y</p:attrName>
                                        </p:attrNameLst>
                                      </p:cBhvr>
                                      <p:tavLst>
                                        <p:tav tm="0">
                                          <p:val>
                                            <p:strVal val="1+#ppt_h/2"/>
                                          </p:val>
                                        </p:tav>
                                        <p:tav tm="100000">
                                          <p:val>
                                            <p:strVal val="#ppt_y"/>
                                          </p:val>
                                        </p:tav>
                                      </p:tavLst>
                                    </p:anim>
                                  </p:childTnLst>
                                </p:cTn>
                              </p:par>
                            </p:childTnLst>
                          </p:cTn>
                        </p:par>
                        <p:par>
                          <p:cTn id="24" fill="hold">
                            <p:stCondLst>
                              <p:cond delay="50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2000" fill="hold"/>
                                        <p:tgtEl>
                                          <p:spTgt spid="9"/>
                                        </p:tgtEl>
                                        <p:attrNameLst>
                                          <p:attrName>ppt_x</p:attrName>
                                        </p:attrNameLst>
                                      </p:cBhvr>
                                      <p:tavLst>
                                        <p:tav tm="0">
                                          <p:val>
                                            <p:strVal val="#ppt_x"/>
                                          </p:val>
                                        </p:tav>
                                        <p:tav tm="100000">
                                          <p:val>
                                            <p:strVal val="#ppt_x"/>
                                          </p:val>
                                        </p:tav>
                                      </p:tavLst>
                                    </p:anim>
                                    <p:anim calcmode="lin" valueType="num">
                                      <p:cBhvr additive="base">
                                        <p:cTn id="28" dur="2000" fill="hold"/>
                                        <p:tgtEl>
                                          <p:spTgt spid="9"/>
                                        </p:tgtEl>
                                        <p:attrNameLst>
                                          <p:attrName>ppt_y</p:attrName>
                                        </p:attrNameLst>
                                      </p:cBhvr>
                                      <p:tavLst>
                                        <p:tav tm="0">
                                          <p:val>
                                            <p:strVal val="1+#ppt_h/2"/>
                                          </p:val>
                                        </p:tav>
                                        <p:tav tm="100000">
                                          <p:val>
                                            <p:strVal val="#ppt_y"/>
                                          </p:val>
                                        </p:tav>
                                      </p:tavLst>
                                    </p:anim>
                                  </p:childTnLst>
                                </p:cTn>
                              </p:par>
                            </p:childTnLst>
                          </p:cTn>
                        </p:par>
                        <p:par>
                          <p:cTn id="29" fill="hold">
                            <p:stCondLst>
                              <p:cond delay="7000"/>
                            </p:stCondLst>
                            <p:childTnLst>
                              <p:par>
                                <p:cTn id="30" presetID="2" presetClass="entr" presetSubtype="4"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2000" fill="hold"/>
                                        <p:tgtEl>
                                          <p:spTgt spid="10"/>
                                        </p:tgtEl>
                                        <p:attrNameLst>
                                          <p:attrName>ppt_x</p:attrName>
                                        </p:attrNameLst>
                                      </p:cBhvr>
                                      <p:tavLst>
                                        <p:tav tm="0">
                                          <p:val>
                                            <p:strVal val="#ppt_x"/>
                                          </p:val>
                                        </p:tav>
                                        <p:tav tm="100000">
                                          <p:val>
                                            <p:strVal val="#ppt_x"/>
                                          </p:val>
                                        </p:tav>
                                      </p:tavLst>
                                    </p:anim>
                                    <p:anim calcmode="lin" valueType="num">
                                      <p:cBhvr additive="base">
                                        <p:cTn id="33"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1"/>
          <p:cNvSpPr txBox="1">
            <a:spLocks noGrp="1"/>
          </p:cNvSpPr>
          <p:nvPr/>
        </p:nvSpPr>
        <p:spPr bwMode="auto">
          <a:xfrm>
            <a:off x="8737600" y="6895123"/>
            <a:ext cx="2844800" cy="58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0"/>
              </a:spcBef>
              <a:buClrTx/>
              <a:buFontTx/>
              <a:buNone/>
            </a:pPr>
            <a:fld id="{9C9B1497-0F1B-4727-A5EB-E881E152D84E}" type="slidenum">
              <a:rPr lang="en-US" altLang="zh-CN" sz="1725">
                <a:latin typeface="Arial" panose="020B0604020202020204" pitchFamily="34" charset="0"/>
                <a:ea typeface="宋体" panose="02010600030101010101" pitchFamily="2" charset="-122"/>
              </a:rPr>
            </a:fld>
            <a:endParaRPr lang="en-US" altLang="zh-CN" sz="1725">
              <a:latin typeface="Arial" panose="020B0604020202020204" pitchFamily="34" charset="0"/>
              <a:ea typeface="宋体" panose="02010600030101010101" pitchFamily="2" charset="-122"/>
            </a:endParaRPr>
          </a:p>
        </p:txBody>
      </p:sp>
      <p:sp>
        <p:nvSpPr>
          <p:cNvPr id="3" name="TextBox 2"/>
          <p:cNvSpPr txBox="1"/>
          <p:nvPr/>
        </p:nvSpPr>
        <p:spPr>
          <a:xfrm>
            <a:off x="1715477" y="1670538"/>
            <a:ext cx="9333524" cy="2592705"/>
          </a:xfrm>
          <a:prstGeom prst="rect">
            <a:avLst/>
          </a:prstGeom>
          <a:noFill/>
        </p:spPr>
        <p:txBody>
          <a:bodyPr>
            <a:spAutoFit/>
          </a:bodyPr>
          <a:lstStyle/>
          <a:p>
            <a:pPr eaLnBrk="1" hangingPunct="1">
              <a:defRPr/>
            </a:pPr>
            <a:r>
              <a:rPr lang="zh-CN" altLang="en-US" sz="5910" dirty="0">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rPr>
              <a:t>小故事，大启发 </a:t>
            </a:r>
            <a:endParaRPr lang="zh-CN" altLang="en-US" sz="5910" dirty="0">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eaLnBrk="1" hangingPunct="1">
              <a:defRPr/>
            </a:pPr>
            <a:r>
              <a:rPr lang="zh-CN" altLang="en-US" sz="5415" dirty="0">
                <a:effectLst>
                  <a:outerShdw blurRad="38100" dist="38100" dir="2700000" algn="tl">
                    <a:srgbClr val="C0C0C0"/>
                  </a:outerShdw>
                </a:effectLst>
                <a:latin typeface="华文新魏" panose="02010800040101010101" pitchFamily="2" charset="-122"/>
                <a:ea typeface="华文新魏" panose="02010800040101010101" pitchFamily="2" charset="-122"/>
              </a:rPr>
              <a:t> </a:t>
            </a:r>
            <a:endParaRPr lang="zh-CN" altLang="en-US" sz="5415"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gn="r" eaLnBrk="1" hangingPunct="1">
              <a:defRPr/>
            </a:pPr>
            <a:r>
              <a:rPr lang="en-US" altLang="zh-CN" sz="4925" dirty="0">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lang="zh-CN" altLang="en-US" sz="4925" dirty="0">
                <a:effectLst>
                  <a:outerShdw blurRad="38100" dist="38100" dir="2700000" algn="tl">
                    <a:srgbClr val="C0C0C0"/>
                  </a:outerShdw>
                </a:effectLst>
                <a:latin typeface="华文新魏" panose="02010800040101010101" pitchFamily="2" charset="-122"/>
                <a:ea typeface="华文新魏" panose="02010800040101010101" pitchFamily="2" charset="-122"/>
              </a:rPr>
              <a:t>信息安全点滴</a:t>
            </a:r>
            <a:endParaRPr lang="zh-CN" altLang="en-US" sz="4925"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818662" y="179754"/>
            <a:ext cx="10363200" cy="1033584"/>
          </a:xfrm>
          <a:prstGeom prst="rect">
            <a:avLst/>
          </a:prstGeom>
        </p:spPr>
        <p:txBody>
          <a:bodyPr/>
          <a:lstStyle/>
          <a:p>
            <a:pPr eaLnBrk="1" hangingPunct="1">
              <a:defRPr/>
            </a:pPr>
            <a:r>
              <a:rPr lang="zh-CN" altLang="en-US" sz="3445" b="1" kern="0" dirty="0">
                <a:solidFill>
                  <a:srgbClr val="0000FF"/>
                </a:solidFill>
                <a:latin typeface="+mj-lt"/>
                <a:ea typeface="+mj-ea"/>
                <a:cs typeface="+mj-cs"/>
              </a:rPr>
              <a:t>温水煮青蛙：</a:t>
            </a:r>
            <a:endParaRPr lang="zh-CN" altLang="en-US" sz="3445" b="1" kern="0" dirty="0">
              <a:solidFill>
                <a:srgbClr val="0000FF"/>
              </a:solidFill>
              <a:latin typeface="+mj-lt"/>
              <a:ea typeface="+mj-ea"/>
              <a:cs typeface="+mj-cs"/>
            </a:endParaRPr>
          </a:p>
        </p:txBody>
      </p:sp>
      <p:sp>
        <p:nvSpPr>
          <p:cNvPr id="124932" name="Rectangle 3"/>
          <p:cNvSpPr txBox="1">
            <a:spLocks noChangeArrowheads="1"/>
          </p:cNvSpPr>
          <p:nvPr/>
        </p:nvSpPr>
        <p:spPr bwMode="auto">
          <a:xfrm>
            <a:off x="818662" y="976924"/>
            <a:ext cx="10363200" cy="76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450850" indent="63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buClrTx/>
              <a:buFont typeface="Wingdings" panose="05000000000000000000" pitchFamily="2" charset="2"/>
              <a:buChar char="u"/>
            </a:pPr>
            <a:r>
              <a:rPr lang="zh-CN" altLang="en-US" sz="3445" b="1">
                <a:solidFill>
                  <a:srgbClr val="0000FF"/>
                </a:solidFill>
                <a:ea typeface="方正细黑一简体"/>
                <a:cs typeface="方正细黑一简体"/>
              </a:rPr>
              <a:t>青蛙能逃离沸水，却会死于温水文火</a:t>
            </a:r>
            <a:endParaRPr lang="zh-CN" altLang="en-US" sz="3445" b="1">
              <a:solidFill>
                <a:srgbClr val="0000FF"/>
              </a:solidFill>
              <a:ea typeface="方正细黑一简体"/>
              <a:cs typeface="方正细黑一简体"/>
            </a:endParaRPr>
          </a:p>
          <a:p>
            <a:pPr eaLnBrk="1" hangingPunct="1">
              <a:buClrTx/>
              <a:buFontTx/>
              <a:buNone/>
            </a:pPr>
            <a:r>
              <a:rPr lang="zh-CN" altLang="en-US" sz="2215" b="1">
                <a:solidFill>
                  <a:srgbClr val="3A3A3A"/>
                </a:solidFill>
                <a:latin typeface="Myriad Pro"/>
                <a:ea typeface="方正细黑一简体"/>
                <a:cs typeface="方正细黑一简体"/>
              </a:rPr>
              <a:t>              </a:t>
            </a:r>
            <a:endParaRPr lang="en-US" altLang="zh-CN" sz="2215" b="1">
              <a:solidFill>
                <a:srgbClr val="3A3A3A"/>
              </a:solidFill>
              <a:latin typeface="Myriad Pro"/>
              <a:ea typeface="方正细黑一简体"/>
              <a:cs typeface="方正细黑一简体"/>
            </a:endParaRPr>
          </a:p>
        </p:txBody>
      </p:sp>
      <p:cxnSp>
        <p:nvCxnSpPr>
          <p:cNvPr id="124933" name="直接连接符 7"/>
          <p:cNvCxnSpPr>
            <a:cxnSpLocks noChangeShapeType="1"/>
          </p:cNvCxnSpPr>
          <p:nvPr/>
        </p:nvCxnSpPr>
        <p:spPr bwMode="auto">
          <a:xfrm>
            <a:off x="527538" y="859693"/>
            <a:ext cx="11330354" cy="1953"/>
          </a:xfrm>
          <a:prstGeom prst="line">
            <a:avLst/>
          </a:prstGeom>
          <a:noFill/>
          <a:ln w="38100" algn="ctr">
            <a:solidFill>
              <a:srgbClr val="0070C0"/>
            </a:solidFill>
            <a:round/>
          </a:ln>
          <a:extLst>
            <a:ext uri="{909E8E84-426E-40DD-AFC4-6F175D3DCCD1}">
              <a14:hiddenFill xmlns:a14="http://schemas.microsoft.com/office/drawing/2010/main">
                <a:noFill/>
              </a14:hiddenFill>
            </a:ext>
          </a:extLst>
        </p:spPr>
      </p:cxnSp>
      <p:sp>
        <p:nvSpPr>
          <p:cNvPr id="2" name="矩形 1"/>
          <p:cNvSpPr/>
          <p:nvPr/>
        </p:nvSpPr>
        <p:spPr>
          <a:xfrm>
            <a:off x="1228969" y="5762423"/>
            <a:ext cx="9835662" cy="106680"/>
          </a:xfrm>
          <a:prstGeom prst="rect">
            <a:avLst/>
          </a:prstGeom>
          <a:effectLst>
            <a:glow rad="139700">
              <a:schemeClr val="accent2">
                <a:satMod val="175000"/>
                <a:alpha val="40000"/>
              </a:schemeClr>
            </a:glow>
            <a:outerShdw blurRad="40000" dist="20000" dir="5400000" rotWithShape="0">
              <a:srgbClr val="000000">
                <a:alpha val="38000"/>
              </a:srgbClr>
            </a:outerShdw>
          </a:effectLst>
          <a:scene3d>
            <a:camera prst="obliqueBottomRight"/>
            <a:lightRig rig="threePt" dir="t"/>
          </a:scene3d>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100" b="1" dirty="0">
                <a:solidFill>
                  <a:srgbClr val="FC231E"/>
                </a:solidFill>
                <a:latin typeface="+mn-ea"/>
                <a:cs typeface="方正细黑一简体"/>
              </a:rPr>
              <a:t>信息安全需要居安思危，通过风险评估，及时发现隐患和威胁，早作预防，并且养成良好的安全意识和操作习惯，避免变成“温水中的青蛙”。</a:t>
            </a:r>
            <a:endParaRPr lang="zh-CN" altLang="en-US" sz="100" b="1" dirty="0">
              <a:latin typeface="+mn-ea"/>
            </a:endParaRPr>
          </a:p>
        </p:txBody>
      </p:sp>
      <p:sp>
        <p:nvSpPr>
          <p:cNvPr id="4" name="矩形 3"/>
          <p:cNvSpPr/>
          <p:nvPr/>
        </p:nvSpPr>
        <p:spPr>
          <a:xfrm>
            <a:off x="778486" y="2071468"/>
            <a:ext cx="6779559" cy="28149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rgbClr val="4E91D4"/>
            </a:solidFill>
          </a:ln>
          <a:effectLst>
            <a:glow rad="101600">
              <a:schemeClr val="accent2">
                <a:satMod val="175000"/>
                <a:alpha val="40000"/>
              </a:schemeClr>
            </a:glow>
            <a:outerShdw blurRad="50800" dist="38100" dir="2700000" algn="tl" rotWithShape="0">
              <a:prstClr val="black">
                <a:alpha val="40000"/>
              </a:prstClr>
            </a:outerShdw>
          </a:effectLst>
          <a:scene3d>
            <a:camera prst="perspectiveContrastingRightFacing"/>
            <a:lightRig rig="threePt" dir="t"/>
          </a:scene3d>
        </p:spPr>
        <p:txBody>
          <a:bodyPr>
            <a:spAutoFit/>
          </a:bodyPr>
          <a:lstStyle/>
          <a:p>
            <a:pPr eaLnBrk="1" hangingPunct="1">
              <a:defRPr/>
            </a:pPr>
            <a:r>
              <a:rPr lang="zh-CN" altLang="en-US" sz="1970" b="1" dirty="0">
                <a:solidFill>
                  <a:srgbClr val="3A3A3A"/>
                </a:solidFill>
                <a:latin typeface="+mn-ea"/>
                <a:ea typeface="+mn-ea"/>
                <a:cs typeface="方正细黑一简体"/>
              </a:rPr>
              <a:t>如果将青蛙放在很烫的热水里，青蛙会马上感受到高温并跳出来。但要是将青蛙放在温水中，青蛙就不会有太激烈的反应，水温逐渐升高，等到青蛙意识到危险的时候，它已经没有力气跳出去了。这个故事告诉我们，身处危险之中却浑然然不知，是非常可怕的事情。对网络安全来说，造成危害的许多诱因早已潜伏在日常的管理当中，只是由于管理者麻痹大意，缺乏危机意识和足够重视，导致小事情带来“连锁反应”、“滚雪球效应”、“恶性循环”，最终演变成摧毁的危机</a:t>
            </a:r>
            <a:r>
              <a:rPr lang="zh-CN" altLang="en-US" sz="100" b="1" dirty="0">
                <a:solidFill>
                  <a:srgbClr val="3A3A3A"/>
                </a:solidFill>
                <a:latin typeface="+mn-ea"/>
                <a:ea typeface="+mn-ea"/>
                <a:cs typeface="方正细黑一简体"/>
              </a:rPr>
              <a:t>。</a:t>
            </a:r>
            <a:endParaRPr lang="zh-CN" altLang="en-US" sz="100" b="1" dirty="0">
              <a:solidFill>
                <a:srgbClr val="3A3A3A"/>
              </a:solidFill>
              <a:latin typeface="+mn-ea"/>
              <a:ea typeface="+mn-ea"/>
              <a:cs typeface="方正细黑一简体"/>
            </a:endParaRPr>
          </a:p>
        </p:txBody>
      </p:sp>
      <p:pic>
        <p:nvPicPr>
          <p:cNvPr id="5" name="图片 4"/>
          <p:cNvPicPr>
            <a:picLocks noChangeAspect="1"/>
          </p:cNvPicPr>
          <p:nvPr/>
        </p:nvPicPr>
        <p:blipFill>
          <a:blip r:embed="rId1"/>
          <a:stretch>
            <a:fillRect/>
          </a:stretch>
        </p:blipFill>
        <p:spPr>
          <a:xfrm>
            <a:off x="6805247" y="2074985"/>
            <a:ext cx="4443046" cy="3063631"/>
          </a:xfrm>
          <a:prstGeom prst="rect">
            <a:avLst/>
          </a:prstGeom>
          <a:effectLst>
            <a:outerShdw blurRad="63500" sx="102000" sy="102000" algn="ctr" rotWithShape="0">
              <a:prstClr val="black">
                <a:alpha val="40000"/>
              </a:prstClr>
            </a:outerShdw>
          </a:effectLst>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4933"/>
                                        </p:tgtEl>
                                        <p:attrNameLst>
                                          <p:attrName>style.visibility</p:attrName>
                                        </p:attrNameLst>
                                      </p:cBhvr>
                                      <p:to>
                                        <p:strVal val="visible"/>
                                      </p:to>
                                    </p:set>
                                    <p:animEffect transition="in" filter="wipe(left)">
                                      <p:cBhvr>
                                        <p:cTn id="7" dur="500"/>
                                        <p:tgtEl>
                                          <p:spTgt spid="124933"/>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24932"/>
                                        </p:tgtEl>
                                        <p:attrNameLst>
                                          <p:attrName>style.visibility</p:attrName>
                                        </p:attrNameLst>
                                      </p:cBhvr>
                                      <p:to>
                                        <p:strVal val="visible"/>
                                      </p:to>
                                    </p:set>
                                    <p:anim calcmode="lin" valueType="num">
                                      <p:cBhvr additive="base">
                                        <p:cTn id="11" dur="500" fill="hold"/>
                                        <p:tgtEl>
                                          <p:spTgt spid="124932"/>
                                        </p:tgtEl>
                                        <p:attrNameLst>
                                          <p:attrName>ppt_x</p:attrName>
                                        </p:attrNameLst>
                                      </p:cBhvr>
                                      <p:tavLst>
                                        <p:tav tm="0">
                                          <p:val>
                                            <p:strVal val="0-#ppt_w/2"/>
                                          </p:val>
                                        </p:tav>
                                        <p:tav tm="100000">
                                          <p:val>
                                            <p:strVal val="#ppt_x"/>
                                          </p:val>
                                        </p:tav>
                                      </p:tavLst>
                                    </p:anim>
                                    <p:anim calcmode="lin" valueType="num">
                                      <p:cBhvr additive="base">
                                        <p:cTn id="12" dur="500" fill="hold"/>
                                        <p:tgtEl>
                                          <p:spTgt spid="12493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53" presetClass="entr" presetSubtype="16"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childTnLst>
                          </p:cTn>
                        </p:par>
                        <p:par>
                          <p:cTn id="19" fill="hold">
                            <p:stCondLst>
                              <p:cond delay="1500"/>
                            </p:stCondLst>
                            <p:childTnLst>
                              <p:par>
                                <p:cTn id="20" presetID="16" presetClass="entr" presetSubtype="21"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2BF2FDDF-6B2E-4D68-AC2A-36753207E011}" type="slidenum">
              <a:rPr lang="en-US" altLang="zh-CN" sz="1230" smtClean="0">
                <a:latin typeface="Arial" panose="020B0604020202020204" pitchFamily="34" charset="0"/>
                <a:ea typeface="宋体" panose="02010600030101010101" pitchFamily="2" charset="-122"/>
              </a:rPr>
            </a:fld>
            <a:endParaRPr lang="en-US" altLang="zh-CN" sz="1230">
              <a:latin typeface="Arial" panose="020B0604020202020204" pitchFamily="34" charset="0"/>
              <a:ea typeface="宋体" panose="02010600030101010101" pitchFamily="2" charset="-122"/>
            </a:endParaRPr>
          </a:p>
        </p:txBody>
      </p:sp>
      <p:sp>
        <p:nvSpPr>
          <p:cNvPr id="3" name="Rectangle 2"/>
          <p:cNvSpPr txBox="1">
            <a:spLocks noChangeArrowheads="1"/>
          </p:cNvSpPr>
          <p:nvPr/>
        </p:nvSpPr>
        <p:spPr>
          <a:xfrm>
            <a:off x="818662" y="60569"/>
            <a:ext cx="10363200" cy="677985"/>
          </a:xfrm>
          <a:prstGeom prst="rect">
            <a:avLst/>
          </a:prstGeom>
        </p:spPr>
        <p:txBody>
          <a:bodyPr/>
          <a:lstStyle/>
          <a:p>
            <a:pPr eaLnBrk="1" hangingPunct="1">
              <a:defRPr/>
            </a:pPr>
            <a:r>
              <a:rPr lang="zh-CN" altLang="en-US" sz="3445" b="1" kern="0" dirty="0">
                <a:solidFill>
                  <a:srgbClr val="0000FF"/>
                </a:solidFill>
                <a:latin typeface="+mj-lt"/>
                <a:ea typeface="+mj-ea"/>
                <a:cs typeface="+mj-cs"/>
              </a:rPr>
              <a:t>冰山理论：</a:t>
            </a:r>
            <a:endParaRPr lang="zh-CN" altLang="en-US" sz="3445" b="1" kern="0" dirty="0">
              <a:solidFill>
                <a:srgbClr val="0000FF"/>
              </a:solidFill>
              <a:latin typeface="+mj-lt"/>
              <a:ea typeface="+mj-ea"/>
              <a:cs typeface="+mj-cs"/>
            </a:endParaRPr>
          </a:p>
        </p:txBody>
      </p:sp>
      <p:sp>
        <p:nvSpPr>
          <p:cNvPr id="4" name="Rectangle 3"/>
          <p:cNvSpPr txBox="1">
            <a:spLocks noChangeArrowheads="1"/>
          </p:cNvSpPr>
          <p:nvPr/>
        </p:nvSpPr>
        <p:spPr>
          <a:xfrm>
            <a:off x="818662" y="859693"/>
            <a:ext cx="7049477" cy="593969"/>
          </a:xfrm>
          <a:prstGeom prst="rect">
            <a:avLst/>
          </a:prstGeom>
        </p:spPr>
        <p:txBody>
          <a:bodyPr/>
          <a:lstStyle/>
          <a:p>
            <a:pPr marL="450850" lvl="1" indent="6350" eaLnBrk="1" hangingPunct="1">
              <a:spcBef>
                <a:spcPct val="20000"/>
              </a:spcBef>
              <a:buFont typeface="Wingdings" panose="05000000000000000000" pitchFamily="2" charset="2"/>
              <a:buChar char="u"/>
              <a:defRPr/>
            </a:pPr>
            <a:r>
              <a:rPr lang="zh-CN" altLang="en-US" sz="3445" b="1" dirty="0">
                <a:solidFill>
                  <a:srgbClr val="0000FF"/>
                </a:solidFill>
                <a:latin typeface="+mn-ea"/>
                <a:ea typeface="+mn-ea"/>
                <a:cs typeface="方正细黑一简体"/>
              </a:rPr>
              <a:t>露出水面的仅仅是冰山一角</a:t>
            </a:r>
            <a:endParaRPr lang="zh-CN" altLang="en-US" sz="3445" b="1" dirty="0">
              <a:solidFill>
                <a:srgbClr val="0000FF"/>
              </a:solidFill>
              <a:latin typeface="+mn-ea"/>
              <a:ea typeface="+mn-ea"/>
              <a:cs typeface="方正细黑一简体"/>
            </a:endParaRPr>
          </a:p>
          <a:p>
            <a:pPr marL="342900" indent="-342900" eaLnBrk="1" hangingPunct="1">
              <a:spcBef>
                <a:spcPct val="20000"/>
              </a:spcBef>
              <a:defRPr/>
            </a:pPr>
            <a:r>
              <a:rPr lang="zh-CN" altLang="en-US" sz="100" kern="0" dirty="0">
                <a:solidFill>
                  <a:srgbClr val="3A3A3A"/>
                </a:solidFill>
                <a:latin typeface="+mn-lt"/>
                <a:ea typeface="+mn-ea"/>
                <a:cs typeface="方正细黑一简体"/>
              </a:rPr>
              <a:t>   </a:t>
            </a:r>
            <a:endParaRPr lang="en-US" altLang="zh-CN" sz="100" kern="0" dirty="0">
              <a:solidFill>
                <a:srgbClr val="3A3A3A"/>
              </a:solidFill>
              <a:latin typeface="+mn-lt"/>
              <a:ea typeface="+mn-ea"/>
              <a:cs typeface="方正细黑一简体"/>
            </a:endParaRPr>
          </a:p>
          <a:p>
            <a:pPr marL="342900" indent="-342900" eaLnBrk="1" hangingPunct="1">
              <a:spcBef>
                <a:spcPct val="20000"/>
              </a:spcBef>
              <a:defRPr/>
            </a:pPr>
            <a:r>
              <a:rPr lang="en-US" altLang="zh-CN" sz="100" kern="0" dirty="0">
                <a:solidFill>
                  <a:srgbClr val="3A3A3A"/>
                </a:solidFill>
                <a:latin typeface="+mn-lt"/>
                <a:ea typeface="+mn-ea"/>
                <a:cs typeface="方正细黑一简体"/>
              </a:rPr>
              <a:t>   </a:t>
            </a:r>
            <a:endParaRPr lang="zh-CN" altLang="en-US" sz="100" kern="0" dirty="0">
              <a:solidFill>
                <a:srgbClr val="3A3A3A"/>
              </a:solidFill>
              <a:latin typeface="+mn-lt"/>
              <a:ea typeface="+mn-ea"/>
              <a:cs typeface="方正细黑一简体"/>
            </a:endParaRPr>
          </a:p>
          <a:p>
            <a:pPr marL="342900" indent="-342900" eaLnBrk="1" hangingPunct="1">
              <a:spcBef>
                <a:spcPct val="20000"/>
              </a:spcBef>
              <a:defRPr/>
            </a:pPr>
            <a:r>
              <a:rPr lang="zh-CN" altLang="en-US" sz="100" kern="0" dirty="0">
                <a:solidFill>
                  <a:srgbClr val="3A3A3A"/>
                </a:solidFill>
                <a:cs typeface="方正细黑一简体"/>
              </a:rPr>
              <a:t>      </a:t>
            </a:r>
            <a:endParaRPr lang="zh-CN" altLang="en-US" sz="100" kern="0" dirty="0">
              <a:solidFill>
                <a:srgbClr val="FC231E"/>
              </a:solidFill>
              <a:latin typeface="+mj-ea"/>
              <a:ea typeface="+mj-ea"/>
              <a:cs typeface="方正细黑一简体"/>
            </a:endParaRPr>
          </a:p>
        </p:txBody>
      </p:sp>
      <p:cxnSp>
        <p:nvCxnSpPr>
          <p:cNvPr id="125957" name="直接连接符 4"/>
          <p:cNvCxnSpPr>
            <a:cxnSpLocks noChangeShapeType="1"/>
          </p:cNvCxnSpPr>
          <p:nvPr/>
        </p:nvCxnSpPr>
        <p:spPr bwMode="auto">
          <a:xfrm>
            <a:off x="527538" y="769816"/>
            <a:ext cx="11330354" cy="1953"/>
          </a:xfrm>
          <a:prstGeom prst="line">
            <a:avLst/>
          </a:prstGeom>
          <a:noFill/>
          <a:ln w="38100" algn="ctr">
            <a:solidFill>
              <a:srgbClr val="0070C0"/>
            </a:solidFill>
            <a:round/>
          </a:ln>
          <a:extLst>
            <a:ext uri="{909E8E84-426E-40DD-AFC4-6F175D3DCCD1}">
              <a14:hiddenFill xmlns:a14="http://schemas.microsoft.com/office/drawing/2010/main">
                <a:noFill/>
              </a14:hiddenFill>
            </a:ext>
          </a:extLst>
        </p:spPr>
      </p:cxnSp>
      <p:sp>
        <p:nvSpPr>
          <p:cNvPr id="2" name="矩形 1"/>
          <p:cNvSpPr/>
          <p:nvPr/>
        </p:nvSpPr>
        <p:spPr>
          <a:xfrm>
            <a:off x="689861" y="5004596"/>
            <a:ext cx="8650256" cy="106680"/>
          </a:xfrm>
          <a:prstGeom prst="rect">
            <a:avLst/>
          </a:prstGeom>
          <a:effectLst>
            <a:glow rad="139700">
              <a:schemeClr val="accent2">
                <a:satMod val="175000"/>
                <a:alpha val="40000"/>
              </a:schemeClr>
            </a:glow>
            <a:outerShdw blurRad="40000" dist="20000" dir="5400000" rotWithShape="0">
              <a:srgbClr val="000000">
                <a:alpha val="38000"/>
              </a:srgbClr>
            </a:outerShdw>
          </a:effectLst>
          <a:scene3d>
            <a:camera prst="obliqueBottomRight"/>
            <a:lightRig rig="threePt" dir="t"/>
          </a:scene3d>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100" b="1" dirty="0">
                <a:solidFill>
                  <a:srgbClr val="FC231E"/>
                </a:solidFill>
                <a:latin typeface="+mn-ea"/>
                <a:cs typeface="方正细黑一简体"/>
              </a:rPr>
              <a:t>   信息安全工作的重点，不能仅仅放在对各种事故的应急处理上，更应该及早发现隐患和威胁，积极预防，防患于未然。当然，面对已经暴露出的问题，也应该深入分析和彻底解决，真正做到“三不放过”：当事人未受到教育不放过；根本原因未查明不放过；整改措施为落实不放过。</a:t>
            </a:r>
            <a:endParaRPr lang="zh-CN" altLang="en-US" sz="100" b="1" dirty="0">
              <a:solidFill>
                <a:srgbClr val="FC231E"/>
              </a:solidFill>
              <a:latin typeface="+mn-ea"/>
              <a:cs typeface="方正细黑一简体"/>
            </a:endParaRPr>
          </a:p>
        </p:txBody>
      </p:sp>
      <p:sp>
        <p:nvSpPr>
          <p:cNvPr id="5" name="矩形 4"/>
          <p:cNvSpPr/>
          <p:nvPr/>
        </p:nvSpPr>
        <p:spPr>
          <a:xfrm>
            <a:off x="3968994" y="1921959"/>
            <a:ext cx="7533145" cy="251269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rgbClr val="4E91D4"/>
            </a:solidFill>
          </a:ln>
          <a:effectLst>
            <a:glow rad="101600">
              <a:schemeClr val="accent2">
                <a:satMod val="175000"/>
                <a:alpha val="40000"/>
              </a:schemeClr>
            </a:glow>
            <a:outerShdw blurRad="50800" dist="38100" dir="2700000" algn="tl" rotWithShape="0">
              <a:prstClr val="black">
                <a:alpha val="40000"/>
              </a:prstClr>
            </a:outerShdw>
          </a:effectLst>
          <a:scene3d>
            <a:camera prst="perspectiveContrastingLeftFacing"/>
            <a:lightRig rig="threePt" dir="t"/>
          </a:scene3d>
        </p:spPr>
        <p:txBody>
          <a:bodyPr>
            <a:spAutoFit/>
          </a:bodyPr>
          <a:lstStyle/>
          <a:p>
            <a:pPr eaLnBrk="1" hangingPunct="1">
              <a:defRPr/>
            </a:pPr>
            <a:r>
              <a:rPr lang="zh-CN" altLang="en-US" sz="1970" b="1" dirty="0">
                <a:solidFill>
                  <a:srgbClr val="3A3A3A"/>
                </a:solidFill>
                <a:latin typeface="+mn-ea"/>
                <a:ea typeface="+mn-ea"/>
                <a:cs typeface="方正细黑一简体"/>
              </a:rPr>
              <a:t>   一座浮于海面的冰山，露在水面以上的只是其十分之一，而另外</a:t>
            </a:r>
            <a:r>
              <a:rPr lang="en-US" altLang="zh-CN" sz="1970" b="1" dirty="0">
                <a:solidFill>
                  <a:srgbClr val="3A3A3A"/>
                </a:solidFill>
                <a:latin typeface="+mn-ea"/>
                <a:ea typeface="+mn-ea"/>
                <a:cs typeface="方正细黑一简体"/>
              </a:rPr>
              <a:t>90%</a:t>
            </a:r>
            <a:r>
              <a:rPr lang="zh-CN" altLang="en-US" sz="1970" b="1" dirty="0">
                <a:solidFill>
                  <a:srgbClr val="3A3A3A"/>
                </a:solidFill>
                <a:latin typeface="+mn-ea"/>
                <a:ea typeface="+mn-ea"/>
                <a:cs typeface="方正细黑一简体"/>
              </a:rPr>
              <a:t>是看不见的。当一艘巨轮撞到冰山的时候，很可能会遭受和泰坦尼克一样的厄运。无独有偶，国际航空界也有一个著名的海恩法则：“每一起严重的航空事故背后，必然有近</a:t>
            </a:r>
            <a:r>
              <a:rPr lang="en-US" altLang="zh-CN" sz="1970" b="1" dirty="0">
                <a:solidFill>
                  <a:srgbClr val="3A3A3A"/>
                </a:solidFill>
                <a:latin typeface="+mn-ea"/>
                <a:ea typeface="+mn-ea"/>
                <a:cs typeface="方正细黑一简体"/>
              </a:rPr>
              <a:t>30</a:t>
            </a:r>
            <a:r>
              <a:rPr lang="zh-CN" altLang="en-US" sz="1970" b="1" dirty="0">
                <a:solidFill>
                  <a:srgbClr val="3A3A3A"/>
                </a:solidFill>
                <a:latin typeface="+mn-ea"/>
                <a:ea typeface="+mn-ea"/>
                <a:cs typeface="方正细黑一简体"/>
              </a:rPr>
              <a:t>起轻微事故和</a:t>
            </a:r>
            <a:r>
              <a:rPr lang="en-US" altLang="zh-CN" sz="1970" b="1" dirty="0">
                <a:solidFill>
                  <a:srgbClr val="3A3A3A"/>
                </a:solidFill>
                <a:latin typeface="+mn-ea"/>
                <a:ea typeface="+mn-ea"/>
                <a:cs typeface="方正细黑一简体"/>
              </a:rPr>
              <a:t>300</a:t>
            </a:r>
            <a:r>
              <a:rPr lang="zh-CN" altLang="en-US" sz="1970" b="1" dirty="0">
                <a:solidFill>
                  <a:srgbClr val="3A3A3A"/>
                </a:solidFill>
                <a:latin typeface="+mn-ea"/>
                <a:ea typeface="+mn-ea"/>
                <a:cs typeface="方正细黑一简体"/>
              </a:rPr>
              <a:t>多起未遂事故先兆，以及</a:t>
            </a:r>
            <a:r>
              <a:rPr lang="en-US" altLang="zh-CN" sz="1970" b="1" dirty="0">
                <a:solidFill>
                  <a:srgbClr val="3A3A3A"/>
                </a:solidFill>
                <a:latin typeface="+mn-ea"/>
                <a:ea typeface="+mn-ea"/>
                <a:cs typeface="方正细黑一简体"/>
              </a:rPr>
              <a:t>10000</a:t>
            </a:r>
            <a:r>
              <a:rPr lang="zh-CN" altLang="en-US" sz="1970" b="1" dirty="0">
                <a:solidFill>
                  <a:srgbClr val="3A3A3A"/>
                </a:solidFill>
                <a:latin typeface="+mn-ea"/>
                <a:ea typeface="+mn-ea"/>
                <a:cs typeface="方正细黑一简体"/>
              </a:rPr>
              <a:t>多起事故隐患”，要想消除一起严重的事故，就必须像发现并回避藏在水面以下的冰山那样，把这</a:t>
            </a:r>
            <a:r>
              <a:rPr lang="en-US" altLang="zh-CN" sz="1970" b="1" dirty="0">
                <a:solidFill>
                  <a:srgbClr val="3A3A3A"/>
                </a:solidFill>
                <a:latin typeface="+mn-ea"/>
                <a:ea typeface="+mn-ea"/>
                <a:cs typeface="方正细黑一简体"/>
              </a:rPr>
              <a:t>10000</a:t>
            </a:r>
            <a:r>
              <a:rPr lang="zh-CN" altLang="en-US" sz="1970" b="1" dirty="0">
                <a:solidFill>
                  <a:srgbClr val="3A3A3A"/>
                </a:solidFill>
                <a:latin typeface="+mn-ea"/>
                <a:ea typeface="+mn-ea"/>
                <a:cs typeface="方正细黑一简体"/>
              </a:rPr>
              <a:t>多起事故隐患控制住并消灭在萌芽状态。真正可怕的，并不是眼前发生的事故，而是更多潜伏未知的隐患和威胁。</a:t>
            </a:r>
            <a:endParaRPr lang="zh-CN" altLang="en-US" sz="1970" b="1" dirty="0">
              <a:solidFill>
                <a:srgbClr val="3A3A3A"/>
              </a:solidFill>
              <a:latin typeface="+mn-ea"/>
              <a:ea typeface="+mn-ea"/>
              <a:cs typeface="方正细黑一简体"/>
            </a:endParaRPr>
          </a:p>
        </p:txBody>
      </p:sp>
      <p:pic>
        <p:nvPicPr>
          <p:cNvPr id="7" name="图片 6"/>
          <p:cNvPicPr>
            <a:picLocks noChangeAspect="1"/>
          </p:cNvPicPr>
          <p:nvPr/>
        </p:nvPicPr>
        <p:blipFill>
          <a:blip r:embed="rId1"/>
          <a:stretch>
            <a:fillRect/>
          </a:stretch>
        </p:blipFill>
        <p:spPr>
          <a:xfrm>
            <a:off x="955737" y="1725060"/>
            <a:ext cx="3954671" cy="3007313"/>
          </a:xfrm>
          <a:prstGeom prst="rect">
            <a:avLst/>
          </a:prstGeom>
          <a:effectLst>
            <a:glow rad="101600">
              <a:schemeClr val="accent2">
                <a:satMod val="175000"/>
                <a:alpha val="40000"/>
              </a:schemeClr>
            </a:glow>
            <a:outerShdw blurRad="50800" dist="38100" dir="10800000" algn="r" rotWithShape="0">
              <a:prstClr val="black">
                <a:alpha val="40000"/>
              </a:prstClr>
            </a:outerShdw>
          </a:effectLst>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5957"/>
                                        </p:tgtEl>
                                        <p:attrNameLst>
                                          <p:attrName>style.visibility</p:attrName>
                                        </p:attrNameLst>
                                      </p:cBhvr>
                                      <p:to>
                                        <p:strVal val="visible"/>
                                      </p:to>
                                    </p:set>
                                    <p:anim calcmode="lin" valueType="num">
                                      <p:cBhvr additive="base">
                                        <p:cTn id="7" dur="500" fill="hold"/>
                                        <p:tgtEl>
                                          <p:spTgt spid="125957"/>
                                        </p:tgtEl>
                                        <p:attrNameLst>
                                          <p:attrName>ppt_x</p:attrName>
                                        </p:attrNameLst>
                                      </p:cBhvr>
                                      <p:tavLst>
                                        <p:tav tm="0">
                                          <p:val>
                                            <p:strVal val="0-#ppt_w/2"/>
                                          </p:val>
                                        </p:tav>
                                        <p:tav tm="100000">
                                          <p:val>
                                            <p:strVal val="#ppt_x"/>
                                          </p:val>
                                        </p:tav>
                                      </p:tavLst>
                                    </p:anim>
                                    <p:anim calcmode="lin" valueType="num">
                                      <p:cBhvr additive="base">
                                        <p:cTn id="8" dur="500" fill="hold"/>
                                        <p:tgtEl>
                                          <p:spTgt spid="12595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818662" y="-123092"/>
            <a:ext cx="10363200" cy="892908"/>
          </a:xfrm>
        </p:spPr>
        <p:txBody>
          <a:bodyPr/>
          <a:lstStyle/>
          <a:p>
            <a:pPr eaLnBrk="1" hangingPunct="1"/>
            <a:r>
              <a:rPr lang="zh-CN" altLang="en-US" sz="3445">
                <a:solidFill>
                  <a:srgbClr val="0000FF"/>
                </a:solidFill>
              </a:rPr>
              <a:t>墨菲定律：</a:t>
            </a:r>
            <a:endParaRPr lang="zh-CN" altLang="en-US" sz="3445">
              <a:solidFill>
                <a:srgbClr val="0000FF"/>
              </a:solidFill>
            </a:endParaRPr>
          </a:p>
        </p:txBody>
      </p:sp>
      <p:cxnSp>
        <p:nvCxnSpPr>
          <p:cNvPr id="126980" name="直接连接符 3"/>
          <p:cNvCxnSpPr>
            <a:cxnSpLocks noChangeShapeType="1"/>
          </p:cNvCxnSpPr>
          <p:nvPr/>
        </p:nvCxnSpPr>
        <p:spPr bwMode="auto">
          <a:xfrm>
            <a:off x="527538" y="681892"/>
            <a:ext cx="11330354" cy="1954"/>
          </a:xfrm>
          <a:prstGeom prst="line">
            <a:avLst/>
          </a:prstGeom>
          <a:noFill/>
          <a:ln w="38100" algn="ctr">
            <a:solidFill>
              <a:srgbClr val="0070C0"/>
            </a:solidFill>
            <a:round/>
          </a:ln>
          <a:extLst>
            <a:ext uri="{909E8E84-426E-40DD-AFC4-6F175D3DCCD1}">
              <a14:hiddenFill xmlns:a14="http://schemas.microsoft.com/office/drawing/2010/main">
                <a:noFill/>
              </a14:hiddenFill>
            </a:ext>
          </a:extLst>
        </p:spPr>
      </p:cxnSp>
      <p:sp>
        <p:nvSpPr>
          <p:cNvPr id="2" name="矩形 1"/>
          <p:cNvSpPr/>
          <p:nvPr/>
        </p:nvSpPr>
        <p:spPr>
          <a:xfrm>
            <a:off x="1749654" y="4935629"/>
            <a:ext cx="9578943" cy="106680"/>
          </a:xfrm>
          <a:prstGeom prst="rect">
            <a:avLst/>
          </a:prstGeom>
          <a:effectLst>
            <a:glow rad="139700">
              <a:schemeClr val="accent2">
                <a:satMod val="175000"/>
                <a:alpha val="40000"/>
              </a:schemeClr>
            </a:glow>
            <a:outerShdw blurRad="40000" dist="20000" dir="5400000" rotWithShape="0">
              <a:srgbClr val="000000">
                <a:alpha val="38000"/>
              </a:srgbClr>
            </a:outerShdw>
          </a:effectLst>
          <a:scene3d>
            <a:camera prst="obliqueBottomRight"/>
            <a:lightRig rig="threePt" dir="t"/>
          </a:scene3d>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100" b="1" dirty="0">
                <a:solidFill>
                  <a:srgbClr val="FC231E"/>
                </a:solidFill>
                <a:latin typeface="+mn-ea"/>
                <a:cs typeface="方正细黑一简体"/>
              </a:rPr>
              <a:t>网络攻击事件发生并非天天都有，但不要以为今天平安无事，不做安全防范就理所当然；门禁系统失灵，虽然今天没有陌生人进入，但你能保证明天或者后天不会？大量案例告诉我们，侥幸心理和麻痹大意是导致信息安全事故发生的主要原因。尽管有一些事故发生的概率很小，但在一次活动中仍可能发生，因此不能忽视，必须坚持预防为主的原则。</a:t>
            </a:r>
            <a:endParaRPr lang="zh-CN" altLang="en-US" sz="100" b="1" dirty="0">
              <a:solidFill>
                <a:srgbClr val="FC231E"/>
              </a:solidFill>
              <a:latin typeface="+mn-ea"/>
              <a:cs typeface="方正细黑一简体"/>
            </a:endParaRPr>
          </a:p>
        </p:txBody>
      </p:sp>
      <p:sp>
        <p:nvSpPr>
          <p:cNvPr id="3" name="矩形 2"/>
          <p:cNvSpPr/>
          <p:nvPr/>
        </p:nvSpPr>
        <p:spPr>
          <a:xfrm>
            <a:off x="601236" y="1817183"/>
            <a:ext cx="6247278" cy="251269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rgbClr val="4E91D4"/>
            </a:solidFill>
          </a:ln>
          <a:effectLst>
            <a:glow rad="101600">
              <a:schemeClr val="accent2">
                <a:satMod val="175000"/>
                <a:alpha val="40000"/>
              </a:schemeClr>
            </a:glow>
            <a:outerShdw blurRad="50800" dist="38100" dir="2700000" algn="tl" rotWithShape="0">
              <a:prstClr val="black">
                <a:alpha val="40000"/>
              </a:prstClr>
            </a:outerShdw>
          </a:effectLst>
          <a:scene3d>
            <a:camera prst="perspectiveContrastingRightFacing"/>
            <a:lightRig rig="threePt" dir="t"/>
          </a:scene3d>
        </p:spPr>
        <p:txBody>
          <a:bodyPr>
            <a:spAutoFit/>
          </a:bodyPr>
          <a:lstStyle/>
          <a:p>
            <a:pPr eaLnBrk="1" hangingPunct="1">
              <a:defRPr/>
            </a:pPr>
            <a:r>
              <a:rPr lang="zh-CN" altLang="en-US" sz="1970" b="1" dirty="0">
                <a:solidFill>
                  <a:srgbClr val="3A3A3A"/>
                </a:solidFill>
                <a:latin typeface="+mn-ea"/>
                <a:ea typeface="+mn-ea"/>
                <a:cs typeface="方正细黑一简体"/>
              </a:rPr>
              <a:t>当你用早餐时，一片涂了黄油的面包突然从手上掉下，它将如何着地？是的，一定是抹了黄油的那面着地。“如果某种事情可能出错，他就会出错。”这就是著名的墨菲定律。对此，通常会有两种截然不同的态度：一种很消极，认为既然差错难免，事故迟早会发生，那就索性放任，听天由命；另一种是积极的态度，认为既然问题可能存在，那就不能存有侥幸心理，应该时刻警觉，小心提防，别让面包从手里落地岂不更好？</a:t>
            </a:r>
            <a:endParaRPr lang="zh-CN" altLang="en-US" sz="1970" b="1" dirty="0">
              <a:solidFill>
                <a:srgbClr val="3A3A3A"/>
              </a:solidFill>
              <a:latin typeface="+mn-ea"/>
              <a:ea typeface="+mn-ea"/>
              <a:cs typeface="方正细黑一简体"/>
            </a:endParaRPr>
          </a:p>
        </p:txBody>
      </p:sp>
      <p:sp>
        <p:nvSpPr>
          <p:cNvPr id="4" name="矩形 3"/>
          <p:cNvSpPr>
            <a:spLocks noChangeArrowheads="1"/>
          </p:cNvSpPr>
          <p:nvPr/>
        </p:nvSpPr>
        <p:spPr bwMode="auto">
          <a:xfrm>
            <a:off x="818662" y="859693"/>
            <a:ext cx="10177584"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450850" indent="63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spcBef>
                <a:spcPct val="0"/>
              </a:spcBef>
              <a:buClr>
                <a:srgbClr val="0000FF"/>
              </a:buClr>
              <a:buFont typeface="Wingdings" panose="05000000000000000000" pitchFamily="2" charset="2"/>
              <a:buChar char="u"/>
            </a:pPr>
            <a:r>
              <a:rPr lang="zh-CN" altLang="en-US" sz="3445" b="1">
                <a:solidFill>
                  <a:srgbClr val="0000FF"/>
                </a:solidFill>
                <a:ea typeface="方正细黑一简体"/>
                <a:cs typeface="方正细黑一简体"/>
              </a:rPr>
              <a:t>掉落的面包总是涂有黄油的一面着地</a:t>
            </a:r>
            <a:endParaRPr lang="zh-CN" altLang="en-US" sz="3445" b="1">
              <a:solidFill>
                <a:srgbClr val="0000FF"/>
              </a:solidFill>
              <a:ea typeface="方正细黑一简体"/>
              <a:cs typeface="方正细黑一简体"/>
            </a:endParaRPr>
          </a:p>
        </p:txBody>
      </p:sp>
      <p:pic>
        <p:nvPicPr>
          <p:cNvPr id="6" name="图片 5"/>
          <p:cNvPicPr>
            <a:picLocks noChangeAspect="1"/>
          </p:cNvPicPr>
          <p:nvPr/>
        </p:nvPicPr>
        <p:blipFill>
          <a:blip r:embed="rId1"/>
          <a:stretch>
            <a:fillRect/>
          </a:stretch>
        </p:blipFill>
        <p:spPr>
          <a:xfrm>
            <a:off x="6450501" y="1660252"/>
            <a:ext cx="3994272" cy="2985141"/>
          </a:xfrm>
          <a:prstGeom prst="rect">
            <a:avLst/>
          </a:prstGeom>
          <a:effectLst>
            <a:glow rad="101600">
              <a:schemeClr val="accent6">
                <a:satMod val="175000"/>
                <a:alpha val="40000"/>
              </a:schemeClr>
            </a:glow>
            <a:outerShdw blurRad="50800" dist="38100" algn="l" rotWithShape="0">
              <a:prstClr val="black">
                <a:alpha val="40000"/>
              </a:prstClr>
            </a:outerShdw>
          </a:effectLst>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6980"/>
                                        </p:tgtEl>
                                        <p:attrNameLst>
                                          <p:attrName>style.visibility</p:attrName>
                                        </p:attrNameLst>
                                      </p:cBhvr>
                                      <p:to>
                                        <p:strVal val="visible"/>
                                      </p:to>
                                    </p:set>
                                    <p:anim calcmode="lin" valueType="num">
                                      <p:cBhvr additive="base">
                                        <p:cTn id="7" dur="500" fill="hold"/>
                                        <p:tgtEl>
                                          <p:spTgt spid="126980"/>
                                        </p:tgtEl>
                                        <p:attrNameLst>
                                          <p:attrName>ppt_x</p:attrName>
                                        </p:attrNameLst>
                                      </p:cBhvr>
                                      <p:tavLst>
                                        <p:tav tm="0">
                                          <p:val>
                                            <p:strVal val="0-#ppt_w/2"/>
                                          </p:val>
                                        </p:tav>
                                        <p:tav tm="100000">
                                          <p:val>
                                            <p:strVal val="#ppt_x"/>
                                          </p:val>
                                        </p:tav>
                                      </p:tavLst>
                                    </p:anim>
                                    <p:anim calcmode="lin" valueType="num">
                                      <p:cBhvr additive="base">
                                        <p:cTn id="8" dur="500" fill="hold"/>
                                        <p:tgtEl>
                                          <p:spTgt spid="12698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528"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500" fill="hold"/>
                                        <p:tgtEl>
                                          <p:spTgt spid="2"/>
                                        </p:tgtEl>
                                        <p:attrNameLst>
                                          <p:attrName>ppt_w</p:attrName>
                                        </p:attrNameLst>
                                      </p:cBhvr>
                                      <p:tavLst>
                                        <p:tav tm="0">
                                          <p:val>
                                            <p:fltVal val="0"/>
                                          </p:val>
                                        </p:tav>
                                        <p:tav tm="100000">
                                          <p:val>
                                            <p:strVal val="#ppt_w"/>
                                          </p:val>
                                        </p:tav>
                                      </p:tavLst>
                                    </p:anim>
                                    <p:anim calcmode="lin" valueType="num">
                                      <p:cBhvr>
                                        <p:cTn id="31" dur="500" fill="hold"/>
                                        <p:tgtEl>
                                          <p:spTgt spid="2"/>
                                        </p:tgtEl>
                                        <p:attrNameLst>
                                          <p:attrName>ppt_h</p:attrName>
                                        </p:attrNameLst>
                                      </p:cBhvr>
                                      <p:tavLst>
                                        <p:tav tm="0">
                                          <p:val>
                                            <p:fltVal val="0"/>
                                          </p:val>
                                        </p:tav>
                                        <p:tav tm="100000">
                                          <p:val>
                                            <p:strVal val="#ppt_h"/>
                                          </p:val>
                                        </p:tav>
                                      </p:tavLst>
                                    </p:anim>
                                    <p:animEffect transition="in" filter="fade">
                                      <p:cBhvr>
                                        <p:cTn id="32" dur="500"/>
                                        <p:tgtEl>
                                          <p:spTgt spid="2"/>
                                        </p:tgtEl>
                                      </p:cBhvr>
                                    </p:animEffect>
                                    <p:anim calcmode="lin" valueType="num">
                                      <p:cBhvr>
                                        <p:cTn id="33" dur="500" fill="hold"/>
                                        <p:tgtEl>
                                          <p:spTgt spid="2"/>
                                        </p:tgtEl>
                                        <p:attrNameLst>
                                          <p:attrName>ppt_x</p:attrName>
                                        </p:attrNameLst>
                                      </p:cBhvr>
                                      <p:tavLst>
                                        <p:tav tm="0">
                                          <p:val>
                                            <p:fltVal val="0.5"/>
                                          </p:val>
                                        </p:tav>
                                        <p:tav tm="100000">
                                          <p:val>
                                            <p:strVal val="#ppt_x"/>
                                          </p:val>
                                        </p:tav>
                                      </p:tavLst>
                                    </p:anim>
                                    <p:anim calcmode="lin" valueType="num">
                                      <p:cBhvr>
                                        <p:cTn id="34" dur="500" fill="hold"/>
                                        <p:tgtEl>
                                          <p:spTgt spid="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818662" y="7816"/>
            <a:ext cx="10363200" cy="535354"/>
          </a:xfrm>
        </p:spPr>
        <p:txBody>
          <a:bodyPr/>
          <a:lstStyle/>
          <a:p>
            <a:pPr eaLnBrk="1" hangingPunct="1"/>
            <a:r>
              <a:rPr lang="zh-CN" altLang="en-US" sz="3445">
                <a:solidFill>
                  <a:srgbClr val="0000FF"/>
                </a:solidFill>
              </a:rPr>
              <a:t>名医启示：</a:t>
            </a:r>
            <a:endParaRPr lang="zh-CN" altLang="en-US" sz="3445">
              <a:solidFill>
                <a:srgbClr val="0000FF"/>
              </a:solidFill>
            </a:endParaRPr>
          </a:p>
        </p:txBody>
      </p:sp>
      <p:cxnSp>
        <p:nvCxnSpPr>
          <p:cNvPr id="129028" name="直接连接符 3"/>
          <p:cNvCxnSpPr>
            <a:cxnSpLocks noChangeShapeType="1"/>
          </p:cNvCxnSpPr>
          <p:nvPr/>
        </p:nvCxnSpPr>
        <p:spPr bwMode="auto">
          <a:xfrm>
            <a:off x="527538" y="681892"/>
            <a:ext cx="11330354" cy="1954"/>
          </a:xfrm>
          <a:prstGeom prst="line">
            <a:avLst/>
          </a:prstGeom>
          <a:noFill/>
          <a:ln w="38100" algn="ctr">
            <a:solidFill>
              <a:srgbClr val="0070C0"/>
            </a:solidFill>
            <a:round/>
          </a:ln>
          <a:extLst>
            <a:ext uri="{909E8E84-426E-40DD-AFC4-6F175D3DCCD1}">
              <a14:hiddenFill xmlns:a14="http://schemas.microsoft.com/office/drawing/2010/main">
                <a:noFill/>
              </a14:hiddenFill>
            </a:ext>
          </a:extLst>
        </p:spPr>
      </p:cxnSp>
      <p:sp>
        <p:nvSpPr>
          <p:cNvPr id="2" name="矩形 1"/>
          <p:cNvSpPr/>
          <p:nvPr/>
        </p:nvSpPr>
        <p:spPr>
          <a:xfrm>
            <a:off x="1454706" y="5301588"/>
            <a:ext cx="9476016" cy="106680"/>
          </a:xfrm>
          <a:prstGeom prst="rect">
            <a:avLst/>
          </a:prstGeom>
          <a:effectLst>
            <a:glow rad="139700">
              <a:schemeClr val="accent2">
                <a:satMod val="175000"/>
                <a:alpha val="40000"/>
              </a:schemeClr>
            </a:glow>
            <a:outerShdw blurRad="40000" dist="20000" dir="5400000" rotWithShape="0">
              <a:srgbClr val="000000">
                <a:alpha val="38000"/>
              </a:srgbClr>
            </a:outerShdw>
          </a:effectLst>
          <a:scene3d>
            <a:camera prst="obliqueBottomRight"/>
            <a:lightRig rig="threePt" dir="t"/>
          </a:scene3d>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100" b="1" dirty="0">
                <a:solidFill>
                  <a:srgbClr val="FC231E"/>
                </a:solidFill>
                <a:latin typeface="+mn-ea"/>
                <a:cs typeface="方正细黑一简体"/>
              </a:rPr>
              <a:t>信息安全不应该只停留在查杀病毒、入侵检测、信息泄漏等应急事件处理上，这样只会成为焦头烂额的“救火队员”，而更应该具有前瞻性，在日常工作中防患于未然，将安全工作做到“隐形”。对管理者来说，您在信息安全上更需要神医？还是名医？</a:t>
            </a:r>
            <a:endParaRPr lang="zh-CN" altLang="en-US" sz="100" b="1" dirty="0">
              <a:solidFill>
                <a:srgbClr val="FC231E"/>
              </a:solidFill>
              <a:latin typeface="+mn-ea"/>
              <a:cs typeface="方正细黑一简体"/>
            </a:endParaRPr>
          </a:p>
        </p:txBody>
      </p:sp>
      <p:sp>
        <p:nvSpPr>
          <p:cNvPr id="3" name="矩形 2"/>
          <p:cNvSpPr/>
          <p:nvPr/>
        </p:nvSpPr>
        <p:spPr>
          <a:xfrm>
            <a:off x="5343590" y="1728409"/>
            <a:ext cx="6539126" cy="28149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rgbClr val="4E91D4"/>
            </a:solidFill>
          </a:ln>
          <a:effectLst>
            <a:glow rad="101600">
              <a:schemeClr val="accent2">
                <a:satMod val="175000"/>
                <a:alpha val="40000"/>
              </a:schemeClr>
            </a:glow>
            <a:outerShdw blurRad="50800" dist="38100" dir="2700000" algn="tl" rotWithShape="0">
              <a:prstClr val="black">
                <a:alpha val="40000"/>
              </a:prstClr>
            </a:outerShdw>
          </a:effectLst>
          <a:scene3d>
            <a:camera prst="perspectiveContrastingLeftFacing"/>
            <a:lightRig rig="threePt" dir="t"/>
          </a:scene3d>
        </p:spPr>
        <p:txBody>
          <a:bodyPr>
            <a:spAutoFit/>
          </a:bodyPr>
          <a:lstStyle/>
          <a:p>
            <a:pPr eaLnBrk="1" hangingPunct="1">
              <a:defRPr/>
            </a:pPr>
            <a:r>
              <a:rPr lang="zh-CN" altLang="en-US" sz="1970" b="1" dirty="0">
                <a:solidFill>
                  <a:srgbClr val="3A3A3A"/>
                </a:solidFill>
                <a:latin typeface="+mn-ea"/>
                <a:ea typeface="+mn-ea"/>
                <a:cs typeface="方正细黑一简体"/>
              </a:rPr>
              <a:t>扁鹊是公认的名医，其实他还有两个哥哥，医术比扁鹊还好。一次魏文帝问起此事，扁鹊解释说：我的两位兄长才是真正的神医。我大哥治病，是在病情发作之前。他所在的地方人们身体健康，根本不生病，所以他的名气无法传出去，只有我们家的人才知道。我二哥治病，是在病情初起之时。他所在的地方人们患上轻微的小病很快就痊愈，所以他的名气只在本乡传播。我扁鹊治病，是在病情严重的时候。一般人都见我经脉穿针放血、皮肤上敷药等大手术，以为我医术高明，名气因此响遍全国。</a:t>
            </a:r>
            <a:endParaRPr lang="zh-CN" altLang="en-US" sz="1970" b="1" dirty="0">
              <a:solidFill>
                <a:srgbClr val="3A3A3A"/>
              </a:solidFill>
              <a:latin typeface="+mn-ea"/>
              <a:ea typeface="+mn-ea"/>
              <a:cs typeface="方正细黑一简体"/>
            </a:endParaRPr>
          </a:p>
        </p:txBody>
      </p:sp>
      <p:pic>
        <p:nvPicPr>
          <p:cNvPr id="4" name="图片 3"/>
          <p:cNvPicPr>
            <a:picLocks noChangeAspect="1"/>
          </p:cNvPicPr>
          <p:nvPr/>
        </p:nvPicPr>
        <p:blipFill>
          <a:blip r:embed="rId1"/>
          <a:stretch>
            <a:fillRect/>
          </a:stretch>
        </p:blipFill>
        <p:spPr>
          <a:xfrm>
            <a:off x="1455616" y="1729154"/>
            <a:ext cx="4337538" cy="2979616"/>
          </a:xfrm>
          <a:prstGeom prst="rect">
            <a:avLst/>
          </a:prstGeom>
          <a:solidFill>
            <a:schemeClr val="bg1">
              <a:lumMod val="65000"/>
            </a:schemeClr>
          </a:solidFill>
          <a:effectLst>
            <a:outerShdw blurRad="50800" dist="38100" dir="18900000" algn="b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pic>
      <p:sp>
        <p:nvSpPr>
          <p:cNvPr id="7" name="矩形 6"/>
          <p:cNvSpPr>
            <a:spLocks noChangeArrowheads="1"/>
          </p:cNvSpPr>
          <p:nvPr/>
        </p:nvSpPr>
        <p:spPr bwMode="auto">
          <a:xfrm>
            <a:off x="689708" y="746370"/>
            <a:ext cx="8204199"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450850" indent="63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spcBef>
                <a:spcPct val="0"/>
              </a:spcBef>
              <a:buClr>
                <a:srgbClr val="0000FF"/>
              </a:buClr>
              <a:buFont typeface="Wingdings" panose="05000000000000000000" pitchFamily="2" charset="2"/>
              <a:buChar char="u"/>
            </a:pPr>
            <a:r>
              <a:rPr lang="zh-CN" altLang="en-US" sz="3445" b="1">
                <a:solidFill>
                  <a:srgbClr val="0000FF"/>
                </a:solidFill>
                <a:ea typeface="方正细黑一简体"/>
                <a:cs typeface="方正细黑一简体"/>
              </a:rPr>
              <a:t>名医起死回生，神医防微杜渐</a:t>
            </a:r>
            <a:endParaRPr lang="zh-CN" altLang="en-US" sz="3445" b="1">
              <a:solidFill>
                <a:srgbClr val="0000FF"/>
              </a:solidFill>
              <a:ea typeface="方正细黑一简体"/>
              <a:cs typeface="方正细黑一简体"/>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9028"/>
                                        </p:tgtEl>
                                        <p:attrNameLst>
                                          <p:attrName>style.visibility</p:attrName>
                                        </p:attrNameLst>
                                      </p:cBhvr>
                                      <p:to>
                                        <p:strVal val="visible"/>
                                      </p:to>
                                    </p:set>
                                    <p:anim calcmode="lin" valueType="num">
                                      <p:cBhvr additive="base">
                                        <p:cTn id="7" dur="500" fill="hold"/>
                                        <p:tgtEl>
                                          <p:spTgt spid="129028"/>
                                        </p:tgtEl>
                                        <p:attrNameLst>
                                          <p:attrName>ppt_x</p:attrName>
                                        </p:attrNameLst>
                                      </p:cBhvr>
                                      <p:tavLst>
                                        <p:tav tm="0">
                                          <p:val>
                                            <p:strVal val="0-#ppt_w/2"/>
                                          </p:val>
                                        </p:tav>
                                        <p:tav tm="100000">
                                          <p:val>
                                            <p:strVal val="#ppt_x"/>
                                          </p:val>
                                        </p:tav>
                                      </p:tavLst>
                                    </p:anim>
                                    <p:anim calcmode="lin" valueType="num">
                                      <p:cBhvr additive="base">
                                        <p:cTn id="8" dur="500" fill="hold"/>
                                        <p:tgtEl>
                                          <p:spTgt spid="12902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818662" y="-27353"/>
            <a:ext cx="10363200" cy="797169"/>
          </a:xfrm>
        </p:spPr>
        <p:txBody>
          <a:bodyPr/>
          <a:lstStyle/>
          <a:p>
            <a:pPr eaLnBrk="1" hangingPunct="1"/>
            <a:r>
              <a:rPr lang="zh-CN" altLang="en-US" sz="3445">
                <a:solidFill>
                  <a:srgbClr val="0000FF"/>
                </a:solidFill>
              </a:rPr>
              <a:t>木桶原理：</a:t>
            </a:r>
            <a:endParaRPr lang="zh-CN" altLang="en-US" sz="3445">
              <a:solidFill>
                <a:srgbClr val="0000FF"/>
              </a:solidFill>
            </a:endParaRPr>
          </a:p>
        </p:txBody>
      </p:sp>
      <p:cxnSp>
        <p:nvCxnSpPr>
          <p:cNvPr id="131076" name="直接连接符 3"/>
          <p:cNvCxnSpPr>
            <a:cxnSpLocks noChangeShapeType="1"/>
          </p:cNvCxnSpPr>
          <p:nvPr/>
        </p:nvCxnSpPr>
        <p:spPr bwMode="auto">
          <a:xfrm>
            <a:off x="527538" y="769816"/>
            <a:ext cx="11330354" cy="1953"/>
          </a:xfrm>
          <a:prstGeom prst="line">
            <a:avLst/>
          </a:prstGeom>
          <a:noFill/>
          <a:ln w="38100" algn="ctr">
            <a:solidFill>
              <a:srgbClr val="0070C0"/>
            </a:solidFill>
            <a:round/>
          </a:ln>
          <a:extLst>
            <a:ext uri="{909E8E84-426E-40DD-AFC4-6F175D3DCCD1}">
              <a14:hiddenFill xmlns:a14="http://schemas.microsoft.com/office/drawing/2010/main">
                <a:noFill/>
              </a14:hiddenFill>
            </a:ext>
          </a:extLst>
        </p:spPr>
      </p:cxnSp>
      <p:sp>
        <p:nvSpPr>
          <p:cNvPr id="2" name="矩形 1"/>
          <p:cNvSpPr>
            <a:spLocks noChangeArrowheads="1"/>
          </p:cNvSpPr>
          <p:nvPr/>
        </p:nvSpPr>
        <p:spPr bwMode="auto">
          <a:xfrm>
            <a:off x="1664738" y="5167911"/>
            <a:ext cx="9295894" cy="1604645"/>
          </a:xfrm>
          <a:prstGeom prst="rect">
            <a:avLst/>
          </a:prstGeom>
          <a:effectLst>
            <a:glow rad="139700">
              <a:schemeClr val="accent2">
                <a:satMod val="175000"/>
                <a:alpha val="40000"/>
              </a:schemeClr>
            </a:glow>
            <a:outerShdw blurRad="40000" dist="20000" dir="5400000" rotWithShape="0">
              <a:srgbClr val="000000">
                <a:alpha val="38000"/>
              </a:srgbClr>
            </a:outerShdw>
          </a:effectLst>
          <a:scene3d>
            <a:camera prst="obliqueBottomRight"/>
            <a:lightRig rig="threePt" dir="t"/>
          </a:scene3d>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1970" b="1" dirty="0">
                <a:solidFill>
                  <a:srgbClr val="FC231E"/>
                </a:solidFill>
                <a:latin typeface="+mn-ea"/>
                <a:cs typeface="方正细黑一简体"/>
              </a:rPr>
              <a:t>信息安全涉及非常多的方面，无论哪个方面薄弱，都会对整体的安全带来隐患。如果只重视技术，不惜巨资采购设备和实施技术控制，却轻视管理，忽视安全制度建设和员工安全意识，真正的安全也难以实现。您知道吗？当您部署了最新的防火墙和入侵检测系统，实施了严格的网络接入控制，可有人随便拿一个</a:t>
            </a:r>
            <a:r>
              <a:rPr lang="en-US" altLang="zh-CN" sz="1970" b="1" dirty="0">
                <a:solidFill>
                  <a:srgbClr val="FC231E"/>
                </a:solidFill>
                <a:latin typeface="+mn-ea"/>
                <a:cs typeface="方正细黑一简体"/>
              </a:rPr>
              <a:t>U</a:t>
            </a:r>
            <a:r>
              <a:rPr lang="zh-CN" altLang="en-US" sz="1970" b="1" dirty="0">
                <a:solidFill>
                  <a:srgbClr val="FC231E"/>
                </a:solidFill>
                <a:latin typeface="+mn-ea"/>
                <a:cs typeface="方正细黑一简体"/>
              </a:rPr>
              <a:t>盘，直接插在没有锁屏的服务器上，您的核心数据也许就泄漏出去了。</a:t>
            </a:r>
            <a:endParaRPr lang="zh-CN" altLang="en-US" sz="1970" b="1" dirty="0">
              <a:solidFill>
                <a:srgbClr val="FC231E"/>
              </a:solidFill>
              <a:latin typeface="+mn-ea"/>
              <a:cs typeface="方正细黑一简体"/>
            </a:endParaRPr>
          </a:p>
        </p:txBody>
      </p:sp>
      <p:sp>
        <p:nvSpPr>
          <p:cNvPr id="3" name="矩形 2"/>
          <p:cNvSpPr/>
          <p:nvPr/>
        </p:nvSpPr>
        <p:spPr>
          <a:xfrm>
            <a:off x="1319993" y="2085052"/>
            <a:ext cx="6105386" cy="190690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rgbClr val="4E91D4"/>
            </a:solidFill>
          </a:ln>
          <a:effectLst>
            <a:glow rad="101600">
              <a:schemeClr val="accent2">
                <a:satMod val="175000"/>
                <a:alpha val="40000"/>
              </a:schemeClr>
            </a:glow>
            <a:outerShdw blurRad="50800" dist="38100" dir="2700000" algn="tl" rotWithShape="0">
              <a:prstClr val="black">
                <a:alpha val="40000"/>
              </a:prstClr>
            </a:outerShdw>
          </a:effectLst>
          <a:scene3d>
            <a:camera prst="perspectiveContrastingRightFacing"/>
            <a:lightRig rig="threePt" dir="t"/>
          </a:scene3d>
        </p:spPr>
        <p:txBody>
          <a:bodyPr>
            <a:spAutoFit/>
          </a:bodyPr>
          <a:lstStyle/>
          <a:p>
            <a:pPr eaLnBrk="1" hangingPunct="1">
              <a:defRPr/>
            </a:pPr>
            <a:r>
              <a:rPr lang="zh-CN" altLang="en-US" sz="1970" b="1" dirty="0">
                <a:solidFill>
                  <a:srgbClr val="3A3A3A"/>
                </a:solidFill>
                <a:latin typeface="+mn-ea"/>
                <a:ea typeface="+mn-ea"/>
                <a:cs typeface="方正细黑一简体"/>
              </a:rPr>
              <a:t>用木桶来装水，如果组成木桶的木板参差不齐，那么它能成水的容量不是由最长的板子来决定，而是由木桶中最短的班子决定的，因此这又被称作“短板效应”。如果事物发展过程中存在“短板”，其整体发展程度就会受到影响，往往劣势决定优势，劣势决定生死，很多时候，通常一件事情就会毁了所有的努力。</a:t>
            </a:r>
            <a:endParaRPr lang="zh-CN" altLang="en-US" sz="1970" b="1" dirty="0">
              <a:solidFill>
                <a:srgbClr val="3A3A3A"/>
              </a:solidFill>
              <a:latin typeface="+mn-ea"/>
              <a:ea typeface="+mn-ea"/>
              <a:cs typeface="方正细黑一简体"/>
            </a:endParaRPr>
          </a:p>
        </p:txBody>
      </p:sp>
      <p:sp>
        <p:nvSpPr>
          <p:cNvPr id="4" name="矩形 3"/>
          <p:cNvSpPr>
            <a:spLocks noChangeArrowheads="1"/>
          </p:cNvSpPr>
          <p:nvPr/>
        </p:nvSpPr>
        <p:spPr bwMode="auto">
          <a:xfrm>
            <a:off x="838201" y="859693"/>
            <a:ext cx="8772769"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450850" indent="63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spcBef>
                <a:spcPct val="0"/>
              </a:spcBef>
              <a:buClr>
                <a:srgbClr val="0000FF"/>
              </a:buClr>
              <a:buFont typeface="Wingdings" panose="05000000000000000000" pitchFamily="2" charset="2"/>
              <a:buChar char="u"/>
            </a:pPr>
            <a:r>
              <a:rPr lang="zh-CN" altLang="en-US" sz="3445" b="1">
                <a:solidFill>
                  <a:srgbClr val="0000FF"/>
                </a:solidFill>
                <a:ea typeface="方正细黑一简体"/>
                <a:cs typeface="方正细黑一简体"/>
              </a:rPr>
              <a:t>木桶的容量取决于最短的那根木板</a:t>
            </a:r>
            <a:endParaRPr lang="zh-CN" altLang="en-US" sz="3445" b="1">
              <a:solidFill>
                <a:srgbClr val="0000FF"/>
              </a:solidFill>
              <a:ea typeface="方正细黑一简体"/>
              <a:cs typeface="方正细黑一简体"/>
            </a:endParaRPr>
          </a:p>
        </p:txBody>
      </p:sp>
      <p:pic>
        <p:nvPicPr>
          <p:cNvPr id="6" name="图片 5"/>
          <p:cNvPicPr>
            <a:picLocks noChangeAspect="1"/>
          </p:cNvPicPr>
          <p:nvPr/>
        </p:nvPicPr>
        <p:blipFill>
          <a:blip r:embed="rId1"/>
          <a:stretch>
            <a:fillRect/>
          </a:stretch>
        </p:blipFill>
        <p:spPr>
          <a:xfrm>
            <a:off x="7424615" y="1533769"/>
            <a:ext cx="4032738" cy="340164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1076"/>
                                        </p:tgtEl>
                                        <p:attrNameLst>
                                          <p:attrName>style.visibility</p:attrName>
                                        </p:attrNameLst>
                                      </p:cBhvr>
                                      <p:to>
                                        <p:strVal val="visible"/>
                                      </p:to>
                                    </p:set>
                                    <p:anim calcmode="lin" valueType="num">
                                      <p:cBhvr additive="base">
                                        <p:cTn id="7" dur="500" fill="hold"/>
                                        <p:tgtEl>
                                          <p:spTgt spid="131076"/>
                                        </p:tgtEl>
                                        <p:attrNameLst>
                                          <p:attrName>ppt_x</p:attrName>
                                        </p:attrNameLst>
                                      </p:cBhvr>
                                      <p:tavLst>
                                        <p:tav tm="0">
                                          <p:val>
                                            <p:strVal val="0-#ppt_w/2"/>
                                          </p:val>
                                        </p:tav>
                                        <p:tav tm="100000">
                                          <p:val>
                                            <p:strVal val="#ppt_x"/>
                                          </p:val>
                                        </p:tav>
                                      </p:tavLst>
                                    </p:anim>
                                    <p:anim calcmode="lin" valueType="num">
                                      <p:cBhvr additive="base">
                                        <p:cTn id="8" dur="500" fill="hold"/>
                                        <p:tgtEl>
                                          <p:spTgt spid="13107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1000" fill="hold"/>
                                        <p:tgtEl>
                                          <p:spTgt spid="6"/>
                                        </p:tgtEl>
                                        <p:attrNameLst>
                                          <p:attrName>ppt_w</p:attrName>
                                        </p:attrNameLst>
                                      </p:cBhvr>
                                      <p:tavLst>
                                        <p:tav tm="0">
                                          <p:val>
                                            <p:fltVal val="0"/>
                                          </p:val>
                                        </p:tav>
                                        <p:tav tm="100000">
                                          <p:val>
                                            <p:strVal val="#ppt_w"/>
                                          </p:val>
                                        </p:tav>
                                      </p:tavLst>
                                    </p:anim>
                                    <p:anim calcmode="lin" valueType="num">
                                      <p:cBhvr>
                                        <p:cTn id="25" dur="1000" fill="hold"/>
                                        <p:tgtEl>
                                          <p:spTgt spid="6"/>
                                        </p:tgtEl>
                                        <p:attrNameLst>
                                          <p:attrName>ppt_h</p:attrName>
                                        </p:attrNameLst>
                                      </p:cBhvr>
                                      <p:tavLst>
                                        <p:tav tm="0">
                                          <p:val>
                                            <p:fltVal val="0"/>
                                          </p:val>
                                        </p:tav>
                                        <p:tav tm="100000">
                                          <p:val>
                                            <p:strVal val="#ppt_h"/>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ChangeArrowheads="1"/>
          </p:cNvSpPr>
          <p:nvPr/>
        </p:nvSpPr>
        <p:spPr bwMode="auto">
          <a:xfrm>
            <a:off x="814754" y="261816"/>
            <a:ext cx="10275276" cy="773723"/>
          </a:xfrm>
          <a:prstGeom prst="rect">
            <a:avLst/>
          </a:prstGeom>
          <a:noFill/>
          <a:ln>
            <a:noFill/>
          </a:ln>
          <a:effectLst>
            <a:outerShdw dist="35921"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4430" b="1">
                <a:solidFill>
                  <a:srgbClr val="0000FF"/>
                </a:solidFill>
                <a:latin typeface="Arial" panose="020B0604020202020204" pitchFamily="34" charset="0"/>
                <a:ea typeface="宋体" panose="02010600030101010101" pitchFamily="2" charset="-122"/>
              </a:rPr>
              <a:t>一个与物理安全相关的案例</a:t>
            </a:r>
            <a:endParaRPr lang="zh-CN" altLang="en-US" sz="4430" b="1">
              <a:solidFill>
                <a:srgbClr val="0000FF"/>
              </a:solidFill>
              <a:latin typeface="Arial" panose="020B0604020202020204" pitchFamily="34" charset="0"/>
              <a:ea typeface="宋体" panose="02010600030101010101" pitchFamily="2" charset="-122"/>
            </a:endParaRPr>
          </a:p>
        </p:txBody>
      </p:sp>
      <p:sp>
        <p:nvSpPr>
          <p:cNvPr id="52227" name="Text Box 3"/>
          <p:cNvSpPr txBox="1">
            <a:spLocks noChangeArrowheads="1"/>
          </p:cNvSpPr>
          <p:nvPr/>
        </p:nvSpPr>
        <p:spPr bwMode="auto">
          <a:xfrm>
            <a:off x="814754" y="3415324"/>
            <a:ext cx="4896338" cy="152400"/>
          </a:xfrm>
          <a:prstGeom prst="rect">
            <a:avLst/>
          </a:prstGeom>
          <a:noFill/>
          <a:ln w="9525">
            <a:noFill/>
            <a:miter lim="800000"/>
          </a:ln>
          <a:effectLst/>
        </p:spPr>
        <p:txBody>
          <a:bodyPr>
            <a:spAutoFit/>
          </a:bodyPr>
          <a:lstStyle/>
          <a:p>
            <a:pPr eaLnBrk="1" hangingPunct="1">
              <a:spcBef>
                <a:spcPct val="50000"/>
              </a:spcBef>
              <a:defRPr/>
            </a:pPr>
            <a:r>
              <a:rPr lang="zh-CN" altLang="en-US" sz="100" b="1" dirty="0">
                <a:solidFill>
                  <a:srgbClr val="C00000"/>
                </a:solidFill>
                <a:effectLst>
                  <a:outerShdw blurRad="38100" dist="38100" dir="2700000" algn="tl">
                    <a:srgbClr val="C0C0C0"/>
                  </a:outerShdw>
                </a:effectLst>
                <a:latin typeface="Comic Sans MS" panose="030F0702030302020204" pitchFamily="66" charset="0"/>
              </a:rPr>
              <a:t>时间：</a:t>
            </a:r>
            <a:r>
              <a:rPr lang="en-US" altLang="zh-CN" sz="100" b="1" dirty="0">
                <a:solidFill>
                  <a:srgbClr val="C00000"/>
                </a:solidFill>
                <a:effectLst>
                  <a:outerShdw blurRad="38100" dist="38100" dir="2700000" algn="tl">
                    <a:srgbClr val="C0C0C0"/>
                  </a:outerShdw>
                </a:effectLst>
                <a:latin typeface="Comic Sans MS" panose="030F0702030302020204" pitchFamily="66" charset="0"/>
              </a:rPr>
              <a:t>20XX</a:t>
            </a:r>
            <a:r>
              <a:rPr lang="zh-CN" altLang="en-US" sz="100" b="1" dirty="0">
                <a:solidFill>
                  <a:srgbClr val="C00000"/>
                </a:solidFill>
                <a:effectLst>
                  <a:outerShdw blurRad="38100" dist="38100" dir="2700000" algn="tl">
                    <a:srgbClr val="C0C0C0"/>
                  </a:outerShdw>
                </a:effectLst>
                <a:latin typeface="Comic Sans MS" panose="030F0702030302020204" pitchFamily="66" charset="0"/>
              </a:rPr>
              <a:t>年某天夜里</a:t>
            </a:r>
            <a:endParaRPr lang="zh-CN" altLang="en-US" sz="100" b="1" dirty="0">
              <a:solidFill>
                <a:srgbClr val="C00000"/>
              </a:solidFill>
              <a:effectLst>
                <a:outerShdw blurRad="38100" dist="38100" dir="2700000" algn="tl">
                  <a:srgbClr val="C0C0C0"/>
                </a:outerShdw>
              </a:effectLst>
              <a:latin typeface="Comic Sans MS" panose="030F0702030302020204" pitchFamily="66" charset="0"/>
            </a:endParaRPr>
          </a:p>
          <a:p>
            <a:pPr eaLnBrk="1" hangingPunct="1">
              <a:spcBef>
                <a:spcPct val="50000"/>
              </a:spcBef>
              <a:defRPr/>
            </a:pPr>
            <a:r>
              <a:rPr lang="zh-CN" altLang="en-US" sz="100" b="1" dirty="0">
                <a:solidFill>
                  <a:srgbClr val="C00000"/>
                </a:solidFill>
                <a:effectLst>
                  <a:outerShdw blurRad="38100" dist="38100" dir="2700000" algn="tl">
                    <a:srgbClr val="C0C0C0"/>
                  </a:outerShdw>
                </a:effectLst>
                <a:latin typeface="Comic Sans MS" panose="030F0702030302020204" pitchFamily="66" charset="0"/>
              </a:rPr>
              <a:t>地点：</a:t>
            </a:r>
            <a:r>
              <a:rPr lang="en-US" altLang="zh-CN" sz="100" b="1" dirty="0">
                <a:solidFill>
                  <a:srgbClr val="C00000"/>
                </a:solidFill>
                <a:effectLst>
                  <a:outerShdw blurRad="38100" dist="38100" dir="2700000" algn="tl">
                    <a:srgbClr val="C0C0C0"/>
                  </a:outerShdw>
                </a:effectLst>
                <a:latin typeface="Comic Sans MS" panose="030F0702030302020204" pitchFamily="66" charset="0"/>
              </a:rPr>
              <a:t>A</a:t>
            </a:r>
            <a:r>
              <a:rPr lang="zh-CN" altLang="en-US" sz="100" b="1" dirty="0">
                <a:solidFill>
                  <a:srgbClr val="C00000"/>
                </a:solidFill>
                <a:effectLst>
                  <a:outerShdw blurRad="38100" dist="38100" dir="2700000" algn="tl">
                    <a:srgbClr val="C0C0C0"/>
                  </a:outerShdw>
                </a:effectLst>
                <a:latin typeface="Comic Sans MS" panose="030F0702030302020204" pitchFamily="66" charset="0"/>
              </a:rPr>
              <a:t>公司的数据中心大楼</a:t>
            </a:r>
            <a:endParaRPr lang="zh-CN" altLang="en-US" sz="100" b="1" dirty="0">
              <a:solidFill>
                <a:srgbClr val="C00000"/>
              </a:solidFill>
              <a:effectLst>
                <a:outerShdw blurRad="38100" dist="38100" dir="2700000" algn="tl">
                  <a:srgbClr val="C0C0C0"/>
                </a:outerShdw>
              </a:effectLst>
              <a:latin typeface="Comic Sans MS" panose="030F0702030302020204" pitchFamily="66" charset="0"/>
            </a:endParaRPr>
          </a:p>
          <a:p>
            <a:pPr eaLnBrk="1" hangingPunct="1">
              <a:spcBef>
                <a:spcPct val="50000"/>
              </a:spcBef>
              <a:defRPr/>
            </a:pPr>
            <a:r>
              <a:rPr lang="zh-CN" altLang="en-US" sz="100" b="1" dirty="0">
                <a:solidFill>
                  <a:srgbClr val="C00000"/>
                </a:solidFill>
                <a:effectLst>
                  <a:outerShdw blurRad="38100" dist="38100" dir="2700000" algn="tl">
                    <a:srgbClr val="C0C0C0"/>
                  </a:outerShdw>
                </a:effectLst>
                <a:latin typeface="Comic Sans MS" panose="030F0702030302020204" pitchFamily="66" charset="0"/>
              </a:rPr>
              <a:t>人物：一个普通的系统管理员</a:t>
            </a:r>
            <a:endParaRPr lang="zh-CN" altLang="en-US" sz="100" b="1" dirty="0">
              <a:solidFill>
                <a:srgbClr val="C00000"/>
              </a:solidFill>
              <a:effectLst>
                <a:outerShdw blurRad="38100" dist="38100" dir="2700000" algn="tl">
                  <a:srgbClr val="C0C0C0"/>
                </a:outerShdw>
              </a:effectLst>
              <a:latin typeface="Comic Sans MS" panose="030F0702030302020204" pitchFamily="66" charset="0"/>
            </a:endParaRPr>
          </a:p>
        </p:txBody>
      </p:sp>
      <p:pic>
        <p:nvPicPr>
          <p:cNvPr id="134148" name="Picture 4" descr="accesscontro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59600" y="3251201"/>
            <a:ext cx="3647831" cy="3264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Rectangle 5"/>
          <p:cNvSpPr>
            <a:spLocks noChangeArrowheads="1"/>
          </p:cNvSpPr>
          <p:nvPr/>
        </p:nvSpPr>
        <p:spPr bwMode="auto">
          <a:xfrm>
            <a:off x="431801" y="1743832"/>
            <a:ext cx="11426092" cy="1119505"/>
          </a:xfrm>
          <a:prstGeom prst="rect">
            <a:avLst/>
          </a:prstGeom>
          <a:noFill/>
          <a:ln w="9525">
            <a:noFill/>
            <a:miter lim="800000"/>
          </a:ln>
          <a:effectLst/>
        </p:spPr>
        <p:txBody>
          <a:bodyPr anchor="ctr">
            <a:spAutoFit/>
          </a:bodyPr>
          <a:lstStyle/>
          <a:p>
            <a:pPr eaLnBrk="1" hangingPunct="1">
              <a:lnSpc>
                <a:spcPct val="110000"/>
              </a:lnSpc>
              <a:spcBef>
                <a:spcPct val="70000"/>
              </a:spcBef>
              <a:defRPr/>
            </a:pPr>
            <a:r>
              <a:rPr lang="en-US" altLang="zh-CN" sz="2955" b="1" dirty="0">
                <a:solidFill>
                  <a:srgbClr val="4B5B57"/>
                </a:solidFill>
                <a:effectLst>
                  <a:outerShdw blurRad="38100" dist="38100" dir="2700000" algn="tl">
                    <a:srgbClr val="C0C0C0"/>
                  </a:outerShdw>
                </a:effectLst>
                <a:latin typeface="+mn-ea"/>
                <a:ea typeface="+mn-ea"/>
              </a:rPr>
              <a:t>    </a:t>
            </a:r>
            <a:r>
              <a:rPr lang="zh-CN" altLang="en-US" sz="2955" b="1" dirty="0">
                <a:solidFill>
                  <a:srgbClr val="4B5B57"/>
                </a:solidFill>
                <a:effectLst>
                  <a:outerShdw blurRad="38100" dist="38100" dir="2700000" algn="tl">
                    <a:srgbClr val="C0C0C0"/>
                  </a:outerShdw>
                </a:effectLst>
                <a:latin typeface="+mn-ea"/>
                <a:ea typeface="+mn-ea"/>
              </a:rPr>
              <a:t>一个普通的系统管理员，利用看似简单的方法，就进入了需要门卡认证的数据中心</a:t>
            </a:r>
            <a:r>
              <a:rPr lang="en-US" altLang="zh-CN" sz="2955" b="1" dirty="0">
                <a:solidFill>
                  <a:srgbClr val="4B5B57"/>
                </a:solidFill>
                <a:effectLst>
                  <a:outerShdw blurRad="38100" dist="38100" dir="2700000" algn="tl">
                    <a:srgbClr val="C0C0C0"/>
                  </a:outerShdw>
                </a:effectLst>
                <a:latin typeface="+mn-ea"/>
                <a:ea typeface="+mn-ea"/>
              </a:rPr>
              <a:t>……</a:t>
            </a:r>
            <a:endParaRPr lang="en-US" altLang="zh-CN" sz="2955" b="1" dirty="0">
              <a:solidFill>
                <a:srgbClr val="4B5B57"/>
              </a:solidFill>
              <a:effectLst>
                <a:outerShdw blurRad="38100" dist="38100" dir="2700000" algn="tl">
                  <a:srgbClr val="C0C0C0"/>
                </a:outerShdw>
              </a:effectLst>
              <a:latin typeface="+mn-ea"/>
              <a:ea typeface="+mn-ea"/>
            </a:endParaRPr>
          </a:p>
          <a:p>
            <a:pPr eaLnBrk="1" hangingPunct="1">
              <a:lnSpc>
                <a:spcPct val="110000"/>
              </a:lnSpc>
              <a:spcBef>
                <a:spcPct val="70000"/>
              </a:spcBef>
              <a:defRPr/>
            </a:pPr>
            <a:r>
              <a:rPr lang="en-US" altLang="zh-CN" sz="100" b="1" dirty="0">
                <a:solidFill>
                  <a:srgbClr val="9B08EC"/>
                </a:solidFill>
                <a:effectLst>
                  <a:outerShdw blurRad="38100" dist="38100" dir="2700000" algn="tl">
                    <a:srgbClr val="C0C0C0"/>
                  </a:outerShdw>
                </a:effectLst>
                <a:latin typeface="+mn-ea"/>
                <a:ea typeface="+mn-ea"/>
              </a:rPr>
              <a:t>                               </a:t>
            </a:r>
            <a:r>
              <a:rPr lang="en-US" altLang="zh-CN" sz="100" b="1" dirty="0">
                <a:solidFill>
                  <a:srgbClr val="4B5B57"/>
                </a:solidFill>
                <a:effectLst>
                  <a:outerShdw blurRad="38100" dist="38100" dir="2700000" algn="tl">
                    <a:srgbClr val="C0C0C0"/>
                  </a:outerShdw>
                </a:effectLst>
                <a:latin typeface="+mn-ea"/>
                <a:ea typeface="+mn-ea"/>
              </a:rPr>
              <a:t>———— </a:t>
            </a:r>
            <a:r>
              <a:rPr lang="zh-CN" altLang="en-US" sz="100" b="1" dirty="0">
                <a:solidFill>
                  <a:srgbClr val="4B5B57"/>
                </a:solidFill>
                <a:effectLst>
                  <a:outerShdw blurRad="38100" dist="38100" dir="2700000" algn="tl">
                    <a:srgbClr val="C0C0C0"/>
                  </a:outerShdw>
                </a:effectLst>
                <a:latin typeface="+mn-ea"/>
                <a:ea typeface="+mn-ea"/>
              </a:rPr>
              <a:t>来自国外某论坛的激烈讨论</a:t>
            </a:r>
            <a:endParaRPr lang="zh-CN" altLang="en-US" sz="100" b="1" dirty="0">
              <a:solidFill>
                <a:srgbClr val="4B5B57"/>
              </a:solidFill>
              <a:effectLst>
                <a:outerShdw blurRad="38100" dist="38100" dir="2700000" algn="tl">
                  <a:srgbClr val="C0C0C0"/>
                </a:outerShdw>
              </a:effectLst>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2229"/>
                                        </p:tgtEl>
                                        <p:attrNameLst>
                                          <p:attrName>style.visibility</p:attrName>
                                        </p:attrNameLst>
                                      </p:cBhvr>
                                      <p:to>
                                        <p:strVal val="visible"/>
                                      </p:to>
                                    </p:set>
                                    <p:anim calcmode="lin" valueType="num">
                                      <p:cBhvr additive="base">
                                        <p:cTn id="7" dur="500" fill="hold"/>
                                        <p:tgtEl>
                                          <p:spTgt spid="52229"/>
                                        </p:tgtEl>
                                        <p:attrNameLst>
                                          <p:attrName>ppt_x</p:attrName>
                                        </p:attrNameLst>
                                      </p:cBhvr>
                                      <p:tavLst>
                                        <p:tav tm="0">
                                          <p:val>
                                            <p:strVal val="#ppt_x"/>
                                          </p:val>
                                        </p:tav>
                                        <p:tav tm="100000">
                                          <p:val>
                                            <p:strVal val="#ppt_x"/>
                                          </p:val>
                                        </p:tav>
                                      </p:tavLst>
                                    </p:anim>
                                    <p:anim calcmode="lin" valueType="num">
                                      <p:cBhvr additive="base">
                                        <p:cTn id="8" dur="500" fill="hold"/>
                                        <p:tgtEl>
                                          <p:spTgt spid="5222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34148"/>
                                        </p:tgtEl>
                                        <p:attrNameLst>
                                          <p:attrName>style.visibility</p:attrName>
                                        </p:attrNameLst>
                                      </p:cBhvr>
                                      <p:to>
                                        <p:strVal val="visible"/>
                                      </p:to>
                                    </p:set>
                                    <p:anim calcmode="lin" valueType="num">
                                      <p:cBhvr>
                                        <p:cTn id="12" dur="1000" fill="hold"/>
                                        <p:tgtEl>
                                          <p:spTgt spid="134148"/>
                                        </p:tgtEl>
                                        <p:attrNameLst>
                                          <p:attrName>ppt_w</p:attrName>
                                        </p:attrNameLst>
                                      </p:cBhvr>
                                      <p:tavLst>
                                        <p:tav tm="0">
                                          <p:val>
                                            <p:fltVal val="0"/>
                                          </p:val>
                                        </p:tav>
                                        <p:tav tm="100000">
                                          <p:val>
                                            <p:strVal val="#ppt_w"/>
                                          </p:val>
                                        </p:tav>
                                      </p:tavLst>
                                    </p:anim>
                                    <p:anim calcmode="lin" valueType="num">
                                      <p:cBhvr>
                                        <p:cTn id="13" dur="1000" fill="hold"/>
                                        <p:tgtEl>
                                          <p:spTgt spid="134148"/>
                                        </p:tgtEl>
                                        <p:attrNameLst>
                                          <p:attrName>ppt_h</p:attrName>
                                        </p:attrNameLst>
                                      </p:cBhvr>
                                      <p:tavLst>
                                        <p:tav tm="0">
                                          <p:val>
                                            <p:fltVal val="0"/>
                                          </p:val>
                                        </p:tav>
                                        <p:tav tm="100000">
                                          <p:val>
                                            <p:strVal val="#ppt_h"/>
                                          </p:val>
                                        </p:tav>
                                      </p:tavLst>
                                    </p:anim>
                                    <p:animEffect transition="in" filter="fade">
                                      <p:cBhvr>
                                        <p:cTn id="14" dur="1000"/>
                                        <p:tgtEl>
                                          <p:spTgt spid="134148"/>
                                        </p:tgtEl>
                                      </p:cBhvr>
                                    </p:animEffect>
                                  </p:childTnLst>
                                </p:cTn>
                              </p:par>
                            </p:childTnLst>
                          </p:cTn>
                        </p:par>
                        <p:par>
                          <p:cTn id="15" fill="hold">
                            <p:stCondLst>
                              <p:cond delay="1500"/>
                            </p:stCondLst>
                            <p:childTnLst>
                              <p:par>
                                <p:cTn id="16" presetID="2" presetClass="entr" presetSubtype="8" fill="hold" grpId="0" nodeType="afterEffect">
                                  <p:stCondLst>
                                    <p:cond delay="0"/>
                                  </p:stCondLst>
                                  <p:childTnLst>
                                    <p:set>
                                      <p:cBhvr>
                                        <p:cTn id="17" dur="1" fill="hold">
                                          <p:stCondLst>
                                            <p:cond delay="0"/>
                                          </p:stCondLst>
                                        </p:cTn>
                                        <p:tgtEl>
                                          <p:spTgt spid="52227"/>
                                        </p:tgtEl>
                                        <p:attrNameLst>
                                          <p:attrName>style.visibility</p:attrName>
                                        </p:attrNameLst>
                                      </p:cBhvr>
                                      <p:to>
                                        <p:strVal val="visible"/>
                                      </p:to>
                                    </p:set>
                                    <p:anim calcmode="lin" valueType="num">
                                      <p:cBhvr additive="base">
                                        <p:cTn id="18" dur="1000" fill="hold"/>
                                        <p:tgtEl>
                                          <p:spTgt spid="52227"/>
                                        </p:tgtEl>
                                        <p:attrNameLst>
                                          <p:attrName>ppt_x</p:attrName>
                                        </p:attrNameLst>
                                      </p:cBhvr>
                                      <p:tavLst>
                                        <p:tav tm="0">
                                          <p:val>
                                            <p:strVal val="0-#ppt_w/2"/>
                                          </p:val>
                                        </p:tav>
                                        <p:tav tm="100000">
                                          <p:val>
                                            <p:strVal val="#ppt_x"/>
                                          </p:val>
                                        </p:tav>
                                      </p:tavLst>
                                    </p:anim>
                                    <p:anim calcmode="lin" valueType="num">
                                      <p:cBhvr additive="base">
                                        <p:cTn id="19" dur="1000" fill="hold"/>
                                        <p:tgtEl>
                                          <p:spTgt spid="52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ldLvl="0" animBg="1"/>
      <p:bldP spid="52229" grpId="0" bldLvl="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399585" y="3522785"/>
            <a:ext cx="3546230" cy="3544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0" name="Rectangle 2"/>
          <p:cNvSpPr>
            <a:spLocks noChangeArrowheads="1"/>
          </p:cNvSpPr>
          <p:nvPr/>
        </p:nvSpPr>
        <p:spPr bwMode="auto">
          <a:xfrm>
            <a:off x="814754" y="261816"/>
            <a:ext cx="9161584" cy="773723"/>
          </a:xfrm>
          <a:prstGeom prst="rect">
            <a:avLst/>
          </a:prstGeom>
          <a:noFill/>
          <a:ln w="9525">
            <a:noFill/>
            <a:miter lim="800000"/>
          </a:ln>
          <a:effectLst>
            <a:outerShdw dist="35921" dir="2700000" algn="ctr" rotWithShape="0">
              <a:srgbClr val="808080">
                <a:alpha val="50000"/>
              </a:srgbClr>
            </a:outerShdw>
          </a:effectLst>
        </p:spPr>
        <p:txBody>
          <a:bodyPr anchor="b"/>
          <a:lstStyle/>
          <a:p>
            <a:pPr eaLnBrk="1" hangingPunct="1">
              <a:defRPr/>
            </a:pPr>
            <a:r>
              <a:rPr lang="zh-CN" altLang="en-US" sz="4430" b="1" dirty="0">
                <a:solidFill>
                  <a:srgbClr val="0000FF"/>
                </a:solidFill>
                <a:latin typeface="+mn-ea"/>
                <a:ea typeface="+mn-ea"/>
              </a:rPr>
              <a:t>情况是这样的 </a:t>
            </a:r>
            <a:r>
              <a:rPr lang="en-US" altLang="zh-CN" sz="4430" b="1" dirty="0">
                <a:solidFill>
                  <a:srgbClr val="0000FF"/>
                </a:solidFill>
                <a:latin typeface="+mn-ea"/>
                <a:ea typeface="+mn-ea"/>
              </a:rPr>
              <a:t>……</a:t>
            </a:r>
            <a:endParaRPr lang="en-US" altLang="zh-CN" sz="4430" b="1" dirty="0">
              <a:solidFill>
                <a:srgbClr val="0000FF"/>
              </a:solidFill>
              <a:latin typeface="+mn-ea"/>
              <a:ea typeface="+mn-ea"/>
            </a:endParaRPr>
          </a:p>
        </p:txBody>
      </p:sp>
      <p:sp>
        <p:nvSpPr>
          <p:cNvPr id="53251" name="Text Box 3"/>
          <p:cNvSpPr txBox="1">
            <a:spLocks noChangeArrowheads="1"/>
          </p:cNvSpPr>
          <p:nvPr/>
        </p:nvSpPr>
        <p:spPr bwMode="auto">
          <a:xfrm>
            <a:off x="875323" y="4355123"/>
            <a:ext cx="10271370" cy="469265"/>
          </a:xfrm>
          <a:prstGeom prst="rect">
            <a:avLst/>
          </a:prstGeom>
          <a:noFill/>
          <a:ln w="9525">
            <a:noFill/>
            <a:miter lim="800000"/>
          </a:ln>
          <a:effectLst/>
        </p:spPr>
        <p:txBody>
          <a:bodyPr>
            <a:spAutoFit/>
          </a:bodyPr>
          <a:lstStyle/>
          <a:p>
            <a:pPr eaLnBrk="1" hangingPunct="1">
              <a:spcBef>
                <a:spcPct val="50000"/>
              </a:spcBef>
              <a:buFont typeface="Wingdings" panose="05000000000000000000" pitchFamily="2" charset="2"/>
              <a:buChar char="l"/>
              <a:defRPr/>
            </a:pPr>
            <a:r>
              <a:rPr lang="zh-CN" altLang="en-US" sz="2460" b="1" dirty="0">
                <a:effectLst>
                  <a:outerShdw blurRad="38100" dist="38100" dir="2700000" algn="tl">
                    <a:srgbClr val="C0C0C0"/>
                  </a:outerShdw>
                </a:effectLst>
                <a:latin typeface="+mn-ea"/>
                <a:ea typeface="+mn-ea"/>
              </a:rPr>
              <a:t> 张三君急需今夜加班，可他又不想打扰他人，怎么办？</a:t>
            </a:r>
            <a:endParaRPr lang="zh-CN" altLang="en-US" sz="2460" b="1" dirty="0">
              <a:effectLst>
                <a:outerShdw blurRad="38100" dist="38100" dir="2700000" algn="tl">
                  <a:srgbClr val="C0C0C0"/>
                </a:outerShdw>
              </a:effectLst>
              <a:latin typeface="+mn-ea"/>
              <a:ea typeface="+mn-ea"/>
            </a:endParaRPr>
          </a:p>
        </p:txBody>
      </p:sp>
      <p:sp>
        <p:nvSpPr>
          <p:cNvPr id="2" name="矩形 1"/>
          <p:cNvSpPr/>
          <p:nvPr/>
        </p:nvSpPr>
        <p:spPr>
          <a:xfrm>
            <a:off x="777631" y="1656862"/>
            <a:ext cx="9917723" cy="1226185"/>
          </a:xfrm>
          <a:prstGeom prst="rect">
            <a:avLst/>
          </a:prstGeom>
        </p:spPr>
        <p:txBody>
          <a:bodyPr>
            <a:spAutoFit/>
          </a:bodyPr>
          <a:lstStyle/>
          <a:p>
            <a:pPr marL="285750" indent="-285750" eaLnBrk="1" hangingPunct="1">
              <a:spcBef>
                <a:spcPct val="50000"/>
              </a:spcBef>
              <a:buFont typeface="Wingdings" panose="05000000000000000000" pitchFamily="2" charset="2"/>
              <a:buChar char="l"/>
              <a:defRPr/>
            </a:pPr>
            <a:r>
              <a:rPr lang="en-US" altLang="zh-CN" sz="2460" b="1" dirty="0">
                <a:effectLst>
                  <a:outerShdw blurRad="38100" dist="38100" dir="2700000" algn="tl">
                    <a:srgbClr val="C0C0C0"/>
                  </a:outerShdw>
                </a:effectLst>
                <a:latin typeface="+mn-ea"/>
                <a:ea typeface="+mn-ea"/>
              </a:rPr>
              <a:t>A</a:t>
            </a:r>
            <a:r>
              <a:rPr lang="zh-CN" altLang="en-US" sz="2460" b="1" dirty="0">
                <a:effectLst>
                  <a:outerShdw blurRad="38100" dist="38100" dir="2700000" algn="tl">
                    <a:srgbClr val="C0C0C0"/>
                  </a:outerShdw>
                </a:effectLst>
                <a:latin typeface="+mn-ea"/>
                <a:ea typeface="+mn-ea"/>
              </a:rPr>
              <a:t>公司的数据中心是</a:t>
            </a:r>
            <a:r>
              <a:rPr lang="zh-CN" altLang="en-US" sz="2460" b="1" dirty="0">
                <a:solidFill>
                  <a:srgbClr val="FF0000"/>
                </a:solidFill>
                <a:effectLst>
                  <a:outerShdw blurRad="38100" dist="38100" dir="2700000" algn="tl">
                    <a:srgbClr val="C0C0C0"/>
                  </a:outerShdw>
                </a:effectLst>
                <a:latin typeface="+mn-ea"/>
                <a:ea typeface="+mn-ea"/>
              </a:rPr>
              <a:t>重地</a:t>
            </a:r>
            <a:r>
              <a:rPr lang="zh-CN" altLang="en-US" sz="2460" b="1" dirty="0">
                <a:effectLst>
                  <a:outerShdw blurRad="38100" dist="38100" dir="2700000" algn="tl">
                    <a:srgbClr val="C0C0C0"/>
                  </a:outerShdw>
                </a:effectLst>
                <a:latin typeface="+mn-ea"/>
                <a:ea typeface="+mn-ea"/>
              </a:rPr>
              <a:t>，设立了严格的</a:t>
            </a:r>
            <a:r>
              <a:rPr lang="zh-CN" altLang="en-US" sz="2460" b="1" dirty="0">
                <a:solidFill>
                  <a:srgbClr val="FF0000"/>
                </a:solidFill>
                <a:effectLst>
                  <a:outerShdw blurRad="38100" dist="38100" dir="2700000" algn="tl">
                    <a:srgbClr val="C0C0C0"/>
                  </a:outerShdw>
                </a:effectLst>
                <a:latin typeface="+mn-ea"/>
                <a:ea typeface="+mn-ea"/>
              </a:rPr>
              <a:t>门禁制度</a:t>
            </a:r>
            <a:r>
              <a:rPr lang="zh-CN" altLang="en-US" sz="2460" b="1" dirty="0">
                <a:effectLst>
                  <a:outerShdw blurRad="38100" dist="38100" dir="2700000" algn="tl">
                    <a:srgbClr val="C0C0C0"/>
                  </a:outerShdw>
                </a:effectLst>
                <a:latin typeface="+mn-ea"/>
                <a:ea typeface="+mn-ea"/>
              </a:rPr>
              <a:t>，要求</a:t>
            </a:r>
            <a:r>
              <a:rPr lang="zh-CN" altLang="en-US" sz="2460" b="1" dirty="0">
                <a:solidFill>
                  <a:srgbClr val="FF0000"/>
                </a:solidFill>
                <a:effectLst>
                  <a:outerShdw blurRad="38100" dist="38100" dir="2700000" algn="tl">
                    <a:srgbClr val="C0C0C0"/>
                  </a:outerShdw>
                </a:effectLst>
                <a:latin typeface="+mn-ea"/>
                <a:ea typeface="+mn-ea"/>
              </a:rPr>
              <a:t>必须插入门卡才能进入</a:t>
            </a:r>
            <a:r>
              <a:rPr lang="zh-CN" altLang="en-US" sz="2460" b="1" dirty="0">
                <a:effectLst>
                  <a:outerShdw blurRad="38100" dist="38100" dir="2700000" algn="tl">
                    <a:srgbClr val="C0C0C0"/>
                  </a:outerShdw>
                </a:effectLst>
                <a:latin typeface="+mn-ea"/>
                <a:ea typeface="+mn-ea"/>
              </a:rPr>
              <a:t>。不过，出来时很简单，</a:t>
            </a:r>
            <a:r>
              <a:rPr lang="zh-CN" altLang="en-US" sz="2460" b="1" dirty="0">
                <a:solidFill>
                  <a:srgbClr val="FF0000"/>
                </a:solidFill>
                <a:effectLst>
                  <a:outerShdw blurRad="38100" dist="38100" dir="2700000" algn="tl">
                    <a:srgbClr val="C0C0C0"/>
                  </a:outerShdw>
                </a:effectLst>
                <a:latin typeface="+mn-ea"/>
                <a:ea typeface="+mn-ea"/>
              </a:rPr>
              <a:t>数据中心一旁的动作探测器会检测到有人朝出口走去，门会自动打开</a:t>
            </a:r>
            <a:endParaRPr lang="zh-CN" altLang="en-US" sz="2460" b="1" dirty="0">
              <a:solidFill>
                <a:srgbClr val="FF0000"/>
              </a:solidFill>
              <a:effectLst>
                <a:outerShdw blurRad="38100" dist="38100" dir="2700000" algn="tl">
                  <a:srgbClr val="C0C0C0"/>
                </a:outerShdw>
              </a:effectLst>
              <a:latin typeface="+mn-ea"/>
              <a:ea typeface="+mn-ea"/>
            </a:endParaRPr>
          </a:p>
        </p:txBody>
      </p:sp>
      <p:sp>
        <p:nvSpPr>
          <p:cNvPr id="3" name="矩形 2"/>
          <p:cNvSpPr/>
          <p:nvPr/>
        </p:nvSpPr>
        <p:spPr>
          <a:xfrm>
            <a:off x="814754" y="2975708"/>
            <a:ext cx="9900138" cy="1226185"/>
          </a:xfrm>
          <a:prstGeom prst="rect">
            <a:avLst/>
          </a:prstGeom>
        </p:spPr>
        <p:txBody>
          <a:bodyPr>
            <a:spAutoFit/>
          </a:bodyPr>
          <a:lstStyle/>
          <a:p>
            <a:pPr marL="285750" indent="-285750" eaLnBrk="1" hangingPunct="1">
              <a:spcBef>
                <a:spcPct val="50000"/>
              </a:spcBef>
              <a:buFont typeface="Wingdings" panose="05000000000000000000" pitchFamily="2" charset="2"/>
              <a:buChar char="l"/>
              <a:defRPr/>
            </a:pPr>
            <a:r>
              <a:rPr lang="zh-CN" altLang="en-US" sz="2460" b="1" dirty="0">
                <a:effectLst>
                  <a:outerShdw blurRad="38100" dist="38100" dir="2700000" algn="tl">
                    <a:srgbClr val="C0C0C0"/>
                  </a:outerShdw>
                </a:effectLst>
                <a:latin typeface="+mn-ea"/>
                <a:ea typeface="+mn-ea"/>
              </a:rPr>
              <a:t>数据中心有个系统管理员张三君，这天晚上加班到很晚，中间离开数据中心出去夜宵，可返回时发现自己被锁在了外面，</a:t>
            </a:r>
            <a:r>
              <a:rPr lang="zh-CN" altLang="en-US" sz="2460" b="1" dirty="0">
                <a:solidFill>
                  <a:srgbClr val="FF0000"/>
                </a:solidFill>
                <a:effectLst>
                  <a:outerShdw blurRad="38100" dist="38100" dir="2700000" algn="tl">
                    <a:srgbClr val="C0C0C0"/>
                  </a:outerShdw>
                </a:effectLst>
                <a:latin typeface="+mn-ea"/>
                <a:ea typeface="+mn-ea"/>
              </a:rPr>
              <a:t>门卡落在里面了</a:t>
            </a:r>
            <a:r>
              <a:rPr lang="zh-CN" altLang="en-US" sz="2460" b="1" dirty="0">
                <a:effectLst>
                  <a:outerShdw blurRad="38100" dist="38100" dir="2700000" algn="tl">
                    <a:srgbClr val="C0C0C0"/>
                  </a:outerShdw>
                </a:effectLst>
                <a:latin typeface="+mn-ea"/>
                <a:ea typeface="+mn-ea"/>
              </a:rPr>
              <a:t>，四周别无他人，一片静寂</a:t>
            </a:r>
            <a:endParaRPr lang="zh-CN" altLang="en-US" sz="2460" b="1" dirty="0">
              <a:effectLst>
                <a:outerShdw blurRad="38100" dist="38100" dir="2700000" algn="tl">
                  <a:srgbClr val="C0C0C0"/>
                </a:outerShdw>
              </a:effectLst>
              <a:latin typeface="+mn-ea"/>
              <a:ea typeface="+mn-ea"/>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58892" y="140678"/>
            <a:ext cx="1547446" cy="1488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8370"/>
                                        </p:tgtEl>
                                        <p:attrNameLst>
                                          <p:attrName>style.visibility</p:attrName>
                                        </p:attrNameLst>
                                      </p:cBhvr>
                                      <p:to>
                                        <p:strVal val="visible"/>
                                      </p:to>
                                    </p:set>
                                    <p:anim calcmode="lin" valueType="num">
                                      <p:cBhvr additive="base">
                                        <p:cTn id="7" dur="500" fill="hold"/>
                                        <p:tgtEl>
                                          <p:spTgt spid="58370"/>
                                        </p:tgtEl>
                                        <p:attrNameLst>
                                          <p:attrName>ppt_x</p:attrName>
                                        </p:attrNameLst>
                                      </p:cBhvr>
                                      <p:tavLst>
                                        <p:tav tm="0">
                                          <p:val>
                                            <p:strVal val="0-#ppt_w/2"/>
                                          </p:val>
                                        </p:tav>
                                        <p:tav tm="100000">
                                          <p:val>
                                            <p:strVal val="#ppt_x"/>
                                          </p:val>
                                        </p:tav>
                                      </p:tavLst>
                                    </p:anim>
                                    <p:anim calcmode="lin" valueType="num">
                                      <p:cBhvr additive="base">
                                        <p:cTn id="8" dur="500" fill="hold"/>
                                        <p:tgtEl>
                                          <p:spTgt spid="5837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0-#ppt_w/2"/>
                                          </p:val>
                                        </p:tav>
                                        <p:tav tm="100000">
                                          <p:val>
                                            <p:strVal val="#ppt_x"/>
                                          </p:val>
                                        </p:tav>
                                      </p:tavLst>
                                    </p:anim>
                                    <p:anim calcmode="lin" valueType="num">
                                      <p:cBhvr additive="base">
                                        <p:cTn id="24" dur="1000" fill="hold"/>
                                        <p:tgtEl>
                                          <p:spTgt spid="3"/>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2" presetClass="entr" presetSubtype="8" fill="hold" grpId="0" nodeType="afterEffect">
                                  <p:stCondLst>
                                    <p:cond delay="0"/>
                                  </p:stCondLst>
                                  <p:childTnLst>
                                    <p:set>
                                      <p:cBhvr>
                                        <p:cTn id="27" dur="1" fill="hold">
                                          <p:stCondLst>
                                            <p:cond delay="0"/>
                                          </p:stCondLst>
                                        </p:cTn>
                                        <p:tgtEl>
                                          <p:spTgt spid="53251"/>
                                        </p:tgtEl>
                                        <p:attrNameLst>
                                          <p:attrName>style.visibility</p:attrName>
                                        </p:attrNameLst>
                                      </p:cBhvr>
                                      <p:to>
                                        <p:strVal val="visible"/>
                                      </p:to>
                                    </p:set>
                                    <p:anim calcmode="lin" valueType="num">
                                      <p:cBhvr additive="base">
                                        <p:cTn id="28" dur="500" fill="hold"/>
                                        <p:tgtEl>
                                          <p:spTgt spid="53251"/>
                                        </p:tgtEl>
                                        <p:attrNameLst>
                                          <p:attrName>ppt_x</p:attrName>
                                        </p:attrNameLst>
                                      </p:cBhvr>
                                      <p:tavLst>
                                        <p:tav tm="0">
                                          <p:val>
                                            <p:strVal val="0-#ppt_w/2"/>
                                          </p:val>
                                        </p:tav>
                                        <p:tav tm="100000">
                                          <p:val>
                                            <p:strVal val="#ppt_x"/>
                                          </p:val>
                                        </p:tav>
                                      </p:tavLst>
                                    </p:anim>
                                    <p:anim calcmode="lin" valueType="num">
                                      <p:cBhvr additive="base">
                                        <p:cTn id="29" dur="500" fill="hold"/>
                                        <p:tgtEl>
                                          <p:spTgt spid="53251"/>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53" presetClass="entr" presetSubtype="16"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1000" fill="hold"/>
                                        <p:tgtEl>
                                          <p:spTgt spid="4"/>
                                        </p:tgtEl>
                                        <p:attrNameLst>
                                          <p:attrName>ppt_w</p:attrName>
                                        </p:attrNameLst>
                                      </p:cBhvr>
                                      <p:tavLst>
                                        <p:tav tm="0">
                                          <p:val>
                                            <p:fltVal val="0"/>
                                          </p:val>
                                        </p:tav>
                                        <p:tav tm="100000">
                                          <p:val>
                                            <p:strVal val="#ppt_w"/>
                                          </p:val>
                                        </p:tav>
                                      </p:tavLst>
                                    </p:anim>
                                    <p:anim calcmode="lin" valueType="num">
                                      <p:cBhvr>
                                        <p:cTn id="34" dur="1000" fill="hold"/>
                                        <p:tgtEl>
                                          <p:spTgt spid="4"/>
                                        </p:tgtEl>
                                        <p:attrNameLst>
                                          <p:attrName>ppt_h</p:attrName>
                                        </p:attrNameLst>
                                      </p:cBhvr>
                                      <p:tavLst>
                                        <p:tav tm="0">
                                          <p:val>
                                            <p:fltVal val="0"/>
                                          </p:val>
                                        </p:tav>
                                        <p:tav tm="100000">
                                          <p:val>
                                            <p:strVal val="#ppt_h"/>
                                          </p:val>
                                        </p:tav>
                                      </p:tavLst>
                                    </p:anim>
                                    <p:animEffect transition="in" filter="fade">
                                      <p:cBhvr>
                                        <p:cTn id="3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ldLvl="0" animBg="1"/>
      <p:bldP spid="53251" grpId="0" bldLvl="0" animBg="1"/>
      <p:bldP spid="2" grpId="0"/>
      <p:bldP spid="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593970"/>
            <a:ext cx="7532078" cy="5380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BOTH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662" y="150446"/>
            <a:ext cx="1643185" cy="283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bwMode="auto">
          <a:xfrm>
            <a:off x="4175370" y="2010508"/>
            <a:ext cx="7326923" cy="4028831"/>
            <a:chOff x="3392488" y="2276475"/>
            <a:chExt cx="5953125" cy="3273425"/>
          </a:xfrm>
        </p:grpSpPr>
        <p:sp>
          <p:nvSpPr>
            <p:cNvPr id="125957" name="AutoShape 3"/>
            <p:cNvSpPr>
              <a:spLocks noChangeArrowheads="1"/>
            </p:cNvSpPr>
            <p:nvPr/>
          </p:nvSpPr>
          <p:spPr bwMode="auto">
            <a:xfrm>
              <a:off x="3392488" y="2276475"/>
              <a:ext cx="5953125" cy="3273425"/>
            </a:xfrm>
            <a:prstGeom prst="cloudCallout">
              <a:avLst>
                <a:gd name="adj1" fmla="val -62491"/>
                <a:gd name="adj2" fmla="val -73134"/>
              </a:avLst>
            </a:prstGeom>
            <a:solidFill>
              <a:srgbClr val="FFCC99"/>
            </a:solidFill>
            <a:ln w="9525">
              <a:solidFill>
                <a:schemeClr val="tx1"/>
              </a:solidFill>
              <a:round/>
            </a:ln>
            <a:effectLst>
              <a:outerShdw dist="107763" dir="2700000" algn="ctr" rotWithShape="0">
                <a:schemeClr val="bg2">
                  <a:alpha val="50000"/>
                </a:schemeClr>
              </a:outerShdw>
            </a:effec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endParaRPr lang="zh-CN" altLang="zh-CN" sz="2215">
                <a:latin typeface="Comic Sans MS" panose="030F0702030302020204" pitchFamily="66" charset="0"/>
                <a:ea typeface="宋体" panose="02010600030101010101" pitchFamily="2" charset="-122"/>
              </a:endParaRPr>
            </a:p>
          </p:txBody>
        </p:sp>
        <p:sp>
          <p:nvSpPr>
            <p:cNvPr id="6" name="Text Box 4"/>
            <p:cNvSpPr txBox="1">
              <a:spLocks noChangeArrowheads="1"/>
            </p:cNvSpPr>
            <p:nvPr/>
          </p:nvSpPr>
          <p:spPr bwMode="auto">
            <a:xfrm>
              <a:off x="4329113" y="2708275"/>
              <a:ext cx="4367212" cy="2446576"/>
            </a:xfrm>
            <a:prstGeom prst="rect">
              <a:avLst/>
            </a:prstGeom>
            <a:noFill/>
            <a:ln w="9525">
              <a:noFill/>
              <a:miter lim="800000"/>
            </a:ln>
            <a:effectLst/>
          </p:spPr>
          <p:txBody>
            <a:bodyPr>
              <a:spAutoFit/>
            </a:bodyPr>
            <a:lstStyle/>
            <a:p>
              <a:pPr eaLnBrk="1" hangingPunct="1">
                <a:spcBef>
                  <a:spcPct val="50000"/>
                </a:spcBef>
                <a:defRPr/>
              </a:pPr>
              <a:r>
                <a:rPr lang="zh-CN" altLang="en-US" sz="3445" b="1" dirty="0">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rPr>
                <a:t>一点线索</a:t>
              </a:r>
              <a:r>
                <a:rPr lang="zh-CN" altLang="en-US" sz="3445" b="1"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a:t>
              </a:r>
              <a:endParaRPr lang="zh-CN" altLang="en-US" sz="3445" b="1"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eaLnBrk="1" hangingPunct="1">
                <a:spcBef>
                  <a:spcPct val="50000"/>
                </a:spcBef>
                <a:defRPr/>
              </a:pPr>
              <a:r>
                <a:rPr lang="zh-CN" altLang="en-US" sz="3445" dirty="0">
                  <a:effectLst>
                    <a:outerShdw blurRad="38100" dist="38100" dir="2700000" algn="tl">
                      <a:srgbClr val="C0C0C0"/>
                    </a:outerShdw>
                  </a:effectLst>
                  <a:latin typeface="Comic Sans MS" panose="030F0702030302020204" pitchFamily="66" charset="0"/>
                  <a:ea typeface="华文新魏" panose="02010800040101010101" pitchFamily="2" charset="-122"/>
                </a:rPr>
                <a:t>    昨天曾在接待区庆祝过某人生日，现场还未清理干净，遗留下很多杂物，哦，还有气球</a:t>
              </a:r>
              <a:r>
                <a:rPr lang="en-US" altLang="zh-CN" sz="3445" dirty="0">
                  <a:effectLst>
                    <a:outerShdw blurRad="38100" dist="38100" dir="2700000" algn="tl">
                      <a:srgbClr val="C0C0C0"/>
                    </a:outerShdw>
                  </a:effectLst>
                  <a:latin typeface="Arial" panose="020B0604020202020204"/>
                  <a:ea typeface="华文新魏" panose="02010800040101010101" pitchFamily="2" charset="-122"/>
                </a:rPr>
                <a:t>……</a:t>
              </a:r>
              <a:endParaRPr lang="en-US" altLang="zh-CN" sz="3445" dirty="0">
                <a:effectLst>
                  <a:outerShdw blurRad="38100" dist="38100" dir="2700000" algn="tl">
                    <a:srgbClr val="C0C0C0"/>
                  </a:outerShdw>
                </a:effectLst>
                <a:latin typeface="Comic Sans MS" panose="030F0702030302020204" pitchFamily="66" charset="0"/>
                <a:ea typeface="华文新魏" panose="020108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0-#ppt_w/2"/>
                                          </p:val>
                                        </p:tav>
                                        <p:tav tm="100000">
                                          <p:val>
                                            <p:strVal val="#ppt_x"/>
                                          </p:val>
                                        </p:tav>
                                      </p:tavLst>
                                    </p:anim>
                                    <p:anim calcmode="lin" valueType="num">
                                      <p:cBhvr additive="base">
                                        <p:cTn id="15" dur="500" fill="hold"/>
                                        <p:tgtEl>
                                          <p:spTgt spid="3"/>
                                        </p:tgtEl>
                                        <p:attrNameLst>
                                          <p:attrName>ppt_y</p:attrName>
                                        </p:attrNameLst>
                                      </p:cBhvr>
                                      <p:tavLst>
                                        <p:tav tm="0">
                                          <p:val>
                                            <p:strVal val="#ppt_y"/>
                                          </p:val>
                                        </p:tav>
                                        <p:tav tm="100000">
                                          <p:val>
                                            <p:strVal val="#ppt_y"/>
                                          </p:val>
                                        </p:tav>
                                      </p:tavLst>
                                    </p:anim>
                                  </p:childTnLst>
                                </p:cTn>
                              </p:par>
                            </p:childTnLst>
                          </p:cTn>
                        </p:par>
                        <p:par>
                          <p:cTn id="16" fill="hold">
                            <p:stCondLst>
                              <p:cond delay="500"/>
                            </p:stCondLst>
                            <p:childTnLst>
                              <p:par>
                                <p:cTn id="17" presetID="53" presetClass="entr" presetSubtype="16"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Effect transition="in" filter="fade">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777631" y="41031"/>
            <a:ext cx="9161585" cy="773723"/>
          </a:xfrm>
          <a:prstGeom prst="rect">
            <a:avLst/>
          </a:prstGeom>
          <a:noFill/>
          <a:ln w="9525">
            <a:noFill/>
            <a:miter lim="800000"/>
          </a:ln>
          <a:effectLst>
            <a:outerShdw dist="35921" dir="2700000" algn="ctr" rotWithShape="0">
              <a:srgbClr val="808080">
                <a:alpha val="50000"/>
              </a:srgbClr>
            </a:outerShdw>
          </a:effectLst>
        </p:spPr>
        <p:txBody>
          <a:bodyPr anchor="b"/>
          <a:lstStyle/>
          <a:p>
            <a:pPr eaLnBrk="1" hangingPunct="1">
              <a:defRPr/>
            </a:pPr>
            <a:r>
              <a:rPr lang="zh-CN" altLang="en-US" sz="4430" b="1" dirty="0">
                <a:solidFill>
                  <a:schemeClr val="tx2"/>
                </a:solidFill>
                <a:latin typeface="+mn-ea"/>
                <a:ea typeface="+mn-ea"/>
              </a:rPr>
              <a:t>聪明的张三想出了妙计 </a:t>
            </a:r>
            <a:r>
              <a:rPr lang="en-US" altLang="zh-CN" sz="4430" b="1" dirty="0">
                <a:solidFill>
                  <a:schemeClr val="tx2"/>
                </a:solidFill>
                <a:latin typeface="+mn-ea"/>
                <a:ea typeface="+mn-ea"/>
              </a:rPr>
              <a:t>……</a:t>
            </a:r>
            <a:endParaRPr lang="en-US" altLang="zh-CN" sz="4430" b="1" dirty="0">
              <a:solidFill>
                <a:schemeClr val="tx2"/>
              </a:solidFill>
              <a:latin typeface="+mn-ea"/>
              <a:ea typeface="+mn-ea"/>
            </a:endParaRPr>
          </a:p>
        </p:txBody>
      </p:sp>
      <p:grpSp>
        <p:nvGrpSpPr>
          <p:cNvPr id="2" name="Group 3"/>
          <p:cNvGrpSpPr/>
          <p:nvPr/>
        </p:nvGrpSpPr>
        <p:grpSpPr bwMode="auto">
          <a:xfrm>
            <a:off x="1101969" y="1037492"/>
            <a:ext cx="1537678" cy="2500923"/>
            <a:chOff x="839" y="1071"/>
            <a:chExt cx="726" cy="1280"/>
          </a:xfrm>
        </p:grpSpPr>
        <p:pic>
          <p:nvPicPr>
            <p:cNvPr id="126991" name="Picture 4" descr="balo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4" y="1071"/>
              <a:ext cx="581" cy="1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Text Box 5"/>
            <p:cNvSpPr txBox="1">
              <a:spLocks noChangeArrowheads="1"/>
            </p:cNvSpPr>
            <p:nvPr/>
          </p:nvSpPr>
          <p:spPr bwMode="auto">
            <a:xfrm>
              <a:off x="839" y="2296"/>
              <a:ext cx="726" cy="55"/>
            </a:xfrm>
            <a:prstGeom prst="rect">
              <a:avLst/>
            </a:prstGeom>
            <a:noFill/>
            <a:ln w="9525" algn="ctr">
              <a:noFill/>
              <a:miter lim="800000"/>
            </a:ln>
            <a:effectLst/>
          </p:spPr>
          <p:txBody>
            <a:bodyPr>
              <a:spAutoFit/>
            </a:bodyPr>
            <a:lstStyle/>
            <a:p>
              <a:pPr eaLnBrk="1" hangingPunct="1">
                <a:spcBef>
                  <a:spcPct val="50000"/>
                </a:spcBef>
                <a:defRPr/>
              </a:pPr>
              <a:r>
                <a:rPr lang="en-US" altLang="zh-CN" sz="100">
                  <a:effectLst>
                    <a:outerShdw blurRad="38100" dist="38100" dir="2700000" algn="tl">
                      <a:srgbClr val="C0C0C0"/>
                    </a:outerShdw>
                  </a:effectLst>
                  <a:latin typeface="+mn-ea"/>
                  <a:ea typeface="+mn-ea"/>
                </a:rPr>
                <a:t>①  </a:t>
              </a:r>
              <a:r>
                <a:rPr lang="zh-CN" altLang="en-US" sz="100">
                  <a:effectLst>
                    <a:outerShdw blurRad="38100" dist="38100" dir="2700000" algn="tl">
                      <a:srgbClr val="C0C0C0"/>
                    </a:outerShdw>
                  </a:effectLst>
                  <a:latin typeface="+mn-ea"/>
                  <a:ea typeface="+mn-ea"/>
                </a:rPr>
                <a:t>张三找到一个气球，放掉气</a:t>
              </a:r>
              <a:endParaRPr lang="zh-CN" altLang="en-US" sz="100">
                <a:effectLst>
                  <a:outerShdw blurRad="38100" dist="38100" dir="2700000" algn="tl">
                    <a:srgbClr val="C0C0C0"/>
                  </a:outerShdw>
                </a:effectLst>
                <a:latin typeface="+mn-ea"/>
                <a:ea typeface="+mn-ea"/>
              </a:endParaRPr>
            </a:p>
          </p:txBody>
        </p:sp>
      </p:grpSp>
      <p:sp>
        <p:nvSpPr>
          <p:cNvPr id="55302" name="Text Box 6"/>
          <p:cNvSpPr txBox="1">
            <a:spLocks noChangeArrowheads="1"/>
          </p:cNvSpPr>
          <p:nvPr/>
        </p:nvSpPr>
        <p:spPr bwMode="auto">
          <a:xfrm>
            <a:off x="3407508" y="3430954"/>
            <a:ext cx="3266831" cy="106680"/>
          </a:xfrm>
          <a:prstGeom prst="rect">
            <a:avLst/>
          </a:prstGeom>
          <a:noFill/>
          <a:ln w="9525" algn="ctr">
            <a:noFill/>
            <a:miter lim="800000"/>
          </a:ln>
          <a:effectLst/>
        </p:spPr>
        <p:txBody>
          <a:bodyPr>
            <a:spAutoFit/>
          </a:bodyPr>
          <a:lstStyle/>
          <a:p>
            <a:pPr eaLnBrk="1" hangingPunct="1">
              <a:spcBef>
                <a:spcPct val="50000"/>
              </a:spcBef>
              <a:defRPr/>
            </a:pPr>
            <a:r>
              <a:rPr lang="en-US" altLang="zh-CN" sz="100">
                <a:effectLst>
                  <a:outerShdw blurRad="38100" dist="38100" dir="2700000" algn="tl">
                    <a:srgbClr val="C0C0C0"/>
                  </a:outerShdw>
                </a:effectLst>
                <a:latin typeface="+mn-ea"/>
                <a:ea typeface="+mn-ea"/>
              </a:rPr>
              <a:t>②  </a:t>
            </a:r>
            <a:r>
              <a:rPr lang="zh-CN" altLang="en-US" sz="100">
                <a:effectLst>
                  <a:outerShdw blurRad="38100" dist="38100" dir="2700000" algn="tl">
                    <a:srgbClr val="C0C0C0"/>
                  </a:outerShdw>
                </a:effectLst>
                <a:latin typeface="+mn-ea"/>
                <a:ea typeface="+mn-ea"/>
              </a:rPr>
              <a:t>张三面朝大门入口趴下来，把气球塞进门里，只留下气球的嘴在门的这边</a:t>
            </a:r>
            <a:endParaRPr lang="zh-CN" altLang="en-US" sz="100">
              <a:effectLst>
                <a:outerShdw blurRad="38100" dist="38100" dir="2700000" algn="tl">
                  <a:srgbClr val="C0C0C0"/>
                </a:outerShdw>
              </a:effectLst>
              <a:latin typeface="+mn-ea"/>
              <a:ea typeface="+mn-ea"/>
            </a:endParaRPr>
          </a:p>
        </p:txBody>
      </p:sp>
      <p:pic>
        <p:nvPicPr>
          <p:cNvPr id="55303" name="Picture 7" descr="do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247" y="1125416"/>
            <a:ext cx="3073399" cy="2205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8"/>
          <p:cNvGrpSpPr/>
          <p:nvPr/>
        </p:nvGrpSpPr>
        <p:grpSpPr bwMode="auto">
          <a:xfrm>
            <a:off x="7633678" y="1037492"/>
            <a:ext cx="2879969" cy="2608385"/>
            <a:chOff x="3606" y="1026"/>
            <a:chExt cx="1361" cy="1335"/>
          </a:xfrm>
        </p:grpSpPr>
        <p:pic>
          <p:nvPicPr>
            <p:cNvPr id="126989" name="Picture 9" descr="trou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 y="1026"/>
              <a:ext cx="1259" cy="1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6" name="Text Box 10"/>
            <p:cNvSpPr txBox="1">
              <a:spLocks noChangeArrowheads="1"/>
            </p:cNvSpPr>
            <p:nvPr/>
          </p:nvSpPr>
          <p:spPr bwMode="auto">
            <a:xfrm>
              <a:off x="3606" y="2251"/>
              <a:ext cx="1361" cy="55"/>
            </a:xfrm>
            <a:prstGeom prst="rect">
              <a:avLst/>
            </a:prstGeom>
            <a:noFill/>
            <a:ln w="9525" algn="ctr">
              <a:noFill/>
              <a:miter lim="800000"/>
            </a:ln>
            <a:effectLst/>
          </p:spPr>
          <p:txBody>
            <a:bodyPr>
              <a:spAutoFit/>
            </a:bodyPr>
            <a:lstStyle/>
            <a:p>
              <a:pPr eaLnBrk="1" hangingPunct="1">
                <a:spcBef>
                  <a:spcPct val="50000"/>
                </a:spcBef>
                <a:defRPr/>
              </a:pPr>
              <a:r>
                <a:rPr lang="en-US" altLang="zh-CN" sz="100">
                  <a:effectLst>
                    <a:outerShdw blurRad="38100" dist="38100" dir="2700000" algn="tl">
                      <a:srgbClr val="C0C0C0"/>
                    </a:outerShdw>
                  </a:effectLst>
                  <a:latin typeface="+mn-ea"/>
                  <a:ea typeface="+mn-ea"/>
                </a:rPr>
                <a:t>③  </a:t>
              </a:r>
              <a:r>
                <a:rPr lang="zh-CN" altLang="en-US" sz="100">
                  <a:effectLst>
                    <a:outerShdw blurRad="38100" dist="38100" dir="2700000" algn="tl">
                      <a:srgbClr val="C0C0C0"/>
                    </a:outerShdw>
                  </a:effectLst>
                  <a:latin typeface="+mn-ea"/>
                  <a:ea typeface="+mn-ea"/>
                </a:rPr>
                <a:t>张三在门外吹气球，气球在门内膨胀，然后，他释放了气球</a:t>
              </a:r>
              <a:r>
                <a:rPr lang="en-US" altLang="zh-CN" sz="100">
                  <a:effectLst>
                    <a:outerShdw blurRad="38100" dist="38100" dir="2700000" algn="tl">
                      <a:srgbClr val="C0C0C0"/>
                    </a:outerShdw>
                  </a:effectLst>
                  <a:latin typeface="+mn-ea"/>
                  <a:ea typeface="+mn-ea"/>
                </a:rPr>
                <a:t>……</a:t>
              </a:r>
              <a:endParaRPr lang="en-US" altLang="zh-CN" sz="100">
                <a:effectLst>
                  <a:outerShdw blurRad="38100" dist="38100" dir="2700000" algn="tl">
                    <a:srgbClr val="C0C0C0"/>
                  </a:outerShdw>
                </a:effectLst>
                <a:latin typeface="+mn-ea"/>
                <a:ea typeface="+mn-ea"/>
              </a:endParaRPr>
            </a:p>
          </p:txBody>
        </p:sp>
      </p:grpSp>
      <p:grpSp>
        <p:nvGrpSpPr>
          <p:cNvPr id="4" name="Group 11"/>
          <p:cNvGrpSpPr/>
          <p:nvPr/>
        </p:nvGrpSpPr>
        <p:grpSpPr bwMode="auto">
          <a:xfrm>
            <a:off x="3311770" y="4847492"/>
            <a:ext cx="6338277" cy="2004646"/>
            <a:chOff x="1474" y="2976"/>
            <a:chExt cx="2994" cy="1026"/>
          </a:xfrm>
        </p:grpSpPr>
        <p:sp>
          <p:nvSpPr>
            <p:cNvPr id="55308" name="Text Box 12"/>
            <p:cNvSpPr txBox="1">
              <a:spLocks noChangeArrowheads="1"/>
            </p:cNvSpPr>
            <p:nvPr/>
          </p:nvSpPr>
          <p:spPr bwMode="auto">
            <a:xfrm>
              <a:off x="3107" y="3249"/>
              <a:ext cx="1361" cy="55"/>
            </a:xfrm>
            <a:prstGeom prst="rect">
              <a:avLst/>
            </a:prstGeom>
            <a:noFill/>
            <a:ln w="9525" algn="ctr">
              <a:noFill/>
              <a:miter lim="800000"/>
            </a:ln>
            <a:effectLst/>
          </p:spPr>
          <p:txBody>
            <a:bodyPr>
              <a:spAutoFit/>
            </a:bodyPr>
            <a:lstStyle/>
            <a:p>
              <a:pPr eaLnBrk="1" hangingPunct="1">
                <a:spcBef>
                  <a:spcPct val="50000"/>
                </a:spcBef>
                <a:defRPr/>
              </a:pPr>
              <a:r>
                <a:rPr lang="en-US" altLang="zh-CN" sz="100">
                  <a:effectLst>
                    <a:outerShdw blurRad="38100" dist="38100" dir="2700000" algn="tl">
                      <a:srgbClr val="C0C0C0"/>
                    </a:outerShdw>
                  </a:effectLst>
                  <a:latin typeface="+mn-ea"/>
                  <a:ea typeface="+mn-ea"/>
                </a:rPr>
                <a:t>④  </a:t>
              </a:r>
              <a:r>
                <a:rPr lang="zh-CN" altLang="en-US" sz="100">
                  <a:effectLst>
                    <a:outerShdw blurRad="38100" dist="38100" dir="2700000" algn="tl">
                      <a:srgbClr val="C0C0C0"/>
                    </a:outerShdw>
                  </a:effectLst>
                  <a:latin typeface="+mn-ea"/>
                  <a:ea typeface="+mn-ea"/>
                </a:rPr>
                <a:t>由于气球在门内弹跳，触发动作探测器，门终于开了</a:t>
              </a:r>
              <a:endParaRPr lang="zh-CN" altLang="en-US" sz="100">
                <a:effectLst>
                  <a:outerShdw blurRad="38100" dist="38100" dir="2700000" algn="tl">
                    <a:srgbClr val="C0C0C0"/>
                  </a:outerShdw>
                </a:effectLst>
                <a:latin typeface="+mn-ea"/>
                <a:ea typeface="+mn-ea"/>
              </a:endParaRPr>
            </a:p>
          </p:txBody>
        </p:sp>
        <p:pic>
          <p:nvPicPr>
            <p:cNvPr id="126988" name="Picture 13" descr="door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 y="2976"/>
              <a:ext cx="1578" cy="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5310" name="AutoShape 14"/>
          <p:cNvSpPr>
            <a:spLocks noChangeArrowheads="1"/>
          </p:cNvSpPr>
          <p:nvPr/>
        </p:nvSpPr>
        <p:spPr bwMode="auto">
          <a:xfrm>
            <a:off x="2446215" y="2188308"/>
            <a:ext cx="865554" cy="443522"/>
          </a:xfrm>
          <a:prstGeom prst="rightArrow">
            <a:avLst>
              <a:gd name="adj1" fmla="val 50000"/>
              <a:gd name="adj2" fmla="val 45044"/>
            </a:avLst>
          </a:prstGeom>
          <a:solidFill>
            <a:srgbClr val="0000FF"/>
          </a:solidFill>
          <a:ln w="9525" algn="ctr">
            <a:solidFill>
              <a:schemeClr val="tx1"/>
            </a:solidFill>
            <a:miter lim="800000"/>
          </a:ln>
        </p:spPr>
        <p:txBody>
          <a:bodyPr wrap="none" anchor="ctr"/>
          <a:lstStyle/>
          <a:p>
            <a:pPr eaLnBrk="1" hangingPunct="1">
              <a:defRPr/>
            </a:pPr>
            <a:endParaRPr lang="zh-CN" altLang="en-US" sz="100">
              <a:latin typeface="+mn-ea"/>
              <a:ea typeface="+mn-ea"/>
            </a:endParaRPr>
          </a:p>
        </p:txBody>
      </p:sp>
      <p:sp>
        <p:nvSpPr>
          <p:cNvPr id="55311" name="AutoShape 15"/>
          <p:cNvSpPr>
            <a:spLocks noChangeArrowheads="1"/>
          </p:cNvSpPr>
          <p:nvPr/>
        </p:nvSpPr>
        <p:spPr bwMode="auto">
          <a:xfrm>
            <a:off x="6672385" y="2188308"/>
            <a:ext cx="865553" cy="443522"/>
          </a:xfrm>
          <a:prstGeom prst="rightArrow">
            <a:avLst>
              <a:gd name="adj1" fmla="val 50000"/>
              <a:gd name="adj2" fmla="val 45044"/>
            </a:avLst>
          </a:prstGeom>
          <a:solidFill>
            <a:srgbClr val="0000FF"/>
          </a:solidFill>
          <a:ln w="9525" algn="ctr">
            <a:solidFill>
              <a:schemeClr val="tx1"/>
            </a:solidFill>
            <a:miter lim="800000"/>
          </a:ln>
        </p:spPr>
        <p:txBody>
          <a:bodyPr wrap="none" anchor="ctr"/>
          <a:lstStyle/>
          <a:p>
            <a:pPr eaLnBrk="1" hangingPunct="1">
              <a:defRPr/>
            </a:pPr>
            <a:endParaRPr lang="zh-CN" altLang="en-US" sz="100">
              <a:latin typeface="+mn-ea"/>
              <a:ea typeface="+mn-ea"/>
            </a:endParaRPr>
          </a:p>
        </p:txBody>
      </p:sp>
      <p:sp>
        <p:nvSpPr>
          <p:cNvPr id="55312" name="AutoShape 16"/>
          <p:cNvSpPr>
            <a:spLocks noChangeArrowheads="1"/>
          </p:cNvSpPr>
          <p:nvPr/>
        </p:nvSpPr>
        <p:spPr bwMode="auto">
          <a:xfrm rot="9086878">
            <a:off x="7631723" y="4863123"/>
            <a:ext cx="1537678" cy="443524"/>
          </a:xfrm>
          <a:prstGeom prst="rightArrow">
            <a:avLst>
              <a:gd name="adj1" fmla="val 50000"/>
              <a:gd name="adj2" fmla="val 80066"/>
            </a:avLst>
          </a:prstGeom>
          <a:solidFill>
            <a:srgbClr val="0000FF"/>
          </a:solidFill>
          <a:ln w="9525" algn="ctr">
            <a:solidFill>
              <a:schemeClr val="tx1"/>
            </a:solidFill>
            <a:miter lim="800000"/>
          </a:ln>
        </p:spPr>
        <p:txBody>
          <a:bodyPr wrap="none" anchor="ctr"/>
          <a:lstStyle/>
          <a:p>
            <a:pPr eaLnBrk="1" hangingPunct="1">
              <a:defRPr/>
            </a:pPr>
            <a:endParaRPr lang="zh-CN" altLang="en-US" sz="10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5302"/>
                                        </p:tgtEl>
                                        <p:attrNameLst>
                                          <p:attrName>style.visibility</p:attrName>
                                        </p:attrNameLst>
                                      </p:cBhvr>
                                      <p:to>
                                        <p:strVal val="visible"/>
                                      </p:to>
                                    </p:set>
                                    <p:animEffect transition="in" filter="blinds(horizontal)">
                                      <p:cBhvr>
                                        <p:cTn id="13" dur="500"/>
                                        <p:tgtEl>
                                          <p:spTgt spid="55302"/>
                                        </p:tgtEl>
                                      </p:cBhvr>
                                    </p:animEffect>
                                  </p:childTnLst>
                                </p:cTn>
                              </p:par>
                              <p:par>
                                <p:cTn id="14" presetID="3" presetClass="entr" presetSubtype="10" fill="hold" nodeType="withEffect">
                                  <p:stCondLst>
                                    <p:cond delay="0"/>
                                  </p:stCondLst>
                                  <p:childTnLst>
                                    <p:set>
                                      <p:cBhvr>
                                        <p:cTn id="15" dur="1" fill="hold">
                                          <p:stCondLst>
                                            <p:cond delay="0"/>
                                          </p:stCondLst>
                                        </p:cTn>
                                        <p:tgtEl>
                                          <p:spTgt spid="55303"/>
                                        </p:tgtEl>
                                        <p:attrNameLst>
                                          <p:attrName>style.visibility</p:attrName>
                                        </p:attrNameLst>
                                      </p:cBhvr>
                                      <p:to>
                                        <p:strVal val="visible"/>
                                      </p:to>
                                    </p:set>
                                    <p:animEffect transition="in" filter="blinds(horizontal)">
                                      <p:cBhvr>
                                        <p:cTn id="16" dur="500"/>
                                        <p:tgtEl>
                                          <p:spTgt spid="5530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5310"/>
                                        </p:tgtEl>
                                        <p:attrNameLst>
                                          <p:attrName>style.visibility</p:attrName>
                                        </p:attrNameLst>
                                      </p:cBhvr>
                                      <p:to>
                                        <p:strVal val="visible"/>
                                      </p:to>
                                    </p:set>
                                    <p:animEffect transition="in" filter="blinds(horizontal)">
                                      <p:cBhvr>
                                        <p:cTn id="19" dur="500"/>
                                        <p:tgtEl>
                                          <p:spTgt spid="55310"/>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ox(in)">
                                      <p:cBhvr>
                                        <p:cTn id="24" dur="500"/>
                                        <p:tgtEl>
                                          <p:spTgt spid="3"/>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55311"/>
                                        </p:tgtEl>
                                        <p:attrNameLst>
                                          <p:attrName>style.visibility</p:attrName>
                                        </p:attrNameLst>
                                      </p:cBhvr>
                                      <p:to>
                                        <p:strVal val="visible"/>
                                      </p:to>
                                    </p:set>
                                    <p:animEffect transition="in" filter="box(in)">
                                      <p:cBhvr>
                                        <p:cTn id="27" dur="500"/>
                                        <p:tgtEl>
                                          <p:spTgt spid="5531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checkerboard(across)">
                                      <p:cBhvr>
                                        <p:cTn id="32" dur="500"/>
                                        <p:tgtEl>
                                          <p:spTgt spid="4"/>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55312"/>
                                        </p:tgtEl>
                                        <p:attrNameLst>
                                          <p:attrName>style.visibility</p:attrName>
                                        </p:attrNameLst>
                                      </p:cBhvr>
                                      <p:to>
                                        <p:strVal val="visible"/>
                                      </p:to>
                                    </p:set>
                                    <p:animEffect transition="in" filter="checkerboard(across)">
                                      <p:cBhvr>
                                        <p:cTn id="35" dur="500"/>
                                        <p:tgtEl>
                                          <p:spTgt spid="55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2" grpId="0" bldLvl="0" animBg="1"/>
      <p:bldP spid="55310" grpId="0" bldLvl="0" animBg="1"/>
      <p:bldP spid="55311" grpId="0" bldLvl="0" animBg="1"/>
      <p:bldP spid="55312"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ChangeArrowheads="1"/>
          </p:cNvSpPr>
          <p:nvPr/>
        </p:nvSpPr>
        <p:spPr bwMode="auto">
          <a:xfrm>
            <a:off x="814754" y="85970"/>
            <a:ext cx="9161584" cy="773723"/>
          </a:xfrm>
          <a:prstGeom prst="rect">
            <a:avLst/>
          </a:prstGeom>
          <a:noFill/>
          <a:ln>
            <a:noFill/>
          </a:ln>
          <a:effectLst>
            <a:outerShdw dist="35921"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4430" b="1">
                <a:solidFill>
                  <a:srgbClr val="FF0000"/>
                </a:solidFill>
                <a:latin typeface="Arial" panose="020B0604020202020204" pitchFamily="34" charset="0"/>
                <a:ea typeface="方正舒体" panose="02010601030101010101" pitchFamily="2" charset="-122"/>
              </a:rPr>
              <a:t>问题出在哪里 </a:t>
            </a:r>
            <a:r>
              <a:rPr lang="en-US" altLang="zh-CN" sz="4430" b="1">
                <a:solidFill>
                  <a:srgbClr val="FF0000"/>
                </a:solidFill>
                <a:latin typeface="Arial" panose="020B0604020202020204" pitchFamily="34" charset="0"/>
                <a:ea typeface="方正舒体" panose="02010601030101010101" pitchFamily="2" charset="-122"/>
              </a:rPr>
              <a:t>……</a:t>
            </a:r>
            <a:endParaRPr lang="en-US" altLang="zh-CN" sz="4430" b="1">
              <a:solidFill>
                <a:srgbClr val="FF0000"/>
              </a:solidFill>
              <a:latin typeface="Arial" panose="020B0604020202020204" pitchFamily="34" charset="0"/>
              <a:ea typeface="方正舒体" panose="02010601030101010101" pitchFamily="2" charset="-122"/>
            </a:endParaRPr>
          </a:p>
        </p:txBody>
      </p:sp>
      <p:sp>
        <p:nvSpPr>
          <p:cNvPr id="56323" name="Text Box 3"/>
          <p:cNvSpPr txBox="1">
            <a:spLocks noChangeArrowheads="1"/>
          </p:cNvSpPr>
          <p:nvPr/>
        </p:nvSpPr>
        <p:spPr bwMode="auto">
          <a:xfrm>
            <a:off x="912447" y="1303215"/>
            <a:ext cx="10855569" cy="622300"/>
          </a:xfrm>
          <a:prstGeom prst="rect">
            <a:avLst/>
          </a:prstGeom>
          <a:noFill/>
          <a:ln w="9525">
            <a:noFill/>
            <a:miter lim="800000"/>
          </a:ln>
          <a:effectLst/>
        </p:spPr>
        <p:txBody>
          <a:bodyPr>
            <a:spAutoFit/>
          </a:bodyPr>
          <a:lstStyle/>
          <a:p>
            <a:pPr eaLnBrk="1" hangingPunct="1">
              <a:spcBef>
                <a:spcPct val="50000"/>
              </a:spcBef>
              <a:buClr>
                <a:schemeClr val="tx2"/>
              </a:buClr>
              <a:buFont typeface="Wingdings" panose="05000000000000000000" pitchFamily="2" charset="2"/>
              <a:buChar char="Ü"/>
              <a:defRPr/>
            </a:pPr>
            <a:r>
              <a:rPr lang="en-US" altLang="zh-CN" sz="3445" b="1" dirty="0">
                <a:effectLst>
                  <a:outerShdw blurRad="38100" dist="38100" dir="2700000" algn="tl">
                    <a:srgbClr val="C0C0C0"/>
                  </a:outerShdw>
                </a:effectLst>
                <a:latin typeface="楷体_GB2312" pitchFamily="49" charset="-122"/>
                <a:ea typeface="楷体_GB2312" pitchFamily="49" charset="-122"/>
              </a:rPr>
              <a:t>  </a:t>
            </a:r>
            <a:r>
              <a:rPr lang="zh-CN" altLang="en-US" sz="3445" b="1" dirty="0">
                <a:effectLst>
                  <a:outerShdw blurRad="38100" dist="38100" dir="2700000" algn="tl">
                    <a:srgbClr val="C0C0C0"/>
                  </a:outerShdw>
                </a:effectLst>
                <a:latin typeface="楷体_GB2312" pitchFamily="49" charset="-122"/>
                <a:ea typeface="楷体_GB2312" pitchFamily="49" charset="-122"/>
              </a:rPr>
              <a:t>如果门和地板齐平且没有缝隙，就不会出这样的事</a:t>
            </a:r>
            <a:endParaRPr lang="zh-CN" altLang="en-US" sz="3445" b="1" dirty="0">
              <a:effectLst>
                <a:outerShdw blurRad="38100" dist="38100" dir="2700000" algn="tl">
                  <a:srgbClr val="C0C0C0"/>
                </a:outerShdw>
              </a:effectLst>
              <a:latin typeface="楷体_GB2312" pitchFamily="49" charset="-122"/>
              <a:ea typeface="楷体_GB2312" pitchFamily="49" charset="-122"/>
            </a:endParaRPr>
          </a:p>
        </p:txBody>
      </p:sp>
      <p:sp>
        <p:nvSpPr>
          <p:cNvPr id="56324" name="Text Box 4"/>
          <p:cNvSpPr txBox="1">
            <a:spLocks noChangeArrowheads="1"/>
          </p:cNvSpPr>
          <p:nvPr/>
        </p:nvSpPr>
        <p:spPr bwMode="auto">
          <a:xfrm>
            <a:off x="912447" y="2076938"/>
            <a:ext cx="10855569" cy="1153160"/>
          </a:xfrm>
          <a:prstGeom prst="rect">
            <a:avLst/>
          </a:prstGeom>
          <a:noFill/>
          <a:ln w="9525">
            <a:noFill/>
            <a:miter lim="800000"/>
          </a:ln>
          <a:effectLst/>
        </p:spPr>
        <p:txBody>
          <a:bodyPr>
            <a:spAutoFit/>
          </a:bodyPr>
          <a:lstStyle/>
          <a:p>
            <a:pPr eaLnBrk="1" hangingPunct="1">
              <a:spcBef>
                <a:spcPct val="50000"/>
              </a:spcBef>
              <a:buClr>
                <a:schemeClr val="tx2"/>
              </a:buClr>
              <a:buFont typeface="Wingdings" panose="05000000000000000000" pitchFamily="2" charset="2"/>
              <a:buChar char="Ü"/>
              <a:defRPr/>
            </a:pPr>
            <a:r>
              <a:rPr lang="en-US" altLang="zh-CN" sz="3445" b="1" dirty="0">
                <a:effectLst>
                  <a:outerShdw blurRad="38100" dist="38100" dir="2700000" algn="tl">
                    <a:srgbClr val="C0C0C0"/>
                  </a:outerShdw>
                </a:effectLst>
                <a:latin typeface="楷体_GB2312" pitchFamily="49" charset="-122"/>
                <a:ea typeface="楷体_GB2312" pitchFamily="49" charset="-122"/>
              </a:rPr>
              <a:t>  </a:t>
            </a:r>
            <a:r>
              <a:rPr lang="zh-CN" altLang="en-US" sz="3445" b="1" dirty="0">
                <a:effectLst>
                  <a:outerShdw blurRad="38100" dist="38100" dir="2700000" algn="tl">
                    <a:srgbClr val="C0C0C0"/>
                  </a:outerShdw>
                </a:effectLst>
                <a:latin typeface="楷体_GB2312" pitchFamily="49" charset="-122"/>
                <a:ea typeface="楷体_GB2312" pitchFamily="49" charset="-122"/>
              </a:rPr>
              <a:t>如果动作探测器的灵敏度调整到不对</a:t>
            </a:r>
            <a:r>
              <a:rPr lang="zh-CN" altLang="en-US" sz="3445" b="1" dirty="0">
                <a:effectLst>
                  <a:outerShdw blurRad="38100" dist="38100" dir="2700000" algn="tl">
                    <a:srgbClr val="C0C0C0"/>
                  </a:outerShdw>
                </a:effectLst>
                <a:latin typeface="Comic Sans MS" panose="030F0702030302020204" pitchFamily="66" charset="0"/>
                <a:ea typeface="楷体_GB2312" pitchFamily="49" charset="-122"/>
              </a:rPr>
              <a:t>快速放气的气球作出反应，也不会出此事</a:t>
            </a:r>
            <a:endParaRPr lang="zh-CN" altLang="en-US" sz="3445" b="1" dirty="0">
              <a:effectLst>
                <a:outerShdw blurRad="38100" dist="38100" dir="2700000" algn="tl">
                  <a:srgbClr val="C0C0C0"/>
                </a:outerShdw>
              </a:effectLst>
              <a:latin typeface="Comic Sans MS" panose="030F0702030302020204" pitchFamily="66" charset="0"/>
              <a:ea typeface="楷体_GB2312" pitchFamily="49" charset="-122"/>
            </a:endParaRPr>
          </a:p>
        </p:txBody>
      </p:sp>
      <p:sp>
        <p:nvSpPr>
          <p:cNvPr id="56325" name="Text Box 5"/>
          <p:cNvSpPr txBox="1">
            <a:spLocks noChangeArrowheads="1"/>
          </p:cNvSpPr>
          <p:nvPr/>
        </p:nvSpPr>
        <p:spPr bwMode="auto">
          <a:xfrm>
            <a:off x="912447" y="3341078"/>
            <a:ext cx="5804876" cy="1684020"/>
          </a:xfrm>
          <a:prstGeom prst="rect">
            <a:avLst/>
          </a:prstGeom>
          <a:noFill/>
          <a:ln w="9525">
            <a:noFill/>
            <a:miter lim="800000"/>
          </a:ln>
          <a:effectLst/>
        </p:spPr>
        <p:txBody>
          <a:bodyPr>
            <a:spAutoFit/>
          </a:bodyPr>
          <a:lstStyle/>
          <a:p>
            <a:pPr eaLnBrk="1" hangingPunct="1">
              <a:spcBef>
                <a:spcPct val="50000"/>
              </a:spcBef>
              <a:buClr>
                <a:schemeClr val="tx2"/>
              </a:buClr>
              <a:buFont typeface="Wingdings" panose="05000000000000000000" pitchFamily="2" charset="2"/>
              <a:buChar char="Ü"/>
              <a:defRPr/>
            </a:pPr>
            <a:r>
              <a:rPr lang="en-US" altLang="zh-CN" sz="3445" b="1" dirty="0">
                <a:solidFill>
                  <a:srgbClr val="FF0000"/>
                </a:solidFill>
                <a:effectLst>
                  <a:outerShdw blurRad="38100" dist="38100" dir="2700000" algn="tl">
                    <a:srgbClr val="C0C0C0"/>
                  </a:outerShdw>
                </a:effectLst>
                <a:latin typeface="Comic Sans MS" panose="030F0702030302020204" pitchFamily="66" charset="0"/>
                <a:ea typeface="楷体_GB2312" pitchFamily="49" charset="-122"/>
              </a:rPr>
              <a:t>  </a:t>
            </a:r>
            <a:r>
              <a:rPr lang="zh-CN" altLang="en-US" sz="3445" b="1" dirty="0">
                <a:effectLst>
                  <a:outerShdw blurRad="38100" dist="38100" dir="2700000" algn="tl">
                    <a:srgbClr val="C0C0C0"/>
                  </a:outerShdw>
                </a:effectLst>
                <a:latin typeface="Comic Sans MS" panose="030F0702030302020204" pitchFamily="66" charset="0"/>
                <a:ea typeface="楷体_GB2312" pitchFamily="49" charset="-122"/>
              </a:rPr>
              <a:t>当然，如果根本就不使用动作探测器来从里面开门，这种事情同样不会发生</a:t>
            </a:r>
            <a:endParaRPr lang="zh-CN" altLang="en-US" sz="3445" b="1" dirty="0">
              <a:effectLst>
                <a:outerShdw blurRad="38100" dist="38100" dir="2700000" algn="tl">
                  <a:srgbClr val="C0C0C0"/>
                </a:outerShdw>
              </a:effectLst>
              <a:latin typeface="Comic Sans MS" panose="030F0702030302020204" pitchFamily="66" charset="0"/>
              <a:ea typeface="楷体_GB2312"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158892" y="2897554"/>
            <a:ext cx="4235938" cy="3913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8242"/>
                                        </p:tgtEl>
                                        <p:attrNameLst>
                                          <p:attrName>style.visibility</p:attrName>
                                        </p:attrNameLst>
                                      </p:cBhvr>
                                      <p:to>
                                        <p:strVal val="visible"/>
                                      </p:to>
                                    </p:set>
                                    <p:anim calcmode="lin" valueType="num">
                                      <p:cBhvr additive="base">
                                        <p:cTn id="7" dur="500" fill="hold"/>
                                        <p:tgtEl>
                                          <p:spTgt spid="138242"/>
                                        </p:tgtEl>
                                        <p:attrNameLst>
                                          <p:attrName>ppt_x</p:attrName>
                                        </p:attrNameLst>
                                      </p:cBhvr>
                                      <p:tavLst>
                                        <p:tav tm="0">
                                          <p:val>
                                            <p:strVal val="0-#ppt_w/2"/>
                                          </p:val>
                                        </p:tav>
                                        <p:tav tm="100000">
                                          <p:val>
                                            <p:strVal val="#ppt_x"/>
                                          </p:val>
                                        </p:tav>
                                      </p:tavLst>
                                    </p:anim>
                                    <p:anim calcmode="lin" valueType="num">
                                      <p:cBhvr additive="base">
                                        <p:cTn id="8" dur="500" fill="hold"/>
                                        <p:tgtEl>
                                          <p:spTgt spid="1382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23"/>
                                        </p:tgtEl>
                                        <p:attrNameLst>
                                          <p:attrName>style.visibility</p:attrName>
                                        </p:attrNameLst>
                                      </p:cBhvr>
                                      <p:to>
                                        <p:strVal val="visible"/>
                                      </p:to>
                                    </p:set>
                                    <p:anim calcmode="lin" valueType="num">
                                      <p:cBhvr additive="base">
                                        <p:cTn id="13" dur="500" fill="hold"/>
                                        <p:tgtEl>
                                          <p:spTgt spid="56323"/>
                                        </p:tgtEl>
                                        <p:attrNameLst>
                                          <p:attrName>ppt_x</p:attrName>
                                        </p:attrNameLst>
                                      </p:cBhvr>
                                      <p:tavLst>
                                        <p:tav tm="0">
                                          <p:val>
                                            <p:strVal val="0-#ppt_w/2"/>
                                          </p:val>
                                        </p:tav>
                                        <p:tav tm="100000">
                                          <p:val>
                                            <p:strVal val="#ppt_x"/>
                                          </p:val>
                                        </p:tav>
                                      </p:tavLst>
                                    </p:anim>
                                    <p:anim calcmode="lin" valueType="num">
                                      <p:cBhvr additive="base">
                                        <p:cTn id="14" dur="500" fill="hold"/>
                                        <p:tgtEl>
                                          <p:spTgt spid="5632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324"/>
                                        </p:tgtEl>
                                        <p:attrNameLst>
                                          <p:attrName>style.visibility</p:attrName>
                                        </p:attrNameLst>
                                      </p:cBhvr>
                                      <p:to>
                                        <p:strVal val="visible"/>
                                      </p:to>
                                    </p:set>
                                    <p:anim calcmode="lin" valueType="num">
                                      <p:cBhvr additive="base">
                                        <p:cTn id="19" dur="500" fill="hold"/>
                                        <p:tgtEl>
                                          <p:spTgt spid="56324"/>
                                        </p:tgtEl>
                                        <p:attrNameLst>
                                          <p:attrName>ppt_x</p:attrName>
                                        </p:attrNameLst>
                                      </p:cBhvr>
                                      <p:tavLst>
                                        <p:tav tm="0">
                                          <p:val>
                                            <p:strVal val="0-#ppt_w/2"/>
                                          </p:val>
                                        </p:tav>
                                        <p:tav tm="100000">
                                          <p:val>
                                            <p:strVal val="#ppt_x"/>
                                          </p:val>
                                        </p:tav>
                                      </p:tavLst>
                                    </p:anim>
                                    <p:anim calcmode="lin" valueType="num">
                                      <p:cBhvr additive="base">
                                        <p:cTn id="20" dur="500" fill="hold"/>
                                        <p:tgtEl>
                                          <p:spTgt spid="5632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6325"/>
                                        </p:tgtEl>
                                        <p:attrNameLst>
                                          <p:attrName>style.visibility</p:attrName>
                                        </p:attrNameLst>
                                      </p:cBhvr>
                                      <p:to>
                                        <p:strVal val="visible"/>
                                      </p:to>
                                    </p:set>
                                    <p:anim calcmode="lin" valueType="num">
                                      <p:cBhvr additive="base">
                                        <p:cTn id="25" dur="500" fill="hold"/>
                                        <p:tgtEl>
                                          <p:spTgt spid="56325"/>
                                        </p:tgtEl>
                                        <p:attrNameLst>
                                          <p:attrName>ppt_x</p:attrName>
                                        </p:attrNameLst>
                                      </p:cBhvr>
                                      <p:tavLst>
                                        <p:tav tm="0">
                                          <p:val>
                                            <p:strVal val="0-#ppt_w/2"/>
                                          </p:val>
                                        </p:tav>
                                        <p:tav tm="100000">
                                          <p:val>
                                            <p:strVal val="#ppt_x"/>
                                          </p:val>
                                        </p:tav>
                                      </p:tavLst>
                                    </p:anim>
                                    <p:anim calcmode="lin" valueType="num">
                                      <p:cBhvr additive="base">
                                        <p:cTn id="26" dur="500" fill="hold"/>
                                        <p:tgtEl>
                                          <p:spTgt spid="56325"/>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2000" fill="hold"/>
                                        <p:tgtEl>
                                          <p:spTgt spid="2"/>
                                        </p:tgtEl>
                                        <p:attrNameLst>
                                          <p:attrName>ppt_w</p:attrName>
                                        </p:attrNameLst>
                                      </p:cBhvr>
                                      <p:tavLst>
                                        <p:tav tm="0">
                                          <p:val>
                                            <p:fltVal val="0"/>
                                          </p:val>
                                        </p:tav>
                                        <p:tav tm="100000">
                                          <p:val>
                                            <p:strVal val="#ppt_w"/>
                                          </p:val>
                                        </p:tav>
                                      </p:tavLst>
                                    </p:anim>
                                    <p:anim calcmode="lin" valueType="num">
                                      <p:cBhvr>
                                        <p:cTn id="31" dur="2000" fill="hold"/>
                                        <p:tgtEl>
                                          <p:spTgt spid="2"/>
                                        </p:tgtEl>
                                        <p:attrNameLst>
                                          <p:attrName>ppt_h</p:attrName>
                                        </p:attrNameLst>
                                      </p:cBhvr>
                                      <p:tavLst>
                                        <p:tav tm="0">
                                          <p:val>
                                            <p:fltVal val="0"/>
                                          </p:val>
                                        </p:tav>
                                        <p:tav tm="100000">
                                          <p:val>
                                            <p:strVal val="#ppt_h"/>
                                          </p:val>
                                        </p:tav>
                                      </p:tavLst>
                                    </p:anim>
                                    <p:animEffect transition="in" filter="fade">
                                      <p:cBhvr>
                                        <p:cTn id="3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bldLvl="0" animBg="1"/>
      <p:bldP spid="56323" grpId="0" bldLvl="0" animBg="1"/>
      <p:bldP spid="56324" grpId="0" bldLvl="0" animBg="1"/>
      <p:bldP spid="56325" grpId="0" bldLvl="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idc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72385" y="3429000"/>
            <a:ext cx="4319953" cy="2985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3"/>
          <p:cNvSpPr>
            <a:spLocks noChangeArrowheads="1"/>
          </p:cNvSpPr>
          <p:nvPr/>
        </p:nvSpPr>
        <p:spPr bwMode="auto">
          <a:xfrm>
            <a:off x="814754" y="-3907"/>
            <a:ext cx="9161584" cy="773723"/>
          </a:xfrm>
          <a:prstGeom prst="rect">
            <a:avLst/>
          </a:prstGeom>
          <a:noFill/>
          <a:ln w="9525">
            <a:noFill/>
            <a:miter lim="800000"/>
          </a:ln>
          <a:effectLst>
            <a:outerShdw dist="35921" dir="2700000" algn="ctr" rotWithShape="0">
              <a:srgbClr val="808080">
                <a:alpha val="50000"/>
              </a:srgbClr>
            </a:outerShdw>
          </a:effectLst>
        </p:spPr>
        <p:txBody>
          <a:bodyPr anchor="b"/>
          <a:lstStyle/>
          <a:p>
            <a:pPr eaLnBrk="1" hangingPunct="1">
              <a:defRPr/>
            </a:pPr>
            <a:r>
              <a:rPr lang="zh-CN" altLang="en-US" sz="4430" b="1" dirty="0">
                <a:solidFill>
                  <a:schemeClr val="tx2"/>
                </a:solidFill>
                <a:latin typeface="+mn-ea"/>
                <a:ea typeface="+mn-ea"/>
              </a:rPr>
              <a:t>总结教训 </a:t>
            </a:r>
            <a:r>
              <a:rPr lang="en-US" altLang="zh-CN" sz="4430" b="1" dirty="0">
                <a:solidFill>
                  <a:schemeClr val="tx2"/>
                </a:solidFill>
                <a:latin typeface="+mn-ea"/>
                <a:ea typeface="+mn-ea"/>
              </a:rPr>
              <a:t>……</a:t>
            </a:r>
            <a:endParaRPr lang="en-US" altLang="zh-CN" sz="4430" b="1" dirty="0">
              <a:solidFill>
                <a:schemeClr val="tx2"/>
              </a:solidFill>
              <a:latin typeface="+mn-ea"/>
              <a:ea typeface="+mn-ea"/>
            </a:endParaRPr>
          </a:p>
        </p:txBody>
      </p:sp>
      <p:sp>
        <p:nvSpPr>
          <p:cNvPr id="57348" name="Text Box 4"/>
          <p:cNvSpPr txBox="1">
            <a:spLocks noChangeArrowheads="1"/>
          </p:cNvSpPr>
          <p:nvPr/>
        </p:nvSpPr>
        <p:spPr bwMode="auto">
          <a:xfrm>
            <a:off x="912447" y="1035539"/>
            <a:ext cx="10855569" cy="2214880"/>
          </a:xfrm>
          <a:prstGeom prst="rect">
            <a:avLst/>
          </a:prstGeom>
          <a:noFill/>
          <a:ln w="9525" algn="ctr">
            <a:noFill/>
            <a:miter lim="800000"/>
          </a:ln>
          <a:effectLst/>
        </p:spPr>
        <p:txBody>
          <a:bodyPr>
            <a:spAutoFit/>
          </a:bodyPr>
          <a:lstStyle/>
          <a:p>
            <a:pPr eaLnBrk="1" hangingPunct="1">
              <a:spcBef>
                <a:spcPct val="50000"/>
              </a:spcBef>
              <a:buFontTx/>
              <a:buBlip>
                <a:blip r:embed="rId2"/>
              </a:buBlip>
              <a:defRPr/>
            </a:pPr>
            <a:r>
              <a:rPr lang="en-US" altLang="zh-CN" sz="3445" b="1" dirty="0">
                <a:solidFill>
                  <a:srgbClr val="0000FF"/>
                </a:solidFill>
                <a:effectLst>
                  <a:outerShdw blurRad="38100" dist="38100" dir="2700000" algn="tl">
                    <a:srgbClr val="C0C0C0"/>
                  </a:outerShdw>
                </a:effectLst>
                <a:latin typeface="楷体_GB2312" pitchFamily="49" charset="-122"/>
                <a:ea typeface="楷体_GB2312" pitchFamily="49" charset="-122"/>
              </a:rPr>
              <a:t>  </a:t>
            </a:r>
            <a:r>
              <a:rPr lang="zh-CN" altLang="en-US" sz="3445" b="1" dirty="0">
                <a:solidFill>
                  <a:srgbClr val="0000FF"/>
                </a:solidFill>
                <a:effectLst>
                  <a:outerShdw blurRad="38100" dist="38100" dir="2700000" algn="tl">
                    <a:srgbClr val="C0C0C0"/>
                  </a:outerShdw>
                </a:effectLst>
                <a:latin typeface="楷体_GB2312" pitchFamily="49" charset="-122"/>
                <a:ea typeface="楷体_GB2312" pitchFamily="49" charset="-122"/>
              </a:rPr>
              <a:t>虽然是偶然事件，也没有直接危害，但是潜在风险</a:t>
            </a:r>
            <a:endParaRPr lang="zh-CN" altLang="en-US" sz="3445" b="1" dirty="0">
              <a:solidFill>
                <a:srgbClr val="0000FF"/>
              </a:solidFill>
              <a:effectLst>
                <a:outerShdw blurRad="38100" dist="38100" dir="2700000" algn="tl">
                  <a:srgbClr val="C0C0C0"/>
                </a:outerShdw>
              </a:effectLst>
              <a:latin typeface="楷体_GB2312" pitchFamily="49" charset="-122"/>
              <a:ea typeface="楷体_GB2312" pitchFamily="49" charset="-122"/>
            </a:endParaRPr>
          </a:p>
          <a:p>
            <a:pPr eaLnBrk="1" hangingPunct="1">
              <a:spcBef>
                <a:spcPct val="50000"/>
              </a:spcBef>
              <a:buFontTx/>
              <a:buBlip>
                <a:blip r:embed="rId2"/>
              </a:buBlip>
              <a:defRPr/>
            </a:pPr>
            <a:r>
              <a:rPr lang="zh-CN" altLang="en-US" sz="3445" b="1" dirty="0">
                <a:solidFill>
                  <a:srgbClr val="0000FF"/>
                </a:solidFill>
                <a:effectLst>
                  <a:outerShdw blurRad="38100" dist="38100" dir="2700000" algn="tl">
                    <a:srgbClr val="C0C0C0"/>
                  </a:outerShdw>
                </a:effectLst>
                <a:latin typeface="楷体_GB2312" pitchFamily="49" charset="-122"/>
                <a:ea typeface="楷体_GB2312" pitchFamily="49" charset="-122"/>
              </a:rPr>
              <a:t>  既是物理安全的问题，更是管理问题</a:t>
            </a:r>
            <a:endParaRPr lang="zh-CN" altLang="en-US" sz="3445" b="1" dirty="0">
              <a:solidFill>
                <a:srgbClr val="0000FF"/>
              </a:solidFill>
              <a:effectLst>
                <a:outerShdw blurRad="38100" dist="38100" dir="2700000" algn="tl">
                  <a:srgbClr val="C0C0C0"/>
                </a:outerShdw>
              </a:effectLst>
              <a:latin typeface="楷体_GB2312" pitchFamily="49" charset="-122"/>
              <a:ea typeface="楷体_GB2312" pitchFamily="49" charset="-122"/>
            </a:endParaRPr>
          </a:p>
          <a:p>
            <a:pPr eaLnBrk="1" hangingPunct="1">
              <a:spcBef>
                <a:spcPct val="50000"/>
              </a:spcBef>
              <a:buFontTx/>
              <a:buBlip>
                <a:blip r:embed="rId2"/>
              </a:buBlip>
              <a:defRPr/>
            </a:pPr>
            <a:r>
              <a:rPr lang="zh-CN" altLang="en-US" sz="3445" b="1" dirty="0">
                <a:solidFill>
                  <a:srgbClr val="0000FF"/>
                </a:solidFill>
                <a:effectLst>
                  <a:outerShdw blurRad="38100" dist="38100" dir="2700000" algn="tl">
                    <a:srgbClr val="C0C0C0"/>
                  </a:outerShdw>
                </a:effectLst>
                <a:latin typeface="楷体_GB2312" pitchFamily="49" charset="-122"/>
                <a:ea typeface="楷体_GB2312" pitchFamily="49" charset="-122"/>
              </a:rPr>
              <a:t>  切记！有时候自以为是的安全，恰恰是最不安全！</a:t>
            </a:r>
            <a:endParaRPr lang="zh-CN" altLang="en-US" sz="3445" b="1" dirty="0">
              <a:solidFill>
                <a:srgbClr val="0000FF"/>
              </a:solidFill>
              <a:effectLst>
                <a:outerShdw blurRad="38100" dist="38100" dir="2700000" algn="tl">
                  <a:srgbClr val="C0C0C0"/>
                </a:outerShdw>
              </a:effectLst>
              <a:latin typeface="楷体_GB2312" pitchFamily="49" charset="-122"/>
              <a:ea typeface="楷体_GB2312" pitchFamily="49" charset="-122"/>
            </a:endParaRPr>
          </a:p>
        </p:txBody>
      </p:sp>
      <p:sp>
        <p:nvSpPr>
          <p:cNvPr id="57349" name="Text Box 5"/>
          <p:cNvSpPr txBox="1">
            <a:spLocks noChangeArrowheads="1"/>
          </p:cNvSpPr>
          <p:nvPr/>
        </p:nvSpPr>
        <p:spPr bwMode="auto">
          <a:xfrm>
            <a:off x="625231" y="4075724"/>
            <a:ext cx="10943493" cy="92456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zh-CN" altLang="en-US" sz="5415">
                <a:solidFill>
                  <a:srgbClr val="FF0000"/>
                </a:solidFill>
                <a:latin typeface="Comic Sans MS" panose="030F0702030302020204" pitchFamily="66" charset="0"/>
              </a:rPr>
              <a:t>物理安全也非常关键！</a:t>
            </a:r>
            <a:endParaRPr lang="zh-CN" altLang="en-US" sz="5415">
              <a:solidFill>
                <a:srgbClr val="FF0000"/>
              </a:solidFill>
              <a:latin typeface="Comic Sans MS" panose="030F0702030302020204" pitchFamily="66"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box(in)">
                                      <p:cBhvr>
                                        <p:cTn id="7" dur="500"/>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56" presetClass="entr" presetSubtype="0" fill="hold" grpId="0" nodeType="clickEffect">
                                  <p:stCondLst>
                                    <p:cond delay="0"/>
                                  </p:stCondLst>
                                  <p:iterate type="lt">
                                    <p:tmPct val="10000"/>
                                  </p:iterate>
                                  <p:childTnLst>
                                    <p:set>
                                      <p:cBhvr>
                                        <p:cTn id="11" dur="1" fill="hold">
                                          <p:stCondLst>
                                            <p:cond delay="0"/>
                                          </p:stCondLst>
                                        </p:cTn>
                                        <p:tgtEl>
                                          <p:spTgt spid="57349"/>
                                        </p:tgtEl>
                                        <p:attrNameLst>
                                          <p:attrName>style.visibility</p:attrName>
                                        </p:attrNameLst>
                                      </p:cBhvr>
                                      <p:to>
                                        <p:strVal val="visible"/>
                                      </p:to>
                                    </p:set>
                                    <p:anim by="(-#ppt_w*2)" calcmode="lin" valueType="num">
                                      <p:cBhvr rctx="PPT">
                                        <p:cTn id="12" dur="500" autoRev="1" fill="hold">
                                          <p:stCondLst>
                                            <p:cond delay="0"/>
                                          </p:stCondLst>
                                        </p:cTn>
                                        <p:tgtEl>
                                          <p:spTgt spid="57349"/>
                                        </p:tgtEl>
                                        <p:attrNameLst>
                                          <p:attrName>ppt_w</p:attrName>
                                        </p:attrNameLst>
                                      </p:cBhvr>
                                    </p:anim>
                                    <p:anim by="(#ppt_w*0.50)" calcmode="lin" valueType="num">
                                      <p:cBhvr>
                                        <p:cTn id="13" dur="500" decel="50000" autoRev="1" fill="hold">
                                          <p:stCondLst>
                                            <p:cond delay="0"/>
                                          </p:stCondLst>
                                        </p:cTn>
                                        <p:tgtEl>
                                          <p:spTgt spid="57349"/>
                                        </p:tgtEl>
                                        <p:attrNameLst>
                                          <p:attrName>ppt_x</p:attrName>
                                        </p:attrNameLst>
                                      </p:cBhvr>
                                    </p:anim>
                                    <p:anim from="(-#ppt_h/2)" to="(#ppt_y)" calcmode="lin" valueType="num">
                                      <p:cBhvr>
                                        <p:cTn id="14" dur="1000" fill="hold">
                                          <p:stCondLst>
                                            <p:cond delay="0"/>
                                          </p:stCondLst>
                                        </p:cTn>
                                        <p:tgtEl>
                                          <p:spTgt spid="57349"/>
                                        </p:tgtEl>
                                        <p:attrNameLst>
                                          <p:attrName>ppt_y</p:attrName>
                                        </p:attrNameLst>
                                      </p:cBhvr>
                                    </p:anim>
                                    <p:animRot by="21600000">
                                      <p:cBhvr>
                                        <p:cTn id="15" dur="1000" fill="hold">
                                          <p:stCondLst>
                                            <p:cond delay="0"/>
                                          </p:stCondLst>
                                        </p:cTn>
                                        <p:tgtEl>
                                          <p:spTgt spid="5734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bldLvl="0" animBg="1"/>
      <p:bldP spid="5734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idx="4294967295"/>
          </p:nvPr>
        </p:nvSpPr>
        <p:spPr>
          <a:xfrm>
            <a:off x="742462" y="62524"/>
            <a:ext cx="8684847" cy="601785"/>
          </a:xfrm>
        </p:spPr>
        <p:txBody>
          <a:bodyPr lIns="116446" tIns="58222" rIns="116446" bIns="58222"/>
          <a:lstStyle/>
          <a:p>
            <a:r>
              <a:rPr lang="zh-CN" altLang="en-US">
                <a:solidFill>
                  <a:srgbClr val="FF0000"/>
                </a:solidFill>
              </a:rPr>
              <a:t>信息安全问题</a:t>
            </a:r>
            <a:endParaRPr lang="en-US" altLang="zh-CN">
              <a:solidFill>
                <a:srgbClr val="FF0000"/>
              </a:solidFill>
            </a:endParaRPr>
          </a:p>
        </p:txBody>
      </p:sp>
      <p:sp>
        <p:nvSpPr>
          <p:cNvPr id="140291" name="WordArt 4"/>
          <p:cNvSpPr>
            <a:spLocks noChangeArrowheads="1" noChangeShapeType="1" noTextEdit="1"/>
          </p:cNvSpPr>
          <p:nvPr/>
        </p:nvSpPr>
        <p:spPr bwMode="auto">
          <a:xfrm>
            <a:off x="947616" y="998415"/>
            <a:ext cx="3440722" cy="595924"/>
          </a:xfrm>
          <a:prstGeom prst="rect">
            <a:avLst/>
          </a:prstGeom>
        </p:spPr>
        <p:txBody>
          <a:bodyPr wrap="none" fromWordArt="1">
            <a:prstTxWarp prst="textPlain">
              <a:avLst>
                <a:gd name="adj" fmla="val 50000"/>
              </a:avLst>
            </a:prstTxWarp>
          </a:bodyPr>
          <a:lstStyle/>
          <a:p>
            <a:pPr algn="ctr"/>
            <a:r>
              <a:rPr lang="zh-CN" altLang="en-US" sz="4430" kern="10">
                <a:ln w="12700">
                  <a:solidFill>
                    <a:srgbClr val="3333CC"/>
                  </a:solidFill>
                  <a:round/>
                </a:ln>
                <a:solidFill>
                  <a:srgbClr val="B2B2B2">
                    <a:alpha val="50195"/>
                  </a:srgbClr>
                </a:solidFill>
                <a:effectLst>
                  <a:outerShdw dist="45791" dir="2021404" algn="ctr" rotWithShape="0">
                    <a:srgbClr val="9999FF"/>
                  </a:outerShdw>
                </a:effectLst>
                <a:latin typeface="宋体" panose="02010600030101010101" pitchFamily="2" charset="-122"/>
              </a:rPr>
              <a:t>就像植入广告</a:t>
            </a:r>
            <a:endParaRPr lang="zh-CN" altLang="en-US" sz="4430" kern="10">
              <a:ln w="12700">
                <a:solidFill>
                  <a:srgbClr val="3333CC"/>
                </a:solidFill>
                <a:round/>
              </a:ln>
              <a:solidFill>
                <a:srgbClr val="B2B2B2">
                  <a:alpha val="50195"/>
                </a:srgbClr>
              </a:solidFill>
              <a:effectLst>
                <a:outerShdw dist="45791" dir="2021404" algn="ctr" rotWithShape="0">
                  <a:srgbClr val="9999FF"/>
                </a:outerShdw>
              </a:effectLst>
              <a:latin typeface="宋体" panose="02010600030101010101" pitchFamily="2" charset="-122"/>
            </a:endParaRPr>
          </a:p>
        </p:txBody>
      </p:sp>
      <p:grpSp>
        <p:nvGrpSpPr>
          <p:cNvPr id="5" name="组合 4"/>
          <p:cNvGrpSpPr/>
          <p:nvPr/>
        </p:nvGrpSpPr>
        <p:grpSpPr bwMode="auto">
          <a:xfrm>
            <a:off x="947616" y="2123831"/>
            <a:ext cx="3950677" cy="1199662"/>
            <a:chOff x="769938" y="2368550"/>
            <a:chExt cx="3209925" cy="974725"/>
          </a:xfrm>
        </p:grpSpPr>
        <p:grpSp>
          <p:nvGrpSpPr>
            <p:cNvPr id="130124" name="Group 6"/>
            <p:cNvGrpSpPr/>
            <p:nvPr/>
          </p:nvGrpSpPr>
          <p:grpSpPr bwMode="auto">
            <a:xfrm>
              <a:off x="3267075" y="2749550"/>
              <a:ext cx="712788" cy="593725"/>
              <a:chOff x="2061" y="1529"/>
              <a:chExt cx="1384" cy="917"/>
            </a:xfrm>
          </p:grpSpPr>
          <p:sp>
            <p:nvSpPr>
              <p:cNvPr id="130126" name="Freeform 7"/>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27" name="Freeform 8"/>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28" name="Freeform 9"/>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29" name="Freeform 10"/>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130" name="Freeform 11"/>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131" name="Freeform 12"/>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132" name="Freeform 13"/>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133" name="Freeform 14"/>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46" tIns="58222" rIns="116446" bIns="58222"/>
              <a:lstStyle/>
              <a:p>
                <a:endParaRPr lang="zh-CN" altLang="en-US" sz="100"/>
              </a:p>
            </p:txBody>
          </p:sp>
          <p:sp>
            <p:nvSpPr>
              <p:cNvPr id="130134" name="Freeform 15"/>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35" name="Freeform 16"/>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36" name="Freeform 17"/>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37" name="Freeform 18"/>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38" name="Freeform 19"/>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39" name="Freeform 20"/>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0" name="Freeform 21"/>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1" name="Freeform 22"/>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2" name="Freeform 23"/>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3" name="Freeform 24"/>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4" name="Freeform 25"/>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5" name="Freeform 26"/>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6" name="Freeform 27"/>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7" name="Freeform 28"/>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8" name="Freeform 29"/>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49" name="Line 30"/>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0150" name="Line 31"/>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0151" name="Freeform 32"/>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52" name="Freeform 33"/>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53" name="Freeform 34"/>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54" name="Freeform 35"/>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55" name="Freeform 36"/>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130156" name="Freeform 37"/>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130157" name="Freeform 38"/>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grpSp>
        <p:sp>
          <p:nvSpPr>
            <p:cNvPr id="130125" name="AutoShape 39"/>
            <p:cNvSpPr>
              <a:spLocks noChangeArrowheads="1"/>
            </p:cNvSpPr>
            <p:nvPr/>
          </p:nvSpPr>
          <p:spPr bwMode="auto">
            <a:xfrm>
              <a:off x="769938" y="2368550"/>
              <a:ext cx="2497137" cy="457200"/>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503" tIns="56252" rIns="112503" bIns="56252"/>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长期存在</a:t>
              </a:r>
              <a:endParaRPr lang="zh-CN" altLang="en-US" sz="2955" b="1">
                <a:solidFill>
                  <a:srgbClr val="0000CC"/>
                </a:solidFill>
                <a:latin typeface="Arial" panose="020B0604020202020204" pitchFamily="34" charset="0"/>
                <a:ea typeface="宋体" panose="02010600030101010101" pitchFamily="2" charset="-122"/>
              </a:endParaRPr>
            </a:p>
          </p:txBody>
        </p:sp>
      </p:grpSp>
      <p:grpSp>
        <p:nvGrpSpPr>
          <p:cNvPr id="7" name="组合 6"/>
          <p:cNvGrpSpPr/>
          <p:nvPr/>
        </p:nvGrpSpPr>
        <p:grpSpPr bwMode="auto">
          <a:xfrm>
            <a:off x="945662" y="3386015"/>
            <a:ext cx="3976078" cy="1219200"/>
            <a:chOff x="768350" y="3394790"/>
            <a:chExt cx="3230563" cy="990600"/>
          </a:xfrm>
        </p:grpSpPr>
        <p:grpSp>
          <p:nvGrpSpPr>
            <p:cNvPr id="130090" name="Group 40"/>
            <p:cNvGrpSpPr/>
            <p:nvPr/>
          </p:nvGrpSpPr>
          <p:grpSpPr bwMode="auto">
            <a:xfrm>
              <a:off x="3286125" y="3791665"/>
              <a:ext cx="712788" cy="593725"/>
              <a:chOff x="2061" y="1529"/>
              <a:chExt cx="1384" cy="917"/>
            </a:xfrm>
          </p:grpSpPr>
          <p:sp>
            <p:nvSpPr>
              <p:cNvPr id="130092" name="Freeform 41"/>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93" name="Freeform 42"/>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94" name="Freeform 43"/>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95" name="Freeform 44"/>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96" name="Freeform 45"/>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97" name="Freeform 46"/>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98" name="Freeform 47"/>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99" name="Freeform 48"/>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46" tIns="58222" rIns="116446" bIns="58222"/>
              <a:lstStyle/>
              <a:p>
                <a:endParaRPr lang="zh-CN" altLang="en-US" sz="100"/>
              </a:p>
            </p:txBody>
          </p:sp>
          <p:sp>
            <p:nvSpPr>
              <p:cNvPr id="130100" name="Freeform 49"/>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1" name="Freeform 50"/>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2" name="Freeform 51"/>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3" name="Freeform 52"/>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4" name="Freeform 53"/>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5" name="Freeform 54"/>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6" name="Freeform 55"/>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7" name="Freeform 56"/>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8" name="Freeform 57"/>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09" name="Freeform 58"/>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0" name="Freeform 59"/>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1" name="Freeform 60"/>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2" name="Freeform 61"/>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3" name="Freeform 62"/>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4" name="Freeform 63"/>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5" name="Line 64"/>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0116" name="Line 65"/>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0117" name="Freeform 66"/>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8" name="Freeform 67"/>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19" name="Freeform 68"/>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20" name="Freeform 69"/>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121" name="Freeform 70"/>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130122" name="Freeform 71"/>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130123" name="Freeform 72"/>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grpSp>
        <p:sp>
          <p:nvSpPr>
            <p:cNvPr id="130091" name="AutoShape 73"/>
            <p:cNvSpPr>
              <a:spLocks noChangeArrowheads="1"/>
            </p:cNvSpPr>
            <p:nvPr/>
          </p:nvSpPr>
          <p:spPr bwMode="auto">
            <a:xfrm>
              <a:off x="768350" y="3394790"/>
              <a:ext cx="2497138" cy="457200"/>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503" tIns="56252" rIns="112503" bIns="56252"/>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无处不在</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zh-CN" altLang="en-US" sz="2955" b="1">
                <a:solidFill>
                  <a:srgbClr val="0000CC"/>
                </a:solidFill>
                <a:latin typeface="Arial" panose="020B0604020202020204" pitchFamily="34" charset="0"/>
                <a:ea typeface="宋体" panose="02010600030101010101" pitchFamily="2" charset="-122"/>
              </a:endParaRPr>
            </a:p>
          </p:txBody>
        </p:sp>
      </p:grpSp>
      <p:grpSp>
        <p:nvGrpSpPr>
          <p:cNvPr id="6" name="组合 5"/>
          <p:cNvGrpSpPr/>
          <p:nvPr/>
        </p:nvGrpSpPr>
        <p:grpSpPr bwMode="auto">
          <a:xfrm>
            <a:off x="947616" y="4777154"/>
            <a:ext cx="3948722" cy="1195754"/>
            <a:chOff x="769938" y="4524591"/>
            <a:chExt cx="3208337" cy="971550"/>
          </a:xfrm>
        </p:grpSpPr>
        <p:grpSp>
          <p:nvGrpSpPr>
            <p:cNvPr id="130056" name="Group 75"/>
            <p:cNvGrpSpPr/>
            <p:nvPr/>
          </p:nvGrpSpPr>
          <p:grpSpPr bwMode="auto">
            <a:xfrm>
              <a:off x="3265488" y="4904003"/>
              <a:ext cx="712787" cy="592138"/>
              <a:chOff x="2061" y="1529"/>
              <a:chExt cx="1384" cy="917"/>
            </a:xfrm>
          </p:grpSpPr>
          <p:sp>
            <p:nvSpPr>
              <p:cNvPr id="130058" name="Freeform 76"/>
              <p:cNvSpPr/>
              <p:nvPr/>
            </p:nvSpPr>
            <p:spPr bwMode="auto">
              <a:xfrm>
                <a:off x="2619" y="1966"/>
                <a:ext cx="825" cy="480"/>
              </a:xfrm>
              <a:custGeom>
                <a:avLst/>
                <a:gdLst>
                  <a:gd name="T0" fmla="*/ 295 w 825"/>
                  <a:gd name="T1" fmla="*/ 397 h 480"/>
                  <a:gd name="T2" fmla="*/ 241 w 825"/>
                  <a:gd name="T3" fmla="*/ 350 h 480"/>
                  <a:gd name="T4" fmla="*/ 161 w 825"/>
                  <a:gd name="T5" fmla="*/ 271 h 480"/>
                  <a:gd name="T6" fmla="*/ 41 w 825"/>
                  <a:gd name="T7" fmla="*/ 146 h 480"/>
                  <a:gd name="T8" fmla="*/ 15 w 825"/>
                  <a:gd name="T9" fmla="*/ 122 h 480"/>
                  <a:gd name="T10" fmla="*/ 2 w 825"/>
                  <a:gd name="T11" fmla="*/ 107 h 480"/>
                  <a:gd name="T12" fmla="*/ 0 w 825"/>
                  <a:gd name="T13" fmla="*/ 95 h 480"/>
                  <a:gd name="T14" fmla="*/ 8 w 825"/>
                  <a:gd name="T15" fmla="*/ 70 h 480"/>
                  <a:gd name="T16" fmla="*/ 21 w 825"/>
                  <a:gd name="T17" fmla="*/ 48 h 480"/>
                  <a:gd name="T18" fmla="*/ 57 w 825"/>
                  <a:gd name="T19" fmla="*/ 35 h 480"/>
                  <a:gd name="T20" fmla="*/ 107 w 825"/>
                  <a:gd name="T21" fmla="*/ 24 h 480"/>
                  <a:gd name="T22" fmla="*/ 198 w 825"/>
                  <a:gd name="T23" fmla="*/ 11 h 480"/>
                  <a:gd name="T24" fmla="*/ 250 w 825"/>
                  <a:gd name="T25" fmla="*/ 2 h 480"/>
                  <a:gd name="T26" fmla="*/ 278 w 825"/>
                  <a:gd name="T27" fmla="*/ 0 h 480"/>
                  <a:gd name="T28" fmla="*/ 290 w 825"/>
                  <a:gd name="T29" fmla="*/ 0 h 480"/>
                  <a:gd name="T30" fmla="*/ 303 w 825"/>
                  <a:gd name="T31" fmla="*/ 2 h 480"/>
                  <a:gd name="T32" fmla="*/ 425 w 825"/>
                  <a:gd name="T33" fmla="*/ 57 h 480"/>
                  <a:gd name="T34" fmla="*/ 508 w 825"/>
                  <a:gd name="T35" fmla="*/ 110 h 480"/>
                  <a:gd name="T36" fmla="*/ 542 w 825"/>
                  <a:gd name="T37" fmla="*/ 139 h 480"/>
                  <a:gd name="T38" fmla="*/ 576 w 825"/>
                  <a:gd name="T39" fmla="*/ 169 h 480"/>
                  <a:gd name="T40" fmla="*/ 653 w 825"/>
                  <a:gd name="T41" fmla="*/ 209 h 480"/>
                  <a:gd name="T42" fmla="*/ 683 w 825"/>
                  <a:gd name="T43" fmla="*/ 213 h 480"/>
                  <a:gd name="T44" fmla="*/ 697 w 825"/>
                  <a:gd name="T45" fmla="*/ 213 h 480"/>
                  <a:gd name="T46" fmla="*/ 706 w 825"/>
                  <a:gd name="T47" fmla="*/ 213 h 480"/>
                  <a:gd name="T48" fmla="*/ 715 w 825"/>
                  <a:gd name="T49" fmla="*/ 212 h 480"/>
                  <a:gd name="T50" fmla="*/ 744 w 825"/>
                  <a:gd name="T51" fmla="*/ 213 h 480"/>
                  <a:gd name="T52" fmla="*/ 780 w 825"/>
                  <a:gd name="T53" fmla="*/ 210 h 480"/>
                  <a:gd name="T54" fmla="*/ 821 w 825"/>
                  <a:gd name="T55" fmla="*/ 206 h 480"/>
                  <a:gd name="T56" fmla="*/ 824 w 825"/>
                  <a:gd name="T57" fmla="*/ 206 h 480"/>
                  <a:gd name="T58" fmla="*/ 824 w 825"/>
                  <a:gd name="T59" fmla="*/ 479 h 480"/>
                  <a:gd name="T60" fmla="*/ 824 w 825"/>
                  <a:gd name="T61" fmla="*/ 476 h 480"/>
                  <a:gd name="T62" fmla="*/ 617 w 825"/>
                  <a:gd name="T63" fmla="*/ 451 h 480"/>
                  <a:gd name="T64" fmla="*/ 602 w 825"/>
                  <a:gd name="T65" fmla="*/ 450 h 480"/>
                  <a:gd name="T66" fmla="*/ 595 w 825"/>
                  <a:gd name="T67" fmla="*/ 451 h 480"/>
                  <a:gd name="T68" fmla="*/ 586 w 825"/>
                  <a:gd name="T69" fmla="*/ 452 h 480"/>
                  <a:gd name="T70" fmla="*/ 548 w 825"/>
                  <a:gd name="T71" fmla="*/ 460 h 480"/>
                  <a:gd name="T72" fmla="*/ 502 w 825"/>
                  <a:gd name="T73" fmla="*/ 468 h 480"/>
                  <a:gd name="T74" fmla="*/ 489 w 825"/>
                  <a:gd name="T75" fmla="*/ 468 h 480"/>
                  <a:gd name="T76" fmla="*/ 480 w 825"/>
                  <a:gd name="T77" fmla="*/ 468 h 480"/>
                  <a:gd name="T78" fmla="*/ 471 w 825"/>
                  <a:gd name="T79" fmla="*/ 467 h 480"/>
                  <a:gd name="T80" fmla="*/ 425 w 825"/>
                  <a:gd name="T81" fmla="*/ 454 h 480"/>
                  <a:gd name="T82" fmla="*/ 358 w 825"/>
                  <a:gd name="T83" fmla="*/ 431 h 480"/>
                  <a:gd name="T84" fmla="*/ 294 w 825"/>
                  <a:gd name="T85" fmla="*/ 401 h 480"/>
                  <a:gd name="T86" fmla="*/ 295 w 825"/>
                  <a:gd name="T87" fmla="*/ 397 h 4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25"/>
                  <a:gd name="T133" fmla="*/ 0 h 480"/>
                  <a:gd name="T134" fmla="*/ 825 w 825"/>
                  <a:gd name="T135" fmla="*/ 480 h 4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25" h="480">
                    <a:moveTo>
                      <a:pt x="295" y="397"/>
                    </a:moveTo>
                    <a:lnTo>
                      <a:pt x="241" y="350"/>
                    </a:lnTo>
                    <a:lnTo>
                      <a:pt x="161" y="271"/>
                    </a:lnTo>
                    <a:lnTo>
                      <a:pt x="41" y="146"/>
                    </a:lnTo>
                    <a:lnTo>
                      <a:pt x="15" y="122"/>
                    </a:lnTo>
                    <a:lnTo>
                      <a:pt x="2" y="107"/>
                    </a:lnTo>
                    <a:lnTo>
                      <a:pt x="0" y="95"/>
                    </a:lnTo>
                    <a:lnTo>
                      <a:pt x="8" y="70"/>
                    </a:lnTo>
                    <a:lnTo>
                      <a:pt x="21" y="48"/>
                    </a:lnTo>
                    <a:lnTo>
                      <a:pt x="57" y="35"/>
                    </a:lnTo>
                    <a:lnTo>
                      <a:pt x="107" y="24"/>
                    </a:lnTo>
                    <a:lnTo>
                      <a:pt x="198" y="11"/>
                    </a:lnTo>
                    <a:lnTo>
                      <a:pt x="250" y="2"/>
                    </a:lnTo>
                    <a:lnTo>
                      <a:pt x="278" y="0"/>
                    </a:lnTo>
                    <a:lnTo>
                      <a:pt x="290" y="0"/>
                    </a:lnTo>
                    <a:lnTo>
                      <a:pt x="303" y="2"/>
                    </a:lnTo>
                    <a:lnTo>
                      <a:pt x="425" y="57"/>
                    </a:lnTo>
                    <a:lnTo>
                      <a:pt x="508" y="110"/>
                    </a:lnTo>
                    <a:lnTo>
                      <a:pt x="542" y="139"/>
                    </a:lnTo>
                    <a:lnTo>
                      <a:pt x="576" y="169"/>
                    </a:lnTo>
                    <a:lnTo>
                      <a:pt x="653" y="209"/>
                    </a:lnTo>
                    <a:lnTo>
                      <a:pt x="683" y="213"/>
                    </a:lnTo>
                    <a:lnTo>
                      <a:pt x="697" y="213"/>
                    </a:lnTo>
                    <a:lnTo>
                      <a:pt x="706" y="213"/>
                    </a:lnTo>
                    <a:lnTo>
                      <a:pt x="715" y="212"/>
                    </a:lnTo>
                    <a:lnTo>
                      <a:pt x="744" y="213"/>
                    </a:lnTo>
                    <a:lnTo>
                      <a:pt x="780" y="210"/>
                    </a:lnTo>
                    <a:lnTo>
                      <a:pt x="821" y="206"/>
                    </a:lnTo>
                    <a:lnTo>
                      <a:pt x="824" y="206"/>
                    </a:lnTo>
                    <a:lnTo>
                      <a:pt x="824" y="479"/>
                    </a:lnTo>
                    <a:lnTo>
                      <a:pt x="824" y="476"/>
                    </a:lnTo>
                    <a:lnTo>
                      <a:pt x="617" y="451"/>
                    </a:lnTo>
                    <a:lnTo>
                      <a:pt x="602" y="450"/>
                    </a:lnTo>
                    <a:lnTo>
                      <a:pt x="595" y="451"/>
                    </a:lnTo>
                    <a:lnTo>
                      <a:pt x="586" y="452"/>
                    </a:lnTo>
                    <a:lnTo>
                      <a:pt x="548" y="460"/>
                    </a:lnTo>
                    <a:lnTo>
                      <a:pt x="502" y="468"/>
                    </a:lnTo>
                    <a:lnTo>
                      <a:pt x="489" y="468"/>
                    </a:lnTo>
                    <a:lnTo>
                      <a:pt x="480" y="468"/>
                    </a:lnTo>
                    <a:lnTo>
                      <a:pt x="471" y="467"/>
                    </a:lnTo>
                    <a:lnTo>
                      <a:pt x="425" y="454"/>
                    </a:lnTo>
                    <a:lnTo>
                      <a:pt x="358" y="431"/>
                    </a:lnTo>
                    <a:lnTo>
                      <a:pt x="294" y="401"/>
                    </a:lnTo>
                    <a:lnTo>
                      <a:pt x="295" y="397"/>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59" name="Freeform 77"/>
              <p:cNvSpPr/>
              <p:nvPr/>
            </p:nvSpPr>
            <p:spPr bwMode="auto">
              <a:xfrm>
                <a:off x="2751" y="1978"/>
                <a:ext cx="192" cy="37"/>
              </a:xfrm>
              <a:custGeom>
                <a:avLst/>
                <a:gdLst>
                  <a:gd name="T0" fmla="*/ 173 w 192"/>
                  <a:gd name="T1" fmla="*/ 19 h 37"/>
                  <a:gd name="T2" fmla="*/ 191 w 192"/>
                  <a:gd name="T3" fmla="*/ 19 h 37"/>
                  <a:gd name="T4" fmla="*/ 143 w 192"/>
                  <a:gd name="T5" fmla="*/ 0 h 37"/>
                  <a:gd name="T6" fmla="*/ 135 w 192"/>
                  <a:gd name="T7" fmla="*/ 0 h 37"/>
                  <a:gd name="T8" fmla="*/ 125 w 192"/>
                  <a:gd name="T9" fmla="*/ 0 h 37"/>
                  <a:gd name="T10" fmla="*/ 102 w 192"/>
                  <a:gd name="T11" fmla="*/ 3 h 37"/>
                  <a:gd name="T12" fmla="*/ 61 w 192"/>
                  <a:gd name="T13" fmla="*/ 9 h 37"/>
                  <a:gd name="T14" fmla="*/ 27 w 192"/>
                  <a:gd name="T15" fmla="*/ 11 h 37"/>
                  <a:gd name="T16" fmla="*/ 0 w 192"/>
                  <a:gd name="T17" fmla="*/ 19 h 37"/>
                  <a:gd name="T18" fmla="*/ 18 w 192"/>
                  <a:gd name="T19" fmla="*/ 30 h 37"/>
                  <a:gd name="T20" fmla="*/ 60 w 192"/>
                  <a:gd name="T21" fmla="*/ 36 h 37"/>
                  <a:gd name="T22" fmla="*/ 84 w 192"/>
                  <a:gd name="T23" fmla="*/ 36 h 37"/>
                  <a:gd name="T24" fmla="*/ 104 w 192"/>
                  <a:gd name="T25" fmla="*/ 35 h 37"/>
                  <a:gd name="T26" fmla="*/ 172 w 192"/>
                  <a:gd name="T27" fmla="*/ 23 h 37"/>
                  <a:gd name="T28" fmla="*/ 173 w 192"/>
                  <a:gd name="T29" fmla="*/ 19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37"/>
                  <a:gd name="T47" fmla="*/ 192 w 192"/>
                  <a:gd name="T48" fmla="*/ 37 h 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37">
                    <a:moveTo>
                      <a:pt x="173" y="19"/>
                    </a:moveTo>
                    <a:lnTo>
                      <a:pt x="191" y="19"/>
                    </a:lnTo>
                    <a:lnTo>
                      <a:pt x="143" y="0"/>
                    </a:lnTo>
                    <a:lnTo>
                      <a:pt x="135" y="0"/>
                    </a:lnTo>
                    <a:lnTo>
                      <a:pt x="125" y="0"/>
                    </a:lnTo>
                    <a:lnTo>
                      <a:pt x="102" y="3"/>
                    </a:lnTo>
                    <a:lnTo>
                      <a:pt x="61" y="9"/>
                    </a:lnTo>
                    <a:lnTo>
                      <a:pt x="27" y="11"/>
                    </a:lnTo>
                    <a:lnTo>
                      <a:pt x="0" y="19"/>
                    </a:lnTo>
                    <a:lnTo>
                      <a:pt x="18" y="30"/>
                    </a:lnTo>
                    <a:lnTo>
                      <a:pt x="60" y="36"/>
                    </a:lnTo>
                    <a:lnTo>
                      <a:pt x="84" y="36"/>
                    </a:lnTo>
                    <a:lnTo>
                      <a:pt x="104" y="35"/>
                    </a:lnTo>
                    <a:lnTo>
                      <a:pt x="172" y="23"/>
                    </a:lnTo>
                    <a:lnTo>
                      <a:pt x="173" y="19"/>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60" name="Freeform 78"/>
              <p:cNvSpPr/>
              <p:nvPr/>
            </p:nvSpPr>
            <p:spPr bwMode="auto">
              <a:xfrm>
                <a:off x="2690" y="1998"/>
                <a:ext cx="414" cy="340"/>
              </a:xfrm>
              <a:custGeom>
                <a:avLst/>
                <a:gdLst>
                  <a:gd name="T0" fmla="*/ 413 w 414"/>
                  <a:gd name="T1" fmla="*/ 247 h 340"/>
                  <a:gd name="T2" fmla="*/ 409 w 414"/>
                  <a:gd name="T3" fmla="*/ 265 h 340"/>
                  <a:gd name="T4" fmla="*/ 397 w 414"/>
                  <a:gd name="T5" fmla="*/ 291 h 340"/>
                  <a:gd name="T6" fmla="*/ 381 w 414"/>
                  <a:gd name="T7" fmla="*/ 314 h 340"/>
                  <a:gd name="T8" fmla="*/ 366 w 414"/>
                  <a:gd name="T9" fmla="*/ 324 h 340"/>
                  <a:gd name="T10" fmla="*/ 350 w 414"/>
                  <a:gd name="T11" fmla="*/ 324 h 340"/>
                  <a:gd name="T12" fmla="*/ 333 w 414"/>
                  <a:gd name="T13" fmla="*/ 326 h 340"/>
                  <a:gd name="T14" fmla="*/ 318 w 414"/>
                  <a:gd name="T15" fmla="*/ 333 h 340"/>
                  <a:gd name="T16" fmla="*/ 302 w 414"/>
                  <a:gd name="T17" fmla="*/ 339 h 340"/>
                  <a:gd name="T18" fmla="*/ 288 w 414"/>
                  <a:gd name="T19" fmla="*/ 331 h 340"/>
                  <a:gd name="T20" fmla="*/ 273 w 414"/>
                  <a:gd name="T21" fmla="*/ 316 h 340"/>
                  <a:gd name="T22" fmla="*/ 244 w 414"/>
                  <a:gd name="T23" fmla="*/ 287 h 340"/>
                  <a:gd name="T24" fmla="*/ 157 w 414"/>
                  <a:gd name="T25" fmla="*/ 234 h 340"/>
                  <a:gd name="T26" fmla="*/ 109 w 414"/>
                  <a:gd name="T27" fmla="*/ 205 h 340"/>
                  <a:gd name="T28" fmla="*/ 72 w 414"/>
                  <a:gd name="T29" fmla="*/ 175 h 340"/>
                  <a:gd name="T30" fmla="*/ 23 w 414"/>
                  <a:gd name="T31" fmla="*/ 107 h 340"/>
                  <a:gd name="T32" fmla="*/ 4 w 414"/>
                  <a:gd name="T33" fmla="*/ 67 h 340"/>
                  <a:gd name="T34" fmla="*/ 0 w 414"/>
                  <a:gd name="T35" fmla="*/ 49 h 340"/>
                  <a:gd name="T36" fmla="*/ 0 w 414"/>
                  <a:gd name="T37" fmla="*/ 41 h 340"/>
                  <a:gd name="T38" fmla="*/ 2 w 414"/>
                  <a:gd name="T39" fmla="*/ 32 h 340"/>
                  <a:gd name="T40" fmla="*/ 17 w 414"/>
                  <a:gd name="T41" fmla="*/ 20 h 340"/>
                  <a:gd name="T42" fmla="*/ 37 w 414"/>
                  <a:gd name="T43" fmla="*/ 14 h 340"/>
                  <a:gd name="T44" fmla="*/ 113 w 414"/>
                  <a:gd name="T45" fmla="*/ 4 h 340"/>
                  <a:gd name="T46" fmla="*/ 142 w 414"/>
                  <a:gd name="T47" fmla="*/ 6 h 340"/>
                  <a:gd name="T48" fmla="*/ 173 w 414"/>
                  <a:gd name="T49" fmla="*/ 8 h 340"/>
                  <a:gd name="T50" fmla="*/ 218 w 414"/>
                  <a:gd name="T51" fmla="*/ 0 h 340"/>
                  <a:gd name="T52" fmla="*/ 225 w 414"/>
                  <a:gd name="T53" fmla="*/ 0 h 340"/>
                  <a:gd name="T54" fmla="*/ 234 w 414"/>
                  <a:gd name="T55" fmla="*/ 0 h 340"/>
                  <a:gd name="T56" fmla="*/ 251 w 414"/>
                  <a:gd name="T57" fmla="*/ 4 h 340"/>
                  <a:gd name="T58" fmla="*/ 282 w 414"/>
                  <a:gd name="T59" fmla="*/ 20 h 340"/>
                  <a:gd name="T60" fmla="*/ 307 w 414"/>
                  <a:gd name="T61" fmla="*/ 42 h 340"/>
                  <a:gd name="T62" fmla="*/ 330 w 414"/>
                  <a:gd name="T63" fmla="*/ 71 h 340"/>
                  <a:gd name="T64" fmla="*/ 370 w 414"/>
                  <a:gd name="T65" fmla="*/ 141 h 340"/>
                  <a:gd name="T66" fmla="*/ 413 w 414"/>
                  <a:gd name="T67" fmla="*/ 247 h 3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340"/>
                  <a:gd name="T104" fmla="*/ 414 w 414"/>
                  <a:gd name="T105" fmla="*/ 340 h 3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340">
                    <a:moveTo>
                      <a:pt x="413" y="247"/>
                    </a:moveTo>
                    <a:lnTo>
                      <a:pt x="409" y="265"/>
                    </a:lnTo>
                    <a:lnTo>
                      <a:pt x="397" y="291"/>
                    </a:lnTo>
                    <a:lnTo>
                      <a:pt x="381" y="314"/>
                    </a:lnTo>
                    <a:lnTo>
                      <a:pt x="366" y="324"/>
                    </a:lnTo>
                    <a:lnTo>
                      <a:pt x="350" y="324"/>
                    </a:lnTo>
                    <a:lnTo>
                      <a:pt x="333" y="326"/>
                    </a:lnTo>
                    <a:lnTo>
                      <a:pt x="318" y="333"/>
                    </a:lnTo>
                    <a:lnTo>
                      <a:pt x="302" y="339"/>
                    </a:lnTo>
                    <a:lnTo>
                      <a:pt x="288" y="331"/>
                    </a:lnTo>
                    <a:lnTo>
                      <a:pt x="273" y="316"/>
                    </a:lnTo>
                    <a:lnTo>
                      <a:pt x="244" y="287"/>
                    </a:lnTo>
                    <a:lnTo>
                      <a:pt x="157" y="234"/>
                    </a:lnTo>
                    <a:lnTo>
                      <a:pt x="109" y="205"/>
                    </a:lnTo>
                    <a:lnTo>
                      <a:pt x="72" y="175"/>
                    </a:lnTo>
                    <a:lnTo>
                      <a:pt x="23" y="107"/>
                    </a:lnTo>
                    <a:lnTo>
                      <a:pt x="4" y="67"/>
                    </a:lnTo>
                    <a:lnTo>
                      <a:pt x="0" y="49"/>
                    </a:lnTo>
                    <a:lnTo>
                      <a:pt x="0" y="41"/>
                    </a:lnTo>
                    <a:lnTo>
                      <a:pt x="2" y="32"/>
                    </a:lnTo>
                    <a:lnTo>
                      <a:pt x="17" y="20"/>
                    </a:lnTo>
                    <a:lnTo>
                      <a:pt x="37" y="14"/>
                    </a:lnTo>
                    <a:lnTo>
                      <a:pt x="113" y="4"/>
                    </a:lnTo>
                    <a:lnTo>
                      <a:pt x="142" y="6"/>
                    </a:lnTo>
                    <a:lnTo>
                      <a:pt x="173" y="8"/>
                    </a:lnTo>
                    <a:lnTo>
                      <a:pt x="218" y="0"/>
                    </a:lnTo>
                    <a:lnTo>
                      <a:pt x="225" y="0"/>
                    </a:lnTo>
                    <a:lnTo>
                      <a:pt x="234" y="0"/>
                    </a:lnTo>
                    <a:lnTo>
                      <a:pt x="251" y="4"/>
                    </a:lnTo>
                    <a:lnTo>
                      <a:pt x="282" y="20"/>
                    </a:lnTo>
                    <a:lnTo>
                      <a:pt x="307" y="42"/>
                    </a:lnTo>
                    <a:lnTo>
                      <a:pt x="330" y="71"/>
                    </a:lnTo>
                    <a:lnTo>
                      <a:pt x="370" y="141"/>
                    </a:lnTo>
                    <a:lnTo>
                      <a:pt x="413" y="247"/>
                    </a:lnTo>
                  </a:path>
                </a:pathLst>
              </a:custGeom>
              <a:solidFill>
                <a:srgbClr val="622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61" name="Freeform 79"/>
              <p:cNvSpPr/>
              <p:nvPr/>
            </p:nvSpPr>
            <p:spPr bwMode="auto">
              <a:xfrm>
                <a:off x="2763" y="2279"/>
                <a:ext cx="234" cy="115"/>
              </a:xfrm>
              <a:custGeom>
                <a:avLst/>
                <a:gdLst>
                  <a:gd name="T0" fmla="*/ 12 w 234"/>
                  <a:gd name="T1" fmla="*/ 33 h 115"/>
                  <a:gd name="T2" fmla="*/ 0 w 234"/>
                  <a:gd name="T3" fmla="*/ 51 h 115"/>
                  <a:gd name="T4" fmla="*/ 9 w 234"/>
                  <a:gd name="T5" fmla="*/ 84 h 115"/>
                  <a:gd name="T6" fmla="*/ 43 w 234"/>
                  <a:gd name="T7" fmla="*/ 101 h 115"/>
                  <a:gd name="T8" fmla="*/ 69 w 234"/>
                  <a:gd name="T9" fmla="*/ 110 h 115"/>
                  <a:gd name="T10" fmla="*/ 81 w 234"/>
                  <a:gd name="T11" fmla="*/ 113 h 115"/>
                  <a:gd name="T12" fmla="*/ 91 w 234"/>
                  <a:gd name="T13" fmla="*/ 114 h 115"/>
                  <a:gd name="T14" fmla="*/ 140 w 234"/>
                  <a:gd name="T15" fmla="*/ 97 h 115"/>
                  <a:gd name="T16" fmla="*/ 187 w 234"/>
                  <a:gd name="T17" fmla="*/ 72 h 115"/>
                  <a:gd name="T18" fmla="*/ 214 w 234"/>
                  <a:gd name="T19" fmla="*/ 58 h 115"/>
                  <a:gd name="T20" fmla="*/ 226 w 234"/>
                  <a:gd name="T21" fmla="*/ 48 h 115"/>
                  <a:gd name="T22" fmla="*/ 233 w 234"/>
                  <a:gd name="T23" fmla="*/ 37 h 115"/>
                  <a:gd name="T24" fmla="*/ 233 w 234"/>
                  <a:gd name="T25" fmla="*/ 30 h 115"/>
                  <a:gd name="T26" fmla="*/ 231 w 234"/>
                  <a:gd name="T27" fmla="*/ 24 h 115"/>
                  <a:gd name="T28" fmla="*/ 217 w 234"/>
                  <a:gd name="T29" fmla="*/ 10 h 115"/>
                  <a:gd name="T30" fmla="*/ 199 w 234"/>
                  <a:gd name="T31" fmla="*/ 1 h 115"/>
                  <a:gd name="T32" fmla="*/ 189 w 234"/>
                  <a:gd name="T33" fmla="*/ 0 h 115"/>
                  <a:gd name="T34" fmla="*/ 177 w 234"/>
                  <a:gd name="T35" fmla="*/ 1 h 115"/>
                  <a:gd name="T36" fmla="*/ 160 w 234"/>
                  <a:gd name="T37" fmla="*/ 1 h 115"/>
                  <a:gd name="T38" fmla="*/ 139 w 234"/>
                  <a:gd name="T39" fmla="*/ 3 h 115"/>
                  <a:gd name="T40" fmla="*/ 92 w 234"/>
                  <a:gd name="T41" fmla="*/ 8 h 115"/>
                  <a:gd name="T42" fmla="*/ 47 w 234"/>
                  <a:gd name="T43" fmla="*/ 18 h 115"/>
                  <a:gd name="T44" fmla="*/ 12 w 234"/>
                  <a:gd name="T45" fmla="*/ 33 h 11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4"/>
                  <a:gd name="T70" fmla="*/ 0 h 115"/>
                  <a:gd name="T71" fmla="*/ 234 w 234"/>
                  <a:gd name="T72" fmla="*/ 115 h 11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4" h="115">
                    <a:moveTo>
                      <a:pt x="12" y="33"/>
                    </a:moveTo>
                    <a:lnTo>
                      <a:pt x="0" y="51"/>
                    </a:lnTo>
                    <a:lnTo>
                      <a:pt x="9" y="84"/>
                    </a:lnTo>
                    <a:lnTo>
                      <a:pt x="43" y="101"/>
                    </a:lnTo>
                    <a:lnTo>
                      <a:pt x="69" y="110"/>
                    </a:lnTo>
                    <a:lnTo>
                      <a:pt x="81" y="113"/>
                    </a:lnTo>
                    <a:lnTo>
                      <a:pt x="91" y="114"/>
                    </a:lnTo>
                    <a:lnTo>
                      <a:pt x="140" y="97"/>
                    </a:lnTo>
                    <a:lnTo>
                      <a:pt x="187" y="72"/>
                    </a:lnTo>
                    <a:lnTo>
                      <a:pt x="214" y="58"/>
                    </a:lnTo>
                    <a:lnTo>
                      <a:pt x="226" y="48"/>
                    </a:lnTo>
                    <a:lnTo>
                      <a:pt x="233" y="37"/>
                    </a:lnTo>
                    <a:lnTo>
                      <a:pt x="233" y="30"/>
                    </a:lnTo>
                    <a:lnTo>
                      <a:pt x="231" y="24"/>
                    </a:lnTo>
                    <a:lnTo>
                      <a:pt x="217" y="10"/>
                    </a:lnTo>
                    <a:lnTo>
                      <a:pt x="199" y="1"/>
                    </a:lnTo>
                    <a:lnTo>
                      <a:pt x="189" y="0"/>
                    </a:lnTo>
                    <a:lnTo>
                      <a:pt x="177" y="1"/>
                    </a:lnTo>
                    <a:lnTo>
                      <a:pt x="160" y="1"/>
                    </a:lnTo>
                    <a:lnTo>
                      <a:pt x="139" y="3"/>
                    </a:lnTo>
                    <a:lnTo>
                      <a:pt x="92" y="8"/>
                    </a:lnTo>
                    <a:lnTo>
                      <a:pt x="47" y="18"/>
                    </a:lnTo>
                    <a:lnTo>
                      <a:pt x="12" y="33"/>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62" name="Freeform 80"/>
              <p:cNvSpPr/>
              <p:nvPr/>
            </p:nvSpPr>
            <p:spPr bwMode="auto">
              <a:xfrm>
                <a:off x="2695" y="2203"/>
                <a:ext cx="272" cy="118"/>
              </a:xfrm>
              <a:custGeom>
                <a:avLst/>
                <a:gdLst>
                  <a:gd name="T0" fmla="*/ 11 w 272"/>
                  <a:gd name="T1" fmla="*/ 11 h 118"/>
                  <a:gd name="T2" fmla="*/ 0 w 272"/>
                  <a:gd name="T3" fmla="*/ 46 h 118"/>
                  <a:gd name="T4" fmla="*/ 8 w 272"/>
                  <a:gd name="T5" fmla="*/ 80 h 118"/>
                  <a:gd name="T6" fmla="*/ 55 w 272"/>
                  <a:gd name="T7" fmla="*/ 101 h 118"/>
                  <a:gd name="T8" fmla="*/ 90 w 272"/>
                  <a:gd name="T9" fmla="*/ 111 h 118"/>
                  <a:gd name="T10" fmla="*/ 104 w 272"/>
                  <a:gd name="T11" fmla="*/ 116 h 118"/>
                  <a:gd name="T12" fmla="*/ 116 w 272"/>
                  <a:gd name="T13" fmla="*/ 117 h 118"/>
                  <a:gd name="T14" fmla="*/ 164 w 272"/>
                  <a:gd name="T15" fmla="*/ 107 h 118"/>
                  <a:gd name="T16" fmla="*/ 212 w 272"/>
                  <a:gd name="T17" fmla="*/ 90 h 118"/>
                  <a:gd name="T18" fmla="*/ 245 w 272"/>
                  <a:gd name="T19" fmla="*/ 78 h 118"/>
                  <a:gd name="T20" fmla="*/ 262 w 272"/>
                  <a:gd name="T21" fmla="*/ 72 h 118"/>
                  <a:gd name="T22" fmla="*/ 271 w 272"/>
                  <a:gd name="T23" fmla="*/ 61 h 118"/>
                  <a:gd name="T24" fmla="*/ 267 w 272"/>
                  <a:gd name="T25" fmla="*/ 52 h 118"/>
                  <a:gd name="T26" fmla="*/ 255 w 272"/>
                  <a:gd name="T27" fmla="*/ 38 h 118"/>
                  <a:gd name="T28" fmla="*/ 229 w 272"/>
                  <a:gd name="T29" fmla="*/ 20 h 118"/>
                  <a:gd name="T30" fmla="*/ 212 w 272"/>
                  <a:gd name="T31" fmla="*/ 13 h 118"/>
                  <a:gd name="T32" fmla="*/ 203 w 272"/>
                  <a:gd name="T33" fmla="*/ 11 h 118"/>
                  <a:gd name="T34" fmla="*/ 193 w 272"/>
                  <a:gd name="T35" fmla="*/ 11 h 118"/>
                  <a:gd name="T36" fmla="*/ 99 w 272"/>
                  <a:gd name="T37" fmla="*/ 1 h 118"/>
                  <a:gd name="T38" fmla="*/ 73 w 272"/>
                  <a:gd name="T39" fmla="*/ 0 h 118"/>
                  <a:gd name="T40" fmla="*/ 61 w 272"/>
                  <a:gd name="T41" fmla="*/ 0 h 118"/>
                  <a:gd name="T42" fmla="*/ 49 w 272"/>
                  <a:gd name="T43" fmla="*/ 0 h 118"/>
                  <a:gd name="T44" fmla="*/ 11 w 272"/>
                  <a:gd name="T45" fmla="*/ 11 h 11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2"/>
                  <a:gd name="T70" fmla="*/ 0 h 118"/>
                  <a:gd name="T71" fmla="*/ 272 w 272"/>
                  <a:gd name="T72" fmla="*/ 118 h 11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2" h="118">
                    <a:moveTo>
                      <a:pt x="11" y="11"/>
                    </a:moveTo>
                    <a:lnTo>
                      <a:pt x="0" y="46"/>
                    </a:lnTo>
                    <a:lnTo>
                      <a:pt x="8" y="80"/>
                    </a:lnTo>
                    <a:lnTo>
                      <a:pt x="55" y="101"/>
                    </a:lnTo>
                    <a:lnTo>
                      <a:pt x="90" y="111"/>
                    </a:lnTo>
                    <a:lnTo>
                      <a:pt x="104" y="116"/>
                    </a:lnTo>
                    <a:lnTo>
                      <a:pt x="116" y="117"/>
                    </a:lnTo>
                    <a:lnTo>
                      <a:pt x="164" y="107"/>
                    </a:lnTo>
                    <a:lnTo>
                      <a:pt x="212" y="90"/>
                    </a:lnTo>
                    <a:lnTo>
                      <a:pt x="245" y="78"/>
                    </a:lnTo>
                    <a:lnTo>
                      <a:pt x="262" y="72"/>
                    </a:lnTo>
                    <a:lnTo>
                      <a:pt x="271" y="61"/>
                    </a:lnTo>
                    <a:lnTo>
                      <a:pt x="267" y="52"/>
                    </a:lnTo>
                    <a:lnTo>
                      <a:pt x="255" y="38"/>
                    </a:lnTo>
                    <a:lnTo>
                      <a:pt x="229" y="20"/>
                    </a:lnTo>
                    <a:lnTo>
                      <a:pt x="212" y="13"/>
                    </a:lnTo>
                    <a:lnTo>
                      <a:pt x="203" y="11"/>
                    </a:lnTo>
                    <a:lnTo>
                      <a:pt x="193" y="11"/>
                    </a:lnTo>
                    <a:lnTo>
                      <a:pt x="99" y="1"/>
                    </a:lnTo>
                    <a:lnTo>
                      <a:pt x="73" y="0"/>
                    </a:lnTo>
                    <a:lnTo>
                      <a:pt x="61" y="0"/>
                    </a:lnTo>
                    <a:lnTo>
                      <a:pt x="49" y="0"/>
                    </a:lnTo>
                    <a:lnTo>
                      <a:pt x="11" y="1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63" name="Freeform 81"/>
              <p:cNvSpPr/>
              <p:nvPr/>
            </p:nvSpPr>
            <p:spPr bwMode="auto">
              <a:xfrm>
                <a:off x="2650" y="2117"/>
                <a:ext cx="278" cy="136"/>
              </a:xfrm>
              <a:custGeom>
                <a:avLst/>
                <a:gdLst>
                  <a:gd name="T0" fmla="*/ 16 w 278"/>
                  <a:gd name="T1" fmla="*/ 1 h 136"/>
                  <a:gd name="T2" fmla="*/ 0 w 278"/>
                  <a:gd name="T3" fmla="*/ 21 h 136"/>
                  <a:gd name="T4" fmla="*/ 4 w 278"/>
                  <a:gd name="T5" fmla="*/ 53 h 136"/>
                  <a:gd name="T6" fmla="*/ 49 w 278"/>
                  <a:gd name="T7" fmla="*/ 96 h 136"/>
                  <a:gd name="T8" fmla="*/ 84 w 278"/>
                  <a:gd name="T9" fmla="*/ 122 h 136"/>
                  <a:gd name="T10" fmla="*/ 111 w 278"/>
                  <a:gd name="T11" fmla="*/ 135 h 136"/>
                  <a:gd name="T12" fmla="*/ 122 w 278"/>
                  <a:gd name="T13" fmla="*/ 135 h 136"/>
                  <a:gd name="T14" fmla="*/ 134 w 278"/>
                  <a:gd name="T15" fmla="*/ 135 h 136"/>
                  <a:gd name="T16" fmla="*/ 162 w 278"/>
                  <a:gd name="T17" fmla="*/ 128 h 136"/>
                  <a:gd name="T18" fmla="*/ 213 w 278"/>
                  <a:gd name="T19" fmla="*/ 113 h 136"/>
                  <a:gd name="T20" fmla="*/ 248 w 278"/>
                  <a:gd name="T21" fmla="*/ 102 h 136"/>
                  <a:gd name="T22" fmla="*/ 277 w 278"/>
                  <a:gd name="T23" fmla="*/ 84 h 136"/>
                  <a:gd name="T24" fmla="*/ 274 w 278"/>
                  <a:gd name="T25" fmla="*/ 75 h 136"/>
                  <a:gd name="T26" fmla="*/ 265 w 278"/>
                  <a:gd name="T27" fmla="*/ 63 h 136"/>
                  <a:gd name="T28" fmla="*/ 243 w 278"/>
                  <a:gd name="T29" fmla="*/ 44 h 136"/>
                  <a:gd name="T30" fmla="*/ 222 w 278"/>
                  <a:gd name="T31" fmla="*/ 36 h 136"/>
                  <a:gd name="T32" fmla="*/ 196 w 278"/>
                  <a:gd name="T33" fmla="*/ 32 h 136"/>
                  <a:gd name="T34" fmla="*/ 184 w 278"/>
                  <a:gd name="T35" fmla="*/ 32 h 136"/>
                  <a:gd name="T36" fmla="*/ 171 w 278"/>
                  <a:gd name="T37" fmla="*/ 33 h 136"/>
                  <a:gd name="T38" fmla="*/ 148 w 278"/>
                  <a:gd name="T39" fmla="*/ 39 h 136"/>
                  <a:gd name="T40" fmla="*/ 131 w 278"/>
                  <a:gd name="T41" fmla="*/ 37 h 136"/>
                  <a:gd name="T42" fmla="*/ 73 w 278"/>
                  <a:gd name="T43" fmla="*/ 14 h 136"/>
                  <a:gd name="T44" fmla="*/ 43 w 278"/>
                  <a:gd name="T45" fmla="*/ 2 h 136"/>
                  <a:gd name="T46" fmla="*/ 29 w 278"/>
                  <a:gd name="T47" fmla="*/ 0 h 136"/>
                  <a:gd name="T48" fmla="*/ 16 w 278"/>
                  <a:gd name="T49" fmla="*/ 1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36"/>
                  <a:gd name="T77" fmla="*/ 278 w 27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36">
                    <a:moveTo>
                      <a:pt x="16" y="1"/>
                    </a:moveTo>
                    <a:lnTo>
                      <a:pt x="0" y="21"/>
                    </a:lnTo>
                    <a:lnTo>
                      <a:pt x="4" y="53"/>
                    </a:lnTo>
                    <a:lnTo>
                      <a:pt x="49" y="96"/>
                    </a:lnTo>
                    <a:lnTo>
                      <a:pt x="84" y="122"/>
                    </a:lnTo>
                    <a:lnTo>
                      <a:pt x="111" y="135"/>
                    </a:lnTo>
                    <a:lnTo>
                      <a:pt x="122" y="135"/>
                    </a:lnTo>
                    <a:lnTo>
                      <a:pt x="134" y="135"/>
                    </a:lnTo>
                    <a:lnTo>
                      <a:pt x="162" y="128"/>
                    </a:lnTo>
                    <a:lnTo>
                      <a:pt x="213" y="113"/>
                    </a:lnTo>
                    <a:lnTo>
                      <a:pt x="248" y="102"/>
                    </a:lnTo>
                    <a:lnTo>
                      <a:pt x="277" y="84"/>
                    </a:lnTo>
                    <a:lnTo>
                      <a:pt x="274" y="75"/>
                    </a:lnTo>
                    <a:lnTo>
                      <a:pt x="265" y="63"/>
                    </a:lnTo>
                    <a:lnTo>
                      <a:pt x="243" y="44"/>
                    </a:lnTo>
                    <a:lnTo>
                      <a:pt x="222" y="36"/>
                    </a:lnTo>
                    <a:lnTo>
                      <a:pt x="196" y="32"/>
                    </a:lnTo>
                    <a:lnTo>
                      <a:pt x="184" y="32"/>
                    </a:lnTo>
                    <a:lnTo>
                      <a:pt x="171" y="33"/>
                    </a:lnTo>
                    <a:lnTo>
                      <a:pt x="148" y="39"/>
                    </a:lnTo>
                    <a:lnTo>
                      <a:pt x="131" y="37"/>
                    </a:lnTo>
                    <a:lnTo>
                      <a:pt x="73" y="14"/>
                    </a:lnTo>
                    <a:lnTo>
                      <a:pt x="43" y="2"/>
                    </a:lnTo>
                    <a:lnTo>
                      <a:pt x="29" y="0"/>
                    </a:lnTo>
                    <a:lnTo>
                      <a:pt x="16" y="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64" name="Freeform 82"/>
              <p:cNvSpPr/>
              <p:nvPr/>
            </p:nvSpPr>
            <p:spPr bwMode="auto">
              <a:xfrm>
                <a:off x="2623" y="2010"/>
                <a:ext cx="169" cy="167"/>
              </a:xfrm>
              <a:custGeom>
                <a:avLst/>
                <a:gdLst>
                  <a:gd name="T0" fmla="*/ 144 w 169"/>
                  <a:gd name="T1" fmla="*/ 81 h 167"/>
                  <a:gd name="T2" fmla="*/ 156 w 169"/>
                  <a:gd name="T3" fmla="*/ 96 h 167"/>
                  <a:gd name="T4" fmla="*/ 168 w 169"/>
                  <a:gd name="T5" fmla="*/ 118 h 167"/>
                  <a:gd name="T6" fmla="*/ 166 w 169"/>
                  <a:gd name="T7" fmla="*/ 131 h 167"/>
                  <a:gd name="T8" fmla="*/ 160 w 169"/>
                  <a:gd name="T9" fmla="*/ 143 h 167"/>
                  <a:gd name="T10" fmla="*/ 148 w 169"/>
                  <a:gd name="T11" fmla="*/ 156 h 167"/>
                  <a:gd name="T12" fmla="*/ 139 w 169"/>
                  <a:gd name="T13" fmla="*/ 166 h 167"/>
                  <a:gd name="T14" fmla="*/ 88 w 169"/>
                  <a:gd name="T15" fmla="*/ 144 h 167"/>
                  <a:gd name="T16" fmla="*/ 41 w 169"/>
                  <a:gd name="T17" fmla="*/ 104 h 167"/>
                  <a:gd name="T18" fmla="*/ 15 w 169"/>
                  <a:gd name="T19" fmla="*/ 81 h 167"/>
                  <a:gd name="T20" fmla="*/ 2 w 169"/>
                  <a:gd name="T21" fmla="*/ 66 h 167"/>
                  <a:gd name="T22" fmla="*/ 0 w 169"/>
                  <a:gd name="T23" fmla="*/ 54 h 167"/>
                  <a:gd name="T24" fmla="*/ 7 w 169"/>
                  <a:gd name="T25" fmla="*/ 26 h 167"/>
                  <a:gd name="T26" fmla="*/ 20 w 169"/>
                  <a:gd name="T27" fmla="*/ 0 h 167"/>
                  <a:gd name="T28" fmla="*/ 26 w 169"/>
                  <a:gd name="T29" fmla="*/ 0 h 167"/>
                  <a:gd name="T30" fmla="*/ 34 w 169"/>
                  <a:gd name="T31" fmla="*/ 0 h 167"/>
                  <a:gd name="T32" fmla="*/ 50 w 169"/>
                  <a:gd name="T33" fmla="*/ 5 h 167"/>
                  <a:gd name="T34" fmla="*/ 85 w 169"/>
                  <a:gd name="T35" fmla="*/ 27 h 167"/>
                  <a:gd name="T36" fmla="*/ 144 w 169"/>
                  <a:gd name="T37" fmla="*/ 81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9"/>
                  <a:gd name="T58" fmla="*/ 0 h 167"/>
                  <a:gd name="T59" fmla="*/ 169 w 169"/>
                  <a:gd name="T60" fmla="*/ 167 h 1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9" h="167">
                    <a:moveTo>
                      <a:pt x="144" y="81"/>
                    </a:moveTo>
                    <a:lnTo>
                      <a:pt x="156" y="96"/>
                    </a:lnTo>
                    <a:lnTo>
                      <a:pt x="168" y="118"/>
                    </a:lnTo>
                    <a:lnTo>
                      <a:pt x="166" y="131"/>
                    </a:lnTo>
                    <a:lnTo>
                      <a:pt x="160" y="143"/>
                    </a:lnTo>
                    <a:lnTo>
                      <a:pt x="148" y="156"/>
                    </a:lnTo>
                    <a:lnTo>
                      <a:pt x="139" y="166"/>
                    </a:lnTo>
                    <a:lnTo>
                      <a:pt x="88" y="144"/>
                    </a:lnTo>
                    <a:lnTo>
                      <a:pt x="41" y="104"/>
                    </a:lnTo>
                    <a:lnTo>
                      <a:pt x="15" y="81"/>
                    </a:lnTo>
                    <a:lnTo>
                      <a:pt x="2" y="66"/>
                    </a:lnTo>
                    <a:lnTo>
                      <a:pt x="0" y="54"/>
                    </a:lnTo>
                    <a:lnTo>
                      <a:pt x="7" y="26"/>
                    </a:lnTo>
                    <a:lnTo>
                      <a:pt x="20" y="0"/>
                    </a:lnTo>
                    <a:lnTo>
                      <a:pt x="26" y="0"/>
                    </a:lnTo>
                    <a:lnTo>
                      <a:pt x="34" y="0"/>
                    </a:lnTo>
                    <a:lnTo>
                      <a:pt x="50" y="5"/>
                    </a:lnTo>
                    <a:lnTo>
                      <a:pt x="85" y="27"/>
                    </a:lnTo>
                    <a:lnTo>
                      <a:pt x="144" y="81"/>
                    </a:lnTo>
                  </a:path>
                </a:pathLst>
              </a:custGeom>
              <a:solidFill>
                <a:srgbClr val="FF8141"/>
              </a:solidFill>
              <a:ln w="12700" cap="rnd">
                <a:solidFill>
                  <a:srgbClr val="400000"/>
                </a:solidFill>
                <a:round/>
              </a:ln>
            </p:spPr>
            <p:txBody>
              <a:bodyPr lIns="116446" tIns="58222" rIns="116446" bIns="58222"/>
              <a:lstStyle/>
              <a:p>
                <a:endParaRPr lang="zh-CN" altLang="en-US" sz="100"/>
              </a:p>
            </p:txBody>
          </p:sp>
          <p:sp>
            <p:nvSpPr>
              <p:cNvPr id="130065" name="Freeform 83"/>
              <p:cNvSpPr/>
              <p:nvPr/>
            </p:nvSpPr>
            <p:spPr bwMode="auto">
              <a:xfrm>
                <a:off x="2065" y="1536"/>
                <a:ext cx="646" cy="516"/>
              </a:xfrm>
              <a:custGeom>
                <a:avLst/>
                <a:gdLst>
                  <a:gd name="T0" fmla="*/ 618 w 646"/>
                  <a:gd name="T1" fmla="*/ 449 h 516"/>
                  <a:gd name="T2" fmla="*/ 12 w 646"/>
                  <a:gd name="T3" fmla="*/ 0 h 516"/>
                  <a:gd name="T4" fmla="*/ 0 w 646"/>
                  <a:gd name="T5" fmla="*/ 2 h 516"/>
                  <a:gd name="T6" fmla="*/ 3 w 646"/>
                  <a:gd name="T7" fmla="*/ 15 h 516"/>
                  <a:gd name="T8" fmla="*/ 641 w 646"/>
                  <a:gd name="T9" fmla="*/ 515 h 516"/>
                  <a:gd name="T10" fmla="*/ 645 w 646"/>
                  <a:gd name="T11" fmla="*/ 477 h 516"/>
                  <a:gd name="T12" fmla="*/ 618 w 646"/>
                  <a:gd name="T13" fmla="*/ 449 h 516"/>
                  <a:gd name="T14" fmla="*/ 0 60000 65536"/>
                  <a:gd name="T15" fmla="*/ 0 60000 65536"/>
                  <a:gd name="T16" fmla="*/ 0 60000 65536"/>
                  <a:gd name="T17" fmla="*/ 0 60000 65536"/>
                  <a:gd name="T18" fmla="*/ 0 60000 65536"/>
                  <a:gd name="T19" fmla="*/ 0 60000 65536"/>
                  <a:gd name="T20" fmla="*/ 0 60000 65536"/>
                  <a:gd name="T21" fmla="*/ 0 w 646"/>
                  <a:gd name="T22" fmla="*/ 0 h 516"/>
                  <a:gd name="T23" fmla="*/ 646 w 646"/>
                  <a:gd name="T24" fmla="*/ 516 h 5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6" h="516">
                    <a:moveTo>
                      <a:pt x="618" y="449"/>
                    </a:moveTo>
                    <a:lnTo>
                      <a:pt x="12" y="0"/>
                    </a:lnTo>
                    <a:lnTo>
                      <a:pt x="0" y="2"/>
                    </a:lnTo>
                    <a:lnTo>
                      <a:pt x="3" y="15"/>
                    </a:lnTo>
                    <a:lnTo>
                      <a:pt x="641" y="515"/>
                    </a:lnTo>
                    <a:lnTo>
                      <a:pt x="645" y="477"/>
                    </a:lnTo>
                    <a:lnTo>
                      <a:pt x="618" y="449"/>
                    </a:lnTo>
                  </a:path>
                </a:pathLst>
              </a:custGeom>
              <a:solidFill>
                <a:srgbClr val="C0C0C0"/>
              </a:solidFill>
              <a:ln w="12700" cap="rnd">
                <a:solidFill>
                  <a:srgbClr val="5F5F5F"/>
                </a:solidFill>
                <a:round/>
              </a:ln>
            </p:spPr>
            <p:txBody>
              <a:bodyPr lIns="116446" tIns="58222" rIns="116446" bIns="58222"/>
              <a:lstStyle/>
              <a:p>
                <a:endParaRPr lang="zh-CN" altLang="en-US" sz="100"/>
              </a:p>
            </p:txBody>
          </p:sp>
          <p:sp>
            <p:nvSpPr>
              <p:cNvPr id="130066" name="Freeform 84"/>
              <p:cNvSpPr/>
              <p:nvPr/>
            </p:nvSpPr>
            <p:spPr bwMode="auto">
              <a:xfrm>
                <a:off x="2673" y="1986"/>
                <a:ext cx="417" cy="336"/>
              </a:xfrm>
              <a:custGeom>
                <a:avLst/>
                <a:gdLst>
                  <a:gd name="T0" fmla="*/ 2 w 417"/>
                  <a:gd name="T1" fmla="*/ 0 h 336"/>
                  <a:gd name="T2" fmla="*/ 0 w 417"/>
                  <a:gd name="T3" fmla="*/ 2 h 336"/>
                  <a:gd name="T4" fmla="*/ 0 w 417"/>
                  <a:gd name="T5" fmla="*/ 14 h 336"/>
                  <a:gd name="T6" fmla="*/ 1 w 417"/>
                  <a:gd name="T7" fmla="*/ 33 h 336"/>
                  <a:gd name="T8" fmla="*/ 8 w 417"/>
                  <a:gd name="T9" fmla="*/ 52 h 336"/>
                  <a:gd name="T10" fmla="*/ 18 w 417"/>
                  <a:gd name="T11" fmla="*/ 67 h 336"/>
                  <a:gd name="T12" fmla="*/ 37 w 417"/>
                  <a:gd name="T13" fmla="*/ 84 h 336"/>
                  <a:gd name="T14" fmla="*/ 83 w 417"/>
                  <a:gd name="T15" fmla="*/ 108 h 336"/>
                  <a:gd name="T16" fmla="*/ 90 w 417"/>
                  <a:gd name="T17" fmla="*/ 109 h 336"/>
                  <a:gd name="T18" fmla="*/ 96 w 417"/>
                  <a:gd name="T19" fmla="*/ 109 h 336"/>
                  <a:gd name="T20" fmla="*/ 108 w 417"/>
                  <a:gd name="T21" fmla="*/ 117 h 336"/>
                  <a:gd name="T22" fmla="*/ 123 w 417"/>
                  <a:gd name="T23" fmla="*/ 123 h 336"/>
                  <a:gd name="T24" fmla="*/ 146 w 417"/>
                  <a:gd name="T25" fmla="*/ 128 h 336"/>
                  <a:gd name="T26" fmla="*/ 188 w 417"/>
                  <a:gd name="T27" fmla="*/ 132 h 336"/>
                  <a:gd name="T28" fmla="*/ 195 w 417"/>
                  <a:gd name="T29" fmla="*/ 133 h 336"/>
                  <a:gd name="T30" fmla="*/ 195 w 417"/>
                  <a:gd name="T31" fmla="*/ 138 h 336"/>
                  <a:gd name="T32" fmla="*/ 194 w 417"/>
                  <a:gd name="T33" fmla="*/ 144 h 336"/>
                  <a:gd name="T34" fmla="*/ 199 w 417"/>
                  <a:gd name="T35" fmla="*/ 152 h 336"/>
                  <a:gd name="T36" fmla="*/ 236 w 417"/>
                  <a:gd name="T37" fmla="*/ 185 h 336"/>
                  <a:gd name="T38" fmla="*/ 267 w 417"/>
                  <a:gd name="T39" fmla="*/ 226 h 336"/>
                  <a:gd name="T40" fmla="*/ 289 w 417"/>
                  <a:gd name="T41" fmla="*/ 264 h 336"/>
                  <a:gd name="T42" fmla="*/ 316 w 417"/>
                  <a:gd name="T43" fmla="*/ 297 h 336"/>
                  <a:gd name="T44" fmla="*/ 360 w 417"/>
                  <a:gd name="T45" fmla="*/ 321 h 336"/>
                  <a:gd name="T46" fmla="*/ 410 w 417"/>
                  <a:gd name="T47" fmla="*/ 335 h 336"/>
                  <a:gd name="T48" fmla="*/ 416 w 417"/>
                  <a:gd name="T49" fmla="*/ 329 h 336"/>
                  <a:gd name="T50" fmla="*/ 411 w 417"/>
                  <a:gd name="T51" fmla="*/ 307 h 336"/>
                  <a:gd name="T52" fmla="*/ 393 w 417"/>
                  <a:gd name="T53" fmla="*/ 273 h 336"/>
                  <a:gd name="T54" fmla="*/ 357 w 417"/>
                  <a:gd name="T55" fmla="*/ 227 h 336"/>
                  <a:gd name="T56" fmla="*/ 302 w 417"/>
                  <a:gd name="T57" fmla="*/ 175 h 336"/>
                  <a:gd name="T58" fmla="*/ 227 w 417"/>
                  <a:gd name="T59" fmla="*/ 117 h 336"/>
                  <a:gd name="T60" fmla="*/ 128 w 417"/>
                  <a:gd name="T61" fmla="*/ 59 h 336"/>
                  <a:gd name="T62" fmla="*/ 2 w 417"/>
                  <a:gd name="T63" fmla="*/ 0 h 3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7"/>
                  <a:gd name="T97" fmla="*/ 0 h 336"/>
                  <a:gd name="T98" fmla="*/ 417 w 417"/>
                  <a:gd name="T99" fmla="*/ 336 h 3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7" h="336">
                    <a:moveTo>
                      <a:pt x="2" y="0"/>
                    </a:moveTo>
                    <a:lnTo>
                      <a:pt x="0" y="2"/>
                    </a:lnTo>
                    <a:lnTo>
                      <a:pt x="0" y="14"/>
                    </a:lnTo>
                    <a:lnTo>
                      <a:pt x="1" y="33"/>
                    </a:lnTo>
                    <a:lnTo>
                      <a:pt x="8" y="52"/>
                    </a:lnTo>
                    <a:lnTo>
                      <a:pt x="18" y="67"/>
                    </a:lnTo>
                    <a:lnTo>
                      <a:pt x="37" y="84"/>
                    </a:lnTo>
                    <a:lnTo>
                      <a:pt x="83" y="108"/>
                    </a:lnTo>
                    <a:lnTo>
                      <a:pt x="90" y="109"/>
                    </a:lnTo>
                    <a:lnTo>
                      <a:pt x="96" y="109"/>
                    </a:lnTo>
                    <a:lnTo>
                      <a:pt x="108" y="117"/>
                    </a:lnTo>
                    <a:lnTo>
                      <a:pt x="123" y="123"/>
                    </a:lnTo>
                    <a:lnTo>
                      <a:pt x="146" y="128"/>
                    </a:lnTo>
                    <a:lnTo>
                      <a:pt x="188" y="132"/>
                    </a:lnTo>
                    <a:lnTo>
                      <a:pt x="195" y="133"/>
                    </a:lnTo>
                    <a:lnTo>
                      <a:pt x="195" y="138"/>
                    </a:lnTo>
                    <a:lnTo>
                      <a:pt x="194" y="144"/>
                    </a:lnTo>
                    <a:lnTo>
                      <a:pt x="199" y="152"/>
                    </a:lnTo>
                    <a:lnTo>
                      <a:pt x="236" y="185"/>
                    </a:lnTo>
                    <a:lnTo>
                      <a:pt x="267" y="226"/>
                    </a:lnTo>
                    <a:lnTo>
                      <a:pt x="289" y="264"/>
                    </a:lnTo>
                    <a:lnTo>
                      <a:pt x="316" y="297"/>
                    </a:lnTo>
                    <a:lnTo>
                      <a:pt x="360" y="321"/>
                    </a:lnTo>
                    <a:lnTo>
                      <a:pt x="410" y="335"/>
                    </a:lnTo>
                    <a:lnTo>
                      <a:pt x="416" y="329"/>
                    </a:lnTo>
                    <a:lnTo>
                      <a:pt x="411" y="307"/>
                    </a:lnTo>
                    <a:lnTo>
                      <a:pt x="393" y="273"/>
                    </a:lnTo>
                    <a:lnTo>
                      <a:pt x="357" y="227"/>
                    </a:lnTo>
                    <a:lnTo>
                      <a:pt x="302" y="175"/>
                    </a:lnTo>
                    <a:lnTo>
                      <a:pt x="227" y="117"/>
                    </a:lnTo>
                    <a:lnTo>
                      <a:pt x="128" y="59"/>
                    </a:lnTo>
                    <a:lnTo>
                      <a:pt x="2" y="0"/>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67" name="Freeform 85"/>
              <p:cNvSpPr/>
              <p:nvPr/>
            </p:nvSpPr>
            <p:spPr bwMode="auto">
              <a:xfrm>
                <a:off x="2679" y="1986"/>
                <a:ext cx="508" cy="338"/>
              </a:xfrm>
              <a:custGeom>
                <a:avLst/>
                <a:gdLst>
                  <a:gd name="T0" fmla="*/ 322 w 508"/>
                  <a:gd name="T1" fmla="*/ 33 h 338"/>
                  <a:gd name="T2" fmla="*/ 257 w 508"/>
                  <a:gd name="T3" fmla="*/ 22 h 338"/>
                  <a:gd name="T4" fmla="*/ 237 w 508"/>
                  <a:gd name="T5" fmla="*/ 20 h 338"/>
                  <a:gd name="T6" fmla="*/ 227 w 508"/>
                  <a:gd name="T7" fmla="*/ 20 h 338"/>
                  <a:gd name="T8" fmla="*/ 216 w 508"/>
                  <a:gd name="T9" fmla="*/ 22 h 338"/>
                  <a:gd name="T10" fmla="*/ 193 w 508"/>
                  <a:gd name="T11" fmla="*/ 26 h 338"/>
                  <a:gd name="T12" fmla="*/ 184 w 508"/>
                  <a:gd name="T13" fmla="*/ 27 h 338"/>
                  <a:gd name="T14" fmla="*/ 174 w 508"/>
                  <a:gd name="T15" fmla="*/ 28 h 338"/>
                  <a:gd name="T16" fmla="*/ 70 w 508"/>
                  <a:gd name="T17" fmla="*/ 15 h 338"/>
                  <a:gd name="T18" fmla="*/ 4 w 508"/>
                  <a:gd name="T19" fmla="*/ 0 h 338"/>
                  <a:gd name="T20" fmla="*/ 1 w 508"/>
                  <a:gd name="T21" fmla="*/ 2 h 338"/>
                  <a:gd name="T22" fmla="*/ 1 w 508"/>
                  <a:gd name="T23" fmla="*/ 14 h 338"/>
                  <a:gd name="T24" fmla="*/ 0 w 508"/>
                  <a:gd name="T25" fmla="*/ 30 h 338"/>
                  <a:gd name="T26" fmla="*/ 2 w 508"/>
                  <a:gd name="T27" fmla="*/ 47 h 338"/>
                  <a:gd name="T28" fmla="*/ 14 w 508"/>
                  <a:gd name="T29" fmla="*/ 62 h 338"/>
                  <a:gd name="T30" fmla="*/ 38 w 508"/>
                  <a:gd name="T31" fmla="*/ 79 h 338"/>
                  <a:gd name="T32" fmla="*/ 93 w 508"/>
                  <a:gd name="T33" fmla="*/ 103 h 338"/>
                  <a:gd name="T34" fmla="*/ 170 w 508"/>
                  <a:gd name="T35" fmla="*/ 122 h 338"/>
                  <a:gd name="T36" fmla="*/ 185 w 508"/>
                  <a:gd name="T37" fmla="*/ 118 h 338"/>
                  <a:gd name="T38" fmla="*/ 200 w 508"/>
                  <a:gd name="T39" fmla="*/ 112 h 338"/>
                  <a:gd name="T40" fmla="*/ 205 w 508"/>
                  <a:gd name="T41" fmla="*/ 126 h 338"/>
                  <a:gd name="T42" fmla="*/ 209 w 508"/>
                  <a:gd name="T43" fmla="*/ 143 h 338"/>
                  <a:gd name="T44" fmla="*/ 248 w 508"/>
                  <a:gd name="T45" fmla="*/ 181 h 338"/>
                  <a:gd name="T46" fmla="*/ 281 w 508"/>
                  <a:gd name="T47" fmla="*/ 228 h 338"/>
                  <a:gd name="T48" fmla="*/ 298 w 508"/>
                  <a:gd name="T49" fmla="*/ 261 h 338"/>
                  <a:gd name="T50" fmla="*/ 322 w 508"/>
                  <a:gd name="T51" fmla="*/ 289 h 338"/>
                  <a:gd name="T52" fmla="*/ 371 w 508"/>
                  <a:gd name="T53" fmla="*/ 317 h 338"/>
                  <a:gd name="T54" fmla="*/ 424 w 508"/>
                  <a:gd name="T55" fmla="*/ 335 h 338"/>
                  <a:gd name="T56" fmla="*/ 449 w 508"/>
                  <a:gd name="T57" fmla="*/ 337 h 338"/>
                  <a:gd name="T58" fmla="*/ 474 w 508"/>
                  <a:gd name="T59" fmla="*/ 333 h 338"/>
                  <a:gd name="T60" fmla="*/ 501 w 508"/>
                  <a:gd name="T61" fmla="*/ 325 h 338"/>
                  <a:gd name="T62" fmla="*/ 505 w 508"/>
                  <a:gd name="T63" fmla="*/ 311 h 338"/>
                  <a:gd name="T64" fmla="*/ 506 w 508"/>
                  <a:gd name="T65" fmla="*/ 304 h 338"/>
                  <a:gd name="T66" fmla="*/ 507 w 508"/>
                  <a:gd name="T67" fmla="*/ 295 h 338"/>
                  <a:gd name="T68" fmla="*/ 498 w 508"/>
                  <a:gd name="T69" fmla="*/ 258 h 338"/>
                  <a:gd name="T70" fmla="*/ 479 w 508"/>
                  <a:gd name="T71" fmla="*/ 216 h 338"/>
                  <a:gd name="T72" fmla="*/ 451 w 508"/>
                  <a:gd name="T73" fmla="*/ 172 h 338"/>
                  <a:gd name="T74" fmla="*/ 385 w 508"/>
                  <a:gd name="T75" fmla="*/ 90 h 338"/>
                  <a:gd name="T76" fmla="*/ 322 w 508"/>
                  <a:gd name="T77" fmla="*/ 33 h 3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08"/>
                  <a:gd name="T118" fmla="*/ 0 h 338"/>
                  <a:gd name="T119" fmla="*/ 508 w 508"/>
                  <a:gd name="T120" fmla="*/ 338 h 3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08" h="338">
                    <a:moveTo>
                      <a:pt x="322" y="33"/>
                    </a:moveTo>
                    <a:lnTo>
                      <a:pt x="257" y="22"/>
                    </a:lnTo>
                    <a:lnTo>
                      <a:pt x="237" y="20"/>
                    </a:lnTo>
                    <a:lnTo>
                      <a:pt x="227" y="20"/>
                    </a:lnTo>
                    <a:lnTo>
                      <a:pt x="216" y="22"/>
                    </a:lnTo>
                    <a:lnTo>
                      <a:pt x="193" y="26"/>
                    </a:lnTo>
                    <a:lnTo>
                      <a:pt x="184" y="27"/>
                    </a:lnTo>
                    <a:lnTo>
                      <a:pt x="174" y="28"/>
                    </a:lnTo>
                    <a:lnTo>
                      <a:pt x="70" y="15"/>
                    </a:lnTo>
                    <a:lnTo>
                      <a:pt x="4" y="0"/>
                    </a:lnTo>
                    <a:lnTo>
                      <a:pt x="1" y="2"/>
                    </a:lnTo>
                    <a:lnTo>
                      <a:pt x="1" y="14"/>
                    </a:lnTo>
                    <a:lnTo>
                      <a:pt x="0" y="30"/>
                    </a:lnTo>
                    <a:lnTo>
                      <a:pt x="2" y="47"/>
                    </a:lnTo>
                    <a:lnTo>
                      <a:pt x="14" y="62"/>
                    </a:lnTo>
                    <a:lnTo>
                      <a:pt x="38" y="79"/>
                    </a:lnTo>
                    <a:lnTo>
                      <a:pt x="93" y="103"/>
                    </a:lnTo>
                    <a:lnTo>
                      <a:pt x="170" y="122"/>
                    </a:lnTo>
                    <a:lnTo>
                      <a:pt x="185" y="118"/>
                    </a:lnTo>
                    <a:lnTo>
                      <a:pt x="200" y="112"/>
                    </a:lnTo>
                    <a:lnTo>
                      <a:pt x="205" y="126"/>
                    </a:lnTo>
                    <a:lnTo>
                      <a:pt x="209" y="143"/>
                    </a:lnTo>
                    <a:lnTo>
                      <a:pt x="248" y="181"/>
                    </a:lnTo>
                    <a:lnTo>
                      <a:pt x="281" y="228"/>
                    </a:lnTo>
                    <a:lnTo>
                      <a:pt x="298" y="261"/>
                    </a:lnTo>
                    <a:lnTo>
                      <a:pt x="322" y="289"/>
                    </a:lnTo>
                    <a:lnTo>
                      <a:pt x="371" y="317"/>
                    </a:lnTo>
                    <a:lnTo>
                      <a:pt x="424" y="335"/>
                    </a:lnTo>
                    <a:lnTo>
                      <a:pt x="449" y="337"/>
                    </a:lnTo>
                    <a:lnTo>
                      <a:pt x="474" y="333"/>
                    </a:lnTo>
                    <a:lnTo>
                      <a:pt x="501" y="325"/>
                    </a:lnTo>
                    <a:lnTo>
                      <a:pt x="505" y="311"/>
                    </a:lnTo>
                    <a:lnTo>
                      <a:pt x="506" y="304"/>
                    </a:lnTo>
                    <a:lnTo>
                      <a:pt x="507" y="295"/>
                    </a:lnTo>
                    <a:lnTo>
                      <a:pt x="498" y="258"/>
                    </a:lnTo>
                    <a:lnTo>
                      <a:pt x="479" y="216"/>
                    </a:lnTo>
                    <a:lnTo>
                      <a:pt x="451" y="172"/>
                    </a:lnTo>
                    <a:lnTo>
                      <a:pt x="385" y="90"/>
                    </a:lnTo>
                    <a:lnTo>
                      <a:pt x="322" y="33"/>
                    </a:lnTo>
                  </a:path>
                </a:pathLst>
              </a:custGeom>
              <a:solidFill>
                <a:srgbClr val="E262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68" name="Freeform 86"/>
              <p:cNvSpPr/>
              <p:nvPr/>
            </p:nvSpPr>
            <p:spPr bwMode="auto">
              <a:xfrm>
                <a:off x="2694" y="2008"/>
                <a:ext cx="574" cy="291"/>
              </a:xfrm>
              <a:custGeom>
                <a:avLst/>
                <a:gdLst>
                  <a:gd name="T0" fmla="*/ 460 w 574"/>
                  <a:gd name="T1" fmla="*/ 131 h 291"/>
                  <a:gd name="T2" fmla="*/ 498 w 574"/>
                  <a:gd name="T3" fmla="*/ 159 h 291"/>
                  <a:gd name="T4" fmla="*/ 511 w 574"/>
                  <a:gd name="T5" fmla="*/ 168 h 291"/>
                  <a:gd name="T6" fmla="*/ 537 w 574"/>
                  <a:gd name="T7" fmla="*/ 178 h 291"/>
                  <a:gd name="T8" fmla="*/ 561 w 574"/>
                  <a:gd name="T9" fmla="*/ 187 h 291"/>
                  <a:gd name="T10" fmla="*/ 573 w 574"/>
                  <a:gd name="T11" fmla="*/ 199 h 291"/>
                  <a:gd name="T12" fmla="*/ 561 w 574"/>
                  <a:gd name="T13" fmla="*/ 215 h 291"/>
                  <a:gd name="T14" fmla="*/ 532 w 574"/>
                  <a:gd name="T15" fmla="*/ 243 h 291"/>
                  <a:gd name="T16" fmla="*/ 486 w 574"/>
                  <a:gd name="T17" fmla="*/ 285 h 291"/>
                  <a:gd name="T18" fmla="*/ 467 w 574"/>
                  <a:gd name="T19" fmla="*/ 290 h 291"/>
                  <a:gd name="T20" fmla="*/ 439 w 574"/>
                  <a:gd name="T21" fmla="*/ 286 h 291"/>
                  <a:gd name="T22" fmla="*/ 388 w 574"/>
                  <a:gd name="T23" fmla="*/ 271 h 291"/>
                  <a:gd name="T24" fmla="*/ 349 w 574"/>
                  <a:gd name="T25" fmla="*/ 258 h 291"/>
                  <a:gd name="T26" fmla="*/ 316 w 574"/>
                  <a:gd name="T27" fmla="*/ 236 h 291"/>
                  <a:gd name="T28" fmla="*/ 298 w 574"/>
                  <a:gd name="T29" fmla="*/ 207 h 291"/>
                  <a:gd name="T30" fmla="*/ 278 w 574"/>
                  <a:gd name="T31" fmla="*/ 179 h 291"/>
                  <a:gd name="T32" fmla="*/ 232 w 574"/>
                  <a:gd name="T33" fmla="*/ 132 h 291"/>
                  <a:gd name="T34" fmla="*/ 210 w 574"/>
                  <a:gd name="T35" fmla="*/ 93 h 291"/>
                  <a:gd name="T36" fmla="*/ 208 w 574"/>
                  <a:gd name="T37" fmla="*/ 75 h 291"/>
                  <a:gd name="T38" fmla="*/ 207 w 574"/>
                  <a:gd name="T39" fmla="*/ 65 h 291"/>
                  <a:gd name="T40" fmla="*/ 204 w 574"/>
                  <a:gd name="T41" fmla="*/ 60 h 291"/>
                  <a:gd name="T42" fmla="*/ 187 w 574"/>
                  <a:gd name="T43" fmla="*/ 70 h 291"/>
                  <a:gd name="T44" fmla="*/ 171 w 574"/>
                  <a:gd name="T45" fmla="*/ 82 h 291"/>
                  <a:gd name="T46" fmla="*/ 163 w 574"/>
                  <a:gd name="T47" fmla="*/ 84 h 291"/>
                  <a:gd name="T48" fmla="*/ 154 w 574"/>
                  <a:gd name="T49" fmla="*/ 82 h 291"/>
                  <a:gd name="T50" fmla="*/ 136 w 574"/>
                  <a:gd name="T51" fmla="*/ 78 h 291"/>
                  <a:gd name="T52" fmla="*/ 78 w 574"/>
                  <a:gd name="T53" fmla="*/ 65 h 291"/>
                  <a:gd name="T54" fmla="*/ 17 w 574"/>
                  <a:gd name="T55" fmla="*/ 36 h 291"/>
                  <a:gd name="T56" fmla="*/ 5 w 574"/>
                  <a:gd name="T57" fmla="*/ 22 h 291"/>
                  <a:gd name="T58" fmla="*/ 0 w 574"/>
                  <a:gd name="T59" fmla="*/ 5 h 291"/>
                  <a:gd name="T60" fmla="*/ 19 w 574"/>
                  <a:gd name="T61" fmla="*/ 0 h 291"/>
                  <a:gd name="T62" fmla="*/ 32 w 574"/>
                  <a:gd name="T63" fmla="*/ 2 h 291"/>
                  <a:gd name="T64" fmla="*/ 49 w 574"/>
                  <a:gd name="T65" fmla="*/ 9 h 291"/>
                  <a:gd name="T66" fmla="*/ 79 w 574"/>
                  <a:gd name="T67" fmla="*/ 23 h 291"/>
                  <a:gd name="T68" fmla="*/ 136 w 574"/>
                  <a:gd name="T69" fmla="*/ 33 h 291"/>
                  <a:gd name="T70" fmla="*/ 150 w 574"/>
                  <a:gd name="T71" fmla="*/ 32 h 291"/>
                  <a:gd name="T72" fmla="*/ 167 w 574"/>
                  <a:gd name="T73" fmla="*/ 28 h 291"/>
                  <a:gd name="T74" fmla="*/ 207 w 574"/>
                  <a:gd name="T75" fmla="*/ 14 h 291"/>
                  <a:gd name="T76" fmla="*/ 245 w 574"/>
                  <a:gd name="T77" fmla="*/ 4 h 291"/>
                  <a:gd name="T78" fmla="*/ 262 w 574"/>
                  <a:gd name="T79" fmla="*/ 1 h 291"/>
                  <a:gd name="T80" fmla="*/ 269 w 574"/>
                  <a:gd name="T81" fmla="*/ 1 h 291"/>
                  <a:gd name="T82" fmla="*/ 277 w 574"/>
                  <a:gd name="T83" fmla="*/ 2 h 291"/>
                  <a:gd name="T84" fmla="*/ 319 w 574"/>
                  <a:gd name="T85" fmla="*/ 20 h 291"/>
                  <a:gd name="T86" fmla="*/ 369 w 574"/>
                  <a:gd name="T87" fmla="*/ 49 h 291"/>
                  <a:gd name="T88" fmla="*/ 428 w 574"/>
                  <a:gd name="T89" fmla="*/ 88 h 291"/>
                  <a:gd name="T90" fmla="*/ 460 w 574"/>
                  <a:gd name="T91" fmla="*/ 131 h 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74"/>
                  <a:gd name="T139" fmla="*/ 0 h 291"/>
                  <a:gd name="T140" fmla="*/ 574 w 574"/>
                  <a:gd name="T141" fmla="*/ 291 h 29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74" h="291">
                    <a:moveTo>
                      <a:pt x="460" y="131"/>
                    </a:moveTo>
                    <a:lnTo>
                      <a:pt x="498" y="159"/>
                    </a:lnTo>
                    <a:lnTo>
                      <a:pt x="511" y="168"/>
                    </a:lnTo>
                    <a:lnTo>
                      <a:pt x="537" y="178"/>
                    </a:lnTo>
                    <a:lnTo>
                      <a:pt x="561" y="187"/>
                    </a:lnTo>
                    <a:lnTo>
                      <a:pt x="573" y="199"/>
                    </a:lnTo>
                    <a:lnTo>
                      <a:pt x="561" y="215"/>
                    </a:lnTo>
                    <a:lnTo>
                      <a:pt x="532" y="243"/>
                    </a:lnTo>
                    <a:lnTo>
                      <a:pt x="486" y="285"/>
                    </a:lnTo>
                    <a:lnTo>
                      <a:pt x="467" y="290"/>
                    </a:lnTo>
                    <a:lnTo>
                      <a:pt x="439" y="286"/>
                    </a:lnTo>
                    <a:lnTo>
                      <a:pt x="388" y="271"/>
                    </a:lnTo>
                    <a:lnTo>
                      <a:pt x="349" y="258"/>
                    </a:lnTo>
                    <a:lnTo>
                      <a:pt x="316" y="236"/>
                    </a:lnTo>
                    <a:lnTo>
                      <a:pt x="298" y="207"/>
                    </a:lnTo>
                    <a:lnTo>
                      <a:pt x="278" y="179"/>
                    </a:lnTo>
                    <a:lnTo>
                      <a:pt x="232" y="132"/>
                    </a:lnTo>
                    <a:lnTo>
                      <a:pt x="210" y="93"/>
                    </a:lnTo>
                    <a:lnTo>
                      <a:pt x="208" y="75"/>
                    </a:lnTo>
                    <a:lnTo>
                      <a:pt x="207" y="65"/>
                    </a:lnTo>
                    <a:lnTo>
                      <a:pt x="204" y="60"/>
                    </a:lnTo>
                    <a:lnTo>
                      <a:pt x="187" y="70"/>
                    </a:lnTo>
                    <a:lnTo>
                      <a:pt x="171" y="82"/>
                    </a:lnTo>
                    <a:lnTo>
                      <a:pt x="163" y="84"/>
                    </a:lnTo>
                    <a:lnTo>
                      <a:pt x="154" y="82"/>
                    </a:lnTo>
                    <a:lnTo>
                      <a:pt x="136" y="78"/>
                    </a:lnTo>
                    <a:lnTo>
                      <a:pt x="78" y="65"/>
                    </a:lnTo>
                    <a:lnTo>
                      <a:pt x="17" y="36"/>
                    </a:lnTo>
                    <a:lnTo>
                      <a:pt x="5" y="22"/>
                    </a:lnTo>
                    <a:lnTo>
                      <a:pt x="0" y="5"/>
                    </a:lnTo>
                    <a:lnTo>
                      <a:pt x="19" y="0"/>
                    </a:lnTo>
                    <a:lnTo>
                      <a:pt x="32" y="2"/>
                    </a:lnTo>
                    <a:lnTo>
                      <a:pt x="49" y="9"/>
                    </a:lnTo>
                    <a:lnTo>
                      <a:pt x="79" y="23"/>
                    </a:lnTo>
                    <a:lnTo>
                      <a:pt x="136" y="33"/>
                    </a:lnTo>
                    <a:lnTo>
                      <a:pt x="150" y="32"/>
                    </a:lnTo>
                    <a:lnTo>
                      <a:pt x="167" y="28"/>
                    </a:lnTo>
                    <a:lnTo>
                      <a:pt x="207" y="14"/>
                    </a:lnTo>
                    <a:lnTo>
                      <a:pt x="245" y="4"/>
                    </a:lnTo>
                    <a:lnTo>
                      <a:pt x="262" y="1"/>
                    </a:lnTo>
                    <a:lnTo>
                      <a:pt x="269" y="1"/>
                    </a:lnTo>
                    <a:lnTo>
                      <a:pt x="277" y="2"/>
                    </a:lnTo>
                    <a:lnTo>
                      <a:pt x="319" y="20"/>
                    </a:lnTo>
                    <a:lnTo>
                      <a:pt x="369" y="49"/>
                    </a:lnTo>
                    <a:lnTo>
                      <a:pt x="428" y="88"/>
                    </a:lnTo>
                    <a:lnTo>
                      <a:pt x="460" y="131"/>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69" name="Freeform 87"/>
              <p:cNvSpPr/>
              <p:nvPr/>
            </p:nvSpPr>
            <p:spPr bwMode="auto">
              <a:xfrm>
                <a:off x="2749" y="2010"/>
                <a:ext cx="397" cy="216"/>
              </a:xfrm>
              <a:custGeom>
                <a:avLst/>
                <a:gdLst>
                  <a:gd name="T0" fmla="*/ 155 w 397"/>
                  <a:gd name="T1" fmla="*/ 1 h 216"/>
                  <a:gd name="T2" fmla="*/ 114 w 397"/>
                  <a:gd name="T3" fmla="*/ 9 h 216"/>
                  <a:gd name="T4" fmla="*/ 98 w 397"/>
                  <a:gd name="T5" fmla="*/ 9 h 216"/>
                  <a:gd name="T6" fmla="*/ 90 w 397"/>
                  <a:gd name="T7" fmla="*/ 9 h 216"/>
                  <a:gd name="T8" fmla="*/ 82 w 397"/>
                  <a:gd name="T9" fmla="*/ 10 h 216"/>
                  <a:gd name="T10" fmla="*/ 66 w 397"/>
                  <a:gd name="T11" fmla="*/ 10 h 216"/>
                  <a:gd name="T12" fmla="*/ 58 w 397"/>
                  <a:gd name="T13" fmla="*/ 10 h 216"/>
                  <a:gd name="T14" fmla="*/ 49 w 397"/>
                  <a:gd name="T15" fmla="*/ 9 h 216"/>
                  <a:gd name="T16" fmla="*/ 28 w 397"/>
                  <a:gd name="T17" fmla="*/ 5 h 216"/>
                  <a:gd name="T18" fmla="*/ 18 w 397"/>
                  <a:gd name="T19" fmla="*/ 4 h 216"/>
                  <a:gd name="T20" fmla="*/ 6 w 397"/>
                  <a:gd name="T21" fmla="*/ 3 h 216"/>
                  <a:gd name="T22" fmla="*/ 0 w 397"/>
                  <a:gd name="T23" fmla="*/ 8 h 216"/>
                  <a:gd name="T24" fmla="*/ 0 w 397"/>
                  <a:gd name="T25" fmla="*/ 20 h 216"/>
                  <a:gd name="T26" fmla="*/ 10 w 397"/>
                  <a:gd name="T27" fmla="*/ 37 h 216"/>
                  <a:gd name="T28" fmla="*/ 31 w 397"/>
                  <a:gd name="T29" fmla="*/ 49 h 216"/>
                  <a:gd name="T30" fmla="*/ 107 w 397"/>
                  <a:gd name="T31" fmla="*/ 58 h 216"/>
                  <a:gd name="T32" fmla="*/ 117 w 397"/>
                  <a:gd name="T33" fmla="*/ 55 h 216"/>
                  <a:gd name="T34" fmla="*/ 132 w 397"/>
                  <a:gd name="T35" fmla="*/ 46 h 216"/>
                  <a:gd name="T36" fmla="*/ 157 w 397"/>
                  <a:gd name="T37" fmla="*/ 34 h 216"/>
                  <a:gd name="T38" fmla="*/ 166 w 397"/>
                  <a:gd name="T39" fmla="*/ 46 h 216"/>
                  <a:gd name="T40" fmla="*/ 170 w 397"/>
                  <a:gd name="T41" fmla="*/ 62 h 216"/>
                  <a:gd name="T42" fmla="*/ 184 w 397"/>
                  <a:gd name="T43" fmla="*/ 92 h 216"/>
                  <a:gd name="T44" fmla="*/ 260 w 397"/>
                  <a:gd name="T45" fmla="*/ 176 h 216"/>
                  <a:gd name="T46" fmla="*/ 296 w 397"/>
                  <a:gd name="T47" fmla="*/ 200 h 216"/>
                  <a:gd name="T48" fmla="*/ 336 w 397"/>
                  <a:gd name="T49" fmla="*/ 215 h 216"/>
                  <a:gd name="T50" fmla="*/ 349 w 397"/>
                  <a:gd name="T51" fmla="*/ 214 h 216"/>
                  <a:gd name="T52" fmla="*/ 366 w 397"/>
                  <a:gd name="T53" fmla="*/ 210 h 216"/>
                  <a:gd name="T54" fmla="*/ 392 w 397"/>
                  <a:gd name="T55" fmla="*/ 196 h 216"/>
                  <a:gd name="T56" fmla="*/ 396 w 397"/>
                  <a:gd name="T57" fmla="*/ 185 h 216"/>
                  <a:gd name="T58" fmla="*/ 396 w 397"/>
                  <a:gd name="T59" fmla="*/ 177 h 216"/>
                  <a:gd name="T60" fmla="*/ 395 w 397"/>
                  <a:gd name="T61" fmla="*/ 169 h 216"/>
                  <a:gd name="T62" fmla="*/ 384 w 397"/>
                  <a:gd name="T63" fmla="*/ 142 h 216"/>
                  <a:gd name="T64" fmla="*/ 372 w 397"/>
                  <a:gd name="T65" fmla="*/ 117 h 216"/>
                  <a:gd name="T66" fmla="*/ 355 w 397"/>
                  <a:gd name="T67" fmla="*/ 93 h 216"/>
                  <a:gd name="T68" fmla="*/ 267 w 397"/>
                  <a:gd name="T69" fmla="*/ 39 h 216"/>
                  <a:gd name="T70" fmla="*/ 219 w 397"/>
                  <a:gd name="T71" fmla="*/ 14 h 216"/>
                  <a:gd name="T72" fmla="*/ 178 w 397"/>
                  <a:gd name="T73" fmla="*/ 0 h 216"/>
                  <a:gd name="T74" fmla="*/ 155 w 397"/>
                  <a:gd name="T75" fmla="*/ 1 h 2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7"/>
                  <a:gd name="T115" fmla="*/ 0 h 216"/>
                  <a:gd name="T116" fmla="*/ 397 w 397"/>
                  <a:gd name="T117" fmla="*/ 216 h 2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7" h="216">
                    <a:moveTo>
                      <a:pt x="155" y="1"/>
                    </a:moveTo>
                    <a:lnTo>
                      <a:pt x="114" y="9"/>
                    </a:lnTo>
                    <a:lnTo>
                      <a:pt x="98" y="9"/>
                    </a:lnTo>
                    <a:lnTo>
                      <a:pt x="90" y="9"/>
                    </a:lnTo>
                    <a:lnTo>
                      <a:pt x="82" y="10"/>
                    </a:lnTo>
                    <a:lnTo>
                      <a:pt x="66" y="10"/>
                    </a:lnTo>
                    <a:lnTo>
                      <a:pt x="58" y="10"/>
                    </a:lnTo>
                    <a:lnTo>
                      <a:pt x="49" y="9"/>
                    </a:lnTo>
                    <a:lnTo>
                      <a:pt x="28" y="5"/>
                    </a:lnTo>
                    <a:lnTo>
                      <a:pt x="18" y="4"/>
                    </a:lnTo>
                    <a:lnTo>
                      <a:pt x="6" y="3"/>
                    </a:lnTo>
                    <a:lnTo>
                      <a:pt x="0" y="8"/>
                    </a:lnTo>
                    <a:lnTo>
                      <a:pt x="0" y="20"/>
                    </a:lnTo>
                    <a:lnTo>
                      <a:pt x="10" y="37"/>
                    </a:lnTo>
                    <a:lnTo>
                      <a:pt x="31" y="49"/>
                    </a:lnTo>
                    <a:lnTo>
                      <a:pt x="107" y="58"/>
                    </a:lnTo>
                    <a:lnTo>
                      <a:pt x="117" y="55"/>
                    </a:lnTo>
                    <a:lnTo>
                      <a:pt x="132" y="46"/>
                    </a:lnTo>
                    <a:lnTo>
                      <a:pt x="157" y="34"/>
                    </a:lnTo>
                    <a:lnTo>
                      <a:pt x="166" y="46"/>
                    </a:lnTo>
                    <a:lnTo>
                      <a:pt x="170" y="62"/>
                    </a:lnTo>
                    <a:lnTo>
                      <a:pt x="184" y="92"/>
                    </a:lnTo>
                    <a:lnTo>
                      <a:pt x="260" y="176"/>
                    </a:lnTo>
                    <a:lnTo>
                      <a:pt x="296" y="200"/>
                    </a:lnTo>
                    <a:lnTo>
                      <a:pt x="336" y="215"/>
                    </a:lnTo>
                    <a:lnTo>
                      <a:pt x="349" y="214"/>
                    </a:lnTo>
                    <a:lnTo>
                      <a:pt x="366" y="210"/>
                    </a:lnTo>
                    <a:lnTo>
                      <a:pt x="392" y="196"/>
                    </a:lnTo>
                    <a:lnTo>
                      <a:pt x="396" y="185"/>
                    </a:lnTo>
                    <a:lnTo>
                      <a:pt x="396" y="177"/>
                    </a:lnTo>
                    <a:lnTo>
                      <a:pt x="395" y="169"/>
                    </a:lnTo>
                    <a:lnTo>
                      <a:pt x="384" y="142"/>
                    </a:lnTo>
                    <a:lnTo>
                      <a:pt x="372" y="117"/>
                    </a:lnTo>
                    <a:lnTo>
                      <a:pt x="355" y="93"/>
                    </a:lnTo>
                    <a:lnTo>
                      <a:pt x="267" y="39"/>
                    </a:lnTo>
                    <a:lnTo>
                      <a:pt x="219" y="14"/>
                    </a:lnTo>
                    <a:lnTo>
                      <a:pt x="178" y="0"/>
                    </a:lnTo>
                    <a:lnTo>
                      <a:pt x="155" y="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0" name="Freeform 88"/>
              <p:cNvSpPr/>
              <p:nvPr/>
            </p:nvSpPr>
            <p:spPr bwMode="auto">
              <a:xfrm>
                <a:off x="2678" y="1981"/>
                <a:ext cx="80" cy="44"/>
              </a:xfrm>
              <a:custGeom>
                <a:avLst/>
                <a:gdLst>
                  <a:gd name="T0" fmla="*/ 61 w 80"/>
                  <a:gd name="T1" fmla="*/ 16 h 44"/>
                  <a:gd name="T2" fmla="*/ 43 w 80"/>
                  <a:gd name="T3" fmla="*/ 8 h 44"/>
                  <a:gd name="T4" fmla="*/ 30 w 80"/>
                  <a:gd name="T5" fmla="*/ 3 h 44"/>
                  <a:gd name="T6" fmla="*/ 16 w 80"/>
                  <a:gd name="T7" fmla="*/ 0 h 44"/>
                  <a:gd name="T8" fmla="*/ 0 w 80"/>
                  <a:gd name="T9" fmla="*/ 6 h 44"/>
                  <a:gd name="T10" fmla="*/ 11 w 80"/>
                  <a:gd name="T11" fmla="*/ 27 h 44"/>
                  <a:gd name="T12" fmla="*/ 40 w 80"/>
                  <a:gd name="T13" fmla="*/ 43 h 44"/>
                  <a:gd name="T14" fmla="*/ 46 w 80"/>
                  <a:gd name="T15" fmla="*/ 43 h 44"/>
                  <a:gd name="T16" fmla="*/ 57 w 80"/>
                  <a:gd name="T17" fmla="*/ 43 h 44"/>
                  <a:gd name="T18" fmla="*/ 73 w 80"/>
                  <a:gd name="T19" fmla="*/ 38 h 44"/>
                  <a:gd name="T20" fmla="*/ 79 w 80"/>
                  <a:gd name="T21" fmla="*/ 25 h 44"/>
                  <a:gd name="T22" fmla="*/ 60 w 80"/>
                  <a:gd name="T23" fmla="*/ 18 h 44"/>
                  <a:gd name="T24" fmla="*/ 61 w 80"/>
                  <a:gd name="T25" fmla="*/ 16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4"/>
                  <a:gd name="T41" fmla="*/ 80 w 8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4">
                    <a:moveTo>
                      <a:pt x="61" y="16"/>
                    </a:moveTo>
                    <a:lnTo>
                      <a:pt x="43" y="8"/>
                    </a:lnTo>
                    <a:lnTo>
                      <a:pt x="30" y="3"/>
                    </a:lnTo>
                    <a:lnTo>
                      <a:pt x="16" y="0"/>
                    </a:lnTo>
                    <a:lnTo>
                      <a:pt x="0" y="6"/>
                    </a:lnTo>
                    <a:lnTo>
                      <a:pt x="11" y="27"/>
                    </a:lnTo>
                    <a:lnTo>
                      <a:pt x="40" y="43"/>
                    </a:lnTo>
                    <a:lnTo>
                      <a:pt x="46" y="43"/>
                    </a:lnTo>
                    <a:lnTo>
                      <a:pt x="57" y="43"/>
                    </a:lnTo>
                    <a:lnTo>
                      <a:pt x="73" y="38"/>
                    </a:lnTo>
                    <a:lnTo>
                      <a:pt x="79" y="25"/>
                    </a:lnTo>
                    <a:lnTo>
                      <a:pt x="60" y="18"/>
                    </a:lnTo>
                    <a:lnTo>
                      <a:pt x="61" y="16"/>
                    </a:lnTo>
                  </a:path>
                </a:pathLst>
              </a:custGeom>
              <a:solidFill>
                <a:srgbClr val="FFE1DC"/>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1" name="Freeform 89"/>
              <p:cNvSpPr/>
              <p:nvPr/>
            </p:nvSpPr>
            <p:spPr bwMode="auto">
              <a:xfrm>
                <a:off x="3196" y="2199"/>
                <a:ext cx="249" cy="105"/>
              </a:xfrm>
              <a:custGeom>
                <a:avLst/>
                <a:gdLst>
                  <a:gd name="T0" fmla="*/ 204 w 249"/>
                  <a:gd name="T1" fmla="*/ 2 h 105"/>
                  <a:gd name="T2" fmla="*/ 97 w 249"/>
                  <a:gd name="T3" fmla="*/ 8 h 105"/>
                  <a:gd name="T4" fmla="*/ 78 w 249"/>
                  <a:gd name="T5" fmla="*/ 8 h 105"/>
                  <a:gd name="T6" fmla="*/ 50 w 249"/>
                  <a:gd name="T7" fmla="*/ 5 h 105"/>
                  <a:gd name="T8" fmla="*/ 24 w 249"/>
                  <a:gd name="T9" fmla="*/ 2 h 105"/>
                  <a:gd name="T10" fmla="*/ 14 w 249"/>
                  <a:gd name="T11" fmla="*/ 2 h 105"/>
                  <a:gd name="T12" fmla="*/ 8 w 249"/>
                  <a:gd name="T13" fmla="*/ 5 h 105"/>
                  <a:gd name="T14" fmla="*/ 0 w 249"/>
                  <a:gd name="T15" fmla="*/ 50 h 105"/>
                  <a:gd name="T16" fmla="*/ 0 w 249"/>
                  <a:gd name="T17" fmla="*/ 79 h 105"/>
                  <a:gd name="T18" fmla="*/ 8 w 249"/>
                  <a:gd name="T19" fmla="*/ 95 h 105"/>
                  <a:gd name="T20" fmla="*/ 40 w 249"/>
                  <a:gd name="T21" fmla="*/ 104 h 105"/>
                  <a:gd name="T22" fmla="*/ 64 w 249"/>
                  <a:gd name="T23" fmla="*/ 103 h 105"/>
                  <a:gd name="T24" fmla="*/ 90 w 249"/>
                  <a:gd name="T25" fmla="*/ 100 h 105"/>
                  <a:gd name="T26" fmla="*/ 141 w 249"/>
                  <a:gd name="T27" fmla="*/ 92 h 105"/>
                  <a:gd name="T28" fmla="*/ 164 w 249"/>
                  <a:gd name="T29" fmla="*/ 89 h 105"/>
                  <a:gd name="T30" fmla="*/ 173 w 249"/>
                  <a:gd name="T31" fmla="*/ 89 h 105"/>
                  <a:gd name="T32" fmla="*/ 182 w 249"/>
                  <a:gd name="T33" fmla="*/ 88 h 105"/>
                  <a:gd name="T34" fmla="*/ 246 w 249"/>
                  <a:gd name="T35" fmla="*/ 92 h 105"/>
                  <a:gd name="T36" fmla="*/ 248 w 249"/>
                  <a:gd name="T37" fmla="*/ 0 h 105"/>
                  <a:gd name="T38" fmla="*/ 236 w 249"/>
                  <a:gd name="T39" fmla="*/ 0 h 105"/>
                  <a:gd name="T40" fmla="*/ 229 w 249"/>
                  <a:gd name="T41" fmla="*/ 0 h 105"/>
                  <a:gd name="T42" fmla="*/ 221 w 249"/>
                  <a:gd name="T43" fmla="*/ 0 h 105"/>
                  <a:gd name="T44" fmla="*/ 204 w 249"/>
                  <a:gd name="T45" fmla="*/ 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9"/>
                  <a:gd name="T70" fmla="*/ 0 h 105"/>
                  <a:gd name="T71" fmla="*/ 249 w 249"/>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9" h="105">
                    <a:moveTo>
                      <a:pt x="204" y="2"/>
                    </a:moveTo>
                    <a:lnTo>
                      <a:pt x="97" y="8"/>
                    </a:lnTo>
                    <a:lnTo>
                      <a:pt x="78" y="8"/>
                    </a:lnTo>
                    <a:lnTo>
                      <a:pt x="50" y="5"/>
                    </a:lnTo>
                    <a:lnTo>
                      <a:pt x="24" y="2"/>
                    </a:lnTo>
                    <a:lnTo>
                      <a:pt x="14" y="2"/>
                    </a:lnTo>
                    <a:lnTo>
                      <a:pt x="8" y="5"/>
                    </a:lnTo>
                    <a:lnTo>
                      <a:pt x="0" y="50"/>
                    </a:lnTo>
                    <a:lnTo>
                      <a:pt x="0" y="79"/>
                    </a:lnTo>
                    <a:lnTo>
                      <a:pt x="8" y="95"/>
                    </a:lnTo>
                    <a:lnTo>
                      <a:pt x="40" y="104"/>
                    </a:lnTo>
                    <a:lnTo>
                      <a:pt x="64" y="103"/>
                    </a:lnTo>
                    <a:lnTo>
                      <a:pt x="90" y="100"/>
                    </a:lnTo>
                    <a:lnTo>
                      <a:pt x="141" y="92"/>
                    </a:lnTo>
                    <a:lnTo>
                      <a:pt x="164" y="89"/>
                    </a:lnTo>
                    <a:lnTo>
                      <a:pt x="173" y="89"/>
                    </a:lnTo>
                    <a:lnTo>
                      <a:pt x="182" y="88"/>
                    </a:lnTo>
                    <a:lnTo>
                      <a:pt x="246" y="92"/>
                    </a:lnTo>
                    <a:lnTo>
                      <a:pt x="248" y="0"/>
                    </a:lnTo>
                    <a:lnTo>
                      <a:pt x="236" y="0"/>
                    </a:lnTo>
                    <a:lnTo>
                      <a:pt x="229" y="0"/>
                    </a:lnTo>
                    <a:lnTo>
                      <a:pt x="221" y="0"/>
                    </a:lnTo>
                    <a:lnTo>
                      <a:pt x="204" y="2"/>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2" name="Freeform 90"/>
              <p:cNvSpPr/>
              <p:nvPr/>
            </p:nvSpPr>
            <p:spPr bwMode="auto">
              <a:xfrm>
                <a:off x="2646" y="2036"/>
                <a:ext cx="123" cy="110"/>
              </a:xfrm>
              <a:custGeom>
                <a:avLst/>
                <a:gdLst>
                  <a:gd name="T0" fmla="*/ 109 w 123"/>
                  <a:gd name="T1" fmla="*/ 65 h 110"/>
                  <a:gd name="T2" fmla="*/ 122 w 123"/>
                  <a:gd name="T3" fmla="*/ 90 h 110"/>
                  <a:gd name="T4" fmla="*/ 112 w 123"/>
                  <a:gd name="T5" fmla="*/ 109 h 110"/>
                  <a:gd name="T6" fmla="*/ 101 w 123"/>
                  <a:gd name="T7" fmla="*/ 106 h 110"/>
                  <a:gd name="T8" fmla="*/ 86 w 123"/>
                  <a:gd name="T9" fmla="*/ 96 h 110"/>
                  <a:gd name="T10" fmla="*/ 60 w 123"/>
                  <a:gd name="T11" fmla="*/ 76 h 110"/>
                  <a:gd name="T12" fmla="*/ 5 w 123"/>
                  <a:gd name="T13" fmla="*/ 33 h 110"/>
                  <a:gd name="T14" fmla="*/ 0 w 123"/>
                  <a:gd name="T15" fmla="*/ 17 h 110"/>
                  <a:gd name="T16" fmla="*/ 0 w 123"/>
                  <a:gd name="T17" fmla="*/ 8 h 110"/>
                  <a:gd name="T18" fmla="*/ 0 w 123"/>
                  <a:gd name="T19" fmla="*/ 0 h 110"/>
                  <a:gd name="T20" fmla="*/ 9 w 123"/>
                  <a:gd name="T21" fmla="*/ 0 h 110"/>
                  <a:gd name="T22" fmla="*/ 24 w 123"/>
                  <a:gd name="T23" fmla="*/ 6 h 110"/>
                  <a:gd name="T24" fmla="*/ 36 w 123"/>
                  <a:gd name="T25" fmla="*/ 17 h 110"/>
                  <a:gd name="T26" fmla="*/ 48 w 123"/>
                  <a:gd name="T27" fmla="*/ 32 h 110"/>
                  <a:gd name="T28" fmla="*/ 90 w 123"/>
                  <a:gd name="T29" fmla="*/ 58 h 110"/>
                  <a:gd name="T30" fmla="*/ 107 w 123"/>
                  <a:gd name="T31" fmla="*/ 65 h 110"/>
                  <a:gd name="T32" fmla="*/ 109 w 123"/>
                  <a:gd name="T33" fmla="*/ 65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
                  <a:gd name="T52" fmla="*/ 0 h 110"/>
                  <a:gd name="T53" fmla="*/ 123 w 123"/>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 h="110">
                    <a:moveTo>
                      <a:pt x="109" y="65"/>
                    </a:moveTo>
                    <a:lnTo>
                      <a:pt x="122" y="90"/>
                    </a:lnTo>
                    <a:lnTo>
                      <a:pt x="112" y="109"/>
                    </a:lnTo>
                    <a:lnTo>
                      <a:pt x="101" y="106"/>
                    </a:lnTo>
                    <a:lnTo>
                      <a:pt x="86" y="96"/>
                    </a:lnTo>
                    <a:lnTo>
                      <a:pt x="60" y="76"/>
                    </a:lnTo>
                    <a:lnTo>
                      <a:pt x="5" y="33"/>
                    </a:lnTo>
                    <a:lnTo>
                      <a:pt x="0" y="17"/>
                    </a:lnTo>
                    <a:lnTo>
                      <a:pt x="0" y="8"/>
                    </a:lnTo>
                    <a:lnTo>
                      <a:pt x="0" y="0"/>
                    </a:lnTo>
                    <a:lnTo>
                      <a:pt x="9" y="0"/>
                    </a:lnTo>
                    <a:lnTo>
                      <a:pt x="24" y="6"/>
                    </a:lnTo>
                    <a:lnTo>
                      <a:pt x="36" y="17"/>
                    </a:lnTo>
                    <a:lnTo>
                      <a:pt x="48" y="32"/>
                    </a:lnTo>
                    <a:lnTo>
                      <a:pt x="90" y="58"/>
                    </a:lnTo>
                    <a:lnTo>
                      <a:pt x="107" y="65"/>
                    </a:lnTo>
                    <a:lnTo>
                      <a:pt x="109" y="65"/>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3" name="Freeform 91"/>
              <p:cNvSpPr/>
              <p:nvPr/>
            </p:nvSpPr>
            <p:spPr bwMode="auto">
              <a:xfrm>
                <a:off x="2723" y="2127"/>
                <a:ext cx="50" cy="39"/>
              </a:xfrm>
              <a:custGeom>
                <a:avLst/>
                <a:gdLst>
                  <a:gd name="T0" fmla="*/ 45 w 50"/>
                  <a:gd name="T1" fmla="*/ 38 h 39"/>
                  <a:gd name="T2" fmla="*/ 49 w 50"/>
                  <a:gd name="T3" fmla="*/ 14 h 39"/>
                  <a:gd name="T4" fmla="*/ 26 w 50"/>
                  <a:gd name="T5" fmla="*/ 0 h 39"/>
                  <a:gd name="T6" fmla="*/ 4 w 50"/>
                  <a:gd name="T7" fmla="*/ 8 h 39"/>
                  <a:gd name="T8" fmla="*/ 0 w 50"/>
                  <a:gd name="T9" fmla="*/ 22 h 39"/>
                  <a:gd name="T10" fmla="*/ 27 w 50"/>
                  <a:gd name="T11" fmla="*/ 32 h 39"/>
                  <a:gd name="T12" fmla="*/ 45 w 50"/>
                  <a:gd name="T13" fmla="*/ 38 h 39"/>
                  <a:gd name="T14" fmla="*/ 0 60000 65536"/>
                  <a:gd name="T15" fmla="*/ 0 60000 65536"/>
                  <a:gd name="T16" fmla="*/ 0 60000 65536"/>
                  <a:gd name="T17" fmla="*/ 0 60000 65536"/>
                  <a:gd name="T18" fmla="*/ 0 60000 65536"/>
                  <a:gd name="T19" fmla="*/ 0 60000 65536"/>
                  <a:gd name="T20" fmla="*/ 0 60000 65536"/>
                  <a:gd name="T21" fmla="*/ 0 w 50"/>
                  <a:gd name="T22" fmla="*/ 0 h 39"/>
                  <a:gd name="T23" fmla="*/ 50 w 5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39">
                    <a:moveTo>
                      <a:pt x="45" y="38"/>
                    </a:moveTo>
                    <a:lnTo>
                      <a:pt x="49" y="14"/>
                    </a:lnTo>
                    <a:lnTo>
                      <a:pt x="26" y="0"/>
                    </a:lnTo>
                    <a:lnTo>
                      <a:pt x="4" y="8"/>
                    </a:lnTo>
                    <a:lnTo>
                      <a:pt x="0" y="22"/>
                    </a:lnTo>
                    <a:lnTo>
                      <a:pt x="27" y="32"/>
                    </a:lnTo>
                    <a:lnTo>
                      <a:pt x="45"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4" name="Freeform 92"/>
              <p:cNvSpPr/>
              <p:nvPr/>
            </p:nvSpPr>
            <p:spPr bwMode="auto">
              <a:xfrm>
                <a:off x="2662" y="2144"/>
                <a:ext cx="232" cy="91"/>
              </a:xfrm>
              <a:custGeom>
                <a:avLst/>
                <a:gdLst>
                  <a:gd name="T0" fmla="*/ 227 w 232"/>
                  <a:gd name="T1" fmla="*/ 41 h 91"/>
                  <a:gd name="T2" fmla="*/ 221 w 232"/>
                  <a:gd name="T3" fmla="*/ 22 h 91"/>
                  <a:gd name="T4" fmla="*/ 195 w 232"/>
                  <a:gd name="T5" fmla="*/ 18 h 91"/>
                  <a:gd name="T6" fmla="*/ 181 w 232"/>
                  <a:gd name="T7" fmla="*/ 18 h 91"/>
                  <a:gd name="T8" fmla="*/ 169 w 232"/>
                  <a:gd name="T9" fmla="*/ 18 h 91"/>
                  <a:gd name="T10" fmla="*/ 115 w 232"/>
                  <a:gd name="T11" fmla="*/ 38 h 91"/>
                  <a:gd name="T12" fmla="*/ 94 w 232"/>
                  <a:gd name="T13" fmla="*/ 39 h 91"/>
                  <a:gd name="T14" fmla="*/ 73 w 232"/>
                  <a:gd name="T15" fmla="*/ 35 h 91"/>
                  <a:gd name="T16" fmla="*/ 40 w 232"/>
                  <a:gd name="T17" fmla="*/ 14 h 91"/>
                  <a:gd name="T18" fmla="*/ 20 w 232"/>
                  <a:gd name="T19" fmla="*/ 3 h 91"/>
                  <a:gd name="T20" fmla="*/ 5 w 232"/>
                  <a:gd name="T21" fmla="*/ 0 h 91"/>
                  <a:gd name="T22" fmla="*/ 0 w 232"/>
                  <a:gd name="T23" fmla="*/ 8 h 91"/>
                  <a:gd name="T24" fmla="*/ 0 w 232"/>
                  <a:gd name="T25" fmla="*/ 15 h 91"/>
                  <a:gd name="T26" fmla="*/ 1 w 232"/>
                  <a:gd name="T27" fmla="*/ 22 h 91"/>
                  <a:gd name="T28" fmla="*/ 18 w 232"/>
                  <a:gd name="T29" fmla="*/ 40 h 91"/>
                  <a:gd name="T30" fmla="*/ 41 w 232"/>
                  <a:gd name="T31" fmla="*/ 55 h 91"/>
                  <a:gd name="T32" fmla="*/ 70 w 232"/>
                  <a:gd name="T33" fmla="*/ 76 h 91"/>
                  <a:gd name="T34" fmla="*/ 88 w 232"/>
                  <a:gd name="T35" fmla="*/ 87 h 91"/>
                  <a:gd name="T36" fmla="*/ 102 w 232"/>
                  <a:gd name="T37" fmla="*/ 90 h 91"/>
                  <a:gd name="T38" fmla="*/ 106 w 232"/>
                  <a:gd name="T39" fmla="*/ 85 h 91"/>
                  <a:gd name="T40" fmla="*/ 108 w 232"/>
                  <a:gd name="T41" fmla="*/ 77 h 91"/>
                  <a:gd name="T42" fmla="*/ 114 w 232"/>
                  <a:gd name="T43" fmla="*/ 62 h 91"/>
                  <a:gd name="T44" fmla="*/ 168 w 232"/>
                  <a:gd name="T45" fmla="*/ 49 h 91"/>
                  <a:gd name="T46" fmla="*/ 231 w 232"/>
                  <a:gd name="T47" fmla="*/ 43 h 91"/>
                  <a:gd name="T48" fmla="*/ 227 w 232"/>
                  <a:gd name="T49" fmla="*/ 41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32"/>
                  <a:gd name="T76" fmla="*/ 0 h 91"/>
                  <a:gd name="T77" fmla="*/ 232 w 232"/>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32" h="91">
                    <a:moveTo>
                      <a:pt x="227" y="41"/>
                    </a:moveTo>
                    <a:lnTo>
                      <a:pt x="221" y="22"/>
                    </a:lnTo>
                    <a:lnTo>
                      <a:pt x="195" y="18"/>
                    </a:lnTo>
                    <a:lnTo>
                      <a:pt x="181" y="18"/>
                    </a:lnTo>
                    <a:lnTo>
                      <a:pt x="169" y="18"/>
                    </a:lnTo>
                    <a:lnTo>
                      <a:pt x="115" y="38"/>
                    </a:lnTo>
                    <a:lnTo>
                      <a:pt x="94" y="39"/>
                    </a:lnTo>
                    <a:lnTo>
                      <a:pt x="73" y="35"/>
                    </a:lnTo>
                    <a:lnTo>
                      <a:pt x="40" y="14"/>
                    </a:lnTo>
                    <a:lnTo>
                      <a:pt x="20" y="3"/>
                    </a:lnTo>
                    <a:lnTo>
                      <a:pt x="5" y="0"/>
                    </a:lnTo>
                    <a:lnTo>
                      <a:pt x="0" y="8"/>
                    </a:lnTo>
                    <a:lnTo>
                      <a:pt x="0" y="15"/>
                    </a:lnTo>
                    <a:lnTo>
                      <a:pt x="1" y="22"/>
                    </a:lnTo>
                    <a:lnTo>
                      <a:pt x="18" y="40"/>
                    </a:lnTo>
                    <a:lnTo>
                      <a:pt x="41" y="55"/>
                    </a:lnTo>
                    <a:lnTo>
                      <a:pt x="70" y="76"/>
                    </a:lnTo>
                    <a:lnTo>
                      <a:pt x="88" y="87"/>
                    </a:lnTo>
                    <a:lnTo>
                      <a:pt x="102" y="90"/>
                    </a:lnTo>
                    <a:lnTo>
                      <a:pt x="106" y="85"/>
                    </a:lnTo>
                    <a:lnTo>
                      <a:pt x="108" y="77"/>
                    </a:lnTo>
                    <a:lnTo>
                      <a:pt x="114" y="62"/>
                    </a:lnTo>
                    <a:lnTo>
                      <a:pt x="168" y="49"/>
                    </a:lnTo>
                    <a:lnTo>
                      <a:pt x="231" y="43"/>
                    </a:lnTo>
                    <a:lnTo>
                      <a:pt x="227" y="41"/>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5" name="Freeform 93"/>
              <p:cNvSpPr/>
              <p:nvPr/>
            </p:nvSpPr>
            <p:spPr bwMode="auto">
              <a:xfrm>
                <a:off x="2707" y="2231"/>
                <a:ext cx="227" cy="74"/>
              </a:xfrm>
              <a:custGeom>
                <a:avLst/>
                <a:gdLst>
                  <a:gd name="T0" fmla="*/ 226 w 227"/>
                  <a:gd name="T1" fmla="*/ 10 h 74"/>
                  <a:gd name="T2" fmla="*/ 211 w 227"/>
                  <a:gd name="T3" fmla="*/ 1 h 74"/>
                  <a:gd name="T4" fmla="*/ 206 w 227"/>
                  <a:gd name="T5" fmla="*/ 0 h 74"/>
                  <a:gd name="T6" fmla="*/ 199 w 227"/>
                  <a:gd name="T7" fmla="*/ 0 h 74"/>
                  <a:gd name="T8" fmla="*/ 182 w 227"/>
                  <a:gd name="T9" fmla="*/ 4 h 74"/>
                  <a:gd name="T10" fmla="*/ 152 w 227"/>
                  <a:gd name="T11" fmla="*/ 14 h 74"/>
                  <a:gd name="T12" fmla="*/ 140 w 227"/>
                  <a:gd name="T13" fmla="*/ 15 h 74"/>
                  <a:gd name="T14" fmla="*/ 124 w 227"/>
                  <a:gd name="T15" fmla="*/ 20 h 74"/>
                  <a:gd name="T16" fmla="*/ 96 w 227"/>
                  <a:gd name="T17" fmla="*/ 29 h 74"/>
                  <a:gd name="T18" fmla="*/ 78 w 227"/>
                  <a:gd name="T19" fmla="*/ 36 h 74"/>
                  <a:gd name="T20" fmla="*/ 69 w 227"/>
                  <a:gd name="T21" fmla="*/ 39 h 74"/>
                  <a:gd name="T22" fmla="*/ 60 w 227"/>
                  <a:gd name="T23" fmla="*/ 39 h 74"/>
                  <a:gd name="T24" fmla="*/ 32 w 227"/>
                  <a:gd name="T25" fmla="*/ 21 h 74"/>
                  <a:gd name="T26" fmla="*/ 18 w 227"/>
                  <a:gd name="T27" fmla="*/ 11 h 74"/>
                  <a:gd name="T28" fmla="*/ 4 w 227"/>
                  <a:gd name="T29" fmla="*/ 8 h 74"/>
                  <a:gd name="T30" fmla="*/ 0 w 227"/>
                  <a:gd name="T31" fmla="*/ 17 h 74"/>
                  <a:gd name="T32" fmla="*/ 1 w 227"/>
                  <a:gd name="T33" fmla="*/ 31 h 74"/>
                  <a:gd name="T34" fmla="*/ 5 w 227"/>
                  <a:gd name="T35" fmla="*/ 37 h 74"/>
                  <a:gd name="T36" fmla="*/ 14 w 227"/>
                  <a:gd name="T37" fmla="*/ 43 h 74"/>
                  <a:gd name="T38" fmla="*/ 35 w 227"/>
                  <a:gd name="T39" fmla="*/ 52 h 74"/>
                  <a:gd name="T40" fmla="*/ 65 w 227"/>
                  <a:gd name="T41" fmla="*/ 67 h 74"/>
                  <a:gd name="T42" fmla="*/ 82 w 227"/>
                  <a:gd name="T43" fmla="*/ 72 h 74"/>
                  <a:gd name="T44" fmla="*/ 90 w 227"/>
                  <a:gd name="T45" fmla="*/ 73 h 74"/>
                  <a:gd name="T46" fmla="*/ 98 w 227"/>
                  <a:gd name="T47" fmla="*/ 73 h 74"/>
                  <a:gd name="T48" fmla="*/ 101 w 227"/>
                  <a:gd name="T49" fmla="*/ 69 h 74"/>
                  <a:gd name="T50" fmla="*/ 101 w 227"/>
                  <a:gd name="T51" fmla="*/ 60 h 74"/>
                  <a:gd name="T52" fmla="*/ 100 w 227"/>
                  <a:gd name="T53" fmla="*/ 52 h 74"/>
                  <a:gd name="T54" fmla="*/ 104 w 227"/>
                  <a:gd name="T55" fmla="*/ 46 h 74"/>
                  <a:gd name="T56" fmla="*/ 149 w 227"/>
                  <a:gd name="T57" fmla="*/ 40 h 74"/>
                  <a:gd name="T58" fmla="*/ 193 w 227"/>
                  <a:gd name="T59" fmla="*/ 25 h 74"/>
                  <a:gd name="T60" fmla="*/ 226 w 227"/>
                  <a:gd name="T61" fmla="*/ 10 h 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7"/>
                  <a:gd name="T94" fmla="*/ 0 h 74"/>
                  <a:gd name="T95" fmla="*/ 227 w 227"/>
                  <a:gd name="T96" fmla="*/ 74 h 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7" h="74">
                    <a:moveTo>
                      <a:pt x="226" y="10"/>
                    </a:moveTo>
                    <a:lnTo>
                      <a:pt x="211" y="1"/>
                    </a:lnTo>
                    <a:lnTo>
                      <a:pt x="206" y="0"/>
                    </a:lnTo>
                    <a:lnTo>
                      <a:pt x="199" y="0"/>
                    </a:lnTo>
                    <a:lnTo>
                      <a:pt x="182" y="4"/>
                    </a:lnTo>
                    <a:lnTo>
                      <a:pt x="152" y="14"/>
                    </a:lnTo>
                    <a:lnTo>
                      <a:pt x="140" y="15"/>
                    </a:lnTo>
                    <a:lnTo>
                      <a:pt x="124" y="20"/>
                    </a:lnTo>
                    <a:lnTo>
                      <a:pt x="96" y="29"/>
                    </a:lnTo>
                    <a:lnTo>
                      <a:pt x="78" y="36"/>
                    </a:lnTo>
                    <a:lnTo>
                      <a:pt x="69" y="39"/>
                    </a:lnTo>
                    <a:lnTo>
                      <a:pt x="60" y="39"/>
                    </a:lnTo>
                    <a:lnTo>
                      <a:pt x="32" y="21"/>
                    </a:lnTo>
                    <a:lnTo>
                      <a:pt x="18" y="11"/>
                    </a:lnTo>
                    <a:lnTo>
                      <a:pt x="4" y="8"/>
                    </a:lnTo>
                    <a:lnTo>
                      <a:pt x="0" y="17"/>
                    </a:lnTo>
                    <a:lnTo>
                      <a:pt x="1" y="31"/>
                    </a:lnTo>
                    <a:lnTo>
                      <a:pt x="5" y="37"/>
                    </a:lnTo>
                    <a:lnTo>
                      <a:pt x="14" y="43"/>
                    </a:lnTo>
                    <a:lnTo>
                      <a:pt x="35" y="52"/>
                    </a:lnTo>
                    <a:lnTo>
                      <a:pt x="65" y="67"/>
                    </a:lnTo>
                    <a:lnTo>
                      <a:pt x="82" y="72"/>
                    </a:lnTo>
                    <a:lnTo>
                      <a:pt x="90" y="73"/>
                    </a:lnTo>
                    <a:lnTo>
                      <a:pt x="98" y="73"/>
                    </a:lnTo>
                    <a:lnTo>
                      <a:pt x="101" y="69"/>
                    </a:lnTo>
                    <a:lnTo>
                      <a:pt x="101" y="60"/>
                    </a:lnTo>
                    <a:lnTo>
                      <a:pt x="100" y="52"/>
                    </a:lnTo>
                    <a:lnTo>
                      <a:pt x="104" y="46"/>
                    </a:lnTo>
                    <a:lnTo>
                      <a:pt x="149" y="40"/>
                    </a:lnTo>
                    <a:lnTo>
                      <a:pt x="193" y="25"/>
                    </a:lnTo>
                    <a:lnTo>
                      <a:pt x="226" y="1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6" name="Freeform 94"/>
              <p:cNvSpPr/>
              <p:nvPr/>
            </p:nvSpPr>
            <p:spPr bwMode="auto">
              <a:xfrm>
                <a:off x="2778" y="2294"/>
                <a:ext cx="193" cy="78"/>
              </a:xfrm>
              <a:custGeom>
                <a:avLst/>
                <a:gdLst>
                  <a:gd name="T0" fmla="*/ 192 w 193"/>
                  <a:gd name="T1" fmla="*/ 9 h 78"/>
                  <a:gd name="T2" fmla="*/ 167 w 193"/>
                  <a:gd name="T3" fmla="*/ 1 h 78"/>
                  <a:gd name="T4" fmla="*/ 160 w 193"/>
                  <a:gd name="T5" fmla="*/ 0 h 78"/>
                  <a:gd name="T6" fmla="*/ 149 w 193"/>
                  <a:gd name="T7" fmla="*/ 1 h 78"/>
                  <a:gd name="T8" fmla="*/ 131 w 193"/>
                  <a:gd name="T9" fmla="*/ 9 h 78"/>
                  <a:gd name="T10" fmla="*/ 80 w 193"/>
                  <a:gd name="T11" fmla="*/ 29 h 78"/>
                  <a:gd name="T12" fmla="*/ 68 w 193"/>
                  <a:gd name="T13" fmla="*/ 38 h 78"/>
                  <a:gd name="T14" fmla="*/ 64 w 193"/>
                  <a:gd name="T15" fmla="*/ 42 h 78"/>
                  <a:gd name="T16" fmla="*/ 57 w 193"/>
                  <a:gd name="T17" fmla="*/ 43 h 78"/>
                  <a:gd name="T18" fmla="*/ 30 w 193"/>
                  <a:gd name="T19" fmla="*/ 34 h 78"/>
                  <a:gd name="T20" fmla="*/ 17 w 193"/>
                  <a:gd name="T21" fmla="*/ 31 h 78"/>
                  <a:gd name="T22" fmla="*/ 10 w 193"/>
                  <a:gd name="T23" fmla="*/ 30 h 78"/>
                  <a:gd name="T24" fmla="*/ 2 w 193"/>
                  <a:gd name="T25" fmla="*/ 30 h 78"/>
                  <a:gd name="T26" fmla="*/ 0 w 193"/>
                  <a:gd name="T27" fmla="*/ 36 h 78"/>
                  <a:gd name="T28" fmla="*/ 2 w 193"/>
                  <a:gd name="T29" fmla="*/ 48 h 78"/>
                  <a:gd name="T30" fmla="*/ 12 w 193"/>
                  <a:gd name="T31" fmla="*/ 59 h 78"/>
                  <a:gd name="T32" fmla="*/ 29 w 193"/>
                  <a:gd name="T33" fmla="*/ 67 h 78"/>
                  <a:gd name="T34" fmla="*/ 46 w 193"/>
                  <a:gd name="T35" fmla="*/ 76 h 78"/>
                  <a:gd name="T36" fmla="*/ 55 w 193"/>
                  <a:gd name="T37" fmla="*/ 77 h 78"/>
                  <a:gd name="T38" fmla="*/ 66 w 193"/>
                  <a:gd name="T39" fmla="*/ 75 h 78"/>
                  <a:gd name="T40" fmla="*/ 71 w 193"/>
                  <a:gd name="T41" fmla="*/ 72 h 78"/>
                  <a:gd name="T42" fmla="*/ 71 w 193"/>
                  <a:gd name="T43" fmla="*/ 67 h 78"/>
                  <a:gd name="T44" fmla="*/ 71 w 193"/>
                  <a:gd name="T45" fmla="*/ 62 h 78"/>
                  <a:gd name="T46" fmla="*/ 75 w 193"/>
                  <a:gd name="T47" fmla="*/ 56 h 78"/>
                  <a:gd name="T48" fmla="*/ 136 w 193"/>
                  <a:gd name="T49" fmla="*/ 33 h 78"/>
                  <a:gd name="T50" fmla="*/ 170 w 193"/>
                  <a:gd name="T51" fmla="*/ 22 h 78"/>
                  <a:gd name="T52" fmla="*/ 192 w 193"/>
                  <a:gd name="T53" fmla="*/ 9 h 7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3"/>
                  <a:gd name="T82" fmla="*/ 0 h 78"/>
                  <a:gd name="T83" fmla="*/ 193 w 193"/>
                  <a:gd name="T84" fmla="*/ 78 h 7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3" h="78">
                    <a:moveTo>
                      <a:pt x="192" y="9"/>
                    </a:moveTo>
                    <a:lnTo>
                      <a:pt x="167" y="1"/>
                    </a:lnTo>
                    <a:lnTo>
                      <a:pt x="160" y="0"/>
                    </a:lnTo>
                    <a:lnTo>
                      <a:pt x="149" y="1"/>
                    </a:lnTo>
                    <a:lnTo>
                      <a:pt x="131" y="9"/>
                    </a:lnTo>
                    <a:lnTo>
                      <a:pt x="80" y="29"/>
                    </a:lnTo>
                    <a:lnTo>
                      <a:pt x="68" y="38"/>
                    </a:lnTo>
                    <a:lnTo>
                      <a:pt x="64" y="42"/>
                    </a:lnTo>
                    <a:lnTo>
                      <a:pt x="57" y="43"/>
                    </a:lnTo>
                    <a:lnTo>
                      <a:pt x="30" y="34"/>
                    </a:lnTo>
                    <a:lnTo>
                      <a:pt x="17" y="31"/>
                    </a:lnTo>
                    <a:lnTo>
                      <a:pt x="10" y="30"/>
                    </a:lnTo>
                    <a:lnTo>
                      <a:pt x="2" y="30"/>
                    </a:lnTo>
                    <a:lnTo>
                      <a:pt x="0" y="36"/>
                    </a:lnTo>
                    <a:lnTo>
                      <a:pt x="2" y="48"/>
                    </a:lnTo>
                    <a:lnTo>
                      <a:pt x="12" y="59"/>
                    </a:lnTo>
                    <a:lnTo>
                      <a:pt x="29" y="67"/>
                    </a:lnTo>
                    <a:lnTo>
                      <a:pt x="46" y="76"/>
                    </a:lnTo>
                    <a:lnTo>
                      <a:pt x="55" y="77"/>
                    </a:lnTo>
                    <a:lnTo>
                      <a:pt x="66" y="75"/>
                    </a:lnTo>
                    <a:lnTo>
                      <a:pt x="71" y="72"/>
                    </a:lnTo>
                    <a:lnTo>
                      <a:pt x="71" y="67"/>
                    </a:lnTo>
                    <a:lnTo>
                      <a:pt x="71" y="62"/>
                    </a:lnTo>
                    <a:lnTo>
                      <a:pt x="75" y="56"/>
                    </a:lnTo>
                    <a:lnTo>
                      <a:pt x="136" y="33"/>
                    </a:lnTo>
                    <a:lnTo>
                      <a:pt x="170" y="22"/>
                    </a:lnTo>
                    <a:lnTo>
                      <a:pt x="192" y="9"/>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7" name="Freeform 95"/>
              <p:cNvSpPr/>
              <p:nvPr/>
            </p:nvSpPr>
            <p:spPr bwMode="auto">
              <a:xfrm>
                <a:off x="3257" y="2221"/>
                <a:ext cx="187" cy="36"/>
              </a:xfrm>
              <a:custGeom>
                <a:avLst/>
                <a:gdLst>
                  <a:gd name="T0" fmla="*/ 148 w 187"/>
                  <a:gd name="T1" fmla="*/ 0 h 36"/>
                  <a:gd name="T2" fmla="*/ 110 w 187"/>
                  <a:gd name="T3" fmla="*/ 0 h 36"/>
                  <a:gd name="T4" fmla="*/ 80 w 187"/>
                  <a:gd name="T5" fmla="*/ 0 h 36"/>
                  <a:gd name="T6" fmla="*/ 66 w 187"/>
                  <a:gd name="T7" fmla="*/ 0 h 36"/>
                  <a:gd name="T8" fmla="*/ 55 w 187"/>
                  <a:gd name="T9" fmla="*/ 0 h 36"/>
                  <a:gd name="T10" fmla="*/ 6 w 187"/>
                  <a:gd name="T11" fmla="*/ 7 h 36"/>
                  <a:gd name="T12" fmla="*/ 0 w 187"/>
                  <a:gd name="T13" fmla="*/ 17 h 36"/>
                  <a:gd name="T14" fmla="*/ 0 w 187"/>
                  <a:gd name="T15" fmla="*/ 25 h 36"/>
                  <a:gd name="T16" fmla="*/ 5 w 187"/>
                  <a:gd name="T17" fmla="*/ 30 h 36"/>
                  <a:gd name="T18" fmla="*/ 29 w 187"/>
                  <a:gd name="T19" fmla="*/ 34 h 36"/>
                  <a:gd name="T20" fmla="*/ 45 w 187"/>
                  <a:gd name="T21" fmla="*/ 34 h 36"/>
                  <a:gd name="T22" fmla="*/ 54 w 187"/>
                  <a:gd name="T23" fmla="*/ 34 h 36"/>
                  <a:gd name="T24" fmla="*/ 64 w 187"/>
                  <a:gd name="T25" fmla="*/ 35 h 36"/>
                  <a:gd name="T26" fmla="*/ 102 w 187"/>
                  <a:gd name="T27" fmla="*/ 34 h 36"/>
                  <a:gd name="T28" fmla="*/ 119 w 187"/>
                  <a:gd name="T29" fmla="*/ 33 h 36"/>
                  <a:gd name="T30" fmla="*/ 133 w 187"/>
                  <a:gd name="T31" fmla="*/ 32 h 36"/>
                  <a:gd name="T32" fmla="*/ 147 w 187"/>
                  <a:gd name="T33" fmla="*/ 32 h 36"/>
                  <a:gd name="T34" fmla="*/ 156 w 187"/>
                  <a:gd name="T35" fmla="*/ 32 h 36"/>
                  <a:gd name="T36" fmla="*/ 165 w 187"/>
                  <a:gd name="T37" fmla="*/ 33 h 36"/>
                  <a:gd name="T38" fmla="*/ 186 w 187"/>
                  <a:gd name="T39" fmla="*/ 34 h 36"/>
                  <a:gd name="T40" fmla="*/ 186 w 187"/>
                  <a:gd name="T41" fmla="*/ 20 h 36"/>
                  <a:gd name="T42" fmla="*/ 186 w 187"/>
                  <a:gd name="T43" fmla="*/ 10 h 36"/>
                  <a:gd name="T44" fmla="*/ 186 w 187"/>
                  <a:gd name="T45" fmla="*/ 0 h 36"/>
                  <a:gd name="T46" fmla="*/ 150 w 187"/>
                  <a:gd name="T47" fmla="*/ 0 h 36"/>
                  <a:gd name="T48" fmla="*/ 148 w 187"/>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36"/>
                  <a:gd name="T77" fmla="*/ 187 w 187"/>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36">
                    <a:moveTo>
                      <a:pt x="148" y="0"/>
                    </a:moveTo>
                    <a:lnTo>
                      <a:pt x="110" y="0"/>
                    </a:lnTo>
                    <a:lnTo>
                      <a:pt x="80" y="0"/>
                    </a:lnTo>
                    <a:lnTo>
                      <a:pt x="66" y="0"/>
                    </a:lnTo>
                    <a:lnTo>
                      <a:pt x="55" y="0"/>
                    </a:lnTo>
                    <a:lnTo>
                      <a:pt x="6" y="7"/>
                    </a:lnTo>
                    <a:lnTo>
                      <a:pt x="0" y="17"/>
                    </a:lnTo>
                    <a:lnTo>
                      <a:pt x="0" y="25"/>
                    </a:lnTo>
                    <a:lnTo>
                      <a:pt x="5" y="30"/>
                    </a:lnTo>
                    <a:lnTo>
                      <a:pt x="29" y="34"/>
                    </a:lnTo>
                    <a:lnTo>
                      <a:pt x="45" y="34"/>
                    </a:lnTo>
                    <a:lnTo>
                      <a:pt x="54" y="34"/>
                    </a:lnTo>
                    <a:lnTo>
                      <a:pt x="64" y="35"/>
                    </a:lnTo>
                    <a:lnTo>
                      <a:pt x="102" y="34"/>
                    </a:lnTo>
                    <a:lnTo>
                      <a:pt x="119" y="33"/>
                    </a:lnTo>
                    <a:lnTo>
                      <a:pt x="133" y="32"/>
                    </a:lnTo>
                    <a:lnTo>
                      <a:pt x="147" y="32"/>
                    </a:lnTo>
                    <a:lnTo>
                      <a:pt x="156" y="32"/>
                    </a:lnTo>
                    <a:lnTo>
                      <a:pt x="165" y="33"/>
                    </a:lnTo>
                    <a:lnTo>
                      <a:pt x="186" y="34"/>
                    </a:lnTo>
                    <a:lnTo>
                      <a:pt x="186" y="20"/>
                    </a:lnTo>
                    <a:lnTo>
                      <a:pt x="186" y="10"/>
                    </a:lnTo>
                    <a:lnTo>
                      <a:pt x="186" y="0"/>
                    </a:lnTo>
                    <a:lnTo>
                      <a:pt x="150" y="0"/>
                    </a:lnTo>
                    <a:lnTo>
                      <a:pt x="148" y="0"/>
                    </a:lnTo>
                  </a:path>
                </a:pathLst>
              </a:custGeom>
              <a:solidFill>
                <a:srgbClr val="FF9F7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8" name="Freeform 96"/>
              <p:cNvSpPr/>
              <p:nvPr/>
            </p:nvSpPr>
            <p:spPr bwMode="auto">
              <a:xfrm>
                <a:off x="2864" y="2178"/>
                <a:ext cx="59" cy="41"/>
              </a:xfrm>
              <a:custGeom>
                <a:avLst/>
                <a:gdLst>
                  <a:gd name="T0" fmla="*/ 2 w 59"/>
                  <a:gd name="T1" fmla="*/ 40 h 41"/>
                  <a:gd name="T2" fmla="*/ 0 w 59"/>
                  <a:gd name="T3" fmla="*/ 18 h 41"/>
                  <a:gd name="T4" fmla="*/ 9 w 59"/>
                  <a:gd name="T5" fmla="*/ 6 h 41"/>
                  <a:gd name="T6" fmla="*/ 24 w 59"/>
                  <a:gd name="T7" fmla="*/ 0 h 41"/>
                  <a:gd name="T8" fmla="*/ 40 w 59"/>
                  <a:gd name="T9" fmla="*/ 3 h 41"/>
                  <a:gd name="T10" fmla="*/ 55 w 59"/>
                  <a:gd name="T11" fmla="*/ 11 h 41"/>
                  <a:gd name="T12" fmla="*/ 58 w 59"/>
                  <a:gd name="T13" fmla="*/ 21 h 41"/>
                  <a:gd name="T14" fmla="*/ 36 w 59"/>
                  <a:gd name="T15" fmla="*/ 31 h 41"/>
                  <a:gd name="T16" fmla="*/ 2 w 59"/>
                  <a:gd name="T17" fmla="*/ 4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41"/>
                  <a:gd name="T29" fmla="*/ 59 w 59"/>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41">
                    <a:moveTo>
                      <a:pt x="2" y="40"/>
                    </a:moveTo>
                    <a:lnTo>
                      <a:pt x="0" y="18"/>
                    </a:lnTo>
                    <a:lnTo>
                      <a:pt x="9" y="6"/>
                    </a:lnTo>
                    <a:lnTo>
                      <a:pt x="24" y="0"/>
                    </a:lnTo>
                    <a:lnTo>
                      <a:pt x="40" y="3"/>
                    </a:lnTo>
                    <a:lnTo>
                      <a:pt x="55" y="11"/>
                    </a:lnTo>
                    <a:lnTo>
                      <a:pt x="58" y="21"/>
                    </a:lnTo>
                    <a:lnTo>
                      <a:pt x="36" y="31"/>
                    </a:lnTo>
                    <a:lnTo>
                      <a:pt x="2" y="40"/>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79" name="Freeform 97"/>
              <p:cNvSpPr/>
              <p:nvPr/>
            </p:nvSpPr>
            <p:spPr bwMode="auto">
              <a:xfrm>
                <a:off x="2910" y="2240"/>
                <a:ext cx="52" cy="37"/>
              </a:xfrm>
              <a:custGeom>
                <a:avLst/>
                <a:gdLst>
                  <a:gd name="T0" fmla="*/ 0 w 52"/>
                  <a:gd name="T1" fmla="*/ 31 h 37"/>
                  <a:gd name="T2" fmla="*/ 0 w 52"/>
                  <a:gd name="T3" fmla="*/ 17 h 37"/>
                  <a:gd name="T4" fmla="*/ 8 w 52"/>
                  <a:gd name="T5" fmla="*/ 6 h 37"/>
                  <a:gd name="T6" fmla="*/ 21 w 52"/>
                  <a:gd name="T7" fmla="*/ 0 h 37"/>
                  <a:gd name="T8" fmla="*/ 35 w 52"/>
                  <a:gd name="T9" fmla="*/ 3 h 37"/>
                  <a:gd name="T10" fmla="*/ 48 w 52"/>
                  <a:gd name="T11" fmla="*/ 11 h 37"/>
                  <a:gd name="T12" fmla="*/ 51 w 52"/>
                  <a:gd name="T13" fmla="*/ 20 h 37"/>
                  <a:gd name="T14" fmla="*/ 31 w 52"/>
                  <a:gd name="T15" fmla="*/ 29 h 37"/>
                  <a:gd name="T16" fmla="*/ 17 w 52"/>
                  <a:gd name="T17" fmla="*/ 33 h 37"/>
                  <a:gd name="T18" fmla="*/ 11 w 52"/>
                  <a:gd name="T19" fmla="*/ 36 h 37"/>
                  <a:gd name="T20" fmla="*/ 0 w 52"/>
                  <a:gd name="T21" fmla="*/ 31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37"/>
                  <a:gd name="T35" fmla="*/ 52 w 52"/>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37">
                    <a:moveTo>
                      <a:pt x="0" y="31"/>
                    </a:moveTo>
                    <a:lnTo>
                      <a:pt x="0" y="17"/>
                    </a:lnTo>
                    <a:lnTo>
                      <a:pt x="8" y="6"/>
                    </a:lnTo>
                    <a:lnTo>
                      <a:pt x="21" y="0"/>
                    </a:lnTo>
                    <a:lnTo>
                      <a:pt x="35" y="3"/>
                    </a:lnTo>
                    <a:lnTo>
                      <a:pt x="48" y="11"/>
                    </a:lnTo>
                    <a:lnTo>
                      <a:pt x="51" y="20"/>
                    </a:lnTo>
                    <a:lnTo>
                      <a:pt x="31" y="29"/>
                    </a:lnTo>
                    <a:lnTo>
                      <a:pt x="17" y="33"/>
                    </a:lnTo>
                    <a:lnTo>
                      <a:pt x="11" y="36"/>
                    </a:lnTo>
                    <a:lnTo>
                      <a:pt x="0" y="31"/>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80" name="Freeform 98"/>
              <p:cNvSpPr/>
              <p:nvPr/>
            </p:nvSpPr>
            <p:spPr bwMode="auto">
              <a:xfrm>
                <a:off x="2951" y="2297"/>
                <a:ext cx="43" cy="39"/>
              </a:xfrm>
              <a:custGeom>
                <a:avLst/>
                <a:gdLst>
                  <a:gd name="T0" fmla="*/ 9 w 43"/>
                  <a:gd name="T1" fmla="*/ 38 h 39"/>
                  <a:gd name="T2" fmla="*/ 0 w 43"/>
                  <a:gd name="T3" fmla="*/ 30 h 39"/>
                  <a:gd name="T4" fmla="*/ 0 w 43"/>
                  <a:gd name="T5" fmla="*/ 14 h 39"/>
                  <a:gd name="T6" fmla="*/ 5 w 43"/>
                  <a:gd name="T7" fmla="*/ 0 h 39"/>
                  <a:gd name="T8" fmla="*/ 20 w 43"/>
                  <a:gd name="T9" fmla="*/ 0 h 39"/>
                  <a:gd name="T10" fmla="*/ 35 w 43"/>
                  <a:gd name="T11" fmla="*/ 3 h 39"/>
                  <a:gd name="T12" fmla="*/ 42 w 43"/>
                  <a:gd name="T13" fmla="*/ 12 h 39"/>
                  <a:gd name="T14" fmla="*/ 28 w 43"/>
                  <a:gd name="T15" fmla="*/ 26 h 39"/>
                  <a:gd name="T16" fmla="*/ 16 w 43"/>
                  <a:gd name="T17" fmla="*/ 34 h 39"/>
                  <a:gd name="T18" fmla="*/ 9 w 43"/>
                  <a:gd name="T19" fmla="*/ 38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39"/>
                  <a:gd name="T32" fmla="*/ 43 w 43"/>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39">
                    <a:moveTo>
                      <a:pt x="9" y="38"/>
                    </a:moveTo>
                    <a:lnTo>
                      <a:pt x="0" y="30"/>
                    </a:lnTo>
                    <a:lnTo>
                      <a:pt x="0" y="14"/>
                    </a:lnTo>
                    <a:lnTo>
                      <a:pt x="5" y="0"/>
                    </a:lnTo>
                    <a:lnTo>
                      <a:pt x="20" y="0"/>
                    </a:lnTo>
                    <a:lnTo>
                      <a:pt x="35" y="3"/>
                    </a:lnTo>
                    <a:lnTo>
                      <a:pt x="42" y="12"/>
                    </a:lnTo>
                    <a:lnTo>
                      <a:pt x="28" y="26"/>
                    </a:lnTo>
                    <a:lnTo>
                      <a:pt x="16" y="34"/>
                    </a:lnTo>
                    <a:lnTo>
                      <a:pt x="9" y="38"/>
                    </a:lnTo>
                  </a:path>
                </a:pathLst>
              </a:custGeom>
              <a:solidFill>
                <a:srgbClr val="FFC0B6"/>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81" name="Line 99"/>
              <p:cNvSpPr>
                <a:spLocks noChangeShapeType="1"/>
              </p:cNvSpPr>
              <p:nvPr/>
            </p:nvSpPr>
            <p:spPr bwMode="auto">
              <a:xfrm flipH="1" flipV="1">
                <a:off x="2067" y="1529"/>
                <a:ext cx="614" cy="47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0082" name="Line 100"/>
              <p:cNvSpPr>
                <a:spLocks noChangeShapeType="1"/>
              </p:cNvSpPr>
              <p:nvPr/>
            </p:nvSpPr>
            <p:spPr bwMode="auto">
              <a:xfrm flipH="1" flipV="1">
                <a:off x="2061" y="1535"/>
                <a:ext cx="628" cy="493"/>
              </a:xfrm>
              <a:prstGeom prst="line">
                <a:avLst/>
              </a:prstGeom>
              <a:noFill/>
              <a:ln w="12700">
                <a:solidFill>
                  <a:srgbClr val="4F4F4F"/>
                </a:solidFill>
                <a:round/>
              </a:ln>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0083" name="Freeform 101"/>
              <p:cNvSpPr/>
              <p:nvPr/>
            </p:nvSpPr>
            <p:spPr bwMode="auto">
              <a:xfrm>
                <a:off x="2918" y="2350"/>
                <a:ext cx="526" cy="83"/>
              </a:xfrm>
              <a:custGeom>
                <a:avLst/>
                <a:gdLst>
                  <a:gd name="T0" fmla="*/ 525 w 526"/>
                  <a:gd name="T1" fmla="*/ 26 h 83"/>
                  <a:gd name="T2" fmla="*/ 525 w 526"/>
                  <a:gd name="T3" fmla="*/ 81 h 83"/>
                  <a:gd name="T4" fmla="*/ 367 w 526"/>
                  <a:gd name="T5" fmla="*/ 56 h 83"/>
                  <a:gd name="T6" fmla="*/ 334 w 526"/>
                  <a:gd name="T7" fmla="*/ 53 h 83"/>
                  <a:gd name="T8" fmla="*/ 316 w 526"/>
                  <a:gd name="T9" fmla="*/ 53 h 83"/>
                  <a:gd name="T10" fmla="*/ 309 w 526"/>
                  <a:gd name="T11" fmla="*/ 53 h 83"/>
                  <a:gd name="T12" fmla="*/ 300 w 526"/>
                  <a:gd name="T13" fmla="*/ 53 h 83"/>
                  <a:gd name="T14" fmla="*/ 239 w 526"/>
                  <a:gd name="T15" fmla="*/ 76 h 83"/>
                  <a:gd name="T16" fmla="*/ 214 w 526"/>
                  <a:gd name="T17" fmla="*/ 80 h 83"/>
                  <a:gd name="T18" fmla="*/ 200 w 526"/>
                  <a:gd name="T19" fmla="*/ 82 h 83"/>
                  <a:gd name="T20" fmla="*/ 188 w 526"/>
                  <a:gd name="T21" fmla="*/ 82 h 83"/>
                  <a:gd name="T22" fmla="*/ 95 w 526"/>
                  <a:gd name="T23" fmla="*/ 59 h 83"/>
                  <a:gd name="T24" fmla="*/ 28 w 526"/>
                  <a:gd name="T25" fmla="*/ 36 h 83"/>
                  <a:gd name="T26" fmla="*/ 0 w 526"/>
                  <a:gd name="T27" fmla="*/ 20 h 83"/>
                  <a:gd name="T28" fmla="*/ 39 w 526"/>
                  <a:gd name="T29" fmla="*/ 0 h 83"/>
                  <a:gd name="T30" fmla="*/ 47 w 526"/>
                  <a:gd name="T31" fmla="*/ 17 h 83"/>
                  <a:gd name="T32" fmla="*/ 61 w 526"/>
                  <a:gd name="T33" fmla="*/ 31 h 83"/>
                  <a:gd name="T34" fmla="*/ 120 w 526"/>
                  <a:gd name="T35" fmla="*/ 50 h 83"/>
                  <a:gd name="T36" fmla="*/ 156 w 526"/>
                  <a:gd name="T37" fmla="*/ 57 h 83"/>
                  <a:gd name="T38" fmla="*/ 171 w 526"/>
                  <a:gd name="T39" fmla="*/ 59 h 83"/>
                  <a:gd name="T40" fmla="*/ 183 w 526"/>
                  <a:gd name="T41" fmla="*/ 59 h 83"/>
                  <a:gd name="T42" fmla="*/ 248 w 526"/>
                  <a:gd name="T43" fmla="*/ 43 h 83"/>
                  <a:gd name="T44" fmla="*/ 261 w 526"/>
                  <a:gd name="T45" fmla="*/ 36 h 83"/>
                  <a:gd name="T46" fmla="*/ 271 w 526"/>
                  <a:gd name="T47" fmla="*/ 23 h 83"/>
                  <a:gd name="T48" fmla="*/ 280 w 526"/>
                  <a:gd name="T49" fmla="*/ 12 h 83"/>
                  <a:gd name="T50" fmla="*/ 286 w 526"/>
                  <a:gd name="T51" fmla="*/ 9 h 83"/>
                  <a:gd name="T52" fmla="*/ 294 w 526"/>
                  <a:gd name="T53" fmla="*/ 8 h 83"/>
                  <a:gd name="T54" fmla="*/ 378 w 526"/>
                  <a:gd name="T55" fmla="*/ 26 h 83"/>
                  <a:gd name="T56" fmla="*/ 419 w 526"/>
                  <a:gd name="T57" fmla="*/ 28 h 83"/>
                  <a:gd name="T58" fmla="*/ 461 w 526"/>
                  <a:gd name="T59" fmla="*/ 22 h 83"/>
                  <a:gd name="T60" fmla="*/ 477 w 526"/>
                  <a:gd name="T61" fmla="*/ 19 h 83"/>
                  <a:gd name="T62" fmla="*/ 488 w 526"/>
                  <a:gd name="T63" fmla="*/ 19 h 83"/>
                  <a:gd name="T64" fmla="*/ 499 w 526"/>
                  <a:gd name="T65" fmla="*/ 21 h 83"/>
                  <a:gd name="T66" fmla="*/ 525 w 526"/>
                  <a:gd name="T67" fmla="*/ 26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6"/>
                  <a:gd name="T103" fmla="*/ 0 h 83"/>
                  <a:gd name="T104" fmla="*/ 526 w 526"/>
                  <a:gd name="T105" fmla="*/ 83 h 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6" h="83">
                    <a:moveTo>
                      <a:pt x="525" y="26"/>
                    </a:moveTo>
                    <a:lnTo>
                      <a:pt x="525" y="81"/>
                    </a:lnTo>
                    <a:lnTo>
                      <a:pt x="367" y="56"/>
                    </a:lnTo>
                    <a:lnTo>
                      <a:pt x="334" y="53"/>
                    </a:lnTo>
                    <a:lnTo>
                      <a:pt x="316" y="53"/>
                    </a:lnTo>
                    <a:lnTo>
                      <a:pt x="309" y="53"/>
                    </a:lnTo>
                    <a:lnTo>
                      <a:pt x="300" y="53"/>
                    </a:lnTo>
                    <a:lnTo>
                      <a:pt x="239" y="76"/>
                    </a:lnTo>
                    <a:lnTo>
                      <a:pt x="214" y="80"/>
                    </a:lnTo>
                    <a:lnTo>
                      <a:pt x="200" y="82"/>
                    </a:lnTo>
                    <a:lnTo>
                      <a:pt x="188" y="82"/>
                    </a:lnTo>
                    <a:lnTo>
                      <a:pt x="95" y="59"/>
                    </a:lnTo>
                    <a:lnTo>
                      <a:pt x="28" y="36"/>
                    </a:lnTo>
                    <a:lnTo>
                      <a:pt x="0" y="20"/>
                    </a:lnTo>
                    <a:lnTo>
                      <a:pt x="39" y="0"/>
                    </a:lnTo>
                    <a:lnTo>
                      <a:pt x="47" y="17"/>
                    </a:lnTo>
                    <a:lnTo>
                      <a:pt x="61" y="31"/>
                    </a:lnTo>
                    <a:lnTo>
                      <a:pt x="120" y="50"/>
                    </a:lnTo>
                    <a:lnTo>
                      <a:pt x="156" y="57"/>
                    </a:lnTo>
                    <a:lnTo>
                      <a:pt x="171" y="59"/>
                    </a:lnTo>
                    <a:lnTo>
                      <a:pt x="183" y="59"/>
                    </a:lnTo>
                    <a:lnTo>
                      <a:pt x="248" y="43"/>
                    </a:lnTo>
                    <a:lnTo>
                      <a:pt x="261" y="36"/>
                    </a:lnTo>
                    <a:lnTo>
                      <a:pt x="271" y="23"/>
                    </a:lnTo>
                    <a:lnTo>
                      <a:pt x="280" y="12"/>
                    </a:lnTo>
                    <a:lnTo>
                      <a:pt x="286" y="9"/>
                    </a:lnTo>
                    <a:lnTo>
                      <a:pt x="294" y="8"/>
                    </a:lnTo>
                    <a:lnTo>
                      <a:pt x="378" y="26"/>
                    </a:lnTo>
                    <a:lnTo>
                      <a:pt x="419" y="28"/>
                    </a:lnTo>
                    <a:lnTo>
                      <a:pt x="461" y="22"/>
                    </a:lnTo>
                    <a:lnTo>
                      <a:pt x="477" y="19"/>
                    </a:lnTo>
                    <a:lnTo>
                      <a:pt x="488" y="19"/>
                    </a:lnTo>
                    <a:lnTo>
                      <a:pt x="499" y="21"/>
                    </a:lnTo>
                    <a:lnTo>
                      <a:pt x="525" y="26"/>
                    </a:lnTo>
                  </a:path>
                </a:pathLst>
              </a:custGeom>
              <a:solidFill>
                <a:srgbClr val="A13F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84" name="Freeform 102"/>
              <p:cNvSpPr/>
              <p:nvPr/>
            </p:nvSpPr>
            <p:spPr bwMode="auto">
              <a:xfrm>
                <a:off x="2716" y="2213"/>
                <a:ext cx="160" cy="40"/>
              </a:xfrm>
              <a:custGeom>
                <a:avLst/>
                <a:gdLst>
                  <a:gd name="T0" fmla="*/ 159 w 160"/>
                  <a:gd name="T1" fmla="*/ 12 h 40"/>
                  <a:gd name="T2" fmla="*/ 152 w 160"/>
                  <a:gd name="T3" fmla="*/ 6 h 40"/>
                  <a:gd name="T4" fmla="*/ 134 w 160"/>
                  <a:gd name="T5" fmla="*/ 0 h 40"/>
                  <a:gd name="T6" fmla="*/ 124 w 160"/>
                  <a:gd name="T7" fmla="*/ 0 h 40"/>
                  <a:gd name="T8" fmla="*/ 114 w 160"/>
                  <a:gd name="T9" fmla="*/ 3 h 40"/>
                  <a:gd name="T10" fmla="*/ 63 w 160"/>
                  <a:gd name="T11" fmla="*/ 10 h 40"/>
                  <a:gd name="T12" fmla="*/ 56 w 160"/>
                  <a:gd name="T13" fmla="*/ 27 h 40"/>
                  <a:gd name="T14" fmla="*/ 37 w 160"/>
                  <a:gd name="T15" fmla="*/ 23 h 40"/>
                  <a:gd name="T16" fmla="*/ 17 w 160"/>
                  <a:gd name="T17" fmla="*/ 15 h 40"/>
                  <a:gd name="T18" fmla="*/ 0 w 160"/>
                  <a:gd name="T19" fmla="*/ 9 h 40"/>
                  <a:gd name="T20" fmla="*/ 39 w 160"/>
                  <a:gd name="T21" fmla="*/ 37 h 40"/>
                  <a:gd name="T22" fmla="*/ 56 w 160"/>
                  <a:gd name="T23" fmla="*/ 39 h 40"/>
                  <a:gd name="T24" fmla="*/ 76 w 160"/>
                  <a:gd name="T25" fmla="*/ 37 h 40"/>
                  <a:gd name="T26" fmla="*/ 159 w 160"/>
                  <a:gd name="T27" fmla="*/ 12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0"/>
                  <a:gd name="T43" fmla="*/ 0 h 40"/>
                  <a:gd name="T44" fmla="*/ 160 w 16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0" h="40">
                    <a:moveTo>
                      <a:pt x="159" y="12"/>
                    </a:moveTo>
                    <a:lnTo>
                      <a:pt x="152" y="6"/>
                    </a:lnTo>
                    <a:lnTo>
                      <a:pt x="134" y="0"/>
                    </a:lnTo>
                    <a:lnTo>
                      <a:pt x="124" y="0"/>
                    </a:lnTo>
                    <a:lnTo>
                      <a:pt x="114" y="3"/>
                    </a:lnTo>
                    <a:lnTo>
                      <a:pt x="63" y="10"/>
                    </a:lnTo>
                    <a:lnTo>
                      <a:pt x="56" y="27"/>
                    </a:lnTo>
                    <a:lnTo>
                      <a:pt x="37" y="23"/>
                    </a:lnTo>
                    <a:lnTo>
                      <a:pt x="17" y="15"/>
                    </a:lnTo>
                    <a:lnTo>
                      <a:pt x="0" y="9"/>
                    </a:lnTo>
                    <a:lnTo>
                      <a:pt x="39" y="37"/>
                    </a:lnTo>
                    <a:lnTo>
                      <a:pt x="56" y="39"/>
                    </a:lnTo>
                    <a:lnTo>
                      <a:pt x="76" y="37"/>
                    </a:lnTo>
                    <a:lnTo>
                      <a:pt x="159" y="12"/>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85" name="Freeform 103"/>
              <p:cNvSpPr/>
              <p:nvPr/>
            </p:nvSpPr>
            <p:spPr bwMode="auto">
              <a:xfrm>
                <a:off x="2752" y="2282"/>
                <a:ext cx="172" cy="39"/>
              </a:xfrm>
              <a:custGeom>
                <a:avLst/>
                <a:gdLst>
                  <a:gd name="T0" fmla="*/ 171 w 172"/>
                  <a:gd name="T1" fmla="*/ 4 h 39"/>
                  <a:gd name="T2" fmla="*/ 159 w 172"/>
                  <a:gd name="T3" fmla="*/ 0 h 39"/>
                  <a:gd name="T4" fmla="*/ 135 w 172"/>
                  <a:gd name="T5" fmla="*/ 1 h 39"/>
                  <a:gd name="T6" fmla="*/ 128 w 172"/>
                  <a:gd name="T7" fmla="*/ 6 h 39"/>
                  <a:gd name="T8" fmla="*/ 119 w 172"/>
                  <a:gd name="T9" fmla="*/ 12 h 39"/>
                  <a:gd name="T10" fmla="*/ 99 w 172"/>
                  <a:gd name="T11" fmla="*/ 12 h 39"/>
                  <a:gd name="T12" fmla="*/ 85 w 172"/>
                  <a:gd name="T13" fmla="*/ 12 h 39"/>
                  <a:gd name="T14" fmla="*/ 75 w 172"/>
                  <a:gd name="T15" fmla="*/ 13 h 39"/>
                  <a:gd name="T16" fmla="*/ 57 w 172"/>
                  <a:gd name="T17" fmla="*/ 25 h 39"/>
                  <a:gd name="T18" fmla="*/ 48 w 172"/>
                  <a:gd name="T19" fmla="*/ 25 h 39"/>
                  <a:gd name="T20" fmla="*/ 35 w 172"/>
                  <a:gd name="T21" fmla="*/ 25 h 39"/>
                  <a:gd name="T22" fmla="*/ 12 w 172"/>
                  <a:gd name="T23" fmla="*/ 19 h 39"/>
                  <a:gd name="T24" fmla="*/ 4 w 172"/>
                  <a:gd name="T25" fmla="*/ 19 h 39"/>
                  <a:gd name="T26" fmla="*/ 0 w 172"/>
                  <a:gd name="T27" fmla="*/ 21 h 39"/>
                  <a:gd name="T28" fmla="*/ 44 w 172"/>
                  <a:gd name="T29" fmla="*/ 36 h 39"/>
                  <a:gd name="T30" fmla="*/ 61 w 172"/>
                  <a:gd name="T31" fmla="*/ 38 h 39"/>
                  <a:gd name="T32" fmla="*/ 82 w 172"/>
                  <a:gd name="T33" fmla="*/ 34 h 39"/>
                  <a:gd name="T34" fmla="*/ 171 w 172"/>
                  <a:gd name="T35" fmla="*/ 4 h 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2"/>
                  <a:gd name="T55" fmla="*/ 0 h 39"/>
                  <a:gd name="T56" fmla="*/ 172 w 172"/>
                  <a:gd name="T57" fmla="*/ 39 h 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2" h="39">
                    <a:moveTo>
                      <a:pt x="171" y="4"/>
                    </a:moveTo>
                    <a:lnTo>
                      <a:pt x="159" y="0"/>
                    </a:lnTo>
                    <a:lnTo>
                      <a:pt x="135" y="1"/>
                    </a:lnTo>
                    <a:lnTo>
                      <a:pt x="128" y="6"/>
                    </a:lnTo>
                    <a:lnTo>
                      <a:pt x="119" y="12"/>
                    </a:lnTo>
                    <a:lnTo>
                      <a:pt x="99" y="12"/>
                    </a:lnTo>
                    <a:lnTo>
                      <a:pt x="85" y="12"/>
                    </a:lnTo>
                    <a:lnTo>
                      <a:pt x="75" y="13"/>
                    </a:lnTo>
                    <a:lnTo>
                      <a:pt x="57" y="25"/>
                    </a:lnTo>
                    <a:lnTo>
                      <a:pt x="48" y="25"/>
                    </a:lnTo>
                    <a:lnTo>
                      <a:pt x="35" y="25"/>
                    </a:lnTo>
                    <a:lnTo>
                      <a:pt x="12" y="19"/>
                    </a:lnTo>
                    <a:lnTo>
                      <a:pt x="4" y="19"/>
                    </a:lnTo>
                    <a:lnTo>
                      <a:pt x="0" y="21"/>
                    </a:lnTo>
                    <a:lnTo>
                      <a:pt x="44" y="36"/>
                    </a:lnTo>
                    <a:lnTo>
                      <a:pt x="61" y="38"/>
                    </a:lnTo>
                    <a:lnTo>
                      <a:pt x="82" y="34"/>
                    </a:lnTo>
                    <a:lnTo>
                      <a:pt x="171" y="4"/>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86" name="Freeform 104"/>
              <p:cNvSpPr/>
              <p:nvPr/>
            </p:nvSpPr>
            <p:spPr bwMode="auto">
              <a:xfrm>
                <a:off x="2817" y="2338"/>
                <a:ext cx="157" cy="54"/>
              </a:xfrm>
              <a:custGeom>
                <a:avLst/>
                <a:gdLst>
                  <a:gd name="T0" fmla="*/ 156 w 157"/>
                  <a:gd name="T1" fmla="*/ 0 h 54"/>
                  <a:gd name="T2" fmla="*/ 136 w 157"/>
                  <a:gd name="T3" fmla="*/ 3 h 54"/>
                  <a:gd name="T4" fmla="*/ 111 w 157"/>
                  <a:gd name="T5" fmla="*/ 7 h 54"/>
                  <a:gd name="T6" fmla="*/ 94 w 157"/>
                  <a:gd name="T7" fmla="*/ 17 h 54"/>
                  <a:gd name="T8" fmla="*/ 77 w 157"/>
                  <a:gd name="T9" fmla="*/ 29 h 54"/>
                  <a:gd name="T10" fmla="*/ 61 w 157"/>
                  <a:gd name="T11" fmla="*/ 27 h 54"/>
                  <a:gd name="T12" fmla="*/ 51 w 157"/>
                  <a:gd name="T13" fmla="*/ 26 h 54"/>
                  <a:gd name="T14" fmla="*/ 41 w 157"/>
                  <a:gd name="T15" fmla="*/ 28 h 54"/>
                  <a:gd name="T16" fmla="*/ 40 w 157"/>
                  <a:gd name="T17" fmla="*/ 34 h 54"/>
                  <a:gd name="T18" fmla="*/ 38 w 157"/>
                  <a:gd name="T19" fmla="*/ 40 h 54"/>
                  <a:gd name="T20" fmla="*/ 35 w 157"/>
                  <a:gd name="T21" fmla="*/ 45 h 54"/>
                  <a:gd name="T22" fmla="*/ 32 w 157"/>
                  <a:gd name="T23" fmla="*/ 46 h 54"/>
                  <a:gd name="T24" fmla="*/ 0 w 157"/>
                  <a:gd name="T25" fmla="*/ 43 h 54"/>
                  <a:gd name="T26" fmla="*/ 22 w 157"/>
                  <a:gd name="T27" fmla="*/ 53 h 54"/>
                  <a:gd name="T28" fmla="*/ 31 w 157"/>
                  <a:gd name="T29" fmla="*/ 53 h 54"/>
                  <a:gd name="T30" fmla="*/ 41 w 157"/>
                  <a:gd name="T31" fmla="*/ 53 h 54"/>
                  <a:gd name="T32" fmla="*/ 61 w 157"/>
                  <a:gd name="T33" fmla="*/ 48 h 54"/>
                  <a:gd name="T34" fmla="*/ 136 w 157"/>
                  <a:gd name="T35" fmla="*/ 11 h 54"/>
                  <a:gd name="T36" fmla="*/ 156 w 157"/>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7"/>
                  <a:gd name="T58" fmla="*/ 0 h 54"/>
                  <a:gd name="T59" fmla="*/ 157 w 157"/>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7" h="54">
                    <a:moveTo>
                      <a:pt x="156" y="0"/>
                    </a:moveTo>
                    <a:lnTo>
                      <a:pt x="136" y="3"/>
                    </a:lnTo>
                    <a:lnTo>
                      <a:pt x="111" y="7"/>
                    </a:lnTo>
                    <a:lnTo>
                      <a:pt x="94" y="17"/>
                    </a:lnTo>
                    <a:lnTo>
                      <a:pt x="77" y="29"/>
                    </a:lnTo>
                    <a:lnTo>
                      <a:pt x="61" y="27"/>
                    </a:lnTo>
                    <a:lnTo>
                      <a:pt x="51" y="26"/>
                    </a:lnTo>
                    <a:lnTo>
                      <a:pt x="41" y="28"/>
                    </a:lnTo>
                    <a:lnTo>
                      <a:pt x="40" y="34"/>
                    </a:lnTo>
                    <a:lnTo>
                      <a:pt x="38" y="40"/>
                    </a:lnTo>
                    <a:lnTo>
                      <a:pt x="35" y="45"/>
                    </a:lnTo>
                    <a:lnTo>
                      <a:pt x="32" y="46"/>
                    </a:lnTo>
                    <a:lnTo>
                      <a:pt x="0" y="43"/>
                    </a:lnTo>
                    <a:lnTo>
                      <a:pt x="22" y="53"/>
                    </a:lnTo>
                    <a:lnTo>
                      <a:pt x="31" y="53"/>
                    </a:lnTo>
                    <a:lnTo>
                      <a:pt x="41" y="53"/>
                    </a:lnTo>
                    <a:lnTo>
                      <a:pt x="61" y="48"/>
                    </a:lnTo>
                    <a:lnTo>
                      <a:pt x="136" y="11"/>
                    </a:lnTo>
                    <a:lnTo>
                      <a:pt x="156" y="0"/>
                    </a:lnTo>
                  </a:path>
                </a:pathLst>
              </a:custGeom>
              <a:solidFill>
                <a:srgbClr val="BF4100"/>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sp>
            <p:nvSpPr>
              <p:cNvPr id="130087" name="Freeform 105"/>
              <p:cNvSpPr/>
              <p:nvPr/>
            </p:nvSpPr>
            <p:spPr bwMode="auto">
              <a:xfrm>
                <a:off x="2921" y="2367"/>
                <a:ext cx="522" cy="78"/>
              </a:xfrm>
              <a:custGeom>
                <a:avLst/>
                <a:gdLst>
                  <a:gd name="T0" fmla="*/ 521 w 522"/>
                  <a:gd name="T1" fmla="*/ 77 h 78"/>
                  <a:gd name="T2" fmla="*/ 300 w 522"/>
                  <a:gd name="T3" fmla="*/ 48 h 78"/>
                  <a:gd name="T4" fmla="*/ 264 w 522"/>
                  <a:gd name="T5" fmla="*/ 56 h 78"/>
                  <a:gd name="T6" fmla="*/ 201 w 522"/>
                  <a:gd name="T7" fmla="*/ 68 h 78"/>
                  <a:gd name="T8" fmla="*/ 167 w 522"/>
                  <a:gd name="T9" fmla="*/ 65 h 78"/>
                  <a:gd name="T10" fmla="*/ 94 w 522"/>
                  <a:gd name="T11" fmla="*/ 44 h 78"/>
                  <a:gd name="T12" fmla="*/ 15 w 522"/>
                  <a:gd name="T13" fmla="*/ 14 h 78"/>
                  <a:gd name="T14" fmla="*/ 0 w 522"/>
                  <a:gd name="T15" fmla="*/ 0 h 78"/>
                  <a:gd name="T16" fmla="*/ 0 60000 65536"/>
                  <a:gd name="T17" fmla="*/ 0 60000 65536"/>
                  <a:gd name="T18" fmla="*/ 0 60000 65536"/>
                  <a:gd name="T19" fmla="*/ 0 60000 65536"/>
                  <a:gd name="T20" fmla="*/ 0 60000 65536"/>
                  <a:gd name="T21" fmla="*/ 0 60000 65536"/>
                  <a:gd name="T22" fmla="*/ 0 60000 65536"/>
                  <a:gd name="T23" fmla="*/ 0 60000 65536"/>
                  <a:gd name="T24" fmla="*/ 0 w 522"/>
                  <a:gd name="T25" fmla="*/ 0 h 78"/>
                  <a:gd name="T26" fmla="*/ 522 w 522"/>
                  <a:gd name="T27" fmla="*/ 78 h 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2" h="78">
                    <a:moveTo>
                      <a:pt x="521" y="77"/>
                    </a:moveTo>
                    <a:lnTo>
                      <a:pt x="300" y="48"/>
                    </a:lnTo>
                    <a:lnTo>
                      <a:pt x="264" y="56"/>
                    </a:lnTo>
                    <a:lnTo>
                      <a:pt x="201" y="68"/>
                    </a:lnTo>
                    <a:lnTo>
                      <a:pt x="167" y="65"/>
                    </a:lnTo>
                    <a:lnTo>
                      <a:pt x="94" y="44"/>
                    </a:lnTo>
                    <a:lnTo>
                      <a:pt x="15" y="14"/>
                    </a:lnTo>
                    <a:lnTo>
                      <a:pt x="0" y="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130088" name="Freeform 106"/>
              <p:cNvSpPr/>
              <p:nvPr/>
            </p:nvSpPr>
            <p:spPr bwMode="auto">
              <a:xfrm>
                <a:off x="2722" y="1969"/>
                <a:ext cx="721" cy="212"/>
              </a:xfrm>
              <a:custGeom>
                <a:avLst/>
                <a:gdLst>
                  <a:gd name="T0" fmla="*/ 720 w 721"/>
                  <a:gd name="T1" fmla="*/ 205 h 212"/>
                  <a:gd name="T2" fmla="*/ 608 w 721"/>
                  <a:gd name="T3" fmla="*/ 211 h 212"/>
                  <a:gd name="T4" fmla="*/ 596 w 721"/>
                  <a:gd name="T5" fmla="*/ 211 h 212"/>
                  <a:gd name="T6" fmla="*/ 588 w 721"/>
                  <a:gd name="T7" fmla="*/ 211 h 212"/>
                  <a:gd name="T8" fmla="*/ 580 w 721"/>
                  <a:gd name="T9" fmla="*/ 211 h 212"/>
                  <a:gd name="T10" fmla="*/ 564 w 721"/>
                  <a:gd name="T11" fmla="*/ 211 h 212"/>
                  <a:gd name="T12" fmla="*/ 552 w 721"/>
                  <a:gd name="T13" fmla="*/ 209 h 212"/>
                  <a:gd name="T14" fmla="*/ 508 w 721"/>
                  <a:gd name="T15" fmla="*/ 189 h 212"/>
                  <a:gd name="T16" fmla="*/ 467 w 721"/>
                  <a:gd name="T17" fmla="*/ 163 h 212"/>
                  <a:gd name="T18" fmla="*/ 415 w 721"/>
                  <a:gd name="T19" fmla="*/ 116 h 212"/>
                  <a:gd name="T20" fmla="*/ 321 w 721"/>
                  <a:gd name="T21" fmla="*/ 58 h 212"/>
                  <a:gd name="T22" fmla="*/ 260 w 721"/>
                  <a:gd name="T23" fmla="*/ 25 h 212"/>
                  <a:gd name="T24" fmla="*/ 194 w 721"/>
                  <a:gd name="T25" fmla="*/ 0 h 212"/>
                  <a:gd name="T26" fmla="*/ 186 w 721"/>
                  <a:gd name="T27" fmla="*/ 0 h 212"/>
                  <a:gd name="T28" fmla="*/ 175 w 721"/>
                  <a:gd name="T29" fmla="*/ 0 h 212"/>
                  <a:gd name="T30" fmla="*/ 153 w 721"/>
                  <a:gd name="T31" fmla="*/ 1 h 212"/>
                  <a:gd name="T32" fmla="*/ 75 w 721"/>
                  <a:gd name="T33" fmla="*/ 14 h 212"/>
                  <a:gd name="T34" fmla="*/ 0 w 721"/>
                  <a:gd name="T35" fmla="*/ 20 h 2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21"/>
                  <a:gd name="T55" fmla="*/ 0 h 212"/>
                  <a:gd name="T56" fmla="*/ 721 w 721"/>
                  <a:gd name="T57" fmla="*/ 212 h 2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21" h="212">
                    <a:moveTo>
                      <a:pt x="720" y="205"/>
                    </a:moveTo>
                    <a:lnTo>
                      <a:pt x="608" y="211"/>
                    </a:lnTo>
                    <a:lnTo>
                      <a:pt x="596" y="211"/>
                    </a:lnTo>
                    <a:lnTo>
                      <a:pt x="588" y="211"/>
                    </a:lnTo>
                    <a:lnTo>
                      <a:pt x="580" y="211"/>
                    </a:lnTo>
                    <a:lnTo>
                      <a:pt x="564" y="211"/>
                    </a:lnTo>
                    <a:lnTo>
                      <a:pt x="552" y="209"/>
                    </a:lnTo>
                    <a:lnTo>
                      <a:pt x="508" y="189"/>
                    </a:lnTo>
                    <a:lnTo>
                      <a:pt x="467" y="163"/>
                    </a:lnTo>
                    <a:lnTo>
                      <a:pt x="415" y="116"/>
                    </a:lnTo>
                    <a:lnTo>
                      <a:pt x="321" y="58"/>
                    </a:lnTo>
                    <a:lnTo>
                      <a:pt x="260" y="25"/>
                    </a:lnTo>
                    <a:lnTo>
                      <a:pt x="194" y="0"/>
                    </a:lnTo>
                    <a:lnTo>
                      <a:pt x="186" y="0"/>
                    </a:lnTo>
                    <a:lnTo>
                      <a:pt x="175" y="0"/>
                    </a:lnTo>
                    <a:lnTo>
                      <a:pt x="153" y="1"/>
                    </a:lnTo>
                    <a:lnTo>
                      <a:pt x="75" y="14"/>
                    </a:lnTo>
                    <a:lnTo>
                      <a:pt x="0" y="20"/>
                    </a:lnTo>
                  </a:path>
                </a:pathLst>
              </a:custGeom>
              <a:noFill/>
              <a:ln w="12700" cap="rnd">
                <a:solidFill>
                  <a:srgbClr val="400000"/>
                </a:solidFill>
                <a:round/>
              </a:ln>
              <a:extLst>
                <a:ext uri="{909E8E84-426E-40DD-AFC4-6F175D3DCCD1}">
                  <a14:hiddenFill xmlns:a14="http://schemas.microsoft.com/office/drawing/2010/main">
                    <a:solidFill>
                      <a:srgbClr val="FFFFFF"/>
                    </a:solidFill>
                  </a14:hiddenFill>
                </a:ext>
              </a:extLst>
            </p:spPr>
            <p:txBody>
              <a:bodyPr lIns="116446" tIns="58222" rIns="116446" bIns="58222"/>
              <a:lstStyle/>
              <a:p>
                <a:endParaRPr lang="zh-CN" altLang="en-US" sz="100"/>
              </a:p>
            </p:txBody>
          </p:sp>
          <p:sp>
            <p:nvSpPr>
              <p:cNvPr id="130089" name="Freeform 107"/>
              <p:cNvSpPr/>
              <p:nvPr/>
            </p:nvSpPr>
            <p:spPr bwMode="auto">
              <a:xfrm>
                <a:off x="3012" y="2330"/>
                <a:ext cx="134" cy="48"/>
              </a:xfrm>
              <a:custGeom>
                <a:avLst/>
                <a:gdLst>
                  <a:gd name="T0" fmla="*/ 129 w 134"/>
                  <a:gd name="T1" fmla="*/ 14 h 48"/>
                  <a:gd name="T2" fmla="*/ 122 w 134"/>
                  <a:gd name="T3" fmla="*/ 4 h 48"/>
                  <a:gd name="T4" fmla="*/ 95 w 134"/>
                  <a:gd name="T5" fmla="*/ 0 h 48"/>
                  <a:gd name="T6" fmla="*/ 81 w 134"/>
                  <a:gd name="T7" fmla="*/ 0 h 48"/>
                  <a:gd name="T8" fmla="*/ 74 w 134"/>
                  <a:gd name="T9" fmla="*/ 0 h 48"/>
                  <a:gd name="T10" fmla="*/ 67 w 134"/>
                  <a:gd name="T11" fmla="*/ 0 h 48"/>
                  <a:gd name="T12" fmla="*/ 61 w 134"/>
                  <a:gd name="T13" fmla="*/ 0 h 48"/>
                  <a:gd name="T14" fmla="*/ 51 w 134"/>
                  <a:gd name="T15" fmla="*/ 0 h 48"/>
                  <a:gd name="T16" fmla="*/ 33 w 134"/>
                  <a:gd name="T17" fmla="*/ 4 h 48"/>
                  <a:gd name="T18" fmla="*/ 14 w 134"/>
                  <a:gd name="T19" fmla="*/ 11 h 48"/>
                  <a:gd name="T20" fmla="*/ 0 w 134"/>
                  <a:gd name="T21" fmla="*/ 25 h 48"/>
                  <a:gd name="T22" fmla="*/ 8 w 134"/>
                  <a:gd name="T23" fmla="*/ 42 h 48"/>
                  <a:gd name="T24" fmla="*/ 25 w 134"/>
                  <a:gd name="T25" fmla="*/ 46 h 48"/>
                  <a:gd name="T26" fmla="*/ 35 w 134"/>
                  <a:gd name="T27" fmla="*/ 47 h 48"/>
                  <a:gd name="T28" fmla="*/ 45 w 134"/>
                  <a:gd name="T29" fmla="*/ 46 h 48"/>
                  <a:gd name="T30" fmla="*/ 73 w 134"/>
                  <a:gd name="T31" fmla="*/ 33 h 48"/>
                  <a:gd name="T32" fmla="*/ 79 w 134"/>
                  <a:gd name="T33" fmla="*/ 27 h 48"/>
                  <a:gd name="T34" fmla="*/ 92 w 134"/>
                  <a:gd name="T35" fmla="*/ 42 h 48"/>
                  <a:gd name="T36" fmla="*/ 106 w 134"/>
                  <a:gd name="T37" fmla="*/ 33 h 48"/>
                  <a:gd name="T38" fmla="*/ 106 w 134"/>
                  <a:gd name="T39" fmla="*/ 25 h 48"/>
                  <a:gd name="T40" fmla="*/ 116 w 134"/>
                  <a:gd name="T41" fmla="*/ 29 h 48"/>
                  <a:gd name="T42" fmla="*/ 133 w 134"/>
                  <a:gd name="T43" fmla="*/ 27 h 48"/>
                  <a:gd name="T44" fmla="*/ 131 w 134"/>
                  <a:gd name="T45" fmla="*/ 11 h 48"/>
                  <a:gd name="T46" fmla="*/ 129 w 134"/>
                  <a:gd name="T47" fmla="*/ 14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4"/>
                  <a:gd name="T73" fmla="*/ 0 h 48"/>
                  <a:gd name="T74" fmla="*/ 134 w 134"/>
                  <a:gd name="T75" fmla="*/ 48 h 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4" h="48">
                    <a:moveTo>
                      <a:pt x="129" y="14"/>
                    </a:moveTo>
                    <a:lnTo>
                      <a:pt x="122" y="4"/>
                    </a:lnTo>
                    <a:lnTo>
                      <a:pt x="95" y="0"/>
                    </a:lnTo>
                    <a:lnTo>
                      <a:pt x="81" y="0"/>
                    </a:lnTo>
                    <a:lnTo>
                      <a:pt x="74" y="0"/>
                    </a:lnTo>
                    <a:lnTo>
                      <a:pt x="67" y="0"/>
                    </a:lnTo>
                    <a:lnTo>
                      <a:pt x="61" y="0"/>
                    </a:lnTo>
                    <a:lnTo>
                      <a:pt x="51" y="0"/>
                    </a:lnTo>
                    <a:lnTo>
                      <a:pt x="33" y="4"/>
                    </a:lnTo>
                    <a:lnTo>
                      <a:pt x="14" y="11"/>
                    </a:lnTo>
                    <a:lnTo>
                      <a:pt x="0" y="25"/>
                    </a:lnTo>
                    <a:lnTo>
                      <a:pt x="8" y="42"/>
                    </a:lnTo>
                    <a:lnTo>
                      <a:pt x="25" y="46"/>
                    </a:lnTo>
                    <a:lnTo>
                      <a:pt x="35" y="47"/>
                    </a:lnTo>
                    <a:lnTo>
                      <a:pt x="45" y="46"/>
                    </a:lnTo>
                    <a:lnTo>
                      <a:pt x="73" y="33"/>
                    </a:lnTo>
                    <a:lnTo>
                      <a:pt x="79" y="27"/>
                    </a:lnTo>
                    <a:lnTo>
                      <a:pt x="92" y="42"/>
                    </a:lnTo>
                    <a:lnTo>
                      <a:pt x="106" y="33"/>
                    </a:lnTo>
                    <a:lnTo>
                      <a:pt x="106" y="25"/>
                    </a:lnTo>
                    <a:lnTo>
                      <a:pt x="116" y="29"/>
                    </a:lnTo>
                    <a:lnTo>
                      <a:pt x="133" y="27"/>
                    </a:lnTo>
                    <a:lnTo>
                      <a:pt x="131" y="11"/>
                    </a:lnTo>
                    <a:lnTo>
                      <a:pt x="129" y="14"/>
                    </a:lnTo>
                  </a:path>
                </a:pathLst>
              </a:custGeom>
              <a:solidFill>
                <a:srgbClr val="FF8141"/>
              </a:solidFill>
              <a:ln>
                <a:noFill/>
              </a:ln>
              <a:extLst>
                <a:ext uri="{91240B29-F687-4F45-9708-019B960494DF}">
                  <a14:hiddenLine xmlns:a14="http://schemas.microsoft.com/office/drawing/2010/main" w="12700">
                    <a:solidFill>
                      <a:srgbClr val="000000"/>
                    </a:solidFill>
                    <a:round/>
                  </a14:hiddenLine>
                </a:ext>
              </a:extLst>
            </p:spPr>
            <p:txBody>
              <a:bodyPr lIns="116446" tIns="58222" rIns="116446" bIns="58222"/>
              <a:lstStyle/>
              <a:p>
                <a:endParaRPr lang="zh-CN" altLang="en-US" sz="100"/>
              </a:p>
            </p:txBody>
          </p:sp>
        </p:grpSp>
        <p:sp>
          <p:nvSpPr>
            <p:cNvPr id="130057" name="AutoShape 108"/>
            <p:cNvSpPr>
              <a:spLocks noChangeArrowheads="1"/>
            </p:cNvSpPr>
            <p:nvPr/>
          </p:nvSpPr>
          <p:spPr bwMode="auto">
            <a:xfrm>
              <a:off x="769938" y="4524591"/>
              <a:ext cx="2497137" cy="455612"/>
            </a:xfrm>
            <a:prstGeom prst="roundRect">
              <a:avLst>
                <a:gd name="adj" fmla="val 4167"/>
              </a:avLst>
            </a:prstGeom>
            <a:solidFill>
              <a:srgbClr val="BBCDE3"/>
            </a:solidFill>
            <a:ln w="9525" algn="ctr">
              <a:solidFill>
                <a:srgbClr val="4D4D4D"/>
              </a:solidFill>
              <a:round/>
            </a:ln>
            <a:effectLst>
              <a:outerShdw dist="35921" dir="2700000" algn="ctr" rotWithShape="0">
                <a:srgbClr val="AFAFAF"/>
              </a:outerShdw>
            </a:effectLst>
          </p:spPr>
          <p:txBody>
            <a:bodyPr lIns="112503" tIns="56252" rIns="112503" bIns="56252"/>
            <a:lstStyle>
              <a:lvl1pPr defTabSz="4464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4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4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4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4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b="1">
                  <a:solidFill>
                    <a:srgbClr val="0000CC"/>
                  </a:solidFill>
                  <a:latin typeface="Arial" panose="020B0604020202020204" pitchFamily="34" charset="0"/>
                  <a:ea typeface="宋体" panose="02010600030101010101" pitchFamily="2" charset="-122"/>
                </a:rPr>
                <a:t>影响愈发深远</a:t>
              </a:r>
              <a:endParaRPr lang="zh-CN" altLang="en-US" sz="2955" b="1">
                <a:solidFill>
                  <a:srgbClr val="0000CC"/>
                </a:solidFill>
                <a:latin typeface="Arial" panose="020B0604020202020204" pitchFamily="34" charset="0"/>
                <a:ea typeface="宋体" panose="02010600030101010101" pitchFamily="2" charset="-122"/>
              </a:endParaRPr>
            </a:p>
            <a:p>
              <a:pPr>
                <a:spcBef>
                  <a:spcPct val="0"/>
                </a:spcBef>
                <a:buClrTx/>
                <a:buFontTx/>
                <a:buNone/>
              </a:pPr>
              <a:endParaRPr lang="zh-CN" altLang="en-US" sz="2955" b="1">
                <a:solidFill>
                  <a:srgbClr val="0000CC"/>
                </a:solidFill>
                <a:latin typeface="Arial" panose="020B0604020202020204" pitchFamily="34" charset="0"/>
                <a:ea typeface="宋体" panose="02010600030101010101" pitchFamily="2" charset="-122"/>
              </a:endParaRPr>
            </a:p>
          </p:txBody>
        </p:sp>
      </p:grpSp>
      <p:pic>
        <p:nvPicPr>
          <p:cNvPr id="9" name="图片 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652478" y="62524"/>
            <a:ext cx="5406292" cy="6914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0291"/>
                                        </p:tgtEl>
                                        <p:attrNameLst>
                                          <p:attrName>style.visibility</p:attrName>
                                        </p:attrNameLst>
                                      </p:cBhvr>
                                      <p:to>
                                        <p:strVal val="visible"/>
                                      </p:to>
                                    </p:set>
                                    <p:anim calcmode="lin" valueType="num">
                                      <p:cBhvr additive="base">
                                        <p:cTn id="7" dur="500" fill="hold"/>
                                        <p:tgtEl>
                                          <p:spTgt spid="140291"/>
                                        </p:tgtEl>
                                        <p:attrNameLst>
                                          <p:attrName>ppt_x</p:attrName>
                                        </p:attrNameLst>
                                      </p:cBhvr>
                                      <p:tavLst>
                                        <p:tav tm="0">
                                          <p:val>
                                            <p:strVal val="0-#ppt_w/2"/>
                                          </p:val>
                                        </p:tav>
                                        <p:tav tm="100000">
                                          <p:val>
                                            <p:strVal val="#ppt_x"/>
                                          </p:val>
                                        </p:tav>
                                      </p:tavLst>
                                    </p:anim>
                                    <p:anim calcmode="lin" valueType="num">
                                      <p:cBhvr additive="base">
                                        <p:cTn id="8" dur="500" fill="hold"/>
                                        <p:tgtEl>
                                          <p:spTgt spid="14029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par>
                          <p:cTn id="15" fill="hold">
                            <p:stCondLst>
                              <p:cond delay="1000"/>
                            </p:stCondLst>
                            <p:childTnLst>
                              <p:par>
                                <p:cTn id="16" presetID="2" presetClass="entr" presetSubtype="1"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0-#ppt_h/2"/>
                                          </p:val>
                                        </p:tav>
                                        <p:tav tm="100000">
                                          <p:val>
                                            <p:strVal val="#ppt_y"/>
                                          </p:val>
                                        </p:tav>
                                      </p:tavLst>
                                    </p:anim>
                                  </p:childTnLst>
                                </p:cTn>
                              </p:par>
                            </p:childTnLst>
                          </p:cTn>
                        </p:par>
                        <p:par>
                          <p:cTn id="20" fill="hold">
                            <p:stCondLst>
                              <p:cond delay="1500"/>
                            </p:stCondLst>
                            <p:childTnLst>
                              <p:par>
                                <p:cTn id="21" presetID="2" presetClass="entr" presetSubtype="8"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4"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idx="4294967295"/>
          </p:nvPr>
        </p:nvSpPr>
        <p:spPr>
          <a:xfrm>
            <a:off x="1309077" y="183662"/>
            <a:ext cx="8684847" cy="601785"/>
          </a:xfrm>
        </p:spPr>
        <p:txBody>
          <a:bodyPr lIns="116446" tIns="58222" rIns="116446" bIns="58222"/>
          <a:lstStyle/>
          <a:p>
            <a:r>
              <a:rPr lang="zh-CN" altLang="en-US">
                <a:solidFill>
                  <a:srgbClr val="0000FF"/>
                </a:solidFill>
              </a:rPr>
              <a:t>明确信息安全责任的重要性</a:t>
            </a:r>
            <a:endParaRPr lang="zh-CN" altLang="en-US">
              <a:solidFill>
                <a:srgbClr val="0000FF"/>
              </a:solidFill>
            </a:endParaRPr>
          </a:p>
        </p:txBody>
      </p:sp>
      <p:pic>
        <p:nvPicPr>
          <p:cNvPr id="141316" name="Picture 4" descr="zere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7446" y="3112477"/>
            <a:ext cx="2387600" cy="342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17" name="Picture 5" descr="击鼓传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2354" y="2631831"/>
            <a:ext cx="4542692" cy="438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221154" y="1123462"/>
            <a:ext cx="10369061" cy="1456690"/>
          </a:xfrm>
          <a:prstGeom prst="rect">
            <a:avLst/>
          </a:prstGeom>
        </p:spPr>
        <p:txBody>
          <a:bodyPr>
            <a:spAutoFit/>
          </a:bodyPr>
          <a:lstStyle/>
          <a:p>
            <a:pPr>
              <a:defRPr/>
            </a:pPr>
            <a:r>
              <a:rPr lang="zh-CN" altLang="en-US" sz="2955" b="1" dirty="0">
                <a:latin typeface="+mn-ea"/>
                <a:ea typeface="+mn-ea"/>
              </a:rPr>
              <a:t>在一个机构中，安全角色与责任的不明确是实施信息安全过程中的最大障碍，建立安全组织与落实责任是实施信息安全管理的第一步。 </a:t>
            </a:r>
            <a:endParaRPr lang="zh-CN" altLang="en-US" sz="2955" b="1"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41317"/>
                                        </p:tgtEl>
                                        <p:attrNameLst>
                                          <p:attrName>style.visibility</p:attrName>
                                        </p:attrNameLst>
                                      </p:cBhvr>
                                      <p:to>
                                        <p:strVal val="visible"/>
                                      </p:to>
                                    </p:set>
                                    <p:anim calcmode="lin" valueType="num">
                                      <p:cBhvr>
                                        <p:cTn id="13" dur="500" fill="hold"/>
                                        <p:tgtEl>
                                          <p:spTgt spid="141317"/>
                                        </p:tgtEl>
                                        <p:attrNameLst>
                                          <p:attrName>ppt_w</p:attrName>
                                        </p:attrNameLst>
                                      </p:cBhvr>
                                      <p:tavLst>
                                        <p:tav tm="0">
                                          <p:val>
                                            <p:fltVal val="0"/>
                                          </p:val>
                                        </p:tav>
                                        <p:tav tm="100000">
                                          <p:val>
                                            <p:strVal val="#ppt_w"/>
                                          </p:val>
                                        </p:tav>
                                      </p:tavLst>
                                    </p:anim>
                                    <p:anim calcmode="lin" valueType="num">
                                      <p:cBhvr>
                                        <p:cTn id="14" dur="500" fill="hold"/>
                                        <p:tgtEl>
                                          <p:spTgt spid="141317"/>
                                        </p:tgtEl>
                                        <p:attrNameLst>
                                          <p:attrName>ppt_h</p:attrName>
                                        </p:attrNameLst>
                                      </p:cBhvr>
                                      <p:tavLst>
                                        <p:tav tm="0">
                                          <p:val>
                                            <p:fltVal val="0"/>
                                          </p:val>
                                        </p:tav>
                                        <p:tav tm="100000">
                                          <p:val>
                                            <p:strVal val="#ppt_h"/>
                                          </p:val>
                                        </p:tav>
                                      </p:tavLst>
                                    </p:anim>
                                    <p:animEffect transition="in" filter="fade">
                                      <p:cBhvr>
                                        <p:cTn id="15" dur="500"/>
                                        <p:tgtEl>
                                          <p:spTgt spid="141317"/>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141316"/>
                                        </p:tgtEl>
                                        <p:attrNameLst>
                                          <p:attrName>style.visibility</p:attrName>
                                        </p:attrNameLst>
                                      </p:cBhvr>
                                      <p:to>
                                        <p:strVal val="visible"/>
                                      </p:to>
                                    </p:set>
                                    <p:anim calcmode="lin" valueType="num">
                                      <p:cBhvr>
                                        <p:cTn id="19" dur="500" fill="hold"/>
                                        <p:tgtEl>
                                          <p:spTgt spid="141316"/>
                                        </p:tgtEl>
                                        <p:attrNameLst>
                                          <p:attrName>ppt_w</p:attrName>
                                        </p:attrNameLst>
                                      </p:cBhvr>
                                      <p:tavLst>
                                        <p:tav tm="0">
                                          <p:val>
                                            <p:fltVal val="0"/>
                                          </p:val>
                                        </p:tav>
                                        <p:tav tm="100000">
                                          <p:val>
                                            <p:strVal val="#ppt_w"/>
                                          </p:val>
                                        </p:tav>
                                      </p:tavLst>
                                    </p:anim>
                                    <p:anim calcmode="lin" valueType="num">
                                      <p:cBhvr>
                                        <p:cTn id="20" dur="500" fill="hold"/>
                                        <p:tgtEl>
                                          <p:spTgt spid="141316"/>
                                        </p:tgtEl>
                                        <p:attrNameLst>
                                          <p:attrName>ppt_h</p:attrName>
                                        </p:attrNameLst>
                                      </p:cBhvr>
                                      <p:tavLst>
                                        <p:tav tm="0">
                                          <p:val>
                                            <p:fltVal val="0"/>
                                          </p:val>
                                        </p:tav>
                                        <p:tav tm="100000">
                                          <p:val>
                                            <p:strVal val="#ppt_h"/>
                                          </p:val>
                                        </p:tav>
                                      </p:tavLst>
                                    </p:anim>
                                    <p:animEffect transition="in" filter="fade">
                                      <p:cBhvr>
                                        <p:cTn id="21" dur="500"/>
                                        <p:tgtEl>
                                          <p:spTgt spid="141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C4BF172E-880F-4990-9A2B-64C346FF6100}" type="slidenum">
              <a:rPr lang="en-US" altLang="zh-CN" sz="1230" smtClean="0">
                <a:latin typeface="Arial" panose="020B0604020202020204" pitchFamily="34" charset="0"/>
                <a:ea typeface="宋体" panose="02010600030101010101" pitchFamily="2" charset="-122"/>
              </a:rPr>
            </a:fld>
            <a:endParaRPr lang="en-US" altLang="zh-CN" sz="1230">
              <a:latin typeface="Arial" panose="020B0604020202020204" pitchFamily="34" charset="0"/>
              <a:ea typeface="宋体" panose="02010600030101010101" pitchFamily="2" charset="-122"/>
            </a:endParaRPr>
          </a:p>
        </p:txBody>
      </p:sp>
      <p:sp>
        <p:nvSpPr>
          <p:cNvPr id="142339" name="Text Box 2"/>
          <p:cNvSpPr txBox="1">
            <a:spLocks noChangeArrowheads="1"/>
          </p:cNvSpPr>
          <p:nvPr/>
        </p:nvSpPr>
        <p:spPr bwMode="auto">
          <a:xfrm>
            <a:off x="586154" y="89878"/>
            <a:ext cx="11121292" cy="84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50000"/>
              </a:spcBef>
              <a:buClrTx/>
              <a:buFontTx/>
              <a:buNone/>
            </a:pPr>
            <a:r>
              <a:rPr lang="zh-CN" altLang="en-US" sz="4925">
                <a:solidFill>
                  <a:srgbClr val="6600CC"/>
                </a:solidFill>
                <a:latin typeface="华文琥珀" panose="02010800040101010101" pitchFamily="2" charset="-122"/>
                <a:ea typeface="华文琥珀" panose="02010800040101010101" pitchFamily="2" charset="-122"/>
              </a:rPr>
              <a:t>绝对的安全是不存在的</a:t>
            </a:r>
            <a:endParaRPr lang="zh-CN" altLang="en-US" sz="4925">
              <a:solidFill>
                <a:srgbClr val="6600CC"/>
              </a:solidFill>
              <a:latin typeface="华文琥珀" panose="02010800040101010101" pitchFamily="2" charset="-122"/>
              <a:ea typeface="华文琥珀" panose="02010800040101010101" pitchFamily="2" charset="-122"/>
            </a:endParaRPr>
          </a:p>
        </p:txBody>
      </p:sp>
      <p:sp>
        <p:nvSpPr>
          <p:cNvPr id="142340" name="Text Box 4"/>
          <p:cNvSpPr txBox="1">
            <a:spLocks noChangeArrowheads="1"/>
          </p:cNvSpPr>
          <p:nvPr/>
        </p:nvSpPr>
        <p:spPr bwMode="auto">
          <a:xfrm>
            <a:off x="527538" y="1301262"/>
            <a:ext cx="11136923" cy="1415415"/>
          </a:xfrm>
          <a:prstGeom prst="rect">
            <a:avLst/>
          </a:prstGeom>
          <a:scene3d>
            <a:camera prst="perspectiveBelow"/>
            <a:lightRig rig="threePt" dir="t"/>
          </a:scene3d>
        </p:spPr>
        <p:style>
          <a:lnRef idx="1">
            <a:schemeClr val="accent2"/>
          </a:lnRef>
          <a:fillRef idx="2">
            <a:schemeClr val="accent2"/>
          </a:fillRef>
          <a:effectRef idx="1">
            <a:schemeClr val="accent2"/>
          </a:effectRef>
          <a:fontRef idx="minor">
            <a:schemeClr val="dk1"/>
          </a:fontRef>
        </p:style>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Char char="•"/>
              <a:defRPr/>
            </a:pPr>
            <a:r>
              <a:rPr lang="zh-CN" altLang="en-US" sz="2460" b="1" dirty="0">
                <a:latin typeface="宋体" panose="02010600030101010101" pitchFamily="2" charset="-122"/>
                <a:ea typeface="宋体" panose="02010600030101010101" pitchFamily="2" charset="-122"/>
              </a:rPr>
              <a:t>绝对的零风险是不存在的，要想实现零风险，也是不现实的；</a:t>
            </a:r>
            <a:endParaRPr lang="zh-CN" altLang="en-US" sz="2460" b="1" dirty="0">
              <a:latin typeface="宋体" panose="02010600030101010101" pitchFamily="2" charset="-122"/>
              <a:ea typeface="宋体" panose="02010600030101010101" pitchFamily="2" charset="-122"/>
            </a:endParaRPr>
          </a:p>
          <a:p>
            <a:pPr eaLnBrk="1" hangingPunct="1">
              <a:spcBef>
                <a:spcPct val="50000"/>
              </a:spcBef>
              <a:buClrTx/>
              <a:buFontTx/>
              <a:buChar char="•"/>
              <a:defRPr/>
            </a:pPr>
            <a:r>
              <a:rPr lang="zh-CN" altLang="en-US" sz="2460" b="1" dirty="0">
                <a:latin typeface="宋体" panose="02010600030101010101" pitchFamily="2" charset="-122"/>
                <a:ea typeface="宋体" panose="02010600030101010101" pitchFamily="2" charset="-122"/>
              </a:rPr>
              <a:t>计算机系统的安全性越高，其可用性越低，需要付出的成本也就越大，一般来说，需要在安全性和可用性，以及安全性和成本投入之间做一种平衡。</a:t>
            </a:r>
            <a:endParaRPr lang="zh-CN" altLang="en-US" sz="2460" b="1" dirty="0">
              <a:latin typeface="宋体" panose="02010600030101010101" pitchFamily="2" charset="-122"/>
              <a:ea typeface="宋体" panose="02010600030101010101" pitchFamily="2" charset="-122"/>
            </a:endParaRPr>
          </a:p>
        </p:txBody>
      </p:sp>
      <p:sp>
        <p:nvSpPr>
          <p:cNvPr id="142341" name="Rectangle 6"/>
          <p:cNvSpPr>
            <a:spLocks noChangeArrowheads="1"/>
          </p:cNvSpPr>
          <p:nvPr/>
        </p:nvSpPr>
        <p:spPr bwMode="auto">
          <a:xfrm>
            <a:off x="511908" y="3172436"/>
            <a:ext cx="6979138" cy="2822575"/>
          </a:xfrm>
          <a:prstGeom prst="rect">
            <a:avLst/>
          </a:prstGeom>
          <a:scene3d>
            <a:camera prst="perspectiveRelaxedModerately"/>
            <a:lightRig rig="threePt" dir="t"/>
          </a:scene3d>
        </p:spPr>
        <p:style>
          <a:lnRef idx="1">
            <a:schemeClr val="accent6"/>
          </a:lnRef>
          <a:fillRef idx="2">
            <a:schemeClr val="accent6"/>
          </a:fillRef>
          <a:effectRef idx="1">
            <a:schemeClr val="accent6"/>
          </a:effectRef>
          <a:fontRef idx="minor">
            <a:schemeClr val="dk1"/>
          </a:fontRef>
        </p:style>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kumimoji="1" lang="en-US" altLang="zh-CN" sz="2955" b="1" dirty="0">
                <a:solidFill>
                  <a:srgbClr val="FF0000"/>
                </a:solidFill>
                <a:latin typeface="楷体_GB2312"/>
                <a:ea typeface="楷体_GB2312"/>
                <a:cs typeface="楷体_GB2312"/>
              </a:rPr>
              <a:t>    </a:t>
            </a:r>
            <a:r>
              <a:rPr kumimoji="1" lang="zh-CN" altLang="en-US" sz="2955" b="1" dirty="0">
                <a:solidFill>
                  <a:srgbClr val="FF0000"/>
                </a:solidFill>
                <a:latin typeface="楷体_GB2312"/>
                <a:ea typeface="楷体_GB2312"/>
                <a:cs typeface="楷体_GB2312"/>
              </a:rPr>
              <a:t>在计算机安全领域有一句格言：</a:t>
            </a:r>
            <a:r>
              <a:rPr kumimoji="1" lang="zh-CN" altLang="en-US" sz="2955" b="1" dirty="0">
                <a:solidFill>
                  <a:srgbClr val="FF0000"/>
                </a:solidFill>
                <a:latin typeface="Arial" panose="020B0604020202020204" pitchFamily="34" charset="0"/>
                <a:ea typeface="楷体_GB2312"/>
                <a:cs typeface="楷体_GB2312"/>
              </a:rPr>
              <a:t>“</a:t>
            </a:r>
            <a:r>
              <a:rPr kumimoji="1" lang="zh-CN" altLang="en-US" sz="2955" b="1" dirty="0">
                <a:solidFill>
                  <a:srgbClr val="FF0000"/>
                </a:solidFill>
                <a:latin typeface="楷体_GB2312"/>
                <a:ea typeface="楷体_GB2312"/>
                <a:cs typeface="楷体_GB2312"/>
              </a:rPr>
              <a:t>真正安全的计算机是拔下网线，断掉电源，放置在地下掩体的保险柜中，并在掩体内充满毒气，在掩体外安排士兵守卫。</a:t>
            </a:r>
            <a:r>
              <a:rPr kumimoji="1" lang="zh-CN" altLang="en-US" sz="2955" b="1" dirty="0">
                <a:solidFill>
                  <a:srgbClr val="FF0000"/>
                </a:solidFill>
                <a:latin typeface="Arial" panose="020B0604020202020204" pitchFamily="34" charset="0"/>
                <a:ea typeface="楷体_GB2312"/>
                <a:cs typeface="楷体_GB2312"/>
              </a:rPr>
              <a:t>”</a:t>
            </a:r>
            <a:endParaRPr kumimoji="1" lang="zh-CN" altLang="en-US" sz="2955" b="1" dirty="0">
              <a:solidFill>
                <a:srgbClr val="FF0000"/>
              </a:solidFill>
              <a:latin typeface="楷体_GB2312"/>
              <a:ea typeface="楷体_GB2312"/>
              <a:cs typeface="楷体_GB2312"/>
            </a:endParaRPr>
          </a:p>
          <a:p>
            <a:pPr eaLnBrk="1" hangingPunct="1">
              <a:spcBef>
                <a:spcPct val="0"/>
              </a:spcBef>
              <a:buClrTx/>
              <a:buFontTx/>
              <a:buNone/>
              <a:defRPr/>
            </a:pPr>
            <a:r>
              <a:rPr kumimoji="1" lang="zh-CN" altLang="en-US" sz="2955" b="1" dirty="0">
                <a:solidFill>
                  <a:srgbClr val="1C1C1C"/>
                </a:solidFill>
                <a:latin typeface="楷体_GB2312"/>
                <a:ea typeface="楷体_GB2312"/>
                <a:cs typeface="楷体_GB2312"/>
              </a:rPr>
              <a:t>    显然，这样的计算机是无法使用的。</a:t>
            </a:r>
            <a:endParaRPr kumimoji="1" lang="zh-CN" altLang="en-US" sz="2955" b="1" dirty="0">
              <a:solidFill>
                <a:srgbClr val="1C1C1C"/>
              </a:solidFill>
              <a:latin typeface="楷体_GB2312"/>
              <a:ea typeface="楷体_GB2312"/>
              <a:cs typeface="楷体_GB2312"/>
            </a:endParaRPr>
          </a:p>
        </p:txBody>
      </p:sp>
      <p:pic>
        <p:nvPicPr>
          <p:cNvPr id="142342" name="Picture 7" descr="Hacke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80215" y="2985478"/>
            <a:ext cx="4233985" cy="2928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42339"/>
                                        </p:tgtEl>
                                        <p:attrNameLst>
                                          <p:attrName>style.visibility</p:attrName>
                                        </p:attrNameLst>
                                      </p:cBhvr>
                                      <p:to>
                                        <p:strVal val="visible"/>
                                      </p:to>
                                    </p:set>
                                    <p:anim calcmode="lin" valueType="num">
                                      <p:cBhvr additive="base">
                                        <p:cTn id="7" dur="500" fill="hold"/>
                                        <p:tgtEl>
                                          <p:spTgt spid="142339"/>
                                        </p:tgtEl>
                                        <p:attrNameLst>
                                          <p:attrName>ppt_x</p:attrName>
                                        </p:attrNameLst>
                                      </p:cBhvr>
                                      <p:tavLst>
                                        <p:tav tm="0">
                                          <p:val>
                                            <p:strVal val="1+#ppt_w/2"/>
                                          </p:val>
                                        </p:tav>
                                        <p:tav tm="100000">
                                          <p:val>
                                            <p:strVal val="#ppt_x"/>
                                          </p:val>
                                        </p:tav>
                                      </p:tavLst>
                                    </p:anim>
                                    <p:anim calcmode="lin" valueType="num">
                                      <p:cBhvr additive="base">
                                        <p:cTn id="8" dur="500" fill="hold"/>
                                        <p:tgtEl>
                                          <p:spTgt spid="14233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42340"/>
                                        </p:tgtEl>
                                        <p:attrNameLst>
                                          <p:attrName>style.visibility</p:attrName>
                                        </p:attrNameLst>
                                      </p:cBhvr>
                                      <p:to>
                                        <p:strVal val="visible"/>
                                      </p:to>
                                    </p:set>
                                    <p:anim calcmode="lin" valueType="num">
                                      <p:cBhvr>
                                        <p:cTn id="12" dur="500" fill="hold"/>
                                        <p:tgtEl>
                                          <p:spTgt spid="142340"/>
                                        </p:tgtEl>
                                        <p:attrNameLst>
                                          <p:attrName>ppt_w</p:attrName>
                                        </p:attrNameLst>
                                      </p:cBhvr>
                                      <p:tavLst>
                                        <p:tav tm="0">
                                          <p:val>
                                            <p:fltVal val="0"/>
                                          </p:val>
                                        </p:tav>
                                        <p:tav tm="100000">
                                          <p:val>
                                            <p:strVal val="#ppt_w"/>
                                          </p:val>
                                        </p:tav>
                                      </p:tavLst>
                                    </p:anim>
                                    <p:anim calcmode="lin" valueType="num">
                                      <p:cBhvr>
                                        <p:cTn id="13" dur="500" fill="hold"/>
                                        <p:tgtEl>
                                          <p:spTgt spid="142340"/>
                                        </p:tgtEl>
                                        <p:attrNameLst>
                                          <p:attrName>ppt_h</p:attrName>
                                        </p:attrNameLst>
                                      </p:cBhvr>
                                      <p:tavLst>
                                        <p:tav tm="0">
                                          <p:val>
                                            <p:fltVal val="0"/>
                                          </p:val>
                                        </p:tav>
                                        <p:tav tm="100000">
                                          <p:val>
                                            <p:strVal val="#ppt_h"/>
                                          </p:val>
                                        </p:tav>
                                      </p:tavLst>
                                    </p:anim>
                                    <p:animEffect transition="in" filter="fade">
                                      <p:cBhvr>
                                        <p:cTn id="14" dur="500"/>
                                        <p:tgtEl>
                                          <p:spTgt spid="142340"/>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142341"/>
                                        </p:tgtEl>
                                        <p:attrNameLst>
                                          <p:attrName>style.visibility</p:attrName>
                                        </p:attrNameLst>
                                      </p:cBhvr>
                                      <p:to>
                                        <p:strVal val="visible"/>
                                      </p:to>
                                    </p:set>
                                    <p:anim calcmode="lin" valueType="num">
                                      <p:cBhvr>
                                        <p:cTn id="18" dur="1500" fill="hold"/>
                                        <p:tgtEl>
                                          <p:spTgt spid="142341"/>
                                        </p:tgtEl>
                                        <p:attrNameLst>
                                          <p:attrName>ppt_w</p:attrName>
                                        </p:attrNameLst>
                                      </p:cBhvr>
                                      <p:tavLst>
                                        <p:tav tm="0">
                                          <p:val>
                                            <p:fltVal val="0"/>
                                          </p:val>
                                        </p:tav>
                                        <p:tav tm="100000">
                                          <p:val>
                                            <p:strVal val="#ppt_w"/>
                                          </p:val>
                                        </p:tav>
                                      </p:tavLst>
                                    </p:anim>
                                    <p:anim calcmode="lin" valueType="num">
                                      <p:cBhvr>
                                        <p:cTn id="19" dur="1500" fill="hold"/>
                                        <p:tgtEl>
                                          <p:spTgt spid="142341"/>
                                        </p:tgtEl>
                                        <p:attrNameLst>
                                          <p:attrName>ppt_h</p:attrName>
                                        </p:attrNameLst>
                                      </p:cBhvr>
                                      <p:tavLst>
                                        <p:tav tm="0">
                                          <p:val>
                                            <p:fltVal val="0"/>
                                          </p:val>
                                        </p:tav>
                                        <p:tav tm="100000">
                                          <p:val>
                                            <p:strVal val="#ppt_h"/>
                                          </p:val>
                                        </p:tav>
                                      </p:tavLst>
                                    </p:anim>
                                    <p:animEffect transition="in" filter="fade">
                                      <p:cBhvr>
                                        <p:cTn id="20" dur="1500"/>
                                        <p:tgtEl>
                                          <p:spTgt spid="142341"/>
                                        </p:tgtEl>
                                      </p:cBhvr>
                                    </p:animEffect>
                                  </p:childTnLst>
                                </p:cTn>
                              </p:par>
                            </p:childTnLst>
                          </p:cTn>
                        </p:par>
                        <p:par>
                          <p:cTn id="21" fill="hold">
                            <p:stCondLst>
                              <p:cond delay="2500"/>
                            </p:stCondLst>
                            <p:childTnLst>
                              <p:par>
                                <p:cTn id="22" presetID="53" presetClass="entr" presetSubtype="16" fill="hold" nodeType="afterEffect">
                                  <p:stCondLst>
                                    <p:cond delay="0"/>
                                  </p:stCondLst>
                                  <p:childTnLst>
                                    <p:set>
                                      <p:cBhvr>
                                        <p:cTn id="23" dur="1" fill="hold">
                                          <p:stCondLst>
                                            <p:cond delay="0"/>
                                          </p:stCondLst>
                                        </p:cTn>
                                        <p:tgtEl>
                                          <p:spTgt spid="142342"/>
                                        </p:tgtEl>
                                        <p:attrNameLst>
                                          <p:attrName>style.visibility</p:attrName>
                                        </p:attrNameLst>
                                      </p:cBhvr>
                                      <p:to>
                                        <p:strVal val="visible"/>
                                      </p:to>
                                    </p:set>
                                    <p:anim calcmode="lin" valueType="num">
                                      <p:cBhvr>
                                        <p:cTn id="24" dur="500" fill="hold"/>
                                        <p:tgtEl>
                                          <p:spTgt spid="142342"/>
                                        </p:tgtEl>
                                        <p:attrNameLst>
                                          <p:attrName>ppt_w</p:attrName>
                                        </p:attrNameLst>
                                      </p:cBhvr>
                                      <p:tavLst>
                                        <p:tav tm="0">
                                          <p:val>
                                            <p:fltVal val="0"/>
                                          </p:val>
                                        </p:tav>
                                        <p:tav tm="100000">
                                          <p:val>
                                            <p:strVal val="#ppt_w"/>
                                          </p:val>
                                        </p:tav>
                                      </p:tavLst>
                                    </p:anim>
                                    <p:anim calcmode="lin" valueType="num">
                                      <p:cBhvr>
                                        <p:cTn id="25" dur="500" fill="hold"/>
                                        <p:tgtEl>
                                          <p:spTgt spid="142342"/>
                                        </p:tgtEl>
                                        <p:attrNameLst>
                                          <p:attrName>ppt_h</p:attrName>
                                        </p:attrNameLst>
                                      </p:cBhvr>
                                      <p:tavLst>
                                        <p:tav tm="0">
                                          <p:val>
                                            <p:fltVal val="0"/>
                                          </p:val>
                                        </p:tav>
                                        <p:tav tm="100000">
                                          <p:val>
                                            <p:strVal val="#ppt_h"/>
                                          </p:val>
                                        </p:tav>
                                      </p:tavLst>
                                    </p:anim>
                                    <p:animEffect transition="in" filter="fade">
                                      <p:cBhvr>
                                        <p:cTn id="26" dur="500"/>
                                        <p:tgtEl>
                                          <p:spTgt spid="142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71487C41-E0F8-4629-B3CF-F2E7D4F039EE}" type="slidenum">
              <a:rPr lang="en-US" altLang="zh-CN" sz="1230" smtClean="0">
                <a:latin typeface="Arial" panose="020B0604020202020204" pitchFamily="34" charset="0"/>
                <a:ea typeface="宋体" panose="02010600030101010101" pitchFamily="2" charset="-122"/>
              </a:rPr>
            </a:fld>
            <a:endParaRPr lang="en-US" altLang="zh-CN" sz="1230">
              <a:latin typeface="Arial" panose="020B0604020202020204" pitchFamily="34" charset="0"/>
              <a:ea typeface="宋体" panose="02010600030101010101" pitchFamily="2" charset="-122"/>
            </a:endParaRPr>
          </a:p>
        </p:txBody>
      </p:sp>
      <p:sp>
        <p:nvSpPr>
          <p:cNvPr id="143363" name="Text Box 2"/>
          <p:cNvSpPr txBox="1">
            <a:spLocks noChangeArrowheads="1"/>
          </p:cNvSpPr>
          <p:nvPr/>
        </p:nvSpPr>
        <p:spPr bwMode="auto">
          <a:xfrm>
            <a:off x="4767385" y="-3907"/>
            <a:ext cx="6799385" cy="84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50000"/>
              </a:spcBef>
              <a:buClrTx/>
              <a:buFontTx/>
              <a:buNone/>
            </a:pPr>
            <a:r>
              <a:rPr lang="zh-CN" altLang="en-US" sz="4925">
                <a:solidFill>
                  <a:srgbClr val="6600CC"/>
                </a:solidFill>
                <a:latin typeface="华文琥珀" panose="02010800040101010101" pitchFamily="2" charset="-122"/>
                <a:ea typeface="华文琥珀" panose="02010800040101010101" pitchFamily="2" charset="-122"/>
              </a:rPr>
              <a:t>安全是一种平衡</a:t>
            </a:r>
            <a:endParaRPr lang="zh-CN" altLang="en-US" sz="4925">
              <a:solidFill>
                <a:srgbClr val="6600CC"/>
              </a:solidFill>
              <a:latin typeface="华文琥珀" panose="02010800040101010101" pitchFamily="2" charset="-122"/>
              <a:ea typeface="华文琥珀" panose="02010800040101010101" pitchFamily="2" charset="-122"/>
            </a:endParaRPr>
          </a:p>
        </p:txBody>
      </p:sp>
      <p:pic>
        <p:nvPicPr>
          <p:cNvPr id="143364" name="Picture 3" descr="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7370" y="1125416"/>
            <a:ext cx="4247662" cy="5548923"/>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43365" name="Picture 4" descr="traffic_ligh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462" y="1125416"/>
            <a:ext cx="4214446" cy="554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43363"/>
                                        </p:tgtEl>
                                        <p:attrNameLst>
                                          <p:attrName>style.visibility</p:attrName>
                                        </p:attrNameLst>
                                      </p:cBhvr>
                                      <p:to>
                                        <p:strVal val="visible"/>
                                      </p:to>
                                    </p:set>
                                    <p:anim calcmode="lin" valueType="num">
                                      <p:cBhvr additive="base">
                                        <p:cTn id="7" dur="500" fill="hold"/>
                                        <p:tgtEl>
                                          <p:spTgt spid="143363"/>
                                        </p:tgtEl>
                                        <p:attrNameLst>
                                          <p:attrName>ppt_x</p:attrName>
                                        </p:attrNameLst>
                                      </p:cBhvr>
                                      <p:tavLst>
                                        <p:tav tm="0">
                                          <p:val>
                                            <p:strVal val="1+#ppt_w/2"/>
                                          </p:val>
                                        </p:tav>
                                        <p:tav tm="100000">
                                          <p:val>
                                            <p:strVal val="#ppt_x"/>
                                          </p:val>
                                        </p:tav>
                                      </p:tavLst>
                                    </p:anim>
                                    <p:anim calcmode="lin" valueType="num">
                                      <p:cBhvr additive="base">
                                        <p:cTn id="8" dur="500" fill="hold"/>
                                        <p:tgtEl>
                                          <p:spTgt spid="1433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6" presetClass="entr" presetSubtype="16" fill="hold" nodeType="afterEffect">
                                  <p:stCondLst>
                                    <p:cond delay="0"/>
                                  </p:stCondLst>
                                  <p:childTnLst>
                                    <p:set>
                                      <p:cBhvr>
                                        <p:cTn id="11" dur="1" fill="hold">
                                          <p:stCondLst>
                                            <p:cond delay="0"/>
                                          </p:stCondLst>
                                        </p:cTn>
                                        <p:tgtEl>
                                          <p:spTgt spid="143364"/>
                                        </p:tgtEl>
                                        <p:attrNameLst>
                                          <p:attrName>style.visibility</p:attrName>
                                        </p:attrNameLst>
                                      </p:cBhvr>
                                      <p:to>
                                        <p:strVal val="visible"/>
                                      </p:to>
                                    </p:set>
                                    <p:animEffect transition="in" filter="circle(in)">
                                      <p:cBhvr>
                                        <p:cTn id="12" dur="1000"/>
                                        <p:tgtEl>
                                          <p:spTgt spid="143364"/>
                                        </p:tgtEl>
                                      </p:cBhvr>
                                    </p:animEffect>
                                  </p:childTnLst>
                                </p:cTn>
                              </p:par>
                            </p:childTnLst>
                          </p:cTn>
                        </p:par>
                        <p:par>
                          <p:cTn id="13" fill="hold">
                            <p:stCondLst>
                              <p:cond delay="1500"/>
                            </p:stCondLst>
                            <p:childTnLst>
                              <p:par>
                                <p:cTn id="14" presetID="53" presetClass="entr" presetSubtype="16" fill="hold" nodeType="afterEffect">
                                  <p:stCondLst>
                                    <p:cond delay="0"/>
                                  </p:stCondLst>
                                  <p:childTnLst>
                                    <p:set>
                                      <p:cBhvr>
                                        <p:cTn id="15" dur="1" fill="hold">
                                          <p:stCondLst>
                                            <p:cond delay="0"/>
                                          </p:stCondLst>
                                        </p:cTn>
                                        <p:tgtEl>
                                          <p:spTgt spid="143365"/>
                                        </p:tgtEl>
                                        <p:attrNameLst>
                                          <p:attrName>style.visibility</p:attrName>
                                        </p:attrNameLst>
                                      </p:cBhvr>
                                      <p:to>
                                        <p:strVal val="visible"/>
                                      </p:to>
                                    </p:set>
                                    <p:anim calcmode="lin" valueType="num">
                                      <p:cBhvr>
                                        <p:cTn id="16" dur="500" fill="hold"/>
                                        <p:tgtEl>
                                          <p:spTgt spid="143365"/>
                                        </p:tgtEl>
                                        <p:attrNameLst>
                                          <p:attrName>ppt_w</p:attrName>
                                        </p:attrNameLst>
                                      </p:cBhvr>
                                      <p:tavLst>
                                        <p:tav tm="0">
                                          <p:val>
                                            <p:fltVal val="0"/>
                                          </p:val>
                                        </p:tav>
                                        <p:tav tm="100000">
                                          <p:val>
                                            <p:strVal val="#ppt_w"/>
                                          </p:val>
                                        </p:tav>
                                      </p:tavLst>
                                    </p:anim>
                                    <p:anim calcmode="lin" valueType="num">
                                      <p:cBhvr>
                                        <p:cTn id="17" dur="500" fill="hold"/>
                                        <p:tgtEl>
                                          <p:spTgt spid="143365"/>
                                        </p:tgtEl>
                                        <p:attrNameLst>
                                          <p:attrName>ppt_h</p:attrName>
                                        </p:attrNameLst>
                                      </p:cBhvr>
                                      <p:tavLst>
                                        <p:tav tm="0">
                                          <p:val>
                                            <p:fltVal val="0"/>
                                          </p:val>
                                        </p:tav>
                                        <p:tav tm="100000">
                                          <p:val>
                                            <p:strVal val="#ppt_h"/>
                                          </p:val>
                                        </p:tav>
                                      </p:tavLst>
                                    </p:anim>
                                    <p:animEffect transition="in" filter="fade">
                                      <p:cBhvr>
                                        <p:cTn id="18" dur="500"/>
                                        <p:tgtEl>
                                          <p:spTgt spid="14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89588368-E0F7-4C38-BA2E-F8C172D9F83A}" type="slidenum">
              <a:rPr lang="en-US" altLang="zh-CN" sz="1230" smtClean="0">
                <a:latin typeface="Arial" panose="020B0604020202020204" pitchFamily="34" charset="0"/>
                <a:ea typeface="宋体" panose="02010600030101010101" pitchFamily="2" charset="-122"/>
              </a:rPr>
            </a:fld>
            <a:endParaRPr lang="en-US" altLang="zh-CN" sz="1230">
              <a:latin typeface="Arial" panose="020B0604020202020204" pitchFamily="34" charset="0"/>
              <a:ea typeface="宋体" panose="02010600030101010101" pitchFamily="2" charset="-122"/>
            </a:endParaRPr>
          </a:p>
        </p:txBody>
      </p:sp>
      <p:sp>
        <p:nvSpPr>
          <p:cNvPr id="144388" name="Text Box 3"/>
          <p:cNvSpPr txBox="1">
            <a:spLocks noChangeArrowheads="1"/>
          </p:cNvSpPr>
          <p:nvPr/>
        </p:nvSpPr>
        <p:spPr bwMode="auto">
          <a:xfrm>
            <a:off x="6340231" y="-66430"/>
            <a:ext cx="5164015" cy="84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50000"/>
              </a:spcBef>
              <a:buClrTx/>
              <a:buFontTx/>
              <a:buNone/>
            </a:pPr>
            <a:r>
              <a:rPr lang="zh-CN" altLang="en-US" sz="4925">
                <a:solidFill>
                  <a:srgbClr val="6600CC"/>
                </a:solidFill>
                <a:latin typeface="华文琥珀" panose="02010800040101010101" pitchFamily="2" charset="-122"/>
                <a:ea typeface="华文琥珀" panose="02010800040101010101" pitchFamily="2" charset="-122"/>
              </a:rPr>
              <a:t>安全是一种平衡</a:t>
            </a:r>
            <a:endParaRPr lang="zh-CN" altLang="en-US" sz="4925">
              <a:solidFill>
                <a:srgbClr val="6600CC"/>
              </a:solidFill>
              <a:latin typeface="华文琥珀" panose="02010800040101010101" pitchFamily="2" charset="-122"/>
              <a:ea typeface="华文琥珀" panose="02010800040101010101" pitchFamily="2" charset="-122"/>
            </a:endParaRPr>
          </a:p>
        </p:txBody>
      </p:sp>
      <p:grpSp>
        <p:nvGrpSpPr>
          <p:cNvPr id="2" name="组合 1"/>
          <p:cNvGrpSpPr/>
          <p:nvPr/>
        </p:nvGrpSpPr>
        <p:grpSpPr bwMode="auto">
          <a:xfrm>
            <a:off x="1389185" y="592015"/>
            <a:ext cx="9820031" cy="5406293"/>
            <a:chOff x="1128713" y="1065213"/>
            <a:chExt cx="7978775" cy="4451350"/>
          </a:xfrm>
        </p:grpSpPr>
        <p:sp>
          <p:nvSpPr>
            <p:cNvPr id="134150" name="Rectangle 2"/>
            <p:cNvSpPr>
              <a:spLocks noChangeArrowheads="1"/>
            </p:cNvSpPr>
            <p:nvPr/>
          </p:nvSpPr>
          <p:spPr bwMode="auto">
            <a:xfrm>
              <a:off x="1128713" y="1287463"/>
              <a:ext cx="7978775" cy="4229100"/>
            </a:xfrm>
            <a:prstGeom prst="rect">
              <a:avLst/>
            </a:prstGeom>
            <a:gradFill rotWithShape="1">
              <a:gsLst>
                <a:gs pos="0">
                  <a:srgbClr val="761800"/>
                </a:gs>
                <a:gs pos="50000">
                  <a:srgbClr val="FF3300"/>
                </a:gs>
                <a:gs pos="100000">
                  <a:srgbClr val="761800"/>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pic>
          <p:nvPicPr>
            <p:cNvPr id="134151" name="Picture 6"/>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46488" y="1809750"/>
              <a:ext cx="2593975"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2" name="Arc 7"/>
            <p:cNvSpPr/>
            <p:nvPr/>
          </p:nvSpPr>
          <p:spPr bwMode="auto">
            <a:xfrm>
              <a:off x="2259013" y="1428750"/>
              <a:ext cx="5332412" cy="2971800"/>
            </a:xfrm>
            <a:custGeom>
              <a:avLst/>
              <a:gdLst>
                <a:gd name="T0" fmla="*/ 2147483646 w 21651"/>
                <a:gd name="T1" fmla="*/ 0 h 21600"/>
                <a:gd name="T2" fmla="*/ 0 w 21651"/>
                <a:gd name="T3" fmla="*/ 2147483646 h 21600"/>
                <a:gd name="T4" fmla="*/ 0 w 21651"/>
                <a:gd name="T5" fmla="*/ 0 h 21600"/>
                <a:gd name="T6" fmla="*/ 0 60000 65536"/>
                <a:gd name="T7" fmla="*/ 0 60000 65536"/>
                <a:gd name="T8" fmla="*/ 0 60000 65536"/>
                <a:gd name="T9" fmla="*/ 0 w 21651"/>
                <a:gd name="T10" fmla="*/ 0 h 21600"/>
                <a:gd name="T11" fmla="*/ 21651 w 21651"/>
                <a:gd name="T12" fmla="*/ 21600 h 21600"/>
              </a:gdLst>
              <a:ahLst/>
              <a:cxnLst>
                <a:cxn ang="T6">
                  <a:pos x="T0" y="T1"/>
                </a:cxn>
                <a:cxn ang="T7">
                  <a:pos x="T2" y="T3"/>
                </a:cxn>
                <a:cxn ang="T8">
                  <a:pos x="T4" y="T5"/>
                </a:cxn>
              </a:cxnLst>
              <a:rect l="T9" t="T10" r="T11" b="T12"/>
              <a:pathLst>
                <a:path w="21651" h="21600" fill="none" extrusionOk="0">
                  <a:moveTo>
                    <a:pt x="21650" y="38"/>
                  </a:moveTo>
                  <a:cubicBezTo>
                    <a:pt x="21629" y="11953"/>
                    <a:pt x="11965" y="21599"/>
                    <a:pt x="51" y="21600"/>
                  </a:cubicBezTo>
                  <a:cubicBezTo>
                    <a:pt x="34" y="21600"/>
                    <a:pt x="17" y="21599"/>
                    <a:pt x="0" y="21599"/>
                  </a:cubicBezTo>
                </a:path>
                <a:path w="21651" h="21600" stroke="0" extrusionOk="0">
                  <a:moveTo>
                    <a:pt x="21650" y="38"/>
                  </a:moveTo>
                  <a:cubicBezTo>
                    <a:pt x="21629" y="11953"/>
                    <a:pt x="11965" y="21599"/>
                    <a:pt x="51" y="21600"/>
                  </a:cubicBezTo>
                  <a:cubicBezTo>
                    <a:pt x="34" y="21600"/>
                    <a:pt x="17" y="21599"/>
                    <a:pt x="0" y="21599"/>
                  </a:cubicBezTo>
                  <a:lnTo>
                    <a:pt x="51" y="0"/>
                  </a:lnTo>
                  <a:lnTo>
                    <a:pt x="21650" y="38"/>
                  </a:lnTo>
                  <a:close/>
                </a:path>
              </a:pathLst>
            </a:custGeom>
            <a:noFill/>
            <a:ln w="50800" cap="rnd">
              <a:solidFill>
                <a:srgbClr val="29853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00"/>
            </a:p>
          </p:txBody>
        </p:sp>
        <p:sp>
          <p:nvSpPr>
            <p:cNvPr id="134153" name="Arc 8"/>
            <p:cNvSpPr/>
            <p:nvPr/>
          </p:nvSpPr>
          <p:spPr bwMode="auto">
            <a:xfrm>
              <a:off x="2260600" y="1428750"/>
              <a:ext cx="5313363" cy="2971800"/>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50800" cap="rnd">
              <a:solidFill>
                <a:srgbClr val="A29E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00"/>
            </a:p>
          </p:txBody>
        </p:sp>
        <p:sp>
          <p:nvSpPr>
            <p:cNvPr id="134154" name="AutoShape 9"/>
            <p:cNvSpPr/>
            <p:nvPr/>
          </p:nvSpPr>
          <p:spPr bwMode="auto">
            <a:xfrm>
              <a:off x="7389813" y="2817813"/>
              <a:ext cx="1663700" cy="288925"/>
            </a:xfrm>
            <a:prstGeom prst="borderCallout1">
              <a:avLst>
                <a:gd name="adj1" fmla="val 39560"/>
                <a:gd name="adj2" fmla="val -4963"/>
                <a:gd name="adj3" fmla="val 75273"/>
                <a:gd name="adj4" fmla="val -34023"/>
              </a:avLst>
            </a:prstGeom>
            <a:solidFill>
              <a:srgbClr val="298536"/>
            </a:solidFill>
            <a:ln w="12700">
              <a:solidFill>
                <a:schemeClr val="tx1"/>
              </a:solidFill>
              <a:miter lim="800000"/>
              <a:headEnd type="triangl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725" i="1">
                  <a:solidFill>
                    <a:srgbClr val="FFFF00"/>
                  </a:solidFill>
                  <a:latin typeface="Impact" panose="020B0806030902050204" pitchFamily="34" charset="0"/>
                  <a:ea typeface="华文细黑" panose="02010600040101010101" pitchFamily="2" charset="-122"/>
                </a:rPr>
                <a:t>安全控制的成本</a:t>
              </a:r>
              <a:endParaRPr lang="zh-CN" altLang="en-US" sz="1725" i="1">
                <a:solidFill>
                  <a:srgbClr val="FFFF00"/>
                </a:solidFill>
                <a:latin typeface="Tahoma" panose="020B0604030504040204" pitchFamily="34" charset="0"/>
                <a:ea typeface="华文细黑" panose="02010600040101010101" pitchFamily="2" charset="-122"/>
              </a:endParaRPr>
            </a:p>
          </p:txBody>
        </p:sp>
        <p:sp>
          <p:nvSpPr>
            <p:cNvPr id="134155" name="Line 10"/>
            <p:cNvSpPr>
              <a:spLocks noChangeShapeType="1"/>
            </p:cNvSpPr>
            <p:nvPr/>
          </p:nvSpPr>
          <p:spPr bwMode="auto">
            <a:xfrm>
              <a:off x="2018334" y="4458935"/>
              <a:ext cx="6242050" cy="7938"/>
            </a:xfrm>
            <a:prstGeom prst="line">
              <a:avLst/>
            </a:prstGeom>
            <a:noFill/>
            <a:ln w="50800">
              <a:solidFill>
                <a:srgbClr val="1B1050"/>
              </a:solidFill>
              <a:round/>
              <a:headEnd type="none" w="sm" len="sm"/>
              <a:tailEnd type="triangle" w="med" len="med"/>
            </a:ln>
            <a:effectLst>
              <a:outerShdw dist="35921" dir="2700000" algn="ctr" rotWithShape="0">
                <a:schemeClr val="folHlink"/>
              </a:outerShdw>
            </a:effectLst>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4156" name="Line 11"/>
            <p:cNvSpPr>
              <a:spLocks noChangeShapeType="1"/>
            </p:cNvSpPr>
            <p:nvPr/>
          </p:nvSpPr>
          <p:spPr bwMode="auto">
            <a:xfrm>
              <a:off x="1993900" y="1065213"/>
              <a:ext cx="9525" cy="3373437"/>
            </a:xfrm>
            <a:prstGeom prst="line">
              <a:avLst/>
            </a:prstGeom>
            <a:noFill/>
            <a:ln w="50800">
              <a:solidFill>
                <a:srgbClr val="1B1050"/>
              </a:solidFill>
              <a:round/>
              <a:headEnd type="triangle" w="med" len="med"/>
            </a:ln>
            <a:effectLst>
              <a:outerShdw dist="35921" dir="2700000" algn="ctr" rotWithShape="0">
                <a:schemeClr val="folHlink"/>
              </a:outerShdw>
            </a:effectLst>
            <a:extLst>
              <a:ext uri="{909E8E84-426E-40DD-AFC4-6F175D3DCCD1}">
                <a14:hiddenFill xmlns:a14="http://schemas.microsoft.com/office/drawing/2010/main">
                  <a:noFill/>
                </a14:hiddenFill>
              </a:ext>
            </a:extLst>
          </p:spPr>
          <p:txBody>
            <a:bodyPr wrap="none" anchor="ctr"/>
            <a:lstStyle/>
            <a:p>
              <a:endParaRPr lang="zh-CN" altLang="en-US" sz="100"/>
            </a:p>
          </p:txBody>
        </p:sp>
        <p:sp>
          <p:nvSpPr>
            <p:cNvPr id="134157" name="AutoShape 12"/>
            <p:cNvSpPr/>
            <p:nvPr/>
          </p:nvSpPr>
          <p:spPr bwMode="auto">
            <a:xfrm>
              <a:off x="3098800" y="1162050"/>
              <a:ext cx="1716088" cy="287338"/>
            </a:xfrm>
            <a:prstGeom prst="borderCallout1">
              <a:avLst>
                <a:gd name="adj1" fmla="val 39778"/>
                <a:gd name="adj2" fmla="val -4810"/>
                <a:gd name="adj3" fmla="val 271824"/>
                <a:gd name="adj4" fmla="val -37477"/>
              </a:avLst>
            </a:prstGeom>
            <a:solidFill>
              <a:srgbClr val="A29E00"/>
            </a:solidFill>
            <a:ln w="12700">
              <a:solidFill>
                <a:schemeClr val="tx1"/>
              </a:solidFill>
              <a:miter lim="800000"/>
              <a:headEnd type="triangl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725" i="1">
                  <a:latin typeface="Impact" panose="020B0806030902050204" pitchFamily="34" charset="0"/>
                  <a:ea typeface="华文细黑" panose="02010600040101010101" pitchFamily="2" charset="-122"/>
                </a:rPr>
                <a:t>安全事件的损失</a:t>
              </a:r>
              <a:endParaRPr lang="zh-CN" altLang="en-US" sz="1725" i="1">
                <a:latin typeface="Tahoma" panose="020B0604030504040204" pitchFamily="34" charset="0"/>
                <a:ea typeface="华文细黑" panose="02010600040101010101" pitchFamily="2" charset="-122"/>
              </a:endParaRPr>
            </a:p>
          </p:txBody>
        </p:sp>
        <p:sp>
          <p:nvSpPr>
            <p:cNvPr id="134158" name="Rectangle 13"/>
            <p:cNvSpPr>
              <a:spLocks noChangeArrowheads="1"/>
            </p:cNvSpPr>
            <p:nvPr/>
          </p:nvSpPr>
          <p:spPr bwMode="auto">
            <a:xfrm>
              <a:off x="5518150" y="3752850"/>
              <a:ext cx="2030413"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3323" tIns="56662" rIns="113323" bIns="56662">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215" i="1">
                  <a:solidFill>
                    <a:srgbClr val="FFFF00"/>
                  </a:solidFill>
                  <a:latin typeface="Impact" panose="020B0806030902050204" pitchFamily="34" charset="0"/>
                  <a:ea typeface="华文细黑" panose="02010600040101010101" pitchFamily="2" charset="-122"/>
                </a:rPr>
                <a:t>最小化的总成本</a:t>
              </a:r>
              <a:endParaRPr lang="zh-CN" altLang="en-US" sz="2215" i="1">
                <a:solidFill>
                  <a:srgbClr val="FFFF00"/>
                </a:solidFill>
                <a:latin typeface="Arial Narrow" panose="020B0606020202030204" pitchFamily="34" charset="0"/>
                <a:ea typeface="华文细黑" panose="02010600040101010101" pitchFamily="2" charset="-122"/>
              </a:endParaRPr>
            </a:p>
          </p:txBody>
        </p:sp>
        <p:grpSp>
          <p:nvGrpSpPr>
            <p:cNvPr id="134159" name="Group 14"/>
            <p:cNvGrpSpPr/>
            <p:nvPr/>
          </p:nvGrpSpPr>
          <p:grpSpPr bwMode="auto">
            <a:xfrm>
              <a:off x="4427538" y="3536950"/>
              <a:ext cx="1047750" cy="828675"/>
              <a:chOff x="3098" y="2971"/>
              <a:chExt cx="610" cy="576"/>
            </a:xfrm>
          </p:grpSpPr>
          <p:sp>
            <p:nvSpPr>
              <p:cNvPr id="134166" name="AutoShape 15"/>
              <p:cNvSpPr>
                <a:spLocks noChangeArrowheads="1"/>
              </p:cNvSpPr>
              <p:nvPr/>
            </p:nvSpPr>
            <p:spPr bwMode="auto">
              <a:xfrm rot="1289514">
                <a:off x="3098" y="2971"/>
                <a:ext cx="610" cy="576"/>
              </a:xfrm>
              <a:prstGeom prst="irregularSeal2">
                <a:avLst/>
              </a:prstGeom>
              <a:solidFill>
                <a:schemeClr val="tx2"/>
              </a:solidFill>
              <a:ln w="12700">
                <a:solidFill>
                  <a:schemeClr val="tx1"/>
                </a:solidFill>
                <a:miter lim="800000"/>
              </a:ln>
              <a:effectLst>
                <a:outerShdw dist="107763" dir="27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i="1">
                  <a:solidFill>
                    <a:srgbClr val="FFFF00"/>
                  </a:solidFill>
                  <a:latin typeface="Arial" panose="020B0604020202020204" pitchFamily="34" charset="0"/>
                  <a:ea typeface="华文细黑" panose="02010600040101010101" pitchFamily="2" charset="-122"/>
                </a:endParaRPr>
              </a:p>
            </p:txBody>
          </p:sp>
          <p:sp>
            <p:nvSpPr>
              <p:cNvPr id="134167" name="AutoShape 16"/>
              <p:cNvSpPr>
                <a:spLocks noChangeArrowheads="1"/>
              </p:cNvSpPr>
              <p:nvPr/>
            </p:nvSpPr>
            <p:spPr bwMode="auto">
              <a:xfrm rot="1289514">
                <a:off x="3168" y="3072"/>
                <a:ext cx="446" cy="384"/>
              </a:xfrm>
              <a:prstGeom prst="irregularSeal2">
                <a:avLst/>
              </a:prstGeom>
              <a:solidFill>
                <a:schemeClr val="tx2"/>
              </a:solidFill>
              <a:ln w="12700">
                <a:solidFill>
                  <a:schemeClr val="accent2"/>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zh-CN" sz="2215" i="1">
                  <a:solidFill>
                    <a:srgbClr val="FFFF00"/>
                  </a:solidFill>
                  <a:latin typeface="Arial" panose="020B0604020202020204" pitchFamily="34" charset="0"/>
                  <a:ea typeface="华文细黑" panose="02010600040101010101" pitchFamily="2" charset="-122"/>
                </a:endParaRPr>
              </a:p>
            </p:txBody>
          </p:sp>
          <p:sp>
            <p:nvSpPr>
              <p:cNvPr id="134168" name="AutoShape 17"/>
              <p:cNvSpPr>
                <a:spLocks noChangeArrowheads="1"/>
              </p:cNvSpPr>
              <p:nvPr/>
            </p:nvSpPr>
            <p:spPr bwMode="auto">
              <a:xfrm rot="1289514">
                <a:off x="3240" y="3120"/>
                <a:ext cx="322" cy="288"/>
              </a:xfrm>
              <a:prstGeom prst="irregularSeal2">
                <a:avLst/>
              </a:prstGeom>
              <a:solidFill>
                <a:schemeClr val="tx2"/>
              </a:solidFill>
              <a:ln w="12700">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endParaRPr lang="en-US" altLang="en-US" sz="3940" i="1">
                  <a:solidFill>
                    <a:srgbClr val="FFFF00"/>
                  </a:solidFill>
                  <a:latin typeface="Palatino"/>
                  <a:ea typeface="华文细黑" panose="02010600040101010101" pitchFamily="2" charset="-122"/>
                </a:endParaRPr>
              </a:p>
            </p:txBody>
          </p:sp>
          <p:sp>
            <p:nvSpPr>
              <p:cNvPr id="134169" name="AutoShape 18"/>
              <p:cNvSpPr>
                <a:spLocks noChangeArrowheads="1"/>
              </p:cNvSpPr>
              <p:nvPr/>
            </p:nvSpPr>
            <p:spPr bwMode="auto">
              <a:xfrm rot="1289514">
                <a:off x="3272" y="3168"/>
                <a:ext cx="226" cy="192"/>
              </a:xfrm>
              <a:prstGeom prst="irregularSeal2">
                <a:avLst/>
              </a:prstGeom>
              <a:solidFill>
                <a:schemeClr val="tx2"/>
              </a:solidFill>
              <a:ln w="12700">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endParaRPr lang="en-US" altLang="en-US" sz="3940" i="1">
                  <a:solidFill>
                    <a:srgbClr val="FFFF00"/>
                  </a:solidFill>
                  <a:latin typeface="Palatino"/>
                  <a:ea typeface="华文细黑" panose="02010600040101010101" pitchFamily="2" charset="-122"/>
                </a:endParaRPr>
              </a:p>
            </p:txBody>
          </p:sp>
        </p:grpSp>
        <p:sp>
          <p:nvSpPr>
            <p:cNvPr id="134160" name="Text Box 19"/>
            <p:cNvSpPr txBox="1">
              <a:spLocks noChangeArrowheads="1"/>
            </p:cNvSpPr>
            <p:nvPr/>
          </p:nvSpPr>
          <p:spPr bwMode="auto">
            <a:xfrm>
              <a:off x="1617663" y="4473575"/>
              <a:ext cx="546100" cy="356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215" i="1">
                  <a:solidFill>
                    <a:srgbClr val="FFFF00"/>
                  </a:solidFill>
                  <a:latin typeface="Arial" panose="020B0604020202020204" pitchFamily="34" charset="0"/>
                  <a:ea typeface="华文细黑" panose="02010600040101010101" pitchFamily="2" charset="-122"/>
                </a:rPr>
                <a:t>低</a:t>
              </a:r>
              <a:endParaRPr lang="zh-CN" altLang="en-US" sz="2215" i="1">
                <a:solidFill>
                  <a:srgbClr val="FFFF00"/>
                </a:solidFill>
                <a:latin typeface="Arial" panose="020B0604020202020204" pitchFamily="34" charset="0"/>
                <a:ea typeface="华文细黑" panose="02010600040101010101" pitchFamily="2" charset="-122"/>
              </a:endParaRPr>
            </a:p>
          </p:txBody>
        </p:sp>
        <p:sp>
          <p:nvSpPr>
            <p:cNvPr id="134161" name="Text Box 20"/>
            <p:cNvSpPr txBox="1">
              <a:spLocks noChangeArrowheads="1"/>
            </p:cNvSpPr>
            <p:nvPr/>
          </p:nvSpPr>
          <p:spPr bwMode="auto">
            <a:xfrm>
              <a:off x="7700963" y="4475163"/>
              <a:ext cx="546100" cy="356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215" i="1">
                  <a:solidFill>
                    <a:srgbClr val="FFFF00"/>
                  </a:solidFill>
                  <a:latin typeface="Arial" panose="020B0604020202020204" pitchFamily="34" charset="0"/>
                  <a:ea typeface="华文细黑" panose="02010600040101010101" pitchFamily="2" charset="-122"/>
                </a:rPr>
                <a:t>高</a:t>
              </a:r>
              <a:endParaRPr lang="zh-CN" altLang="en-US" sz="2215" i="1">
                <a:solidFill>
                  <a:srgbClr val="FFFF00"/>
                </a:solidFill>
                <a:latin typeface="Arial" panose="020B0604020202020204" pitchFamily="34" charset="0"/>
                <a:ea typeface="华文细黑" panose="02010600040101010101" pitchFamily="2" charset="-122"/>
              </a:endParaRPr>
            </a:p>
          </p:txBody>
        </p:sp>
        <p:sp>
          <p:nvSpPr>
            <p:cNvPr id="134162" name="Text Box 21"/>
            <p:cNvSpPr txBox="1">
              <a:spLocks noChangeArrowheads="1"/>
            </p:cNvSpPr>
            <p:nvPr/>
          </p:nvSpPr>
          <p:spPr bwMode="auto">
            <a:xfrm>
              <a:off x="1539875" y="1233488"/>
              <a:ext cx="544513" cy="356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215" i="1">
                  <a:solidFill>
                    <a:srgbClr val="FFFF00"/>
                  </a:solidFill>
                  <a:latin typeface="Arial" panose="020B0604020202020204" pitchFamily="34" charset="0"/>
                  <a:ea typeface="华文细黑" panose="02010600040101010101" pitchFamily="2" charset="-122"/>
                </a:rPr>
                <a:t>高</a:t>
              </a:r>
              <a:endParaRPr lang="zh-CN" altLang="en-US" sz="2215" i="1">
                <a:solidFill>
                  <a:srgbClr val="FFFF00"/>
                </a:solidFill>
                <a:latin typeface="Arial" panose="020B0604020202020204" pitchFamily="34" charset="0"/>
                <a:ea typeface="华文细黑" panose="02010600040101010101" pitchFamily="2" charset="-122"/>
              </a:endParaRPr>
            </a:p>
          </p:txBody>
        </p:sp>
        <p:sp>
          <p:nvSpPr>
            <p:cNvPr id="134163" name="Text Box 22"/>
            <p:cNvSpPr txBox="1">
              <a:spLocks noChangeArrowheads="1"/>
            </p:cNvSpPr>
            <p:nvPr/>
          </p:nvSpPr>
          <p:spPr bwMode="auto">
            <a:xfrm>
              <a:off x="1611115" y="2386013"/>
              <a:ext cx="425648" cy="1722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215" i="1" dirty="0">
                  <a:solidFill>
                    <a:srgbClr val="FFFF00"/>
                  </a:solidFill>
                  <a:latin typeface="楷体_GB2312"/>
                  <a:ea typeface="楷体_GB2312"/>
                  <a:cs typeface="楷体_GB2312"/>
                </a:rPr>
                <a:t>安全成本</a:t>
              </a:r>
              <a:r>
                <a:rPr lang="en-US" altLang="zh-CN" sz="2215" i="1" dirty="0">
                  <a:solidFill>
                    <a:srgbClr val="FFFF00"/>
                  </a:solidFill>
                  <a:latin typeface="楷体_GB2312"/>
                  <a:ea typeface="楷体_GB2312"/>
                  <a:cs typeface="楷体_GB2312"/>
                </a:rPr>
                <a:t>/</a:t>
              </a:r>
              <a:r>
                <a:rPr lang="zh-CN" altLang="en-US" sz="2215" i="1" dirty="0">
                  <a:solidFill>
                    <a:srgbClr val="FFFF00"/>
                  </a:solidFill>
                  <a:latin typeface="楷体_GB2312"/>
                  <a:ea typeface="楷体_GB2312"/>
                  <a:cs typeface="楷体_GB2312"/>
                </a:rPr>
                <a:t>损失</a:t>
              </a:r>
              <a:endParaRPr lang="zh-CN" altLang="en-US" sz="2215" i="1" dirty="0">
                <a:solidFill>
                  <a:srgbClr val="FFFF00"/>
                </a:solidFill>
                <a:latin typeface="楷体_GB2312"/>
                <a:ea typeface="楷体_GB2312"/>
                <a:cs typeface="楷体_GB2312"/>
              </a:endParaRPr>
            </a:p>
          </p:txBody>
        </p:sp>
        <p:sp>
          <p:nvSpPr>
            <p:cNvPr id="134164" name="Text Box 23"/>
            <p:cNvSpPr txBox="1">
              <a:spLocks noChangeArrowheads="1"/>
            </p:cNvSpPr>
            <p:nvPr/>
          </p:nvSpPr>
          <p:spPr bwMode="auto">
            <a:xfrm>
              <a:off x="4503738" y="4545013"/>
              <a:ext cx="2574925" cy="356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215" i="1">
                  <a:solidFill>
                    <a:srgbClr val="FFFF00"/>
                  </a:solidFill>
                  <a:latin typeface="Arial" panose="020B0604020202020204" pitchFamily="34" charset="0"/>
                  <a:ea typeface="楷体_GB2312"/>
                  <a:cs typeface="楷体_GB2312"/>
                </a:rPr>
                <a:t>所提供的安全水平</a:t>
              </a:r>
              <a:endParaRPr lang="zh-CN" altLang="en-US" sz="2215" i="1">
                <a:solidFill>
                  <a:srgbClr val="FFFF00"/>
                </a:solidFill>
                <a:latin typeface="Arial" panose="020B0604020202020204" pitchFamily="34" charset="0"/>
                <a:ea typeface="楷体_GB2312"/>
                <a:cs typeface="楷体_GB2312"/>
              </a:endParaRPr>
            </a:p>
          </p:txBody>
        </p:sp>
        <p:sp>
          <p:nvSpPr>
            <p:cNvPr id="134165" name="Oval 24"/>
            <p:cNvSpPr>
              <a:spLocks noChangeArrowheads="1"/>
            </p:cNvSpPr>
            <p:nvPr/>
          </p:nvSpPr>
          <p:spPr bwMode="auto">
            <a:xfrm>
              <a:off x="1930400" y="4402138"/>
              <a:ext cx="153988" cy="144462"/>
            </a:xfrm>
            <a:prstGeom prst="ellipse">
              <a:avLst/>
            </a:prstGeom>
            <a:solidFill>
              <a:srgbClr val="1B1050"/>
            </a:solidFill>
            <a:ln w="9525" algn="ctr">
              <a:solidFill>
                <a:schemeClr val="tx1"/>
              </a:solidFill>
              <a:round/>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zh-CN" sz="2215" i="1">
                <a:solidFill>
                  <a:srgbClr val="FFFF00"/>
                </a:solidFill>
                <a:latin typeface="Arial" panose="020B0604020202020204" pitchFamily="34" charset="0"/>
                <a:ea typeface="华文细黑" panose="02010600040101010101" pitchFamily="2" charset="-122"/>
              </a:endParaRPr>
            </a:p>
          </p:txBody>
        </p:sp>
      </p:grpSp>
      <p:sp>
        <p:nvSpPr>
          <p:cNvPr id="144404" name="标题 1"/>
          <p:cNvSpPr/>
          <p:nvPr/>
        </p:nvSpPr>
        <p:spPr bwMode="auto">
          <a:xfrm>
            <a:off x="1949938" y="6164385"/>
            <a:ext cx="8600831" cy="697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3940" b="1">
                <a:solidFill>
                  <a:srgbClr val="FF0000"/>
                </a:solidFill>
                <a:latin typeface="Arial" panose="020B0604020202020204" pitchFamily="34" charset="0"/>
                <a:ea typeface="宋体" panose="02010600030101010101" pitchFamily="2" charset="-122"/>
              </a:rPr>
              <a:t>关键是实现成本利益的平衡</a:t>
            </a:r>
            <a:endParaRPr lang="zh-CN" altLang="en-US" sz="3940" b="1">
              <a:solidFill>
                <a:srgbClr val="FF0000"/>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44388"/>
                                        </p:tgtEl>
                                        <p:attrNameLst>
                                          <p:attrName>style.visibility</p:attrName>
                                        </p:attrNameLst>
                                      </p:cBhvr>
                                      <p:to>
                                        <p:strVal val="visible"/>
                                      </p:to>
                                    </p:set>
                                    <p:anim calcmode="lin" valueType="num">
                                      <p:cBhvr additive="base">
                                        <p:cTn id="7" dur="500" fill="hold"/>
                                        <p:tgtEl>
                                          <p:spTgt spid="144388"/>
                                        </p:tgtEl>
                                        <p:attrNameLst>
                                          <p:attrName>ppt_x</p:attrName>
                                        </p:attrNameLst>
                                      </p:cBhvr>
                                      <p:tavLst>
                                        <p:tav tm="0">
                                          <p:val>
                                            <p:strVal val="1+#ppt_w/2"/>
                                          </p:val>
                                        </p:tav>
                                        <p:tav tm="100000">
                                          <p:val>
                                            <p:strVal val="#ppt_x"/>
                                          </p:val>
                                        </p:tav>
                                      </p:tavLst>
                                    </p:anim>
                                    <p:anim calcmode="lin" valueType="num">
                                      <p:cBhvr additive="base">
                                        <p:cTn id="8" dur="500" fill="hold"/>
                                        <p:tgtEl>
                                          <p:spTgt spid="14438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144404"/>
                                        </p:tgtEl>
                                        <p:attrNameLst>
                                          <p:attrName>style.visibility</p:attrName>
                                        </p:attrNameLst>
                                      </p:cBhvr>
                                      <p:to>
                                        <p:strVal val="visible"/>
                                      </p:to>
                                    </p:set>
                                    <p:anim calcmode="lin" valueType="num">
                                      <p:cBhvr additive="base">
                                        <p:cTn id="18" dur="1000" fill="hold"/>
                                        <p:tgtEl>
                                          <p:spTgt spid="144404"/>
                                        </p:tgtEl>
                                        <p:attrNameLst>
                                          <p:attrName>ppt_x</p:attrName>
                                        </p:attrNameLst>
                                      </p:cBhvr>
                                      <p:tavLst>
                                        <p:tav tm="0">
                                          <p:val>
                                            <p:strVal val="#ppt_x"/>
                                          </p:val>
                                        </p:tav>
                                        <p:tav tm="100000">
                                          <p:val>
                                            <p:strVal val="#ppt_x"/>
                                          </p:val>
                                        </p:tav>
                                      </p:tavLst>
                                    </p:anim>
                                    <p:anim calcmode="lin" valueType="num">
                                      <p:cBhvr additive="base">
                                        <p:cTn id="19" dur="1000" fill="hold"/>
                                        <p:tgtEl>
                                          <p:spTgt spid="1444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p:bldP spid="14440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gray">
          <a:xfrm>
            <a:off x="1398954" y="1125416"/>
            <a:ext cx="9659815" cy="974969"/>
          </a:xfrm>
          <a:prstGeom prst="rect">
            <a:avLst/>
          </a:prstGeom>
          <a:noFill/>
          <a:ln w="9525">
            <a:noFill/>
            <a:miter lim="800000"/>
          </a:ln>
        </p:spPr>
        <p:txBody>
          <a:bodyPr lIns="112521" tIns="56260" rIns="112521" bIns="56260"/>
          <a:lstStyle/>
          <a:p>
            <a:pPr marL="342900" indent="-342900" eaLnBrk="1" hangingPunct="1">
              <a:spcBef>
                <a:spcPct val="20000"/>
              </a:spcBef>
              <a:buClr>
                <a:srgbClr val="3399FF"/>
              </a:buClr>
              <a:buFont typeface="Wingdings" panose="05000000000000000000" pitchFamily="2" charset="2"/>
              <a:buChar char="v"/>
              <a:defRPr/>
            </a:pPr>
            <a:r>
              <a:rPr lang="zh-CN" altLang="en-US" sz="4430" b="1" kern="0" dirty="0">
                <a:solidFill>
                  <a:srgbClr val="0000FF"/>
                </a:solidFill>
                <a:effectLst>
                  <a:outerShdw blurRad="38100" dist="38100" dir="2700000" algn="tl">
                    <a:srgbClr val="C0C0C0"/>
                  </a:outerShdw>
                </a:effectLst>
                <a:latin typeface="楷体_GB2312" pitchFamily="49" charset="-122"/>
                <a:ea typeface="楷体_GB2312" pitchFamily="49" charset="-122"/>
              </a:rPr>
              <a:t> 安全意识（</a:t>
            </a:r>
            <a:r>
              <a:rPr lang="en-US" altLang="zh-CN" sz="4430" b="1" kern="0" dirty="0">
                <a:solidFill>
                  <a:srgbClr val="0000FF"/>
                </a:solidFill>
                <a:effectLst>
                  <a:outerShdw blurRad="38100" dist="38100" dir="2700000" algn="tl">
                    <a:srgbClr val="C0C0C0"/>
                  </a:outerShdw>
                </a:effectLst>
                <a:latin typeface="Arial" panose="020B0604020202020204" pitchFamily="34" charset="0"/>
                <a:ea typeface="楷体_GB2312" pitchFamily="49" charset="-122"/>
              </a:rPr>
              <a:t>Security awareness</a:t>
            </a:r>
            <a:r>
              <a:rPr lang="zh-CN" altLang="en-US" sz="4430" b="1" kern="0" dirty="0">
                <a:solidFill>
                  <a:srgbClr val="0000FF"/>
                </a:solidFill>
                <a:effectLst>
                  <a:outerShdw blurRad="38100" dist="38100" dir="2700000" algn="tl">
                    <a:srgbClr val="C0C0C0"/>
                  </a:outerShdw>
                </a:effectLst>
                <a:latin typeface="楷体_GB2312" pitchFamily="49" charset="-122"/>
                <a:ea typeface="楷体_GB2312" pitchFamily="49" charset="-122"/>
              </a:rPr>
              <a:t>）</a:t>
            </a:r>
            <a:endParaRPr lang="zh-CN" altLang="en-US" sz="4430" b="1" kern="0" dirty="0">
              <a:solidFill>
                <a:srgbClr val="0000FF"/>
              </a:solidFill>
              <a:effectLst>
                <a:outerShdw blurRad="38100" dist="38100" dir="2700000" algn="tl">
                  <a:srgbClr val="C0C0C0"/>
                </a:outerShdw>
              </a:effectLst>
              <a:latin typeface="楷体_GB2312" pitchFamily="49" charset="-122"/>
              <a:ea typeface="楷体_GB2312" pitchFamily="49" charset="-122"/>
            </a:endParaRPr>
          </a:p>
          <a:p>
            <a:pPr marL="342900" indent="-342900" eaLnBrk="1" hangingPunct="1">
              <a:spcBef>
                <a:spcPct val="20000"/>
              </a:spcBef>
              <a:buClr>
                <a:srgbClr val="3399FF"/>
              </a:buClr>
              <a:buFont typeface="Wingdings" panose="05000000000000000000" pitchFamily="2" charset="2"/>
              <a:buNone/>
              <a:defRPr/>
            </a:pPr>
            <a:r>
              <a:rPr lang="zh-CN" altLang="en-US" sz="3940" b="1" kern="0" dirty="0">
                <a:effectLst>
                  <a:outerShdw blurRad="38100" dist="38100" dir="2700000" algn="tl">
                    <a:srgbClr val="C0C0C0"/>
                  </a:outerShdw>
                </a:effectLst>
                <a:latin typeface="楷体_GB2312" pitchFamily="49" charset="-122"/>
                <a:ea typeface="楷体_GB2312" pitchFamily="49" charset="-122"/>
              </a:rPr>
              <a:t>  </a:t>
            </a:r>
            <a:endParaRPr lang="zh-CN" altLang="en-US" sz="4430" b="1" kern="0" dirty="0">
              <a:effectLst>
                <a:outerShdw blurRad="38100" dist="38100" dir="2700000" algn="tl">
                  <a:srgbClr val="C0C0C0"/>
                </a:outerShdw>
              </a:effectLst>
              <a:latin typeface="楷体_GB2312" pitchFamily="49" charset="-122"/>
              <a:ea typeface="楷体_GB2312" pitchFamily="49" charset="-122"/>
            </a:endParaRPr>
          </a:p>
        </p:txBody>
      </p:sp>
      <p:sp>
        <p:nvSpPr>
          <p:cNvPr id="145411" name="Rectangle 4"/>
          <p:cNvSpPr>
            <a:spLocks noChangeArrowheads="1"/>
          </p:cNvSpPr>
          <p:nvPr/>
        </p:nvSpPr>
        <p:spPr bwMode="auto">
          <a:xfrm>
            <a:off x="1063674" y="150446"/>
            <a:ext cx="4709160" cy="697230"/>
          </a:xfrm>
          <a:prstGeom prst="rect">
            <a:avLst/>
          </a:prstGeom>
          <a:noFill/>
          <a:ln>
            <a:noFill/>
          </a:ln>
          <a:effectLst>
            <a:prstShdw prst="shdw12">
              <a:schemeClr val="bg2">
                <a:alpha val="50000"/>
              </a:schemeClr>
            </a:prstShdw>
          </a:effec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defRPr/>
            </a:pPr>
            <a:r>
              <a:rPr lang="zh-CN" altLang="en-US" sz="3940" b="1" dirty="0">
                <a:solidFill>
                  <a:srgbClr val="FF0000"/>
                </a:solidFill>
                <a:latin typeface="+mn-ea"/>
                <a:ea typeface="+mn-ea"/>
              </a:rPr>
              <a:t>什么是信息安全意识</a:t>
            </a:r>
            <a:endParaRPr lang="zh-CN" altLang="en-US" sz="3940" b="1" dirty="0">
              <a:solidFill>
                <a:srgbClr val="FF0000"/>
              </a:solidFill>
              <a:latin typeface="+mn-ea"/>
              <a:ea typeface="+mn-ea"/>
            </a:endParaRPr>
          </a:p>
        </p:txBody>
      </p:sp>
      <p:sp>
        <p:nvSpPr>
          <p:cNvPr id="3" name="矩形 2"/>
          <p:cNvSpPr/>
          <p:nvPr/>
        </p:nvSpPr>
        <p:spPr>
          <a:xfrm>
            <a:off x="1058985" y="2100385"/>
            <a:ext cx="9747739" cy="1456690"/>
          </a:xfrm>
          <a:prstGeom prst="rect">
            <a:avLst/>
          </a:prstGeom>
        </p:spPr>
        <p:txBody>
          <a:bodyPr>
            <a:spAutoFit/>
          </a:bodyPr>
          <a:lstStyle/>
          <a:p>
            <a:pPr marL="342900" indent="-342900" eaLnBrk="1" hangingPunct="1">
              <a:spcBef>
                <a:spcPct val="20000"/>
              </a:spcBef>
              <a:buClr>
                <a:srgbClr val="3399FF"/>
              </a:buClr>
              <a:buFont typeface="Wingdings" panose="05000000000000000000" pitchFamily="2" charset="2"/>
              <a:buNone/>
              <a:defRPr/>
            </a:pPr>
            <a:r>
              <a:rPr lang="zh-CN" altLang="en-US" sz="2955" b="1" kern="0" dirty="0">
                <a:effectLst>
                  <a:outerShdw blurRad="38100" dist="38100" dir="2700000" algn="tl">
                    <a:srgbClr val="C0C0C0"/>
                  </a:outerShdw>
                </a:effectLst>
                <a:latin typeface="楷体_GB2312" pitchFamily="49" charset="-122"/>
                <a:ea typeface="楷体_GB2312" pitchFamily="49" charset="-122"/>
              </a:rPr>
              <a:t>  就是能够</a:t>
            </a:r>
            <a:r>
              <a:rPr lang="zh-CN" altLang="en-US" sz="2955" b="1" kern="0" dirty="0">
                <a:solidFill>
                  <a:srgbClr val="FF0000"/>
                </a:solidFill>
                <a:effectLst>
                  <a:outerShdw blurRad="38100" dist="38100" dir="2700000" algn="tl">
                    <a:srgbClr val="C0C0C0"/>
                  </a:outerShdw>
                </a:effectLst>
                <a:latin typeface="楷体_GB2312" pitchFamily="49" charset="-122"/>
                <a:ea typeface="楷体_GB2312" pitchFamily="49" charset="-122"/>
              </a:rPr>
              <a:t>认知</a:t>
            </a:r>
            <a:r>
              <a:rPr lang="zh-CN" altLang="en-US" sz="2955" b="1" kern="0" dirty="0">
                <a:effectLst>
                  <a:outerShdw blurRad="38100" dist="38100" dir="2700000" algn="tl">
                    <a:srgbClr val="C0C0C0"/>
                  </a:outerShdw>
                </a:effectLst>
                <a:latin typeface="楷体_GB2312" pitchFamily="49" charset="-122"/>
                <a:ea typeface="楷体_GB2312" pitchFamily="49" charset="-122"/>
              </a:rPr>
              <a:t>可能存在的安全问题，</a:t>
            </a:r>
            <a:r>
              <a:rPr lang="zh-CN" altLang="en-US" sz="2955" b="1" kern="0" dirty="0">
                <a:solidFill>
                  <a:srgbClr val="FF0000"/>
                </a:solidFill>
                <a:effectLst>
                  <a:outerShdw blurRad="38100" dist="38100" dir="2700000" algn="tl">
                    <a:srgbClr val="C0C0C0"/>
                  </a:outerShdw>
                </a:effectLst>
                <a:latin typeface="楷体_GB2312" pitchFamily="49" charset="-122"/>
                <a:ea typeface="楷体_GB2312" pitchFamily="49" charset="-122"/>
              </a:rPr>
              <a:t>明白</a:t>
            </a:r>
            <a:r>
              <a:rPr lang="zh-CN" altLang="en-US" sz="2955" b="1" kern="0" dirty="0">
                <a:effectLst>
                  <a:outerShdw blurRad="38100" dist="38100" dir="2700000" algn="tl">
                    <a:srgbClr val="C0C0C0"/>
                  </a:outerShdw>
                </a:effectLst>
                <a:latin typeface="楷体_GB2312" pitchFamily="49" charset="-122"/>
                <a:ea typeface="楷体_GB2312" pitchFamily="49" charset="-122"/>
              </a:rPr>
              <a:t>安全事故对组织的危害，恪守正确的行为方式，并且</a:t>
            </a:r>
            <a:r>
              <a:rPr lang="zh-CN" altLang="en-US" sz="2955" b="1" kern="0" dirty="0">
                <a:solidFill>
                  <a:srgbClr val="FF0000"/>
                </a:solidFill>
                <a:effectLst>
                  <a:outerShdw blurRad="38100" dist="38100" dir="2700000" algn="tl">
                    <a:srgbClr val="C0C0C0"/>
                  </a:outerShdw>
                </a:effectLst>
                <a:latin typeface="楷体_GB2312" pitchFamily="49" charset="-122"/>
                <a:ea typeface="楷体_GB2312" pitchFamily="49" charset="-122"/>
              </a:rPr>
              <a:t>清楚</a:t>
            </a:r>
            <a:r>
              <a:rPr lang="zh-CN" altLang="en-US" sz="2955" b="1" kern="0" dirty="0">
                <a:effectLst>
                  <a:outerShdw blurRad="38100" dist="38100" dir="2700000" algn="tl">
                    <a:srgbClr val="C0C0C0"/>
                  </a:outerShdw>
                </a:effectLst>
                <a:latin typeface="楷体_GB2312" pitchFamily="49" charset="-122"/>
                <a:ea typeface="楷体_GB2312" pitchFamily="49" charset="-122"/>
              </a:rPr>
              <a:t>在安全事故发生时所应采取的措施。</a:t>
            </a:r>
            <a:endParaRPr lang="zh-CN" altLang="en-US" sz="2955" b="1" kern="0" dirty="0">
              <a:effectLst>
                <a:outerShdw blurRad="38100" dist="38100" dir="2700000" algn="tl">
                  <a:srgbClr val="C0C0C0"/>
                </a:outerShdw>
              </a:effectLst>
              <a:latin typeface="楷体_GB2312" pitchFamily="49" charset="-122"/>
              <a:ea typeface="楷体_GB2312" pitchFamily="49"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8262" y="4052278"/>
            <a:ext cx="2942492" cy="280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39831" y="4050323"/>
            <a:ext cx="2919046" cy="280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050323"/>
            <a:ext cx="2919046" cy="280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044354" y="4026877"/>
            <a:ext cx="2942492" cy="282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5411"/>
                                        </p:tgtEl>
                                        <p:attrNameLst>
                                          <p:attrName>style.visibility</p:attrName>
                                        </p:attrNameLst>
                                      </p:cBhvr>
                                      <p:to>
                                        <p:strVal val="visible"/>
                                      </p:to>
                                    </p:set>
                                    <p:anim calcmode="lin" valueType="num">
                                      <p:cBhvr additive="base">
                                        <p:cTn id="7" dur="500" fill="hold"/>
                                        <p:tgtEl>
                                          <p:spTgt spid="145411"/>
                                        </p:tgtEl>
                                        <p:attrNameLst>
                                          <p:attrName>ppt_x</p:attrName>
                                        </p:attrNameLst>
                                      </p:cBhvr>
                                      <p:tavLst>
                                        <p:tav tm="0">
                                          <p:val>
                                            <p:strVal val="0-#ppt_w/2"/>
                                          </p:val>
                                        </p:tav>
                                        <p:tav tm="100000">
                                          <p:val>
                                            <p:strVal val="#ppt_x"/>
                                          </p:val>
                                        </p:tav>
                                      </p:tavLst>
                                    </p:anim>
                                    <p:anim calcmode="lin" valueType="num">
                                      <p:cBhvr additive="base">
                                        <p:cTn id="8" dur="500" fill="hold"/>
                                        <p:tgtEl>
                                          <p:spTgt spid="1454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1000" fill="hold"/>
                                        <p:tgtEl>
                                          <p:spTgt spid="4"/>
                                        </p:tgtEl>
                                        <p:attrNameLst>
                                          <p:attrName>ppt_x</p:attrName>
                                        </p:attrNameLst>
                                      </p:cBhvr>
                                      <p:tavLst>
                                        <p:tav tm="0">
                                          <p:val>
                                            <p:strVal val="#ppt_x"/>
                                          </p:val>
                                        </p:tav>
                                        <p:tav tm="100000">
                                          <p:val>
                                            <p:strVal val="#ppt_x"/>
                                          </p:val>
                                        </p:tav>
                                      </p:tavLst>
                                    </p:anim>
                                    <p:anim calcmode="lin" valueType="num">
                                      <p:cBhvr additive="base">
                                        <p:cTn id="23" dur="1000" fill="hold"/>
                                        <p:tgtEl>
                                          <p:spTgt spid="4"/>
                                        </p:tgtEl>
                                        <p:attrNameLst>
                                          <p:attrName>ppt_y</p:attrName>
                                        </p:attrNameLst>
                                      </p:cBhvr>
                                      <p:tavLst>
                                        <p:tav tm="0">
                                          <p:val>
                                            <p:strVal val="1+#ppt_h/2"/>
                                          </p:val>
                                        </p:tav>
                                        <p:tav tm="100000">
                                          <p:val>
                                            <p:strVal val="#ppt_y"/>
                                          </p:val>
                                        </p:tav>
                                      </p:tavLst>
                                    </p:anim>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par>
                          <p:cTn id="29" fill="hold">
                            <p:stCondLst>
                              <p:cond delay="3000"/>
                            </p:stCondLst>
                            <p:childTnLst>
                              <p:par>
                                <p:cTn id="30" presetID="2" presetClass="entr" presetSubtype="4"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par>
                          <p:cTn id="34" fill="hold">
                            <p:stCondLst>
                              <p:cond delay="3500"/>
                            </p:stCondLst>
                            <p:childTnLst>
                              <p:par>
                                <p:cTn id="35" presetID="2" presetClass="entr" presetSubtype="4"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5411" grpId="0" bldLvl="0" animBg="1"/>
      <p:bldP spid="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gray">
          <a:xfrm>
            <a:off x="1311031" y="1301262"/>
            <a:ext cx="8909538" cy="1588476"/>
          </a:xfrm>
          <a:prstGeom prst="rect">
            <a:avLst/>
          </a:prstGeom>
          <a:noFill/>
          <a:ln w="9525">
            <a:noFill/>
            <a:miter lim="800000"/>
          </a:ln>
        </p:spPr>
        <p:txBody>
          <a:bodyPr lIns="112521" tIns="56260" rIns="112521" bIns="56260"/>
          <a:lstStyle/>
          <a:p>
            <a:pPr marL="533400" indent="-533400">
              <a:spcBef>
                <a:spcPct val="20000"/>
              </a:spcBef>
              <a:buClr>
                <a:srgbClr val="3399FF"/>
              </a:buClr>
              <a:buFont typeface="Wingdings" panose="05000000000000000000" pitchFamily="2" charset="2"/>
              <a:buNone/>
              <a:defRPr/>
            </a:pPr>
            <a:r>
              <a:rPr lang="zh-CN" altLang="en-US" sz="4430" b="1" kern="0" dirty="0">
                <a:solidFill>
                  <a:srgbClr val="FF0000"/>
                </a:solidFill>
                <a:latin typeface="黑体" panose="02010609060101010101" pitchFamily="49" charset="-122"/>
                <a:ea typeface="黑体" panose="02010609060101010101" pitchFamily="49" charset="-122"/>
              </a:rPr>
              <a:t>从</a:t>
            </a:r>
            <a:r>
              <a:rPr lang="en-US" altLang="zh-CN" sz="4430" b="1" kern="0" dirty="0">
                <a:solidFill>
                  <a:srgbClr val="FF0000"/>
                </a:solidFill>
                <a:latin typeface="黑体" panose="02010609060101010101" pitchFamily="49" charset="-122"/>
                <a:ea typeface="黑体" panose="02010609060101010101" pitchFamily="49" charset="-122"/>
              </a:rPr>
              <a:t>《</a:t>
            </a:r>
            <a:r>
              <a:rPr lang="zh-CN" altLang="en-US" sz="4430" b="1" kern="0" dirty="0">
                <a:solidFill>
                  <a:srgbClr val="FF0000"/>
                </a:solidFill>
                <a:latin typeface="黑体" panose="02010609060101010101" pitchFamily="49" charset="-122"/>
                <a:ea typeface="黑体" panose="02010609060101010101" pitchFamily="49" charset="-122"/>
              </a:rPr>
              <a:t>别忘了关门</a:t>
            </a:r>
            <a:r>
              <a:rPr lang="en-US" altLang="zh-CN" sz="4430" b="1" kern="0" dirty="0">
                <a:solidFill>
                  <a:srgbClr val="FF0000"/>
                </a:solidFill>
                <a:latin typeface="黑体" panose="02010609060101010101" pitchFamily="49" charset="-122"/>
                <a:ea typeface="黑体" panose="02010609060101010101" pitchFamily="49" charset="-122"/>
              </a:rPr>
              <a:t>》</a:t>
            </a:r>
            <a:r>
              <a:rPr lang="zh-CN" altLang="en-US" sz="4430" b="1" kern="0" dirty="0">
                <a:solidFill>
                  <a:srgbClr val="FF0000"/>
                </a:solidFill>
                <a:latin typeface="黑体" panose="02010609060101010101" pitchFamily="49" charset="-122"/>
                <a:ea typeface="黑体" panose="02010609060101010101" pitchFamily="49" charset="-122"/>
              </a:rPr>
              <a:t>的故事说起</a:t>
            </a:r>
            <a:r>
              <a:rPr lang="en-US" altLang="zh-CN" sz="4430" b="1" kern="0" dirty="0">
                <a:solidFill>
                  <a:srgbClr val="FF0000"/>
                </a:solidFill>
                <a:latin typeface="黑体" panose="02010609060101010101" pitchFamily="49" charset="-122"/>
                <a:ea typeface="黑体" panose="02010609060101010101" pitchFamily="49" charset="-122"/>
              </a:rPr>
              <a:t>……</a:t>
            </a:r>
            <a:endParaRPr lang="en-US" altLang="zh-CN" sz="4430" b="1" kern="0" dirty="0">
              <a:solidFill>
                <a:srgbClr val="FF0000"/>
              </a:solidFill>
              <a:latin typeface="黑体" panose="02010609060101010101" pitchFamily="49" charset="-122"/>
              <a:ea typeface="黑体" panose="02010609060101010101" pitchFamily="49" charset="-122"/>
            </a:endParaRPr>
          </a:p>
          <a:p>
            <a:pPr marL="533400" indent="-533400">
              <a:spcBef>
                <a:spcPct val="20000"/>
              </a:spcBef>
              <a:buClr>
                <a:srgbClr val="3399FF"/>
              </a:buClr>
              <a:buFont typeface="Wingdings" panose="05000000000000000000" pitchFamily="2" charset="2"/>
              <a:buNone/>
              <a:defRPr/>
            </a:pPr>
            <a:r>
              <a:rPr lang="en-US" altLang="zh-CN" sz="4430" b="1" kern="0" dirty="0">
                <a:solidFill>
                  <a:srgbClr val="FF0000"/>
                </a:solidFill>
                <a:latin typeface="黑体" panose="02010609060101010101" pitchFamily="49" charset="-122"/>
                <a:ea typeface="黑体" panose="02010609060101010101" pitchFamily="49" charset="-122"/>
              </a:rPr>
              <a:t>                                                 </a:t>
            </a:r>
            <a:endParaRPr lang="en-US" altLang="zh-CN" sz="4430" b="1" kern="0" dirty="0">
              <a:solidFill>
                <a:srgbClr val="FF0000"/>
              </a:solidFill>
              <a:latin typeface="黑体" panose="02010609060101010101" pitchFamily="49" charset="-122"/>
              <a:ea typeface="黑体" panose="02010609060101010101" pitchFamily="49" charset="-122"/>
            </a:endParaRPr>
          </a:p>
          <a:p>
            <a:pPr marL="533400" indent="-533400" algn="r">
              <a:spcBef>
                <a:spcPct val="20000"/>
              </a:spcBef>
              <a:buClr>
                <a:srgbClr val="3399FF"/>
              </a:buClr>
              <a:buFont typeface="Wingdings" panose="05000000000000000000" pitchFamily="2" charset="2"/>
              <a:buNone/>
              <a:defRPr/>
            </a:pPr>
            <a:r>
              <a:rPr lang="en-US" altLang="zh-CN" sz="4430" b="1" kern="0" dirty="0">
                <a:solidFill>
                  <a:srgbClr val="FF0000"/>
                </a:solidFill>
                <a:latin typeface="黑体" panose="02010609060101010101" pitchFamily="49" charset="-122"/>
                <a:ea typeface="黑体" panose="02010609060101010101" pitchFamily="49" charset="-122"/>
              </a:rPr>
              <a:t>                           </a:t>
            </a:r>
            <a:endParaRPr lang="en-US" altLang="zh-CN" sz="4430" b="1" kern="0" dirty="0">
              <a:solidFill>
                <a:srgbClr val="FF0000"/>
              </a:solidFill>
              <a:latin typeface="黑体" panose="02010609060101010101" pitchFamily="49" charset="-122"/>
              <a:ea typeface="黑体" panose="02010609060101010101" pitchFamily="49" charset="-122"/>
            </a:endParaRPr>
          </a:p>
        </p:txBody>
      </p:sp>
      <p:sp>
        <p:nvSpPr>
          <p:cNvPr id="146435" name="Rectangle 4"/>
          <p:cNvSpPr>
            <a:spLocks noChangeArrowheads="1"/>
          </p:cNvSpPr>
          <p:nvPr/>
        </p:nvSpPr>
        <p:spPr bwMode="auto">
          <a:xfrm>
            <a:off x="4146062" y="3481754"/>
            <a:ext cx="7821247" cy="656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a:buClr>
                <a:schemeClr val="hlink"/>
              </a:buClr>
              <a:buFont typeface="Wingdings" panose="05000000000000000000" pitchFamily="2" charset="2"/>
              <a:buNone/>
            </a:pPr>
            <a:r>
              <a:rPr lang="en-US" altLang="zh-CN" sz="2460" b="1"/>
              <a:t>《</a:t>
            </a:r>
            <a:r>
              <a:rPr lang="zh-CN" altLang="en-US" sz="2460" b="1"/>
              <a:t>商学院</a:t>
            </a:r>
            <a:r>
              <a:rPr lang="en-US" altLang="zh-CN" sz="2460" b="1"/>
              <a:t>》2005</a:t>
            </a:r>
            <a:r>
              <a:rPr lang="zh-CN" altLang="en-US" sz="2460" b="1"/>
              <a:t>年第七期的一篇文章，</a:t>
            </a:r>
            <a:r>
              <a:rPr lang="en-US" altLang="zh-CN" sz="2460" b="1"/>
              <a:t>《</a:t>
            </a:r>
            <a:r>
              <a:rPr lang="zh-CN" altLang="en-US" sz="2460" b="1"/>
              <a:t>别忘了关门</a:t>
            </a:r>
            <a:r>
              <a:rPr lang="en-US" altLang="zh-CN" sz="2460" b="1"/>
              <a:t>》</a:t>
            </a:r>
            <a:endParaRPr lang="en-US" altLang="zh-CN" sz="2460" b="1"/>
          </a:p>
          <a:p>
            <a:pPr>
              <a:buClr>
                <a:schemeClr val="hlink"/>
              </a:buClr>
              <a:buFont typeface="Wingdings" panose="05000000000000000000" pitchFamily="2" charset="2"/>
              <a:buNone/>
            </a:pPr>
            <a:endParaRPr lang="en-US" altLang="zh-CN" sz="2460" b="1"/>
          </a:p>
          <a:p>
            <a:pPr>
              <a:buClr>
                <a:schemeClr val="hlink"/>
              </a:buClr>
              <a:buFont typeface="Wingdings" panose="05000000000000000000" pitchFamily="2" charset="2"/>
              <a:buNone/>
            </a:pPr>
            <a:endParaRPr lang="zh-CN" altLang="en-US" sz="3690" b="1"/>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6435"/>
                                        </p:tgtEl>
                                        <p:attrNameLst>
                                          <p:attrName>style.visibility</p:attrName>
                                        </p:attrNameLst>
                                      </p:cBhvr>
                                      <p:to>
                                        <p:strVal val="visible"/>
                                      </p:to>
                                    </p:set>
                                    <p:anim calcmode="lin" valueType="num">
                                      <p:cBhvr additive="base">
                                        <p:cTn id="12" dur="1000" fill="hold"/>
                                        <p:tgtEl>
                                          <p:spTgt spid="146435"/>
                                        </p:tgtEl>
                                        <p:attrNameLst>
                                          <p:attrName>ppt_x</p:attrName>
                                        </p:attrNameLst>
                                      </p:cBhvr>
                                      <p:tavLst>
                                        <p:tav tm="0">
                                          <p:val>
                                            <p:strVal val="#ppt_x"/>
                                          </p:val>
                                        </p:tav>
                                        <p:tav tm="100000">
                                          <p:val>
                                            <p:strVal val="#ppt_x"/>
                                          </p:val>
                                        </p:tav>
                                      </p:tavLst>
                                    </p:anim>
                                    <p:anim calcmode="lin" valueType="num">
                                      <p:cBhvr additive="base">
                                        <p:cTn id="13" dur="1000" fill="hold"/>
                                        <p:tgtEl>
                                          <p:spTgt spid="146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643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777631" y="1213338"/>
            <a:ext cx="5052646" cy="4374515"/>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lang="zh-CN" altLang="en-US" sz="3445" dirty="0">
                <a:latin typeface="+mn-ea"/>
                <a:ea typeface="+mn-ea"/>
              </a:rPr>
              <a:t>    </a:t>
            </a:r>
            <a:r>
              <a:rPr lang="zh-CN" altLang="en-US" sz="2215" b="1" dirty="0">
                <a:latin typeface="+mn-ea"/>
                <a:ea typeface="+mn-ea"/>
              </a:rPr>
              <a:t>有一天动物园管理员们发现袋鼠从笼子里跑出来了，于是开会讨论，一致认为是笼子的高度过低。所以它们决定将笼子的高度</a:t>
            </a:r>
            <a:r>
              <a:rPr lang="zh-CN" altLang="en-US" sz="2215" b="1" dirty="0">
                <a:solidFill>
                  <a:srgbClr val="0000FF"/>
                </a:solidFill>
                <a:latin typeface="+mn-ea"/>
                <a:ea typeface="+mn-ea"/>
              </a:rPr>
              <a:t>由原來的十公尺加高到二十公尺</a:t>
            </a:r>
            <a:r>
              <a:rPr lang="zh-CN" altLang="en-US" sz="2215" b="1" dirty="0">
                <a:latin typeface="+mn-ea"/>
                <a:ea typeface="+mn-ea"/>
              </a:rPr>
              <a:t>。结果第二天他们发现袋鼠还是跑到外面来，所以他们又决定再将高度</a:t>
            </a:r>
            <a:r>
              <a:rPr lang="zh-CN" altLang="en-US" sz="2215" b="1" dirty="0">
                <a:solidFill>
                  <a:srgbClr val="0000FF"/>
                </a:solidFill>
                <a:latin typeface="+mn-ea"/>
                <a:ea typeface="+mn-ea"/>
              </a:rPr>
              <a:t>加高到三十公尺</a:t>
            </a:r>
            <a:r>
              <a:rPr lang="zh-CN" altLang="en-US" sz="2215" b="1" dirty="0">
                <a:latin typeface="+mn-ea"/>
                <a:ea typeface="+mn-ea"/>
              </a:rPr>
              <a:t>。</a:t>
            </a:r>
            <a:endParaRPr lang="zh-CN" altLang="en-US" sz="2215" b="1" dirty="0">
              <a:latin typeface="+mn-ea"/>
              <a:ea typeface="+mn-ea"/>
            </a:endParaRPr>
          </a:p>
          <a:p>
            <a:pPr eaLnBrk="1" hangingPunct="1">
              <a:spcBef>
                <a:spcPct val="0"/>
              </a:spcBef>
              <a:buClrTx/>
              <a:buFontTx/>
              <a:buNone/>
              <a:defRPr/>
            </a:pPr>
            <a:r>
              <a:rPr lang="zh-CN" altLang="en-US" sz="2215" b="1" dirty="0">
                <a:latin typeface="+mn-ea"/>
                <a:ea typeface="+mn-ea"/>
              </a:rPr>
              <a:t>    沒想到隔天居然又看到袋鼠全跑到外面，于是管理员们大为紧张，决定一不做二不休，将笼子的</a:t>
            </a:r>
            <a:r>
              <a:rPr lang="zh-CN" altLang="en-US" sz="2215" b="1" dirty="0">
                <a:solidFill>
                  <a:srgbClr val="0000FF"/>
                </a:solidFill>
                <a:latin typeface="+mn-ea"/>
                <a:ea typeface="+mn-ea"/>
              </a:rPr>
              <a:t>高度加高到一百公尺</a:t>
            </a:r>
            <a:r>
              <a:rPr lang="zh-CN" altLang="en-US" sz="2215" b="1" dirty="0">
                <a:latin typeface="+mn-ea"/>
                <a:ea typeface="+mn-ea"/>
              </a:rPr>
              <a:t>。</a:t>
            </a:r>
            <a:endParaRPr lang="zh-CN" altLang="en-US" sz="2215" b="1" dirty="0">
              <a:latin typeface="+mn-ea"/>
              <a:ea typeface="+mn-ea"/>
            </a:endParaRPr>
          </a:p>
          <a:p>
            <a:pPr eaLnBrk="1" hangingPunct="1">
              <a:spcBef>
                <a:spcPct val="0"/>
              </a:spcBef>
              <a:buClrTx/>
              <a:buFontTx/>
              <a:buNone/>
              <a:defRPr/>
            </a:pPr>
            <a:r>
              <a:rPr lang="zh-CN" altLang="en-US" sz="2215" dirty="0">
                <a:latin typeface="+mn-ea"/>
                <a:ea typeface="+mn-ea"/>
              </a:rPr>
              <a:t>        </a:t>
            </a:r>
            <a:endParaRPr lang="zh-CN" altLang="en-US" sz="2215" b="1" dirty="0">
              <a:solidFill>
                <a:srgbClr val="FF0000"/>
              </a:solidFill>
              <a:latin typeface="+mn-ea"/>
              <a:ea typeface="+mn-ea"/>
            </a:endParaRPr>
          </a:p>
        </p:txBody>
      </p:sp>
      <p:sp>
        <p:nvSpPr>
          <p:cNvPr id="3" name="矩形 2"/>
          <p:cNvSpPr/>
          <p:nvPr/>
        </p:nvSpPr>
        <p:spPr>
          <a:xfrm>
            <a:off x="1045308" y="287215"/>
            <a:ext cx="2823210" cy="622300"/>
          </a:xfrm>
          <a:prstGeom prst="rect">
            <a:avLst/>
          </a:prstGeom>
        </p:spPr>
        <p:txBody>
          <a:bodyPr wrap="none">
            <a:spAutoFit/>
          </a:bodyPr>
          <a:lstStyle/>
          <a:p>
            <a:pPr>
              <a:defRPr/>
            </a:pPr>
            <a:r>
              <a:rPr lang="zh-CN" altLang="en-US" sz="3445" b="1" dirty="0">
                <a:solidFill>
                  <a:srgbClr val="0000FF"/>
                </a:solidFill>
                <a:latin typeface="+mn-ea"/>
                <a:ea typeface="+mn-ea"/>
              </a:rPr>
              <a:t>袋鼠逃逸事件</a:t>
            </a:r>
            <a:endParaRPr lang="zh-CN" altLang="en-US" sz="3445" dirty="0">
              <a:solidFill>
                <a:srgbClr val="0000FF"/>
              </a:solidFill>
              <a:latin typeface="+mn-ea"/>
              <a:ea typeface="+mn-ea"/>
            </a:endParaRPr>
          </a:p>
        </p:txBody>
      </p:sp>
      <p:pic>
        <p:nvPicPr>
          <p:cNvPr id="4"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183924" y="930031"/>
            <a:ext cx="5498123" cy="478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2000" fill="hold"/>
                                        <p:tgtEl>
                                          <p:spTgt spid="4"/>
                                        </p:tgtEl>
                                        <p:attrNameLst>
                                          <p:attrName>ppt_w</p:attrName>
                                        </p:attrNameLst>
                                      </p:cBhvr>
                                      <p:tavLst>
                                        <p:tav tm="0">
                                          <p:val>
                                            <p:fltVal val="0"/>
                                          </p:val>
                                        </p:tav>
                                        <p:tav tm="100000">
                                          <p:val>
                                            <p:strVal val="#ppt_w"/>
                                          </p:val>
                                        </p:tav>
                                      </p:tavLst>
                                    </p:anim>
                                    <p:anim calcmode="lin" valueType="num">
                                      <p:cBhvr>
                                        <p:cTn id="19" dur="2000" fill="hold"/>
                                        <p:tgtEl>
                                          <p:spTgt spid="4"/>
                                        </p:tgtEl>
                                        <p:attrNameLst>
                                          <p:attrName>ppt_h</p:attrName>
                                        </p:attrNameLst>
                                      </p:cBhvr>
                                      <p:tavLst>
                                        <p:tav tm="0">
                                          <p:val>
                                            <p:fltVal val="0"/>
                                          </p:val>
                                        </p:tav>
                                        <p:tav tm="100000">
                                          <p:val>
                                            <p:strVal val="#ppt_h"/>
                                          </p:val>
                                        </p:tav>
                                      </p:tavLst>
                                    </p:anim>
                                    <p:animEffect transition="in" filter="fade">
                                      <p:cBhvr>
                                        <p:cTn id="2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0338" y="681892"/>
            <a:ext cx="5582139" cy="5228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a:spLocks noChangeArrowheads="1"/>
          </p:cNvSpPr>
          <p:nvPr/>
        </p:nvSpPr>
        <p:spPr bwMode="auto">
          <a:xfrm>
            <a:off x="5742354" y="455246"/>
            <a:ext cx="5937738" cy="236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955" b="1">
                <a:latin typeface="Arial" panose="020B0604020202020204" pitchFamily="34" charset="0"/>
                <a:ea typeface="宋体" panose="02010600030101010101" pitchFamily="2" charset="-122"/>
              </a:rPr>
              <a:t>       一天长颈鹿和几只袋鼠们在闲聊，</a:t>
            </a:r>
            <a:r>
              <a:rPr lang="zh-CN" altLang="en-US" sz="2955" b="1">
                <a:solidFill>
                  <a:srgbClr val="0000FF"/>
                </a:solidFill>
                <a:latin typeface="Arial" panose="020B0604020202020204" pitchFamily="34" charset="0"/>
                <a:ea typeface="宋体" panose="02010600030101010101" pitchFamily="2" charset="-122"/>
              </a:rPr>
              <a:t>“你们看，这些人会不会再继续加高你们的笼子？”</a:t>
            </a:r>
            <a:r>
              <a:rPr lang="zh-CN" altLang="en-US" sz="2955" b="1">
                <a:latin typeface="Arial" panose="020B0604020202020204" pitchFamily="34" charset="0"/>
                <a:ea typeface="宋体" panose="02010600030101010101" pitchFamily="2" charset="-122"/>
              </a:rPr>
              <a:t>长颈鹿问。</a:t>
            </a:r>
            <a:endParaRPr lang="en-US" altLang="zh-CN" sz="2955" b="1">
              <a:latin typeface="Arial" panose="020B0604020202020204" pitchFamily="34" charset="0"/>
              <a:ea typeface="宋体" panose="02010600030101010101" pitchFamily="2" charset="-122"/>
            </a:endParaRPr>
          </a:p>
          <a:p>
            <a:pPr eaLnBrk="1" hangingPunct="1">
              <a:spcBef>
                <a:spcPct val="0"/>
              </a:spcBef>
              <a:buClrTx/>
              <a:buFontTx/>
              <a:buNone/>
            </a:pPr>
            <a:r>
              <a:rPr lang="zh-CN" altLang="en-US" sz="2955" b="1">
                <a:latin typeface="Arial" panose="020B0604020202020204" pitchFamily="34" charset="0"/>
                <a:ea typeface="宋体" panose="02010600030101010101" pitchFamily="2" charset="-122"/>
              </a:rPr>
              <a:t>     </a:t>
            </a:r>
            <a:r>
              <a:rPr lang="zh-CN" altLang="en-US" sz="2955" b="1">
                <a:solidFill>
                  <a:srgbClr val="0000FF"/>
                </a:solidFill>
                <a:latin typeface="Arial" panose="020B0604020202020204" pitchFamily="34" charset="0"/>
                <a:ea typeface="宋体" panose="02010600030101010101" pitchFamily="2" charset="-122"/>
              </a:rPr>
              <a:t>“很难说。”</a:t>
            </a:r>
            <a:r>
              <a:rPr lang="zh-CN" altLang="en-US" sz="2955" b="1">
                <a:latin typeface="Arial" panose="020B0604020202020204" pitchFamily="34" charset="0"/>
                <a:ea typeface="宋体" panose="02010600030101010101" pitchFamily="2" charset="-122"/>
              </a:rPr>
              <a:t>袋鼠说∶</a:t>
            </a:r>
            <a:r>
              <a:rPr lang="zh-CN" altLang="en-US" sz="2955" b="1">
                <a:solidFill>
                  <a:srgbClr val="0000FF"/>
                </a:solidFill>
                <a:latin typeface="Arial" panose="020B0604020202020204" pitchFamily="34" charset="0"/>
                <a:ea typeface="宋体" panose="02010600030101010101" pitchFamily="2" charset="-122"/>
              </a:rPr>
              <a:t>“如果他们再继续忘记关门的话！”</a:t>
            </a:r>
            <a:endParaRPr lang="zh-CN" altLang="en-US" sz="2955" b="1">
              <a:solidFill>
                <a:srgbClr val="0000FF"/>
              </a:solidFill>
              <a:latin typeface="Arial" panose="020B0604020202020204" pitchFamily="34" charset="0"/>
              <a:ea typeface="宋体" panose="02010600030101010101" pitchFamily="2" charset="-122"/>
            </a:endParaRPr>
          </a:p>
        </p:txBody>
      </p:sp>
      <p:pic>
        <p:nvPicPr>
          <p:cNvPr id="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30277" y="3163277"/>
            <a:ext cx="5584092" cy="342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Effect transition="in" filter="fade">
                                      <p:cBhvr>
                                        <p:cTn id="14" dur="1000"/>
                                        <p:tgtEl>
                                          <p:spTgt spid="4"/>
                                        </p:tgtEl>
                                      </p:cBhvr>
                                    </p:animEffect>
                                  </p:childTnLst>
                                </p:cTn>
                              </p:par>
                            </p:childTnLst>
                          </p:cTn>
                        </p:par>
                        <p:par>
                          <p:cTn id="15" fill="hold">
                            <p:stCondLst>
                              <p:cond delay="1500"/>
                            </p:stCondLst>
                            <p:childTnLst>
                              <p:par>
                                <p:cTn id="16" presetID="2" presetClass="entr" presetSubtype="8"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bwMode="auto">
          <a:xfrm>
            <a:off x="246185" y="1666631"/>
            <a:ext cx="11433908" cy="4208585"/>
            <a:chOff x="200472" y="1997589"/>
            <a:chExt cx="9289032" cy="3419475"/>
          </a:xfrm>
        </p:grpSpPr>
        <p:pic>
          <p:nvPicPr>
            <p:cNvPr id="139268"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0472" y="1997589"/>
              <a:ext cx="4760912" cy="3184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69"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61384" y="1997589"/>
              <a:ext cx="452812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矩形 3"/>
          <p:cNvSpPr/>
          <p:nvPr/>
        </p:nvSpPr>
        <p:spPr>
          <a:xfrm>
            <a:off x="1045308" y="287215"/>
            <a:ext cx="7223760" cy="622300"/>
          </a:xfrm>
          <a:prstGeom prst="rect">
            <a:avLst/>
          </a:prstGeom>
        </p:spPr>
        <p:txBody>
          <a:bodyPr wrap="none">
            <a:spAutoFit/>
          </a:bodyPr>
          <a:lstStyle/>
          <a:p>
            <a:pPr>
              <a:defRPr/>
            </a:pPr>
            <a:r>
              <a:rPr lang="zh-CN" altLang="en-US" sz="3445" b="1" dirty="0">
                <a:solidFill>
                  <a:srgbClr val="0000FF"/>
                </a:solidFill>
                <a:latin typeface="+mn-ea"/>
                <a:ea typeface="+mn-ea"/>
              </a:rPr>
              <a:t>你的门关没有？你想过要关上门没？</a:t>
            </a:r>
            <a:endParaRPr lang="zh-CN" altLang="en-US" sz="3445" dirty="0">
              <a:solidFill>
                <a:srgbClr val="0000FF"/>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Effect transition="in" filter="fade">
                                      <p:cBhvr>
                                        <p:cTn id="1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gray">
          <a:xfrm>
            <a:off x="1576754" y="859693"/>
            <a:ext cx="9394092" cy="3470031"/>
          </a:xfrm>
          <a:prstGeom prst="rect">
            <a:avLst/>
          </a:prstGeom>
          <a:noFill/>
          <a:ln w="9525">
            <a:noFill/>
            <a:miter lim="800000"/>
          </a:ln>
        </p:spPr>
        <p:txBody>
          <a:bodyPr lIns="112521" tIns="56260" rIns="112521" bIns="56260"/>
          <a:lstStyle/>
          <a:p>
            <a:pPr marL="342900" indent="-342900">
              <a:spcBef>
                <a:spcPct val="20000"/>
              </a:spcBef>
              <a:buClr>
                <a:srgbClr val="3399FF"/>
              </a:buClr>
              <a:buFont typeface="Wingdings" panose="05000000000000000000" pitchFamily="2" charset="2"/>
              <a:buNone/>
              <a:defRPr/>
            </a:pPr>
            <a:r>
              <a:rPr lang="zh-CN" altLang="en-US" sz="3940" b="1" kern="0" dirty="0">
                <a:latin typeface="+mn-lt"/>
              </a:rPr>
              <a:t>网络空间安全除了是故事中的围栏之外，</a:t>
            </a:r>
            <a:endParaRPr lang="zh-CN" altLang="en-US" sz="3940" b="1" kern="0" dirty="0">
              <a:latin typeface="+mn-lt"/>
            </a:endParaRPr>
          </a:p>
          <a:p>
            <a:pPr marL="342900" indent="-342900">
              <a:spcBef>
                <a:spcPct val="20000"/>
              </a:spcBef>
              <a:buClr>
                <a:srgbClr val="3399FF"/>
              </a:buClr>
              <a:buFont typeface="Wingdings" panose="05000000000000000000" pitchFamily="2" charset="2"/>
              <a:buNone/>
              <a:defRPr/>
            </a:pPr>
            <a:r>
              <a:rPr lang="zh-CN" altLang="en-US" sz="3940" b="1" kern="0" dirty="0">
                <a:latin typeface="+mn-lt"/>
              </a:rPr>
              <a:t>还是那道千万别忘记关的门，</a:t>
            </a:r>
            <a:endParaRPr lang="en-US" altLang="zh-CN" sz="3940" b="1" kern="0" dirty="0">
              <a:latin typeface="+mn-lt"/>
            </a:endParaRPr>
          </a:p>
          <a:p>
            <a:pPr marL="342900" indent="-342900">
              <a:spcBef>
                <a:spcPct val="20000"/>
              </a:spcBef>
              <a:buClr>
                <a:srgbClr val="3399FF"/>
              </a:buClr>
              <a:buFont typeface="Wingdings" panose="05000000000000000000" pitchFamily="2" charset="2"/>
              <a:buNone/>
              <a:defRPr/>
            </a:pPr>
            <a:r>
              <a:rPr lang="zh-CN" altLang="en-US" sz="3940" b="1" kern="0" dirty="0">
                <a:latin typeface="+mn-lt"/>
              </a:rPr>
              <a:t>更为重要的是那颗别忘了关门的心</a:t>
            </a:r>
            <a:r>
              <a:rPr lang="en-US" altLang="zh-CN" sz="3940" b="1" kern="0" dirty="0">
                <a:latin typeface="+mn-lt"/>
              </a:rPr>
              <a:t>———</a:t>
            </a:r>
            <a:endParaRPr lang="en-US" altLang="zh-CN" sz="3940" b="1" kern="0" dirty="0">
              <a:latin typeface="+mn-lt"/>
            </a:endParaRPr>
          </a:p>
          <a:p>
            <a:pPr marL="342900" indent="-342900">
              <a:spcBef>
                <a:spcPct val="20000"/>
              </a:spcBef>
              <a:buClr>
                <a:srgbClr val="3399FF"/>
              </a:buClr>
              <a:buFont typeface="Wingdings" panose="05000000000000000000" pitchFamily="2" charset="2"/>
              <a:buNone/>
              <a:defRPr/>
            </a:pPr>
            <a:endParaRPr lang="zh-CN" altLang="en-US" sz="3940" b="1" kern="0" dirty="0">
              <a:solidFill>
                <a:srgbClr val="FF0000"/>
              </a:solidFill>
              <a:latin typeface="+mn-lt"/>
            </a:endParaRPr>
          </a:p>
          <a:p>
            <a:pPr marL="342900" indent="-342900">
              <a:spcBef>
                <a:spcPct val="20000"/>
              </a:spcBef>
              <a:buClr>
                <a:srgbClr val="3399FF"/>
              </a:buClr>
              <a:buFont typeface="Wingdings" panose="05000000000000000000" pitchFamily="2" charset="2"/>
              <a:buNone/>
              <a:defRPr/>
            </a:pPr>
            <a:r>
              <a:rPr lang="zh-CN" altLang="en-US" sz="3940" b="1" kern="0" dirty="0">
                <a:solidFill>
                  <a:srgbClr val="FF0000"/>
                </a:solidFill>
                <a:latin typeface="+mn-lt"/>
              </a:rPr>
              <a:t>           </a:t>
            </a:r>
            <a:r>
              <a:rPr lang="zh-CN" altLang="en-US" sz="4925" b="1" kern="0" dirty="0">
                <a:solidFill>
                  <a:srgbClr val="FF0000"/>
                </a:solidFill>
                <a:latin typeface="黑体" panose="02010609060101010101" pitchFamily="49" charset="-122"/>
                <a:ea typeface="黑体" panose="02010609060101010101" pitchFamily="49" charset="-122"/>
              </a:rPr>
              <a:t>安全意识</a:t>
            </a:r>
            <a:endParaRPr lang="zh-CN" altLang="en-US" sz="4925" b="1" kern="0"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4" end="4"/>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6" presetClass="emph" presetSubtype="0" fill="hold" nodeType="afterEffect">
                                  <p:stCondLst>
                                    <p:cond delay="0"/>
                                  </p:stCondLst>
                                  <p:childTnLst>
                                    <p:animScale>
                                      <p:cBhvr>
                                        <p:cTn id="11" dur="500" fill="hold"/>
                                        <p:tgtEl>
                                          <p:spTgt spid="2">
                                            <p:txEl>
                                              <p:pRg st="4" end="4"/>
                                            </p:txEl>
                                          </p:spTgt>
                                        </p:tgtEl>
                                      </p:cBhvr>
                                      <p:by x="300000" y="3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drop-array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28662" y="1248508"/>
            <a:ext cx="5898661" cy="3686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3"/>
          <p:cNvSpPr txBox="1">
            <a:spLocks noChangeArrowheads="1"/>
          </p:cNvSpPr>
          <p:nvPr/>
        </p:nvSpPr>
        <p:spPr bwMode="auto">
          <a:xfrm>
            <a:off x="1438031" y="3198446"/>
            <a:ext cx="8774724" cy="1114425"/>
          </a:xfrm>
          <a:prstGeom prst="rect">
            <a:avLst/>
          </a:prstGeom>
          <a:noFill/>
          <a:ln w="9525" algn="ctr">
            <a:noFill/>
            <a:miter lim="800000"/>
          </a:ln>
          <a:effectLst>
            <a:outerShdw dist="35921" dir="2700000" algn="ctr" rotWithShape="0">
              <a:schemeClr val="bg2"/>
            </a:outerShdw>
          </a:effectLst>
        </p:spPr>
        <p:txBody>
          <a:bodyPr>
            <a:spAutoFit/>
          </a:bodyPr>
          <a:lstStyle/>
          <a:p>
            <a:pPr eaLnBrk="1" hangingPunct="1">
              <a:spcBef>
                <a:spcPct val="50000"/>
              </a:spcBef>
              <a:defRPr/>
            </a:pPr>
            <a:r>
              <a:rPr lang="zh-CN" altLang="en-US" sz="6645">
                <a:effectLst>
                  <a:outerShdw blurRad="38100" dist="38100" dir="2700000" algn="tl">
                    <a:srgbClr val="C0C0C0"/>
                  </a:outerShdw>
                </a:effectLst>
                <a:latin typeface="Comic Sans MS" panose="030F0702030302020204" pitchFamily="66" charset="0"/>
                <a:ea typeface="黑体" panose="02010609060101010101" pitchFamily="49" charset="-122"/>
              </a:rPr>
              <a:t>从</a:t>
            </a:r>
            <a:r>
              <a:rPr lang="zh-CN" altLang="en-US" sz="6645">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一点一滴</a:t>
            </a:r>
            <a:r>
              <a:rPr lang="zh-CN" altLang="en-US" sz="6645">
                <a:effectLst>
                  <a:outerShdw blurRad="38100" dist="38100" dir="2700000" algn="tl">
                    <a:srgbClr val="C0C0C0"/>
                  </a:outerShdw>
                </a:effectLst>
                <a:latin typeface="Comic Sans MS" panose="030F0702030302020204" pitchFamily="66" charset="0"/>
                <a:ea typeface="黑体" panose="02010609060101010101" pitchFamily="49" charset="-122"/>
              </a:rPr>
              <a:t>做起！</a:t>
            </a:r>
            <a:endParaRPr lang="zh-CN" altLang="en-US" sz="6645">
              <a:effectLst>
                <a:outerShdw blurRad="38100" dist="38100" dir="2700000" algn="tl">
                  <a:srgbClr val="C0C0C0"/>
                </a:outerShdw>
              </a:effectLst>
              <a:latin typeface="Comic Sans MS" panose="030F0702030302020204" pitchFamily="66" charset="0"/>
              <a:ea typeface="黑体" panose="02010609060101010101" pitchFamily="49" charset="-122"/>
            </a:endParaRPr>
          </a:p>
        </p:txBody>
      </p:sp>
      <p:sp>
        <p:nvSpPr>
          <p:cNvPr id="4" name="Text Box 4"/>
          <p:cNvSpPr txBox="1">
            <a:spLocks noChangeArrowheads="1"/>
          </p:cNvSpPr>
          <p:nvPr/>
        </p:nvSpPr>
        <p:spPr bwMode="auto">
          <a:xfrm>
            <a:off x="1438031" y="1781908"/>
            <a:ext cx="7621954" cy="1114425"/>
          </a:xfrm>
          <a:prstGeom prst="rect">
            <a:avLst/>
          </a:prstGeom>
          <a:noFill/>
          <a:ln w="9525" algn="ctr">
            <a:noFill/>
            <a:miter lim="800000"/>
          </a:ln>
          <a:effectLst>
            <a:outerShdw dist="35921" dir="2700000" algn="ctr" rotWithShape="0">
              <a:schemeClr val="bg2"/>
            </a:outerShdw>
          </a:effectLst>
        </p:spPr>
        <p:txBody>
          <a:bodyPr>
            <a:spAutoFit/>
          </a:bodyPr>
          <a:lstStyle/>
          <a:p>
            <a:pPr eaLnBrk="1" hangingPunct="1">
              <a:spcBef>
                <a:spcPct val="50000"/>
              </a:spcBef>
              <a:defRPr/>
            </a:pPr>
            <a:r>
              <a:rPr lang="zh-CN" altLang="en-US" sz="6645" b="1" dirty="0">
                <a:effectLst>
                  <a:outerShdw blurRad="38100" dist="38100" dir="2700000" algn="tl">
                    <a:srgbClr val="C0C0C0"/>
                  </a:outerShdw>
                </a:effectLst>
                <a:latin typeface="Comic Sans MS" panose="030F0702030302020204" pitchFamily="66" charset="0"/>
                <a:ea typeface="黑体" panose="02010609060101010101" pitchFamily="49" charset="-122"/>
              </a:rPr>
              <a:t>从</a:t>
            </a:r>
            <a:r>
              <a:rPr lang="zh-CN" altLang="en-US" sz="6645"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自身</a:t>
            </a:r>
            <a:r>
              <a:rPr lang="zh-CN" altLang="en-US" sz="6645" b="1" dirty="0">
                <a:effectLst>
                  <a:outerShdw blurRad="38100" dist="38100" dir="2700000" algn="tl">
                    <a:srgbClr val="C0C0C0"/>
                  </a:outerShdw>
                </a:effectLst>
                <a:latin typeface="Comic Sans MS" panose="030F0702030302020204" pitchFamily="66" charset="0"/>
                <a:ea typeface="黑体" panose="02010609060101010101" pitchFamily="49" charset="-122"/>
              </a:rPr>
              <a:t>做起！</a:t>
            </a:r>
            <a:endParaRPr lang="zh-CN" altLang="en-US" sz="6645" b="1" dirty="0">
              <a:effectLst>
                <a:outerShdw blurRad="38100" dist="38100" dir="2700000" algn="tl">
                  <a:srgbClr val="C0C0C0"/>
                </a:outerShdw>
              </a:effectLst>
              <a:latin typeface="Comic Sans MS" panose="030F0702030302020204" pitchFamily="66"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矩形 3"/>
          <p:cNvSpPr/>
          <p:nvPr/>
        </p:nvSpPr>
        <p:spPr>
          <a:xfrm>
            <a:off x="1312985" y="334109"/>
            <a:ext cx="2683510" cy="772795"/>
          </a:xfrm>
          <a:prstGeom prst="rect">
            <a:avLst/>
          </a:prstGeom>
          <a:noFill/>
          <a:ln w="9525">
            <a:noFill/>
          </a:ln>
        </p:spPr>
        <p:txBody>
          <a:bodyPr wrap="none">
            <a:spAutoFit/>
          </a:bodyPr>
          <a:lstStyle/>
          <a:p>
            <a:pPr>
              <a:buNone/>
            </a:pPr>
            <a:r>
              <a:rPr lang="zh-CN" altLang="en-US" sz="4430" dirty="0">
                <a:solidFill>
                  <a:srgbClr val="FF0000"/>
                </a:solidFill>
                <a:latin typeface="Times New Roman" panose="02020603050405020304" pitchFamily="18" charset="0"/>
                <a:ea typeface="黑体" panose="02010609060101010101" pitchFamily="49" charset="-122"/>
              </a:rPr>
              <a:t>课程</a:t>
            </a:r>
            <a:r>
              <a:rPr lang="en-US" altLang="zh-CN" sz="4430" dirty="0">
                <a:solidFill>
                  <a:srgbClr val="FF0000"/>
                </a:solidFill>
                <a:latin typeface="Times New Roman" panose="02020603050405020304" pitchFamily="18" charset="0"/>
                <a:ea typeface="黑体" panose="02010609060101010101" pitchFamily="49" charset="-122"/>
              </a:rPr>
              <a:t>QQ</a:t>
            </a:r>
            <a:r>
              <a:rPr lang="zh-CN" altLang="en-US" sz="4430" dirty="0">
                <a:solidFill>
                  <a:srgbClr val="FF0000"/>
                </a:solidFill>
                <a:latin typeface="Times New Roman" panose="02020603050405020304" pitchFamily="18" charset="0"/>
                <a:ea typeface="黑体" panose="02010609060101010101" pitchFamily="49" charset="-122"/>
              </a:rPr>
              <a:t>群</a:t>
            </a:r>
            <a:endParaRPr lang="zh-CN" altLang="en-US" sz="4430" dirty="0">
              <a:solidFill>
                <a:srgbClr val="FF0000"/>
              </a:solidFill>
              <a:latin typeface="Times New Roman" panose="02020603050405020304" pitchFamily="18" charset="0"/>
              <a:ea typeface="黑体" panose="02010609060101010101" pitchFamily="49" charset="-122"/>
            </a:endParaRPr>
          </a:p>
        </p:txBody>
      </p:sp>
      <p:sp>
        <p:nvSpPr>
          <p:cNvPr id="8197" name="矩形 5"/>
          <p:cNvSpPr/>
          <p:nvPr/>
        </p:nvSpPr>
        <p:spPr>
          <a:xfrm>
            <a:off x="7690338" y="240324"/>
            <a:ext cx="2433320" cy="772795"/>
          </a:xfrm>
          <a:prstGeom prst="rect">
            <a:avLst/>
          </a:prstGeom>
          <a:noFill/>
          <a:ln w="9525">
            <a:noFill/>
          </a:ln>
        </p:spPr>
        <p:txBody>
          <a:bodyPr wrap="none">
            <a:spAutoFit/>
          </a:bodyPr>
          <a:lstStyle/>
          <a:p>
            <a:pPr>
              <a:buNone/>
            </a:pPr>
            <a:r>
              <a:rPr lang="zh-CN" altLang="en-US" sz="4430" dirty="0">
                <a:solidFill>
                  <a:srgbClr val="FF0000"/>
                </a:solidFill>
                <a:latin typeface="Times New Roman" panose="02020603050405020304" pitchFamily="18" charset="0"/>
                <a:ea typeface="黑体" panose="02010609060101010101" pitchFamily="49" charset="-122"/>
              </a:rPr>
              <a:t>上课签到</a:t>
            </a:r>
            <a:endParaRPr lang="zh-CN" altLang="en-US" sz="4430" dirty="0">
              <a:solidFill>
                <a:srgbClr val="FF0000"/>
              </a:solidFill>
              <a:latin typeface="Times New Roman" panose="02020603050405020304" pitchFamily="18" charset="0"/>
              <a:ea typeface="黑体" panose="02010609060101010101" pitchFamily="49" charset="-122"/>
            </a:endParaRPr>
          </a:p>
        </p:txBody>
      </p:sp>
      <p:pic>
        <p:nvPicPr>
          <p:cNvPr id="3" name="图片 2" descr="QR 代码&#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32987" y="1301994"/>
            <a:ext cx="3270777" cy="5815562"/>
          </a:xfrm>
          <a:prstGeom prst="rect">
            <a:avLst/>
          </a:prstGeom>
        </p:spPr>
      </p:pic>
      <p:pic>
        <p:nvPicPr>
          <p:cNvPr id="5" name="图片 4"/>
          <p:cNvPicPr>
            <a:picLocks noChangeAspect="1"/>
          </p:cNvPicPr>
          <p:nvPr/>
        </p:nvPicPr>
        <p:blipFill>
          <a:blip r:embed="rId2"/>
          <a:stretch>
            <a:fillRect/>
          </a:stretch>
        </p:blipFill>
        <p:spPr>
          <a:xfrm>
            <a:off x="7057825" y="1301994"/>
            <a:ext cx="3773765" cy="4540181"/>
          </a:xfrm>
          <a:prstGeom prst="rect">
            <a:avLst/>
          </a:prstGeom>
        </p:spPr>
      </p:pic>
    </p:spTree>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1488831" y="82062"/>
            <a:ext cx="8684847" cy="599830"/>
          </a:xfrm>
        </p:spPr>
        <p:txBody>
          <a:bodyPr/>
          <a:lstStyle/>
          <a:p>
            <a:r>
              <a:rPr lang="zh-CN" altLang="en-US">
                <a:solidFill>
                  <a:schemeClr val="tx1"/>
                </a:solidFill>
              </a:rPr>
              <a:t>目录</a:t>
            </a:r>
            <a:endParaRPr lang="zh-CN" altLang="en-US">
              <a:solidFill>
                <a:schemeClr val="tx1"/>
              </a:solidFill>
            </a:endParaRPr>
          </a:p>
        </p:txBody>
      </p:sp>
      <p:sp>
        <p:nvSpPr>
          <p:cNvPr id="324611" name="AutoShape 3"/>
          <p:cNvSpPr>
            <a:spLocks noChangeArrowheads="1"/>
          </p:cNvSpPr>
          <p:nvPr/>
        </p:nvSpPr>
        <p:spPr bwMode="ltGray">
          <a:xfrm rot="5400000">
            <a:off x="-3040185" y="592015"/>
            <a:ext cx="5937739" cy="6359770"/>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ln>
          <a:effectLst/>
        </p:spPr>
        <p:txBody>
          <a:bodyPr wrap="none" anchor="ctr"/>
          <a:lstStyle/>
          <a:p>
            <a:pPr eaLnBrk="1" hangingPunct="1">
              <a:defRPr/>
            </a:pPr>
            <a:endParaRPr lang="zh-CN" altLang="en-US" sz="100"/>
          </a:p>
        </p:txBody>
      </p:sp>
      <p:sp>
        <p:nvSpPr>
          <p:cNvPr id="324612" name="AutoShape 4"/>
          <p:cNvSpPr>
            <a:spLocks noChangeArrowheads="1"/>
          </p:cNvSpPr>
          <p:nvPr/>
        </p:nvSpPr>
        <p:spPr bwMode="ltGray">
          <a:xfrm rot="5400000" flipH="1">
            <a:off x="-2539023" y="1171331"/>
            <a:ext cx="4962769" cy="5238262"/>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bg2">
                  <a:alpha val="56000"/>
                </a:schemeClr>
              </a:gs>
              <a:gs pos="100000">
                <a:schemeClr val="bg2">
                  <a:gamma/>
                  <a:tint val="0"/>
                  <a:invGamma/>
                  <a:alpha val="48000"/>
                </a:schemeClr>
              </a:gs>
            </a:gsLst>
            <a:lin ang="5400000" scaled="1"/>
          </a:gradFill>
          <a:ln w="0" algn="ctr">
            <a:noFill/>
            <a:miter lim="800000"/>
          </a:ln>
          <a:effectLst/>
        </p:spPr>
        <p:txBody>
          <a:bodyPr wrap="none" anchor="ctr"/>
          <a:lstStyle/>
          <a:p>
            <a:pPr eaLnBrk="1" hangingPunct="1">
              <a:defRPr/>
            </a:pPr>
            <a:endParaRPr lang="zh-CN" altLang="en-US" sz="100"/>
          </a:p>
        </p:txBody>
      </p:sp>
      <p:sp>
        <p:nvSpPr>
          <p:cNvPr id="142341" name="AutoShape 5"/>
          <p:cNvSpPr>
            <a:spLocks noChangeArrowheads="1"/>
          </p:cNvSpPr>
          <p:nvPr/>
        </p:nvSpPr>
        <p:spPr bwMode="gray">
          <a:xfrm>
            <a:off x="2371969" y="5296877"/>
            <a:ext cx="6471138" cy="625231"/>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chemeClr val="tx2"/>
                </a:solidFill>
                <a:latin typeface="Arial" panose="020B0604020202020204" pitchFamily="34" charset="0"/>
                <a:ea typeface="宋体" panose="02010600030101010101" pitchFamily="2" charset="-122"/>
              </a:rPr>
              <a:t>三、</a:t>
            </a:r>
            <a:r>
              <a:rPr lang="zh-CN" altLang="en-US" sz="3445" b="1">
                <a:solidFill>
                  <a:srgbClr val="FF0000"/>
                </a:solidFill>
                <a:latin typeface="Arial" panose="020B0604020202020204" pitchFamily="34" charset="0"/>
                <a:ea typeface="宋体" panose="02010600030101010101" pitchFamily="2" charset="-122"/>
              </a:rPr>
              <a:t>网络空间安全涉及的内容</a:t>
            </a:r>
            <a:endParaRPr lang="zh-CN" altLang="en-US" sz="3445" b="1">
              <a:solidFill>
                <a:srgbClr val="FF0000"/>
              </a:solidFill>
              <a:latin typeface="Arial" panose="020B0604020202020204" pitchFamily="34" charset="0"/>
              <a:ea typeface="宋体" panose="02010600030101010101" pitchFamily="2" charset="-122"/>
            </a:endParaRPr>
          </a:p>
        </p:txBody>
      </p:sp>
      <p:sp>
        <p:nvSpPr>
          <p:cNvPr id="142342" name="AutoShape 7"/>
          <p:cNvSpPr>
            <a:spLocks noChangeArrowheads="1"/>
          </p:cNvSpPr>
          <p:nvPr/>
        </p:nvSpPr>
        <p:spPr bwMode="gray">
          <a:xfrm>
            <a:off x="3194539" y="3251201"/>
            <a:ext cx="6535615" cy="652585"/>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chemeClr val="tx2"/>
                </a:solidFill>
                <a:latin typeface="Arial" panose="020B0604020202020204" pitchFamily="34" charset="0"/>
                <a:ea typeface="宋体" panose="02010600030101010101" pitchFamily="2" charset="-122"/>
              </a:rPr>
              <a:t>二、</a:t>
            </a:r>
            <a:r>
              <a:rPr lang="zh-CN" altLang="en-US" sz="3445" b="1">
                <a:solidFill>
                  <a:schemeClr val="tx2"/>
                </a:solidFill>
                <a:latin typeface="Arial" panose="020B0604020202020204" pitchFamily="34" charset="0"/>
                <a:ea typeface="宋体" panose="02010600030101010101" pitchFamily="2" charset="-122"/>
              </a:rPr>
              <a:t>信息安全形势和任务</a:t>
            </a:r>
            <a:endParaRPr lang="en-US" altLang="zh-CN" sz="3445" b="1">
              <a:solidFill>
                <a:schemeClr val="tx2"/>
              </a:solidFill>
              <a:latin typeface="Arial" panose="020B0604020202020204" pitchFamily="34" charset="0"/>
              <a:ea typeface="宋体" panose="02010600030101010101" pitchFamily="2" charset="-122"/>
            </a:endParaRPr>
          </a:p>
        </p:txBody>
      </p:sp>
      <p:grpSp>
        <p:nvGrpSpPr>
          <p:cNvPr id="142343" name="Group 9"/>
          <p:cNvGrpSpPr/>
          <p:nvPr/>
        </p:nvGrpSpPr>
        <p:grpSpPr bwMode="auto">
          <a:xfrm>
            <a:off x="1873739" y="1336177"/>
            <a:ext cx="508000" cy="540060"/>
            <a:chOff x="2078" y="1558"/>
            <a:chExt cx="1615" cy="1860"/>
          </a:xfrm>
        </p:grpSpPr>
        <p:sp>
          <p:nvSpPr>
            <p:cNvPr id="142359"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42360"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0" name="Oval 12"/>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42362" name="Oval 13"/>
            <p:cNvSpPr>
              <a:spLocks noChangeArrowheads="1"/>
            </p:cNvSpPr>
            <p:nvPr/>
          </p:nvSpPr>
          <p:spPr bwMode="gray">
            <a:xfrm>
              <a:off x="2254" y="1558"/>
              <a:ext cx="1355" cy="1860"/>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22" name="Oval 14"/>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42364" name="Oval 15"/>
            <p:cNvSpPr>
              <a:spLocks noChangeArrowheads="1"/>
            </p:cNvSpPr>
            <p:nvPr/>
          </p:nvSpPr>
          <p:spPr bwMode="gray">
            <a:xfrm>
              <a:off x="2337" y="1583"/>
              <a:ext cx="1096" cy="1811"/>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142344" name="Group 23"/>
          <p:cNvGrpSpPr/>
          <p:nvPr/>
        </p:nvGrpSpPr>
        <p:grpSpPr bwMode="auto">
          <a:xfrm>
            <a:off x="2788139" y="3336916"/>
            <a:ext cx="508000" cy="540060"/>
            <a:chOff x="2078" y="1558"/>
            <a:chExt cx="1615" cy="1860"/>
          </a:xfrm>
        </p:grpSpPr>
        <p:sp>
          <p:nvSpPr>
            <p:cNvPr id="142353" name="Oval 2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42354" name="Oval 2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4" name="Oval 26"/>
            <p:cNvSpPr>
              <a:spLocks noChangeArrowheads="1"/>
            </p:cNvSpPr>
            <p:nvPr/>
          </p:nvSpPr>
          <p:spPr bwMode="gray">
            <a:xfrm>
              <a:off x="2252" y="2119"/>
              <a:ext cx="1356"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42356" name="Oval 27"/>
            <p:cNvSpPr>
              <a:spLocks noChangeArrowheads="1"/>
            </p:cNvSpPr>
            <p:nvPr/>
          </p:nvSpPr>
          <p:spPr bwMode="gray">
            <a:xfrm>
              <a:off x="2254" y="1558"/>
              <a:ext cx="1355" cy="1860"/>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36" name="Oval 28"/>
            <p:cNvSpPr>
              <a:spLocks noChangeArrowheads="1"/>
            </p:cNvSpPr>
            <p:nvPr/>
          </p:nvSpPr>
          <p:spPr bwMode="gray">
            <a:xfrm>
              <a:off x="2339" y="2143"/>
              <a:ext cx="1093"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42358" name="Oval 29"/>
            <p:cNvSpPr>
              <a:spLocks noChangeArrowheads="1"/>
            </p:cNvSpPr>
            <p:nvPr/>
          </p:nvSpPr>
          <p:spPr bwMode="gray">
            <a:xfrm>
              <a:off x="2337" y="1583"/>
              <a:ext cx="1096" cy="1811"/>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grpSp>
        <p:nvGrpSpPr>
          <p:cNvPr id="142345" name="Group 37"/>
          <p:cNvGrpSpPr/>
          <p:nvPr/>
        </p:nvGrpSpPr>
        <p:grpSpPr bwMode="auto">
          <a:xfrm>
            <a:off x="1975339" y="5322023"/>
            <a:ext cx="474784" cy="540060"/>
            <a:chOff x="2078" y="1558"/>
            <a:chExt cx="1615" cy="1860"/>
          </a:xfrm>
        </p:grpSpPr>
        <p:sp>
          <p:nvSpPr>
            <p:cNvPr id="142347" name="Oval 3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142348" name="Oval 3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48" name="Oval 40"/>
            <p:cNvSpPr>
              <a:spLocks noChangeArrowheads="1"/>
            </p:cNvSpPr>
            <p:nvPr/>
          </p:nvSpPr>
          <p:spPr bwMode="gray">
            <a:xfrm>
              <a:off x="2251" y="2119"/>
              <a:ext cx="1424" cy="73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eaLnBrk="1" hangingPunct="1">
                <a:defRPr/>
              </a:pPr>
              <a:endParaRPr lang="zh-CN" altLang="en-US" sz="100"/>
            </a:p>
          </p:txBody>
        </p:sp>
        <p:sp>
          <p:nvSpPr>
            <p:cNvPr id="142350" name="Oval 41"/>
            <p:cNvSpPr>
              <a:spLocks noChangeArrowheads="1"/>
            </p:cNvSpPr>
            <p:nvPr/>
          </p:nvSpPr>
          <p:spPr bwMode="gray">
            <a:xfrm>
              <a:off x="2254" y="1558"/>
              <a:ext cx="1424" cy="1860"/>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sp>
          <p:nvSpPr>
            <p:cNvPr id="324650" name="Oval 42"/>
            <p:cNvSpPr>
              <a:spLocks noChangeArrowheads="1"/>
            </p:cNvSpPr>
            <p:nvPr/>
          </p:nvSpPr>
          <p:spPr bwMode="gray">
            <a:xfrm>
              <a:off x="2337" y="2143"/>
              <a:ext cx="1097" cy="69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eaLnBrk="1" hangingPunct="1">
                <a:defRPr/>
              </a:pPr>
              <a:endParaRPr lang="zh-CN" altLang="en-US" sz="100"/>
            </a:p>
          </p:txBody>
        </p:sp>
        <p:sp>
          <p:nvSpPr>
            <p:cNvPr id="142352" name="Oval 43"/>
            <p:cNvSpPr>
              <a:spLocks noChangeArrowheads="1"/>
            </p:cNvSpPr>
            <p:nvPr/>
          </p:nvSpPr>
          <p:spPr bwMode="gray">
            <a:xfrm>
              <a:off x="2337" y="1583"/>
              <a:ext cx="1096" cy="1811"/>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2215">
                <a:latin typeface="Arial" panose="020B0604020202020204" pitchFamily="34" charset="0"/>
                <a:ea typeface="宋体" panose="02010600030101010101" pitchFamily="2" charset="-122"/>
              </a:endParaRPr>
            </a:p>
          </p:txBody>
        </p:sp>
      </p:grpSp>
      <p:sp>
        <p:nvSpPr>
          <p:cNvPr id="142346" name="AutoShape 44"/>
          <p:cNvSpPr>
            <a:spLocks noChangeArrowheads="1"/>
          </p:cNvSpPr>
          <p:nvPr/>
        </p:nvSpPr>
        <p:spPr bwMode="gray">
          <a:xfrm>
            <a:off x="2336800" y="1301262"/>
            <a:ext cx="6418385" cy="595922"/>
          </a:xfrm>
          <a:prstGeom prst="roundRect">
            <a:avLst>
              <a:gd name="adj" fmla="val 50000"/>
            </a:avLst>
          </a:prstGeom>
          <a:noFill/>
          <a:ln w="28575" algn="ctr">
            <a:solidFill>
              <a:schemeClr val="bg2"/>
            </a:solidFill>
            <a:round/>
          </a:ln>
          <a:extLst>
            <a:ext uri="{909E8E84-426E-40DD-AFC4-6F175D3DCCD1}">
              <a14:hiddenFill xmlns:a14="http://schemas.microsoft.com/office/drawing/2010/main">
                <a:solidFill>
                  <a:srgbClr val="FFFFFF"/>
                </a:solidFill>
              </a14:hiddenFill>
            </a:ext>
          </a:extLst>
        </p:spPr>
        <p:txBody>
          <a:bodyPr wrap="none" lIns="112521" tIns="56260" rIns="112521" bIns="5626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3445" b="1">
                <a:solidFill>
                  <a:schemeClr val="tx2"/>
                </a:solidFill>
                <a:latin typeface="Arial" panose="020B0604020202020204" pitchFamily="34" charset="0"/>
                <a:ea typeface="宋体" panose="02010600030101010101" pitchFamily="2" charset="-122"/>
              </a:rPr>
              <a:t>一、</a:t>
            </a:r>
            <a:r>
              <a:rPr lang="zh-CN" altLang="en-US" sz="3445" b="1">
                <a:solidFill>
                  <a:schemeClr val="tx2"/>
                </a:solidFill>
                <a:latin typeface="Arial" panose="020B0604020202020204" pitchFamily="34" charset="0"/>
                <a:ea typeface="宋体" panose="02010600030101010101" pitchFamily="2" charset="-122"/>
              </a:rPr>
              <a:t>信息安全基本常识</a:t>
            </a:r>
            <a:endParaRPr lang="en-US" altLang="zh-CN" sz="3445" b="1">
              <a:solidFill>
                <a:schemeClr val="tx2"/>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文本框 6"/>
          <p:cNvSpPr txBox="1">
            <a:spLocks noChangeArrowheads="1"/>
          </p:cNvSpPr>
          <p:nvPr/>
        </p:nvSpPr>
        <p:spPr bwMode="auto">
          <a:xfrm>
            <a:off x="775678" y="37123"/>
            <a:ext cx="4484076"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关于信息安全</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grpSp>
        <p:nvGrpSpPr>
          <p:cNvPr id="3" name="组合 2"/>
          <p:cNvGrpSpPr/>
          <p:nvPr/>
        </p:nvGrpSpPr>
        <p:grpSpPr bwMode="auto">
          <a:xfrm>
            <a:off x="1205524" y="1125417"/>
            <a:ext cx="2874107" cy="1252415"/>
            <a:chOff x="979488" y="1557339"/>
            <a:chExt cx="2335212" cy="1018075"/>
          </a:xfrm>
        </p:grpSpPr>
        <p:sp>
          <p:nvSpPr>
            <p:cNvPr id="41" name="立方体 40"/>
            <p:cNvSpPr/>
            <p:nvPr/>
          </p:nvSpPr>
          <p:spPr>
            <a:xfrm rot="16200000">
              <a:off x="1638056" y="898770"/>
              <a:ext cx="1018075" cy="2335212"/>
            </a:xfrm>
            <a:prstGeom prst="cube">
              <a:avLst>
                <a:gd name="adj" fmla="val 53880"/>
              </a:avLst>
            </a:prstGeom>
            <a:solidFill>
              <a:schemeClr val="accent1">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42" name="文本框 41"/>
            <p:cNvSpPr txBox="1"/>
            <p:nvPr/>
          </p:nvSpPr>
          <p:spPr>
            <a:xfrm>
              <a:off x="1651000" y="2132289"/>
              <a:ext cx="1603375" cy="426369"/>
            </a:xfrm>
            <a:prstGeom prst="rect">
              <a:avLst/>
            </a:prstGeom>
            <a:noFill/>
          </p:spPr>
          <p:txBody>
            <a:bodyPr>
              <a:spAutoFit/>
            </a:bodyPr>
            <a:lstStyle/>
            <a:p>
              <a:pPr>
                <a:defRPr/>
              </a:pPr>
              <a:r>
                <a:rPr lang="zh-CN" altLang="en-US" sz="1405" b="1" dirty="0">
                  <a:solidFill>
                    <a:srgbClr val="0000FF"/>
                  </a:solidFill>
                </a:rPr>
                <a:t>    信息利用的安全             </a:t>
              </a:r>
              <a:r>
                <a:rPr lang="en-US" altLang="zh-CN" sz="1405" b="1" dirty="0">
                  <a:solidFill>
                    <a:srgbClr val="0000FF"/>
                  </a:solidFill>
                </a:rPr>
                <a:t>Application security</a:t>
              </a:r>
              <a:endParaRPr lang="en-US" altLang="zh-CN" sz="1600" b="1" dirty="0">
                <a:solidFill>
                  <a:srgbClr val="0000FF"/>
                </a:solidFill>
              </a:endParaRPr>
            </a:p>
          </p:txBody>
        </p:sp>
        <p:sp>
          <p:nvSpPr>
            <p:cNvPr id="43" name="文本框 42"/>
            <p:cNvSpPr txBox="1"/>
            <p:nvPr/>
          </p:nvSpPr>
          <p:spPr>
            <a:xfrm>
              <a:off x="1452563" y="1587341"/>
              <a:ext cx="1603375" cy="602388"/>
            </a:xfrm>
            <a:prstGeom prst="rect">
              <a:avLst/>
            </a:prstGeom>
            <a:noFill/>
          </p:spPr>
          <p:txBody>
            <a:bodyPr>
              <a:spAutoFit/>
            </a:bodyPr>
            <a:lstStyle/>
            <a:p>
              <a:pPr>
                <a:defRPr/>
              </a:pPr>
              <a:r>
                <a:rPr lang="en-US" altLang="zh-CN" sz="1405" b="1" dirty="0">
                  <a:solidFill>
                    <a:srgbClr val="FF0000"/>
                  </a:solidFill>
                </a:rPr>
                <a:t>        </a:t>
              </a:r>
              <a:r>
                <a:rPr lang="zh-CN" altLang="en-US" sz="1405" b="1" dirty="0">
                  <a:solidFill>
                    <a:srgbClr val="FF0000"/>
                  </a:solidFill>
                </a:rPr>
                <a:t>内容安全</a:t>
              </a:r>
              <a:endParaRPr lang="zh-CN" altLang="en-US" sz="1405" b="1" dirty="0">
                <a:solidFill>
                  <a:srgbClr val="FF0000"/>
                </a:solidFill>
              </a:endParaRPr>
            </a:p>
            <a:p>
              <a:pPr>
                <a:defRPr/>
              </a:pPr>
              <a:r>
                <a:rPr lang="en-US" altLang="zh-CN" sz="1405" b="1" dirty="0">
                  <a:solidFill>
                    <a:srgbClr val="FF0000"/>
                  </a:solidFill>
                </a:rPr>
                <a:t>      Content security</a:t>
              </a:r>
              <a:endParaRPr lang="en-US" altLang="zh-CN" sz="1405" b="1" dirty="0">
                <a:solidFill>
                  <a:srgbClr val="FF0000"/>
                </a:solidFill>
              </a:endParaRPr>
            </a:p>
            <a:p>
              <a:pPr>
                <a:defRPr/>
              </a:pPr>
              <a:endParaRPr lang="en-US" altLang="zh-CN" sz="1405" b="1" dirty="0">
                <a:solidFill>
                  <a:srgbClr val="FF0000"/>
                </a:solidFill>
              </a:endParaRPr>
            </a:p>
          </p:txBody>
        </p:sp>
      </p:grpSp>
      <p:sp>
        <p:nvSpPr>
          <p:cNvPr id="56" name="文本框 55"/>
          <p:cNvSpPr txBox="1">
            <a:spLocks noChangeArrowheads="1"/>
          </p:cNvSpPr>
          <p:nvPr/>
        </p:nvSpPr>
        <p:spPr bwMode="auto">
          <a:xfrm>
            <a:off x="5386754" y="1070708"/>
            <a:ext cx="5572369" cy="5009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460" b="1" dirty="0">
                <a:latin typeface="Arial" panose="020B0604020202020204" pitchFamily="34" charset="0"/>
                <a:ea typeface="宋体" panose="02010600030101010101" pitchFamily="2" charset="-122"/>
              </a:rPr>
              <a:t>         </a:t>
            </a:r>
            <a:r>
              <a:rPr lang="zh-CN" altLang="en-US" sz="2460" b="1" dirty="0">
                <a:solidFill>
                  <a:srgbClr val="FF0000"/>
                </a:solidFill>
                <a:latin typeface="微软雅黑" panose="020B0503020204020204" charset="-122"/>
                <a:ea typeface="微软雅黑" panose="020B0503020204020204" charset="-122"/>
              </a:rPr>
              <a:t>信息安全</a:t>
            </a:r>
            <a:r>
              <a:rPr lang="zh-CN" altLang="en-US" sz="2460" b="1" dirty="0">
                <a:latin typeface="微软雅黑" panose="020B0503020204020204" charset="-122"/>
                <a:ea typeface="微软雅黑" panose="020B0503020204020204" charset="-122"/>
              </a:rPr>
              <a:t>是通过实现一组合适“控制”，所获的特定能力。该“控制”可以是策略、惯例、规程、组织结构和软件功能。建立这些控制以确定机构的特定安全目标得到满足。该特定目标表现在对</a:t>
            </a:r>
            <a:r>
              <a:rPr lang="zh-CN" altLang="en-US" sz="2460" b="1" dirty="0">
                <a:solidFill>
                  <a:srgbClr val="FF0000"/>
                </a:solidFill>
                <a:latin typeface="微软雅黑" panose="020B0503020204020204" charset="-122"/>
                <a:ea typeface="微软雅黑" panose="020B0503020204020204" charset="-122"/>
              </a:rPr>
              <a:t>信息系统</a:t>
            </a:r>
            <a:r>
              <a:rPr lang="zh-CN" altLang="en-US" sz="2460" b="1" dirty="0">
                <a:latin typeface="微软雅黑" panose="020B0503020204020204" charset="-122"/>
                <a:ea typeface="微软雅黑" panose="020B0503020204020204" charset="-122"/>
              </a:rPr>
              <a:t>、</a:t>
            </a:r>
            <a:r>
              <a:rPr lang="zh-CN" altLang="en-US" sz="2460" b="1" dirty="0">
                <a:solidFill>
                  <a:srgbClr val="FF0000"/>
                </a:solidFill>
                <a:latin typeface="微软雅黑" panose="020B0503020204020204" charset="-122"/>
                <a:ea typeface="微软雅黑" panose="020B0503020204020204" charset="-122"/>
              </a:rPr>
              <a:t>信息自身</a:t>
            </a:r>
            <a:r>
              <a:rPr lang="zh-CN" altLang="en-US" sz="2460" b="1" dirty="0">
                <a:latin typeface="微软雅黑" panose="020B0503020204020204" charset="-122"/>
                <a:ea typeface="微软雅黑" panose="020B0503020204020204" charset="-122"/>
              </a:rPr>
              <a:t>及</a:t>
            </a:r>
            <a:r>
              <a:rPr lang="zh-CN" altLang="en-US" sz="2460" b="1" dirty="0">
                <a:solidFill>
                  <a:srgbClr val="FF0000"/>
                </a:solidFill>
                <a:latin typeface="微软雅黑" panose="020B0503020204020204" charset="-122"/>
                <a:ea typeface="微软雅黑" panose="020B0503020204020204" charset="-122"/>
              </a:rPr>
              <a:t>信息利用</a:t>
            </a:r>
            <a:r>
              <a:rPr lang="zh-CN" altLang="en-US" sz="2460" b="1" dirty="0">
                <a:latin typeface="微软雅黑" panose="020B0503020204020204" charset="-122"/>
                <a:ea typeface="微软雅黑" panose="020B0503020204020204" charset="-122"/>
              </a:rPr>
              <a:t>中的</a:t>
            </a:r>
            <a:r>
              <a:rPr lang="zh-CN" altLang="en-US" sz="2460" b="1" dirty="0">
                <a:solidFill>
                  <a:srgbClr val="0000FF"/>
                </a:solidFill>
                <a:latin typeface="微软雅黑" panose="020B0503020204020204" charset="-122"/>
                <a:ea typeface="微软雅黑" panose="020B0503020204020204" charset="-122"/>
              </a:rPr>
              <a:t>机密性、可鉴别性、可控性、可用性</a:t>
            </a:r>
            <a:r>
              <a:rPr lang="zh-CN" altLang="en-US" sz="2460" b="1" dirty="0">
                <a:latin typeface="微软雅黑" panose="020B0503020204020204" charset="-122"/>
                <a:ea typeface="微软雅黑" panose="020B0503020204020204" charset="-122"/>
              </a:rPr>
              <a:t>四个核心安全属性的保护上，即确保信息与信息系统不被非授权所掌握、其信息与操作是可鉴别的、信息与系统是可控的、能随时为授权者提供信息及系统服务；具体反映在</a:t>
            </a:r>
            <a:r>
              <a:rPr lang="zh-CN" altLang="en-US" sz="2460" b="1" dirty="0">
                <a:solidFill>
                  <a:srgbClr val="FF0000"/>
                </a:solidFill>
                <a:latin typeface="微软雅黑" panose="020B0503020204020204" charset="-122"/>
                <a:ea typeface="微软雅黑" panose="020B0503020204020204" charset="-122"/>
              </a:rPr>
              <a:t>物理安全、运行安全、数据安全、内容安全四</a:t>
            </a:r>
            <a:r>
              <a:rPr lang="zh-CN" altLang="en-US" sz="2460" b="1" dirty="0">
                <a:latin typeface="微软雅黑" panose="020B0503020204020204" charset="-122"/>
                <a:ea typeface="微软雅黑" panose="020B0503020204020204" charset="-122"/>
              </a:rPr>
              <a:t>个层面上。</a:t>
            </a:r>
            <a:endParaRPr lang="zh-CN" altLang="en-US" sz="2460" b="1" dirty="0">
              <a:latin typeface="微软雅黑" panose="020B0503020204020204" charset="-122"/>
              <a:ea typeface="微软雅黑" panose="020B0503020204020204" charset="-122"/>
            </a:endParaRPr>
          </a:p>
        </p:txBody>
      </p:sp>
      <p:grpSp>
        <p:nvGrpSpPr>
          <p:cNvPr id="4" name="组合 3"/>
          <p:cNvGrpSpPr/>
          <p:nvPr/>
        </p:nvGrpSpPr>
        <p:grpSpPr bwMode="auto">
          <a:xfrm>
            <a:off x="1438032" y="2365497"/>
            <a:ext cx="2913184" cy="1335088"/>
            <a:chOff x="1168401" y="2564904"/>
            <a:chExt cx="2366961" cy="1084759"/>
          </a:xfrm>
        </p:grpSpPr>
        <p:sp>
          <p:nvSpPr>
            <p:cNvPr id="44" name="立方体 43"/>
            <p:cNvSpPr/>
            <p:nvPr/>
          </p:nvSpPr>
          <p:spPr>
            <a:xfrm rot="16200000">
              <a:off x="1799431" y="1940719"/>
              <a:ext cx="1077913" cy="2339974"/>
            </a:xfrm>
            <a:prstGeom prst="cube">
              <a:avLst>
                <a:gd name="adj" fmla="val 53880"/>
              </a:avLst>
            </a:prstGeom>
            <a:solidFill>
              <a:schemeClr val="accent1">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57" name="文本框 56"/>
            <p:cNvSpPr txBox="1"/>
            <p:nvPr/>
          </p:nvSpPr>
          <p:spPr>
            <a:xfrm>
              <a:off x="1854200" y="2564904"/>
              <a:ext cx="1654174" cy="438547"/>
            </a:xfrm>
            <a:prstGeom prst="rect">
              <a:avLst/>
            </a:prstGeom>
            <a:noFill/>
          </p:spPr>
          <p:txBody>
            <a:bodyPr>
              <a:spAutoFit/>
            </a:bodyPr>
            <a:lstStyle/>
            <a:p>
              <a:pPr>
                <a:defRPr/>
              </a:pPr>
              <a:r>
                <a:rPr lang="zh-CN" altLang="en-US" sz="100" dirty="0"/>
                <a:t> </a:t>
              </a:r>
              <a:r>
                <a:rPr lang="zh-CN" altLang="en-US" sz="1405" b="1" dirty="0">
                  <a:solidFill>
                    <a:srgbClr val="FF0000"/>
                  </a:solidFill>
                </a:rPr>
                <a:t>数据安全</a:t>
              </a:r>
              <a:endParaRPr lang="en-US" altLang="zh-CN" sz="1405" b="1" dirty="0">
                <a:solidFill>
                  <a:srgbClr val="FF0000"/>
                </a:solidFill>
              </a:endParaRPr>
            </a:p>
            <a:p>
              <a:pPr>
                <a:defRPr/>
              </a:pPr>
              <a:r>
                <a:rPr lang="en-US" altLang="zh-CN" sz="1405" b="1" dirty="0">
                  <a:solidFill>
                    <a:srgbClr val="FF0000"/>
                  </a:solidFill>
                </a:rPr>
                <a:t>Data security</a:t>
              </a:r>
              <a:endParaRPr lang="en-US" altLang="zh-CN" sz="1405" b="1" dirty="0">
                <a:solidFill>
                  <a:srgbClr val="FF0000"/>
                </a:solidFill>
              </a:endParaRPr>
            </a:p>
            <a:p>
              <a:pPr>
                <a:defRPr/>
              </a:pPr>
              <a:endParaRPr lang="zh-CN" altLang="en-US" sz="100" b="1" dirty="0"/>
            </a:p>
          </p:txBody>
        </p:sp>
        <p:sp>
          <p:nvSpPr>
            <p:cNvPr id="58" name="文本框 57"/>
            <p:cNvSpPr txBox="1"/>
            <p:nvPr/>
          </p:nvSpPr>
          <p:spPr>
            <a:xfrm>
              <a:off x="1881188" y="3182938"/>
              <a:ext cx="1654174" cy="426164"/>
            </a:xfrm>
            <a:prstGeom prst="rect">
              <a:avLst/>
            </a:prstGeom>
            <a:noFill/>
          </p:spPr>
          <p:txBody>
            <a:bodyPr>
              <a:spAutoFit/>
            </a:bodyPr>
            <a:lstStyle/>
            <a:p>
              <a:pPr>
                <a:defRPr/>
              </a:pPr>
              <a:r>
                <a:rPr lang="zh-CN" altLang="en-US" sz="1405" b="1" dirty="0">
                  <a:solidFill>
                    <a:srgbClr val="0000FF"/>
                  </a:solidFill>
                </a:rPr>
                <a:t>信息自身的安全</a:t>
              </a:r>
              <a:endParaRPr lang="en-US" altLang="zh-CN" sz="1405" b="1" dirty="0">
                <a:solidFill>
                  <a:srgbClr val="0000FF"/>
                </a:solidFill>
              </a:endParaRPr>
            </a:p>
            <a:p>
              <a:pPr>
                <a:defRPr/>
              </a:pPr>
              <a:r>
                <a:rPr lang="en-US" altLang="zh-CN" sz="1405" b="1" dirty="0">
                  <a:solidFill>
                    <a:srgbClr val="0000FF"/>
                  </a:solidFill>
                </a:rPr>
                <a:t>Information security</a:t>
              </a:r>
              <a:endParaRPr lang="zh-CN" altLang="en-US" sz="100" dirty="0"/>
            </a:p>
          </p:txBody>
        </p:sp>
      </p:grpSp>
      <p:grpSp>
        <p:nvGrpSpPr>
          <p:cNvPr id="5" name="组合 4"/>
          <p:cNvGrpSpPr/>
          <p:nvPr/>
        </p:nvGrpSpPr>
        <p:grpSpPr bwMode="auto">
          <a:xfrm>
            <a:off x="1623647" y="3686909"/>
            <a:ext cx="2971799" cy="1248508"/>
            <a:chOff x="1319213" y="3638551"/>
            <a:chExt cx="2414587" cy="1014413"/>
          </a:xfrm>
        </p:grpSpPr>
        <p:sp>
          <p:nvSpPr>
            <p:cNvPr id="45" name="立方体 44"/>
            <p:cNvSpPr/>
            <p:nvPr/>
          </p:nvSpPr>
          <p:spPr>
            <a:xfrm rot="16200000">
              <a:off x="1992312" y="2965451"/>
              <a:ext cx="1014413" cy="2360612"/>
            </a:xfrm>
            <a:prstGeom prst="cube">
              <a:avLst>
                <a:gd name="adj" fmla="val 53880"/>
              </a:avLst>
            </a:prstGeom>
            <a:solidFill>
              <a:schemeClr val="accent1">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59" name="文本框 58"/>
            <p:cNvSpPr txBox="1"/>
            <p:nvPr/>
          </p:nvSpPr>
          <p:spPr>
            <a:xfrm>
              <a:off x="1928813" y="3722688"/>
              <a:ext cx="1804987" cy="426164"/>
            </a:xfrm>
            <a:prstGeom prst="rect">
              <a:avLst/>
            </a:prstGeom>
            <a:noFill/>
          </p:spPr>
          <p:txBody>
            <a:bodyPr>
              <a:spAutoFit/>
            </a:bodyPr>
            <a:lstStyle/>
            <a:p>
              <a:pPr>
                <a:defRPr/>
              </a:pPr>
              <a:r>
                <a:rPr lang="zh-CN" altLang="en-US" sz="1405" b="1" dirty="0">
                  <a:solidFill>
                    <a:srgbClr val="FF0000"/>
                  </a:solidFill>
                </a:rPr>
                <a:t>运行安全</a:t>
              </a:r>
              <a:endParaRPr lang="en-US" altLang="zh-CN" sz="1405" b="1" dirty="0">
                <a:solidFill>
                  <a:srgbClr val="FF0000"/>
                </a:solidFill>
              </a:endParaRPr>
            </a:p>
            <a:p>
              <a:pPr>
                <a:defRPr/>
              </a:pPr>
              <a:r>
                <a:rPr lang="en-US" altLang="zh-CN" sz="1405" b="1" dirty="0">
                  <a:solidFill>
                    <a:srgbClr val="FF0000"/>
                  </a:solidFill>
                </a:rPr>
                <a:t>Operational security</a:t>
              </a:r>
              <a:endParaRPr lang="zh-CN" altLang="en-US" sz="1405" b="1" dirty="0">
                <a:solidFill>
                  <a:srgbClr val="FF0000"/>
                </a:solidFill>
              </a:endParaRPr>
            </a:p>
          </p:txBody>
        </p:sp>
      </p:grpSp>
      <p:grpSp>
        <p:nvGrpSpPr>
          <p:cNvPr id="7" name="组合 6"/>
          <p:cNvGrpSpPr/>
          <p:nvPr/>
        </p:nvGrpSpPr>
        <p:grpSpPr bwMode="auto">
          <a:xfrm>
            <a:off x="1781909" y="4558323"/>
            <a:ext cx="2895599" cy="1367692"/>
            <a:chOff x="1447801" y="4346575"/>
            <a:chExt cx="2352674" cy="1111250"/>
          </a:xfrm>
        </p:grpSpPr>
        <p:sp>
          <p:nvSpPr>
            <p:cNvPr id="46" name="立方体 45"/>
            <p:cNvSpPr/>
            <p:nvPr/>
          </p:nvSpPr>
          <p:spPr>
            <a:xfrm rot="16200000" flipH="1">
              <a:off x="2155032" y="3937793"/>
              <a:ext cx="812800" cy="2227263"/>
            </a:xfrm>
            <a:prstGeom prst="cube">
              <a:avLst>
                <a:gd name="adj" fmla="val 53880"/>
              </a:avLst>
            </a:prstGeom>
            <a:solidFill>
              <a:schemeClr val="accent1">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dirty="0"/>
            </a:p>
          </p:txBody>
        </p:sp>
        <p:sp>
          <p:nvSpPr>
            <p:cNvPr id="60" name="文本框 59"/>
            <p:cNvSpPr txBox="1"/>
            <p:nvPr/>
          </p:nvSpPr>
          <p:spPr>
            <a:xfrm>
              <a:off x="2146300" y="4346575"/>
              <a:ext cx="1654175" cy="602099"/>
            </a:xfrm>
            <a:prstGeom prst="rect">
              <a:avLst/>
            </a:prstGeom>
            <a:noFill/>
          </p:spPr>
          <p:txBody>
            <a:bodyPr>
              <a:spAutoFit/>
            </a:bodyPr>
            <a:lstStyle/>
            <a:p>
              <a:pPr>
                <a:defRPr/>
              </a:pPr>
              <a:r>
                <a:rPr lang="zh-CN" altLang="en-US" sz="1405" b="1" dirty="0">
                  <a:solidFill>
                    <a:srgbClr val="0000FF"/>
                  </a:solidFill>
                </a:rPr>
                <a:t>信息系统的安全</a:t>
              </a:r>
              <a:endParaRPr lang="en-US" altLang="zh-CN" sz="1405" b="1" dirty="0">
                <a:solidFill>
                  <a:srgbClr val="0000FF"/>
                </a:solidFill>
              </a:endParaRPr>
            </a:p>
            <a:p>
              <a:pPr>
                <a:defRPr/>
              </a:pPr>
              <a:endParaRPr lang="en-US" altLang="zh-CN" sz="1405" b="1" dirty="0">
                <a:solidFill>
                  <a:srgbClr val="0000FF"/>
                </a:solidFill>
              </a:endParaRPr>
            </a:p>
            <a:p>
              <a:pPr>
                <a:defRPr/>
              </a:pPr>
              <a:r>
                <a:rPr lang="en-US" altLang="zh-CN" sz="1405" b="1" dirty="0">
                  <a:solidFill>
                    <a:srgbClr val="0000FF"/>
                  </a:solidFill>
                </a:rPr>
                <a:t>system security</a:t>
              </a:r>
              <a:endParaRPr lang="zh-CN" altLang="en-US" sz="100" dirty="0"/>
            </a:p>
          </p:txBody>
        </p:sp>
        <p:sp>
          <p:nvSpPr>
            <p:cNvPr id="61" name="文本框 60"/>
            <p:cNvSpPr txBox="1"/>
            <p:nvPr/>
          </p:nvSpPr>
          <p:spPr>
            <a:xfrm>
              <a:off x="1984375" y="5013325"/>
              <a:ext cx="1384300" cy="426164"/>
            </a:xfrm>
            <a:prstGeom prst="rect">
              <a:avLst/>
            </a:prstGeom>
            <a:noFill/>
          </p:spPr>
          <p:txBody>
            <a:bodyPr>
              <a:spAutoFit/>
            </a:bodyPr>
            <a:lstStyle/>
            <a:p>
              <a:pPr>
                <a:defRPr/>
              </a:pPr>
              <a:r>
                <a:rPr lang="zh-CN" altLang="en-US" sz="1405" b="1" dirty="0">
                  <a:solidFill>
                    <a:srgbClr val="FF0000"/>
                  </a:solidFill>
                </a:rPr>
                <a:t>物理安全</a:t>
              </a:r>
              <a:endParaRPr lang="en-US" altLang="zh-CN" sz="1405" b="1" dirty="0">
                <a:solidFill>
                  <a:srgbClr val="FF0000"/>
                </a:solidFill>
              </a:endParaRPr>
            </a:p>
            <a:p>
              <a:pPr>
                <a:defRPr/>
              </a:pPr>
              <a:r>
                <a:rPr lang="en-US" altLang="zh-CN" sz="1405" b="1" dirty="0">
                  <a:solidFill>
                    <a:srgbClr val="FF0000"/>
                  </a:solidFill>
                </a:rPr>
                <a:t>Physical security</a:t>
              </a:r>
              <a:endParaRPr lang="zh-CN" altLang="en-US" sz="1405" b="1" dirty="0">
                <a:solidFill>
                  <a:srgbClr val="FF0000"/>
                </a:solidFill>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53" presetClass="entr" presetSubtype="16" fill="hold" grpId="0" nodeType="after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p:cTn id="27" dur="1000" fill="hold"/>
                                        <p:tgtEl>
                                          <p:spTgt spid="56"/>
                                        </p:tgtEl>
                                        <p:attrNameLst>
                                          <p:attrName>ppt_w</p:attrName>
                                        </p:attrNameLst>
                                      </p:cBhvr>
                                      <p:tavLst>
                                        <p:tav tm="0">
                                          <p:val>
                                            <p:fltVal val="0"/>
                                          </p:val>
                                        </p:tav>
                                        <p:tav tm="100000">
                                          <p:val>
                                            <p:strVal val="#ppt_w"/>
                                          </p:val>
                                        </p:tav>
                                      </p:tavLst>
                                    </p:anim>
                                    <p:anim calcmode="lin" valueType="num">
                                      <p:cBhvr>
                                        <p:cTn id="28" dur="1000" fill="hold"/>
                                        <p:tgtEl>
                                          <p:spTgt spid="56"/>
                                        </p:tgtEl>
                                        <p:attrNameLst>
                                          <p:attrName>ppt_h</p:attrName>
                                        </p:attrNameLst>
                                      </p:cBhvr>
                                      <p:tavLst>
                                        <p:tav tm="0">
                                          <p:val>
                                            <p:fltVal val="0"/>
                                          </p:val>
                                        </p:tav>
                                        <p:tav tm="100000">
                                          <p:val>
                                            <p:strVal val="#ppt_h"/>
                                          </p:val>
                                        </p:tav>
                                      </p:tavLst>
                                    </p:anim>
                                    <p:animEffect transition="in" filter="fade">
                                      <p:cBhvr>
                                        <p:cTn id="29"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文本框 1"/>
          <p:cNvSpPr txBox="1">
            <a:spLocks noChangeArrowheads="1"/>
          </p:cNvSpPr>
          <p:nvPr/>
        </p:nvSpPr>
        <p:spPr bwMode="auto">
          <a:xfrm>
            <a:off x="511908" y="1125416"/>
            <a:ext cx="11344031" cy="4643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2955">
                <a:latin typeface="Arial" panose="020B0604020202020204" pitchFamily="34" charset="0"/>
                <a:ea typeface="宋体" panose="02010600030101010101" pitchFamily="2" charset="-122"/>
              </a:rPr>
              <a:t>       </a:t>
            </a:r>
            <a:r>
              <a:rPr lang="zh-CN" altLang="en-US" sz="2955">
                <a:solidFill>
                  <a:srgbClr val="0000FF"/>
                </a:solidFill>
                <a:latin typeface="微软雅黑" panose="020B0503020204020204" charset="-122"/>
                <a:ea typeface="微软雅黑" panose="020B0503020204020204" charset="-122"/>
              </a:rPr>
              <a:t>网络空间安全</a:t>
            </a:r>
            <a:r>
              <a:rPr lang="zh-CN" altLang="en-US" sz="2955">
                <a:latin typeface="微软雅黑" panose="020B0503020204020204" charset="-122"/>
                <a:ea typeface="微软雅黑" panose="020B0503020204020204" charset="-122"/>
              </a:rPr>
              <a:t>涉及到在网络空间中</a:t>
            </a:r>
            <a:r>
              <a:rPr lang="zh-CN" altLang="en-US" sz="2955">
                <a:solidFill>
                  <a:srgbClr val="FF0000"/>
                </a:solidFill>
                <a:latin typeface="微软雅黑" panose="020B0503020204020204" charset="-122"/>
                <a:ea typeface="微软雅黑" panose="020B0503020204020204" charset="-122"/>
              </a:rPr>
              <a:t>电磁设备</a:t>
            </a:r>
            <a:r>
              <a:rPr lang="zh-CN" altLang="en-US" sz="2955">
                <a:latin typeface="微软雅黑" panose="020B0503020204020204" charset="-122"/>
                <a:ea typeface="微软雅黑" panose="020B0503020204020204" charset="-122"/>
              </a:rPr>
              <a:t>、</a:t>
            </a:r>
            <a:r>
              <a:rPr lang="zh-CN" altLang="en-US" sz="2955">
                <a:solidFill>
                  <a:srgbClr val="FF0000"/>
                </a:solidFill>
                <a:latin typeface="微软雅黑" panose="020B0503020204020204" charset="-122"/>
                <a:ea typeface="微软雅黑" panose="020B0503020204020204" charset="-122"/>
              </a:rPr>
              <a:t>信息通信系统</a:t>
            </a:r>
            <a:r>
              <a:rPr lang="zh-CN" altLang="en-US" sz="2955">
                <a:latin typeface="微软雅黑" panose="020B0503020204020204" charset="-122"/>
                <a:ea typeface="微软雅黑" panose="020B0503020204020204" charset="-122"/>
              </a:rPr>
              <a:t>、</a:t>
            </a:r>
            <a:r>
              <a:rPr lang="zh-CN" altLang="en-US" sz="2955">
                <a:solidFill>
                  <a:srgbClr val="FF0000"/>
                </a:solidFill>
                <a:latin typeface="微软雅黑" panose="020B0503020204020204" charset="-122"/>
                <a:ea typeface="微软雅黑" panose="020B0503020204020204" charset="-122"/>
              </a:rPr>
              <a:t>运行数据</a:t>
            </a:r>
            <a:r>
              <a:rPr lang="zh-CN" altLang="en-US" sz="2955">
                <a:latin typeface="微软雅黑" panose="020B0503020204020204" charset="-122"/>
                <a:ea typeface="微软雅黑" panose="020B0503020204020204" charset="-122"/>
              </a:rPr>
              <a:t>、</a:t>
            </a:r>
            <a:r>
              <a:rPr lang="zh-CN" altLang="en-US" sz="2955">
                <a:solidFill>
                  <a:srgbClr val="FF0000"/>
                </a:solidFill>
                <a:latin typeface="微软雅黑" panose="020B0503020204020204" charset="-122"/>
                <a:ea typeface="微软雅黑" panose="020B0503020204020204" charset="-122"/>
              </a:rPr>
              <a:t>系统应用</a:t>
            </a:r>
            <a:r>
              <a:rPr lang="zh-CN" altLang="en-US" sz="2955">
                <a:latin typeface="微软雅黑" panose="020B0503020204020204" charset="-122"/>
                <a:ea typeface="微软雅黑" panose="020B0503020204020204" charset="-122"/>
              </a:rPr>
              <a:t>中所存在的安全问题，</a:t>
            </a:r>
            <a:r>
              <a:rPr lang="zh-CN" altLang="en-US" sz="2955">
                <a:solidFill>
                  <a:srgbClr val="FF0000"/>
                </a:solidFill>
                <a:latin typeface="微软雅黑" panose="020B0503020204020204" charset="-122"/>
                <a:ea typeface="微软雅黑" panose="020B0503020204020204" charset="-122"/>
              </a:rPr>
              <a:t>既要防止、保护</a:t>
            </a:r>
            <a:r>
              <a:rPr lang="zh-CN" altLang="en-US" sz="2955">
                <a:latin typeface="微软雅黑" panose="020B0503020204020204" charset="-122"/>
                <a:ea typeface="微软雅黑" panose="020B0503020204020204" charset="-122"/>
              </a:rPr>
              <a:t>包括互联网、各种电信网与通信系统、各种传播系统与广电网、各种计算机系统、各类关键工业设施中的嵌入式处理器和控制器等在内的信息通信技术系统及其所承载的数据免受攻击；</a:t>
            </a:r>
            <a:r>
              <a:rPr lang="zh-CN" altLang="en-US" sz="2955">
                <a:solidFill>
                  <a:srgbClr val="FF0000"/>
                </a:solidFill>
                <a:latin typeface="微软雅黑" panose="020B0503020204020204" charset="-122"/>
                <a:ea typeface="微软雅黑" panose="020B0503020204020204" charset="-122"/>
              </a:rPr>
              <a:t>也要防止、应对</a:t>
            </a:r>
            <a:r>
              <a:rPr lang="zh-CN" altLang="en-US" sz="2955">
                <a:latin typeface="微软雅黑" panose="020B0503020204020204" charset="-122"/>
                <a:ea typeface="微软雅黑" panose="020B0503020204020204" charset="-122"/>
              </a:rPr>
              <a:t>运用或滥用这些信息通信技术系统而波及到政治安全、经济安全、文化安全、社会安全、国防安全等情况的发生。针对上述风险，需要采取法律、管理、技术、自律等综合手段来进行应对，确保信息通信技术系统及其所承载数据的</a:t>
            </a:r>
            <a:r>
              <a:rPr lang="zh-CN" altLang="en-US" sz="2955">
                <a:solidFill>
                  <a:srgbClr val="FF0000"/>
                </a:solidFill>
                <a:latin typeface="微软雅黑" panose="020B0503020204020204" charset="-122"/>
                <a:ea typeface="微软雅黑" panose="020B0503020204020204" charset="-122"/>
              </a:rPr>
              <a:t>机密性、可鉴别性</a:t>
            </a:r>
            <a:r>
              <a:rPr lang="zh-CN" altLang="en-US" sz="2955">
                <a:latin typeface="微软雅黑" panose="020B0503020204020204" charset="-122"/>
                <a:ea typeface="微软雅黑" panose="020B0503020204020204" charset="-122"/>
              </a:rPr>
              <a:t>（包括完整性、真实性、不可依赖性）、</a:t>
            </a:r>
            <a:r>
              <a:rPr lang="zh-CN" altLang="en-US" sz="2955">
                <a:solidFill>
                  <a:srgbClr val="FF0000"/>
                </a:solidFill>
                <a:latin typeface="微软雅黑" panose="020B0503020204020204" charset="-122"/>
                <a:ea typeface="微软雅黑" panose="020B0503020204020204" charset="-122"/>
              </a:rPr>
              <a:t>可用性、可控性</a:t>
            </a:r>
            <a:r>
              <a:rPr lang="zh-CN" altLang="en-US" sz="2955">
                <a:latin typeface="微软雅黑" panose="020B0503020204020204" charset="-122"/>
                <a:ea typeface="微软雅黑" panose="020B0503020204020204" charset="-122"/>
              </a:rPr>
              <a:t>得到保障。</a:t>
            </a:r>
            <a:endParaRPr lang="zh-CN" altLang="en-US" sz="2955">
              <a:latin typeface="微软雅黑" panose="020B0503020204020204" charset="-122"/>
              <a:ea typeface="微软雅黑" panose="020B0503020204020204" charset="-122"/>
            </a:endParaRPr>
          </a:p>
        </p:txBody>
      </p:sp>
      <p:sp>
        <p:nvSpPr>
          <p:cNvPr id="144387" name="文本框 4"/>
          <p:cNvSpPr txBox="1">
            <a:spLocks noChangeArrowheads="1"/>
          </p:cNvSpPr>
          <p:nvPr/>
        </p:nvSpPr>
        <p:spPr bwMode="auto">
          <a:xfrm>
            <a:off x="511908" y="60569"/>
            <a:ext cx="8190523"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 typeface="Wingdings" panose="05000000000000000000" pitchFamily="2" charset="2"/>
              <a:buNone/>
            </a:pPr>
            <a:r>
              <a:rPr lang="zh-CN" altLang="en-US" sz="3445" b="1">
                <a:solidFill>
                  <a:srgbClr val="0000FF"/>
                </a:solidFill>
                <a:latin typeface="方正小标宋简体" panose="03000509000000000000" pitchFamily="65" charset="-122"/>
                <a:ea typeface="方正小标宋简体" panose="03000509000000000000" pitchFamily="65" charset="-122"/>
              </a:rPr>
              <a:t>定义网络空间安全（</a:t>
            </a:r>
            <a:r>
              <a:rPr lang="en-US" altLang="zh-CN" sz="3445" b="1">
                <a:solidFill>
                  <a:srgbClr val="0000FF"/>
                </a:solidFill>
                <a:latin typeface="方正小标宋简体" panose="03000509000000000000" pitchFamily="65" charset="-122"/>
                <a:ea typeface="方正小标宋简体" panose="03000509000000000000" pitchFamily="65" charset="-122"/>
              </a:rPr>
              <a:t>424</a:t>
            </a:r>
            <a:r>
              <a:rPr lang="zh-CN" altLang="en-US" sz="3445" b="1">
                <a:solidFill>
                  <a:srgbClr val="0000FF"/>
                </a:solidFill>
                <a:latin typeface="方正小标宋简体" panose="03000509000000000000" pitchFamily="65" charset="-122"/>
                <a:ea typeface="方正小标宋简体" panose="03000509000000000000" pitchFamily="65" charset="-122"/>
              </a:rPr>
              <a:t>要素）</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5650"/>
                                        </p:tgtEl>
                                        <p:attrNameLst>
                                          <p:attrName>style.visibility</p:attrName>
                                        </p:attrNameLst>
                                      </p:cBhvr>
                                      <p:to>
                                        <p:strVal val="visible"/>
                                      </p:to>
                                    </p:set>
                                    <p:anim calcmode="lin" valueType="num">
                                      <p:cBhvr>
                                        <p:cTn id="7" dur="1000" fill="hold"/>
                                        <p:tgtEl>
                                          <p:spTgt spid="155650"/>
                                        </p:tgtEl>
                                        <p:attrNameLst>
                                          <p:attrName>ppt_w</p:attrName>
                                        </p:attrNameLst>
                                      </p:cBhvr>
                                      <p:tavLst>
                                        <p:tav tm="0">
                                          <p:val>
                                            <p:fltVal val="0"/>
                                          </p:val>
                                        </p:tav>
                                        <p:tav tm="100000">
                                          <p:val>
                                            <p:strVal val="#ppt_w"/>
                                          </p:val>
                                        </p:tav>
                                      </p:tavLst>
                                    </p:anim>
                                    <p:anim calcmode="lin" valueType="num">
                                      <p:cBhvr>
                                        <p:cTn id="8" dur="1000" fill="hold"/>
                                        <p:tgtEl>
                                          <p:spTgt spid="155650"/>
                                        </p:tgtEl>
                                        <p:attrNameLst>
                                          <p:attrName>ppt_h</p:attrName>
                                        </p:attrNameLst>
                                      </p:cBhvr>
                                      <p:tavLst>
                                        <p:tav tm="0">
                                          <p:val>
                                            <p:fltVal val="0"/>
                                          </p:val>
                                        </p:tav>
                                        <p:tav tm="100000">
                                          <p:val>
                                            <p:strVal val="#ppt_h"/>
                                          </p:val>
                                        </p:tav>
                                      </p:tavLst>
                                    </p:anim>
                                    <p:animEffect transition="in" filter="fade">
                                      <p:cBhvr>
                                        <p:cTn id="9" dur="1000"/>
                                        <p:tgtEl>
                                          <p:spTgt spid="155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908" y="994508"/>
            <a:ext cx="11344031" cy="1226185"/>
          </a:xfrm>
          <a:prstGeom prst="rect">
            <a:avLst/>
          </a:prstGeom>
          <a:noFill/>
        </p:spPr>
        <p:txBody>
          <a:bodyPr>
            <a:spAutoFit/>
          </a:bodyPr>
          <a:lstStyle/>
          <a:p>
            <a:pPr>
              <a:defRPr/>
            </a:pPr>
            <a:r>
              <a:rPr lang="zh-CN" altLang="en-US" sz="2460" b="1" dirty="0">
                <a:solidFill>
                  <a:srgbClr val="FF0000"/>
                </a:solidFill>
                <a:latin typeface="+mn-ea"/>
                <a:ea typeface="+mn-ea"/>
              </a:rPr>
              <a:t>网络空间安全</a:t>
            </a:r>
            <a:r>
              <a:rPr lang="zh-CN" altLang="en-US" sz="2460" b="1" dirty="0">
                <a:latin typeface="+mn-ea"/>
                <a:ea typeface="+mn-ea"/>
              </a:rPr>
              <a:t>涉及到信息保密、网络安全、移动网络安全、电信网安全、可信计算、云安全、大数据安全、物联网安全、广电网安全、信息战、舆论安全、在线社交网络、工控安全、传感网安全、智能设备、支付安全、</a:t>
            </a:r>
            <a:r>
              <a:rPr lang="en-US" altLang="zh-CN" sz="2460" b="1" dirty="0">
                <a:latin typeface="+mn-ea"/>
                <a:ea typeface="+mn-ea"/>
              </a:rPr>
              <a:t>GPS</a:t>
            </a:r>
            <a:r>
              <a:rPr lang="zh-CN" altLang="en-US" sz="2460" b="1" dirty="0">
                <a:latin typeface="+mn-ea"/>
                <a:ea typeface="+mn-ea"/>
              </a:rPr>
              <a:t>等多个领域。</a:t>
            </a:r>
            <a:endParaRPr lang="zh-CN" altLang="en-US" sz="2460" b="1" dirty="0">
              <a:latin typeface="+mn-ea"/>
              <a:ea typeface="+mn-ea"/>
            </a:endParaRPr>
          </a:p>
        </p:txBody>
      </p:sp>
      <p:grpSp>
        <p:nvGrpSpPr>
          <p:cNvPr id="4" name="组合 3"/>
          <p:cNvGrpSpPr/>
          <p:nvPr/>
        </p:nvGrpSpPr>
        <p:grpSpPr bwMode="auto">
          <a:xfrm>
            <a:off x="1262185" y="2897554"/>
            <a:ext cx="9442939" cy="3401647"/>
            <a:chOff x="1025525" y="2997200"/>
            <a:chExt cx="7672388" cy="2763838"/>
          </a:xfrm>
        </p:grpSpPr>
        <p:sp>
          <p:nvSpPr>
            <p:cNvPr id="3" name="椭圆 2"/>
            <p:cNvSpPr/>
            <p:nvPr/>
          </p:nvSpPr>
          <p:spPr>
            <a:xfrm>
              <a:off x="1025525" y="2997200"/>
              <a:ext cx="7672388" cy="2763838"/>
            </a:xfrm>
            <a:prstGeom prst="ellipse">
              <a:avLst/>
            </a:prstGeom>
            <a:solidFill>
              <a:schemeClr val="accent2">
                <a:lumMod val="40000"/>
                <a:lumOff val="60000"/>
              </a:schemeClr>
            </a:solidFill>
            <a:effectLst>
              <a:outerShdw blurRad="50800" dist="38100" dir="5400000" algn="t"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zh-CN" altLang="en-US" sz="100" b="1" dirty="0">
                <a:solidFill>
                  <a:srgbClr val="FF0000"/>
                </a:solidFill>
              </a:endParaRPr>
            </a:p>
          </p:txBody>
        </p:sp>
        <p:pic>
          <p:nvPicPr>
            <p:cNvPr id="14541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52725" y="3959225"/>
              <a:ext cx="4349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535238" y="3662363"/>
              <a:ext cx="1271587" cy="262612"/>
            </a:xfrm>
            <a:prstGeom prst="rect">
              <a:avLst/>
            </a:prstGeom>
            <a:noFill/>
          </p:spPr>
          <p:txBody>
            <a:bodyPr>
              <a:spAutoFit/>
            </a:bodyPr>
            <a:lstStyle/>
            <a:p>
              <a:pPr>
                <a:defRPr/>
              </a:pPr>
              <a:r>
                <a:rPr lang="zh-CN" altLang="en-US" sz="1405" b="1" dirty="0">
                  <a:solidFill>
                    <a:srgbClr val="FF0000"/>
                  </a:solidFill>
                </a:rPr>
                <a:t>可信计算</a:t>
              </a:r>
              <a:endParaRPr lang="en-US" altLang="zh-CN" sz="1405" b="1" dirty="0">
                <a:solidFill>
                  <a:srgbClr val="FF0000"/>
                </a:solidFill>
              </a:endParaRPr>
            </a:p>
            <a:p>
              <a:pPr>
                <a:defRPr/>
              </a:pPr>
              <a:endParaRPr lang="zh-CN" altLang="en-US" sz="100" b="1" dirty="0">
                <a:solidFill>
                  <a:srgbClr val="FF0000"/>
                </a:solidFill>
              </a:endParaRPr>
            </a:p>
          </p:txBody>
        </p:sp>
        <p:pic>
          <p:nvPicPr>
            <p:cNvPr id="145416"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3300" y="3552825"/>
              <a:ext cx="60801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344863" y="3113088"/>
              <a:ext cx="976312" cy="438547"/>
            </a:xfrm>
            <a:prstGeom prst="rect">
              <a:avLst/>
            </a:prstGeom>
            <a:noFill/>
          </p:spPr>
          <p:txBody>
            <a:bodyPr>
              <a:spAutoFit/>
            </a:bodyPr>
            <a:lstStyle/>
            <a:p>
              <a:pPr>
                <a:defRPr/>
              </a:pPr>
              <a:endParaRPr lang="en-US" altLang="zh-CN" sz="1405" b="1" dirty="0">
                <a:solidFill>
                  <a:srgbClr val="FF0000"/>
                </a:solidFill>
              </a:endParaRPr>
            </a:p>
            <a:p>
              <a:pPr>
                <a:defRPr/>
              </a:pPr>
              <a:r>
                <a:rPr lang="zh-CN" altLang="en-US" sz="1405" b="1" dirty="0">
                  <a:solidFill>
                    <a:srgbClr val="FF0000"/>
                  </a:solidFill>
                </a:rPr>
                <a:t>   信息保密</a:t>
              </a:r>
              <a:endParaRPr lang="en-US" altLang="zh-CN" sz="1405" b="1" dirty="0">
                <a:solidFill>
                  <a:srgbClr val="FF0000"/>
                </a:solidFill>
              </a:endParaRPr>
            </a:p>
            <a:p>
              <a:pPr>
                <a:defRPr/>
              </a:pPr>
              <a:endParaRPr lang="zh-CN" altLang="en-US" sz="100" b="1" dirty="0">
                <a:solidFill>
                  <a:srgbClr val="FF0000"/>
                </a:solidFill>
              </a:endParaRPr>
            </a:p>
          </p:txBody>
        </p:sp>
        <p:pic>
          <p:nvPicPr>
            <p:cNvPr id="145418"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9400" y="3997325"/>
              <a:ext cx="725488"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549400" y="3752850"/>
              <a:ext cx="896938" cy="250230"/>
            </a:xfrm>
            <a:prstGeom prst="rect">
              <a:avLst/>
            </a:prstGeom>
            <a:noFill/>
          </p:spPr>
          <p:txBody>
            <a:bodyPr>
              <a:spAutoFit/>
            </a:bodyPr>
            <a:lstStyle/>
            <a:p>
              <a:pPr>
                <a:defRPr/>
              </a:pPr>
              <a:r>
                <a:rPr lang="zh-CN" altLang="en-US" sz="1405" b="1" dirty="0">
                  <a:solidFill>
                    <a:srgbClr val="FF0000"/>
                  </a:solidFill>
                </a:rPr>
                <a:t>网络安全</a:t>
              </a:r>
              <a:endParaRPr lang="zh-CN" altLang="en-US" sz="1405" b="1" dirty="0">
                <a:solidFill>
                  <a:srgbClr val="FF0000"/>
                </a:solidFill>
              </a:endParaRPr>
            </a:p>
          </p:txBody>
        </p:sp>
        <p:pic>
          <p:nvPicPr>
            <p:cNvPr id="145420" name="图片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40025" y="5000625"/>
              <a:ext cx="68738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1" name="TextBox 10"/>
            <p:cNvSpPr txBox="1">
              <a:spLocks noChangeArrowheads="1"/>
            </p:cNvSpPr>
            <p:nvPr/>
          </p:nvSpPr>
          <p:spPr bwMode="auto">
            <a:xfrm>
              <a:off x="2586038" y="4690531"/>
              <a:ext cx="1092200" cy="551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1600" b="1">
                  <a:solidFill>
                    <a:srgbClr val="FF0000"/>
                  </a:solidFill>
                  <a:latin typeface="Arial" panose="020B0604020202020204" pitchFamily="34" charset="0"/>
                  <a:ea typeface="宋体" panose="02010600030101010101" pitchFamily="2" charset="-122"/>
                </a:rPr>
                <a:t>物联网安全</a:t>
              </a:r>
              <a:endParaRPr lang="en-US" altLang="zh-CN" sz="1600" b="1">
                <a:solidFill>
                  <a:srgbClr val="FF0000"/>
                </a:solidFill>
                <a:latin typeface="Arial" panose="020B0604020202020204" pitchFamily="34" charset="0"/>
                <a:ea typeface="宋体" panose="02010600030101010101" pitchFamily="2" charset="-122"/>
              </a:endParaRPr>
            </a:p>
            <a:p>
              <a:pPr>
                <a:spcBef>
                  <a:spcPct val="0"/>
                </a:spcBef>
                <a:buClrTx/>
                <a:buFontTx/>
                <a:buNone/>
              </a:pPr>
              <a:endParaRPr lang="zh-CN" altLang="en-US" sz="2215" b="1">
                <a:solidFill>
                  <a:srgbClr val="FF0000"/>
                </a:solidFill>
                <a:latin typeface="Arial" panose="020B0604020202020204" pitchFamily="34" charset="0"/>
                <a:ea typeface="宋体" panose="02010600030101010101" pitchFamily="2" charset="-122"/>
              </a:endParaRPr>
            </a:p>
          </p:txBody>
        </p:sp>
        <p:pic>
          <p:nvPicPr>
            <p:cNvPr id="145422" name="图片 1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062413" y="4341813"/>
              <a:ext cx="641350"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p:cNvSpPr txBox="1"/>
            <p:nvPr/>
          </p:nvSpPr>
          <p:spPr>
            <a:xfrm>
              <a:off x="4062413" y="3937000"/>
              <a:ext cx="749300" cy="426164"/>
            </a:xfrm>
            <a:prstGeom prst="rect">
              <a:avLst/>
            </a:prstGeom>
            <a:noFill/>
          </p:spPr>
          <p:txBody>
            <a:bodyPr>
              <a:spAutoFit/>
            </a:bodyPr>
            <a:lstStyle/>
            <a:p>
              <a:pPr>
                <a:defRPr/>
              </a:pPr>
              <a:r>
                <a:rPr lang="zh-CN" altLang="en-US" sz="1405" b="1" dirty="0">
                  <a:solidFill>
                    <a:srgbClr val="FF0000"/>
                  </a:solidFill>
                </a:rPr>
                <a:t>移动网络安全</a:t>
              </a:r>
              <a:endParaRPr lang="zh-CN" altLang="en-US" sz="1405" b="1" dirty="0">
                <a:solidFill>
                  <a:srgbClr val="FF0000"/>
                </a:solidFill>
              </a:endParaRPr>
            </a:p>
          </p:txBody>
        </p:sp>
        <p:pic>
          <p:nvPicPr>
            <p:cNvPr id="145424" name="图片 1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65763" y="4842669"/>
              <a:ext cx="752475"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14"/>
            <p:cNvSpPr txBox="1"/>
            <p:nvPr/>
          </p:nvSpPr>
          <p:spPr>
            <a:xfrm>
              <a:off x="5467350" y="4570413"/>
              <a:ext cx="835025" cy="262612"/>
            </a:xfrm>
            <a:prstGeom prst="rect">
              <a:avLst/>
            </a:prstGeom>
            <a:noFill/>
          </p:spPr>
          <p:txBody>
            <a:bodyPr>
              <a:spAutoFit/>
            </a:bodyPr>
            <a:lstStyle/>
            <a:p>
              <a:pPr>
                <a:defRPr/>
              </a:pPr>
              <a:r>
                <a:rPr lang="zh-CN" altLang="en-US" sz="1405" b="1" dirty="0">
                  <a:solidFill>
                    <a:srgbClr val="FF0000"/>
                  </a:solidFill>
                </a:rPr>
                <a:t>信息战</a:t>
              </a:r>
              <a:endParaRPr lang="en-US" altLang="zh-CN" sz="1405" b="1" dirty="0">
                <a:solidFill>
                  <a:srgbClr val="FF0000"/>
                </a:solidFill>
              </a:endParaRPr>
            </a:p>
            <a:p>
              <a:pPr>
                <a:defRPr/>
              </a:pPr>
              <a:endParaRPr lang="zh-CN" altLang="en-US" sz="100" b="1" dirty="0">
                <a:solidFill>
                  <a:srgbClr val="FF0000"/>
                </a:solidFill>
              </a:endParaRPr>
            </a:p>
          </p:txBody>
        </p:sp>
        <p:pic>
          <p:nvPicPr>
            <p:cNvPr id="145426" name="图片 15"/>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610350" y="4621213"/>
              <a:ext cx="99377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p:cNvSpPr txBox="1"/>
            <p:nvPr/>
          </p:nvSpPr>
          <p:spPr>
            <a:xfrm>
              <a:off x="6580188" y="4362450"/>
              <a:ext cx="1130300" cy="262612"/>
            </a:xfrm>
            <a:prstGeom prst="rect">
              <a:avLst/>
            </a:prstGeom>
            <a:noFill/>
          </p:spPr>
          <p:txBody>
            <a:bodyPr>
              <a:spAutoFit/>
            </a:bodyPr>
            <a:lstStyle/>
            <a:p>
              <a:pPr>
                <a:defRPr/>
              </a:pPr>
              <a:r>
                <a:rPr lang="zh-CN" altLang="en-US" sz="1405" b="1" dirty="0">
                  <a:solidFill>
                    <a:srgbClr val="FF0000"/>
                  </a:solidFill>
                </a:rPr>
                <a:t>在线社交网络</a:t>
              </a:r>
              <a:endParaRPr lang="en-US" altLang="zh-CN" sz="1405" b="1" dirty="0">
                <a:solidFill>
                  <a:srgbClr val="FF0000"/>
                </a:solidFill>
              </a:endParaRPr>
            </a:p>
            <a:p>
              <a:pPr>
                <a:defRPr/>
              </a:pPr>
              <a:endParaRPr lang="zh-CN" altLang="en-US" sz="100" b="1" dirty="0">
                <a:solidFill>
                  <a:srgbClr val="FF0000"/>
                </a:solidFill>
              </a:endParaRPr>
            </a:p>
          </p:txBody>
        </p:sp>
        <p:pic>
          <p:nvPicPr>
            <p:cNvPr id="145428" name="图片 17"/>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371114" y="3569773"/>
              <a:ext cx="7048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18"/>
            <p:cNvSpPr txBox="1"/>
            <p:nvPr/>
          </p:nvSpPr>
          <p:spPr>
            <a:xfrm>
              <a:off x="5278438" y="3303588"/>
              <a:ext cx="1008062" cy="250230"/>
            </a:xfrm>
            <a:prstGeom prst="rect">
              <a:avLst/>
            </a:prstGeom>
            <a:noFill/>
          </p:spPr>
          <p:txBody>
            <a:bodyPr>
              <a:spAutoFit/>
            </a:bodyPr>
            <a:lstStyle/>
            <a:p>
              <a:pPr>
                <a:defRPr/>
              </a:pPr>
              <a:r>
                <a:rPr lang="zh-CN" altLang="en-US" sz="1405" b="1" dirty="0">
                  <a:solidFill>
                    <a:srgbClr val="FF0000"/>
                  </a:solidFill>
                </a:rPr>
                <a:t>大数据安全</a:t>
              </a:r>
              <a:endParaRPr lang="zh-CN" altLang="en-US" sz="1405" b="1" dirty="0">
                <a:solidFill>
                  <a:srgbClr val="FF0000"/>
                </a:solidFill>
              </a:endParaRPr>
            </a:p>
          </p:txBody>
        </p:sp>
        <p:pic>
          <p:nvPicPr>
            <p:cNvPr id="145430" name="图片 19"/>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610350" y="3656013"/>
              <a:ext cx="8128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文本框 20"/>
            <p:cNvSpPr txBox="1"/>
            <p:nvPr/>
          </p:nvSpPr>
          <p:spPr>
            <a:xfrm>
              <a:off x="6554788" y="3457575"/>
              <a:ext cx="803275" cy="250230"/>
            </a:xfrm>
            <a:prstGeom prst="rect">
              <a:avLst/>
            </a:prstGeom>
            <a:noFill/>
          </p:spPr>
          <p:txBody>
            <a:bodyPr>
              <a:spAutoFit/>
            </a:bodyPr>
            <a:lstStyle/>
            <a:p>
              <a:pPr>
                <a:defRPr/>
              </a:pPr>
              <a:r>
                <a:rPr lang="zh-CN" altLang="en-US" sz="1405" b="1" dirty="0">
                  <a:solidFill>
                    <a:srgbClr val="FF0000"/>
                  </a:solidFill>
                </a:rPr>
                <a:t>工控安全</a:t>
              </a:r>
              <a:endParaRPr lang="zh-CN" altLang="en-US" sz="1405" b="1" dirty="0">
                <a:solidFill>
                  <a:srgbClr val="FF0000"/>
                </a:solidFill>
              </a:endParaRPr>
            </a:p>
          </p:txBody>
        </p:sp>
      </p:grpSp>
      <p:sp>
        <p:nvSpPr>
          <p:cNvPr id="145412" name="TextBox 3"/>
          <p:cNvSpPr txBox="1">
            <a:spLocks noChangeArrowheads="1"/>
          </p:cNvSpPr>
          <p:nvPr/>
        </p:nvSpPr>
        <p:spPr bwMode="auto">
          <a:xfrm>
            <a:off x="646724" y="48846"/>
            <a:ext cx="908343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网络空间安全所涉及的范围</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Effect transition="in" filter="fade">
                                      <p:cBhvr>
                                        <p:cTn id="1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9001" y="1076569"/>
            <a:ext cx="10169769" cy="770890"/>
          </a:xfrm>
          <a:prstGeom prst="rect">
            <a:avLst/>
          </a:prstGeom>
          <a:solidFill>
            <a:srgbClr val="FFFF00"/>
          </a:solidFill>
          <a:ln>
            <a:solidFill>
              <a:schemeClr val="tx1">
                <a:lumMod val="75000"/>
                <a:lumOff val="25000"/>
              </a:schemeClr>
            </a:solidFill>
          </a:ln>
          <a:effectLst>
            <a:outerShdw blurRad="50800" dist="38100" dir="5400000" algn="t" rotWithShape="0">
              <a:prstClr val="black">
                <a:alpha val="40000"/>
              </a:prstClr>
            </a:outerShdw>
          </a:effectLst>
        </p:spPr>
        <p:txBody>
          <a:bodyPr>
            <a:spAutoFit/>
          </a:bodyPr>
          <a:lstStyle/>
          <a:p>
            <a:pPr>
              <a:defRPr/>
            </a:pPr>
            <a:r>
              <a:rPr lang="zh-CN" altLang="en-US" sz="2205" dirty="0">
                <a:latin typeface="微软雅黑" panose="020B0503020204020204" charset="-122"/>
                <a:ea typeface="微软雅黑" panose="020B0503020204020204" charset="-122"/>
              </a:rPr>
              <a:t>任何信息系统都会涉及四个层面：</a:t>
            </a:r>
            <a:endParaRPr lang="en-US" altLang="zh-CN" sz="2205" dirty="0">
              <a:latin typeface="微软雅黑" panose="020B0503020204020204" charset="-122"/>
              <a:ea typeface="微软雅黑" panose="020B0503020204020204" charset="-122"/>
            </a:endParaRPr>
          </a:p>
          <a:p>
            <a:pPr>
              <a:defRPr/>
            </a:pPr>
            <a:r>
              <a:rPr lang="zh-CN" altLang="en-US" sz="2205" dirty="0">
                <a:solidFill>
                  <a:srgbClr val="FF0000"/>
                </a:solidFill>
                <a:latin typeface="微软雅黑" panose="020B0503020204020204" charset="-122"/>
                <a:ea typeface="微软雅黑" panose="020B0503020204020204" charset="-122"/>
              </a:rPr>
              <a:t>电磁设备、电子信息系统、运行数据、系统应用</a:t>
            </a:r>
            <a:endParaRPr lang="zh-CN" altLang="en-US" sz="2205" dirty="0">
              <a:solidFill>
                <a:srgbClr val="FF0000"/>
              </a:solidFill>
              <a:latin typeface="微软雅黑" panose="020B0503020204020204" charset="-122"/>
              <a:ea typeface="微软雅黑" panose="020B0503020204020204" charset="-122"/>
            </a:endParaRPr>
          </a:p>
        </p:txBody>
      </p:sp>
      <p:graphicFrame>
        <p:nvGraphicFramePr>
          <p:cNvPr id="3" name="表格 2"/>
          <p:cNvGraphicFramePr>
            <a:graphicFrameLocks noGrp="1"/>
          </p:cNvGraphicFramePr>
          <p:nvPr/>
        </p:nvGraphicFramePr>
        <p:xfrm>
          <a:off x="889001" y="1987062"/>
          <a:ext cx="10169525" cy="4632325"/>
        </p:xfrm>
        <a:graphic>
          <a:graphicData uri="http://schemas.openxmlformats.org/drawingml/2006/table">
            <a:tbl>
              <a:tblPr firstRow="1" bandRow="1">
                <a:tableStyleId>{5C22544A-7EE6-4342-B048-85BDC9FD1C3A}</a:tableStyleId>
              </a:tblPr>
              <a:tblGrid>
                <a:gridCol w="2145665"/>
                <a:gridCol w="8023860"/>
              </a:tblGrid>
              <a:tr h="971550">
                <a:tc>
                  <a:txBody>
                    <a:bodyPr/>
                    <a:lstStyle/>
                    <a:p>
                      <a:r>
                        <a:rPr lang="zh-CN" altLang="en-US" sz="2460" b="0" dirty="0">
                          <a:solidFill>
                            <a:schemeClr val="tx1">
                              <a:lumMod val="95000"/>
                              <a:lumOff val="5000"/>
                            </a:schemeClr>
                          </a:solidFill>
                          <a:latin typeface="微软雅黑" panose="020B0503020204020204" charset="-122"/>
                          <a:ea typeface="微软雅黑" panose="020B0503020204020204" charset="-122"/>
                        </a:rPr>
                        <a:t>设备层的安全</a:t>
                      </a:r>
                      <a:endParaRPr lang="zh-CN" altLang="en-US" sz="2460" b="0" dirty="0">
                        <a:solidFill>
                          <a:schemeClr val="tx1">
                            <a:lumMod val="95000"/>
                            <a:lumOff val="5000"/>
                          </a:schemeClr>
                        </a:solidFill>
                        <a:latin typeface="微软雅黑" panose="020B0503020204020204" charset="-122"/>
                        <a:ea typeface="微软雅黑" panose="020B0503020204020204" charset="-122"/>
                      </a:endParaRPr>
                    </a:p>
                  </a:txBody>
                  <a:tcPr marL="91432" marR="91432" marT="45724" marB="45724" anchor="ctr">
                    <a:solidFill>
                      <a:srgbClr val="CCFF33"/>
                    </a:solidFill>
                  </a:tcPr>
                </a:tc>
                <a:tc>
                  <a:txBody>
                    <a:bodyPr/>
                    <a:lstStyle/>
                    <a:p>
                      <a:r>
                        <a:rPr lang="zh-CN" altLang="en-US" sz="2460" b="0" i="0" dirty="0">
                          <a:solidFill>
                            <a:schemeClr val="tx1"/>
                          </a:solidFill>
                        </a:rPr>
                        <a:t>应对在网络空间中信息系统设备所面对的安全问题，包括物理安全、环境安全、设备安全等。</a:t>
                      </a:r>
                      <a:endParaRPr lang="zh-CN" altLang="en-US" sz="2460" b="0" i="0" dirty="0">
                        <a:solidFill>
                          <a:schemeClr val="tx1"/>
                        </a:solidFill>
                      </a:endParaRPr>
                    </a:p>
                  </a:txBody>
                  <a:tcPr marL="91432" marR="91432" marT="45724" marB="45724">
                    <a:solidFill>
                      <a:srgbClr val="CCFF33"/>
                    </a:solidFill>
                  </a:tcPr>
                </a:tc>
              </a:tr>
              <a:tr h="1220470">
                <a:tc>
                  <a:txBody>
                    <a:bodyPr/>
                    <a:lstStyle/>
                    <a:p>
                      <a:r>
                        <a:rPr lang="zh-CN" altLang="en-US" sz="2460" dirty="0">
                          <a:solidFill>
                            <a:srgbClr val="FFFF00"/>
                          </a:solidFill>
                          <a:latin typeface="微软雅黑" panose="020B0503020204020204" charset="-122"/>
                          <a:ea typeface="微软雅黑" panose="020B0503020204020204" charset="-122"/>
                        </a:rPr>
                        <a:t>系统层的安全</a:t>
                      </a:r>
                      <a:endParaRPr lang="zh-CN" altLang="en-US" sz="2460" dirty="0">
                        <a:solidFill>
                          <a:srgbClr val="FFFF00"/>
                        </a:solidFill>
                        <a:latin typeface="微软雅黑" panose="020B0503020204020204" charset="-122"/>
                        <a:ea typeface="微软雅黑" panose="020B0503020204020204" charset="-122"/>
                      </a:endParaRPr>
                    </a:p>
                  </a:txBody>
                  <a:tcPr marL="91432" marR="91432" marT="45724" marB="45724" anchor="ctr">
                    <a:solidFill>
                      <a:srgbClr val="FF0000"/>
                    </a:solidFill>
                  </a:tcPr>
                </a:tc>
                <a:tc>
                  <a:txBody>
                    <a:bodyPr/>
                    <a:lstStyle/>
                    <a:p>
                      <a:r>
                        <a:rPr lang="zh-CN" altLang="en-US" sz="2460" dirty="0">
                          <a:solidFill>
                            <a:srgbClr val="FFFF00"/>
                          </a:solidFill>
                        </a:rPr>
                        <a:t>应对在网络空间中信息系统自身所面对的安全问题，包括网络安全、软件安全等。</a:t>
                      </a:r>
                      <a:endParaRPr lang="zh-CN" altLang="en-US" sz="2460" dirty="0">
                        <a:solidFill>
                          <a:srgbClr val="FFFF00"/>
                        </a:solidFill>
                      </a:endParaRPr>
                    </a:p>
                  </a:txBody>
                  <a:tcPr marL="91432" marR="91432" marT="45724" marB="45724">
                    <a:solidFill>
                      <a:srgbClr val="FF0000"/>
                    </a:solidFill>
                  </a:tcPr>
                </a:tc>
              </a:tr>
              <a:tr h="1219835">
                <a:tc>
                  <a:txBody>
                    <a:bodyPr/>
                    <a:lstStyle/>
                    <a:p>
                      <a:r>
                        <a:rPr lang="zh-CN" altLang="en-US" sz="2460" dirty="0">
                          <a:solidFill>
                            <a:schemeClr val="tx1">
                              <a:lumMod val="95000"/>
                              <a:lumOff val="5000"/>
                            </a:schemeClr>
                          </a:solidFill>
                          <a:latin typeface="微软雅黑" panose="020B0503020204020204" charset="-122"/>
                          <a:ea typeface="微软雅黑" panose="020B0503020204020204" charset="-122"/>
                        </a:rPr>
                        <a:t>数据层的安全</a:t>
                      </a:r>
                      <a:endParaRPr lang="en-US" altLang="zh-CN" sz="2460" dirty="0">
                        <a:solidFill>
                          <a:schemeClr val="tx1">
                            <a:lumMod val="95000"/>
                            <a:lumOff val="5000"/>
                          </a:schemeClr>
                        </a:solidFill>
                        <a:latin typeface="微软雅黑" panose="020B0503020204020204" charset="-122"/>
                        <a:ea typeface="微软雅黑" panose="020B0503020204020204" charset="-122"/>
                      </a:endParaRPr>
                    </a:p>
                  </a:txBody>
                  <a:tcPr marL="91432" marR="91432" marT="45724" marB="45724" anchor="ctr">
                    <a:solidFill>
                      <a:srgbClr val="FFC000"/>
                    </a:solidFill>
                  </a:tcPr>
                </a:tc>
                <a:tc>
                  <a:txBody>
                    <a:bodyPr/>
                    <a:lstStyle/>
                    <a:p>
                      <a:r>
                        <a:rPr lang="zh-CN" altLang="en-US" sz="2460" dirty="0"/>
                        <a:t>应对在网络空间中处理数据的同时所带来的安全问题，包括数据安全、身份安全、隐私保护等。</a:t>
                      </a:r>
                      <a:endParaRPr lang="zh-CN" altLang="en-US" sz="2460" dirty="0"/>
                    </a:p>
                  </a:txBody>
                  <a:tcPr marL="91432" marR="91432" marT="45724" marB="45724">
                    <a:solidFill>
                      <a:srgbClr val="FFC000"/>
                    </a:solidFill>
                  </a:tcPr>
                </a:tc>
              </a:tr>
              <a:tr h="1220470">
                <a:tc>
                  <a:txBody>
                    <a:bodyPr/>
                    <a:lstStyle/>
                    <a:p>
                      <a:r>
                        <a:rPr lang="zh-CN" altLang="en-US" sz="2460" dirty="0">
                          <a:solidFill>
                            <a:schemeClr val="bg1"/>
                          </a:solidFill>
                          <a:latin typeface="微软雅黑" panose="020B0503020204020204" charset="-122"/>
                          <a:ea typeface="微软雅黑" panose="020B0503020204020204" charset="-122"/>
                        </a:rPr>
                        <a:t>应用层的安全</a:t>
                      </a:r>
                      <a:endParaRPr lang="zh-CN" altLang="en-US" sz="2460" dirty="0">
                        <a:solidFill>
                          <a:schemeClr val="bg1"/>
                        </a:solidFill>
                        <a:latin typeface="微软雅黑" panose="020B0503020204020204" charset="-122"/>
                        <a:ea typeface="微软雅黑" panose="020B0503020204020204" charset="-122"/>
                      </a:endParaRPr>
                    </a:p>
                  </a:txBody>
                  <a:tcPr marL="91432" marR="91432" marT="45724" marB="45724" anchor="ctr">
                    <a:solidFill>
                      <a:srgbClr val="4E91D4"/>
                    </a:solidFill>
                  </a:tcPr>
                </a:tc>
                <a:tc>
                  <a:txBody>
                    <a:bodyPr/>
                    <a:lstStyle/>
                    <a:p>
                      <a:r>
                        <a:rPr lang="zh-CN" altLang="en-US" sz="2460" dirty="0">
                          <a:solidFill>
                            <a:schemeClr val="bg1"/>
                          </a:solidFill>
                        </a:rPr>
                        <a:t>应对在信息应用的过程中所形成的安全问题，包括内容安全、应用安全等</a:t>
                      </a:r>
                      <a:endParaRPr lang="zh-CN" altLang="en-US" sz="2460" dirty="0">
                        <a:solidFill>
                          <a:schemeClr val="bg1"/>
                        </a:solidFill>
                      </a:endParaRPr>
                    </a:p>
                  </a:txBody>
                  <a:tcPr marL="91432" marR="91432" marT="45724" marB="45724">
                    <a:solidFill>
                      <a:srgbClr val="4E91D4"/>
                    </a:solidFill>
                  </a:tcPr>
                </a:tc>
              </a:tr>
            </a:tbl>
          </a:graphicData>
        </a:graphic>
      </p:graphicFrame>
      <p:sp>
        <p:nvSpPr>
          <p:cNvPr id="146452" name="TextBox 3"/>
          <p:cNvSpPr txBox="1">
            <a:spLocks noChangeArrowheads="1"/>
          </p:cNvSpPr>
          <p:nvPr/>
        </p:nvSpPr>
        <p:spPr bwMode="auto">
          <a:xfrm>
            <a:off x="646724" y="138723"/>
            <a:ext cx="74871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网络空间安全的四层次模型</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bwMode="auto">
          <a:xfrm>
            <a:off x="169985" y="945662"/>
            <a:ext cx="11883292" cy="5851769"/>
            <a:chOff x="138113" y="1410518"/>
            <a:chExt cx="9655175" cy="4754786"/>
          </a:xfrm>
        </p:grpSpPr>
        <p:sp>
          <p:nvSpPr>
            <p:cNvPr id="12" name="立方体 11"/>
            <p:cNvSpPr/>
            <p:nvPr/>
          </p:nvSpPr>
          <p:spPr>
            <a:xfrm>
              <a:off x="138113" y="1932830"/>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4" name="立方体 13"/>
            <p:cNvSpPr/>
            <p:nvPr/>
          </p:nvSpPr>
          <p:spPr>
            <a:xfrm>
              <a:off x="138113" y="3820457"/>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5" name="立方体 14"/>
            <p:cNvSpPr/>
            <p:nvPr/>
          </p:nvSpPr>
          <p:spPr>
            <a:xfrm>
              <a:off x="138113" y="2875849"/>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6" name="立方体 15"/>
            <p:cNvSpPr/>
            <p:nvPr/>
          </p:nvSpPr>
          <p:spPr>
            <a:xfrm>
              <a:off x="928688" y="1932830"/>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7" name="立方体 16"/>
            <p:cNvSpPr/>
            <p:nvPr/>
          </p:nvSpPr>
          <p:spPr>
            <a:xfrm>
              <a:off x="928688" y="3820457"/>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8" name="立方体 17"/>
            <p:cNvSpPr/>
            <p:nvPr/>
          </p:nvSpPr>
          <p:spPr>
            <a:xfrm>
              <a:off x="928688" y="2875849"/>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20" name="立方体 19"/>
            <p:cNvSpPr/>
            <p:nvPr/>
          </p:nvSpPr>
          <p:spPr>
            <a:xfrm>
              <a:off x="138113" y="4765063"/>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21" name="立方体 20"/>
            <p:cNvSpPr/>
            <p:nvPr/>
          </p:nvSpPr>
          <p:spPr>
            <a:xfrm>
              <a:off x="928688" y="4765063"/>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9" name="矩形 8"/>
            <p:cNvSpPr/>
            <p:nvPr/>
          </p:nvSpPr>
          <p:spPr>
            <a:xfrm>
              <a:off x="138113" y="2013796"/>
              <a:ext cx="658812" cy="361808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dirty="0"/>
            </a:p>
          </p:txBody>
        </p:sp>
        <p:sp>
          <p:nvSpPr>
            <p:cNvPr id="19" name="矩形 18"/>
            <p:cNvSpPr/>
            <p:nvPr/>
          </p:nvSpPr>
          <p:spPr>
            <a:xfrm>
              <a:off x="928688" y="2013796"/>
              <a:ext cx="657225" cy="361808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 name="矩形 4"/>
            <p:cNvSpPr/>
            <p:nvPr/>
          </p:nvSpPr>
          <p:spPr>
            <a:xfrm>
              <a:off x="203200" y="2090000"/>
              <a:ext cx="528638"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内容安全</a:t>
              </a:r>
              <a:endParaRPr lang="zh-CN" altLang="en-US" sz="1600" b="1" dirty="0">
                <a:solidFill>
                  <a:schemeClr val="tx1"/>
                </a:solidFill>
              </a:endParaRPr>
            </a:p>
          </p:txBody>
        </p:sp>
        <p:sp>
          <p:nvSpPr>
            <p:cNvPr id="42" name="矩形 41"/>
            <p:cNvSpPr/>
            <p:nvPr/>
          </p:nvSpPr>
          <p:spPr>
            <a:xfrm>
              <a:off x="203200" y="3034607"/>
              <a:ext cx="528638"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数据安全</a:t>
              </a:r>
              <a:endParaRPr lang="zh-CN" altLang="en-US" sz="1600" b="1" dirty="0">
                <a:solidFill>
                  <a:schemeClr val="tx1"/>
                </a:solidFill>
              </a:endParaRPr>
            </a:p>
          </p:txBody>
        </p:sp>
        <p:sp>
          <p:nvSpPr>
            <p:cNvPr id="43" name="矩形 42"/>
            <p:cNvSpPr/>
            <p:nvPr/>
          </p:nvSpPr>
          <p:spPr>
            <a:xfrm>
              <a:off x="198438" y="3977626"/>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运行安全</a:t>
              </a:r>
              <a:endParaRPr lang="zh-CN" altLang="en-US" sz="1600" b="1" dirty="0">
                <a:solidFill>
                  <a:schemeClr val="tx1"/>
                </a:solidFill>
              </a:endParaRPr>
            </a:p>
          </p:txBody>
        </p:sp>
        <p:sp>
          <p:nvSpPr>
            <p:cNvPr id="44" name="矩形 43"/>
            <p:cNvSpPr/>
            <p:nvPr/>
          </p:nvSpPr>
          <p:spPr>
            <a:xfrm>
              <a:off x="198438" y="4922233"/>
              <a:ext cx="528637"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物理安全</a:t>
              </a:r>
              <a:endParaRPr lang="zh-CN" altLang="en-US" sz="1600" b="1" dirty="0">
                <a:solidFill>
                  <a:schemeClr val="tx1"/>
                </a:solidFill>
              </a:endParaRPr>
            </a:p>
          </p:txBody>
        </p:sp>
        <p:sp>
          <p:nvSpPr>
            <p:cNvPr id="45" name="矩形 44"/>
            <p:cNvSpPr/>
            <p:nvPr/>
          </p:nvSpPr>
          <p:spPr>
            <a:xfrm>
              <a:off x="989013" y="2093175"/>
              <a:ext cx="528637"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仿信息挖掘</a:t>
              </a:r>
              <a:endParaRPr lang="zh-CN" altLang="en-US" sz="1600" b="1" dirty="0">
                <a:solidFill>
                  <a:schemeClr val="tx1"/>
                </a:solidFill>
              </a:endParaRPr>
            </a:p>
          </p:txBody>
        </p:sp>
        <p:sp>
          <p:nvSpPr>
            <p:cNvPr id="46" name="矩形 45"/>
            <p:cNvSpPr/>
            <p:nvPr/>
          </p:nvSpPr>
          <p:spPr>
            <a:xfrm>
              <a:off x="989013" y="3021906"/>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防密码破解</a:t>
              </a:r>
              <a:endParaRPr lang="zh-CN" altLang="en-US" sz="1600" b="1" dirty="0">
                <a:solidFill>
                  <a:schemeClr val="tx1"/>
                </a:solidFill>
              </a:endParaRPr>
            </a:p>
          </p:txBody>
        </p:sp>
        <p:sp>
          <p:nvSpPr>
            <p:cNvPr id="47" name="矩形 46"/>
            <p:cNvSpPr/>
            <p:nvPr/>
          </p:nvSpPr>
          <p:spPr>
            <a:xfrm>
              <a:off x="989013" y="3980801"/>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防网络窃密</a:t>
              </a:r>
              <a:endParaRPr lang="zh-CN" altLang="en-US" sz="1600" b="1" dirty="0">
                <a:solidFill>
                  <a:schemeClr val="tx1"/>
                </a:solidFill>
              </a:endParaRPr>
            </a:p>
          </p:txBody>
        </p:sp>
        <p:sp>
          <p:nvSpPr>
            <p:cNvPr id="48" name="矩形 47"/>
            <p:cNvSpPr/>
            <p:nvPr/>
          </p:nvSpPr>
          <p:spPr>
            <a:xfrm>
              <a:off x="989013" y="4928584"/>
              <a:ext cx="528637"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防辐射泄密</a:t>
              </a:r>
              <a:endParaRPr lang="zh-CN" altLang="en-US" sz="1600" b="1" dirty="0">
                <a:solidFill>
                  <a:schemeClr val="tx1"/>
                </a:solidFill>
              </a:endParaRPr>
            </a:p>
          </p:txBody>
        </p:sp>
        <p:sp>
          <p:nvSpPr>
            <p:cNvPr id="49" name="立方体 48"/>
            <p:cNvSpPr/>
            <p:nvPr/>
          </p:nvSpPr>
          <p:spPr>
            <a:xfrm>
              <a:off x="1709738" y="1932830"/>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0" name="立方体 49"/>
            <p:cNvSpPr/>
            <p:nvPr/>
          </p:nvSpPr>
          <p:spPr>
            <a:xfrm>
              <a:off x="1709738" y="3820457"/>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1" name="立方体 50"/>
            <p:cNvSpPr/>
            <p:nvPr/>
          </p:nvSpPr>
          <p:spPr>
            <a:xfrm>
              <a:off x="1709738" y="2875849"/>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2" name="立方体 51"/>
            <p:cNvSpPr/>
            <p:nvPr/>
          </p:nvSpPr>
          <p:spPr>
            <a:xfrm>
              <a:off x="2498725" y="1932830"/>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3" name="立方体 52"/>
            <p:cNvSpPr/>
            <p:nvPr/>
          </p:nvSpPr>
          <p:spPr>
            <a:xfrm>
              <a:off x="2498725" y="3820457"/>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4" name="立方体 53"/>
            <p:cNvSpPr/>
            <p:nvPr/>
          </p:nvSpPr>
          <p:spPr>
            <a:xfrm>
              <a:off x="2498725" y="2875849"/>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5" name="立方体 54"/>
            <p:cNvSpPr/>
            <p:nvPr/>
          </p:nvSpPr>
          <p:spPr>
            <a:xfrm>
              <a:off x="1709738" y="4765063"/>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6" name="立方体 55"/>
            <p:cNvSpPr/>
            <p:nvPr/>
          </p:nvSpPr>
          <p:spPr>
            <a:xfrm>
              <a:off x="2498725" y="4765063"/>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7" name="矩形 56"/>
            <p:cNvSpPr/>
            <p:nvPr/>
          </p:nvSpPr>
          <p:spPr>
            <a:xfrm>
              <a:off x="1709738" y="2013796"/>
              <a:ext cx="658812" cy="361808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dirty="0"/>
            </a:p>
          </p:txBody>
        </p:sp>
        <p:sp>
          <p:nvSpPr>
            <p:cNvPr id="58" name="矩形 57"/>
            <p:cNvSpPr/>
            <p:nvPr/>
          </p:nvSpPr>
          <p:spPr>
            <a:xfrm>
              <a:off x="2498725" y="2013796"/>
              <a:ext cx="658813" cy="361808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59" name="矩形 58"/>
            <p:cNvSpPr/>
            <p:nvPr/>
          </p:nvSpPr>
          <p:spPr>
            <a:xfrm>
              <a:off x="1774825" y="2090000"/>
              <a:ext cx="528638"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传播对抗</a:t>
              </a:r>
              <a:endParaRPr lang="zh-CN" altLang="en-US" sz="1600" b="1" dirty="0">
                <a:solidFill>
                  <a:schemeClr val="tx1"/>
                </a:solidFill>
              </a:endParaRPr>
            </a:p>
          </p:txBody>
        </p:sp>
        <p:sp>
          <p:nvSpPr>
            <p:cNvPr id="60" name="矩形 59"/>
            <p:cNvSpPr/>
            <p:nvPr/>
          </p:nvSpPr>
          <p:spPr>
            <a:xfrm>
              <a:off x="1774825" y="3034607"/>
              <a:ext cx="528638"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情报对抗</a:t>
              </a:r>
              <a:endParaRPr lang="zh-CN" altLang="en-US" sz="1600" b="1" dirty="0">
                <a:solidFill>
                  <a:schemeClr val="tx1"/>
                </a:solidFill>
              </a:endParaRPr>
            </a:p>
          </p:txBody>
        </p:sp>
        <p:sp>
          <p:nvSpPr>
            <p:cNvPr id="61" name="矩形 60"/>
            <p:cNvSpPr/>
            <p:nvPr/>
          </p:nvSpPr>
          <p:spPr>
            <a:xfrm>
              <a:off x="1770063" y="3977626"/>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网络对抗</a:t>
              </a:r>
              <a:endParaRPr lang="zh-CN" altLang="en-US" sz="1600" b="1" dirty="0">
                <a:solidFill>
                  <a:schemeClr val="tx1"/>
                </a:solidFill>
              </a:endParaRPr>
            </a:p>
          </p:txBody>
        </p:sp>
        <p:sp>
          <p:nvSpPr>
            <p:cNvPr id="62" name="矩形 61"/>
            <p:cNvSpPr/>
            <p:nvPr/>
          </p:nvSpPr>
          <p:spPr>
            <a:xfrm>
              <a:off x="1770063" y="4922233"/>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电子对抗</a:t>
              </a:r>
              <a:endParaRPr lang="zh-CN" altLang="en-US" sz="1600" b="1" dirty="0">
                <a:solidFill>
                  <a:schemeClr val="tx1"/>
                </a:solidFill>
              </a:endParaRPr>
            </a:p>
          </p:txBody>
        </p:sp>
        <p:sp>
          <p:nvSpPr>
            <p:cNvPr id="63" name="矩形 62"/>
            <p:cNvSpPr/>
            <p:nvPr/>
          </p:nvSpPr>
          <p:spPr>
            <a:xfrm>
              <a:off x="2560638" y="2093175"/>
              <a:ext cx="527050"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可控的云</a:t>
              </a:r>
              <a:endParaRPr lang="zh-CN" altLang="en-US" sz="1600" b="1" dirty="0">
                <a:solidFill>
                  <a:schemeClr val="tx1"/>
                </a:solidFill>
              </a:endParaRPr>
            </a:p>
          </p:txBody>
        </p:sp>
        <p:sp>
          <p:nvSpPr>
            <p:cNvPr id="64" name="矩形 63"/>
            <p:cNvSpPr/>
            <p:nvPr/>
          </p:nvSpPr>
          <p:spPr>
            <a:xfrm>
              <a:off x="2560638" y="3021906"/>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可信的云</a:t>
              </a:r>
              <a:endParaRPr lang="zh-CN" altLang="en-US" sz="1600" b="1" dirty="0">
                <a:solidFill>
                  <a:schemeClr val="tx1"/>
                </a:solidFill>
              </a:endParaRPr>
            </a:p>
          </p:txBody>
        </p:sp>
        <p:sp>
          <p:nvSpPr>
            <p:cNvPr id="65" name="矩形 64"/>
            <p:cNvSpPr/>
            <p:nvPr/>
          </p:nvSpPr>
          <p:spPr>
            <a:xfrm>
              <a:off x="2560638" y="3980801"/>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安全的云</a:t>
              </a:r>
              <a:endParaRPr lang="zh-CN" altLang="en-US" sz="1600" b="1" dirty="0">
                <a:solidFill>
                  <a:schemeClr val="tx1"/>
                </a:solidFill>
              </a:endParaRPr>
            </a:p>
          </p:txBody>
        </p:sp>
        <p:sp>
          <p:nvSpPr>
            <p:cNvPr id="66" name="矩形 65"/>
            <p:cNvSpPr/>
            <p:nvPr/>
          </p:nvSpPr>
          <p:spPr>
            <a:xfrm>
              <a:off x="2560638" y="4928584"/>
              <a:ext cx="527050"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可靠的云</a:t>
              </a:r>
              <a:endParaRPr lang="zh-CN" altLang="en-US" sz="1600" b="1" dirty="0">
                <a:solidFill>
                  <a:schemeClr val="tx1"/>
                </a:solidFill>
              </a:endParaRPr>
            </a:p>
          </p:txBody>
        </p:sp>
        <p:sp>
          <p:nvSpPr>
            <p:cNvPr id="67" name="立方体 66"/>
            <p:cNvSpPr/>
            <p:nvPr/>
          </p:nvSpPr>
          <p:spPr>
            <a:xfrm>
              <a:off x="3287713" y="1920129"/>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68" name="立方体 67"/>
            <p:cNvSpPr/>
            <p:nvPr/>
          </p:nvSpPr>
          <p:spPr>
            <a:xfrm>
              <a:off x="3287713" y="3809343"/>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69" name="立方体 68"/>
            <p:cNvSpPr/>
            <p:nvPr/>
          </p:nvSpPr>
          <p:spPr>
            <a:xfrm>
              <a:off x="3287713" y="2864737"/>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70" name="立方体 69"/>
            <p:cNvSpPr/>
            <p:nvPr/>
          </p:nvSpPr>
          <p:spPr>
            <a:xfrm>
              <a:off x="4122738" y="1920129"/>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71" name="立方体 70"/>
            <p:cNvSpPr/>
            <p:nvPr/>
          </p:nvSpPr>
          <p:spPr>
            <a:xfrm>
              <a:off x="4122738" y="3809343"/>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72" name="立方体 71"/>
            <p:cNvSpPr/>
            <p:nvPr/>
          </p:nvSpPr>
          <p:spPr>
            <a:xfrm>
              <a:off x="4122738" y="2864737"/>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73" name="立方体 72"/>
            <p:cNvSpPr/>
            <p:nvPr/>
          </p:nvSpPr>
          <p:spPr>
            <a:xfrm>
              <a:off x="3287713" y="4753951"/>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74" name="立方体 73"/>
            <p:cNvSpPr/>
            <p:nvPr/>
          </p:nvSpPr>
          <p:spPr>
            <a:xfrm>
              <a:off x="4122738" y="4753951"/>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75" name="矩形 74"/>
            <p:cNvSpPr/>
            <p:nvPr/>
          </p:nvSpPr>
          <p:spPr>
            <a:xfrm>
              <a:off x="3287713" y="2002683"/>
              <a:ext cx="657225" cy="361808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dirty="0"/>
            </a:p>
          </p:txBody>
        </p:sp>
        <p:sp>
          <p:nvSpPr>
            <p:cNvPr id="76" name="矩形 75"/>
            <p:cNvSpPr/>
            <p:nvPr/>
          </p:nvSpPr>
          <p:spPr>
            <a:xfrm>
              <a:off x="4122738" y="2002683"/>
              <a:ext cx="657225" cy="361808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77" name="矩形 76"/>
            <p:cNvSpPr/>
            <p:nvPr/>
          </p:nvSpPr>
          <p:spPr>
            <a:xfrm>
              <a:off x="3352800" y="2078886"/>
              <a:ext cx="527050"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隐私确保</a:t>
              </a:r>
              <a:endParaRPr lang="zh-CN" altLang="en-US" sz="1600" b="1" dirty="0">
                <a:solidFill>
                  <a:schemeClr val="tx1"/>
                </a:solidFill>
              </a:endParaRPr>
            </a:p>
          </p:txBody>
        </p:sp>
        <p:sp>
          <p:nvSpPr>
            <p:cNvPr id="78" name="矩形 77"/>
            <p:cNvSpPr/>
            <p:nvPr/>
          </p:nvSpPr>
          <p:spPr>
            <a:xfrm>
              <a:off x="3352800" y="3021906"/>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数据确保</a:t>
              </a:r>
              <a:endParaRPr lang="zh-CN" altLang="en-US" sz="1600" b="1" dirty="0">
                <a:solidFill>
                  <a:schemeClr val="tx1"/>
                </a:solidFill>
              </a:endParaRPr>
            </a:p>
          </p:txBody>
        </p:sp>
        <p:sp>
          <p:nvSpPr>
            <p:cNvPr id="79" name="矩形 78"/>
            <p:cNvSpPr/>
            <p:nvPr/>
          </p:nvSpPr>
          <p:spPr>
            <a:xfrm>
              <a:off x="3348038" y="3966513"/>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系统确保</a:t>
              </a:r>
              <a:endParaRPr lang="zh-CN" altLang="en-US" sz="1600" b="1" dirty="0">
                <a:solidFill>
                  <a:schemeClr val="tx1"/>
                </a:solidFill>
              </a:endParaRPr>
            </a:p>
          </p:txBody>
        </p:sp>
        <p:sp>
          <p:nvSpPr>
            <p:cNvPr id="80" name="矩形 79"/>
            <p:cNvSpPr/>
            <p:nvPr/>
          </p:nvSpPr>
          <p:spPr>
            <a:xfrm>
              <a:off x="3348038" y="4911120"/>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稳定保障</a:t>
              </a:r>
              <a:endParaRPr lang="zh-CN" altLang="en-US" sz="1600" b="1" dirty="0">
                <a:solidFill>
                  <a:schemeClr val="tx1"/>
                </a:solidFill>
              </a:endParaRPr>
            </a:p>
          </p:txBody>
        </p:sp>
        <p:sp>
          <p:nvSpPr>
            <p:cNvPr id="81" name="矩形 80"/>
            <p:cNvSpPr/>
            <p:nvPr/>
          </p:nvSpPr>
          <p:spPr>
            <a:xfrm>
              <a:off x="4184650" y="2080475"/>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控制安全</a:t>
              </a:r>
              <a:endParaRPr lang="zh-CN" altLang="en-US" sz="1600" b="1" dirty="0">
                <a:solidFill>
                  <a:schemeClr val="tx1"/>
                </a:solidFill>
              </a:endParaRPr>
            </a:p>
          </p:txBody>
        </p:sp>
        <p:sp>
          <p:nvSpPr>
            <p:cNvPr id="82" name="矩形 81"/>
            <p:cNvSpPr/>
            <p:nvPr/>
          </p:nvSpPr>
          <p:spPr>
            <a:xfrm>
              <a:off x="4184650" y="3010793"/>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隐私保密</a:t>
              </a:r>
              <a:endParaRPr lang="zh-CN" altLang="en-US" sz="1600" b="1" dirty="0">
                <a:solidFill>
                  <a:schemeClr val="tx1"/>
                </a:solidFill>
              </a:endParaRPr>
            </a:p>
          </p:txBody>
        </p:sp>
        <p:sp>
          <p:nvSpPr>
            <p:cNvPr id="83" name="矩形 82"/>
            <p:cNvSpPr/>
            <p:nvPr/>
          </p:nvSpPr>
          <p:spPr>
            <a:xfrm>
              <a:off x="4184650" y="3969689"/>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传输安全</a:t>
              </a:r>
              <a:endParaRPr lang="zh-CN" altLang="en-US" sz="1600" b="1" dirty="0">
                <a:solidFill>
                  <a:schemeClr val="tx1"/>
                </a:solidFill>
              </a:endParaRPr>
            </a:p>
          </p:txBody>
        </p:sp>
        <p:sp>
          <p:nvSpPr>
            <p:cNvPr id="84" name="矩形 83"/>
            <p:cNvSpPr/>
            <p:nvPr/>
          </p:nvSpPr>
          <p:spPr>
            <a:xfrm>
              <a:off x="4184650" y="4917470"/>
              <a:ext cx="527050"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探针安全</a:t>
              </a:r>
              <a:endParaRPr lang="zh-CN" altLang="en-US" sz="1600" b="1" dirty="0">
                <a:solidFill>
                  <a:schemeClr val="tx1"/>
                </a:solidFill>
              </a:endParaRPr>
            </a:p>
          </p:txBody>
        </p:sp>
        <p:sp>
          <p:nvSpPr>
            <p:cNvPr id="85" name="立方体 84"/>
            <p:cNvSpPr/>
            <p:nvPr/>
          </p:nvSpPr>
          <p:spPr>
            <a:xfrm>
              <a:off x="4987925" y="1912192"/>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86" name="立方体 85"/>
            <p:cNvSpPr/>
            <p:nvPr/>
          </p:nvSpPr>
          <p:spPr>
            <a:xfrm>
              <a:off x="4987925" y="3801406"/>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87" name="立方体 86"/>
            <p:cNvSpPr/>
            <p:nvPr/>
          </p:nvSpPr>
          <p:spPr>
            <a:xfrm>
              <a:off x="4987925" y="2856798"/>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88" name="立方体 87"/>
            <p:cNvSpPr/>
            <p:nvPr/>
          </p:nvSpPr>
          <p:spPr>
            <a:xfrm>
              <a:off x="5840413" y="1912192"/>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89" name="立方体 88"/>
            <p:cNvSpPr/>
            <p:nvPr/>
          </p:nvSpPr>
          <p:spPr>
            <a:xfrm>
              <a:off x="5840413" y="3801406"/>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90" name="立方体 89"/>
            <p:cNvSpPr/>
            <p:nvPr/>
          </p:nvSpPr>
          <p:spPr>
            <a:xfrm>
              <a:off x="5840413" y="2856798"/>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91" name="立方体 90"/>
            <p:cNvSpPr/>
            <p:nvPr/>
          </p:nvSpPr>
          <p:spPr>
            <a:xfrm>
              <a:off x="4987925" y="4744425"/>
              <a:ext cx="736600"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92" name="立方体 91"/>
            <p:cNvSpPr/>
            <p:nvPr/>
          </p:nvSpPr>
          <p:spPr>
            <a:xfrm>
              <a:off x="5840413" y="4744425"/>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93" name="矩形 92"/>
            <p:cNvSpPr/>
            <p:nvPr/>
          </p:nvSpPr>
          <p:spPr>
            <a:xfrm>
              <a:off x="4987925" y="1993157"/>
              <a:ext cx="658813" cy="361808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dirty="0"/>
            </a:p>
          </p:txBody>
        </p:sp>
        <p:sp>
          <p:nvSpPr>
            <p:cNvPr id="94" name="矩形 93"/>
            <p:cNvSpPr/>
            <p:nvPr/>
          </p:nvSpPr>
          <p:spPr>
            <a:xfrm>
              <a:off x="5840413" y="1993157"/>
              <a:ext cx="657225" cy="361808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95" name="矩形 94"/>
            <p:cNvSpPr/>
            <p:nvPr/>
          </p:nvSpPr>
          <p:spPr>
            <a:xfrm>
              <a:off x="5053013" y="2069361"/>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网络安全</a:t>
              </a:r>
              <a:endParaRPr lang="zh-CN" altLang="en-US" sz="1600" b="1" dirty="0">
                <a:solidFill>
                  <a:schemeClr val="tx1"/>
                </a:solidFill>
              </a:endParaRPr>
            </a:p>
          </p:txBody>
        </p:sp>
        <p:sp>
          <p:nvSpPr>
            <p:cNvPr id="96" name="矩形 95"/>
            <p:cNvSpPr/>
            <p:nvPr/>
          </p:nvSpPr>
          <p:spPr>
            <a:xfrm>
              <a:off x="5053013" y="3013969"/>
              <a:ext cx="528637"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路由安全</a:t>
              </a:r>
              <a:endParaRPr lang="zh-CN" altLang="en-US" sz="1600" b="1" dirty="0">
                <a:solidFill>
                  <a:schemeClr val="tx1"/>
                </a:solidFill>
              </a:endParaRPr>
            </a:p>
          </p:txBody>
        </p:sp>
        <p:sp>
          <p:nvSpPr>
            <p:cNvPr id="97" name="矩形 96"/>
            <p:cNvSpPr/>
            <p:nvPr/>
          </p:nvSpPr>
          <p:spPr>
            <a:xfrm>
              <a:off x="5048250" y="3958575"/>
              <a:ext cx="528638"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协议安全</a:t>
              </a:r>
              <a:endParaRPr lang="zh-CN" altLang="en-US" sz="1600" b="1" dirty="0">
                <a:solidFill>
                  <a:schemeClr val="tx1"/>
                </a:solidFill>
              </a:endParaRPr>
            </a:p>
          </p:txBody>
        </p:sp>
        <p:sp>
          <p:nvSpPr>
            <p:cNvPr id="98" name="矩形 97"/>
            <p:cNvSpPr/>
            <p:nvPr/>
          </p:nvSpPr>
          <p:spPr>
            <a:xfrm>
              <a:off x="5048250" y="4903183"/>
              <a:ext cx="528638"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设施安全</a:t>
              </a:r>
              <a:endParaRPr lang="zh-CN" altLang="en-US" sz="1600" b="1" dirty="0">
                <a:solidFill>
                  <a:schemeClr val="tx1"/>
                </a:solidFill>
              </a:endParaRPr>
            </a:p>
          </p:txBody>
        </p:sp>
        <p:sp>
          <p:nvSpPr>
            <p:cNvPr id="99" name="矩形 98"/>
            <p:cNvSpPr/>
            <p:nvPr/>
          </p:nvSpPr>
          <p:spPr>
            <a:xfrm>
              <a:off x="5900738" y="2072536"/>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终端安全</a:t>
              </a:r>
              <a:endParaRPr lang="zh-CN" altLang="en-US" sz="1600" b="1" dirty="0">
                <a:solidFill>
                  <a:schemeClr val="tx1"/>
                </a:solidFill>
              </a:endParaRPr>
            </a:p>
          </p:txBody>
        </p:sp>
        <p:sp>
          <p:nvSpPr>
            <p:cNvPr id="100" name="矩形 99"/>
            <p:cNvSpPr/>
            <p:nvPr/>
          </p:nvSpPr>
          <p:spPr>
            <a:xfrm>
              <a:off x="5900738" y="3002855"/>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通信安全</a:t>
              </a:r>
              <a:endParaRPr lang="zh-CN" altLang="en-US" sz="1600" b="1" dirty="0">
                <a:solidFill>
                  <a:schemeClr val="tx1"/>
                </a:solidFill>
              </a:endParaRPr>
            </a:p>
          </p:txBody>
        </p:sp>
        <p:sp>
          <p:nvSpPr>
            <p:cNvPr id="101" name="矩形 100"/>
            <p:cNvSpPr/>
            <p:nvPr/>
          </p:nvSpPr>
          <p:spPr>
            <a:xfrm>
              <a:off x="5900738" y="3961750"/>
              <a:ext cx="528637"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信道安全</a:t>
              </a:r>
              <a:endParaRPr lang="zh-CN" altLang="en-US" sz="1600" b="1" dirty="0">
                <a:solidFill>
                  <a:schemeClr val="tx1"/>
                </a:solidFill>
              </a:endParaRPr>
            </a:p>
          </p:txBody>
        </p:sp>
        <p:sp>
          <p:nvSpPr>
            <p:cNvPr id="102" name="矩形 101"/>
            <p:cNvSpPr/>
            <p:nvPr/>
          </p:nvSpPr>
          <p:spPr>
            <a:xfrm>
              <a:off x="5900738" y="4907945"/>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电缆安全</a:t>
              </a:r>
              <a:endParaRPr lang="zh-CN" altLang="en-US" sz="1600" b="1" dirty="0">
                <a:solidFill>
                  <a:schemeClr val="tx1"/>
                </a:solidFill>
              </a:endParaRPr>
            </a:p>
          </p:txBody>
        </p:sp>
        <p:sp>
          <p:nvSpPr>
            <p:cNvPr id="103" name="立方体 102"/>
            <p:cNvSpPr/>
            <p:nvPr/>
          </p:nvSpPr>
          <p:spPr>
            <a:xfrm>
              <a:off x="6621463" y="1912192"/>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04" name="立方体 103"/>
            <p:cNvSpPr/>
            <p:nvPr/>
          </p:nvSpPr>
          <p:spPr>
            <a:xfrm>
              <a:off x="6621463" y="3801406"/>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05" name="立方体 104"/>
            <p:cNvSpPr/>
            <p:nvPr/>
          </p:nvSpPr>
          <p:spPr>
            <a:xfrm>
              <a:off x="6621463" y="2856798"/>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06" name="立方体 105"/>
            <p:cNvSpPr/>
            <p:nvPr/>
          </p:nvSpPr>
          <p:spPr>
            <a:xfrm>
              <a:off x="7412038" y="1912192"/>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07" name="立方体 106"/>
            <p:cNvSpPr/>
            <p:nvPr/>
          </p:nvSpPr>
          <p:spPr>
            <a:xfrm>
              <a:off x="7412038" y="3801406"/>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08" name="立方体 107"/>
            <p:cNvSpPr/>
            <p:nvPr/>
          </p:nvSpPr>
          <p:spPr>
            <a:xfrm>
              <a:off x="7412038" y="2856798"/>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09" name="立方体 108"/>
            <p:cNvSpPr/>
            <p:nvPr/>
          </p:nvSpPr>
          <p:spPr>
            <a:xfrm>
              <a:off x="6621463" y="4744425"/>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10" name="立方体 109"/>
            <p:cNvSpPr/>
            <p:nvPr/>
          </p:nvSpPr>
          <p:spPr>
            <a:xfrm>
              <a:off x="7412038" y="4744425"/>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11" name="矩形 110"/>
            <p:cNvSpPr/>
            <p:nvPr/>
          </p:nvSpPr>
          <p:spPr>
            <a:xfrm>
              <a:off x="6621463" y="1993157"/>
              <a:ext cx="658812" cy="361808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dirty="0"/>
            </a:p>
          </p:txBody>
        </p:sp>
        <p:sp>
          <p:nvSpPr>
            <p:cNvPr id="112" name="矩形 111"/>
            <p:cNvSpPr/>
            <p:nvPr/>
          </p:nvSpPr>
          <p:spPr>
            <a:xfrm>
              <a:off x="7412038" y="1993157"/>
              <a:ext cx="657225" cy="361808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13" name="矩形 112"/>
            <p:cNvSpPr/>
            <p:nvPr/>
          </p:nvSpPr>
          <p:spPr>
            <a:xfrm>
              <a:off x="6686550" y="2069361"/>
              <a:ext cx="528638"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信任可控</a:t>
              </a:r>
              <a:endParaRPr lang="zh-CN" altLang="en-US" sz="1600" b="1" dirty="0">
                <a:solidFill>
                  <a:schemeClr val="tx1"/>
                </a:solidFill>
              </a:endParaRPr>
            </a:p>
          </p:txBody>
        </p:sp>
        <p:sp>
          <p:nvSpPr>
            <p:cNvPr id="114" name="矩形 113"/>
            <p:cNvSpPr/>
            <p:nvPr/>
          </p:nvSpPr>
          <p:spPr>
            <a:xfrm>
              <a:off x="6686550" y="3013969"/>
              <a:ext cx="528638"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可信证明</a:t>
              </a:r>
              <a:endParaRPr lang="zh-CN" altLang="en-US" sz="1600" b="1" dirty="0">
                <a:solidFill>
                  <a:schemeClr val="tx1"/>
                </a:solidFill>
              </a:endParaRPr>
            </a:p>
          </p:txBody>
        </p:sp>
        <p:sp>
          <p:nvSpPr>
            <p:cNvPr id="115" name="矩形 114"/>
            <p:cNvSpPr/>
            <p:nvPr/>
          </p:nvSpPr>
          <p:spPr>
            <a:xfrm>
              <a:off x="6681788" y="3958575"/>
              <a:ext cx="528637"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软件确保</a:t>
              </a:r>
              <a:endParaRPr lang="zh-CN" altLang="en-US" sz="1600" b="1" dirty="0">
                <a:solidFill>
                  <a:schemeClr val="tx1"/>
                </a:solidFill>
              </a:endParaRPr>
            </a:p>
          </p:txBody>
        </p:sp>
        <p:sp>
          <p:nvSpPr>
            <p:cNvPr id="116" name="矩形 115"/>
            <p:cNvSpPr/>
            <p:nvPr/>
          </p:nvSpPr>
          <p:spPr>
            <a:xfrm>
              <a:off x="6681788" y="4903183"/>
              <a:ext cx="528637"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硬件可靠</a:t>
              </a:r>
              <a:endParaRPr lang="zh-CN" altLang="en-US" sz="1600" b="1" dirty="0">
                <a:solidFill>
                  <a:schemeClr val="tx1"/>
                </a:solidFill>
              </a:endParaRPr>
            </a:p>
          </p:txBody>
        </p:sp>
        <p:sp>
          <p:nvSpPr>
            <p:cNvPr id="117" name="矩形 116"/>
            <p:cNvSpPr/>
            <p:nvPr/>
          </p:nvSpPr>
          <p:spPr>
            <a:xfrm>
              <a:off x="7472363" y="2072536"/>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控制失效</a:t>
              </a:r>
              <a:endParaRPr lang="zh-CN" altLang="en-US" sz="1600" b="1" dirty="0">
                <a:solidFill>
                  <a:schemeClr val="tx1"/>
                </a:solidFill>
              </a:endParaRPr>
            </a:p>
          </p:txBody>
        </p:sp>
        <p:sp>
          <p:nvSpPr>
            <p:cNvPr id="118" name="矩形 117"/>
            <p:cNvSpPr/>
            <p:nvPr/>
          </p:nvSpPr>
          <p:spPr>
            <a:xfrm>
              <a:off x="7472363" y="3002855"/>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数据混乱</a:t>
              </a:r>
              <a:endParaRPr lang="zh-CN" altLang="en-US" sz="1600" b="1" dirty="0">
                <a:solidFill>
                  <a:schemeClr val="tx1"/>
                </a:solidFill>
              </a:endParaRPr>
            </a:p>
          </p:txBody>
        </p:sp>
        <p:sp>
          <p:nvSpPr>
            <p:cNvPr id="119" name="矩形 118"/>
            <p:cNvSpPr/>
            <p:nvPr/>
          </p:nvSpPr>
          <p:spPr>
            <a:xfrm>
              <a:off x="7472363" y="3961750"/>
              <a:ext cx="527050"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渗透攻击</a:t>
              </a:r>
              <a:endParaRPr lang="zh-CN" altLang="en-US" sz="1600" b="1" dirty="0">
                <a:solidFill>
                  <a:schemeClr val="tx1"/>
                </a:solidFill>
              </a:endParaRPr>
            </a:p>
          </p:txBody>
        </p:sp>
        <p:sp>
          <p:nvSpPr>
            <p:cNvPr id="120" name="矩形 119"/>
            <p:cNvSpPr/>
            <p:nvPr/>
          </p:nvSpPr>
          <p:spPr>
            <a:xfrm>
              <a:off x="7472363" y="4907945"/>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设备故障</a:t>
              </a:r>
              <a:endParaRPr lang="zh-CN" altLang="en-US" sz="1600" b="1" dirty="0">
                <a:solidFill>
                  <a:schemeClr val="tx1"/>
                </a:solidFill>
              </a:endParaRPr>
            </a:p>
          </p:txBody>
        </p:sp>
        <p:sp>
          <p:nvSpPr>
            <p:cNvPr id="121" name="立方体 120"/>
            <p:cNvSpPr/>
            <p:nvPr/>
          </p:nvSpPr>
          <p:spPr>
            <a:xfrm>
              <a:off x="8199438" y="1901078"/>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2" name="立方体 121"/>
            <p:cNvSpPr/>
            <p:nvPr/>
          </p:nvSpPr>
          <p:spPr>
            <a:xfrm>
              <a:off x="8199438" y="3788705"/>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3" name="立方体 122"/>
            <p:cNvSpPr/>
            <p:nvPr/>
          </p:nvSpPr>
          <p:spPr>
            <a:xfrm>
              <a:off x="8199438" y="2845686"/>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4" name="立方体 123"/>
            <p:cNvSpPr/>
            <p:nvPr/>
          </p:nvSpPr>
          <p:spPr>
            <a:xfrm>
              <a:off x="8988425" y="1901078"/>
              <a:ext cx="735013"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5" name="立方体 124"/>
            <p:cNvSpPr/>
            <p:nvPr/>
          </p:nvSpPr>
          <p:spPr>
            <a:xfrm>
              <a:off x="8988425" y="3788705"/>
              <a:ext cx="735013"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6" name="立方体 125"/>
            <p:cNvSpPr/>
            <p:nvPr/>
          </p:nvSpPr>
          <p:spPr>
            <a:xfrm>
              <a:off x="8988425" y="2845686"/>
              <a:ext cx="735013"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7" name="立方体 126"/>
            <p:cNvSpPr/>
            <p:nvPr/>
          </p:nvSpPr>
          <p:spPr>
            <a:xfrm>
              <a:off x="8199438" y="4733312"/>
              <a:ext cx="735012"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8" name="立方体 127"/>
            <p:cNvSpPr/>
            <p:nvPr/>
          </p:nvSpPr>
          <p:spPr>
            <a:xfrm>
              <a:off x="8988425" y="4733312"/>
              <a:ext cx="735013" cy="866816"/>
            </a:xfrm>
            <a:prstGeom prst="cube">
              <a:avLst>
                <a:gd name="adj" fmla="val 1026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29" name="矩形 128"/>
            <p:cNvSpPr/>
            <p:nvPr/>
          </p:nvSpPr>
          <p:spPr>
            <a:xfrm>
              <a:off x="8199438" y="1982045"/>
              <a:ext cx="657225" cy="361808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dirty="0"/>
            </a:p>
          </p:txBody>
        </p:sp>
        <p:sp>
          <p:nvSpPr>
            <p:cNvPr id="130" name="矩形 129"/>
            <p:cNvSpPr/>
            <p:nvPr/>
          </p:nvSpPr>
          <p:spPr>
            <a:xfrm>
              <a:off x="8988425" y="1982045"/>
              <a:ext cx="658813" cy="361808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b="1"/>
            </a:p>
          </p:txBody>
        </p:sp>
        <p:sp>
          <p:nvSpPr>
            <p:cNvPr id="131" name="矩形 130"/>
            <p:cNvSpPr/>
            <p:nvPr/>
          </p:nvSpPr>
          <p:spPr>
            <a:xfrm>
              <a:off x="8264525" y="2058249"/>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舆论安全</a:t>
              </a:r>
              <a:endParaRPr lang="zh-CN" altLang="en-US" sz="1600" b="1" dirty="0">
                <a:solidFill>
                  <a:schemeClr val="tx1"/>
                </a:solidFill>
              </a:endParaRPr>
            </a:p>
          </p:txBody>
        </p:sp>
        <p:sp>
          <p:nvSpPr>
            <p:cNvPr id="132" name="矩形 131"/>
            <p:cNvSpPr/>
            <p:nvPr/>
          </p:nvSpPr>
          <p:spPr>
            <a:xfrm>
              <a:off x="8264525" y="3002855"/>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隐私泄露</a:t>
              </a:r>
              <a:endParaRPr lang="zh-CN" altLang="en-US" sz="1600" b="1" dirty="0">
                <a:solidFill>
                  <a:schemeClr val="tx1"/>
                </a:solidFill>
              </a:endParaRPr>
            </a:p>
          </p:txBody>
        </p:sp>
        <p:sp>
          <p:nvSpPr>
            <p:cNvPr id="133" name="矩形 132"/>
            <p:cNvSpPr/>
            <p:nvPr/>
          </p:nvSpPr>
          <p:spPr>
            <a:xfrm>
              <a:off x="8259763" y="3947463"/>
              <a:ext cx="527050"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水军灌水</a:t>
              </a:r>
              <a:endParaRPr lang="zh-CN" altLang="en-US" sz="1600" b="1" dirty="0">
                <a:solidFill>
                  <a:schemeClr val="tx1"/>
                </a:solidFill>
              </a:endParaRPr>
            </a:p>
          </p:txBody>
        </p:sp>
        <p:sp>
          <p:nvSpPr>
            <p:cNvPr id="134" name="矩形 133"/>
            <p:cNvSpPr/>
            <p:nvPr/>
          </p:nvSpPr>
          <p:spPr>
            <a:xfrm>
              <a:off x="8259763" y="4890482"/>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平台安全</a:t>
              </a:r>
              <a:endParaRPr lang="zh-CN" altLang="en-US" sz="1600" b="1" dirty="0">
                <a:solidFill>
                  <a:schemeClr val="tx1"/>
                </a:solidFill>
              </a:endParaRPr>
            </a:p>
          </p:txBody>
        </p:sp>
        <p:sp>
          <p:nvSpPr>
            <p:cNvPr id="135" name="矩形 134"/>
            <p:cNvSpPr/>
            <p:nvPr/>
          </p:nvSpPr>
          <p:spPr>
            <a:xfrm>
              <a:off x="9050338" y="2061424"/>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舆论分析</a:t>
              </a:r>
              <a:endParaRPr lang="zh-CN" altLang="en-US" sz="1600" b="1" dirty="0">
                <a:solidFill>
                  <a:schemeClr val="tx1"/>
                </a:solidFill>
              </a:endParaRPr>
            </a:p>
          </p:txBody>
        </p:sp>
        <p:sp>
          <p:nvSpPr>
            <p:cNvPr id="136" name="矩形 135"/>
            <p:cNvSpPr/>
            <p:nvPr/>
          </p:nvSpPr>
          <p:spPr>
            <a:xfrm>
              <a:off x="9050338" y="2991742"/>
              <a:ext cx="527050" cy="708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舆论引导</a:t>
              </a:r>
              <a:endParaRPr lang="zh-CN" altLang="en-US" sz="1600" b="1" dirty="0">
                <a:solidFill>
                  <a:schemeClr val="tx1"/>
                </a:solidFill>
              </a:endParaRPr>
            </a:p>
          </p:txBody>
        </p:sp>
        <p:sp>
          <p:nvSpPr>
            <p:cNvPr id="137" name="矩形 136"/>
            <p:cNvSpPr/>
            <p:nvPr/>
          </p:nvSpPr>
          <p:spPr>
            <a:xfrm>
              <a:off x="9050338" y="3949050"/>
              <a:ext cx="527050" cy="70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停止服务</a:t>
              </a:r>
              <a:endParaRPr lang="zh-CN" altLang="en-US" sz="1600" b="1" dirty="0">
                <a:solidFill>
                  <a:schemeClr val="tx1"/>
                </a:solidFill>
              </a:endParaRPr>
            </a:p>
          </p:txBody>
        </p:sp>
        <p:sp>
          <p:nvSpPr>
            <p:cNvPr id="138" name="矩形 137"/>
            <p:cNvSpPr/>
            <p:nvPr/>
          </p:nvSpPr>
          <p:spPr>
            <a:xfrm>
              <a:off x="9050338" y="4896832"/>
              <a:ext cx="527050" cy="709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a:solidFill>
                    <a:schemeClr val="tx1"/>
                  </a:solidFill>
                </a:rPr>
                <a:t>信道阻断</a:t>
              </a:r>
              <a:endParaRPr lang="zh-CN" altLang="en-US" sz="1600" b="1" dirty="0">
                <a:solidFill>
                  <a:schemeClr val="tx1"/>
                </a:solidFill>
              </a:endParaRPr>
            </a:p>
          </p:txBody>
        </p:sp>
        <p:sp>
          <p:nvSpPr>
            <p:cNvPr id="147568" name="文本框 9"/>
            <p:cNvSpPr txBox="1">
              <a:spLocks noChangeArrowheads="1"/>
            </p:cNvSpPr>
            <p:nvPr/>
          </p:nvSpPr>
          <p:spPr bwMode="auto">
            <a:xfrm>
              <a:off x="2774950" y="1410518"/>
              <a:ext cx="4714875" cy="474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200" b="1">
                  <a:solidFill>
                    <a:srgbClr val="FF0000"/>
                  </a:solidFill>
                  <a:latin typeface="Arial" panose="020B0604020202020204" pitchFamily="34" charset="0"/>
                  <a:ea typeface="宋体" panose="02010600030101010101" pitchFamily="2" charset="-122"/>
                </a:rPr>
                <a:t>层次模型中的研究领域</a:t>
              </a:r>
              <a:endParaRPr lang="zh-CN" altLang="en-US" sz="3200" b="1">
                <a:solidFill>
                  <a:srgbClr val="FF0000"/>
                </a:solidFill>
                <a:latin typeface="Arial" panose="020B0604020202020204" pitchFamily="34" charset="0"/>
                <a:ea typeface="宋体" panose="02010600030101010101" pitchFamily="2" charset="-122"/>
              </a:endParaRPr>
            </a:p>
          </p:txBody>
        </p:sp>
        <p:sp>
          <p:nvSpPr>
            <p:cNvPr id="139" name="立方体 138"/>
            <p:cNvSpPr/>
            <p:nvPr/>
          </p:nvSpPr>
          <p:spPr>
            <a:xfrm>
              <a:off x="138113" y="5708082"/>
              <a:ext cx="736600" cy="452459"/>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信息安全</a:t>
              </a:r>
              <a:endParaRPr lang="zh-CN" altLang="en-US" sz="1970" b="1" dirty="0">
                <a:solidFill>
                  <a:srgbClr val="FF0000"/>
                </a:solidFill>
              </a:endParaRPr>
            </a:p>
          </p:txBody>
        </p:sp>
        <p:sp>
          <p:nvSpPr>
            <p:cNvPr id="140" name="立方体 139"/>
            <p:cNvSpPr/>
            <p:nvPr/>
          </p:nvSpPr>
          <p:spPr>
            <a:xfrm>
              <a:off x="928688" y="5711258"/>
              <a:ext cx="735012" cy="454046"/>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信息保密</a:t>
              </a:r>
              <a:endParaRPr lang="zh-CN" altLang="en-US" sz="1970" b="1" dirty="0">
                <a:solidFill>
                  <a:srgbClr val="FF0000"/>
                </a:solidFill>
              </a:endParaRPr>
            </a:p>
          </p:txBody>
        </p:sp>
        <p:sp>
          <p:nvSpPr>
            <p:cNvPr id="141" name="立方体 140"/>
            <p:cNvSpPr/>
            <p:nvPr/>
          </p:nvSpPr>
          <p:spPr>
            <a:xfrm>
              <a:off x="1719263" y="5708082"/>
              <a:ext cx="736600" cy="452459"/>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信息对抗</a:t>
              </a:r>
              <a:endParaRPr lang="zh-CN" altLang="en-US" sz="1970" b="1" dirty="0">
                <a:solidFill>
                  <a:srgbClr val="FF0000"/>
                </a:solidFill>
              </a:endParaRPr>
            </a:p>
          </p:txBody>
        </p:sp>
        <p:sp>
          <p:nvSpPr>
            <p:cNvPr id="142" name="立方体 141"/>
            <p:cNvSpPr/>
            <p:nvPr/>
          </p:nvSpPr>
          <p:spPr>
            <a:xfrm>
              <a:off x="2509838" y="5706495"/>
              <a:ext cx="735012" cy="452458"/>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云的安全</a:t>
              </a:r>
              <a:endParaRPr lang="zh-CN" altLang="en-US" sz="1970" b="1" dirty="0">
                <a:solidFill>
                  <a:srgbClr val="FF0000"/>
                </a:solidFill>
              </a:endParaRPr>
            </a:p>
          </p:txBody>
        </p:sp>
        <p:sp>
          <p:nvSpPr>
            <p:cNvPr id="143" name="立方体 142"/>
            <p:cNvSpPr/>
            <p:nvPr/>
          </p:nvSpPr>
          <p:spPr>
            <a:xfrm>
              <a:off x="3308350" y="5706495"/>
              <a:ext cx="735013" cy="452458"/>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大数据</a:t>
              </a:r>
              <a:endParaRPr lang="zh-CN" altLang="en-US" sz="1970" b="1" dirty="0">
                <a:solidFill>
                  <a:srgbClr val="FF0000"/>
                </a:solidFill>
              </a:endParaRPr>
            </a:p>
          </p:txBody>
        </p:sp>
        <p:sp>
          <p:nvSpPr>
            <p:cNvPr id="144" name="立方体 143"/>
            <p:cNvSpPr/>
            <p:nvPr/>
          </p:nvSpPr>
          <p:spPr>
            <a:xfrm>
              <a:off x="4138613" y="5711258"/>
              <a:ext cx="765175" cy="454046"/>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725" b="1" dirty="0">
                  <a:solidFill>
                    <a:srgbClr val="FF0000"/>
                  </a:solidFill>
                </a:rPr>
                <a:t>物联网安全</a:t>
              </a:r>
              <a:endParaRPr lang="zh-CN" altLang="en-US" sz="1725" b="1" dirty="0">
                <a:solidFill>
                  <a:srgbClr val="FF0000"/>
                </a:solidFill>
              </a:endParaRPr>
            </a:p>
          </p:txBody>
        </p:sp>
        <p:sp>
          <p:nvSpPr>
            <p:cNvPr id="145" name="立方体 144"/>
            <p:cNvSpPr/>
            <p:nvPr/>
          </p:nvSpPr>
          <p:spPr>
            <a:xfrm>
              <a:off x="5005388" y="5711258"/>
              <a:ext cx="795337" cy="454046"/>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725" b="1" dirty="0">
                  <a:solidFill>
                    <a:srgbClr val="FF0000"/>
                  </a:solidFill>
                </a:rPr>
                <a:t>电信网安全</a:t>
              </a:r>
              <a:endParaRPr lang="zh-CN" altLang="en-US" sz="1725" b="1" dirty="0">
                <a:solidFill>
                  <a:srgbClr val="FF0000"/>
                </a:solidFill>
              </a:endParaRPr>
            </a:p>
          </p:txBody>
        </p:sp>
        <p:sp>
          <p:nvSpPr>
            <p:cNvPr id="146" name="立方体 145"/>
            <p:cNvSpPr/>
            <p:nvPr/>
          </p:nvSpPr>
          <p:spPr>
            <a:xfrm>
              <a:off x="5864225" y="5706495"/>
              <a:ext cx="735013" cy="452458"/>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移动安全</a:t>
              </a:r>
              <a:endParaRPr lang="zh-CN" altLang="en-US" sz="1970" b="1" dirty="0">
                <a:solidFill>
                  <a:srgbClr val="FF0000"/>
                </a:solidFill>
              </a:endParaRPr>
            </a:p>
          </p:txBody>
        </p:sp>
        <p:sp>
          <p:nvSpPr>
            <p:cNvPr id="147" name="立方体 146"/>
            <p:cNvSpPr/>
            <p:nvPr/>
          </p:nvSpPr>
          <p:spPr>
            <a:xfrm>
              <a:off x="6670675" y="5711258"/>
              <a:ext cx="735013" cy="454046"/>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可信计算</a:t>
              </a:r>
              <a:endParaRPr lang="zh-CN" altLang="en-US" sz="1970" b="1" dirty="0">
                <a:solidFill>
                  <a:srgbClr val="FF0000"/>
                </a:solidFill>
              </a:endParaRPr>
            </a:p>
          </p:txBody>
        </p:sp>
        <p:sp>
          <p:nvSpPr>
            <p:cNvPr id="148" name="立方体 147"/>
            <p:cNvSpPr/>
            <p:nvPr/>
          </p:nvSpPr>
          <p:spPr>
            <a:xfrm>
              <a:off x="7461250" y="5711258"/>
              <a:ext cx="735013" cy="454046"/>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工控安全</a:t>
              </a:r>
              <a:endParaRPr lang="zh-CN" altLang="en-US" sz="1970" b="1" dirty="0">
                <a:solidFill>
                  <a:srgbClr val="FF0000"/>
                </a:solidFill>
              </a:endParaRPr>
            </a:p>
          </p:txBody>
        </p:sp>
        <p:sp>
          <p:nvSpPr>
            <p:cNvPr id="149" name="立方体 148"/>
            <p:cNvSpPr/>
            <p:nvPr/>
          </p:nvSpPr>
          <p:spPr>
            <a:xfrm>
              <a:off x="8259763" y="5706495"/>
              <a:ext cx="735012" cy="452458"/>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社交网络</a:t>
              </a:r>
              <a:endParaRPr lang="zh-CN" altLang="en-US" sz="1970" b="1" dirty="0">
                <a:solidFill>
                  <a:srgbClr val="FF0000"/>
                </a:solidFill>
              </a:endParaRPr>
            </a:p>
          </p:txBody>
        </p:sp>
        <p:sp>
          <p:nvSpPr>
            <p:cNvPr id="150" name="立方体 149"/>
            <p:cNvSpPr/>
            <p:nvPr/>
          </p:nvSpPr>
          <p:spPr>
            <a:xfrm>
              <a:off x="9058275" y="5706495"/>
              <a:ext cx="735013" cy="452458"/>
            </a:xfrm>
            <a:prstGeom prst="cube">
              <a:avLst>
                <a:gd name="adj" fmla="val 723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970" b="1" dirty="0">
                  <a:solidFill>
                    <a:srgbClr val="FF0000"/>
                  </a:solidFill>
                </a:rPr>
                <a:t>舆论安全</a:t>
              </a:r>
              <a:endParaRPr lang="zh-CN" altLang="en-US" sz="1970" b="1" dirty="0">
                <a:solidFill>
                  <a:srgbClr val="FF0000"/>
                </a:solidFill>
              </a:endParaRPr>
            </a:p>
          </p:txBody>
        </p:sp>
      </p:grpSp>
      <p:sp>
        <p:nvSpPr>
          <p:cNvPr id="147459" name="TextBox 3"/>
          <p:cNvSpPr txBox="1">
            <a:spLocks noChangeArrowheads="1"/>
          </p:cNvSpPr>
          <p:nvPr/>
        </p:nvSpPr>
        <p:spPr bwMode="auto">
          <a:xfrm>
            <a:off x="609600" y="80108"/>
            <a:ext cx="8020539"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网络空间安全的四层次模型</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43708" y="924169"/>
            <a:ext cx="10380784" cy="829945"/>
          </a:xfrm>
          <a:prstGeom prst="rect">
            <a:avLst/>
          </a:prstGeom>
          <a:solidFill>
            <a:schemeClr val="accent2">
              <a:lumMod val="40000"/>
              <a:lumOff val="60000"/>
            </a:schemeClr>
          </a:solidFill>
          <a:ln>
            <a:solidFill>
              <a:srgbClr val="C00000"/>
            </a:solidFill>
          </a:ln>
          <a:effectLst>
            <a:outerShdw blurRad="50800" dist="38100" dir="5400000" algn="t" rotWithShape="0">
              <a:prstClr val="black">
                <a:alpha val="40000"/>
              </a:prstClr>
            </a:outerShdw>
          </a:effectLst>
        </p:spPr>
        <p:txBody>
          <a:bodyPr>
            <a:spAutoFit/>
          </a:bodyPr>
          <a:lstStyle/>
          <a:p>
            <a:pPr>
              <a:defRPr/>
            </a:pPr>
            <a:r>
              <a:rPr lang="zh-CN" altLang="en-US" sz="2400" dirty="0">
                <a:latin typeface="微软雅黑" panose="020B0503020204020204" charset="-122"/>
                <a:ea typeface="微软雅黑" panose="020B0503020204020204" charset="-122"/>
              </a:rPr>
              <a:t>网络空间是</a:t>
            </a:r>
            <a:r>
              <a:rPr lang="zh-CN" altLang="en-US" sz="2400" b="1" dirty="0">
                <a:solidFill>
                  <a:srgbClr val="FF0000"/>
                </a:solidFill>
                <a:latin typeface="微软雅黑" panose="020B0503020204020204" charset="-122"/>
                <a:ea typeface="微软雅黑" panose="020B0503020204020204" charset="-122"/>
              </a:rPr>
              <a:t>人类</a:t>
            </a:r>
            <a:r>
              <a:rPr lang="zh-CN" altLang="en-US" sz="2400" dirty="0">
                <a:latin typeface="微软雅黑" panose="020B0503020204020204" charset="-122"/>
                <a:ea typeface="微软雅黑" panose="020B0503020204020204" charset="-122"/>
              </a:rPr>
              <a:t>通过“</a:t>
            </a:r>
            <a:r>
              <a:rPr lang="zh-CN" altLang="en-US" sz="2400" b="1" dirty="0">
                <a:solidFill>
                  <a:srgbClr val="FF0000"/>
                </a:solidFill>
                <a:latin typeface="微软雅黑" panose="020B0503020204020204" charset="-122"/>
                <a:ea typeface="微软雅黑" panose="020B0503020204020204" charset="-122"/>
              </a:rPr>
              <a:t>网络角色</a:t>
            </a:r>
            <a:r>
              <a:rPr lang="zh-CN" altLang="en-US" sz="2400" dirty="0">
                <a:latin typeface="微软雅黑" panose="020B0503020204020204" charset="-122"/>
                <a:ea typeface="微软雅黑" panose="020B0503020204020204" charset="-122"/>
              </a:rPr>
              <a:t>”，依托“</a:t>
            </a:r>
            <a:r>
              <a:rPr lang="zh-CN" altLang="en-US" sz="2400" b="1" dirty="0">
                <a:solidFill>
                  <a:srgbClr val="FF0000"/>
                </a:solidFill>
                <a:latin typeface="微软雅黑" panose="020B0503020204020204" charset="-122"/>
                <a:ea typeface="微软雅黑" panose="020B0503020204020204" charset="-122"/>
              </a:rPr>
              <a:t>信息通信技术系统</a:t>
            </a:r>
            <a:r>
              <a:rPr lang="zh-CN" altLang="en-US" sz="2400" dirty="0">
                <a:latin typeface="微软雅黑" panose="020B0503020204020204" charset="-122"/>
                <a:ea typeface="微软雅黑" panose="020B0503020204020204" charset="-122"/>
              </a:rPr>
              <a:t>”来进行“</a:t>
            </a:r>
            <a:r>
              <a:rPr lang="zh-CN" altLang="en-US" sz="2400" b="1" dirty="0">
                <a:solidFill>
                  <a:srgbClr val="FF0000"/>
                </a:solidFill>
                <a:latin typeface="微软雅黑" panose="020B0503020204020204" charset="-122"/>
                <a:ea typeface="微软雅黑" panose="020B0503020204020204" charset="-122"/>
              </a:rPr>
              <a:t>广义信号</a:t>
            </a:r>
            <a:r>
              <a:rPr lang="zh-CN" altLang="en-US" sz="2400" dirty="0">
                <a:latin typeface="微软雅黑" panose="020B0503020204020204" charset="-122"/>
                <a:ea typeface="微软雅黑" panose="020B0503020204020204" charset="-122"/>
              </a:rPr>
              <a:t>”交互“</a:t>
            </a:r>
            <a:r>
              <a:rPr lang="zh-CN" altLang="en-US" sz="2400" b="1" dirty="0">
                <a:solidFill>
                  <a:srgbClr val="FF0000"/>
                </a:solidFill>
                <a:latin typeface="微软雅黑" panose="020B0503020204020204" charset="-122"/>
                <a:ea typeface="微软雅黑" panose="020B0503020204020204" charset="-122"/>
              </a:rPr>
              <a:t>操作</a:t>
            </a:r>
            <a:r>
              <a:rPr lang="zh-CN" altLang="en-US" sz="2400" dirty="0">
                <a:latin typeface="微软雅黑" panose="020B0503020204020204" charset="-122"/>
                <a:ea typeface="微软雅黑" panose="020B0503020204020204" charset="-122"/>
              </a:rPr>
              <a:t>”的人造活动空间。</a:t>
            </a:r>
            <a:endParaRPr lang="en-US" altLang="zh-CN" sz="100" dirty="0"/>
          </a:p>
        </p:txBody>
      </p:sp>
      <p:sp>
        <p:nvSpPr>
          <p:cNvPr id="9" name="文本框 8"/>
          <p:cNvSpPr txBox="1"/>
          <p:nvPr/>
        </p:nvSpPr>
        <p:spPr>
          <a:xfrm>
            <a:off x="713154" y="150446"/>
            <a:ext cx="7776308" cy="622300"/>
          </a:xfrm>
          <a:prstGeom prst="rect">
            <a:avLst/>
          </a:prstGeom>
          <a:noFill/>
        </p:spPr>
        <p:txBody>
          <a:bodyPr>
            <a:spAutoFit/>
          </a:bodyPr>
          <a:lstStyle/>
          <a:p>
            <a:pPr>
              <a:defRPr/>
            </a:pPr>
            <a:r>
              <a:rPr lang="zh-CN" altLang="en-US" sz="3445" b="1" dirty="0">
                <a:solidFill>
                  <a:srgbClr val="0000FF"/>
                </a:solidFill>
                <a:latin typeface="方正小标宋简体" panose="03000509000000000000" pitchFamily="65" charset="-122"/>
                <a:ea typeface="方正小标宋简体" panose="03000509000000000000" pitchFamily="65" charset="-122"/>
              </a:rPr>
              <a:t>从学术角度定义网络空间</a:t>
            </a:r>
            <a:endParaRPr lang="zh-CN" altLang="en-US" sz="2800" b="1" dirty="0">
              <a:solidFill>
                <a:srgbClr val="595959"/>
              </a:solidFill>
              <a:latin typeface="幼圆" panose="02010509060101010101" pitchFamily="49" charset="-122"/>
              <a:ea typeface="幼圆" panose="02010509060101010101" pitchFamily="49" charset="-122"/>
            </a:endParaRPr>
          </a:p>
        </p:txBody>
      </p:sp>
      <p:sp>
        <p:nvSpPr>
          <p:cNvPr id="10" name="文本框 9"/>
          <p:cNvSpPr txBox="1"/>
          <p:nvPr/>
        </p:nvSpPr>
        <p:spPr>
          <a:xfrm>
            <a:off x="943708" y="1922585"/>
            <a:ext cx="10380784" cy="106680"/>
          </a:xfrm>
          <a:prstGeom prst="rect">
            <a:avLst/>
          </a:prstGeom>
          <a:solidFill>
            <a:srgbClr val="FFFF00"/>
          </a:solidFill>
          <a:ln>
            <a:solidFill>
              <a:srgbClr val="C00000"/>
            </a:solidFill>
          </a:ln>
          <a:effectLst>
            <a:outerShdw blurRad="50800" dist="38100" dir="5400000" algn="t" rotWithShape="0">
              <a:prstClr val="black">
                <a:alpha val="40000"/>
              </a:prstClr>
            </a:outerShdw>
          </a:effectLst>
        </p:spPr>
        <p:txBody>
          <a:bodyPr>
            <a:spAutoFit/>
          </a:bodyPr>
          <a:lstStyle/>
          <a:p>
            <a:pPr marL="232410" indent="-232410">
              <a:buFont typeface="Wingdings" panose="05000000000000000000" pitchFamily="2" charset="2"/>
              <a:buChar char="Ø"/>
              <a:defRPr/>
            </a:pPr>
            <a:r>
              <a:rPr lang="zh-CN" altLang="en-US" sz="100" dirty="0">
                <a:solidFill>
                  <a:srgbClr val="FF0000"/>
                </a:solidFill>
                <a:latin typeface="微软雅黑" panose="020B0503020204020204" charset="-122"/>
                <a:ea typeface="微软雅黑" panose="020B0503020204020204" charset="-122"/>
              </a:rPr>
              <a:t>“</a:t>
            </a:r>
            <a:r>
              <a:rPr lang="zh-CN" altLang="en-US" sz="100" b="1" dirty="0">
                <a:solidFill>
                  <a:srgbClr val="FF0000"/>
                </a:solidFill>
                <a:latin typeface="微软雅黑" panose="020B0503020204020204" charset="-122"/>
                <a:ea typeface="微软雅黑" panose="020B0503020204020204" charset="-122"/>
              </a:rPr>
              <a:t>信息通信技术系统</a:t>
            </a:r>
            <a:r>
              <a:rPr lang="zh-CN" altLang="en-US" sz="100" dirty="0">
                <a:solidFill>
                  <a:srgbClr val="FF0000"/>
                </a:solidFill>
                <a:latin typeface="微软雅黑" panose="020B0503020204020204" charset="-122"/>
                <a:ea typeface="微软雅黑" panose="020B0503020204020204" charset="-122"/>
              </a:rPr>
              <a:t>”</a:t>
            </a:r>
            <a:r>
              <a:rPr lang="zh-CN" altLang="en-US" sz="100" dirty="0">
                <a:latin typeface="微软雅黑" panose="020B0503020204020204" charset="-122"/>
                <a:ea typeface="微软雅黑" panose="020B0503020204020204" charset="-122"/>
              </a:rPr>
              <a:t>包括互联网、各种电信网与通信系统、各种传播系统与广电网、各种计算机系统、各类关键工业设施中的嵌入式处理器和控制器等光电磁或数字信息处理设施；</a:t>
            </a:r>
            <a:endParaRPr lang="en-US" altLang="zh-CN" sz="100" dirty="0">
              <a:latin typeface="微软雅黑" panose="020B0503020204020204" charset="-122"/>
              <a:ea typeface="微软雅黑" panose="020B0503020204020204" charset="-122"/>
            </a:endParaRPr>
          </a:p>
        </p:txBody>
      </p:sp>
      <p:sp>
        <p:nvSpPr>
          <p:cNvPr id="11" name="矩形 10"/>
          <p:cNvSpPr/>
          <p:nvPr/>
        </p:nvSpPr>
        <p:spPr>
          <a:xfrm>
            <a:off x="943708" y="3251201"/>
            <a:ext cx="10380784" cy="106680"/>
          </a:xfrm>
          <a:prstGeom prst="rect">
            <a:avLst/>
          </a:prstGeom>
          <a:solidFill>
            <a:srgbClr val="FFFF00"/>
          </a:solidFill>
          <a:ln>
            <a:solidFill>
              <a:srgbClr val="C00000"/>
            </a:solidFill>
          </a:ln>
          <a:effectLst>
            <a:outerShdw blurRad="50800" dist="38100" dir="5400000" algn="t" rotWithShape="0">
              <a:prstClr val="black">
                <a:alpha val="40000"/>
              </a:prstClr>
            </a:outerShdw>
          </a:effectLst>
        </p:spPr>
        <p:txBody>
          <a:bodyPr>
            <a:spAutoFit/>
          </a:bodyPr>
          <a:lstStyle/>
          <a:p>
            <a:pPr marL="232410" indent="-232410">
              <a:buFont typeface="Wingdings" panose="05000000000000000000" pitchFamily="2" charset="2"/>
              <a:buChar char="Ø"/>
              <a:defRPr/>
            </a:pPr>
            <a:r>
              <a:rPr lang="zh-CN" altLang="en-US" sz="100" dirty="0">
                <a:solidFill>
                  <a:srgbClr val="FF0000"/>
                </a:solidFill>
                <a:latin typeface="微软雅黑" panose="020B0503020204020204" charset="-122"/>
                <a:ea typeface="微软雅黑" panose="020B0503020204020204" charset="-122"/>
              </a:rPr>
              <a:t>“</a:t>
            </a:r>
            <a:r>
              <a:rPr lang="zh-CN" altLang="en-US" sz="100" b="1" dirty="0">
                <a:solidFill>
                  <a:srgbClr val="FF0000"/>
                </a:solidFill>
                <a:latin typeface="微软雅黑" panose="020B0503020204020204" charset="-122"/>
                <a:ea typeface="微软雅黑" panose="020B0503020204020204" charset="-122"/>
              </a:rPr>
              <a:t>网络角色</a:t>
            </a:r>
            <a:r>
              <a:rPr lang="zh-CN" altLang="en-US" sz="100" dirty="0">
                <a:solidFill>
                  <a:srgbClr val="FF0000"/>
                </a:solidFill>
                <a:latin typeface="微软雅黑" panose="020B0503020204020204" charset="-122"/>
                <a:ea typeface="微软雅黑" panose="020B0503020204020204" charset="-122"/>
              </a:rPr>
              <a:t>”</a:t>
            </a:r>
            <a:r>
              <a:rPr lang="zh-CN" altLang="en-US" sz="100" dirty="0">
                <a:latin typeface="微软雅黑" panose="020B0503020204020204" charset="-122"/>
                <a:ea typeface="微软雅黑" panose="020B0503020204020204" charset="-122"/>
              </a:rPr>
              <a:t>是指产生、传输广义信号的主体，反映的是人的意志；</a:t>
            </a:r>
            <a:endParaRPr lang="en-US" altLang="zh-CN" sz="100" dirty="0">
              <a:latin typeface="微软雅黑" panose="020B0503020204020204" charset="-122"/>
              <a:ea typeface="微软雅黑" panose="020B0503020204020204" charset="-122"/>
            </a:endParaRPr>
          </a:p>
        </p:txBody>
      </p:sp>
      <p:sp>
        <p:nvSpPr>
          <p:cNvPr id="12" name="矩形 11"/>
          <p:cNvSpPr/>
          <p:nvPr/>
        </p:nvSpPr>
        <p:spPr>
          <a:xfrm>
            <a:off x="943708" y="3872524"/>
            <a:ext cx="10380784" cy="106680"/>
          </a:xfrm>
          <a:prstGeom prst="rect">
            <a:avLst/>
          </a:prstGeom>
          <a:solidFill>
            <a:srgbClr val="FFFF00"/>
          </a:solidFill>
          <a:ln>
            <a:solidFill>
              <a:srgbClr val="C00000"/>
            </a:solidFill>
          </a:ln>
          <a:effectLst>
            <a:outerShdw blurRad="50800" dist="38100" dir="5400000" algn="t" rotWithShape="0">
              <a:prstClr val="black">
                <a:alpha val="40000"/>
              </a:prstClr>
            </a:outerShdw>
          </a:effectLst>
        </p:spPr>
        <p:txBody>
          <a:bodyPr>
            <a:spAutoFit/>
          </a:bodyPr>
          <a:lstStyle/>
          <a:p>
            <a:pPr marL="232410" indent="-232410">
              <a:buFont typeface="Wingdings" panose="05000000000000000000" pitchFamily="2" charset="2"/>
              <a:buChar char="Ø"/>
              <a:defRPr/>
            </a:pPr>
            <a:r>
              <a:rPr lang="zh-CN" altLang="en-US" sz="100" dirty="0">
                <a:solidFill>
                  <a:srgbClr val="FF0000"/>
                </a:solidFill>
                <a:latin typeface="微软雅黑" panose="020B0503020204020204" charset="-122"/>
                <a:ea typeface="微软雅黑" panose="020B0503020204020204" charset="-122"/>
              </a:rPr>
              <a:t>“</a:t>
            </a:r>
            <a:r>
              <a:rPr lang="zh-CN" altLang="en-US" sz="100" b="1" dirty="0">
                <a:solidFill>
                  <a:srgbClr val="FF0000"/>
                </a:solidFill>
                <a:latin typeface="微软雅黑" panose="020B0503020204020204" charset="-122"/>
                <a:ea typeface="微软雅黑" panose="020B0503020204020204" charset="-122"/>
              </a:rPr>
              <a:t>广义信号</a:t>
            </a:r>
            <a:r>
              <a:rPr lang="zh-CN" altLang="en-US" sz="100" dirty="0">
                <a:solidFill>
                  <a:srgbClr val="FF0000"/>
                </a:solidFill>
                <a:latin typeface="微软雅黑" panose="020B0503020204020204" charset="-122"/>
                <a:ea typeface="微软雅黑" panose="020B0503020204020204" charset="-122"/>
              </a:rPr>
              <a:t>”</a:t>
            </a:r>
            <a:r>
              <a:rPr lang="zh-CN" altLang="en-US" sz="100" dirty="0">
                <a:latin typeface="微软雅黑" panose="020B0503020204020204" charset="-122"/>
                <a:ea typeface="微软雅黑" panose="020B0503020204020204" charset="-122"/>
              </a:rPr>
              <a:t>是指基于光、电、声、磁等各类能够用于表达、存储、加工、传输的电磁信号，以及量子信号、生物信号等能够与电磁信号进行交互的信号形态，这些信号通过在信息通信技术系统中进行产生、存储、处理、传输、展示而成为“信息”；</a:t>
            </a:r>
            <a:endParaRPr lang="en-US" altLang="zh-CN" sz="100" dirty="0">
              <a:latin typeface="微软雅黑" panose="020B0503020204020204" charset="-122"/>
              <a:ea typeface="微软雅黑" panose="020B0503020204020204" charset="-122"/>
            </a:endParaRPr>
          </a:p>
        </p:txBody>
      </p:sp>
      <p:sp>
        <p:nvSpPr>
          <p:cNvPr id="13" name="矩形 12"/>
          <p:cNvSpPr/>
          <p:nvPr/>
        </p:nvSpPr>
        <p:spPr>
          <a:xfrm>
            <a:off x="943708" y="5570415"/>
            <a:ext cx="10380784" cy="106680"/>
          </a:xfrm>
          <a:prstGeom prst="rect">
            <a:avLst/>
          </a:prstGeom>
          <a:solidFill>
            <a:srgbClr val="FFFF00"/>
          </a:solidFill>
          <a:ln>
            <a:solidFill>
              <a:srgbClr val="C00000"/>
            </a:solidFill>
          </a:ln>
          <a:effectLst>
            <a:outerShdw blurRad="50800" dist="38100" dir="5400000" algn="t" rotWithShape="0">
              <a:prstClr val="black">
                <a:alpha val="40000"/>
              </a:prstClr>
            </a:outerShdw>
          </a:effectLst>
        </p:spPr>
        <p:txBody>
          <a:bodyPr>
            <a:spAutoFit/>
          </a:bodyPr>
          <a:lstStyle/>
          <a:p>
            <a:pPr marL="232410" indent="-232410">
              <a:buFont typeface="Wingdings" panose="05000000000000000000" pitchFamily="2" charset="2"/>
              <a:buChar char="Ø"/>
              <a:defRPr/>
            </a:pPr>
            <a:r>
              <a:rPr lang="zh-CN" altLang="en-US" sz="100" dirty="0">
                <a:solidFill>
                  <a:srgbClr val="FF0000"/>
                </a:solidFill>
                <a:latin typeface="微软雅黑" panose="020B0503020204020204" charset="-122"/>
                <a:ea typeface="微软雅黑" panose="020B0503020204020204" charset="-122"/>
              </a:rPr>
              <a:t>“</a:t>
            </a:r>
            <a:r>
              <a:rPr lang="zh-CN" altLang="en-US" sz="100" b="1" dirty="0">
                <a:solidFill>
                  <a:srgbClr val="FF0000"/>
                </a:solidFill>
                <a:latin typeface="微软雅黑" panose="020B0503020204020204" charset="-122"/>
                <a:ea typeface="微软雅黑" panose="020B0503020204020204" charset="-122"/>
              </a:rPr>
              <a:t>操作</a:t>
            </a:r>
            <a:r>
              <a:rPr lang="zh-CN" altLang="en-US" sz="100" dirty="0">
                <a:solidFill>
                  <a:srgbClr val="FF0000"/>
                </a:solidFill>
                <a:latin typeface="微软雅黑" panose="020B0503020204020204" charset="-122"/>
                <a:ea typeface="微软雅黑" panose="020B0503020204020204" charset="-122"/>
              </a:rPr>
              <a:t>”</a:t>
            </a:r>
            <a:r>
              <a:rPr lang="zh-CN" altLang="en-US" sz="100" dirty="0">
                <a:latin typeface="微软雅黑" panose="020B0503020204020204" charset="-122"/>
                <a:ea typeface="微软雅黑" panose="020B0503020204020204" charset="-122"/>
              </a:rPr>
              <a:t>是指用户借助广义信号，以信息通信技术系统为平台，以信息通信技术为手段，达到产生信号、保存数据、修改状态、传输信息、展示内容等表达人类意志的行为，统称为“信息通信技术活动”。</a:t>
            </a:r>
            <a:endParaRPr lang="zh-CN" altLang="en-US" sz="1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1+#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1+#ppt_w/2"/>
                                          </p:val>
                                        </p:tav>
                                        <p:tav tm="100000">
                                          <p:val>
                                            <p:strVal val="#ppt_x"/>
                                          </p:val>
                                        </p:tav>
                                      </p:tavLst>
                                    </p:anim>
                                    <p:anim calcmode="lin" valueType="num">
                                      <p:cBhvr additive="base">
                                        <p:cTn id="21"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1+#ppt_w/2"/>
                                          </p:val>
                                        </p:tav>
                                        <p:tav tm="100000">
                                          <p:val>
                                            <p:strVal val="#ppt_x"/>
                                          </p:val>
                                        </p:tav>
                                      </p:tavLst>
                                    </p:anim>
                                    <p:anim calcmode="lin" valueType="num">
                                      <p:cBhvr additive="base">
                                        <p:cTn id="27"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0" grpId="0" bldLvl="0" animBg="1"/>
      <p:bldP spid="11" grpId="0" bldLvl="0" animBg="1"/>
      <p:bldP spid="12" grpId="0" bldLvl="0" animBg="1"/>
      <p:bldP spid="13" grpId="0" bldLvl="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5431" y="1021862"/>
            <a:ext cx="10103338" cy="1753235"/>
          </a:xfrm>
          <a:prstGeom prst="rect">
            <a:avLst/>
          </a:prstGeom>
          <a:solidFill>
            <a:srgbClr val="CCFFCC"/>
          </a:solidFill>
          <a:ln>
            <a:solidFill>
              <a:srgbClr val="C00000"/>
            </a:solidFill>
          </a:ln>
          <a:effectLst>
            <a:outerShdw blurRad="50800" dist="38100" dir="5400000" algn="t" rotWithShape="0">
              <a:prstClr val="black">
                <a:alpha val="40000"/>
              </a:prstClr>
            </a:outerShdw>
          </a:effectLst>
        </p:spPr>
        <p:txBody>
          <a:bodyPr>
            <a:spAutoFit/>
          </a:bodyPr>
          <a:lstStyle/>
          <a:p>
            <a:pPr>
              <a:lnSpc>
                <a:spcPct val="150000"/>
              </a:lnSpc>
              <a:defRPr/>
            </a:pPr>
            <a:r>
              <a:rPr lang="zh-CN" altLang="en-US" sz="100" dirty="0"/>
              <a:t>       </a:t>
            </a:r>
            <a:r>
              <a:rPr lang="zh-CN" altLang="en-US" sz="2400" b="1" dirty="0">
                <a:solidFill>
                  <a:srgbClr val="DB5355"/>
                </a:solidFill>
                <a:latin typeface="微软雅黑" panose="020B0503020204020204" charset="-122"/>
                <a:ea typeface="微软雅黑" panose="020B0503020204020204" charset="-122"/>
              </a:rPr>
              <a:t>关于从国际安全的角度来看信息和电信领域发展的政府专家组的报告</a:t>
            </a:r>
            <a:endParaRPr lang="en-US" altLang="zh-CN" sz="2400" b="1" dirty="0">
              <a:solidFill>
                <a:srgbClr val="DB5355"/>
              </a:solidFill>
              <a:latin typeface="微软雅黑" panose="020B0503020204020204" charset="-122"/>
              <a:ea typeface="微软雅黑" panose="020B0503020204020204" charset="-122"/>
            </a:endParaRPr>
          </a:p>
          <a:p>
            <a:pPr>
              <a:defRPr/>
            </a:pPr>
            <a:r>
              <a:rPr lang="en-US" altLang="zh-CN" sz="2400" dirty="0">
                <a:latin typeface="微软雅黑" panose="020B0503020204020204" charset="-122"/>
                <a:ea typeface="微软雅黑" panose="020B0503020204020204" charset="-122"/>
              </a:rPr>
              <a:t>    Group of Governmental Experts on developments in the field of information and telecommunications in the context of international security</a:t>
            </a:r>
            <a:endParaRPr lang="zh-CN" altLang="en-US" sz="2400" dirty="0">
              <a:latin typeface="微软雅黑" panose="020B0503020204020204" charset="-122"/>
              <a:ea typeface="微软雅黑" panose="020B0503020204020204" charset="-122"/>
            </a:endParaRPr>
          </a:p>
        </p:txBody>
      </p:sp>
      <p:sp>
        <p:nvSpPr>
          <p:cNvPr id="149507" name="文本框 5"/>
          <p:cNvSpPr txBox="1">
            <a:spLocks noChangeArrowheads="1"/>
          </p:cNvSpPr>
          <p:nvPr/>
        </p:nvSpPr>
        <p:spPr bwMode="auto">
          <a:xfrm>
            <a:off x="777631" y="127000"/>
            <a:ext cx="709050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联合国对网络空间的态度</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
        <p:nvSpPr>
          <p:cNvPr id="4" name="矩形 3"/>
          <p:cNvSpPr/>
          <p:nvPr/>
        </p:nvSpPr>
        <p:spPr>
          <a:xfrm>
            <a:off x="955431" y="3022600"/>
            <a:ext cx="10103338" cy="1222375"/>
          </a:xfrm>
          <a:prstGeom prst="rect">
            <a:avLst/>
          </a:prstGeom>
          <a:solidFill>
            <a:srgbClr val="CCFFCC"/>
          </a:solidFill>
          <a:ln>
            <a:solidFill>
              <a:srgbClr val="C00000"/>
            </a:solidFill>
          </a:ln>
          <a:effectLst>
            <a:outerShdw blurRad="50800" dist="38100" dir="5400000" algn="t" rotWithShape="0">
              <a:prstClr val="black">
                <a:alpha val="40000"/>
              </a:prstClr>
            </a:outerShdw>
          </a:effectLst>
        </p:spPr>
        <p:txBody>
          <a:bodyPr>
            <a:spAutoFit/>
          </a:bodyPr>
          <a:lstStyle/>
          <a:p>
            <a:pPr>
              <a:lnSpc>
                <a:spcPct val="150000"/>
              </a:lnSpc>
              <a:defRPr/>
            </a:pPr>
            <a:r>
              <a:rPr lang="zh-CN" altLang="en-US" sz="100" dirty="0"/>
              <a:t> </a:t>
            </a:r>
            <a:r>
              <a:rPr lang="zh-CN" altLang="en-US" sz="2400" b="1" dirty="0">
                <a:solidFill>
                  <a:srgbClr val="DB5355"/>
                </a:solidFill>
                <a:latin typeface="微软雅黑" panose="020B0503020204020204" charset="-122"/>
                <a:ea typeface="微软雅黑" panose="020B0503020204020204" charset="-122"/>
              </a:rPr>
              <a:t>国家主权和源自主权的国际规范和原则适用于国家进行的信通技术活动</a:t>
            </a:r>
            <a:r>
              <a:rPr lang="en-US" altLang="zh-CN" sz="2400" b="1" dirty="0">
                <a:solidFill>
                  <a:srgbClr val="DB5355"/>
                </a:solidFill>
                <a:latin typeface="微软雅黑" panose="020B0503020204020204" charset="-122"/>
                <a:ea typeface="微软雅黑" panose="020B0503020204020204" charset="-122"/>
              </a:rPr>
              <a:t>,</a:t>
            </a:r>
            <a:r>
              <a:rPr lang="zh-CN" altLang="en-US" sz="2400" b="1" dirty="0">
                <a:solidFill>
                  <a:srgbClr val="DB5355"/>
                </a:solidFill>
                <a:latin typeface="微软雅黑" panose="020B0503020204020204" charset="-122"/>
                <a:ea typeface="微软雅黑" panose="020B0503020204020204" charset="-122"/>
              </a:rPr>
              <a:t>以及</a:t>
            </a:r>
            <a:r>
              <a:rPr lang="en-US" altLang="zh-CN" sz="2400" b="1" dirty="0">
                <a:solidFill>
                  <a:srgbClr val="DB5355"/>
                </a:solidFill>
                <a:latin typeface="微软雅黑" panose="020B0503020204020204" charset="-122"/>
                <a:ea typeface="微软雅黑" panose="020B0503020204020204" charset="-122"/>
              </a:rPr>
              <a:t>(</a:t>
            </a:r>
            <a:r>
              <a:rPr lang="zh-CN" altLang="en-US" sz="2400" b="1" dirty="0">
                <a:solidFill>
                  <a:srgbClr val="DB5355"/>
                </a:solidFill>
                <a:latin typeface="微软雅黑" panose="020B0503020204020204" charset="-122"/>
                <a:ea typeface="微软雅黑" panose="020B0503020204020204" charset="-122"/>
              </a:rPr>
              <a:t>适用于</a:t>
            </a:r>
            <a:r>
              <a:rPr lang="en-US" altLang="zh-CN" sz="2400" b="1" dirty="0">
                <a:solidFill>
                  <a:srgbClr val="DB5355"/>
                </a:solidFill>
                <a:latin typeface="微软雅黑" panose="020B0503020204020204" charset="-122"/>
                <a:ea typeface="微软雅黑" panose="020B0503020204020204" charset="-122"/>
              </a:rPr>
              <a:t>)</a:t>
            </a:r>
            <a:r>
              <a:rPr lang="zh-CN" altLang="en-US" sz="2400" b="1" dirty="0">
                <a:solidFill>
                  <a:srgbClr val="DB5355"/>
                </a:solidFill>
                <a:latin typeface="微软雅黑" panose="020B0503020204020204" charset="-122"/>
                <a:ea typeface="微软雅黑" panose="020B0503020204020204" charset="-122"/>
              </a:rPr>
              <a:t>国家在其领土内对信通技术基础设施的管辖权。</a:t>
            </a:r>
            <a:endParaRPr lang="en-US" altLang="zh-CN" sz="2400" b="1" dirty="0">
              <a:solidFill>
                <a:srgbClr val="DB5355"/>
              </a:solidFill>
              <a:latin typeface="微软雅黑" panose="020B0503020204020204" charset="-122"/>
              <a:ea typeface="微软雅黑" panose="020B0503020204020204" charset="-122"/>
            </a:endParaRPr>
          </a:p>
          <a:p>
            <a:pPr>
              <a:lnSpc>
                <a:spcPct val="150000"/>
              </a:lnSpc>
              <a:defRPr/>
            </a:pPr>
            <a:r>
              <a:rPr lang="en-US" altLang="zh-CN" sz="100" dirty="0"/>
              <a:t>       State  sovereignty  and international norms and principles that   flow  from sovereignty  apply  to the conduct  by States of ICT-related activities and  to their jurisdiction  over  ICT infrastructure  within their territory.</a:t>
            </a:r>
            <a:endParaRPr lang="zh-CN" altLang="en-US" sz="100"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流程图: 文档 5"/>
          <p:cNvSpPr/>
          <p:nvPr/>
        </p:nvSpPr>
        <p:spPr>
          <a:xfrm flipH="1">
            <a:off x="791308" y="933939"/>
            <a:ext cx="10746154" cy="2327030"/>
          </a:xfrm>
          <a:prstGeom prst="flowChartDocumen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7" name="文本框 6"/>
          <p:cNvSpPr txBox="1"/>
          <p:nvPr/>
        </p:nvSpPr>
        <p:spPr>
          <a:xfrm>
            <a:off x="1058985" y="933939"/>
            <a:ext cx="10279185" cy="1814830"/>
          </a:xfrm>
          <a:prstGeom prst="rect">
            <a:avLst/>
          </a:prstGeom>
          <a:noFill/>
        </p:spPr>
        <p:txBody>
          <a:bodyPr>
            <a:spAutoFit/>
          </a:bodyPr>
          <a:lstStyle/>
          <a:p>
            <a:pPr>
              <a:defRPr/>
            </a:pPr>
            <a:r>
              <a:rPr lang="zh-CN" altLang="en-US" sz="2800" b="1" dirty="0">
                <a:latin typeface="微软雅黑" panose="020B0503020204020204" charset="-122"/>
                <a:ea typeface="微软雅黑" panose="020B0503020204020204" charset="-122"/>
              </a:rPr>
              <a:t>伴随信息革命的飞速发展，</a:t>
            </a:r>
            <a:r>
              <a:rPr lang="zh-CN" altLang="en-US" sz="2800" b="1" u="sng" dirty="0">
                <a:solidFill>
                  <a:srgbClr val="FF0000"/>
                </a:solidFill>
                <a:latin typeface="微软雅黑" panose="020B0503020204020204" charset="-122"/>
                <a:ea typeface="微软雅黑" panose="020B0503020204020204" charset="-122"/>
              </a:rPr>
              <a:t>互联网、通信网、计算机系统、自动化控制系统、数字设备</a:t>
            </a:r>
            <a:r>
              <a:rPr lang="zh-CN" altLang="en-US" sz="2800" b="1" dirty="0">
                <a:latin typeface="微软雅黑" panose="020B0503020204020204" charset="-122"/>
                <a:ea typeface="微软雅黑" panose="020B0503020204020204" charset="-122"/>
              </a:rPr>
              <a:t>及其承载的</a:t>
            </a:r>
            <a:r>
              <a:rPr lang="zh-CN" altLang="en-US" sz="2800" b="1" u="sng" dirty="0">
                <a:solidFill>
                  <a:srgbClr val="FF0000"/>
                </a:solidFill>
                <a:latin typeface="微软雅黑" panose="020B0503020204020204" charset="-122"/>
                <a:ea typeface="微软雅黑" panose="020B0503020204020204" charset="-122"/>
              </a:rPr>
              <a:t>应用、服务</a:t>
            </a:r>
            <a:r>
              <a:rPr lang="zh-CN" altLang="en-US" sz="2800" b="1" dirty="0">
                <a:latin typeface="微软雅黑" panose="020B0503020204020204" charset="-122"/>
                <a:ea typeface="微软雅黑" panose="020B0503020204020204" charset="-122"/>
              </a:rPr>
              <a:t>和</a:t>
            </a:r>
            <a:r>
              <a:rPr lang="zh-CN" altLang="en-US" sz="2800" b="1" u="sng" dirty="0">
                <a:solidFill>
                  <a:srgbClr val="FF0000"/>
                </a:solidFill>
                <a:latin typeface="微软雅黑" panose="020B0503020204020204" charset="-122"/>
                <a:ea typeface="微软雅黑" panose="020B0503020204020204" charset="-122"/>
              </a:rPr>
              <a:t>数据</a:t>
            </a:r>
            <a:r>
              <a:rPr lang="zh-CN" altLang="en-US" sz="2800" b="1" dirty="0">
                <a:latin typeface="微软雅黑" panose="020B0503020204020204" charset="-122"/>
                <a:ea typeface="微软雅黑" panose="020B0503020204020204" charset="-122"/>
              </a:rPr>
              <a:t>等组成的网络空间，正在全面改变</a:t>
            </a:r>
            <a:r>
              <a:rPr lang="zh-CN" altLang="en-US" sz="2800" b="1" u="sng" dirty="0">
                <a:solidFill>
                  <a:srgbClr val="FF0000"/>
                </a:solidFill>
                <a:latin typeface="微软雅黑" panose="020B0503020204020204" charset="-122"/>
                <a:ea typeface="微软雅黑" panose="020B0503020204020204" charset="-122"/>
              </a:rPr>
              <a:t>人们</a:t>
            </a:r>
            <a:r>
              <a:rPr lang="zh-CN" altLang="en-US" sz="2800" b="1" dirty="0">
                <a:latin typeface="微软雅黑" panose="020B0503020204020204" charset="-122"/>
                <a:ea typeface="微软雅黑" panose="020B0503020204020204" charset="-122"/>
              </a:rPr>
              <a:t>的生产生活方式，深刻影响人类社会历史发展进程</a:t>
            </a:r>
            <a:r>
              <a:rPr lang="zh-CN" altLang="en-US" sz="2800" dirty="0">
                <a:latin typeface="微软雅黑" panose="020B0503020204020204" charset="-122"/>
                <a:ea typeface="微软雅黑" panose="020B0503020204020204" charset="-122"/>
              </a:rPr>
              <a:t>。</a:t>
            </a:r>
            <a:endParaRPr lang="zh-CN" altLang="en-US" sz="2800" dirty="0">
              <a:latin typeface="微软雅黑" panose="020B0503020204020204" charset="-122"/>
              <a:ea typeface="微软雅黑" panose="020B0503020204020204" charset="-122"/>
            </a:endParaRPr>
          </a:p>
        </p:txBody>
      </p:sp>
      <p:sp>
        <p:nvSpPr>
          <p:cNvPr id="22" name="椭圆形标注 21"/>
          <p:cNvSpPr/>
          <p:nvPr/>
        </p:nvSpPr>
        <p:spPr>
          <a:xfrm>
            <a:off x="3094892" y="2530231"/>
            <a:ext cx="861647" cy="613508"/>
          </a:xfrm>
          <a:prstGeom prst="wedgeEllipseCallout">
            <a:avLst>
              <a:gd name="adj1" fmla="val 51478"/>
              <a:gd name="adj2" fmla="val -158562"/>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23" name="椭圆形标注 22"/>
          <p:cNvSpPr/>
          <p:nvPr/>
        </p:nvSpPr>
        <p:spPr>
          <a:xfrm>
            <a:off x="4038601" y="2864339"/>
            <a:ext cx="859692" cy="631092"/>
          </a:xfrm>
          <a:prstGeom prst="wedgeEllipseCallout">
            <a:avLst>
              <a:gd name="adj1" fmla="val 77365"/>
              <a:gd name="adj2" fmla="val -143689"/>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25" name="椭圆形标注 24"/>
          <p:cNvSpPr/>
          <p:nvPr/>
        </p:nvSpPr>
        <p:spPr>
          <a:xfrm>
            <a:off x="6232769" y="2403231"/>
            <a:ext cx="861647" cy="613508"/>
          </a:xfrm>
          <a:prstGeom prst="wedgeEllipseCallout">
            <a:avLst>
              <a:gd name="adj1" fmla="val 77365"/>
              <a:gd name="adj2" fmla="val -143689"/>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grpSp>
        <p:nvGrpSpPr>
          <p:cNvPr id="2" name="组合 1"/>
          <p:cNvGrpSpPr/>
          <p:nvPr/>
        </p:nvGrpSpPr>
        <p:grpSpPr bwMode="auto">
          <a:xfrm>
            <a:off x="7959969" y="2332893"/>
            <a:ext cx="859692" cy="613508"/>
            <a:chOff x="6467475" y="2538413"/>
            <a:chExt cx="698500" cy="498475"/>
          </a:xfrm>
        </p:grpSpPr>
        <p:sp>
          <p:nvSpPr>
            <p:cNvPr id="24" name="椭圆形标注 23"/>
            <p:cNvSpPr/>
            <p:nvPr/>
          </p:nvSpPr>
          <p:spPr>
            <a:xfrm>
              <a:off x="6467475" y="2538413"/>
              <a:ext cx="698500" cy="498475"/>
            </a:xfrm>
            <a:prstGeom prst="wedgeEllipseCallout">
              <a:avLst>
                <a:gd name="adj1" fmla="val 71468"/>
                <a:gd name="adj2" fmla="val -13542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27" name="文本框 26"/>
            <p:cNvSpPr txBox="1"/>
            <p:nvPr/>
          </p:nvSpPr>
          <p:spPr>
            <a:xfrm>
              <a:off x="6505059" y="2665413"/>
              <a:ext cx="660916" cy="330200"/>
            </a:xfrm>
            <a:prstGeom prst="rect">
              <a:avLst/>
            </a:prstGeom>
            <a:noFill/>
          </p:spPr>
          <p:txBody>
            <a:bodyPr vert="eaVert">
              <a:spAutoFit/>
            </a:bodyPr>
            <a:lstStyle/>
            <a:p>
              <a:pPr>
                <a:defRPr/>
              </a:pPr>
              <a:r>
                <a:rPr lang="zh-CN" altLang="en-US" sz="2000" b="1" dirty="0">
                  <a:solidFill>
                    <a:srgbClr val="DB5355"/>
                  </a:solidFill>
                  <a:latin typeface="微软雅黑" panose="020B0503020204020204" charset="-122"/>
                  <a:ea typeface="微软雅黑" panose="020B0503020204020204" charset="-122"/>
                </a:rPr>
                <a:t>据数</a:t>
              </a:r>
              <a:endParaRPr lang="en-US" altLang="zh-CN" sz="2000" b="1" dirty="0">
                <a:solidFill>
                  <a:srgbClr val="DB5355"/>
                </a:solidFill>
                <a:latin typeface="微软雅黑" panose="020B0503020204020204" charset="-122"/>
                <a:ea typeface="微软雅黑" panose="020B0503020204020204" charset="-122"/>
              </a:endParaRPr>
            </a:p>
            <a:p>
              <a:pPr>
                <a:defRPr/>
              </a:pPr>
              <a:endParaRPr lang="zh-CN" altLang="en-US" sz="100" dirty="0"/>
            </a:p>
          </p:txBody>
        </p:sp>
      </p:grpSp>
      <p:sp>
        <p:nvSpPr>
          <p:cNvPr id="29" name="文本框 28"/>
          <p:cNvSpPr txBox="1"/>
          <p:nvPr/>
        </p:nvSpPr>
        <p:spPr>
          <a:xfrm>
            <a:off x="3158344" y="2674815"/>
            <a:ext cx="798195" cy="341924"/>
          </a:xfrm>
          <a:prstGeom prst="rect">
            <a:avLst/>
          </a:prstGeom>
          <a:noFill/>
        </p:spPr>
        <p:txBody>
          <a:bodyPr vert="eaVert">
            <a:spAutoFit/>
          </a:bodyPr>
          <a:lstStyle/>
          <a:p>
            <a:pPr>
              <a:defRPr/>
            </a:pPr>
            <a:r>
              <a:rPr lang="zh-CN" altLang="en-US" sz="2000" b="1" dirty="0">
                <a:solidFill>
                  <a:srgbClr val="DB5355"/>
                </a:solidFill>
                <a:latin typeface="微软雅黑" panose="020B0503020204020204" charset="-122"/>
                <a:ea typeface="微软雅黑" panose="020B0503020204020204" charset="-122"/>
              </a:rPr>
              <a:t>施设</a:t>
            </a:r>
            <a:endParaRPr lang="zh-CN" altLang="en-US" sz="2000" b="1" dirty="0">
              <a:solidFill>
                <a:srgbClr val="DB5355"/>
              </a:solidFill>
              <a:latin typeface="微软雅黑" panose="020B0503020204020204" charset="-122"/>
              <a:ea typeface="微软雅黑" panose="020B0503020204020204" charset="-122"/>
            </a:endParaRPr>
          </a:p>
        </p:txBody>
      </p:sp>
      <p:sp>
        <p:nvSpPr>
          <p:cNvPr id="30" name="文本框 29"/>
          <p:cNvSpPr txBox="1"/>
          <p:nvPr/>
        </p:nvSpPr>
        <p:spPr>
          <a:xfrm>
            <a:off x="4057113" y="3020647"/>
            <a:ext cx="798195" cy="341922"/>
          </a:xfrm>
          <a:prstGeom prst="rect">
            <a:avLst/>
          </a:prstGeom>
          <a:noFill/>
        </p:spPr>
        <p:txBody>
          <a:bodyPr vert="eaVert">
            <a:spAutoFit/>
          </a:bodyPr>
          <a:lstStyle/>
          <a:p>
            <a:pPr>
              <a:defRPr/>
            </a:pPr>
            <a:r>
              <a:rPr lang="zh-CN" altLang="en-US" sz="2000" b="1" dirty="0">
                <a:solidFill>
                  <a:srgbClr val="DB5355"/>
                </a:solidFill>
                <a:latin typeface="微软雅黑" panose="020B0503020204020204" charset="-122"/>
                <a:ea typeface="微软雅黑" panose="020B0503020204020204" charset="-122"/>
              </a:rPr>
              <a:t>户用</a:t>
            </a:r>
            <a:endParaRPr lang="zh-CN" altLang="en-US" sz="2000" b="1" dirty="0">
              <a:solidFill>
                <a:srgbClr val="DB5355"/>
              </a:solidFill>
              <a:latin typeface="微软雅黑" panose="020B0503020204020204" charset="-122"/>
              <a:ea typeface="微软雅黑" panose="020B0503020204020204" charset="-122"/>
            </a:endParaRPr>
          </a:p>
        </p:txBody>
      </p:sp>
      <p:sp>
        <p:nvSpPr>
          <p:cNvPr id="31" name="文本框 30"/>
          <p:cNvSpPr txBox="1"/>
          <p:nvPr/>
        </p:nvSpPr>
        <p:spPr>
          <a:xfrm>
            <a:off x="6275119" y="2543908"/>
            <a:ext cx="813435" cy="339969"/>
          </a:xfrm>
          <a:prstGeom prst="rect">
            <a:avLst/>
          </a:prstGeom>
          <a:noFill/>
        </p:spPr>
        <p:txBody>
          <a:bodyPr vert="eaVert">
            <a:spAutoFit/>
          </a:bodyPr>
          <a:lstStyle/>
          <a:p>
            <a:pPr>
              <a:defRPr/>
            </a:pPr>
            <a:r>
              <a:rPr lang="zh-CN" altLang="en-US" sz="2000" b="1" dirty="0">
                <a:solidFill>
                  <a:srgbClr val="DB5355"/>
                </a:solidFill>
                <a:latin typeface="微软雅黑" panose="020B0503020204020204" charset="-122"/>
                <a:ea typeface="微软雅黑" panose="020B0503020204020204" charset="-122"/>
              </a:rPr>
              <a:t>作操</a:t>
            </a:r>
            <a:endParaRPr lang="en-US" altLang="zh-CN" sz="2000" b="1" dirty="0">
              <a:solidFill>
                <a:srgbClr val="DB5355"/>
              </a:solidFill>
              <a:latin typeface="微软雅黑" panose="020B0503020204020204" charset="-122"/>
              <a:ea typeface="微软雅黑" panose="020B0503020204020204" charset="-122"/>
            </a:endParaRPr>
          </a:p>
          <a:p>
            <a:pPr>
              <a:defRPr/>
            </a:pPr>
            <a:endParaRPr lang="zh-CN" altLang="en-US" sz="100" dirty="0"/>
          </a:p>
        </p:txBody>
      </p:sp>
      <p:pic>
        <p:nvPicPr>
          <p:cNvPr id="32" name="图片 3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787292" y="3401646"/>
            <a:ext cx="4972539" cy="317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图片 3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1308" y="3651738"/>
            <a:ext cx="4870938" cy="281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25"/>
          <p:cNvSpPr txBox="1"/>
          <p:nvPr/>
        </p:nvSpPr>
        <p:spPr>
          <a:xfrm>
            <a:off x="652585" y="127000"/>
            <a:ext cx="6684108" cy="622300"/>
          </a:xfrm>
          <a:prstGeom prst="rect">
            <a:avLst/>
          </a:prstGeom>
          <a:noFill/>
        </p:spPr>
        <p:txBody>
          <a:bodyPr>
            <a:spAutoFit/>
          </a:bodyPr>
          <a:lstStyle/>
          <a:p>
            <a:pPr>
              <a:defRPr/>
            </a:pPr>
            <a:r>
              <a:rPr lang="zh-CN" altLang="en-US" sz="3445" b="1" dirty="0">
                <a:solidFill>
                  <a:srgbClr val="0000FF"/>
                </a:solidFill>
                <a:latin typeface="方正小标宋简体" panose="03000509000000000000" pitchFamily="65" charset="-122"/>
                <a:ea typeface="方正小标宋简体" panose="03000509000000000000" pitchFamily="65" charset="-122"/>
              </a:rPr>
              <a:t>中国</a:t>
            </a:r>
            <a:r>
              <a:rPr lang="en-US" altLang="zh-CN" sz="3445" b="1" dirty="0">
                <a:solidFill>
                  <a:srgbClr val="0000FF"/>
                </a:solidFill>
                <a:latin typeface="方正小标宋简体" panose="03000509000000000000" pitchFamily="65" charset="-122"/>
                <a:ea typeface="方正小标宋简体" panose="03000509000000000000" pitchFamily="65" charset="-122"/>
              </a:rPr>
              <a:t>《</a:t>
            </a:r>
            <a:r>
              <a:rPr lang="zh-CN" altLang="en-US" sz="3445" b="1" dirty="0">
                <a:solidFill>
                  <a:srgbClr val="0000FF"/>
                </a:solidFill>
                <a:latin typeface="方正小标宋简体" panose="03000509000000000000" pitchFamily="65" charset="-122"/>
                <a:ea typeface="方正小标宋简体" panose="03000509000000000000" pitchFamily="65" charset="-122"/>
              </a:rPr>
              <a:t>国家网络空间安全战略</a:t>
            </a:r>
            <a:r>
              <a:rPr lang="en-US" altLang="zh-CN" sz="3445" b="1" dirty="0">
                <a:solidFill>
                  <a:srgbClr val="0000FF"/>
                </a:solidFill>
                <a:latin typeface="方正小标宋简体" panose="03000509000000000000" pitchFamily="65" charset="-122"/>
                <a:ea typeface="方正小标宋简体" panose="03000509000000000000" pitchFamily="65" charset="-122"/>
              </a:rPr>
              <a:t>》</a:t>
            </a:r>
            <a:endParaRPr lang="zh-CN" altLang="en-US" sz="2800" b="1" dirty="0">
              <a:solidFill>
                <a:srgbClr val="595959"/>
              </a:solidFill>
              <a:latin typeface="幼圆" panose="02010509060101010101" pitchFamily="49" charset="-122"/>
              <a:ea typeface="幼圆"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fill="hold"/>
                                        <p:tgtEl>
                                          <p:spTgt spid="30"/>
                                        </p:tgtEl>
                                        <p:attrNameLst>
                                          <p:attrName>ppt_x</p:attrName>
                                        </p:attrNameLst>
                                      </p:cBhvr>
                                      <p:tavLst>
                                        <p:tav tm="0">
                                          <p:val>
                                            <p:strVal val="#ppt_x"/>
                                          </p:val>
                                        </p:tav>
                                        <p:tav tm="100000">
                                          <p:val>
                                            <p:strVal val="#ppt_x"/>
                                          </p:val>
                                        </p:tav>
                                      </p:tavLst>
                                    </p:anim>
                                    <p:anim calcmode="lin" valueType="num">
                                      <p:cBhvr additive="base">
                                        <p:cTn id="17" dur="500" fill="hold"/>
                                        <p:tgtEl>
                                          <p:spTgt spid="30"/>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ppt_x"/>
                                          </p:val>
                                        </p:tav>
                                        <p:tav tm="100000">
                                          <p:val>
                                            <p:strVal val="#ppt_x"/>
                                          </p:val>
                                        </p:tav>
                                      </p:tavLst>
                                    </p:anim>
                                    <p:anim calcmode="lin" valueType="num">
                                      <p:cBhvr additive="base">
                                        <p:cTn id="21" dur="500" fill="hold"/>
                                        <p:tgtEl>
                                          <p:spTgt spid="23"/>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 presetClass="entr" presetSubtype="4"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ppt_x"/>
                                          </p:val>
                                        </p:tav>
                                        <p:tav tm="100000">
                                          <p:val>
                                            <p:strVal val="#ppt_x"/>
                                          </p:val>
                                        </p:tav>
                                      </p:tavLst>
                                    </p:anim>
                                    <p:anim calcmode="lin" valueType="num">
                                      <p:cBhvr additive="base">
                                        <p:cTn id="30" dur="500" fill="hold"/>
                                        <p:tgtEl>
                                          <p:spTgt spid="31"/>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4"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1000"/>
                                        <p:tgtEl>
                                          <p:spTgt spid="33"/>
                                        </p:tgtEl>
                                      </p:cBhvr>
                                    </p:animEffect>
                                    <p:anim calcmode="lin" valueType="num">
                                      <p:cBhvr>
                                        <p:cTn id="41" dur="1000" fill="hold"/>
                                        <p:tgtEl>
                                          <p:spTgt spid="33"/>
                                        </p:tgtEl>
                                        <p:attrNameLst>
                                          <p:attrName>ppt_x</p:attrName>
                                        </p:attrNameLst>
                                      </p:cBhvr>
                                      <p:tavLst>
                                        <p:tav tm="0">
                                          <p:val>
                                            <p:strVal val="#ppt_x"/>
                                          </p:val>
                                        </p:tav>
                                        <p:tav tm="100000">
                                          <p:val>
                                            <p:strVal val="#ppt_x"/>
                                          </p:val>
                                        </p:tav>
                                      </p:tavLst>
                                    </p:anim>
                                    <p:anim calcmode="lin" valueType="num">
                                      <p:cBhvr>
                                        <p:cTn id="42" dur="1000" fill="hold"/>
                                        <p:tgtEl>
                                          <p:spTgt spid="33"/>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1000"/>
                                        <p:tgtEl>
                                          <p:spTgt spid="32"/>
                                        </p:tgtEl>
                                      </p:cBhvr>
                                    </p:animEffect>
                                    <p:anim calcmode="lin" valueType="num">
                                      <p:cBhvr>
                                        <p:cTn id="46" dur="1000" fill="hold"/>
                                        <p:tgtEl>
                                          <p:spTgt spid="32"/>
                                        </p:tgtEl>
                                        <p:attrNameLst>
                                          <p:attrName>ppt_x</p:attrName>
                                        </p:attrNameLst>
                                      </p:cBhvr>
                                      <p:tavLst>
                                        <p:tav tm="0">
                                          <p:val>
                                            <p:strVal val="#ppt_x"/>
                                          </p:val>
                                        </p:tav>
                                        <p:tav tm="100000">
                                          <p:val>
                                            <p:strVal val="#ppt_x"/>
                                          </p:val>
                                        </p:tav>
                                      </p:tavLst>
                                    </p:anim>
                                    <p:anim calcmode="lin" valueType="num">
                                      <p:cBhvr>
                                        <p:cTn id="47"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bldLvl="0" animBg="1"/>
      <p:bldP spid="25" grpId="0" bldLvl="0" animBg="1"/>
      <p:bldP spid="29" grpId="0"/>
      <p:bldP spid="30" grpId="0"/>
      <p:bldP spid="31"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文本框 6"/>
          <p:cNvSpPr txBox="1">
            <a:spLocks noChangeArrowheads="1"/>
          </p:cNvSpPr>
          <p:nvPr/>
        </p:nvSpPr>
        <p:spPr bwMode="auto">
          <a:xfrm>
            <a:off x="652585" y="31262"/>
            <a:ext cx="448407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网络空间的定义</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
        <p:nvSpPr>
          <p:cNvPr id="2" name="矩形 1"/>
          <p:cNvSpPr/>
          <p:nvPr/>
        </p:nvSpPr>
        <p:spPr>
          <a:xfrm>
            <a:off x="681893" y="4226169"/>
            <a:ext cx="10597662" cy="2215662"/>
          </a:xfrm>
          <a:prstGeom prst="rect">
            <a:avLst/>
          </a:prstGeom>
          <a:solidFill>
            <a:srgbClr val="CCFFCC"/>
          </a:solid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460" dirty="0">
                <a:solidFill>
                  <a:srgbClr val="FF0000"/>
                </a:solidFill>
              </a:rPr>
              <a:t>网络空间的一般性定义：</a:t>
            </a:r>
            <a:r>
              <a:rPr lang="zh-CN" altLang="en-US" sz="2460" dirty="0">
                <a:solidFill>
                  <a:schemeClr val="tx1"/>
                </a:solidFill>
              </a:rPr>
              <a:t>网络空间是一种人造的电磁空间，其以互联网、各种通信系统与电信网、各种传播系统与广电网、各种计算机系统、各类关键工业设施中的嵌入式处理器和控制器等信息通信技术基础设施为载体，用户通过在其上对数据进行创造、存储、改变、传输、使用、展示等操作，以实现特定的信息通信技术活动。</a:t>
            </a:r>
            <a:endParaRPr lang="zh-CN" altLang="en-US" sz="2460" dirty="0">
              <a:solidFill>
                <a:schemeClr val="tx1"/>
              </a:solidFill>
            </a:endParaRPr>
          </a:p>
        </p:txBody>
      </p:sp>
      <p:sp>
        <p:nvSpPr>
          <p:cNvPr id="8" name="文本框 7"/>
          <p:cNvSpPr txBox="1"/>
          <p:nvPr/>
        </p:nvSpPr>
        <p:spPr>
          <a:xfrm>
            <a:off x="652585" y="914401"/>
            <a:ext cx="10597662" cy="3135922"/>
          </a:xfrm>
          <a:prstGeom prst="rect">
            <a:avLst/>
          </a:prstGeom>
          <a:solidFill>
            <a:srgbClr val="CCFFCC"/>
          </a:solid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defRPr sz="2000">
                <a:solidFill>
                  <a:srgbClr val="FF0000"/>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defRPr/>
            </a:pPr>
            <a:r>
              <a:rPr lang="zh-CN" altLang="en-US" sz="2460" dirty="0"/>
              <a:t>网络空间四要素：</a:t>
            </a:r>
            <a:r>
              <a:rPr lang="zh-CN" altLang="en-US" sz="2460" dirty="0">
                <a:solidFill>
                  <a:schemeClr val="tx1"/>
                </a:solidFill>
              </a:rPr>
              <a:t>网络空间载体（设施）；网络空间资源（数据）</a:t>
            </a:r>
            <a:endParaRPr lang="en-US" altLang="zh-CN" sz="2460" dirty="0">
              <a:solidFill>
                <a:schemeClr val="tx1"/>
              </a:solidFill>
            </a:endParaRPr>
          </a:p>
          <a:p>
            <a:pPr>
              <a:defRPr/>
            </a:pPr>
            <a:r>
              <a:rPr lang="zh-CN" altLang="en-US" sz="2460" dirty="0">
                <a:solidFill>
                  <a:schemeClr val="tx1"/>
                </a:solidFill>
              </a:rPr>
              <a:t>网络活动主体（用户）；网络活动形式（操作）</a:t>
            </a:r>
            <a:endParaRPr lang="en-US" altLang="zh-CN" sz="2460" dirty="0">
              <a:solidFill>
                <a:schemeClr val="tx1"/>
              </a:solidFill>
            </a:endParaRPr>
          </a:p>
          <a:p>
            <a:pPr>
              <a:defRPr/>
            </a:pPr>
            <a:endParaRPr lang="en-US" altLang="zh-CN" sz="2460" dirty="0"/>
          </a:p>
          <a:p>
            <a:pPr>
              <a:defRPr/>
            </a:pPr>
            <a:r>
              <a:rPr lang="zh-CN" altLang="en-US" sz="2460" dirty="0">
                <a:solidFill>
                  <a:srgbClr val="0000FF"/>
                </a:solidFill>
              </a:rPr>
              <a:t>网络空间载体：</a:t>
            </a:r>
            <a:r>
              <a:rPr lang="zh-CN" altLang="en-US" sz="2460" dirty="0">
                <a:solidFill>
                  <a:schemeClr val="tx1"/>
                </a:solidFill>
              </a:rPr>
              <a:t>设施，信息通信技术系统的集合</a:t>
            </a:r>
            <a:endParaRPr lang="en-US" altLang="zh-CN" sz="2460" dirty="0">
              <a:solidFill>
                <a:schemeClr val="tx1"/>
              </a:solidFill>
            </a:endParaRPr>
          </a:p>
          <a:p>
            <a:pPr>
              <a:defRPr/>
            </a:pPr>
            <a:r>
              <a:rPr lang="zh-CN" altLang="en-US" sz="2460" dirty="0">
                <a:solidFill>
                  <a:srgbClr val="0000FF"/>
                </a:solidFill>
              </a:rPr>
              <a:t>网络操作对象：</a:t>
            </a:r>
            <a:r>
              <a:rPr lang="zh-CN" altLang="en-US" sz="2460" dirty="0">
                <a:solidFill>
                  <a:schemeClr val="tx1"/>
                </a:solidFill>
              </a:rPr>
              <a:t>数据，表达人类所能理解的意图的信号状态</a:t>
            </a:r>
            <a:endParaRPr lang="en-US" altLang="zh-CN" sz="2460" dirty="0">
              <a:solidFill>
                <a:schemeClr val="tx1"/>
              </a:solidFill>
            </a:endParaRPr>
          </a:p>
          <a:p>
            <a:pPr>
              <a:defRPr/>
            </a:pPr>
            <a:r>
              <a:rPr lang="zh-CN" altLang="en-US" sz="2460" dirty="0">
                <a:solidFill>
                  <a:srgbClr val="0000FF"/>
                </a:solidFill>
              </a:rPr>
              <a:t>网络活动主体：</a:t>
            </a:r>
            <a:r>
              <a:rPr lang="zh-CN" altLang="en-US" sz="2460" dirty="0">
                <a:solidFill>
                  <a:schemeClr val="tx1"/>
                </a:solidFill>
              </a:rPr>
              <a:t>用户，网络活动的主体要素，属于人的代理</a:t>
            </a:r>
            <a:endParaRPr lang="en-US" altLang="zh-CN" sz="2460" dirty="0">
              <a:solidFill>
                <a:schemeClr val="tx1"/>
              </a:solidFill>
            </a:endParaRPr>
          </a:p>
          <a:p>
            <a:pPr>
              <a:defRPr/>
            </a:pPr>
            <a:r>
              <a:rPr lang="zh-CN" altLang="en-US" sz="2460" dirty="0">
                <a:solidFill>
                  <a:srgbClr val="0000FF"/>
                </a:solidFill>
              </a:rPr>
              <a:t>网络活动形式：</a:t>
            </a:r>
            <a:r>
              <a:rPr lang="zh-CN" altLang="en-US" sz="2460" dirty="0">
                <a:solidFill>
                  <a:schemeClr val="tx1"/>
                </a:solidFill>
              </a:rPr>
              <a:t>操作，对数据的加工、存储、传输、展示等服务形式</a:t>
            </a:r>
            <a:endParaRPr lang="zh-CN" altLang="en-US" sz="246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2000" fill="hold"/>
                                        <p:tgtEl>
                                          <p:spTgt spid="2"/>
                                        </p:tgtEl>
                                        <p:attrNameLst>
                                          <p:attrName>ppt_x</p:attrName>
                                        </p:attrNameLst>
                                      </p:cBhvr>
                                      <p:tavLst>
                                        <p:tav tm="0">
                                          <p:val>
                                            <p:strVal val="#ppt_x"/>
                                          </p:val>
                                        </p:tav>
                                        <p:tav tm="100000">
                                          <p:val>
                                            <p:strVal val="#ppt_x"/>
                                          </p:val>
                                        </p:tav>
                                      </p:tavLst>
                                    </p:anim>
                                    <p:anim calcmode="lin" valueType="num">
                                      <p:cBhvr additive="base">
                                        <p:cTn id="14" dur="2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8" grpId="0" bldLvl="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文本框 6"/>
          <p:cNvSpPr txBox="1">
            <a:spLocks noChangeArrowheads="1"/>
          </p:cNvSpPr>
          <p:nvPr/>
        </p:nvSpPr>
        <p:spPr bwMode="auto">
          <a:xfrm>
            <a:off x="652585" y="136770"/>
            <a:ext cx="694983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a:t>
            </a:r>
            <a:r>
              <a:rPr lang="en-US" altLang="zh-CN" sz="3445" b="1">
                <a:solidFill>
                  <a:srgbClr val="0000FF"/>
                </a:solidFill>
                <a:latin typeface="方正小标宋简体" panose="03000509000000000000" pitchFamily="65" charset="-122"/>
                <a:ea typeface="方正小标宋简体" panose="03000509000000000000" pitchFamily="65" charset="-122"/>
              </a:rPr>
              <a:t>4</a:t>
            </a:r>
            <a:r>
              <a:rPr lang="zh-CN" altLang="en-US" sz="3445" b="1">
                <a:solidFill>
                  <a:srgbClr val="0000FF"/>
                </a:solidFill>
                <a:latin typeface="方正小标宋简体" panose="03000509000000000000" pitchFamily="65" charset="-122"/>
                <a:ea typeface="方正小标宋简体" panose="03000509000000000000" pitchFamily="65" charset="-122"/>
              </a:rPr>
              <a:t>要素：</a:t>
            </a:r>
            <a:r>
              <a:rPr lang="en-US" altLang="zh-CN" sz="3445" b="1">
                <a:solidFill>
                  <a:srgbClr val="0000FF"/>
                </a:solidFill>
                <a:latin typeface="方正小标宋简体" panose="03000509000000000000" pitchFamily="65" charset="-122"/>
                <a:ea typeface="方正小标宋简体" panose="03000509000000000000" pitchFamily="65" charset="-122"/>
              </a:rPr>
              <a:t>5</a:t>
            </a:r>
            <a:r>
              <a:rPr lang="zh-CN" altLang="en-US" sz="3445" b="1">
                <a:solidFill>
                  <a:srgbClr val="0000FF"/>
                </a:solidFill>
                <a:latin typeface="方正小标宋简体" panose="03000509000000000000" pitchFamily="65" charset="-122"/>
                <a:ea typeface="方正小标宋简体" panose="03000509000000000000" pitchFamily="65" charset="-122"/>
              </a:rPr>
              <a:t>种定义</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graphicFrame>
        <p:nvGraphicFramePr>
          <p:cNvPr id="16" name="表格 15"/>
          <p:cNvGraphicFramePr>
            <a:graphicFrameLocks noGrp="1"/>
          </p:cNvGraphicFramePr>
          <p:nvPr/>
        </p:nvGraphicFramePr>
        <p:xfrm>
          <a:off x="652585" y="879231"/>
          <a:ext cx="11003915" cy="5718810"/>
        </p:xfrm>
        <a:graphic>
          <a:graphicData uri="http://schemas.openxmlformats.org/drawingml/2006/table">
            <a:tbl>
              <a:tblPr firstRow="1" bandRow="1">
                <a:tableStyleId>{5C22544A-7EE6-4342-B048-85BDC9FD1C3A}</a:tableStyleId>
              </a:tblPr>
              <a:tblGrid>
                <a:gridCol w="948055"/>
                <a:gridCol w="10055860"/>
              </a:tblGrid>
              <a:tr h="5718810">
                <a:tc>
                  <a:txBody>
                    <a:bodyPr/>
                    <a:lstStyle/>
                    <a:p>
                      <a:r>
                        <a:rPr lang="zh-CN" altLang="en-US" sz="2830" dirty="0">
                          <a:solidFill>
                            <a:srgbClr val="FF0000"/>
                          </a:solidFill>
                          <a:latin typeface="微软雅黑" panose="020B0503020204020204" charset="-122"/>
                          <a:ea typeface="微软雅黑" panose="020B0503020204020204" charset="-122"/>
                        </a:rPr>
                        <a:t>包</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含</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设</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施、</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承</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载</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数</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据、人</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以</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及</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操</a:t>
                      </a:r>
                      <a:endParaRPr lang="en-US" altLang="zh-CN" sz="2830" dirty="0">
                        <a:solidFill>
                          <a:srgbClr val="FF0000"/>
                        </a:solidFill>
                        <a:latin typeface="微软雅黑" panose="020B0503020204020204" charset="-122"/>
                        <a:ea typeface="微软雅黑" panose="020B0503020204020204" charset="-122"/>
                      </a:endParaRPr>
                    </a:p>
                    <a:p>
                      <a:r>
                        <a:rPr lang="zh-CN" altLang="en-US" sz="2830" dirty="0">
                          <a:solidFill>
                            <a:srgbClr val="FF0000"/>
                          </a:solidFill>
                          <a:latin typeface="微软雅黑" panose="020B0503020204020204" charset="-122"/>
                          <a:ea typeface="微软雅黑" panose="020B0503020204020204" charset="-122"/>
                        </a:rPr>
                        <a:t>作</a:t>
                      </a:r>
                      <a:endParaRPr lang="zh-CN" altLang="en-US" sz="2830" dirty="0">
                        <a:solidFill>
                          <a:srgbClr val="FF0000"/>
                        </a:solidFill>
                        <a:latin typeface="微软雅黑" panose="020B0503020204020204" charset="-122"/>
                        <a:ea typeface="微软雅黑" panose="020B0503020204020204" charset="-122"/>
                      </a:endParaRPr>
                    </a:p>
                  </a:txBody>
                  <a:tcPr marL="91425" marR="91425" marT="45724" marB="45724">
                    <a:solidFill>
                      <a:schemeClr val="tx2">
                        <a:lumMod val="20000"/>
                        <a:lumOff val="80000"/>
                      </a:schemeClr>
                    </a:solidFill>
                  </a:tcPr>
                </a:tc>
                <a:tc>
                  <a:txBody>
                    <a:bodyPr/>
                    <a:lstStyle/>
                    <a:p>
                      <a:r>
                        <a:rPr lang="en-US" altLang="zh-CN" sz="1845" dirty="0"/>
                        <a:t>    </a:t>
                      </a:r>
                      <a:endParaRPr lang="en-US" altLang="zh-CN" sz="1845" dirty="0"/>
                    </a:p>
                    <a:p>
                      <a:endParaRPr lang="en-US" altLang="zh-CN" sz="1845" dirty="0">
                        <a:solidFill>
                          <a:schemeClr val="accent1">
                            <a:lumMod val="75000"/>
                          </a:schemeClr>
                        </a:solidFill>
                      </a:endParaRPr>
                    </a:p>
                    <a:p>
                      <a:r>
                        <a:rPr lang="en-US" altLang="zh-CN" sz="1845" dirty="0">
                          <a:solidFill>
                            <a:schemeClr val="accent1">
                              <a:lumMod val="75000"/>
                            </a:schemeClr>
                          </a:solidFill>
                        </a:rPr>
                        <a:t>       </a:t>
                      </a:r>
                      <a:r>
                        <a:rPr lang="zh-CN" altLang="en-US" sz="2460" dirty="0">
                          <a:solidFill>
                            <a:srgbClr val="0000FF"/>
                          </a:solidFill>
                        </a:rPr>
                        <a:t>网络空间是信息空间中的一个活动范围，其构成要素包括互联网和其他电信网络的通信信道，还有确保其正常运转、以及确保在其上所发生的任何形式的人类（个人、组织、国家）活动的技术基础设施。</a:t>
                      </a:r>
                      <a:endParaRPr lang="en-US" altLang="zh-CN" sz="2460" dirty="0">
                        <a:solidFill>
                          <a:srgbClr val="0000FF"/>
                        </a:solidFill>
                      </a:endParaRPr>
                    </a:p>
                    <a:p>
                      <a:r>
                        <a:rPr lang="en-US" altLang="zh-CN" sz="2460" dirty="0">
                          <a:solidFill>
                            <a:schemeClr val="tx1"/>
                          </a:solidFill>
                        </a:rPr>
                        <a:t>                        --《</a:t>
                      </a:r>
                      <a:r>
                        <a:rPr lang="zh-CN" altLang="en-US" sz="2460" dirty="0">
                          <a:solidFill>
                            <a:schemeClr val="tx1"/>
                          </a:solidFill>
                        </a:rPr>
                        <a:t>俄罗斯联邦网络安全的概念策略</a:t>
                      </a:r>
                      <a:r>
                        <a:rPr lang="en-US" altLang="zh-CN" sz="2460" dirty="0">
                          <a:solidFill>
                            <a:schemeClr val="tx1"/>
                          </a:solidFill>
                        </a:rPr>
                        <a:t>》P.2</a:t>
                      </a:r>
                      <a:endParaRPr lang="en-US" altLang="zh-CN" sz="2460" dirty="0">
                        <a:solidFill>
                          <a:schemeClr val="tx1"/>
                        </a:solidFill>
                      </a:endParaRPr>
                    </a:p>
                    <a:p>
                      <a:r>
                        <a:rPr lang="en-US" altLang="zh-CN" sz="1845" b="0" i="0" kern="1200" dirty="0">
                          <a:solidFill>
                            <a:schemeClr val="accent1">
                              <a:lumMod val="75000"/>
                            </a:schemeClr>
                          </a:solidFill>
                          <a:effectLst/>
                          <a:latin typeface="+mn-lt"/>
                          <a:ea typeface="+mn-ea"/>
                          <a:cs typeface="+mn-cs"/>
                        </a:rPr>
                        <a:t>    </a:t>
                      </a:r>
                      <a:endParaRPr lang="en-US" altLang="zh-CN" sz="1845" b="0" i="0" kern="1200" dirty="0">
                        <a:solidFill>
                          <a:schemeClr val="accent1">
                            <a:lumMod val="75000"/>
                          </a:schemeClr>
                        </a:solidFill>
                        <a:effectLst/>
                        <a:latin typeface="+mn-lt"/>
                        <a:ea typeface="+mn-ea"/>
                        <a:cs typeface="+mn-cs"/>
                      </a:endParaRPr>
                    </a:p>
                    <a:p>
                      <a:r>
                        <a:rPr lang="en-US" altLang="zh-CN" sz="1845" b="0" i="0" kern="1200" dirty="0">
                          <a:solidFill>
                            <a:schemeClr val="accent1">
                              <a:lumMod val="75000"/>
                            </a:schemeClr>
                          </a:solidFill>
                          <a:effectLst/>
                          <a:latin typeface="+mn-lt"/>
                          <a:ea typeface="+mn-ea"/>
                          <a:cs typeface="+mn-cs"/>
                        </a:rPr>
                        <a:t>    </a:t>
                      </a:r>
                      <a:endParaRPr lang="en-US" altLang="zh-CN" sz="1845" b="0" i="0" kern="1200" dirty="0">
                        <a:solidFill>
                          <a:schemeClr val="accent1">
                            <a:lumMod val="75000"/>
                          </a:schemeClr>
                        </a:solidFill>
                        <a:effectLst/>
                        <a:latin typeface="+mn-lt"/>
                        <a:ea typeface="+mn-ea"/>
                        <a:cs typeface="+mn-cs"/>
                      </a:endParaRPr>
                    </a:p>
                    <a:p>
                      <a:r>
                        <a:rPr lang="en-US" altLang="zh-CN" sz="1845" b="0" i="0" kern="1200" dirty="0">
                          <a:solidFill>
                            <a:schemeClr val="tx1"/>
                          </a:solidFill>
                          <a:effectLst/>
                          <a:latin typeface="+mn-lt"/>
                          <a:ea typeface="+mn-ea"/>
                          <a:cs typeface="+mn-cs"/>
                        </a:rPr>
                        <a:t>     </a:t>
                      </a:r>
                      <a:r>
                        <a:rPr lang="en-US" altLang="zh-CN" sz="2460" b="1" kern="1200" dirty="0">
                          <a:solidFill>
                            <a:schemeClr val="tx1"/>
                          </a:solidFill>
                          <a:latin typeface="+mn-lt"/>
                          <a:ea typeface="+mn-ea"/>
                          <a:cs typeface="+mn-cs"/>
                        </a:rPr>
                        <a:t>Cyberspace is a sphere of activity in the information </a:t>
                      </a:r>
                      <a:r>
                        <a:rPr lang="en-US" altLang="zh-CN" sz="2460" b="1" kern="1200" dirty="0" err="1">
                          <a:solidFill>
                            <a:schemeClr val="tx1"/>
                          </a:solidFill>
                          <a:latin typeface="+mn-lt"/>
                          <a:ea typeface="+mn-ea"/>
                          <a:cs typeface="+mn-cs"/>
                        </a:rPr>
                        <a:t>space,formed</a:t>
                      </a:r>
                      <a:r>
                        <a:rPr lang="en-US" altLang="zh-CN" sz="2460" b="1" kern="1200" dirty="0">
                          <a:solidFill>
                            <a:schemeClr val="tx1"/>
                          </a:solidFill>
                          <a:latin typeface="+mn-lt"/>
                          <a:ea typeface="+mn-ea"/>
                          <a:cs typeface="+mn-cs"/>
                        </a:rPr>
                        <a:t> by a set of communication channels of the internet and other telecommunication networks, the technological infrastructure to ensure their functioning ,and any form human activity on them(individual, organizational, state) .</a:t>
                      </a:r>
                      <a:endParaRPr lang="en-US" altLang="zh-CN" sz="2460" b="1" kern="1200" dirty="0">
                        <a:solidFill>
                          <a:schemeClr val="tx1"/>
                        </a:solidFill>
                        <a:latin typeface="+mn-lt"/>
                        <a:ea typeface="+mn-ea"/>
                        <a:cs typeface="+mn-cs"/>
                      </a:endParaRPr>
                    </a:p>
                    <a:p>
                      <a:r>
                        <a:rPr lang="en-US" altLang="zh-CN" sz="2460" b="1" kern="1200" dirty="0">
                          <a:solidFill>
                            <a:schemeClr val="tx1"/>
                          </a:solidFill>
                          <a:latin typeface="+mn-lt"/>
                          <a:ea typeface="+mn-ea"/>
                          <a:cs typeface="+mn-cs"/>
                        </a:rPr>
                        <a:t>                    </a:t>
                      </a:r>
                      <a:r>
                        <a:rPr lang="en-US" altLang="zh-CN" sz="2460" b="1" kern="1200" baseline="0" dirty="0">
                          <a:solidFill>
                            <a:schemeClr val="tx1"/>
                          </a:solidFill>
                          <a:latin typeface="+mn-lt"/>
                          <a:ea typeface="+mn-ea"/>
                          <a:cs typeface="+mn-cs"/>
                        </a:rPr>
                        <a:t> </a:t>
                      </a:r>
                      <a:r>
                        <a:rPr lang="en-US" altLang="zh-CN" sz="2460" b="1" kern="1200" dirty="0">
                          <a:solidFill>
                            <a:schemeClr val="tx1"/>
                          </a:solidFill>
                          <a:latin typeface="+mn-lt"/>
                          <a:ea typeface="+mn-ea"/>
                          <a:cs typeface="+mn-cs"/>
                        </a:rPr>
                        <a:t> --</a:t>
                      </a:r>
                      <a:r>
                        <a:rPr lang="en-US" altLang="zh-CN" sz="2460" b="1" kern="1200" dirty="0" err="1">
                          <a:solidFill>
                            <a:schemeClr val="tx1"/>
                          </a:solidFill>
                          <a:latin typeface="+mn-lt"/>
                          <a:ea typeface="+mn-ea"/>
                          <a:cs typeface="+mn-cs"/>
                        </a:rPr>
                        <a:t>Russia,Concept</a:t>
                      </a:r>
                      <a:r>
                        <a:rPr lang="en-US" altLang="zh-CN" sz="2460" b="1" kern="1200" dirty="0">
                          <a:solidFill>
                            <a:schemeClr val="tx1"/>
                          </a:solidFill>
                          <a:latin typeface="+mn-lt"/>
                          <a:ea typeface="+mn-ea"/>
                          <a:cs typeface="+mn-cs"/>
                        </a:rPr>
                        <a:t> and Strategies of Cyberspace Security of the Russia  Federation P2</a:t>
                      </a:r>
                      <a:endParaRPr lang="zh-CN" altLang="en-US" sz="2460" b="1" kern="1200" dirty="0">
                        <a:solidFill>
                          <a:schemeClr val="tx1"/>
                        </a:solidFill>
                        <a:latin typeface="+mn-lt"/>
                        <a:ea typeface="+mn-ea"/>
                        <a:cs typeface="+mn-cs"/>
                      </a:endParaRPr>
                    </a:p>
                  </a:txBody>
                  <a:tcPr marL="91425" marR="91425" marT="45724" marB="45724">
                    <a:solidFill>
                      <a:srgbClr val="CCFFCC"/>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246185" y="1301262"/>
          <a:ext cx="11609705" cy="4255770"/>
        </p:xfrm>
        <a:graphic>
          <a:graphicData uri="http://schemas.openxmlformats.org/drawingml/2006/table">
            <a:tbl>
              <a:tblPr firstRow="1" bandRow="1">
                <a:tableStyleId>{5C22544A-7EE6-4342-B048-85BDC9FD1C3A}</a:tableStyleId>
              </a:tblPr>
              <a:tblGrid>
                <a:gridCol w="2090420"/>
                <a:gridCol w="9519285"/>
              </a:tblGrid>
              <a:tr h="4255770">
                <a:tc>
                  <a:txBody>
                    <a:bodyPr/>
                    <a:lstStyle/>
                    <a:p>
                      <a:pPr>
                        <a:lnSpc>
                          <a:spcPct val="200000"/>
                        </a:lnSpc>
                      </a:pPr>
                      <a:r>
                        <a:rPr lang="zh-CN" altLang="en-US" sz="1845" dirty="0"/>
                        <a:t> </a:t>
                      </a:r>
                      <a:r>
                        <a:rPr lang="zh-CN" altLang="en-US" sz="2460" dirty="0">
                          <a:solidFill>
                            <a:schemeClr val="tx1"/>
                          </a:solidFill>
                        </a:rPr>
                        <a:t>包含</a:t>
                      </a:r>
                      <a:r>
                        <a:rPr lang="zh-CN" altLang="en-US" sz="2460" dirty="0">
                          <a:solidFill>
                            <a:srgbClr val="FF0000"/>
                          </a:solidFill>
                        </a:rPr>
                        <a:t>设施</a:t>
                      </a:r>
                      <a:r>
                        <a:rPr lang="zh-CN" altLang="en-US" sz="2460" dirty="0">
                          <a:solidFill>
                            <a:schemeClr val="accent1">
                              <a:lumMod val="75000"/>
                            </a:schemeClr>
                          </a:solidFill>
                        </a:rPr>
                        <a:t>、</a:t>
                      </a:r>
                      <a:r>
                        <a:rPr lang="zh-CN" altLang="en-US" sz="2460" dirty="0">
                          <a:solidFill>
                            <a:schemeClr val="tx1"/>
                          </a:solidFill>
                        </a:rPr>
                        <a:t>所承载的</a:t>
                      </a:r>
                      <a:r>
                        <a:rPr lang="zh-CN" altLang="en-US" sz="2460" dirty="0">
                          <a:solidFill>
                            <a:srgbClr val="FF0000"/>
                          </a:solidFill>
                        </a:rPr>
                        <a:t>数据</a:t>
                      </a:r>
                      <a:r>
                        <a:rPr lang="zh-CN" altLang="en-US" sz="2460" dirty="0">
                          <a:solidFill>
                            <a:schemeClr val="tx1"/>
                          </a:solidFill>
                        </a:rPr>
                        <a:t>以及</a:t>
                      </a:r>
                      <a:r>
                        <a:rPr lang="zh-CN" altLang="en-US" sz="2460" dirty="0">
                          <a:solidFill>
                            <a:srgbClr val="FF0000"/>
                          </a:solidFill>
                        </a:rPr>
                        <a:t>人</a:t>
                      </a:r>
                      <a:endParaRPr lang="zh-CN" altLang="en-US" sz="2460" dirty="0">
                        <a:solidFill>
                          <a:srgbClr val="FF0000"/>
                        </a:solidFill>
                      </a:endParaRPr>
                    </a:p>
                  </a:txBody>
                  <a:tcPr marL="91438" marR="91438" marT="45725" marB="45725">
                    <a:solidFill>
                      <a:schemeClr val="accent6">
                        <a:lumMod val="40000"/>
                        <a:lumOff val="60000"/>
                      </a:schemeClr>
                    </a:solidFill>
                  </a:tcPr>
                </a:tc>
                <a:tc>
                  <a:txBody>
                    <a:bodyPr/>
                    <a:lstStyle/>
                    <a:p>
                      <a:r>
                        <a:rPr lang="zh-CN" altLang="en-US" sz="1845" dirty="0">
                          <a:solidFill>
                            <a:srgbClr val="FF0000"/>
                          </a:solidFill>
                        </a:rPr>
                        <a:t>    </a:t>
                      </a:r>
                      <a:r>
                        <a:rPr lang="zh-CN" altLang="en-US" sz="2460" dirty="0">
                          <a:solidFill>
                            <a:srgbClr val="FF0000"/>
                          </a:solidFill>
                        </a:rPr>
                        <a:t>网络空间</a:t>
                      </a:r>
                      <a:r>
                        <a:rPr lang="zh-CN" altLang="en-US" sz="2460" dirty="0">
                          <a:solidFill>
                            <a:schemeClr val="tx1"/>
                          </a:solidFill>
                        </a:rPr>
                        <a:t>是由下述部分或全部组件构成的物理和非物理域</a:t>
                      </a:r>
                      <a:r>
                        <a:rPr lang="en-US" altLang="zh-CN" sz="2460" dirty="0">
                          <a:solidFill>
                            <a:schemeClr val="tx1"/>
                          </a:solidFill>
                        </a:rPr>
                        <a:t>:</a:t>
                      </a:r>
                      <a:r>
                        <a:rPr lang="zh-CN" altLang="en-US" sz="2460" dirty="0">
                          <a:solidFill>
                            <a:schemeClr val="tx1"/>
                          </a:solidFill>
                        </a:rPr>
                        <a:t>包括机械化和自动化系统、</a:t>
                      </a:r>
                      <a:r>
                        <a:rPr lang="zh-CN" altLang="en-US" sz="2460" dirty="0">
                          <a:solidFill>
                            <a:srgbClr val="FF0000"/>
                          </a:solidFill>
                        </a:rPr>
                        <a:t>计算机和通信网络</a:t>
                      </a:r>
                      <a:r>
                        <a:rPr lang="zh-CN" altLang="en-US" sz="2460" dirty="0">
                          <a:solidFill>
                            <a:schemeClr val="accent1">
                              <a:lumMod val="75000"/>
                            </a:schemeClr>
                          </a:solidFill>
                        </a:rPr>
                        <a:t>、</a:t>
                      </a:r>
                      <a:r>
                        <a:rPr lang="zh-CN" altLang="en-US" sz="2460" dirty="0">
                          <a:solidFill>
                            <a:schemeClr val="tx1"/>
                          </a:solidFill>
                        </a:rPr>
                        <a:t>程序、自动化信息、</a:t>
                      </a:r>
                      <a:r>
                        <a:rPr lang="zh-CN" altLang="en-US" sz="2460" dirty="0">
                          <a:solidFill>
                            <a:srgbClr val="FF0000"/>
                          </a:solidFill>
                        </a:rPr>
                        <a:t>计算机所表达的内容、交易和监管数据</a:t>
                      </a:r>
                      <a:r>
                        <a:rPr lang="zh-CN" altLang="en-US" sz="2460" dirty="0">
                          <a:solidFill>
                            <a:schemeClr val="tx1"/>
                          </a:solidFill>
                        </a:rPr>
                        <a:t>以及那些使用这些数据的人。</a:t>
                      </a:r>
                      <a:endParaRPr lang="en-US" altLang="zh-CN" sz="246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215" baseline="0" dirty="0">
                          <a:solidFill>
                            <a:schemeClr val="tx1"/>
                          </a:solidFill>
                        </a:rPr>
                        <a:t>                --</a:t>
                      </a:r>
                      <a:r>
                        <a:rPr lang="zh-CN" altLang="en-US" sz="2215" baseline="0" dirty="0">
                          <a:solidFill>
                            <a:schemeClr val="tx1"/>
                          </a:solidFill>
                        </a:rPr>
                        <a:t>以色列的</a:t>
                      </a:r>
                      <a:r>
                        <a:rPr lang="en-US" altLang="zh-CN" sz="2215" baseline="0" dirty="0">
                          <a:solidFill>
                            <a:schemeClr val="tx1"/>
                          </a:solidFill>
                        </a:rPr>
                        <a:t>《3611</a:t>
                      </a:r>
                      <a:r>
                        <a:rPr lang="zh-CN" altLang="en-US" sz="2215" baseline="0" dirty="0">
                          <a:solidFill>
                            <a:schemeClr val="tx1"/>
                          </a:solidFill>
                        </a:rPr>
                        <a:t>号决议：推进国家网络空间能力</a:t>
                      </a:r>
                      <a:r>
                        <a:rPr lang="en-US" altLang="zh-CN" sz="2215" baseline="0" dirty="0">
                          <a:solidFill>
                            <a:schemeClr val="tx1"/>
                          </a:solidFill>
                        </a:rPr>
                        <a:t>》P.1</a:t>
                      </a:r>
                      <a:endParaRPr lang="en-US" altLang="zh-CN" sz="2215" baseline="0" dirty="0">
                        <a:solidFill>
                          <a:schemeClr val="tx1"/>
                        </a:solidFill>
                      </a:endParaRPr>
                    </a:p>
                    <a:p>
                      <a:pPr algn="just"/>
                      <a:r>
                        <a:rPr lang="en-US" altLang="zh-CN" sz="2215" b="0" i="0" kern="1200" dirty="0">
                          <a:solidFill>
                            <a:schemeClr val="accent1">
                              <a:lumMod val="75000"/>
                            </a:schemeClr>
                          </a:solidFill>
                          <a:effectLst/>
                          <a:latin typeface="+mn-lt"/>
                          <a:ea typeface="+mn-ea"/>
                          <a:cs typeface="+mn-cs"/>
                        </a:rPr>
                        <a:t>         </a:t>
                      </a:r>
                      <a:endParaRPr lang="en-US" altLang="zh-CN" sz="2215" b="0" i="0" kern="1200" dirty="0">
                        <a:solidFill>
                          <a:schemeClr val="accent1">
                            <a:lumMod val="75000"/>
                          </a:schemeClr>
                        </a:solidFill>
                        <a:effectLst/>
                        <a:latin typeface="+mn-lt"/>
                        <a:ea typeface="+mn-ea"/>
                        <a:cs typeface="+mn-cs"/>
                      </a:endParaRPr>
                    </a:p>
                    <a:p>
                      <a:pPr algn="just"/>
                      <a:r>
                        <a:rPr lang="en-US" altLang="zh-CN" sz="2215" b="1" i="0" kern="1200" dirty="0">
                          <a:solidFill>
                            <a:srgbClr val="FF0000"/>
                          </a:solidFill>
                          <a:effectLst/>
                          <a:latin typeface="Times New Roman" panose="02020603050405020304" pitchFamily="18" charset="0"/>
                          <a:ea typeface="+mn-ea"/>
                          <a:cs typeface="Times New Roman" panose="02020603050405020304" pitchFamily="18" charset="0"/>
                        </a:rPr>
                        <a:t>Cyberspace</a:t>
                      </a:r>
                      <a:r>
                        <a:rPr lang="en-US" altLang="zh-CN" sz="2215" b="1" i="0" kern="1200" dirty="0">
                          <a:solidFill>
                            <a:schemeClr val="accent1">
                              <a:lumMod val="75000"/>
                            </a:schemeClr>
                          </a:solidFill>
                          <a:effectLst/>
                          <a:latin typeface="Times New Roman" panose="02020603050405020304" pitchFamily="18" charset="0"/>
                          <a:ea typeface="+mn-ea"/>
                          <a:cs typeface="Times New Roman" panose="02020603050405020304" pitchFamily="18" charset="0"/>
                        </a:rPr>
                        <a:t> </a:t>
                      </a:r>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is the physical and non-physical domain that is</a:t>
                      </a:r>
                      <a:r>
                        <a:rPr lang="en-US" altLang="zh-CN" sz="2215" b="1" i="0" kern="1200" baseline="0" dirty="0">
                          <a:solidFill>
                            <a:schemeClr val="tx1"/>
                          </a:solidFill>
                          <a:effectLst/>
                          <a:latin typeface="Times New Roman" panose="02020603050405020304" pitchFamily="18" charset="0"/>
                          <a:ea typeface="+mn-ea"/>
                          <a:cs typeface="Times New Roman" panose="02020603050405020304" pitchFamily="18" charset="0"/>
                        </a:rPr>
                        <a:t> created or composed of part </a:t>
                      </a:r>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or all of the following components: mechanized and</a:t>
                      </a:r>
                      <a:r>
                        <a:rPr lang="en-US" altLang="zh-CN" sz="2215" b="1" i="0" kern="1200" baseline="0" dirty="0">
                          <a:solidFill>
                            <a:schemeClr val="tx1"/>
                          </a:solidFill>
                          <a:effectLst/>
                          <a:latin typeface="Times New Roman" panose="02020603050405020304" pitchFamily="18" charset="0"/>
                          <a:ea typeface="+mn-ea"/>
                          <a:cs typeface="Times New Roman" panose="02020603050405020304" pitchFamily="18" charset="0"/>
                        </a:rPr>
                        <a:t> computerized </a:t>
                      </a:r>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systems, computer and communication networks, programs, computerized information</a:t>
                      </a:r>
                      <a:r>
                        <a:rPr lang="en-US" altLang="zh-CN" sz="2215" b="1" i="0" kern="1200" dirty="0">
                          <a:solidFill>
                            <a:schemeClr val="accent1">
                              <a:lumMod val="75000"/>
                            </a:schemeClr>
                          </a:solidFill>
                          <a:effectLst/>
                          <a:latin typeface="Times New Roman" panose="02020603050405020304" pitchFamily="18" charset="0"/>
                          <a:ea typeface="+mn-ea"/>
                          <a:cs typeface="Times New Roman" panose="02020603050405020304" pitchFamily="18" charset="0"/>
                        </a:rPr>
                        <a:t>, </a:t>
                      </a:r>
                      <a:r>
                        <a:rPr lang="en-US" altLang="zh-CN" sz="2215" b="1" i="0" kern="1200" dirty="0">
                          <a:solidFill>
                            <a:srgbClr val="FF0000"/>
                          </a:solidFill>
                          <a:effectLst/>
                          <a:latin typeface="Times New Roman" panose="02020603050405020304" pitchFamily="18" charset="0"/>
                          <a:ea typeface="+mn-ea"/>
                          <a:cs typeface="Times New Roman" panose="02020603050405020304" pitchFamily="18" charset="0"/>
                        </a:rPr>
                        <a:t>content conveyed by computer, traffic and supervisory data</a:t>
                      </a:r>
                      <a:r>
                        <a:rPr lang="en-US" altLang="zh-CN" sz="2215" b="1" i="0" kern="1200" dirty="0">
                          <a:solidFill>
                            <a:schemeClr val="accent1">
                              <a:lumMod val="75000"/>
                            </a:schemeClr>
                          </a:solidFill>
                          <a:effectLst/>
                          <a:latin typeface="Times New Roman" panose="02020603050405020304" pitchFamily="18" charset="0"/>
                          <a:ea typeface="+mn-ea"/>
                          <a:cs typeface="Times New Roman" panose="02020603050405020304" pitchFamily="18" charset="0"/>
                        </a:rPr>
                        <a:t>, </a:t>
                      </a:r>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and</a:t>
                      </a:r>
                      <a:r>
                        <a:rPr lang="en-US" altLang="zh-CN" sz="2215" b="1" i="0" kern="1200" dirty="0">
                          <a:solidFill>
                            <a:schemeClr val="accent1">
                              <a:lumMod val="75000"/>
                            </a:schemeClr>
                          </a:solidFill>
                          <a:effectLst/>
                          <a:latin typeface="Times New Roman" panose="02020603050405020304" pitchFamily="18" charset="0"/>
                          <a:ea typeface="+mn-ea"/>
                          <a:cs typeface="Times New Roman" panose="02020603050405020304" pitchFamily="18" charset="0"/>
                        </a:rPr>
                        <a:t> </a:t>
                      </a:r>
                      <a:r>
                        <a:rPr lang="en-US" altLang="zh-CN" sz="2215" b="1" i="0" kern="1200" dirty="0">
                          <a:solidFill>
                            <a:srgbClr val="FF0000"/>
                          </a:solidFill>
                          <a:effectLst/>
                          <a:latin typeface="Times New Roman" panose="02020603050405020304" pitchFamily="18" charset="0"/>
                          <a:ea typeface="+mn-ea"/>
                          <a:cs typeface="Times New Roman" panose="02020603050405020304" pitchFamily="18" charset="0"/>
                        </a:rPr>
                        <a:t>those </a:t>
                      </a:r>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who use such data.</a:t>
                      </a:r>
                      <a:endPar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endParaRPr>
                    </a:p>
                    <a:p>
                      <a:pPr algn="just"/>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2215" b="1" i="0" kern="1200" dirty="0" err="1">
                          <a:solidFill>
                            <a:schemeClr val="tx1"/>
                          </a:solidFill>
                          <a:effectLst/>
                          <a:latin typeface="Times New Roman" panose="02020603050405020304" pitchFamily="18" charset="0"/>
                          <a:ea typeface="+mn-ea"/>
                          <a:cs typeface="Times New Roman" panose="02020603050405020304" pitchFamily="18" charset="0"/>
                        </a:rPr>
                        <a:t>Israel,Resolution</a:t>
                      </a:r>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 NO. 3611: Advancing </a:t>
                      </a:r>
                      <a:r>
                        <a:rPr lang="en-US" altLang="zh-CN" sz="2215" b="1" i="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2215" b="1" i="0" kern="1200" dirty="0">
                          <a:solidFill>
                            <a:schemeClr val="tx1"/>
                          </a:solidFill>
                          <a:effectLst/>
                          <a:latin typeface="Times New Roman" panose="02020603050405020304" pitchFamily="18" charset="0"/>
                          <a:ea typeface="+mn-ea"/>
                          <a:cs typeface="Times New Roman" panose="02020603050405020304" pitchFamily="18" charset="0"/>
                        </a:rPr>
                        <a:t>National Cyberspace</a:t>
                      </a:r>
                      <a:r>
                        <a:rPr lang="en-US" altLang="zh-CN" sz="2215" b="1" i="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2215" b="1" i="0" kern="1200" baseline="0" dirty="0" err="1">
                          <a:solidFill>
                            <a:schemeClr val="tx1"/>
                          </a:solidFill>
                          <a:effectLst/>
                          <a:latin typeface="Times New Roman" panose="02020603050405020304" pitchFamily="18" charset="0"/>
                          <a:ea typeface="+mn-ea"/>
                          <a:cs typeface="Times New Roman" panose="02020603050405020304" pitchFamily="18" charset="0"/>
                        </a:rPr>
                        <a:t>Capabilitie</a:t>
                      </a:r>
                      <a:r>
                        <a:rPr lang="en-US" altLang="zh-CN" sz="2215" b="1" i="0" kern="1200" baseline="0" dirty="0">
                          <a:solidFill>
                            <a:schemeClr val="tx1"/>
                          </a:solidFill>
                          <a:effectLst/>
                          <a:latin typeface="Times New Roman" panose="02020603050405020304" pitchFamily="18" charset="0"/>
                          <a:ea typeface="+mn-ea"/>
                          <a:cs typeface="Times New Roman" panose="02020603050405020304" pitchFamily="18" charset="0"/>
                        </a:rPr>
                        <a:t>  P.1</a:t>
                      </a:r>
                      <a:endParaRPr lang="zh-CN" altLang="en-US" sz="2215" b="1" dirty="0">
                        <a:solidFill>
                          <a:schemeClr val="tx1"/>
                        </a:solidFill>
                        <a:latin typeface="Times New Roman" panose="02020603050405020304" pitchFamily="18" charset="0"/>
                        <a:cs typeface="Times New Roman" panose="02020603050405020304" pitchFamily="18" charset="0"/>
                      </a:endParaRPr>
                    </a:p>
                  </a:txBody>
                  <a:tcPr marL="91438" marR="91438" marT="45725" marB="45725">
                    <a:solidFill>
                      <a:srgbClr val="CCFFCC"/>
                    </a:solidFill>
                  </a:tcPr>
                </a:tc>
              </a:tr>
            </a:tbl>
          </a:graphicData>
        </a:graphic>
      </p:graphicFrame>
      <p:sp>
        <p:nvSpPr>
          <p:cNvPr id="153610" name="文本框 6"/>
          <p:cNvSpPr txBox="1">
            <a:spLocks noChangeArrowheads="1"/>
          </p:cNvSpPr>
          <p:nvPr/>
        </p:nvSpPr>
        <p:spPr bwMode="auto">
          <a:xfrm>
            <a:off x="601785" y="150446"/>
            <a:ext cx="694983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a:t>
            </a:r>
            <a:r>
              <a:rPr lang="en-US" altLang="zh-CN" sz="3445" b="1">
                <a:solidFill>
                  <a:srgbClr val="0000FF"/>
                </a:solidFill>
                <a:latin typeface="方正小标宋简体" panose="03000509000000000000" pitchFamily="65" charset="-122"/>
                <a:ea typeface="方正小标宋简体" panose="03000509000000000000" pitchFamily="65" charset="-122"/>
              </a:rPr>
              <a:t>4</a:t>
            </a:r>
            <a:r>
              <a:rPr lang="zh-CN" altLang="en-US" sz="3445" b="1">
                <a:solidFill>
                  <a:srgbClr val="0000FF"/>
                </a:solidFill>
                <a:latin typeface="方正小标宋简体" panose="03000509000000000000" pitchFamily="65" charset="-122"/>
                <a:ea typeface="方正小标宋简体" panose="03000509000000000000" pitchFamily="65" charset="-122"/>
              </a:rPr>
              <a:t>要素：</a:t>
            </a:r>
            <a:r>
              <a:rPr lang="en-US" altLang="zh-CN" sz="3445" b="1">
                <a:solidFill>
                  <a:srgbClr val="0000FF"/>
                </a:solidFill>
                <a:latin typeface="方正小标宋简体" panose="03000509000000000000" pitchFamily="65" charset="-122"/>
                <a:ea typeface="方正小标宋简体" panose="03000509000000000000" pitchFamily="65" charset="-122"/>
              </a:rPr>
              <a:t>5</a:t>
            </a:r>
            <a:r>
              <a:rPr lang="zh-CN" altLang="en-US" sz="3445" b="1">
                <a:solidFill>
                  <a:srgbClr val="0000FF"/>
                </a:solidFill>
                <a:latin typeface="方正小标宋简体" panose="03000509000000000000" pitchFamily="65" charset="-122"/>
                <a:ea typeface="方正小标宋简体" panose="03000509000000000000" pitchFamily="65" charset="-122"/>
              </a:rPr>
              <a:t>种定义</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246185" y="1479062"/>
          <a:ext cx="11609705" cy="4218305"/>
        </p:xfrm>
        <a:graphic>
          <a:graphicData uri="http://schemas.openxmlformats.org/drawingml/2006/table">
            <a:tbl>
              <a:tblPr firstRow="1" bandRow="1">
                <a:tableStyleId>{5C22544A-7EE6-4342-B048-85BDC9FD1C3A}</a:tableStyleId>
              </a:tblPr>
              <a:tblGrid>
                <a:gridCol w="2090420"/>
                <a:gridCol w="9519285"/>
              </a:tblGrid>
              <a:tr h="4218305">
                <a:tc>
                  <a:txBody>
                    <a:bodyPr/>
                    <a:lstStyle/>
                    <a:p>
                      <a:pPr marL="0" marR="0" lvl="0" indent="0" algn="l" defTabSz="914400" rtl="0" eaLnBrk="1" fontAlgn="auto" latinLnBrk="0" hangingPunct="1">
                        <a:lnSpc>
                          <a:spcPct val="200000"/>
                        </a:lnSpc>
                        <a:spcBef>
                          <a:spcPts val="0"/>
                        </a:spcBef>
                        <a:spcAft>
                          <a:spcPts val="0"/>
                        </a:spcAft>
                        <a:buClrTx/>
                        <a:buSzTx/>
                        <a:buFontTx/>
                        <a:buNone/>
                        <a:defRPr/>
                      </a:pPr>
                      <a:r>
                        <a:rPr lang="zh-CN" altLang="en-US" sz="2460" dirty="0">
                          <a:solidFill>
                            <a:schemeClr val="tx1"/>
                          </a:solidFill>
                        </a:rPr>
                        <a:t>包含</a:t>
                      </a:r>
                      <a:r>
                        <a:rPr lang="zh-CN" altLang="en-US" sz="2460" dirty="0">
                          <a:solidFill>
                            <a:srgbClr val="FF0000"/>
                          </a:solidFill>
                        </a:rPr>
                        <a:t>设施</a:t>
                      </a:r>
                      <a:r>
                        <a:rPr lang="zh-CN" altLang="en-US" sz="2460" dirty="0">
                          <a:solidFill>
                            <a:schemeClr val="accent1">
                              <a:lumMod val="75000"/>
                            </a:schemeClr>
                          </a:solidFill>
                        </a:rPr>
                        <a:t>、</a:t>
                      </a:r>
                      <a:r>
                        <a:rPr lang="zh-CN" altLang="en-US" sz="2460" dirty="0">
                          <a:solidFill>
                            <a:schemeClr val="tx1"/>
                          </a:solidFill>
                        </a:rPr>
                        <a:t>所承载的</a:t>
                      </a:r>
                      <a:r>
                        <a:rPr lang="zh-CN" altLang="en-US" sz="2460" dirty="0">
                          <a:solidFill>
                            <a:srgbClr val="FF0000"/>
                          </a:solidFill>
                        </a:rPr>
                        <a:t>数据</a:t>
                      </a:r>
                      <a:r>
                        <a:rPr lang="zh-CN" altLang="en-US" sz="2460" dirty="0">
                          <a:solidFill>
                            <a:schemeClr val="tx1"/>
                          </a:solidFill>
                        </a:rPr>
                        <a:t>以及</a:t>
                      </a:r>
                      <a:r>
                        <a:rPr lang="zh-CN" altLang="en-US" sz="2460" dirty="0">
                          <a:solidFill>
                            <a:srgbClr val="FF0000"/>
                          </a:solidFill>
                        </a:rPr>
                        <a:t>操作</a:t>
                      </a:r>
                      <a:endParaRPr lang="zh-CN" altLang="en-US" sz="2460" dirty="0">
                        <a:solidFill>
                          <a:srgbClr val="FF0000"/>
                        </a:solidFill>
                      </a:endParaRPr>
                    </a:p>
                  </a:txBody>
                  <a:tcPr marL="91438" marR="91438" marT="45703" marB="45703">
                    <a:solidFill>
                      <a:schemeClr val="accent6">
                        <a:lumMod val="40000"/>
                        <a:lumOff val="60000"/>
                      </a:schemeClr>
                    </a:solidFill>
                  </a:tcPr>
                </a:tc>
                <a:tc>
                  <a:txBody>
                    <a:bodyPr/>
                    <a:lstStyle/>
                    <a:p>
                      <a:r>
                        <a:rPr lang="en-US" altLang="zh-CN" sz="2460" b="1" dirty="0">
                          <a:solidFill>
                            <a:schemeClr val="accent1">
                              <a:lumMod val="75000"/>
                            </a:schemeClr>
                          </a:solidFill>
                        </a:rPr>
                        <a:t>    </a:t>
                      </a:r>
                      <a:r>
                        <a:rPr lang="zh-CN" altLang="en-US" sz="2460" b="1" dirty="0">
                          <a:solidFill>
                            <a:srgbClr val="FF0000"/>
                          </a:solidFill>
                        </a:rPr>
                        <a:t>网络空间</a:t>
                      </a:r>
                      <a:r>
                        <a:rPr lang="zh-CN" altLang="en-US" sz="2460" b="1" dirty="0">
                          <a:solidFill>
                            <a:schemeClr val="tx1"/>
                          </a:solidFill>
                        </a:rPr>
                        <a:t>是由数字网络构成的一个互动域，其用于存储、修改和传输信息。它包括互联网，也包括支撑我们业务的其他信息系统、基础设施和服务。         </a:t>
                      </a:r>
                      <a:r>
                        <a:rPr lang="zh-CN" altLang="en-US" sz="2460" b="1" baseline="0" dirty="0">
                          <a:solidFill>
                            <a:schemeClr val="tx1"/>
                          </a:solidFill>
                        </a:rPr>
                        <a:t> </a:t>
                      </a:r>
                      <a:r>
                        <a:rPr lang="zh-CN" altLang="en-US" sz="2460" b="1" dirty="0">
                          <a:solidFill>
                            <a:schemeClr val="tx1"/>
                          </a:solidFill>
                        </a:rPr>
                        <a:t>                  </a:t>
                      </a:r>
                      <a:endParaRPr lang="en-US" altLang="zh-CN" sz="2460" b="1" dirty="0">
                        <a:solidFill>
                          <a:schemeClr val="tx1"/>
                        </a:solidFill>
                      </a:endParaRPr>
                    </a:p>
                    <a:p>
                      <a:r>
                        <a:rPr lang="zh-CN" altLang="en-US" sz="2460" b="1" dirty="0">
                          <a:solidFill>
                            <a:schemeClr val="tx1"/>
                          </a:solidFill>
                        </a:rPr>
                        <a:t>     （</a:t>
                      </a:r>
                      <a:r>
                        <a:rPr lang="en-US" altLang="zh-CN" sz="2460" b="1" dirty="0">
                          <a:solidFill>
                            <a:schemeClr val="tx1"/>
                          </a:solidFill>
                        </a:rPr>
                        <a:t>P.11</a:t>
                      </a:r>
                      <a:r>
                        <a:rPr lang="zh-CN" altLang="en-US" sz="2460" b="1" dirty="0">
                          <a:solidFill>
                            <a:schemeClr val="tx1"/>
                          </a:solidFill>
                        </a:rPr>
                        <a:t>） </a:t>
                      </a:r>
                      <a:r>
                        <a:rPr lang="en-US" altLang="zh-CN" sz="2215" b="1" dirty="0">
                          <a:solidFill>
                            <a:schemeClr val="tx1"/>
                          </a:solidFill>
                        </a:rPr>
                        <a:t>---《</a:t>
                      </a:r>
                      <a:r>
                        <a:rPr lang="zh-CN" altLang="en-US" sz="2215" b="1" dirty="0">
                          <a:solidFill>
                            <a:schemeClr val="tx1"/>
                          </a:solidFill>
                        </a:rPr>
                        <a:t>英国网络安全战略：在数字世界中保护并推进英国</a:t>
                      </a:r>
                      <a:r>
                        <a:rPr lang="en-US" altLang="zh-CN" sz="2215" b="1" dirty="0">
                          <a:solidFill>
                            <a:schemeClr val="tx1"/>
                          </a:solidFill>
                        </a:rPr>
                        <a:t>》</a:t>
                      </a:r>
                      <a:endParaRPr lang="en-US" altLang="zh-CN" sz="2215" b="1" dirty="0">
                        <a:solidFill>
                          <a:schemeClr val="tx1"/>
                        </a:solidFill>
                      </a:endParaRPr>
                    </a:p>
                    <a:p>
                      <a:endParaRPr lang="en-US" altLang="zh-CN" sz="2460" b="1" dirty="0">
                        <a:solidFill>
                          <a:schemeClr val="tx1"/>
                        </a:solidFill>
                      </a:endParaRPr>
                    </a:p>
                    <a:p>
                      <a:r>
                        <a:rPr lang="en-US" altLang="zh-CN" sz="2460" dirty="0">
                          <a:solidFill>
                            <a:schemeClr val="accent1">
                              <a:lumMod val="75000"/>
                            </a:schemeClr>
                          </a:solidFill>
                        </a:rPr>
                        <a:t>   </a:t>
                      </a:r>
                      <a:r>
                        <a:rPr lang="en-US" altLang="zh-CN" sz="2460" b="0" i="0" kern="1200" dirty="0">
                          <a:solidFill>
                            <a:schemeClr val="accent1">
                              <a:lumMod val="75000"/>
                            </a:schemeClr>
                          </a:solidFill>
                          <a:effectLst/>
                          <a:latin typeface="+mn-lt"/>
                          <a:ea typeface="+mn-ea"/>
                          <a:cs typeface="+mn-cs"/>
                        </a:rPr>
                        <a:t> </a:t>
                      </a:r>
                      <a:r>
                        <a:rPr lang="en-US" altLang="zh-CN" sz="2460" b="1" i="0" kern="1200" dirty="0">
                          <a:solidFill>
                            <a:srgbClr val="FF0000"/>
                          </a:solidFill>
                          <a:effectLst/>
                          <a:latin typeface="Times New Roman" panose="02020603050405020304" pitchFamily="18" charset="0"/>
                          <a:ea typeface="+mn-ea"/>
                          <a:cs typeface="Times New Roman" panose="02020603050405020304" pitchFamily="18" charset="0"/>
                        </a:rPr>
                        <a:t>Cyberspace </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is an interactive domain made up of digital networks  that is used to store, modify and communicate information. It includes the internet, but also  the other information systems that support our businesses, infrastructure and services.</a:t>
                      </a:r>
                      <a:endPar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2460" b="1" i="0" kern="1200" dirty="0" err="1">
                          <a:solidFill>
                            <a:schemeClr val="tx1"/>
                          </a:solidFill>
                          <a:effectLst/>
                          <a:latin typeface="Times New Roman" panose="02020603050405020304" pitchFamily="18" charset="0"/>
                          <a:ea typeface="+mn-ea"/>
                          <a:cs typeface="Times New Roman" panose="02020603050405020304" pitchFamily="18" charset="0"/>
                        </a:rPr>
                        <a:t>UK,The</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UK Cyber Security Strategy Protecting and promoting the UK in a digital world.P11</a:t>
                      </a:r>
                      <a:endParaRPr lang="zh-CN" altLang="en-US" sz="2460" b="1"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38" marR="91438" marT="45703" marB="45703">
                    <a:solidFill>
                      <a:srgbClr val="CCFFCC"/>
                    </a:solidFill>
                  </a:tcPr>
                </a:tc>
              </a:tr>
            </a:tbl>
          </a:graphicData>
        </a:graphic>
      </p:graphicFrame>
      <p:sp>
        <p:nvSpPr>
          <p:cNvPr id="154634" name="文本框 6"/>
          <p:cNvSpPr txBox="1">
            <a:spLocks noChangeArrowheads="1"/>
          </p:cNvSpPr>
          <p:nvPr/>
        </p:nvSpPr>
        <p:spPr bwMode="auto">
          <a:xfrm>
            <a:off x="601785" y="150446"/>
            <a:ext cx="694983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a:t>
            </a:r>
            <a:r>
              <a:rPr lang="en-US" altLang="zh-CN" sz="3445" b="1">
                <a:solidFill>
                  <a:srgbClr val="0000FF"/>
                </a:solidFill>
                <a:latin typeface="方正小标宋简体" panose="03000509000000000000" pitchFamily="65" charset="-122"/>
                <a:ea typeface="方正小标宋简体" panose="03000509000000000000" pitchFamily="65" charset="-122"/>
              </a:rPr>
              <a:t>4</a:t>
            </a:r>
            <a:r>
              <a:rPr lang="zh-CN" altLang="en-US" sz="3445" b="1">
                <a:solidFill>
                  <a:srgbClr val="0000FF"/>
                </a:solidFill>
                <a:latin typeface="方正小标宋简体" panose="03000509000000000000" pitchFamily="65" charset="-122"/>
                <a:ea typeface="方正小标宋简体" panose="03000509000000000000" pitchFamily="65" charset="-122"/>
              </a:rPr>
              <a:t>要素：</a:t>
            </a:r>
            <a:r>
              <a:rPr lang="en-US" altLang="zh-CN" sz="3445" b="1">
                <a:solidFill>
                  <a:srgbClr val="0000FF"/>
                </a:solidFill>
                <a:latin typeface="方正小标宋简体" panose="03000509000000000000" pitchFamily="65" charset="-122"/>
                <a:ea typeface="方正小标宋简体" panose="03000509000000000000" pitchFamily="65" charset="-122"/>
              </a:rPr>
              <a:t>5</a:t>
            </a:r>
            <a:r>
              <a:rPr lang="zh-CN" altLang="en-US" sz="3445" b="1">
                <a:solidFill>
                  <a:srgbClr val="0000FF"/>
                </a:solidFill>
                <a:latin typeface="方正小标宋简体" panose="03000509000000000000" pitchFamily="65" charset="-122"/>
                <a:ea typeface="方正小标宋简体" panose="03000509000000000000" pitchFamily="65" charset="-122"/>
              </a:rPr>
              <a:t>种定义</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777631" y="1301262"/>
          <a:ext cx="11056620" cy="4968240"/>
        </p:xfrm>
        <a:graphic>
          <a:graphicData uri="http://schemas.openxmlformats.org/drawingml/2006/table">
            <a:tbl>
              <a:tblPr firstRow="1" bandRow="1">
                <a:tableStyleId>{5C22544A-7EE6-4342-B048-85BDC9FD1C3A}</a:tableStyleId>
              </a:tblPr>
              <a:tblGrid>
                <a:gridCol w="1991360"/>
                <a:gridCol w="9065260"/>
              </a:tblGrid>
              <a:tr h="4968240">
                <a:tc>
                  <a:txBody>
                    <a:bodyPr/>
                    <a:lstStyle/>
                    <a:p>
                      <a:pPr>
                        <a:lnSpc>
                          <a:spcPct val="200000"/>
                        </a:lnSpc>
                      </a:pPr>
                      <a:r>
                        <a:rPr lang="zh-CN" altLang="en-US" sz="2460" dirty="0"/>
                        <a:t> </a:t>
                      </a:r>
                      <a:r>
                        <a:rPr lang="zh-CN" altLang="en-US" sz="2460" dirty="0">
                          <a:solidFill>
                            <a:schemeClr val="tx1"/>
                          </a:solidFill>
                        </a:rPr>
                        <a:t>只包含信息与通信技术</a:t>
                      </a:r>
                      <a:r>
                        <a:rPr lang="zh-CN" altLang="en-US" sz="2460" dirty="0">
                          <a:solidFill>
                            <a:srgbClr val="FF0000"/>
                          </a:solidFill>
                        </a:rPr>
                        <a:t>设施</a:t>
                      </a:r>
                      <a:endParaRPr lang="zh-CN" altLang="en-US" sz="2460" dirty="0">
                        <a:solidFill>
                          <a:srgbClr val="FF0000"/>
                        </a:solidFill>
                      </a:endParaRPr>
                    </a:p>
                  </a:txBody>
                  <a:tcPr marL="91432" marR="91432" marT="45698" marB="45698">
                    <a:solidFill>
                      <a:schemeClr val="accent6">
                        <a:lumMod val="40000"/>
                        <a:lumOff val="60000"/>
                      </a:schemeClr>
                    </a:solidFill>
                  </a:tcPr>
                </a:tc>
                <a:tc>
                  <a:txBody>
                    <a:bodyPr/>
                    <a:lstStyle/>
                    <a:p>
                      <a:r>
                        <a:rPr lang="zh-CN" altLang="en-US" sz="2460" dirty="0">
                          <a:solidFill>
                            <a:schemeClr val="accent1">
                              <a:lumMod val="75000"/>
                            </a:schemeClr>
                          </a:solidFill>
                        </a:rPr>
                        <a:t>    </a:t>
                      </a:r>
                      <a:r>
                        <a:rPr lang="zh-CN" altLang="en-US" sz="2460" dirty="0">
                          <a:solidFill>
                            <a:srgbClr val="FF0000"/>
                          </a:solidFill>
                        </a:rPr>
                        <a:t>网络空间</a:t>
                      </a:r>
                      <a:r>
                        <a:rPr lang="zh-CN" altLang="en-US" sz="2460" dirty="0">
                          <a:solidFill>
                            <a:schemeClr val="tx1"/>
                          </a:solidFill>
                        </a:rPr>
                        <a:t>是指相互依赖的信息技术基础设施网络，其中包括互联网、电信网、计算机系统和关键行业的嵌入式处理器和控制器。</a:t>
                      </a:r>
                      <a:endParaRPr lang="en-US" altLang="zh-CN" sz="246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60" baseline="0" dirty="0">
                          <a:solidFill>
                            <a:schemeClr val="tx1"/>
                          </a:solidFill>
                        </a:rPr>
                        <a:t>         --</a:t>
                      </a:r>
                      <a:r>
                        <a:rPr lang="zh-CN" altLang="en-US" sz="2460" baseline="0" dirty="0">
                          <a:solidFill>
                            <a:schemeClr val="tx1"/>
                          </a:solidFill>
                        </a:rPr>
                        <a:t>美国</a:t>
                      </a:r>
                      <a:r>
                        <a:rPr lang="en-US" altLang="zh-CN" sz="2460" baseline="0" dirty="0">
                          <a:solidFill>
                            <a:schemeClr val="tx1"/>
                          </a:solidFill>
                        </a:rPr>
                        <a:t>《</a:t>
                      </a:r>
                      <a:r>
                        <a:rPr lang="zh-CN" altLang="en-US" sz="2460" baseline="0" dirty="0">
                          <a:solidFill>
                            <a:schemeClr val="tx1"/>
                          </a:solidFill>
                        </a:rPr>
                        <a:t>第</a:t>
                      </a:r>
                      <a:r>
                        <a:rPr lang="en-US" altLang="zh-CN" sz="2460" baseline="0" dirty="0">
                          <a:solidFill>
                            <a:schemeClr val="tx1"/>
                          </a:solidFill>
                        </a:rPr>
                        <a:t>54</a:t>
                      </a:r>
                      <a:r>
                        <a:rPr lang="zh-CN" altLang="en-US" sz="2460" baseline="0" dirty="0">
                          <a:solidFill>
                            <a:schemeClr val="tx1"/>
                          </a:solidFill>
                        </a:rPr>
                        <a:t>号国家安全总统令</a:t>
                      </a:r>
                      <a:r>
                        <a:rPr lang="en-US" altLang="zh-CN" sz="2460" baseline="0" dirty="0">
                          <a:solidFill>
                            <a:schemeClr val="tx1"/>
                          </a:solidFill>
                        </a:rPr>
                        <a:t>/</a:t>
                      </a:r>
                      <a:r>
                        <a:rPr lang="zh-CN" altLang="en-US" sz="2460" baseline="0" dirty="0">
                          <a:solidFill>
                            <a:schemeClr val="tx1"/>
                          </a:solidFill>
                        </a:rPr>
                        <a:t>第</a:t>
                      </a:r>
                      <a:r>
                        <a:rPr lang="en-US" altLang="zh-CN" sz="2460" baseline="0" dirty="0">
                          <a:solidFill>
                            <a:schemeClr val="tx1"/>
                          </a:solidFill>
                        </a:rPr>
                        <a:t>23</a:t>
                      </a:r>
                      <a:r>
                        <a:rPr lang="zh-CN" altLang="en-US" sz="2460" baseline="0" dirty="0">
                          <a:solidFill>
                            <a:schemeClr val="tx1"/>
                          </a:solidFill>
                        </a:rPr>
                        <a:t>号国土安全总统令</a:t>
                      </a:r>
                      <a:r>
                        <a:rPr lang="en-US" altLang="zh-CN" sz="2460" baseline="0" dirty="0">
                          <a:solidFill>
                            <a:schemeClr val="tx1"/>
                          </a:solidFill>
                        </a:rPr>
                        <a:t>》P.3</a:t>
                      </a:r>
                      <a:endParaRPr lang="en-US" altLang="zh-CN" sz="2460" baseline="0" dirty="0">
                        <a:solidFill>
                          <a:schemeClr val="tx1"/>
                        </a:solidFill>
                      </a:endParaRPr>
                    </a:p>
                    <a:p>
                      <a:r>
                        <a:rPr lang="en-US" altLang="zh-CN" sz="2460" b="0" i="0" kern="1200" dirty="0">
                          <a:solidFill>
                            <a:schemeClr val="accent1">
                              <a:lumMod val="75000"/>
                            </a:schemeClr>
                          </a:solidFill>
                          <a:effectLst/>
                          <a:latin typeface="+mn-lt"/>
                          <a:ea typeface="+mn-ea"/>
                          <a:cs typeface="+mn-cs"/>
                        </a:rPr>
                        <a:t>    </a:t>
                      </a:r>
                      <a:r>
                        <a:rPr lang="en-US" altLang="zh-CN" sz="2460" b="0" i="0" kern="1200" baseline="0" dirty="0">
                          <a:solidFill>
                            <a:schemeClr val="accent1">
                              <a:lumMod val="75000"/>
                            </a:schemeClr>
                          </a:solidFill>
                          <a:effectLst/>
                          <a:latin typeface="+mn-lt"/>
                          <a:ea typeface="+mn-ea"/>
                          <a:cs typeface="+mn-cs"/>
                        </a:rPr>
                        <a:t> </a:t>
                      </a:r>
                      <a:endParaRPr lang="en-US" altLang="zh-CN" sz="2460" b="0" i="0" kern="1200" baseline="0" dirty="0">
                        <a:solidFill>
                          <a:schemeClr val="accent1">
                            <a:lumMod val="75000"/>
                          </a:schemeClr>
                        </a:solidFill>
                        <a:effectLst/>
                        <a:latin typeface="+mn-lt"/>
                        <a:ea typeface="+mn-ea"/>
                        <a:cs typeface="+mn-cs"/>
                      </a:endParaRPr>
                    </a:p>
                    <a:p>
                      <a:r>
                        <a:rPr lang="en-US" altLang="zh-CN" sz="2460" b="1" i="0" kern="1200" dirty="0">
                          <a:solidFill>
                            <a:srgbClr val="FF0000"/>
                          </a:solidFill>
                          <a:effectLst/>
                          <a:latin typeface="Times New Roman" panose="02020603050405020304" pitchFamily="18" charset="0"/>
                          <a:ea typeface="+mn-ea"/>
                          <a:cs typeface="Times New Roman" panose="02020603050405020304" pitchFamily="18" charset="0"/>
                        </a:rPr>
                        <a:t>Cyberspace</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means the interdependent network of information technology        infrastructures ,   and includes the  Internet,  telecommunications networks, computer systems and embedded processors and controllers in critical industries.</a:t>
                      </a:r>
                      <a:endPar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a:t>
                      </a:r>
                      <a:endPar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2460" b="1" i="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2460" b="1" i="0" kern="1200" dirty="0" err="1">
                          <a:solidFill>
                            <a:schemeClr val="tx1"/>
                          </a:solidFill>
                          <a:effectLst/>
                          <a:latin typeface="Times New Roman" panose="02020603050405020304" pitchFamily="18" charset="0"/>
                          <a:ea typeface="+mn-ea"/>
                          <a:cs typeface="Times New Roman" panose="02020603050405020304" pitchFamily="18" charset="0"/>
                        </a:rPr>
                        <a:t>America,National</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Security Presidential Directive/NSPD-54.P.3</a:t>
                      </a:r>
                      <a:endParaRPr lang="zh-CN" altLang="en-US" sz="2460" b="1"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32" marR="91432" marT="45698" marB="45698">
                    <a:solidFill>
                      <a:srgbClr val="CCFFCC"/>
                    </a:solidFill>
                  </a:tcPr>
                </a:tc>
              </a:tr>
            </a:tbl>
          </a:graphicData>
        </a:graphic>
      </p:graphicFrame>
      <p:sp>
        <p:nvSpPr>
          <p:cNvPr id="155658" name="文本框 6"/>
          <p:cNvSpPr txBox="1">
            <a:spLocks noChangeArrowheads="1"/>
          </p:cNvSpPr>
          <p:nvPr/>
        </p:nvSpPr>
        <p:spPr bwMode="auto">
          <a:xfrm>
            <a:off x="601785" y="150446"/>
            <a:ext cx="694983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a:t>
            </a:r>
            <a:r>
              <a:rPr lang="en-US" altLang="zh-CN" sz="3445" b="1">
                <a:solidFill>
                  <a:srgbClr val="0000FF"/>
                </a:solidFill>
                <a:latin typeface="方正小标宋简体" panose="03000509000000000000" pitchFamily="65" charset="-122"/>
                <a:ea typeface="方正小标宋简体" panose="03000509000000000000" pitchFamily="65" charset="-122"/>
              </a:rPr>
              <a:t>4</a:t>
            </a:r>
            <a:r>
              <a:rPr lang="zh-CN" altLang="en-US" sz="3445" b="1">
                <a:solidFill>
                  <a:srgbClr val="0000FF"/>
                </a:solidFill>
                <a:latin typeface="方正小标宋简体" panose="03000509000000000000" pitchFamily="65" charset="-122"/>
                <a:ea typeface="方正小标宋简体" panose="03000509000000000000" pitchFamily="65" charset="-122"/>
              </a:rPr>
              <a:t>要素：</a:t>
            </a:r>
            <a:r>
              <a:rPr lang="en-US" altLang="zh-CN" sz="3445" b="1">
                <a:solidFill>
                  <a:srgbClr val="0000FF"/>
                </a:solidFill>
                <a:latin typeface="方正小标宋简体" panose="03000509000000000000" pitchFamily="65" charset="-122"/>
                <a:ea typeface="方正小标宋简体" panose="03000509000000000000" pitchFamily="65" charset="-122"/>
              </a:rPr>
              <a:t>5</a:t>
            </a:r>
            <a:r>
              <a:rPr lang="zh-CN" altLang="en-US" sz="3445" b="1">
                <a:solidFill>
                  <a:srgbClr val="0000FF"/>
                </a:solidFill>
                <a:latin typeface="方正小标宋简体" panose="03000509000000000000" pitchFamily="65" charset="-122"/>
                <a:ea typeface="方正小标宋简体" panose="03000509000000000000" pitchFamily="65" charset="-122"/>
              </a:rPr>
              <a:t>种定义</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文本框 6"/>
          <p:cNvSpPr txBox="1">
            <a:spLocks noChangeArrowheads="1"/>
          </p:cNvSpPr>
          <p:nvPr/>
        </p:nvSpPr>
        <p:spPr bwMode="auto">
          <a:xfrm>
            <a:off x="601785" y="150446"/>
            <a:ext cx="694983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sz="3445" b="1">
                <a:solidFill>
                  <a:srgbClr val="0000FF"/>
                </a:solidFill>
                <a:latin typeface="方正小标宋简体" panose="03000509000000000000" pitchFamily="65" charset="-122"/>
                <a:ea typeface="方正小标宋简体" panose="03000509000000000000" pitchFamily="65" charset="-122"/>
              </a:rPr>
              <a:t>网络空间</a:t>
            </a:r>
            <a:r>
              <a:rPr lang="en-US" altLang="zh-CN" sz="3445" b="1">
                <a:solidFill>
                  <a:srgbClr val="0000FF"/>
                </a:solidFill>
                <a:latin typeface="方正小标宋简体" panose="03000509000000000000" pitchFamily="65" charset="-122"/>
                <a:ea typeface="方正小标宋简体" panose="03000509000000000000" pitchFamily="65" charset="-122"/>
              </a:rPr>
              <a:t>4</a:t>
            </a:r>
            <a:r>
              <a:rPr lang="zh-CN" altLang="en-US" sz="3445" b="1">
                <a:solidFill>
                  <a:srgbClr val="0000FF"/>
                </a:solidFill>
                <a:latin typeface="方正小标宋简体" panose="03000509000000000000" pitchFamily="65" charset="-122"/>
                <a:ea typeface="方正小标宋简体" panose="03000509000000000000" pitchFamily="65" charset="-122"/>
              </a:rPr>
              <a:t>要素：</a:t>
            </a:r>
            <a:r>
              <a:rPr lang="en-US" altLang="zh-CN" sz="3445" b="1">
                <a:solidFill>
                  <a:srgbClr val="0000FF"/>
                </a:solidFill>
                <a:latin typeface="方正小标宋简体" panose="03000509000000000000" pitchFamily="65" charset="-122"/>
                <a:ea typeface="方正小标宋简体" panose="03000509000000000000" pitchFamily="65" charset="-122"/>
              </a:rPr>
              <a:t>5</a:t>
            </a:r>
            <a:r>
              <a:rPr lang="zh-CN" altLang="en-US" sz="3445" b="1">
                <a:solidFill>
                  <a:srgbClr val="0000FF"/>
                </a:solidFill>
                <a:latin typeface="方正小标宋简体" panose="03000509000000000000" pitchFamily="65" charset="-122"/>
                <a:ea typeface="方正小标宋简体" panose="03000509000000000000" pitchFamily="65" charset="-122"/>
              </a:rPr>
              <a:t>种定义</a:t>
            </a:r>
            <a:endParaRPr lang="zh-CN" altLang="en-US" sz="3445" b="1">
              <a:solidFill>
                <a:srgbClr val="0000FF"/>
              </a:solidFill>
              <a:latin typeface="方正小标宋简体" panose="03000509000000000000" pitchFamily="65" charset="-122"/>
              <a:ea typeface="方正小标宋简体" panose="03000509000000000000" pitchFamily="65" charset="-122"/>
            </a:endParaRPr>
          </a:p>
        </p:txBody>
      </p:sp>
      <p:graphicFrame>
        <p:nvGraphicFramePr>
          <p:cNvPr id="3" name="表格 2"/>
          <p:cNvGraphicFramePr>
            <a:graphicFrameLocks noGrp="1"/>
          </p:cNvGraphicFramePr>
          <p:nvPr/>
        </p:nvGraphicFramePr>
        <p:xfrm>
          <a:off x="689708" y="1391139"/>
          <a:ext cx="11165840" cy="4592955"/>
        </p:xfrm>
        <a:graphic>
          <a:graphicData uri="http://schemas.openxmlformats.org/drawingml/2006/table">
            <a:tbl>
              <a:tblPr firstRow="1" bandRow="1">
                <a:tableStyleId>{5C22544A-7EE6-4342-B048-85BDC9FD1C3A}</a:tableStyleId>
              </a:tblPr>
              <a:tblGrid>
                <a:gridCol w="2011045"/>
                <a:gridCol w="9154795"/>
              </a:tblGrid>
              <a:tr h="4592955">
                <a:tc>
                  <a:txBody>
                    <a:bodyPr/>
                    <a:lstStyle/>
                    <a:p>
                      <a:pPr marL="0" marR="0" lvl="0" indent="0" algn="l" defTabSz="914400" rtl="0" eaLnBrk="1" fontAlgn="auto" latinLnBrk="0" hangingPunct="1">
                        <a:lnSpc>
                          <a:spcPct val="200000"/>
                        </a:lnSpc>
                        <a:spcBef>
                          <a:spcPts val="0"/>
                        </a:spcBef>
                        <a:spcAft>
                          <a:spcPts val="0"/>
                        </a:spcAft>
                        <a:buClrTx/>
                        <a:buSzTx/>
                        <a:buFontTx/>
                        <a:buNone/>
                        <a:defRPr/>
                      </a:pPr>
                      <a:r>
                        <a:rPr lang="zh-CN" altLang="en-US" sz="2460" dirty="0">
                          <a:solidFill>
                            <a:schemeClr val="tx1"/>
                          </a:solidFill>
                        </a:rPr>
                        <a:t>只包含技术</a:t>
                      </a:r>
                      <a:r>
                        <a:rPr lang="zh-CN" altLang="en-US" sz="2460" dirty="0">
                          <a:solidFill>
                            <a:srgbClr val="FF0000"/>
                          </a:solidFill>
                        </a:rPr>
                        <a:t>设施</a:t>
                      </a:r>
                      <a:r>
                        <a:rPr lang="zh-CN" altLang="en-US" sz="2460" dirty="0">
                          <a:solidFill>
                            <a:schemeClr val="tx1"/>
                          </a:solidFill>
                        </a:rPr>
                        <a:t>及其所承载的</a:t>
                      </a:r>
                      <a:r>
                        <a:rPr lang="zh-CN" altLang="en-US" sz="2460" dirty="0">
                          <a:solidFill>
                            <a:srgbClr val="FF0000"/>
                          </a:solidFill>
                        </a:rPr>
                        <a:t>数据</a:t>
                      </a:r>
                      <a:endParaRPr lang="zh-CN" altLang="en-US" sz="2460" dirty="0">
                        <a:solidFill>
                          <a:srgbClr val="FF0000"/>
                        </a:solidFill>
                      </a:endParaRPr>
                    </a:p>
                  </a:txBody>
                  <a:tcPr marL="91427" marR="91427">
                    <a:solidFill>
                      <a:schemeClr val="accent6">
                        <a:lumMod val="40000"/>
                        <a:lumOff val="60000"/>
                      </a:schemeClr>
                    </a:solidFill>
                  </a:tcPr>
                </a:tc>
                <a:tc>
                  <a:txBody>
                    <a:bodyPr/>
                    <a:lstStyle/>
                    <a:p>
                      <a:r>
                        <a:rPr lang="zh-CN" altLang="en-US" sz="2460" dirty="0">
                          <a:solidFill>
                            <a:schemeClr val="accent1">
                              <a:lumMod val="75000"/>
                            </a:schemeClr>
                          </a:solidFill>
                        </a:rPr>
                        <a:t>    </a:t>
                      </a:r>
                      <a:r>
                        <a:rPr lang="zh-CN" altLang="en-US" sz="2460" dirty="0">
                          <a:solidFill>
                            <a:srgbClr val="FF0000"/>
                          </a:solidFill>
                        </a:rPr>
                        <a:t>网络空间</a:t>
                      </a:r>
                      <a:r>
                        <a:rPr lang="zh-CN" altLang="en-US" sz="2460" dirty="0">
                          <a:solidFill>
                            <a:schemeClr val="tx1"/>
                          </a:solidFill>
                        </a:rPr>
                        <a:t>是一个主要由</a:t>
                      </a:r>
                      <a:r>
                        <a:rPr lang="zh-CN" altLang="en-US" sz="2460" dirty="0">
                          <a:solidFill>
                            <a:srgbClr val="FF0000"/>
                          </a:solidFill>
                        </a:rPr>
                        <a:t>信息通信技术节点和网络</a:t>
                      </a:r>
                      <a:r>
                        <a:rPr lang="zh-CN" altLang="en-US" sz="2460" dirty="0">
                          <a:solidFill>
                            <a:schemeClr val="tx1"/>
                          </a:solidFill>
                        </a:rPr>
                        <a:t>所组成的人造域，其主导并处理日益增加的</a:t>
                      </a:r>
                      <a:r>
                        <a:rPr lang="zh-CN" altLang="en-US" sz="2460" dirty="0">
                          <a:solidFill>
                            <a:srgbClr val="FF0000"/>
                          </a:solidFill>
                        </a:rPr>
                        <a:t>数据财富</a:t>
                      </a:r>
                      <a:r>
                        <a:rPr lang="zh-CN" altLang="en-US" sz="2460" dirty="0">
                          <a:solidFill>
                            <a:schemeClr val="accent1">
                              <a:lumMod val="75000"/>
                            </a:schemeClr>
                          </a:solidFill>
                        </a:rPr>
                        <a:t>，</a:t>
                      </a:r>
                      <a:r>
                        <a:rPr lang="zh-CN" altLang="en-US" sz="2460" dirty="0">
                          <a:solidFill>
                            <a:schemeClr val="tx1"/>
                          </a:solidFill>
                        </a:rPr>
                        <a:t>这些数据对国家、企业和公民，以及对所有的政治、社会和经济决策者具有战略重要性</a:t>
                      </a:r>
                      <a:r>
                        <a:rPr lang="zh-CN" altLang="en-US" sz="2460" dirty="0">
                          <a:solidFill>
                            <a:schemeClr val="accent1">
                              <a:lumMod val="75000"/>
                            </a:schemeClr>
                          </a:solidFill>
                        </a:rPr>
                        <a:t>。                                         </a:t>
                      </a:r>
                      <a:r>
                        <a:rPr lang="zh-CN" altLang="en-US" sz="2460" baseline="0" dirty="0">
                          <a:solidFill>
                            <a:schemeClr val="accent1">
                              <a:lumMod val="75000"/>
                            </a:schemeClr>
                          </a:solidFill>
                        </a:rPr>
                        <a:t> </a:t>
                      </a:r>
                      <a:r>
                        <a:rPr lang="zh-CN" altLang="en-US" sz="2460" dirty="0">
                          <a:solidFill>
                            <a:schemeClr val="accent1">
                              <a:lumMod val="75000"/>
                            </a:schemeClr>
                          </a:solidFill>
                        </a:rPr>
                        <a:t> </a:t>
                      </a:r>
                      <a:endParaRPr lang="en-US" altLang="zh-CN" sz="2460" dirty="0">
                        <a:solidFill>
                          <a:schemeClr val="accent1">
                            <a:lumMod val="75000"/>
                          </a:schemeClr>
                        </a:solidFill>
                      </a:endParaRPr>
                    </a:p>
                    <a:p>
                      <a:r>
                        <a:rPr lang="en-US" altLang="zh-CN" sz="2460" baseline="0" dirty="0">
                          <a:solidFill>
                            <a:schemeClr val="accent1">
                              <a:lumMod val="75000"/>
                            </a:schemeClr>
                          </a:solidFill>
                        </a:rPr>
                        <a:t>          </a:t>
                      </a:r>
                      <a:r>
                        <a:rPr lang="en-US" altLang="zh-CN" sz="2460" dirty="0">
                          <a:solidFill>
                            <a:schemeClr val="tx1"/>
                          </a:solidFill>
                        </a:rPr>
                        <a:t>---</a:t>
                      </a:r>
                      <a:r>
                        <a:rPr lang="zh-CN" altLang="en-US" sz="2460" dirty="0">
                          <a:solidFill>
                            <a:schemeClr val="tx1"/>
                          </a:solidFill>
                        </a:rPr>
                        <a:t>意大利的</a:t>
                      </a:r>
                      <a:r>
                        <a:rPr lang="en-US" altLang="zh-CN" sz="2460" dirty="0">
                          <a:solidFill>
                            <a:schemeClr val="tx1"/>
                          </a:solidFill>
                        </a:rPr>
                        <a:t>《2013</a:t>
                      </a:r>
                      <a:r>
                        <a:rPr lang="zh-CN" altLang="en-US" sz="2460" dirty="0">
                          <a:solidFill>
                            <a:schemeClr val="tx1"/>
                          </a:solidFill>
                        </a:rPr>
                        <a:t>国家网络空间安全战略框架</a:t>
                      </a:r>
                      <a:r>
                        <a:rPr lang="en-US" altLang="zh-CN" sz="2460" dirty="0">
                          <a:solidFill>
                            <a:schemeClr val="tx1"/>
                          </a:solidFill>
                        </a:rPr>
                        <a:t>》P.9</a:t>
                      </a:r>
                      <a:endParaRPr lang="en-US" altLang="zh-CN" sz="2460" dirty="0">
                        <a:solidFill>
                          <a:schemeClr val="tx1"/>
                        </a:solidFill>
                      </a:endParaRPr>
                    </a:p>
                    <a:p>
                      <a:r>
                        <a:rPr lang="en-US" altLang="zh-CN" sz="2460" b="0" i="0" kern="1200" dirty="0">
                          <a:solidFill>
                            <a:schemeClr val="accent1">
                              <a:lumMod val="75000"/>
                            </a:schemeClr>
                          </a:solidFill>
                          <a:effectLst/>
                          <a:latin typeface="+mn-lt"/>
                          <a:ea typeface="+mn-ea"/>
                          <a:cs typeface="+mn-cs"/>
                        </a:rPr>
                        <a:t>     </a:t>
                      </a:r>
                      <a:endParaRPr lang="en-US" altLang="zh-CN" sz="2460" b="0" i="0" kern="1200" dirty="0">
                        <a:solidFill>
                          <a:schemeClr val="accent1">
                            <a:lumMod val="75000"/>
                          </a:schemeClr>
                        </a:solidFill>
                        <a:effectLst/>
                        <a:latin typeface="+mn-lt"/>
                        <a:ea typeface="+mn-ea"/>
                        <a:cs typeface="+mn-cs"/>
                      </a:endParaRPr>
                    </a:p>
                    <a:p>
                      <a:r>
                        <a:rPr lang="en-US" altLang="zh-CN" sz="2460" b="1" i="0" kern="1200" dirty="0">
                          <a:solidFill>
                            <a:srgbClr val="FF0000"/>
                          </a:solidFill>
                          <a:effectLst/>
                          <a:latin typeface="Times New Roman" panose="02020603050405020304" pitchFamily="18" charset="0"/>
                          <a:ea typeface="+mn-ea"/>
                          <a:cs typeface="Times New Roman" panose="02020603050405020304" pitchFamily="18" charset="0"/>
                        </a:rPr>
                        <a:t>Cyberspace</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is a man-made domain composed of ICT nodes and networks, hosting and processing an ever-increasing wealth of data strategically important for </a:t>
                      </a:r>
                      <a:r>
                        <a:rPr lang="en-US" altLang="zh-CN" sz="2460" b="1" i="0" kern="1200" dirty="0" err="1">
                          <a:solidFill>
                            <a:schemeClr val="tx1"/>
                          </a:solidFill>
                          <a:effectLst/>
                          <a:latin typeface="Times New Roman" panose="02020603050405020304" pitchFamily="18" charset="0"/>
                          <a:ea typeface="+mn-ea"/>
                          <a:cs typeface="Times New Roman" panose="02020603050405020304" pitchFamily="18" charset="0"/>
                        </a:rPr>
                        <a:t>States,firms,and</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citizens alike, and for all </a:t>
                      </a:r>
                      <a:r>
                        <a:rPr lang="en-US" altLang="zh-CN" sz="2460" b="1" i="0" kern="1200" dirty="0" err="1">
                          <a:solidFill>
                            <a:schemeClr val="tx1"/>
                          </a:solidFill>
                          <a:effectLst/>
                          <a:latin typeface="Times New Roman" panose="02020603050405020304" pitchFamily="18" charset="0"/>
                          <a:ea typeface="+mn-ea"/>
                          <a:cs typeface="Times New Roman" panose="02020603050405020304" pitchFamily="18" charset="0"/>
                        </a:rPr>
                        <a:t>political,social</a:t>
                      </a:r>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and economic decision- makers. </a:t>
                      </a:r>
                      <a:endPar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altLang="zh-CN" sz="2460" b="1" i="0" kern="1200" dirty="0">
                          <a:solidFill>
                            <a:schemeClr val="tx1"/>
                          </a:solidFill>
                          <a:effectLst/>
                          <a:latin typeface="Times New Roman" panose="02020603050405020304" pitchFamily="18" charset="0"/>
                          <a:ea typeface="+mn-ea"/>
                          <a:cs typeface="Times New Roman" panose="02020603050405020304" pitchFamily="18" charset="0"/>
                        </a:rPr>
                        <a:t>                --Italy,2013 National Strategic Framework for cyberspace security P.9</a:t>
                      </a:r>
                      <a:endParaRPr lang="zh-CN" altLang="en-US" sz="2460" b="1"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27" marR="91427">
                    <a:solidFill>
                      <a:srgbClr val="CCFFCC"/>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4"/>
          <p:cNvSpPr>
            <a:spLocks noGrp="1" noChangeArrowheads="1"/>
          </p:cNvSpPr>
          <p:nvPr>
            <p:ph type="title"/>
          </p:nvPr>
        </p:nvSpPr>
        <p:spPr bwMode="auto">
          <a:xfrm>
            <a:off x="508000" y="146538"/>
            <a:ext cx="9519138" cy="713154"/>
          </a:xfrm>
        </p:spPr>
        <p:txBody>
          <a:bodyPr lIns="112541" tIns="56270" rIns="112541" bIns="56270"/>
          <a:lstStyle/>
          <a:p>
            <a:pPr eaLnBrk="1" hangingPunct="1">
              <a:defRPr/>
            </a:pPr>
            <a:r>
              <a:rPr lang="zh-CN" altLang="zh-CN" dirty="0">
                <a:solidFill>
                  <a:srgbClr val="FF0000"/>
                </a:solidFill>
                <a:latin typeface="+mn-ea"/>
                <a:ea typeface="+mn-ea"/>
              </a:rPr>
              <a:t>网络空间安全</a:t>
            </a:r>
            <a:endParaRPr lang="zh-CN" altLang="en-US" b="0" dirty="0">
              <a:solidFill>
                <a:srgbClr val="FF0000"/>
              </a:solidFill>
              <a:latin typeface="+mn-ea"/>
              <a:ea typeface="+mn-ea"/>
            </a:endParaRPr>
          </a:p>
        </p:txBody>
      </p:sp>
      <p:grpSp>
        <p:nvGrpSpPr>
          <p:cNvPr id="4" name="组合 3"/>
          <p:cNvGrpSpPr/>
          <p:nvPr/>
        </p:nvGrpSpPr>
        <p:grpSpPr bwMode="auto">
          <a:xfrm>
            <a:off x="1045308" y="1150815"/>
            <a:ext cx="7797799" cy="2709154"/>
            <a:chOff x="849313" y="1577975"/>
            <a:chExt cx="6335712" cy="2201188"/>
          </a:xfrm>
        </p:grpSpPr>
        <p:sp>
          <p:nvSpPr>
            <p:cNvPr id="157701" name="矩形 62"/>
            <p:cNvSpPr>
              <a:spLocks noChangeArrowheads="1"/>
            </p:cNvSpPr>
            <p:nvPr/>
          </p:nvSpPr>
          <p:spPr bwMode="auto">
            <a:xfrm>
              <a:off x="1712913" y="2039938"/>
              <a:ext cx="5472112" cy="173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ct val="150000"/>
                </a:lnSpc>
                <a:spcBef>
                  <a:spcPct val="0"/>
                </a:spcBef>
                <a:buClrTx/>
                <a:buFontTx/>
                <a:buNone/>
              </a:pP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信息安全（</a:t>
              </a:r>
              <a:r>
                <a:rPr lang="en-US"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Information Security</a:t>
              </a: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endParaRPr>
            </a:p>
            <a:p>
              <a:pPr>
                <a:lnSpc>
                  <a:spcPct val="150000"/>
                </a:lnSpc>
                <a:spcBef>
                  <a:spcPct val="0"/>
                </a:spcBef>
                <a:buClrTx/>
                <a:buFontTx/>
                <a:buNone/>
              </a:pP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应用安全（</a:t>
              </a:r>
              <a:r>
                <a:rPr lang="en-US"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Application Security</a:t>
              </a: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endParaRPr>
            </a:p>
            <a:p>
              <a:pPr>
                <a:lnSpc>
                  <a:spcPct val="150000"/>
                </a:lnSpc>
                <a:spcBef>
                  <a:spcPct val="0"/>
                </a:spcBef>
                <a:buClrTx/>
                <a:buFontTx/>
                <a:buNone/>
              </a:pP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网络安全（</a:t>
              </a:r>
              <a:r>
                <a:rPr lang="en-US"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Network Security</a:t>
              </a: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endParaRPr>
            </a:p>
            <a:p>
              <a:pPr>
                <a:lnSpc>
                  <a:spcPct val="150000"/>
                </a:lnSpc>
                <a:spcBef>
                  <a:spcPct val="0"/>
                </a:spcBef>
                <a:buClrTx/>
                <a:buFontTx/>
                <a:buNone/>
              </a:pP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因特网安全（</a:t>
              </a:r>
              <a:r>
                <a:rPr lang="en-US"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Internet Security</a:t>
              </a:r>
              <a:r>
                <a:rPr lang="zh-CN" altLang="zh-CN" sz="2215" b="1">
                  <a:solidFill>
                    <a:srgbClr val="262626"/>
                  </a:solidFill>
                  <a:latin typeface="Times New Roman" panose="02020603050405020304" pitchFamily="18" charset="0"/>
                  <a:ea typeface="微软雅黑" panose="020B0503020204020204" charset="-122"/>
                  <a:cs typeface="Times New Roman" panose="02020603050405020304" pitchFamily="18" charset="0"/>
                </a:rPr>
                <a:t>）</a:t>
              </a:r>
              <a:endParaRPr lang="zh-CN" altLang="en-US" sz="2215" b="1">
                <a:latin typeface="Times New Roman" panose="02020603050405020304" pitchFamily="18" charset="0"/>
                <a:ea typeface="微软雅黑" panose="020B0503020204020204" charset="-122"/>
                <a:cs typeface="Times New Roman" panose="02020603050405020304" pitchFamily="18" charset="0"/>
              </a:endParaRPr>
            </a:p>
          </p:txBody>
        </p:sp>
        <p:sp>
          <p:nvSpPr>
            <p:cNvPr id="2" name="矩形 1"/>
            <p:cNvSpPr/>
            <p:nvPr/>
          </p:nvSpPr>
          <p:spPr>
            <a:xfrm>
              <a:off x="849313" y="1577975"/>
              <a:ext cx="2637472" cy="443706"/>
            </a:xfrm>
            <a:prstGeom prst="rect">
              <a:avLst/>
            </a:prstGeom>
          </p:spPr>
          <p:txBody>
            <a:bodyPr wrap="none">
              <a:spAutoFit/>
            </a:bodyPr>
            <a:lstStyle/>
            <a:p>
              <a:pPr>
                <a:defRPr/>
              </a:pPr>
              <a:r>
                <a:rPr lang="zh-CN" altLang="en-US" sz="2955" b="1" spc="40" dirty="0">
                  <a:solidFill>
                    <a:srgbClr val="0000FF"/>
                  </a:solidFill>
                  <a:latin typeface="+mn-ea"/>
                  <a:ea typeface="+mn-ea"/>
                  <a:cs typeface="Times New Roman" panose="02020603050405020304" pitchFamily="18" charset="0"/>
                </a:rPr>
                <a:t>四大</a:t>
              </a:r>
              <a:r>
                <a:rPr lang="zh-CN" altLang="zh-CN" sz="2955" b="1" spc="40" dirty="0">
                  <a:solidFill>
                    <a:srgbClr val="0000FF"/>
                  </a:solidFill>
                  <a:latin typeface="+mn-ea"/>
                  <a:ea typeface="+mn-ea"/>
                  <a:cs typeface="Times New Roman" panose="02020603050405020304" pitchFamily="18" charset="0"/>
                </a:rPr>
                <a:t>基础构建模块</a:t>
              </a:r>
              <a:endParaRPr lang="zh-CN" altLang="en-US" sz="2955" b="1" dirty="0">
                <a:solidFill>
                  <a:srgbClr val="0000FF"/>
                </a:solidFill>
                <a:latin typeface="+mn-ea"/>
                <a:ea typeface="+mn-ea"/>
              </a:endParaRPr>
            </a:p>
          </p:txBody>
        </p:sp>
      </p:grpSp>
      <p:sp>
        <p:nvSpPr>
          <p:cNvPr id="3" name="矩形 2"/>
          <p:cNvSpPr/>
          <p:nvPr/>
        </p:nvSpPr>
        <p:spPr>
          <a:xfrm>
            <a:off x="689708" y="4425462"/>
            <a:ext cx="11078308" cy="432435"/>
          </a:xfrm>
          <a:prstGeom prst="rect">
            <a:avLst/>
          </a:prstGeom>
          <a:solidFill>
            <a:schemeClr val="bg1"/>
          </a:solidFill>
          <a:ln>
            <a:solidFill>
              <a:schemeClr val="tx1"/>
            </a:solidFill>
          </a:ln>
          <a:effectLst>
            <a:outerShdw blurRad="50800" dist="38100" dir="5400000" algn="t" rotWithShape="0">
              <a:prstClr val="black">
                <a:alpha val="40000"/>
              </a:prstClr>
            </a:outerShdw>
          </a:effectLst>
        </p:spPr>
        <p:txBody>
          <a:bodyPr>
            <a:spAutoFit/>
          </a:bodyPr>
          <a:lstStyle/>
          <a:p>
            <a:pPr>
              <a:lnSpc>
                <a:spcPct val="150000"/>
              </a:lnSpc>
              <a:defRPr/>
            </a:pPr>
            <a:r>
              <a:rPr lang="zh-CN" altLang="zh-CN" sz="100" b="1" spc="40" dirty="0">
                <a:solidFill>
                  <a:srgbClr val="0000FF"/>
                </a:solidFill>
                <a:ea typeface="微软雅黑" panose="020B0503020204020204" charset="-122"/>
                <a:cs typeface="Times New Roman" panose="02020603050405020304" pitchFamily="18" charset="0"/>
              </a:rPr>
              <a:t>网络空间安全是关键信息基础设施保护（</a:t>
            </a:r>
            <a:r>
              <a:rPr lang="en-US" altLang="zh-CN" sz="1475" b="1" spc="40" dirty="0">
                <a:solidFill>
                  <a:srgbClr val="0000FF"/>
                </a:solidFill>
                <a:latin typeface="微软雅黑" panose="020B0503020204020204" charset="-122"/>
                <a:ea typeface="微软雅黑" panose="020B0503020204020204" charset="-122"/>
                <a:cs typeface="Times New Roman" panose="02020603050405020304" pitchFamily="18" charset="0"/>
              </a:rPr>
              <a:t>Critical Information Infrastructure Protection</a:t>
            </a:r>
            <a:r>
              <a:rPr lang="en-US" altLang="zh-CN" sz="100" b="1" spc="40" dirty="0">
                <a:solidFill>
                  <a:srgbClr val="0000FF"/>
                </a:solidFill>
                <a:latin typeface="微软雅黑" panose="020B0503020204020204" charset="-122"/>
                <a:cs typeface="Times New Roman" panose="02020603050405020304" pitchFamily="18" charset="0"/>
              </a:rPr>
              <a:t>, CIIP</a:t>
            </a:r>
            <a:r>
              <a:rPr lang="zh-CN" altLang="zh-CN" sz="100" b="1" spc="40" dirty="0">
                <a:solidFill>
                  <a:srgbClr val="0000FF"/>
                </a:solidFill>
                <a:ea typeface="微软雅黑" panose="020B0503020204020204" charset="-122"/>
                <a:cs typeface="Times New Roman" panose="02020603050405020304" pitchFamily="18" charset="0"/>
              </a:rPr>
              <a:t>）的必要组成部分，同时，对关键基础设施服务的充分保护也有助于满足基础安全需求（即关键基础设施的安全性、可靠性和可用性），进一步实现网络空间安全的目标。</a:t>
            </a:r>
            <a:endParaRPr lang="zh-CN" altLang="en-US" sz="100" b="1" dirty="0">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Effect transition="in" filter="fade">
                                      <p:cBhvr>
                                        <p:cTn id="1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437243" y="858868"/>
            <a:ext cx="5139596" cy="4330402"/>
            <a:chOff x="2576736" y="1052736"/>
            <a:chExt cx="4175922" cy="3528392"/>
          </a:xfrm>
          <a:effectLst>
            <a:outerShdw blurRad="50800" dist="38100" dir="18900000" algn="bl" rotWithShape="0">
              <a:prstClr val="black">
                <a:alpha val="40000"/>
              </a:prstClr>
            </a:outerShdw>
          </a:effectLst>
        </p:grpSpPr>
        <p:sp>
          <p:nvSpPr>
            <p:cNvPr id="5" name="圆角矩形 4"/>
            <p:cNvSpPr/>
            <p:nvPr/>
          </p:nvSpPr>
          <p:spPr>
            <a:xfrm>
              <a:off x="2576736" y="1052736"/>
              <a:ext cx="4175922" cy="3528392"/>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6" name="文本框 5"/>
            <p:cNvSpPr txBox="1"/>
            <p:nvPr/>
          </p:nvSpPr>
          <p:spPr>
            <a:xfrm>
              <a:off x="2936776" y="1278621"/>
              <a:ext cx="3456384" cy="86922"/>
            </a:xfrm>
            <a:prstGeom prst="rect">
              <a:avLst/>
            </a:prstGeom>
            <a:noFill/>
          </p:spPr>
          <p:txBody>
            <a:bodyPr>
              <a:spAutoFit/>
            </a:bodyPr>
            <a:lstStyle/>
            <a:p>
              <a:pPr>
                <a:defRPr/>
              </a:pPr>
              <a:r>
                <a:rPr lang="zh-CN" altLang="en-US" sz="100" b="1" dirty="0">
                  <a:latin typeface="Times New Roman" panose="02020603050405020304" pitchFamily="18" charset="0"/>
                  <a:cs typeface="Times New Roman" panose="02020603050405020304" pitchFamily="18" charset="0"/>
                </a:rPr>
                <a:t>信息安全 </a:t>
              </a:r>
              <a:r>
                <a:rPr lang="en-US" altLang="zh-CN" sz="100" b="1" dirty="0">
                  <a:latin typeface="Times New Roman" panose="02020603050405020304" pitchFamily="18" charset="0"/>
                  <a:cs typeface="Times New Roman" panose="02020603050405020304" pitchFamily="18" charset="0"/>
                </a:rPr>
                <a:t>Information Security</a:t>
              </a:r>
              <a:endParaRPr lang="zh-CN" altLang="en-US" sz="100" b="1" dirty="0">
                <a:latin typeface="Times New Roman" panose="02020603050405020304" pitchFamily="18" charset="0"/>
                <a:cs typeface="Times New Roman" panose="02020603050405020304" pitchFamily="18" charset="0"/>
              </a:endParaRPr>
            </a:p>
          </p:txBody>
        </p:sp>
      </p:grpSp>
      <p:grpSp>
        <p:nvGrpSpPr>
          <p:cNvPr id="7" name="组合 6"/>
          <p:cNvGrpSpPr/>
          <p:nvPr/>
        </p:nvGrpSpPr>
        <p:grpSpPr>
          <a:xfrm>
            <a:off x="3564726" y="1990564"/>
            <a:ext cx="2392881" cy="1369649"/>
            <a:chOff x="2699650" y="3586843"/>
            <a:chExt cx="1944216" cy="1224136"/>
          </a:xfrm>
          <a:solidFill>
            <a:srgbClr val="CCFF33"/>
          </a:solidFill>
          <a:effectLst>
            <a:outerShdw blurRad="50800" dist="38100" dir="18900000" algn="bl" rotWithShape="0">
              <a:prstClr val="black">
                <a:alpha val="40000"/>
              </a:prstClr>
            </a:outerShdw>
          </a:effectLst>
        </p:grpSpPr>
        <p:sp>
          <p:nvSpPr>
            <p:cNvPr id="8" name="圆角矩形 7"/>
            <p:cNvSpPr/>
            <p:nvPr/>
          </p:nvSpPr>
          <p:spPr>
            <a:xfrm>
              <a:off x="2699650" y="3586843"/>
              <a:ext cx="1944216" cy="1224136"/>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9" name="文本框 8"/>
            <p:cNvSpPr txBox="1"/>
            <p:nvPr/>
          </p:nvSpPr>
          <p:spPr>
            <a:xfrm>
              <a:off x="2710558" y="3818363"/>
              <a:ext cx="1909911" cy="108967"/>
            </a:xfrm>
            <a:prstGeom prst="rect">
              <a:avLst/>
            </a:prstGeom>
            <a:grpFill/>
          </p:spPr>
          <p:txBody>
            <a:bodyPr>
              <a:spAutoFit/>
            </a:bodyPr>
            <a:lstStyle/>
            <a:p>
              <a:pPr algn="ctr">
                <a:defRPr/>
              </a:pPr>
              <a:r>
                <a:rPr lang="zh-CN" altLang="en-US" sz="100" b="1" dirty="0">
                  <a:latin typeface="Times New Roman" panose="02020603050405020304" pitchFamily="18" charset="0"/>
                  <a:cs typeface="Times New Roman" panose="02020603050405020304" pitchFamily="18" charset="0"/>
                </a:rPr>
                <a:t>网络安全 </a:t>
              </a:r>
              <a:endParaRPr lang="en-US" altLang="zh-CN" sz="100" b="1" dirty="0">
                <a:latin typeface="Times New Roman" panose="02020603050405020304" pitchFamily="18" charset="0"/>
                <a:cs typeface="Times New Roman" panose="02020603050405020304" pitchFamily="18" charset="0"/>
              </a:endParaRPr>
            </a:p>
            <a:p>
              <a:pPr>
                <a:defRPr/>
              </a:pPr>
              <a:r>
                <a:rPr lang="en-US" altLang="zh-CN" sz="100" b="1" dirty="0">
                  <a:latin typeface="Times New Roman" panose="02020603050405020304" pitchFamily="18" charset="0"/>
                  <a:cs typeface="Times New Roman" panose="02020603050405020304" pitchFamily="18" charset="0"/>
                </a:rPr>
                <a:t>Network Security</a:t>
              </a:r>
              <a:endParaRPr lang="zh-CN" altLang="en-US" sz="100" b="1" dirty="0">
                <a:latin typeface="Times New Roman" panose="02020603050405020304" pitchFamily="18" charset="0"/>
                <a:cs typeface="Times New Roman" panose="02020603050405020304" pitchFamily="18" charset="0"/>
              </a:endParaRPr>
            </a:p>
          </p:txBody>
        </p:sp>
      </p:grpSp>
      <p:grpSp>
        <p:nvGrpSpPr>
          <p:cNvPr id="10" name="组合 9"/>
          <p:cNvGrpSpPr/>
          <p:nvPr/>
        </p:nvGrpSpPr>
        <p:grpSpPr bwMode="auto">
          <a:xfrm>
            <a:off x="6041292" y="1990969"/>
            <a:ext cx="2493108" cy="1387231"/>
            <a:chOff x="4726240" y="3640199"/>
            <a:chExt cx="2026418" cy="1224136"/>
          </a:xfrm>
        </p:grpSpPr>
        <p:sp>
          <p:nvSpPr>
            <p:cNvPr id="11" name="圆角矩形 10"/>
            <p:cNvSpPr/>
            <p:nvPr/>
          </p:nvSpPr>
          <p:spPr>
            <a:xfrm>
              <a:off x="4751650" y="3640199"/>
              <a:ext cx="1943837" cy="1224136"/>
            </a:xfrm>
            <a:prstGeom prst="roundRect">
              <a:avLst/>
            </a:prstGeom>
            <a:solidFill>
              <a:srgbClr val="CCFF33"/>
            </a:solidFill>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158731" name="文本框 11"/>
            <p:cNvSpPr txBox="1">
              <a:spLocks noChangeArrowheads="1"/>
            </p:cNvSpPr>
            <p:nvPr/>
          </p:nvSpPr>
          <p:spPr bwMode="auto">
            <a:xfrm>
              <a:off x="4726240" y="3813716"/>
              <a:ext cx="2026418" cy="682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2215" b="1">
                  <a:latin typeface="Times New Roman" panose="02020603050405020304" pitchFamily="18" charset="0"/>
                  <a:ea typeface="宋体" panose="02010600030101010101" pitchFamily="2" charset="-122"/>
                  <a:cs typeface="Times New Roman" panose="02020603050405020304" pitchFamily="18" charset="0"/>
                </a:rPr>
                <a:t>互联网安全 </a:t>
              </a:r>
              <a:endParaRPr lang="en-US" altLang="zh-CN" sz="2215" b="1">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r>
                <a:rPr lang="en-US" altLang="zh-CN" sz="2215" b="1">
                  <a:latin typeface="Times New Roman" panose="02020603050405020304" pitchFamily="18" charset="0"/>
                  <a:ea typeface="宋体" panose="02010600030101010101" pitchFamily="2" charset="-122"/>
                  <a:cs typeface="Times New Roman" panose="02020603050405020304" pitchFamily="18" charset="0"/>
                </a:rPr>
                <a:t>Internet Security</a:t>
              </a:r>
              <a:endParaRPr lang="zh-CN" altLang="en-US" sz="2215" b="1">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9" name="组合 18"/>
          <p:cNvGrpSpPr/>
          <p:nvPr/>
        </p:nvGrpSpPr>
        <p:grpSpPr>
          <a:xfrm>
            <a:off x="2019239" y="4314023"/>
            <a:ext cx="7621770" cy="2039610"/>
            <a:chOff x="1460612" y="3933055"/>
            <a:chExt cx="6264696" cy="1585175"/>
          </a:xfrm>
          <a:effectLst>
            <a:outerShdw blurRad="50800" dist="38100" dir="18900000" algn="bl" rotWithShape="0">
              <a:prstClr val="black">
                <a:alpha val="40000"/>
              </a:prstClr>
            </a:outerShdw>
          </a:effectLst>
        </p:grpSpPr>
        <p:sp>
          <p:nvSpPr>
            <p:cNvPr id="20" name="圆角矩形 19"/>
            <p:cNvSpPr/>
            <p:nvPr/>
          </p:nvSpPr>
          <p:spPr>
            <a:xfrm>
              <a:off x="1460612" y="3933055"/>
              <a:ext cx="6264696" cy="1585175"/>
            </a:xfrm>
            <a:prstGeom prst="round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21" name="文本框 20"/>
            <p:cNvSpPr txBox="1"/>
            <p:nvPr/>
          </p:nvSpPr>
          <p:spPr>
            <a:xfrm>
              <a:off x="3044788" y="5018860"/>
              <a:ext cx="3161650" cy="82911"/>
            </a:xfrm>
            <a:prstGeom prst="rect">
              <a:avLst/>
            </a:prstGeom>
            <a:noFill/>
          </p:spPr>
          <p:txBody>
            <a:bodyPr>
              <a:spAutoFit/>
            </a:bodyPr>
            <a:lstStyle/>
            <a:p>
              <a:pPr>
                <a:defRPr/>
              </a:pPr>
              <a:r>
                <a:rPr lang="zh-CN" altLang="en-US" sz="100" b="1" dirty="0">
                  <a:latin typeface="Times New Roman" panose="02020603050405020304" pitchFamily="18" charset="0"/>
                  <a:cs typeface="Times New Roman" panose="02020603050405020304" pitchFamily="18" charset="0"/>
                </a:rPr>
                <a:t>关键信息基础设施保护  </a:t>
              </a:r>
              <a:r>
                <a:rPr lang="en-US" altLang="zh-CN" sz="100" b="1" dirty="0">
                  <a:latin typeface="Times New Roman" panose="02020603050405020304" pitchFamily="18" charset="0"/>
                  <a:cs typeface="Times New Roman" panose="02020603050405020304" pitchFamily="18" charset="0"/>
                </a:rPr>
                <a:t>CIIS</a:t>
              </a:r>
              <a:endParaRPr lang="zh-CN" altLang="en-US" sz="100" b="1" dirty="0">
                <a:latin typeface="Times New Roman" panose="02020603050405020304" pitchFamily="18" charset="0"/>
                <a:cs typeface="Times New Roman" panose="02020603050405020304" pitchFamily="18" charset="0"/>
              </a:endParaRPr>
            </a:p>
          </p:txBody>
        </p:sp>
      </p:grpSp>
      <p:grpSp>
        <p:nvGrpSpPr>
          <p:cNvPr id="13" name="组合 12"/>
          <p:cNvGrpSpPr/>
          <p:nvPr/>
        </p:nvGrpSpPr>
        <p:grpSpPr>
          <a:xfrm>
            <a:off x="3792942" y="4456696"/>
            <a:ext cx="4342636" cy="1111735"/>
            <a:chOff x="699291" y="4189112"/>
            <a:chExt cx="3528392" cy="959343"/>
          </a:xfrm>
          <a:solidFill>
            <a:srgbClr val="4E91D4"/>
          </a:solidFill>
        </p:grpSpPr>
        <p:sp>
          <p:nvSpPr>
            <p:cNvPr id="14" name="圆角矩形 13"/>
            <p:cNvSpPr/>
            <p:nvPr/>
          </p:nvSpPr>
          <p:spPr>
            <a:xfrm>
              <a:off x="699291" y="4189112"/>
              <a:ext cx="3528392" cy="959343"/>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15" name="文本框 14"/>
            <p:cNvSpPr txBox="1"/>
            <p:nvPr/>
          </p:nvSpPr>
          <p:spPr>
            <a:xfrm>
              <a:off x="859777" y="4488203"/>
              <a:ext cx="3331415" cy="92057"/>
            </a:xfrm>
            <a:prstGeom prst="rect">
              <a:avLst/>
            </a:prstGeom>
            <a:grpFill/>
          </p:spPr>
          <p:txBody>
            <a:bodyPr>
              <a:spAutoFit/>
            </a:bodyPr>
            <a:lstStyle/>
            <a:p>
              <a:pPr>
                <a:defRPr/>
              </a:pPr>
              <a:r>
                <a:rPr lang="zh-CN" altLang="en-US" sz="100" b="1" dirty="0">
                  <a:latin typeface="Times New Roman" panose="02020603050405020304" pitchFamily="18" charset="0"/>
                  <a:cs typeface="Times New Roman" panose="02020603050405020304" pitchFamily="18" charset="0"/>
                </a:rPr>
                <a:t>应用安全 </a:t>
              </a:r>
              <a:r>
                <a:rPr lang="en-US" altLang="zh-CN" sz="100" b="1" dirty="0">
                  <a:latin typeface="Times New Roman" panose="02020603050405020304" pitchFamily="18" charset="0"/>
                  <a:cs typeface="Times New Roman" panose="02020603050405020304" pitchFamily="18" charset="0"/>
                </a:rPr>
                <a:t>Application Security</a:t>
              </a:r>
              <a:endParaRPr lang="zh-CN" altLang="en-US" sz="100" b="1" dirty="0">
                <a:latin typeface="Times New Roman" panose="02020603050405020304" pitchFamily="18" charset="0"/>
                <a:cs typeface="Times New Roman" panose="02020603050405020304" pitchFamily="18" charset="0"/>
              </a:endParaRPr>
            </a:p>
          </p:txBody>
        </p:sp>
      </p:grpSp>
      <p:grpSp>
        <p:nvGrpSpPr>
          <p:cNvPr id="16" name="组合 15"/>
          <p:cNvGrpSpPr/>
          <p:nvPr/>
        </p:nvGrpSpPr>
        <p:grpSpPr>
          <a:xfrm>
            <a:off x="4495025" y="3062356"/>
            <a:ext cx="2925163" cy="1626197"/>
            <a:chOff x="3419583" y="2438156"/>
            <a:chExt cx="2376695" cy="1398033"/>
          </a:xfrm>
          <a:effectLst>
            <a:outerShdw blurRad="50800" dist="38100" dir="18900000" algn="bl" rotWithShape="0">
              <a:prstClr val="black">
                <a:alpha val="40000"/>
              </a:prstClr>
            </a:outerShdw>
          </a:effectLst>
        </p:grpSpPr>
        <p:sp>
          <p:nvSpPr>
            <p:cNvPr id="17" name="椭圆 16"/>
            <p:cNvSpPr/>
            <p:nvPr/>
          </p:nvSpPr>
          <p:spPr>
            <a:xfrm>
              <a:off x="3419583" y="2438156"/>
              <a:ext cx="2376695" cy="139803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18" name="文本框 17"/>
            <p:cNvSpPr txBox="1"/>
            <p:nvPr/>
          </p:nvSpPr>
          <p:spPr>
            <a:xfrm>
              <a:off x="3828343" y="2764118"/>
              <a:ext cx="1727225" cy="104814"/>
            </a:xfrm>
            <a:prstGeom prst="rect">
              <a:avLst/>
            </a:prstGeom>
            <a:noFill/>
          </p:spPr>
          <p:txBody>
            <a:bodyPr>
              <a:spAutoFit/>
            </a:bodyPr>
            <a:lstStyle/>
            <a:p>
              <a:pPr>
                <a:defRPr/>
              </a:pPr>
              <a:r>
                <a:rPr lang="zh-CN" altLang="en-US" sz="100" b="1" dirty="0">
                  <a:latin typeface="Times New Roman" panose="02020603050405020304" pitchFamily="18" charset="0"/>
                  <a:cs typeface="Times New Roman" panose="02020603050405020304" pitchFamily="18" charset="0"/>
                </a:rPr>
                <a:t>网络空间安全 </a:t>
              </a:r>
              <a:endParaRPr lang="en-US" altLang="zh-CN" sz="100" b="1" dirty="0">
                <a:latin typeface="Times New Roman" panose="02020603050405020304" pitchFamily="18" charset="0"/>
                <a:cs typeface="Times New Roman" panose="02020603050405020304" pitchFamily="18" charset="0"/>
              </a:endParaRPr>
            </a:p>
            <a:p>
              <a:pPr>
                <a:defRPr/>
              </a:pPr>
              <a:r>
                <a:rPr lang="en-US" altLang="zh-CN" sz="100" b="1" dirty="0" err="1">
                  <a:latin typeface="Times New Roman" panose="02020603050405020304" pitchFamily="18" charset="0"/>
                  <a:cs typeface="Times New Roman" panose="02020603050405020304" pitchFamily="18" charset="0"/>
                </a:rPr>
                <a:t>CyberSecurity</a:t>
              </a:r>
              <a:endParaRPr lang="zh-CN" altLang="en-US" sz="100" b="1" dirty="0">
                <a:latin typeface="Times New Roman" panose="02020603050405020304" pitchFamily="18" charset="0"/>
                <a:cs typeface="Times New Roman" panose="02020603050405020304" pitchFamily="18" charset="0"/>
              </a:endParaRPr>
            </a:p>
          </p:txBody>
        </p:sp>
      </p:grpSp>
      <p:grpSp>
        <p:nvGrpSpPr>
          <p:cNvPr id="22" name="组合 21"/>
          <p:cNvGrpSpPr/>
          <p:nvPr/>
        </p:nvGrpSpPr>
        <p:grpSpPr>
          <a:xfrm>
            <a:off x="1198615" y="1213369"/>
            <a:ext cx="2038380" cy="1179285"/>
            <a:chOff x="740532" y="1099115"/>
            <a:chExt cx="1656184" cy="958169"/>
          </a:xfrm>
          <a:effectLst>
            <a:outerShdw blurRad="50800" dist="38100" dir="18900000" algn="bl" rotWithShape="0">
              <a:prstClr val="black">
                <a:alpha val="40000"/>
              </a:prstClr>
            </a:outerShdw>
          </a:effectLst>
        </p:grpSpPr>
        <p:sp>
          <p:nvSpPr>
            <p:cNvPr id="23" name="矩形 22"/>
            <p:cNvSpPr/>
            <p:nvPr/>
          </p:nvSpPr>
          <p:spPr>
            <a:xfrm>
              <a:off x="740532" y="1099115"/>
              <a:ext cx="1656184" cy="9581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24" name="文本框 23"/>
            <p:cNvSpPr txBox="1"/>
            <p:nvPr/>
          </p:nvSpPr>
          <p:spPr>
            <a:xfrm>
              <a:off x="812810" y="1235643"/>
              <a:ext cx="1511627" cy="99060"/>
            </a:xfrm>
            <a:prstGeom prst="rect">
              <a:avLst/>
            </a:prstGeom>
            <a:noFill/>
          </p:spPr>
          <p:txBody>
            <a:bodyPr>
              <a:spAutoFit/>
            </a:bodyPr>
            <a:lstStyle/>
            <a:p>
              <a:pPr algn="ctr">
                <a:defRPr/>
              </a:pPr>
              <a:r>
                <a:rPr lang="zh-CN" altLang="en-US" sz="100" b="1" dirty="0"/>
                <a:t>网络犯罪</a:t>
              </a:r>
              <a:endParaRPr lang="en-US" altLang="zh-CN" sz="100" b="1" dirty="0"/>
            </a:p>
            <a:p>
              <a:pPr>
                <a:defRPr/>
              </a:pPr>
              <a:r>
                <a:rPr lang="en-US" altLang="zh-CN" sz="100" b="1" dirty="0" err="1"/>
                <a:t>CyberCrime</a:t>
              </a:r>
              <a:endParaRPr lang="zh-CN" altLang="en-US" sz="100" b="1" dirty="0"/>
            </a:p>
          </p:txBody>
        </p:sp>
      </p:grpSp>
      <p:grpSp>
        <p:nvGrpSpPr>
          <p:cNvPr id="25" name="组合 24"/>
          <p:cNvGrpSpPr/>
          <p:nvPr/>
        </p:nvGrpSpPr>
        <p:grpSpPr>
          <a:xfrm>
            <a:off x="8782511" y="1216361"/>
            <a:ext cx="2259943" cy="1179285"/>
            <a:chOff x="6936957" y="1100871"/>
            <a:chExt cx="1836204" cy="958169"/>
          </a:xfrm>
          <a:effectLst>
            <a:outerShdw blurRad="50800" dist="38100" dir="18900000" algn="bl" rotWithShape="0">
              <a:prstClr val="black">
                <a:alpha val="40000"/>
              </a:prstClr>
            </a:outerShdw>
          </a:effectLst>
        </p:grpSpPr>
        <p:sp>
          <p:nvSpPr>
            <p:cNvPr id="26" name="矩形 25"/>
            <p:cNvSpPr/>
            <p:nvPr/>
          </p:nvSpPr>
          <p:spPr>
            <a:xfrm>
              <a:off x="6969223" y="1100871"/>
              <a:ext cx="1803937" cy="9581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0"/>
            </a:p>
          </p:txBody>
        </p:sp>
        <p:sp>
          <p:nvSpPr>
            <p:cNvPr id="27" name="文本框 26"/>
            <p:cNvSpPr txBox="1"/>
            <p:nvPr/>
          </p:nvSpPr>
          <p:spPr>
            <a:xfrm>
              <a:off x="6936957" y="1235644"/>
              <a:ext cx="1836204" cy="99060"/>
            </a:xfrm>
            <a:prstGeom prst="rect">
              <a:avLst/>
            </a:prstGeom>
            <a:noFill/>
          </p:spPr>
          <p:txBody>
            <a:bodyPr>
              <a:spAutoFit/>
            </a:bodyPr>
            <a:lstStyle/>
            <a:p>
              <a:pPr algn="ctr">
                <a:defRPr/>
              </a:pPr>
              <a:r>
                <a:rPr lang="zh-CN" altLang="en-US" sz="100" b="1" dirty="0"/>
                <a:t>网络空间的安全</a:t>
              </a:r>
              <a:endParaRPr lang="en-US" altLang="zh-CN" sz="100" b="1" dirty="0"/>
            </a:p>
            <a:p>
              <a:pPr algn="ctr">
                <a:defRPr/>
              </a:pPr>
              <a:r>
                <a:rPr lang="en-US" altLang="zh-CN" sz="100" b="1" dirty="0" err="1"/>
                <a:t>CyberSafe</a:t>
              </a:r>
              <a:endParaRPr lang="zh-CN" altLang="en-US" sz="100" b="1" dirty="0"/>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childTnLst>
                          </p:cTn>
                        </p:par>
                        <p:par>
                          <p:cTn id="35" fill="hold">
                            <p:stCondLst>
                              <p:cond delay="500"/>
                            </p:stCondLst>
                            <p:childTnLst>
                              <p:par>
                                <p:cTn id="36" presetID="2" presetClass="entr" presetSubtype="8"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fill="hold"/>
                                        <p:tgtEl>
                                          <p:spTgt spid="22"/>
                                        </p:tgtEl>
                                        <p:attrNameLst>
                                          <p:attrName>ppt_x</p:attrName>
                                        </p:attrNameLst>
                                      </p:cBhvr>
                                      <p:tavLst>
                                        <p:tav tm="0">
                                          <p:val>
                                            <p:strVal val="0-#ppt_w/2"/>
                                          </p:val>
                                        </p:tav>
                                        <p:tav tm="100000">
                                          <p:val>
                                            <p:strVal val="#ppt_x"/>
                                          </p:val>
                                        </p:tav>
                                      </p:tavLst>
                                    </p:anim>
                                    <p:anim calcmode="lin" valueType="num">
                                      <p:cBhvr additive="base">
                                        <p:cTn id="39" dur="500" fill="hold"/>
                                        <p:tgtEl>
                                          <p:spTgt spid="22"/>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ID="2" presetClass="entr" presetSubtype="2"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1+#ppt_w/2"/>
                                          </p:val>
                                        </p:tav>
                                        <p:tav tm="100000">
                                          <p:val>
                                            <p:strVal val="#ppt_x"/>
                                          </p:val>
                                        </p:tav>
                                      </p:tavLst>
                                    </p:anim>
                                    <p:anim calcmode="lin" valueType="num">
                                      <p:cBhvr additive="base">
                                        <p:cTn id="44"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3446" name="Text Box 6"/>
          <p:cNvSpPr txBox="1">
            <a:spLocks noChangeArrowheads="1"/>
          </p:cNvSpPr>
          <p:nvPr/>
        </p:nvSpPr>
        <p:spPr bwMode="auto">
          <a:xfrm>
            <a:off x="5487573" y="2467537"/>
            <a:ext cx="1437640" cy="469265"/>
          </a:xfrm>
          <a:prstGeom prst="rect">
            <a:avLst/>
          </a:prstGeom>
          <a:solidFill>
            <a:srgbClr val="3333FF"/>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FF99"/>
                </a:solidFill>
                <a:latin typeface="Times New Roman" panose="02020603050405020304" pitchFamily="18" charset="0"/>
                <a:ea typeface="楷体_GB2312"/>
                <a:cs typeface="楷体_GB2312"/>
              </a:rPr>
              <a:t>信息窃取</a:t>
            </a:r>
            <a:endParaRPr lang="zh-CN" altLang="en-US" sz="2215" b="1">
              <a:solidFill>
                <a:srgbClr val="FFFF99"/>
              </a:solidFill>
              <a:latin typeface="Times New Roman" panose="02020603050405020304" pitchFamily="18" charset="0"/>
              <a:ea typeface="宋体" panose="02010600030101010101" pitchFamily="2" charset="-122"/>
            </a:endParaRPr>
          </a:p>
        </p:txBody>
      </p:sp>
      <p:sp>
        <p:nvSpPr>
          <p:cNvPr id="1213447" name="AutoShape 7"/>
          <p:cNvSpPr>
            <a:spLocks noChangeArrowheads="1"/>
          </p:cNvSpPr>
          <p:nvPr/>
        </p:nvSpPr>
        <p:spPr bwMode="auto">
          <a:xfrm>
            <a:off x="3225801" y="3319585"/>
            <a:ext cx="4876800" cy="2625969"/>
          </a:xfrm>
          <a:prstGeom prst="cloudCallout">
            <a:avLst>
              <a:gd name="adj1" fmla="val 954"/>
              <a:gd name="adj2" fmla="val 52454"/>
            </a:avLst>
          </a:prstGeom>
          <a:solidFill>
            <a:srgbClr val="66FFFF"/>
          </a:solidFill>
          <a:ln w="9525">
            <a:solidFill>
              <a:srgbClr val="000000"/>
            </a:solidFill>
            <a:round/>
          </a:ln>
          <a:effectLst>
            <a:outerShdw dist="107763" dir="2700000" algn="ctr" rotWithShape="0">
              <a:srgbClr val="808080"/>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endParaRPr lang="zh-CN" altLang="en-US" sz="2215">
              <a:latin typeface="Times New Roman" panose="02020603050405020304" pitchFamily="18" charset="0"/>
              <a:ea typeface="宋体" panose="02010600030101010101" pitchFamily="2" charset="-122"/>
            </a:endParaRPr>
          </a:p>
        </p:txBody>
      </p:sp>
      <p:graphicFrame>
        <p:nvGraphicFramePr>
          <p:cNvPr id="1213448" name="Object 8"/>
          <p:cNvGraphicFramePr>
            <a:graphicFrameLocks noChangeAspect="1"/>
          </p:cNvGraphicFramePr>
          <p:nvPr/>
        </p:nvGraphicFramePr>
        <p:xfrm>
          <a:off x="5765801" y="5570415"/>
          <a:ext cx="1430215" cy="1328615"/>
        </p:xfrm>
        <a:graphic>
          <a:graphicData uri="http://schemas.openxmlformats.org/presentationml/2006/ole">
            <mc:AlternateContent xmlns:mc="http://schemas.openxmlformats.org/markup-compatibility/2006">
              <mc:Choice xmlns:v="urn:schemas-microsoft-com:vml" Requires="v">
                <p:oleObj spid="_x0000_s2074" name="剪辑" r:id="rId1" imgW="15252700" imgH="15341600" progId="">
                  <p:embed/>
                </p:oleObj>
              </mc:Choice>
              <mc:Fallback>
                <p:oleObj name="剪辑" r:id="rId1" imgW="15252700" imgH="15341600" progId="">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5801" y="5570415"/>
                        <a:ext cx="1430215" cy="1328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3449" name="Object 9"/>
          <p:cNvGraphicFramePr>
            <a:graphicFrameLocks noChangeAspect="1"/>
          </p:cNvGraphicFramePr>
          <p:nvPr/>
        </p:nvGraphicFramePr>
        <p:xfrm>
          <a:off x="6680201" y="3132015"/>
          <a:ext cx="1240692" cy="908539"/>
        </p:xfrm>
        <a:graphic>
          <a:graphicData uri="http://schemas.openxmlformats.org/presentationml/2006/ole">
            <mc:AlternateContent xmlns:mc="http://schemas.openxmlformats.org/markup-compatibility/2006">
              <mc:Choice xmlns:v="urn:schemas-microsoft-com:vml" Requires="v">
                <p:oleObj spid="_x0000_s2075" name="剪辑" r:id="rId3" imgW="4603115" imgH="3651885" progId="">
                  <p:embed/>
                </p:oleObj>
              </mc:Choice>
              <mc:Fallback>
                <p:oleObj name="剪辑" r:id="rId3" imgW="4603115" imgH="3651885" progId="">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0201" y="3132015"/>
                        <a:ext cx="1240692" cy="90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3450" name="Object 10"/>
          <p:cNvGraphicFramePr>
            <a:graphicFrameLocks noChangeAspect="1"/>
          </p:cNvGraphicFramePr>
          <p:nvPr/>
        </p:nvGraphicFramePr>
        <p:xfrm>
          <a:off x="3429001" y="5101492"/>
          <a:ext cx="1260230" cy="1451708"/>
        </p:xfrm>
        <a:graphic>
          <a:graphicData uri="http://schemas.openxmlformats.org/presentationml/2006/ole">
            <mc:AlternateContent xmlns:mc="http://schemas.openxmlformats.org/markup-compatibility/2006">
              <mc:Choice xmlns:v="urn:schemas-microsoft-com:vml" Requires="v">
                <p:oleObj spid="_x0000_s2076" name="剪辑" r:id="rId5" imgW="944880" imgH="1180465" progId="">
                  <p:embed/>
                </p:oleObj>
              </mc:Choice>
              <mc:Fallback>
                <p:oleObj name="剪辑" r:id="rId5" imgW="944880" imgH="1180465" progId="">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1" y="5101492"/>
                        <a:ext cx="1260230" cy="145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3451" name="AutoShape 11"/>
          <p:cNvSpPr>
            <a:spLocks noChangeArrowheads="1"/>
          </p:cNvSpPr>
          <p:nvPr/>
        </p:nvSpPr>
        <p:spPr bwMode="auto">
          <a:xfrm rot="-1895517">
            <a:off x="3851031" y="4405923"/>
            <a:ext cx="3618523" cy="468923"/>
          </a:xfrm>
          <a:prstGeom prst="notchedRightArrow">
            <a:avLst>
              <a:gd name="adj1" fmla="val 50000"/>
              <a:gd name="adj2" fmla="val 178125"/>
            </a:avLst>
          </a:prstGeom>
          <a:solidFill>
            <a:srgbClr val="FF0000"/>
          </a:solidFill>
          <a:ln w="9525">
            <a:solidFill>
              <a:srgbClr val="000000"/>
            </a:solidFill>
            <a:miter lim="800000"/>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3452" name="Text Box 12"/>
          <p:cNvSpPr txBox="1">
            <a:spLocks noChangeArrowheads="1"/>
          </p:cNvSpPr>
          <p:nvPr/>
        </p:nvSpPr>
        <p:spPr bwMode="auto">
          <a:xfrm rot="-2021434">
            <a:off x="4936588" y="4735953"/>
            <a:ext cx="143764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0">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latin typeface="Times New Roman" panose="02020603050405020304" pitchFamily="18" charset="0"/>
                <a:ea typeface="楷体_GB2312"/>
                <a:cs typeface="楷体_GB2312"/>
              </a:rPr>
              <a:t>信息传递</a:t>
            </a:r>
            <a:endParaRPr lang="zh-CN" altLang="en-US" sz="2215" b="1">
              <a:latin typeface="Times New Roman" panose="02020603050405020304" pitchFamily="18" charset="0"/>
              <a:ea typeface="宋体" panose="02010600030101010101" pitchFamily="2" charset="-122"/>
            </a:endParaRPr>
          </a:p>
        </p:txBody>
      </p:sp>
      <p:sp>
        <p:nvSpPr>
          <p:cNvPr id="1213453" name="Freeform 13"/>
          <p:cNvSpPr/>
          <p:nvPr/>
        </p:nvSpPr>
        <p:spPr bwMode="auto">
          <a:xfrm rot="1871170">
            <a:off x="4546601" y="3132015"/>
            <a:ext cx="1320800" cy="2344615"/>
          </a:xfrm>
          <a:custGeom>
            <a:avLst/>
            <a:gdLst/>
            <a:ahLst/>
            <a:cxnLst>
              <a:cxn ang="0">
                <a:pos x="288" y="1200"/>
              </a:cxn>
              <a:cxn ang="0">
                <a:pos x="576" y="432"/>
              </a:cxn>
              <a:cxn ang="0">
                <a:pos x="0" y="0"/>
              </a:cxn>
            </a:cxnLst>
            <a:rect l="0" t="0" r="r" b="b"/>
            <a:pathLst>
              <a:path w="624" h="1200">
                <a:moveTo>
                  <a:pt x="288" y="1200"/>
                </a:moveTo>
                <a:cubicBezTo>
                  <a:pt x="456" y="916"/>
                  <a:pt x="624" y="632"/>
                  <a:pt x="576" y="432"/>
                </a:cubicBezTo>
                <a:cubicBezTo>
                  <a:pt x="528" y="232"/>
                  <a:pt x="264" y="116"/>
                  <a:pt x="0" y="0"/>
                </a:cubicBezTo>
              </a:path>
            </a:pathLst>
          </a:custGeom>
          <a:noFill/>
          <a:ln w="152400" cap="flat" cmpd="sng">
            <a:solidFill>
              <a:srgbClr val="FF0000"/>
            </a:solidFill>
            <a:prstDash val="solid"/>
            <a:round/>
            <a:headEnd type="none" w="med" len="med"/>
            <a:tailEnd type="triangle" w="med" len="med"/>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graphicFrame>
        <p:nvGraphicFramePr>
          <p:cNvPr id="1213454" name="Object 14"/>
          <p:cNvGraphicFramePr>
            <a:graphicFrameLocks noChangeAspect="1"/>
          </p:cNvGraphicFramePr>
          <p:nvPr/>
        </p:nvGraphicFramePr>
        <p:xfrm>
          <a:off x="4038601" y="2631831"/>
          <a:ext cx="1354015" cy="1344246"/>
        </p:xfrm>
        <a:graphic>
          <a:graphicData uri="http://schemas.openxmlformats.org/presentationml/2006/ole">
            <mc:AlternateContent xmlns:mc="http://schemas.openxmlformats.org/markup-compatibility/2006">
              <mc:Choice xmlns:v="urn:schemas-microsoft-com:vml" Requires="v">
                <p:oleObj spid="_x0000_s2077" name="剪辑" r:id="rId7" imgW="3025775" imgH="3253105" progId="">
                  <p:embed/>
                </p:oleObj>
              </mc:Choice>
              <mc:Fallback>
                <p:oleObj name="剪辑" r:id="rId7" imgW="3025775" imgH="3253105" progId="">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601" y="2631831"/>
                        <a:ext cx="1354015" cy="1344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3455" name="AutoShape 15"/>
          <p:cNvSpPr>
            <a:spLocks noChangeArrowheads="1"/>
          </p:cNvSpPr>
          <p:nvPr/>
        </p:nvSpPr>
        <p:spPr bwMode="auto">
          <a:xfrm rot="-4102080">
            <a:off x="5855678" y="4519246"/>
            <a:ext cx="2157046" cy="508000"/>
          </a:xfrm>
          <a:prstGeom prst="notchedRightArrow">
            <a:avLst>
              <a:gd name="adj1" fmla="val 50000"/>
              <a:gd name="adj2" fmla="val 115000"/>
            </a:avLst>
          </a:prstGeom>
          <a:solidFill>
            <a:srgbClr val="3333FF"/>
          </a:solidFill>
          <a:ln w="9525">
            <a:solidFill>
              <a:srgbClr val="000000"/>
            </a:solidFill>
            <a:miter lim="800000"/>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3456" name="Text Box 16"/>
          <p:cNvSpPr txBox="1">
            <a:spLocks noChangeArrowheads="1"/>
          </p:cNvSpPr>
          <p:nvPr/>
        </p:nvSpPr>
        <p:spPr bwMode="auto">
          <a:xfrm>
            <a:off x="7316373" y="5863321"/>
            <a:ext cx="1437640" cy="469265"/>
          </a:xfrm>
          <a:prstGeom prst="rect">
            <a:avLst/>
          </a:prstGeom>
          <a:solidFill>
            <a:schemeClr val="tx1"/>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FF00"/>
                </a:solidFill>
                <a:latin typeface="Times New Roman" panose="02020603050405020304" pitchFamily="18" charset="0"/>
                <a:ea typeface="楷体_GB2312"/>
                <a:cs typeface="楷体_GB2312"/>
              </a:rPr>
              <a:t>信息冒充</a:t>
            </a:r>
            <a:endParaRPr lang="zh-CN" altLang="en-US" sz="2215" b="1">
              <a:solidFill>
                <a:srgbClr val="FFFF00"/>
              </a:solidFill>
              <a:latin typeface="Times New Roman" panose="02020603050405020304" pitchFamily="18" charset="0"/>
              <a:ea typeface="宋体" panose="02010600030101010101" pitchFamily="2" charset="-122"/>
            </a:endParaRPr>
          </a:p>
        </p:txBody>
      </p:sp>
      <p:graphicFrame>
        <p:nvGraphicFramePr>
          <p:cNvPr id="1213457" name="Object 17"/>
          <p:cNvGraphicFramePr>
            <a:graphicFrameLocks noChangeAspect="1"/>
          </p:cNvGraphicFramePr>
          <p:nvPr/>
        </p:nvGraphicFramePr>
        <p:xfrm>
          <a:off x="6639169" y="2569308"/>
          <a:ext cx="1565031" cy="1301262"/>
        </p:xfrm>
        <a:graphic>
          <a:graphicData uri="http://schemas.openxmlformats.org/presentationml/2006/ole">
            <mc:AlternateContent xmlns:mc="http://schemas.openxmlformats.org/markup-compatibility/2006">
              <mc:Choice xmlns:v="urn:schemas-microsoft-com:vml" Requires="v">
                <p:oleObj spid="_x0000_s2078" name="剪辑" r:id="rId9" imgW="3717925" imgH="3352800" progId="">
                  <p:embed/>
                </p:oleObj>
              </mc:Choice>
              <mc:Fallback>
                <p:oleObj name="剪辑" r:id="rId9" imgW="3717925" imgH="3352800" progId="">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39169" y="2569308"/>
                        <a:ext cx="1565031" cy="130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3458" name="Text Box 18"/>
          <p:cNvSpPr txBox="1">
            <a:spLocks noChangeArrowheads="1"/>
          </p:cNvSpPr>
          <p:nvPr/>
        </p:nvSpPr>
        <p:spPr bwMode="auto">
          <a:xfrm>
            <a:off x="8230773" y="3143568"/>
            <a:ext cx="1437640" cy="469265"/>
          </a:xfrm>
          <a:prstGeom prst="rect">
            <a:avLst/>
          </a:prstGeom>
          <a:solidFill>
            <a:schemeClr val="accent2"/>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FF99"/>
                </a:solidFill>
                <a:latin typeface="Times New Roman" panose="02020603050405020304" pitchFamily="18" charset="0"/>
                <a:ea typeface="楷体_GB2312"/>
                <a:cs typeface="楷体_GB2312"/>
              </a:rPr>
              <a:t>信息篡改</a:t>
            </a:r>
            <a:endParaRPr lang="zh-CN" altLang="en-US" sz="2215" b="1">
              <a:solidFill>
                <a:srgbClr val="FFFF99"/>
              </a:solidFill>
              <a:latin typeface="Times New Roman" panose="02020603050405020304" pitchFamily="18" charset="0"/>
              <a:ea typeface="宋体" panose="02010600030101010101" pitchFamily="2" charset="-122"/>
            </a:endParaRPr>
          </a:p>
        </p:txBody>
      </p:sp>
      <p:graphicFrame>
        <p:nvGraphicFramePr>
          <p:cNvPr id="1213459" name="Object 19"/>
          <p:cNvGraphicFramePr>
            <a:graphicFrameLocks noChangeAspect="1"/>
          </p:cNvGraphicFramePr>
          <p:nvPr/>
        </p:nvGraphicFramePr>
        <p:xfrm>
          <a:off x="2819401" y="4726354"/>
          <a:ext cx="1987061" cy="1520092"/>
        </p:xfrm>
        <a:graphic>
          <a:graphicData uri="http://schemas.openxmlformats.org/presentationml/2006/ole">
            <mc:AlternateContent xmlns:mc="http://schemas.openxmlformats.org/markup-compatibility/2006">
              <mc:Choice xmlns:v="urn:schemas-microsoft-com:vml" Requires="v">
                <p:oleObj spid="_x0000_s2079" name="剪辑" r:id="rId11" imgW="4046855" imgH="3352800" progId="">
                  <p:embed/>
                </p:oleObj>
              </mc:Choice>
              <mc:Fallback>
                <p:oleObj name="剪辑" r:id="rId11" imgW="4046855" imgH="3352800" progId="">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19401" y="4726354"/>
                        <a:ext cx="1987061" cy="1520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3460" name="Text Box 20"/>
          <p:cNvSpPr txBox="1">
            <a:spLocks noChangeArrowheads="1"/>
          </p:cNvSpPr>
          <p:nvPr/>
        </p:nvSpPr>
        <p:spPr bwMode="auto">
          <a:xfrm>
            <a:off x="1626773" y="4644121"/>
            <a:ext cx="1437640" cy="469265"/>
          </a:xfrm>
          <a:prstGeom prst="rect">
            <a:avLst/>
          </a:prstGeom>
          <a:solidFill>
            <a:srgbClr val="336600"/>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FF99"/>
                </a:solidFill>
                <a:latin typeface="Times New Roman" panose="02020603050405020304" pitchFamily="18" charset="0"/>
                <a:ea typeface="楷体_GB2312"/>
                <a:cs typeface="楷体_GB2312"/>
              </a:rPr>
              <a:t>信息抵赖</a:t>
            </a:r>
            <a:endParaRPr lang="zh-CN" altLang="en-US" sz="2215" b="1">
              <a:solidFill>
                <a:srgbClr val="FFFF99"/>
              </a:solidFill>
              <a:latin typeface="Times New Roman" panose="02020603050405020304" pitchFamily="18" charset="0"/>
              <a:ea typeface="宋体" panose="02010600030101010101" pitchFamily="2" charset="-122"/>
            </a:endParaRPr>
          </a:p>
        </p:txBody>
      </p:sp>
      <p:sp>
        <p:nvSpPr>
          <p:cNvPr id="1213461" name="AutoShape 21"/>
          <p:cNvSpPr>
            <a:spLocks noChangeArrowheads="1"/>
          </p:cNvSpPr>
          <p:nvPr/>
        </p:nvSpPr>
        <p:spPr bwMode="auto">
          <a:xfrm>
            <a:off x="8102601" y="1299308"/>
            <a:ext cx="2032000" cy="844062"/>
          </a:xfrm>
          <a:prstGeom prst="wedgeRoundRectCallout">
            <a:avLst>
              <a:gd name="adj1" fmla="val -111042"/>
              <a:gd name="adj2" fmla="val 118750"/>
              <a:gd name="adj3" fmla="val 16667"/>
            </a:avLst>
          </a:prstGeom>
          <a:solidFill>
            <a:srgbClr val="FFFF99"/>
          </a:solidFill>
          <a:ln w="9525">
            <a:solidFill>
              <a:srgbClr val="000000"/>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latin typeface="Times New Roman" panose="02020603050405020304" pitchFamily="18" charset="0"/>
                <a:ea typeface="楷体_GB2312"/>
                <a:cs typeface="楷体_GB2312"/>
              </a:rPr>
              <a:t>加密技术</a:t>
            </a:r>
            <a:endParaRPr lang="zh-CN" altLang="en-US" sz="2215" b="1">
              <a:latin typeface="Times New Roman" panose="02020603050405020304" pitchFamily="18" charset="0"/>
              <a:ea typeface="宋体" panose="02010600030101010101" pitchFamily="2" charset="-122"/>
            </a:endParaRPr>
          </a:p>
        </p:txBody>
      </p:sp>
      <p:sp>
        <p:nvSpPr>
          <p:cNvPr id="1213462" name="AutoShape 22"/>
          <p:cNvSpPr>
            <a:spLocks noChangeArrowheads="1"/>
          </p:cNvSpPr>
          <p:nvPr/>
        </p:nvSpPr>
        <p:spPr bwMode="auto">
          <a:xfrm>
            <a:off x="8897815" y="3788508"/>
            <a:ext cx="2235200" cy="844062"/>
          </a:xfrm>
          <a:prstGeom prst="wedgeRoundRectCallout">
            <a:avLst>
              <a:gd name="adj1" fmla="val -63162"/>
              <a:gd name="adj2" fmla="val -70833"/>
              <a:gd name="adj3" fmla="val 16667"/>
            </a:avLst>
          </a:prstGeom>
          <a:solidFill>
            <a:srgbClr val="FFFF99"/>
          </a:solidFill>
          <a:ln w="9525">
            <a:solidFill>
              <a:srgbClr val="000000"/>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latin typeface="Times New Roman" panose="02020603050405020304" pitchFamily="18" charset="0"/>
                <a:ea typeface="楷体_GB2312"/>
                <a:cs typeface="楷体_GB2312"/>
              </a:rPr>
              <a:t>完整性技术</a:t>
            </a:r>
            <a:endParaRPr lang="zh-CN" altLang="en-US" sz="2215" b="1">
              <a:latin typeface="Times New Roman" panose="02020603050405020304" pitchFamily="18" charset="0"/>
              <a:ea typeface="宋体" panose="02010600030101010101" pitchFamily="2" charset="-122"/>
            </a:endParaRPr>
          </a:p>
        </p:txBody>
      </p:sp>
      <p:sp>
        <p:nvSpPr>
          <p:cNvPr id="1213463" name="AutoShape 23"/>
          <p:cNvSpPr>
            <a:spLocks noChangeArrowheads="1"/>
          </p:cNvSpPr>
          <p:nvPr/>
        </p:nvSpPr>
        <p:spPr bwMode="auto">
          <a:xfrm>
            <a:off x="9202615" y="5195277"/>
            <a:ext cx="2032000" cy="844062"/>
          </a:xfrm>
          <a:prstGeom prst="wedgeRoundRectCallout">
            <a:avLst>
              <a:gd name="adj1" fmla="val -64898"/>
              <a:gd name="adj2" fmla="val 70370"/>
              <a:gd name="adj3" fmla="val 16667"/>
            </a:avLst>
          </a:prstGeom>
          <a:solidFill>
            <a:srgbClr val="FFFF99"/>
          </a:solidFill>
          <a:ln w="9525">
            <a:solidFill>
              <a:srgbClr val="000000"/>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latin typeface="Times New Roman" panose="02020603050405020304" pitchFamily="18" charset="0"/>
                <a:ea typeface="楷体_GB2312"/>
                <a:cs typeface="楷体_GB2312"/>
              </a:rPr>
              <a:t>鉴别技术</a:t>
            </a:r>
            <a:endParaRPr lang="zh-CN" altLang="en-US" sz="2215" b="1">
              <a:latin typeface="Times New Roman" panose="02020603050405020304" pitchFamily="18" charset="0"/>
              <a:ea typeface="宋体" panose="02010600030101010101" pitchFamily="2" charset="-122"/>
            </a:endParaRPr>
          </a:p>
        </p:txBody>
      </p:sp>
      <p:sp>
        <p:nvSpPr>
          <p:cNvPr id="1213464" name="AutoShape 24"/>
          <p:cNvSpPr>
            <a:spLocks noChangeArrowheads="1"/>
          </p:cNvSpPr>
          <p:nvPr/>
        </p:nvSpPr>
        <p:spPr bwMode="auto">
          <a:xfrm>
            <a:off x="1582615" y="2381738"/>
            <a:ext cx="2032000" cy="844062"/>
          </a:xfrm>
          <a:prstGeom prst="wedgeRoundRectCallout">
            <a:avLst>
              <a:gd name="adj1" fmla="val -8125"/>
              <a:gd name="adj2" fmla="val 203935"/>
              <a:gd name="adj3" fmla="val 16667"/>
            </a:avLst>
          </a:prstGeom>
          <a:solidFill>
            <a:srgbClr val="FFFF99"/>
          </a:solidFill>
          <a:ln w="9525">
            <a:solidFill>
              <a:srgbClr val="000000"/>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latin typeface="Times New Roman" panose="02020603050405020304" pitchFamily="18" charset="0"/>
                <a:ea typeface="楷体_GB2312"/>
                <a:cs typeface="楷体_GB2312"/>
              </a:rPr>
              <a:t>数字签名</a:t>
            </a:r>
            <a:endParaRPr lang="zh-CN" altLang="en-US" sz="2215" b="1">
              <a:latin typeface="Times New Roman" panose="02020603050405020304" pitchFamily="18" charset="0"/>
              <a:ea typeface="宋体" panose="02010600030101010101" pitchFamily="2" charset="-122"/>
            </a:endParaRPr>
          </a:p>
        </p:txBody>
      </p:sp>
      <p:sp>
        <p:nvSpPr>
          <p:cNvPr id="159765" name="Rectangle 4"/>
          <p:cNvSpPr>
            <a:spLocks noGrp="1" noChangeArrowheads="1"/>
          </p:cNvSpPr>
          <p:nvPr>
            <p:ph type="title"/>
          </p:nvPr>
        </p:nvSpPr>
        <p:spPr bwMode="auto">
          <a:xfrm>
            <a:off x="158262" y="11724"/>
            <a:ext cx="11787553" cy="556846"/>
          </a:xfrm>
        </p:spPr>
        <p:txBody>
          <a:bodyPr lIns="112541" tIns="56270" rIns="112541" bIns="56270"/>
          <a:lstStyle/>
          <a:p>
            <a:pPr eaLnBrk="1" hangingPunct="1"/>
            <a:r>
              <a:rPr lang="zh-CN" altLang="en-US" sz="2955">
                <a:solidFill>
                  <a:srgbClr val="FF0000"/>
                </a:solidFill>
              </a:rPr>
              <a:t>信息安全</a:t>
            </a:r>
            <a:r>
              <a:rPr lang="zh-CN" altLang="zh-CN" sz="2460">
                <a:solidFill>
                  <a:srgbClr val="0000FF"/>
                </a:solidFill>
              </a:rPr>
              <a:t>（</a:t>
            </a:r>
            <a:r>
              <a:rPr lang="en-US" altLang="zh-CN" sz="2460">
                <a:solidFill>
                  <a:srgbClr val="0000FF"/>
                </a:solidFill>
              </a:rPr>
              <a:t>Information Security</a:t>
            </a:r>
            <a:r>
              <a:rPr lang="zh-CN" altLang="zh-CN" sz="2460">
                <a:solidFill>
                  <a:srgbClr val="0000FF"/>
                </a:solidFill>
              </a:rPr>
              <a:t>）</a:t>
            </a:r>
            <a:endParaRPr lang="zh-CN" altLang="en-US" sz="2460">
              <a:solidFill>
                <a:srgbClr val="0000FF"/>
              </a:solidFill>
            </a:endParaRPr>
          </a:p>
        </p:txBody>
      </p:sp>
      <p:sp>
        <p:nvSpPr>
          <p:cNvPr id="2" name="矩形 1"/>
          <p:cNvSpPr/>
          <p:nvPr/>
        </p:nvSpPr>
        <p:spPr>
          <a:xfrm>
            <a:off x="744416" y="593970"/>
            <a:ext cx="11334261" cy="469265"/>
          </a:xfrm>
          <a:prstGeom prst="rect">
            <a:avLst/>
          </a:prstGeom>
        </p:spPr>
        <p:txBody>
          <a:bodyPr>
            <a:spAutoFit/>
          </a:bodyPr>
          <a:lstStyle/>
          <a:p>
            <a:pPr>
              <a:defRPr/>
            </a:pPr>
            <a:r>
              <a:rPr lang="zh-CN" altLang="zh-CN" sz="2460" b="1" dirty="0">
                <a:solidFill>
                  <a:srgbClr val="0000FF"/>
                </a:solidFill>
                <a:latin typeface="+mn-ea"/>
                <a:ea typeface="+mn-ea"/>
              </a:rPr>
              <a:t>——通常关注对信息机密性、完整性、可用性的保护，以满足信息用户的需求。</a:t>
            </a:r>
            <a:endParaRPr lang="zh-CN" altLang="en-US" sz="2460" b="1"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213447"/>
                                        </p:tgtEl>
                                        <p:attrNameLst>
                                          <p:attrName>style.visibility</p:attrName>
                                        </p:attrNameLst>
                                      </p:cBhvr>
                                      <p:to>
                                        <p:strVal val="visible"/>
                                      </p:to>
                                    </p:set>
                                    <p:anim calcmode="lin" valueType="num">
                                      <p:cBhvr>
                                        <p:cTn id="12" dur="500" fill="hold"/>
                                        <p:tgtEl>
                                          <p:spTgt spid="1213447"/>
                                        </p:tgtEl>
                                        <p:attrNameLst>
                                          <p:attrName>ppt_w</p:attrName>
                                        </p:attrNameLst>
                                      </p:cBhvr>
                                      <p:tavLst>
                                        <p:tav tm="0">
                                          <p:val>
                                            <p:fltVal val="0"/>
                                          </p:val>
                                        </p:tav>
                                        <p:tav tm="100000">
                                          <p:val>
                                            <p:strVal val="#ppt_w"/>
                                          </p:val>
                                        </p:tav>
                                      </p:tavLst>
                                    </p:anim>
                                    <p:anim calcmode="lin" valueType="num">
                                      <p:cBhvr>
                                        <p:cTn id="13" dur="500" fill="hold"/>
                                        <p:tgtEl>
                                          <p:spTgt spid="1213447"/>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12" presetClass="entr" presetSubtype="4" fill="hold" nodeType="afterEffect">
                                  <p:stCondLst>
                                    <p:cond delay="0"/>
                                  </p:stCondLst>
                                  <p:childTnLst>
                                    <p:set>
                                      <p:cBhvr>
                                        <p:cTn id="16" dur="1" fill="hold">
                                          <p:stCondLst>
                                            <p:cond delay="0"/>
                                          </p:stCondLst>
                                        </p:cTn>
                                        <p:tgtEl>
                                          <p:spTgt spid="1213450"/>
                                        </p:tgtEl>
                                        <p:attrNameLst>
                                          <p:attrName>style.visibility</p:attrName>
                                        </p:attrNameLst>
                                      </p:cBhvr>
                                      <p:to>
                                        <p:strVal val="visible"/>
                                      </p:to>
                                    </p:set>
                                    <p:animEffect transition="in" filter="slide(fromBottom)">
                                      <p:cBhvr>
                                        <p:cTn id="17" dur="500"/>
                                        <p:tgtEl>
                                          <p:spTgt spid="1213450"/>
                                        </p:tgtEl>
                                      </p:cBhvr>
                                    </p:animEffect>
                                  </p:childTnLst>
                                </p:cTn>
                              </p:par>
                            </p:childTnLst>
                          </p:cTn>
                        </p:par>
                        <p:par>
                          <p:cTn id="18" fill="hold">
                            <p:stCondLst>
                              <p:cond delay="1500"/>
                            </p:stCondLst>
                            <p:childTnLst>
                              <p:par>
                                <p:cTn id="19" presetID="12" presetClass="entr" presetSubtype="4" fill="hold" nodeType="afterEffect">
                                  <p:stCondLst>
                                    <p:cond delay="0"/>
                                  </p:stCondLst>
                                  <p:childTnLst>
                                    <p:set>
                                      <p:cBhvr>
                                        <p:cTn id="20" dur="1" fill="hold">
                                          <p:stCondLst>
                                            <p:cond delay="0"/>
                                          </p:stCondLst>
                                        </p:cTn>
                                        <p:tgtEl>
                                          <p:spTgt spid="1213449"/>
                                        </p:tgtEl>
                                        <p:attrNameLst>
                                          <p:attrName>style.visibility</p:attrName>
                                        </p:attrNameLst>
                                      </p:cBhvr>
                                      <p:to>
                                        <p:strVal val="visible"/>
                                      </p:to>
                                    </p:set>
                                    <p:animEffect transition="in" filter="slide(fromBottom)">
                                      <p:cBhvr>
                                        <p:cTn id="21" dur="500"/>
                                        <p:tgtEl>
                                          <p:spTgt spid="1213449"/>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213451"/>
                                        </p:tgtEl>
                                        <p:attrNameLst>
                                          <p:attrName>style.visibility</p:attrName>
                                        </p:attrNameLst>
                                      </p:cBhvr>
                                      <p:to>
                                        <p:strVal val="visible"/>
                                      </p:to>
                                    </p:set>
                                    <p:animEffect transition="in" filter="wipe(left)">
                                      <p:cBhvr>
                                        <p:cTn id="25" dur="500"/>
                                        <p:tgtEl>
                                          <p:spTgt spid="1213451"/>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1213452"/>
                                        </p:tgtEl>
                                        <p:attrNameLst>
                                          <p:attrName>style.visibility</p:attrName>
                                        </p:attrNameLst>
                                      </p:cBhvr>
                                      <p:to>
                                        <p:strVal val="visible"/>
                                      </p:to>
                                    </p:set>
                                    <p:animEffect transition="in" filter="wipe(left)">
                                      <p:cBhvr>
                                        <p:cTn id="29" dur="500"/>
                                        <p:tgtEl>
                                          <p:spTgt spid="1213452"/>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1213454"/>
                                        </p:tgtEl>
                                        <p:attrNameLst>
                                          <p:attrName>style.visibility</p:attrName>
                                        </p:attrNameLst>
                                      </p:cBhvr>
                                      <p:to>
                                        <p:strVal val="visible"/>
                                      </p:to>
                                    </p:set>
                                    <p:animEffect transition="in" filter="slide(fromBottom)">
                                      <p:cBhvr>
                                        <p:cTn id="34" dur="500"/>
                                        <p:tgtEl>
                                          <p:spTgt spid="1213454"/>
                                        </p:tgtEl>
                                      </p:cBhvr>
                                    </p:animEffect>
                                  </p:childTnLst>
                                </p:cTn>
                              </p:par>
                            </p:childTnLst>
                          </p:cTn>
                        </p:par>
                        <p:par>
                          <p:cTn id="35" fill="hold">
                            <p:stCondLst>
                              <p:cond delay="500"/>
                            </p:stCondLst>
                            <p:childTnLst>
                              <p:par>
                                <p:cTn id="36" presetID="22" presetClass="entr" presetSubtype="4" fill="hold" nodeType="afterEffect">
                                  <p:stCondLst>
                                    <p:cond delay="0"/>
                                  </p:stCondLst>
                                  <p:childTnLst>
                                    <p:set>
                                      <p:cBhvr>
                                        <p:cTn id="37" dur="1" fill="hold">
                                          <p:stCondLst>
                                            <p:cond delay="0"/>
                                          </p:stCondLst>
                                        </p:cTn>
                                        <p:tgtEl>
                                          <p:spTgt spid="1213453"/>
                                        </p:tgtEl>
                                        <p:attrNameLst>
                                          <p:attrName>style.visibility</p:attrName>
                                        </p:attrNameLst>
                                      </p:cBhvr>
                                      <p:to>
                                        <p:strVal val="visible"/>
                                      </p:to>
                                    </p:set>
                                    <p:animEffect transition="in" filter="wipe(down)">
                                      <p:cBhvr>
                                        <p:cTn id="38" dur="500"/>
                                        <p:tgtEl>
                                          <p:spTgt spid="1213453"/>
                                        </p:tgtEl>
                                      </p:cBhvr>
                                    </p:animEffect>
                                  </p:childTnLst>
                                </p:cTn>
                              </p:par>
                            </p:childTnLst>
                          </p:cTn>
                        </p:par>
                        <p:par>
                          <p:cTn id="39" fill="hold">
                            <p:stCondLst>
                              <p:cond delay="1000"/>
                            </p:stCondLst>
                            <p:childTnLst>
                              <p:par>
                                <p:cTn id="40" presetID="12" presetClass="entr" presetSubtype="8" fill="hold" grpId="0" nodeType="afterEffect">
                                  <p:stCondLst>
                                    <p:cond delay="0"/>
                                  </p:stCondLst>
                                  <p:childTnLst>
                                    <p:set>
                                      <p:cBhvr>
                                        <p:cTn id="41" dur="1" fill="hold">
                                          <p:stCondLst>
                                            <p:cond delay="0"/>
                                          </p:stCondLst>
                                        </p:cTn>
                                        <p:tgtEl>
                                          <p:spTgt spid="1213446"/>
                                        </p:tgtEl>
                                        <p:attrNameLst>
                                          <p:attrName>style.visibility</p:attrName>
                                        </p:attrNameLst>
                                      </p:cBhvr>
                                      <p:to>
                                        <p:strVal val="visible"/>
                                      </p:to>
                                    </p:set>
                                    <p:animEffect transition="in" filter="slide(fromLeft)">
                                      <p:cBhvr>
                                        <p:cTn id="42" dur="500"/>
                                        <p:tgtEl>
                                          <p:spTgt spid="1213446"/>
                                        </p:tgtEl>
                                      </p:cBhvr>
                                    </p:animEffect>
                                  </p:childTnLst>
                                  <p:subTnLst>
                                    <p:audio>
                                      <p:cMediaNode>
                                        <p:cTn display="0" masterRel="sameClick">
                                          <p:stCondLst>
                                            <p:cond evt="begin" delay="0">
                                              <p:tn val="40"/>
                                            </p:cond>
                                          </p:stCondLst>
                                          <p:endCondLst>
                                            <p:cond evt="onStopAudio" delay="0">
                                              <p:tgtEl>
                                                <p:sldTgt/>
                                              </p:tgtEl>
                                            </p:cond>
                                          </p:endCondLst>
                                        </p:cTn>
                                        <p:tgtEl>
                                          <p:sndTgt r:embed="rId1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13461"/>
                                        </p:tgtEl>
                                        <p:attrNameLst>
                                          <p:attrName>style.visibility</p:attrName>
                                        </p:attrNameLst>
                                      </p:cBhvr>
                                      <p:to>
                                        <p:strVal val="visible"/>
                                      </p:to>
                                    </p:set>
                                    <p:animEffect transition="in" filter="wipe(left)">
                                      <p:cBhvr>
                                        <p:cTn id="47" dur="500"/>
                                        <p:tgtEl>
                                          <p:spTgt spid="1213461"/>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1213448"/>
                                        </p:tgtEl>
                                        <p:attrNameLst>
                                          <p:attrName>style.visibility</p:attrName>
                                        </p:attrNameLst>
                                      </p:cBhvr>
                                      <p:to>
                                        <p:strVal val="visible"/>
                                      </p:to>
                                    </p:set>
                                    <p:animEffect transition="in" filter="slide(fromBottom)">
                                      <p:cBhvr>
                                        <p:cTn id="52" dur="500"/>
                                        <p:tgtEl>
                                          <p:spTgt spid="1213448"/>
                                        </p:tgtEl>
                                      </p:cBhvr>
                                    </p:animEffect>
                                  </p:childTnLst>
                                </p:cTn>
                              </p:par>
                            </p:childTnLst>
                          </p:cTn>
                        </p:par>
                        <p:par>
                          <p:cTn id="53" fill="hold">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1213455"/>
                                        </p:tgtEl>
                                        <p:attrNameLst>
                                          <p:attrName>style.visibility</p:attrName>
                                        </p:attrNameLst>
                                      </p:cBhvr>
                                      <p:to>
                                        <p:strVal val="visible"/>
                                      </p:to>
                                    </p:set>
                                    <p:animEffect transition="in" filter="wipe(down)">
                                      <p:cBhvr>
                                        <p:cTn id="56" dur="500"/>
                                        <p:tgtEl>
                                          <p:spTgt spid="1213455"/>
                                        </p:tgtEl>
                                      </p:cBhvr>
                                    </p:animEffect>
                                  </p:childTnLst>
                                </p:cTn>
                              </p:par>
                            </p:childTnLst>
                          </p:cTn>
                        </p:par>
                        <p:par>
                          <p:cTn id="57" fill="hold">
                            <p:stCondLst>
                              <p:cond delay="1000"/>
                            </p:stCondLst>
                            <p:childTnLst>
                              <p:par>
                                <p:cTn id="58" presetID="12" presetClass="entr" presetSubtype="8" fill="hold" grpId="0" nodeType="afterEffect">
                                  <p:stCondLst>
                                    <p:cond delay="0"/>
                                  </p:stCondLst>
                                  <p:childTnLst>
                                    <p:set>
                                      <p:cBhvr>
                                        <p:cTn id="59" dur="1" fill="hold">
                                          <p:stCondLst>
                                            <p:cond delay="0"/>
                                          </p:stCondLst>
                                        </p:cTn>
                                        <p:tgtEl>
                                          <p:spTgt spid="1213456"/>
                                        </p:tgtEl>
                                        <p:attrNameLst>
                                          <p:attrName>style.visibility</p:attrName>
                                        </p:attrNameLst>
                                      </p:cBhvr>
                                      <p:to>
                                        <p:strVal val="visible"/>
                                      </p:to>
                                    </p:set>
                                    <p:animEffect transition="in" filter="slide(fromLeft)">
                                      <p:cBhvr>
                                        <p:cTn id="60" dur="500"/>
                                        <p:tgtEl>
                                          <p:spTgt spid="1213456"/>
                                        </p:tgtEl>
                                      </p:cBhvr>
                                    </p:animEffect>
                                  </p:childTnLst>
                                  <p:subTnLst>
                                    <p:audio>
                                      <p:cMediaNode>
                                        <p:cTn display="0" masterRel="sameClick">
                                          <p:stCondLst>
                                            <p:cond evt="begin" delay="0">
                                              <p:tn val="58"/>
                                            </p:cond>
                                          </p:stCondLst>
                                          <p:endCondLst>
                                            <p:cond evt="onStopAudio" delay="0">
                                              <p:tgtEl>
                                                <p:sldTgt/>
                                              </p:tgtEl>
                                            </p:cond>
                                          </p:endCondLst>
                                        </p:cTn>
                                        <p:tgtEl>
                                          <p:sndTgt r:embed="rId14" name="chimes.wav"/>
                                        </p:tgtEl>
                                      </p:cMediaNode>
                                    </p:audio>
                                  </p:sub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213463"/>
                                        </p:tgtEl>
                                        <p:attrNameLst>
                                          <p:attrName>style.visibility</p:attrName>
                                        </p:attrNameLst>
                                      </p:cBhvr>
                                      <p:to>
                                        <p:strVal val="visible"/>
                                      </p:to>
                                    </p:set>
                                    <p:animEffect transition="in" filter="wipe(left)">
                                      <p:cBhvr>
                                        <p:cTn id="65" dur="500"/>
                                        <p:tgtEl>
                                          <p:spTgt spid="1213463"/>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4" fill="hold" nodeType="clickEffect">
                                  <p:stCondLst>
                                    <p:cond delay="0"/>
                                  </p:stCondLst>
                                  <p:childTnLst>
                                    <p:set>
                                      <p:cBhvr>
                                        <p:cTn id="69" dur="1" fill="hold">
                                          <p:stCondLst>
                                            <p:cond delay="0"/>
                                          </p:stCondLst>
                                        </p:cTn>
                                        <p:tgtEl>
                                          <p:spTgt spid="1213457"/>
                                        </p:tgtEl>
                                        <p:attrNameLst>
                                          <p:attrName>style.visibility</p:attrName>
                                        </p:attrNameLst>
                                      </p:cBhvr>
                                      <p:to>
                                        <p:strVal val="visible"/>
                                      </p:to>
                                    </p:set>
                                    <p:animEffect transition="in" filter="slide(fromBottom)">
                                      <p:cBhvr>
                                        <p:cTn id="70" dur="500"/>
                                        <p:tgtEl>
                                          <p:spTgt spid="1213457"/>
                                        </p:tgtEl>
                                      </p:cBhvr>
                                    </p:animEffect>
                                  </p:childTnLst>
                                </p:cTn>
                              </p:par>
                            </p:childTnLst>
                          </p:cTn>
                        </p:par>
                        <p:par>
                          <p:cTn id="71" fill="hold">
                            <p:stCondLst>
                              <p:cond delay="500"/>
                            </p:stCondLst>
                            <p:childTnLst>
                              <p:par>
                                <p:cTn id="72" presetID="12" presetClass="entr" presetSubtype="8" fill="hold" grpId="0" nodeType="afterEffect">
                                  <p:stCondLst>
                                    <p:cond delay="0"/>
                                  </p:stCondLst>
                                  <p:childTnLst>
                                    <p:set>
                                      <p:cBhvr>
                                        <p:cTn id="73" dur="1" fill="hold">
                                          <p:stCondLst>
                                            <p:cond delay="0"/>
                                          </p:stCondLst>
                                        </p:cTn>
                                        <p:tgtEl>
                                          <p:spTgt spid="1213458"/>
                                        </p:tgtEl>
                                        <p:attrNameLst>
                                          <p:attrName>style.visibility</p:attrName>
                                        </p:attrNameLst>
                                      </p:cBhvr>
                                      <p:to>
                                        <p:strVal val="visible"/>
                                      </p:to>
                                    </p:set>
                                    <p:animEffect transition="in" filter="slide(fromLeft)">
                                      <p:cBhvr>
                                        <p:cTn id="74" dur="500"/>
                                        <p:tgtEl>
                                          <p:spTgt spid="1213458"/>
                                        </p:tgtEl>
                                      </p:cBhvr>
                                    </p:animEffect>
                                  </p:childTnLst>
                                  <p:subTnLst>
                                    <p:audio>
                                      <p:cMediaNode>
                                        <p:cTn display="0" masterRel="sameClick">
                                          <p:stCondLst>
                                            <p:cond evt="begin" delay="0">
                                              <p:tn val="72"/>
                                            </p:cond>
                                          </p:stCondLst>
                                          <p:endCondLst>
                                            <p:cond evt="onStopAudio" delay="0">
                                              <p:tgtEl>
                                                <p:sldTgt/>
                                              </p:tgtEl>
                                            </p:cond>
                                          </p:endCondLst>
                                        </p:cTn>
                                        <p:tgtEl>
                                          <p:sndTgt r:embed="rId15" name="type.wav"/>
                                        </p:tgtEl>
                                      </p:cMediaNode>
                                    </p:audio>
                                  </p:sub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213462"/>
                                        </p:tgtEl>
                                        <p:attrNameLst>
                                          <p:attrName>style.visibility</p:attrName>
                                        </p:attrNameLst>
                                      </p:cBhvr>
                                      <p:to>
                                        <p:strVal val="visible"/>
                                      </p:to>
                                    </p:set>
                                    <p:animEffect transition="in" filter="wipe(left)">
                                      <p:cBhvr>
                                        <p:cTn id="79" dur="500"/>
                                        <p:tgtEl>
                                          <p:spTgt spid="1213462"/>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4" fill="hold" nodeType="clickEffect">
                                  <p:stCondLst>
                                    <p:cond delay="0"/>
                                  </p:stCondLst>
                                  <p:childTnLst>
                                    <p:set>
                                      <p:cBhvr>
                                        <p:cTn id="83" dur="1" fill="hold">
                                          <p:stCondLst>
                                            <p:cond delay="0"/>
                                          </p:stCondLst>
                                        </p:cTn>
                                        <p:tgtEl>
                                          <p:spTgt spid="1213459"/>
                                        </p:tgtEl>
                                        <p:attrNameLst>
                                          <p:attrName>style.visibility</p:attrName>
                                        </p:attrNameLst>
                                      </p:cBhvr>
                                      <p:to>
                                        <p:strVal val="visible"/>
                                      </p:to>
                                    </p:set>
                                    <p:animEffect transition="in" filter="slide(fromBottom)">
                                      <p:cBhvr>
                                        <p:cTn id="84" dur="500"/>
                                        <p:tgtEl>
                                          <p:spTgt spid="1213459"/>
                                        </p:tgtEl>
                                      </p:cBhvr>
                                    </p:animEffect>
                                  </p:childTnLst>
                                </p:cTn>
                              </p:par>
                            </p:childTnLst>
                          </p:cTn>
                        </p:par>
                        <p:par>
                          <p:cTn id="85" fill="hold">
                            <p:stCondLst>
                              <p:cond delay="500"/>
                            </p:stCondLst>
                            <p:childTnLst>
                              <p:par>
                                <p:cTn id="86" presetID="12" presetClass="entr" presetSubtype="2" fill="hold" grpId="0" nodeType="afterEffect">
                                  <p:stCondLst>
                                    <p:cond delay="0"/>
                                  </p:stCondLst>
                                  <p:childTnLst>
                                    <p:set>
                                      <p:cBhvr>
                                        <p:cTn id="87" dur="1" fill="hold">
                                          <p:stCondLst>
                                            <p:cond delay="0"/>
                                          </p:stCondLst>
                                        </p:cTn>
                                        <p:tgtEl>
                                          <p:spTgt spid="1213460"/>
                                        </p:tgtEl>
                                        <p:attrNameLst>
                                          <p:attrName>style.visibility</p:attrName>
                                        </p:attrNameLst>
                                      </p:cBhvr>
                                      <p:to>
                                        <p:strVal val="visible"/>
                                      </p:to>
                                    </p:set>
                                    <p:animEffect transition="in" filter="slide(fromRight)">
                                      <p:cBhvr>
                                        <p:cTn id="88" dur="500"/>
                                        <p:tgtEl>
                                          <p:spTgt spid="1213460"/>
                                        </p:tgtEl>
                                      </p:cBhvr>
                                    </p:animEffect>
                                  </p:childTnLst>
                                  <p:subTnLst>
                                    <p:audio>
                                      <p:cMediaNode>
                                        <p:cTn display="0" masterRel="sameClick">
                                          <p:stCondLst>
                                            <p:cond evt="begin" delay="0">
                                              <p:tn val="86"/>
                                            </p:cond>
                                          </p:stCondLst>
                                          <p:endCondLst>
                                            <p:cond evt="onStopAudio" delay="0">
                                              <p:tgtEl>
                                                <p:sldTgt/>
                                              </p:tgtEl>
                                            </p:cond>
                                          </p:endCondLst>
                                        </p:cTn>
                                        <p:tgtEl>
                                          <p:sndTgt r:embed="rId16" name="cashreg.wav"/>
                                        </p:tgtEl>
                                      </p:cMediaNode>
                                    </p:audio>
                                  </p:sub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1213464"/>
                                        </p:tgtEl>
                                        <p:attrNameLst>
                                          <p:attrName>style.visibility</p:attrName>
                                        </p:attrNameLst>
                                      </p:cBhvr>
                                      <p:to>
                                        <p:strVal val="visible"/>
                                      </p:to>
                                    </p:set>
                                    <p:animEffect transition="in" filter="wipe(down)">
                                      <p:cBhvr>
                                        <p:cTn id="93" dur="500"/>
                                        <p:tgtEl>
                                          <p:spTgt spid="1213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3446" grpId="0" bldLvl="0" animBg="1" autoUpdateAnimBg="0"/>
      <p:bldP spid="1213447" grpId="0" bldLvl="0" animBg="1" autoUpdateAnimBg="0"/>
      <p:bldP spid="1213451" grpId="0" bldLvl="0" animBg="1"/>
      <p:bldP spid="1213452" grpId="0" autoUpdateAnimBg="0"/>
      <p:bldP spid="1213455" grpId="0" bldLvl="0" animBg="1"/>
      <p:bldP spid="1213456" grpId="0" bldLvl="0" animBg="1" autoUpdateAnimBg="0"/>
      <p:bldP spid="1213458" grpId="0" bldLvl="0" animBg="1" autoUpdateAnimBg="0"/>
      <p:bldP spid="1213460" grpId="0" bldLvl="0" animBg="1" autoUpdateAnimBg="0"/>
      <p:bldP spid="1213461" grpId="0" bldLvl="0" animBg="1" autoUpdateAnimBg="0"/>
      <p:bldP spid="1213462" grpId="0" bldLvl="0" animBg="1" autoUpdateAnimBg="0"/>
      <p:bldP spid="1213463" grpId="0" bldLvl="0" animBg="1" autoUpdateAnimBg="0"/>
      <p:bldP spid="1213464" grpId="0" bldLvl="0" animBg="1" autoUpdateAnimBg="0"/>
      <p:bldP spid="2"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4"/>
          <p:cNvSpPr>
            <a:spLocks noGrp="1" noChangeArrowheads="1"/>
          </p:cNvSpPr>
          <p:nvPr>
            <p:ph type="title"/>
          </p:nvPr>
        </p:nvSpPr>
        <p:spPr bwMode="auto">
          <a:xfrm>
            <a:off x="336062" y="238370"/>
            <a:ext cx="5937739" cy="443522"/>
          </a:xfrm>
        </p:spPr>
        <p:txBody>
          <a:bodyPr lIns="112541" tIns="56270" rIns="112541" bIns="56270"/>
          <a:lstStyle/>
          <a:p>
            <a:pPr eaLnBrk="1" hangingPunct="1"/>
            <a:r>
              <a:rPr lang="zh-CN" altLang="zh-CN" sz="2955">
                <a:solidFill>
                  <a:srgbClr val="FF0000"/>
                </a:solidFill>
              </a:rPr>
              <a:t>应用安全</a:t>
            </a:r>
            <a:r>
              <a:rPr lang="zh-CN" altLang="zh-CN" sz="2460">
                <a:solidFill>
                  <a:srgbClr val="0000FF"/>
                </a:solidFill>
              </a:rPr>
              <a:t>（</a:t>
            </a:r>
            <a:r>
              <a:rPr lang="en-US" altLang="zh-CN" sz="2460">
                <a:solidFill>
                  <a:srgbClr val="0000FF"/>
                </a:solidFill>
              </a:rPr>
              <a:t>Application Security</a:t>
            </a:r>
            <a:r>
              <a:rPr lang="zh-CN" altLang="zh-CN" sz="2460">
                <a:solidFill>
                  <a:srgbClr val="0000FF"/>
                </a:solidFill>
              </a:rPr>
              <a:t>）</a:t>
            </a:r>
            <a:r>
              <a:rPr lang="zh-CN" altLang="zh-CN" sz="2460"/>
              <a:t>技术、程序和参与者。</a:t>
            </a:r>
            <a:endParaRPr lang="zh-CN" altLang="en-US" sz="2460">
              <a:solidFill>
                <a:srgbClr val="0000FF"/>
              </a:solidFill>
            </a:endParaRPr>
          </a:p>
        </p:txBody>
      </p:sp>
      <p:pic>
        <p:nvPicPr>
          <p:cNvPr id="16896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42478" y="2454031"/>
            <a:ext cx="8241323" cy="4321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777631" y="681892"/>
            <a:ext cx="11168185" cy="1604645"/>
          </a:xfrm>
          <a:prstGeom prst="rect">
            <a:avLst/>
          </a:prstGeom>
        </p:spPr>
        <p:txBody>
          <a:bodyPr>
            <a:spAutoFit/>
          </a:bodyPr>
          <a:lstStyle/>
          <a:p>
            <a:pPr>
              <a:defRPr/>
            </a:pPr>
            <a:r>
              <a:rPr lang="en-US" altLang="zh-CN" sz="2460" b="1" dirty="0">
                <a:solidFill>
                  <a:srgbClr val="0000FF"/>
                </a:solidFill>
                <a:latin typeface="+mn-ea"/>
                <a:ea typeface="+mn-ea"/>
              </a:rPr>
              <a:t> </a:t>
            </a:r>
            <a:r>
              <a:rPr lang="zh-CN" altLang="zh-CN" sz="2460" b="1" dirty="0">
                <a:solidFill>
                  <a:srgbClr val="0000FF"/>
                </a:solidFill>
                <a:latin typeface="+mn-ea"/>
                <a:ea typeface="+mn-ea"/>
              </a:rPr>
              <a:t>——是</a:t>
            </a:r>
            <a:r>
              <a:rPr lang="zh-CN" altLang="zh-CN" sz="2460" b="1" dirty="0">
                <a:solidFill>
                  <a:srgbClr val="FF0000"/>
                </a:solidFill>
                <a:latin typeface="+mn-ea"/>
                <a:ea typeface="+mn-ea"/>
              </a:rPr>
              <a:t>一种执行过程，用以对一个机构的应用程序进行控制和度量</a:t>
            </a:r>
            <a:r>
              <a:rPr lang="zh-CN" altLang="zh-CN" sz="2460" b="1" dirty="0">
                <a:solidFill>
                  <a:srgbClr val="0000FF"/>
                </a:solidFill>
                <a:latin typeface="+mn-ea"/>
                <a:ea typeface="+mn-ea"/>
              </a:rPr>
              <a:t>，以管理这些程序的使用风险。控制和度量可以作用于应用程序本身（包括进程、组件、软件和结果）、应用程序的数据（包括配置数据、用户数据、组织数据）以及涉及应用程序生命周期</a:t>
            </a:r>
            <a:r>
              <a:rPr lang="zh-CN" altLang="en-US" sz="2460" b="1" dirty="0">
                <a:solidFill>
                  <a:srgbClr val="0000FF"/>
                </a:solidFill>
                <a:latin typeface="+mn-ea"/>
                <a:ea typeface="+mn-ea"/>
              </a:rPr>
              <a:t>。</a:t>
            </a:r>
            <a:endParaRPr lang="zh-CN" altLang="en-US" sz="2460" b="1" dirty="0">
              <a:solidFill>
                <a:srgbClr val="0000FF"/>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68963"/>
                                        </p:tgtEl>
                                        <p:attrNameLst>
                                          <p:attrName>style.visibility</p:attrName>
                                        </p:attrNameLst>
                                      </p:cBhvr>
                                      <p:to>
                                        <p:strVal val="visible"/>
                                      </p:to>
                                    </p:set>
                                    <p:anim calcmode="lin" valueType="num">
                                      <p:cBhvr>
                                        <p:cTn id="13" dur="2000" fill="hold"/>
                                        <p:tgtEl>
                                          <p:spTgt spid="168963"/>
                                        </p:tgtEl>
                                        <p:attrNameLst>
                                          <p:attrName>ppt_w</p:attrName>
                                        </p:attrNameLst>
                                      </p:cBhvr>
                                      <p:tavLst>
                                        <p:tav tm="0">
                                          <p:val>
                                            <p:fltVal val="0"/>
                                          </p:val>
                                        </p:tav>
                                        <p:tav tm="100000">
                                          <p:val>
                                            <p:strVal val="#ppt_w"/>
                                          </p:val>
                                        </p:tav>
                                      </p:tavLst>
                                    </p:anim>
                                    <p:anim calcmode="lin" valueType="num">
                                      <p:cBhvr>
                                        <p:cTn id="14" dur="2000" fill="hold"/>
                                        <p:tgtEl>
                                          <p:spTgt spid="168963"/>
                                        </p:tgtEl>
                                        <p:attrNameLst>
                                          <p:attrName>ppt_h</p:attrName>
                                        </p:attrNameLst>
                                      </p:cBhvr>
                                      <p:tavLst>
                                        <p:tav tm="0">
                                          <p:val>
                                            <p:fltVal val="0"/>
                                          </p:val>
                                        </p:tav>
                                        <p:tav tm="100000">
                                          <p:val>
                                            <p:strVal val="#ppt_h"/>
                                          </p:val>
                                        </p:tav>
                                      </p:tavLst>
                                    </p:anim>
                                    <p:animEffect transition="in" filter="fade">
                                      <p:cBhvr>
                                        <p:cTn id="15" dur="2000"/>
                                        <p:tgtEl>
                                          <p:spTgt spid="168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p:nvPr/>
        </p:nvGrpSpPr>
        <p:grpSpPr bwMode="auto">
          <a:xfrm>
            <a:off x="1203569" y="1279769"/>
            <a:ext cx="10134601" cy="3751385"/>
            <a:chOff x="624" y="1200"/>
            <a:chExt cx="4788" cy="1920"/>
          </a:xfrm>
        </p:grpSpPr>
        <p:sp>
          <p:nvSpPr>
            <p:cNvPr id="1214470" name="AutoShape 6"/>
            <p:cNvSpPr>
              <a:spLocks noChangeArrowheads="1"/>
            </p:cNvSpPr>
            <p:nvPr/>
          </p:nvSpPr>
          <p:spPr bwMode="auto">
            <a:xfrm>
              <a:off x="624" y="1200"/>
              <a:ext cx="1564" cy="1920"/>
            </a:xfrm>
            <a:prstGeom prst="cloudCallout">
              <a:avLst>
                <a:gd name="adj1" fmla="val -12204"/>
                <a:gd name="adj2" fmla="val 40782"/>
              </a:avLst>
            </a:prstGeom>
            <a:solidFill>
              <a:srgbClr val="66FFFF"/>
            </a:solidFill>
            <a:ln w="12700" cap="sq">
              <a:solidFill>
                <a:schemeClr val="tx1"/>
              </a:solidFill>
              <a:round/>
              <a:headEnd type="none" w="sm" len="sm"/>
              <a:tailEnd type="none" w="sm" len="sm"/>
            </a:ln>
            <a:effectLst>
              <a:outerShdw dist="107763" dir="13500000" algn="ctr" rotWithShape="0">
                <a:schemeClr val="bg2"/>
              </a:outerShdw>
            </a:effectLst>
          </p:spPr>
          <p:txBody>
            <a:bodyPr wrap="none" anchor="ctr"/>
            <a:lstStyle/>
            <a:p>
              <a:pPr algn="ctr" eaLnBrk="1" hangingPunct="1">
                <a:defRPr/>
              </a:pPr>
              <a:r>
                <a:rPr lang="en-US" altLang="zh-CN" sz="4430">
                  <a:effectLst>
                    <a:outerShdw blurRad="38100" dist="38100" dir="2700000" algn="tl">
                      <a:srgbClr val="000000"/>
                    </a:outerShdw>
                  </a:effectLst>
                  <a:latin typeface="Times New Roman" panose="02020603050405020304" pitchFamily="18" charset="0"/>
                  <a:ea typeface="楷体_GB2312" pitchFamily="49" charset="-122"/>
                </a:rPr>
                <a:t>Internet</a:t>
              </a:r>
              <a:endParaRPr lang="en-US" altLang="zh-CN" sz="4430">
                <a:effectLst>
                  <a:outerShdw blurRad="38100" dist="38100" dir="2700000" algn="tl">
                    <a:srgbClr val="000000"/>
                  </a:outerShdw>
                </a:effectLst>
                <a:latin typeface="Times New Roman" panose="02020603050405020304" pitchFamily="18" charset="0"/>
                <a:ea typeface="楷体_GB2312" pitchFamily="49" charset="-122"/>
              </a:endParaRPr>
            </a:p>
          </p:txBody>
        </p:sp>
        <p:sp>
          <p:nvSpPr>
            <p:cNvPr id="1214471" name="Oval 7"/>
            <p:cNvSpPr>
              <a:spLocks noChangeArrowheads="1"/>
            </p:cNvSpPr>
            <p:nvPr/>
          </p:nvSpPr>
          <p:spPr bwMode="auto">
            <a:xfrm>
              <a:off x="4608" y="2160"/>
              <a:ext cx="804" cy="336"/>
            </a:xfrm>
            <a:prstGeom prst="ellipse">
              <a:avLst/>
            </a:prstGeom>
            <a:noFill/>
            <a:ln w="12700" cap="sq">
              <a:noFill/>
              <a:round/>
              <a:headEnd type="none" w="sm" len="sm"/>
              <a:tailEnd type="none" w="sm" len="sm"/>
            </a:ln>
            <a:effectLst/>
          </p:spPr>
          <p:txBody>
            <a:bodyPr wrap="none" anchor="ctr"/>
            <a:lstStyle/>
            <a:p>
              <a:pPr algn="ctr" eaLnBrk="1" hangingPunct="1">
                <a:defRPr/>
              </a:pPr>
              <a:r>
                <a:rPr lang="zh-CN" altLang="en-US" sz="100" b="1" dirty="0">
                  <a:effectLst>
                    <a:outerShdw blurRad="38100" dist="38100" dir="2700000" algn="tl">
                      <a:srgbClr val="C0C0C0"/>
                    </a:outerShdw>
                  </a:effectLst>
                  <a:latin typeface="Times New Roman" panose="02020603050405020304" pitchFamily="18" charset="0"/>
                  <a:ea typeface="楷体_GB2312" pitchFamily="49" charset="-122"/>
                </a:rPr>
                <a:t>用户</a:t>
              </a:r>
              <a:endParaRPr lang="zh-CN" altLang="en-US" sz="4430" b="1" dirty="0">
                <a:effectLst>
                  <a:outerShdw blurRad="38100" dist="38100" dir="2700000" algn="tl">
                    <a:srgbClr val="C0C0C0"/>
                  </a:outerShdw>
                </a:effectLst>
                <a:latin typeface="Times New Roman" panose="02020603050405020304" pitchFamily="18" charset="0"/>
                <a:ea typeface="楷体_GB2312" pitchFamily="49" charset="-122"/>
              </a:endParaRPr>
            </a:p>
          </p:txBody>
        </p:sp>
      </p:grpSp>
      <p:sp>
        <p:nvSpPr>
          <p:cNvPr id="1214472" name="AutoShape 8"/>
          <p:cNvSpPr>
            <a:spLocks noChangeArrowheads="1"/>
          </p:cNvSpPr>
          <p:nvPr/>
        </p:nvSpPr>
        <p:spPr bwMode="auto">
          <a:xfrm rot="-218200">
            <a:off x="3530601" y="3530600"/>
            <a:ext cx="6502400" cy="750277"/>
          </a:xfrm>
          <a:prstGeom prst="rightArrow">
            <a:avLst>
              <a:gd name="adj1" fmla="val 50000"/>
              <a:gd name="adj2" fmla="val 200015"/>
            </a:avLst>
          </a:prstGeom>
          <a:solidFill>
            <a:srgbClr val="006600"/>
          </a:solidFill>
          <a:ln w="12700" cap="sq">
            <a:solidFill>
              <a:schemeClr val="tx1"/>
            </a:solidFill>
            <a:miter lim="800000"/>
            <a:headEnd type="non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CCFF"/>
                </a:solidFill>
                <a:latin typeface="Times New Roman" panose="02020603050405020304" pitchFamily="18" charset="0"/>
                <a:ea typeface="楷体_GB2312"/>
                <a:cs typeface="楷体_GB2312"/>
              </a:rPr>
              <a:t>信息传送自由</a:t>
            </a:r>
            <a:endParaRPr lang="zh-CN" altLang="en-US" sz="2460" b="1">
              <a:solidFill>
                <a:srgbClr val="FFCCFF"/>
              </a:solidFill>
              <a:latin typeface="Times New Roman" panose="02020603050405020304" pitchFamily="18" charset="0"/>
              <a:ea typeface="楷体_GB2312"/>
              <a:cs typeface="楷体_GB2312"/>
            </a:endParaRPr>
          </a:p>
        </p:txBody>
      </p:sp>
      <p:sp>
        <p:nvSpPr>
          <p:cNvPr id="1214473" name="AutoShape 9"/>
          <p:cNvSpPr>
            <a:spLocks noChangeArrowheads="1"/>
          </p:cNvSpPr>
          <p:nvPr/>
        </p:nvSpPr>
        <p:spPr bwMode="auto">
          <a:xfrm>
            <a:off x="3438769" y="1373554"/>
            <a:ext cx="6197600" cy="2250831"/>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0 h 21600"/>
              <a:gd name="T8" fmla="*/ 0 60000 65536"/>
              <a:gd name="T9" fmla="*/ 5898240 60000 65536"/>
              <a:gd name="T10" fmla="*/ 11796480 60000 65536"/>
              <a:gd name="T11" fmla="*/ 17694720 60000 65536"/>
              <a:gd name="T12" fmla="*/ 2160 w 21600"/>
              <a:gd name="T13" fmla="*/ 8640 h 21600"/>
              <a:gd name="T14" fmla="*/ 19440 w 21600"/>
              <a:gd name="T15" fmla="*/ 12960 h 21600"/>
            </a:gdLst>
            <a:ahLst/>
            <a:cxnLst>
              <a:cxn ang="T8">
                <a:pos x="T0" y="T1"/>
              </a:cxn>
              <a:cxn ang="T9">
                <a:pos x="T2" y="T3"/>
              </a:cxn>
              <a:cxn ang="T10">
                <a:pos x="T4" y="T5"/>
              </a:cxn>
              <a:cxn ang="T11">
                <a:pos x="T6" y="T7"/>
              </a:cxn>
            </a:cxnLst>
            <a:rect l="T12" t="T13" r="T14" b="T15"/>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lnTo>
                  <a:pt x="10800" y="0"/>
                </a:lnTo>
                <a:close/>
              </a:path>
            </a:pathLst>
          </a:custGeom>
          <a:solidFill>
            <a:srgbClr val="A50021"/>
          </a:solidFill>
          <a:ln w="12700" cap="sq">
            <a:solidFill>
              <a:schemeClr val="tx1"/>
            </a:solidFill>
            <a:miter lim="800000"/>
            <a:headEnd type="non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CCFF99"/>
                </a:solidFill>
                <a:latin typeface="Times New Roman" panose="02020603050405020304" pitchFamily="18" charset="0"/>
                <a:ea typeface="楷体_GB2312"/>
                <a:cs typeface="楷体_GB2312"/>
              </a:rPr>
              <a:t>有害信息泛滥</a:t>
            </a:r>
            <a:endParaRPr lang="zh-CN" altLang="en-US" sz="2460" b="1">
              <a:solidFill>
                <a:srgbClr val="CCFF99"/>
              </a:solidFill>
              <a:latin typeface="Times New Roman" panose="02020603050405020304" pitchFamily="18" charset="0"/>
              <a:ea typeface="楷体_GB2312"/>
              <a:cs typeface="楷体_GB2312"/>
            </a:endParaRPr>
          </a:p>
        </p:txBody>
      </p:sp>
      <p:grpSp>
        <p:nvGrpSpPr>
          <p:cNvPr id="3" name="Group 10"/>
          <p:cNvGrpSpPr/>
          <p:nvPr/>
        </p:nvGrpSpPr>
        <p:grpSpPr bwMode="auto">
          <a:xfrm>
            <a:off x="2524369" y="1486877"/>
            <a:ext cx="8470083" cy="773724"/>
            <a:chOff x="1238" y="1488"/>
            <a:chExt cx="4001" cy="396"/>
          </a:xfrm>
        </p:grpSpPr>
        <p:sp>
          <p:nvSpPr>
            <p:cNvPr id="161861" name="Text Box 11"/>
            <p:cNvSpPr txBox="1">
              <a:spLocks noChangeArrowheads="1"/>
            </p:cNvSpPr>
            <p:nvPr/>
          </p:nvSpPr>
          <p:spPr bwMode="auto">
            <a:xfrm>
              <a:off x="4617" y="1488"/>
              <a:ext cx="622" cy="396"/>
            </a:xfrm>
            <a:prstGeom prst="rect">
              <a:avLst/>
            </a:prstGeom>
            <a:solidFill>
              <a:srgbClr val="99CCFF"/>
            </a:solidFill>
            <a:ln>
              <a:noFill/>
            </a:ln>
            <a:effectLst>
              <a:outerShdw dist="107763" dir="18900000" algn="ctr" rotWithShape="0">
                <a:schemeClr val="bg2"/>
              </a:outerShdw>
            </a:effectLst>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latin typeface="Times New Roman" panose="02020603050405020304" pitchFamily="18" charset="0"/>
                  <a:ea typeface="楷体_GB2312"/>
                  <a:cs typeface="楷体_GB2312"/>
                </a:rPr>
                <a:t>信息来源</a:t>
              </a:r>
              <a:endParaRPr lang="zh-CN" altLang="en-US" sz="2215" b="1">
                <a:latin typeface="Times New Roman" panose="02020603050405020304" pitchFamily="18" charset="0"/>
                <a:ea typeface="楷体_GB2312"/>
                <a:cs typeface="楷体_GB2312"/>
              </a:endParaRPr>
            </a:p>
            <a:p>
              <a:pPr algn="ctr" eaLnBrk="1" hangingPunct="1">
                <a:spcBef>
                  <a:spcPct val="0"/>
                </a:spcBef>
                <a:buClrTx/>
                <a:buFontTx/>
                <a:buNone/>
              </a:pPr>
              <a:r>
                <a:rPr lang="zh-CN" altLang="en-US" sz="2215" b="1">
                  <a:latin typeface="Times New Roman" panose="02020603050405020304" pitchFamily="18" charset="0"/>
                  <a:ea typeface="楷体_GB2312"/>
                  <a:cs typeface="楷体_GB2312"/>
                </a:rPr>
                <a:t>不确定</a:t>
              </a:r>
              <a:endParaRPr lang="zh-CN" altLang="en-US" sz="2215" b="1">
                <a:latin typeface="Times New Roman" panose="02020603050405020304" pitchFamily="18" charset="0"/>
                <a:ea typeface="楷体_GB2312"/>
                <a:cs typeface="楷体_GB2312"/>
              </a:endParaRPr>
            </a:p>
          </p:txBody>
        </p:sp>
        <p:sp>
          <p:nvSpPr>
            <p:cNvPr id="161862" name="Text Box 12"/>
            <p:cNvSpPr txBox="1">
              <a:spLocks noChangeArrowheads="1"/>
            </p:cNvSpPr>
            <p:nvPr/>
          </p:nvSpPr>
          <p:spPr bwMode="auto">
            <a:xfrm>
              <a:off x="1238" y="1488"/>
              <a:ext cx="1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2215" b="1">
                  <a:solidFill>
                    <a:srgbClr val="66FFFF"/>
                  </a:solidFill>
                  <a:latin typeface="Times New Roman" panose="02020603050405020304" pitchFamily="18" charset="0"/>
                  <a:ea typeface="宋体" panose="02010600030101010101" pitchFamily="2" charset="-122"/>
                </a:rPr>
                <a:t>.</a:t>
              </a:r>
              <a:endParaRPr lang="en-US" altLang="zh-CN" sz="2215" b="1">
                <a:latin typeface="Times New Roman" panose="02020603050405020304" pitchFamily="18" charset="0"/>
                <a:ea typeface="宋体" panose="02010600030101010101" pitchFamily="2" charset="-122"/>
              </a:endParaRPr>
            </a:p>
          </p:txBody>
        </p:sp>
      </p:grpSp>
      <p:grpSp>
        <p:nvGrpSpPr>
          <p:cNvPr id="4" name="Group 13"/>
          <p:cNvGrpSpPr/>
          <p:nvPr/>
        </p:nvGrpSpPr>
        <p:grpSpPr bwMode="auto">
          <a:xfrm>
            <a:off x="2524369" y="3905738"/>
            <a:ext cx="8226014" cy="773724"/>
            <a:chOff x="1248" y="2736"/>
            <a:chExt cx="3886" cy="396"/>
          </a:xfrm>
        </p:grpSpPr>
        <p:sp>
          <p:nvSpPr>
            <p:cNvPr id="161859" name="Text Box 14"/>
            <p:cNvSpPr txBox="1">
              <a:spLocks noChangeArrowheads="1"/>
            </p:cNvSpPr>
            <p:nvPr/>
          </p:nvSpPr>
          <p:spPr bwMode="auto">
            <a:xfrm>
              <a:off x="4512" y="2736"/>
              <a:ext cx="622" cy="396"/>
            </a:xfrm>
            <a:prstGeom prst="rect">
              <a:avLst/>
            </a:prstGeom>
            <a:solidFill>
              <a:srgbClr val="3333FF"/>
            </a:soli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215" b="1">
                  <a:solidFill>
                    <a:srgbClr val="FFFF66"/>
                  </a:solidFill>
                  <a:latin typeface="Times New Roman" panose="02020603050405020304" pitchFamily="18" charset="0"/>
                  <a:ea typeface="楷体_GB2312"/>
                  <a:cs typeface="楷体_GB2312"/>
                </a:rPr>
                <a:t>打击目标</a:t>
              </a:r>
              <a:endParaRPr lang="zh-CN" altLang="en-US" sz="2215" b="1">
                <a:solidFill>
                  <a:srgbClr val="FFFF66"/>
                </a:solidFill>
                <a:latin typeface="Times New Roman" panose="02020603050405020304" pitchFamily="18" charset="0"/>
                <a:ea typeface="楷体_GB2312"/>
                <a:cs typeface="楷体_GB2312"/>
              </a:endParaRPr>
            </a:p>
            <a:p>
              <a:pPr eaLnBrk="1" hangingPunct="1">
                <a:spcBef>
                  <a:spcPct val="0"/>
                </a:spcBef>
                <a:buClrTx/>
                <a:buFontTx/>
                <a:buNone/>
              </a:pPr>
              <a:r>
                <a:rPr lang="zh-CN" altLang="en-US" sz="2215" b="1">
                  <a:solidFill>
                    <a:srgbClr val="FFFF66"/>
                  </a:solidFill>
                  <a:latin typeface="Times New Roman" panose="02020603050405020304" pitchFamily="18" charset="0"/>
                  <a:ea typeface="楷体_GB2312"/>
                  <a:cs typeface="楷体_GB2312"/>
                </a:rPr>
                <a:t>机动性强</a:t>
              </a:r>
              <a:endParaRPr lang="zh-CN" altLang="en-US" sz="2215" b="1">
                <a:solidFill>
                  <a:srgbClr val="FFFF66"/>
                </a:solidFill>
                <a:latin typeface="Times New Roman" panose="02020603050405020304" pitchFamily="18" charset="0"/>
                <a:ea typeface="楷体_GB2312"/>
                <a:cs typeface="楷体_GB2312"/>
              </a:endParaRPr>
            </a:p>
          </p:txBody>
        </p:sp>
        <p:sp>
          <p:nvSpPr>
            <p:cNvPr id="161860" name="Text Box 15"/>
            <p:cNvSpPr txBox="1">
              <a:spLocks noChangeArrowheads="1"/>
            </p:cNvSpPr>
            <p:nvPr/>
          </p:nvSpPr>
          <p:spPr bwMode="auto">
            <a:xfrm>
              <a:off x="1248" y="2832"/>
              <a:ext cx="1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2215">
                  <a:solidFill>
                    <a:srgbClr val="66FFFF"/>
                  </a:solidFill>
                  <a:latin typeface="Times New Roman" panose="02020603050405020304" pitchFamily="18" charset="0"/>
                  <a:ea typeface="宋体" panose="02010600030101010101" pitchFamily="2" charset="-122"/>
                </a:rPr>
                <a:t>.</a:t>
              </a:r>
              <a:endParaRPr lang="en-US" altLang="zh-CN" sz="2215">
                <a:latin typeface="Times New Roman" panose="02020603050405020304" pitchFamily="18" charset="0"/>
                <a:ea typeface="宋体" panose="02010600030101010101" pitchFamily="2" charset="-122"/>
              </a:endParaRPr>
            </a:p>
          </p:txBody>
        </p:sp>
      </p:grpSp>
      <p:pic>
        <p:nvPicPr>
          <p:cNvPr id="1214480" name="Playnet.avi">
            <a:hlinkClick r:id="" action="ppaction://media"/>
          </p:cNvPr>
          <p:cNvPicPr>
            <a:picLocks noRot="1" noChangeAspect="1" noChangeArrowheads="1"/>
          </p:cNvPicPr>
          <p:nvPr>
            <a:videoFile r:link="rId1"/>
            <p:extLst>
              <p:ext uri="{DAA4B4D4-6D71-4841-9C94-3DE7FCFB9230}">
                <p14:media xmlns:p14="http://schemas.microsoft.com/office/powerpoint/2010/main" r:link="rId2"/>
              </p:ext>
            </p:extLst>
          </p:nvPr>
        </p:nvPicPr>
        <p:blipFill>
          <a:blip r:embed="rId3">
            <a:extLst>
              <a:ext uri="{28A0092B-C50C-407E-A947-70E740481C1C}">
                <a14:useLocalDpi xmlns:a14="http://schemas.microsoft.com/office/drawing/2010/main" val="0"/>
              </a:ext>
            </a:extLst>
          </a:blip>
          <a:srcRect/>
          <a:stretch>
            <a:fillRect/>
          </a:stretch>
        </p:blipFill>
        <p:spPr bwMode="auto">
          <a:xfrm>
            <a:off x="9839569" y="2522415"/>
            <a:ext cx="1117600" cy="77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14481" name="Object 17"/>
          <p:cNvGraphicFramePr>
            <a:graphicFrameLocks noChangeAspect="1"/>
          </p:cNvGraphicFramePr>
          <p:nvPr/>
        </p:nvGraphicFramePr>
        <p:xfrm>
          <a:off x="2321169" y="1185985"/>
          <a:ext cx="887046" cy="1312985"/>
        </p:xfrm>
        <a:graphic>
          <a:graphicData uri="http://schemas.openxmlformats.org/presentationml/2006/ole">
            <mc:AlternateContent xmlns:mc="http://schemas.openxmlformats.org/markup-compatibility/2006">
              <mc:Choice xmlns:v="urn:schemas-microsoft-com:vml" Requires="v">
                <p:oleObj spid="_x0000_s3094" name="剪辑" r:id="rId4" imgW="1440180" imgH="2308860" progId="">
                  <p:embed/>
                </p:oleObj>
              </mc:Choice>
              <mc:Fallback>
                <p:oleObj name="剪辑" r:id="rId4" imgW="1440180" imgH="2308860" progId="">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1169" y="1185985"/>
                        <a:ext cx="887046" cy="1312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4482" name="Object 18"/>
          <p:cNvGraphicFramePr>
            <a:graphicFrameLocks noChangeAspect="1"/>
          </p:cNvGraphicFramePr>
          <p:nvPr/>
        </p:nvGraphicFramePr>
        <p:xfrm>
          <a:off x="2117969" y="4374662"/>
          <a:ext cx="711200" cy="504092"/>
        </p:xfrm>
        <a:graphic>
          <a:graphicData uri="http://schemas.openxmlformats.org/presentationml/2006/ole">
            <mc:AlternateContent xmlns:mc="http://schemas.openxmlformats.org/markup-compatibility/2006">
              <mc:Choice xmlns:v="urn:schemas-microsoft-com:vml" Requires="v">
                <p:oleObj spid="_x0000_s3095" name="剪辑" r:id="rId6" imgW="4183380" imgH="3216275" progId="">
                  <p:embed/>
                </p:oleObj>
              </mc:Choice>
              <mc:Fallback>
                <p:oleObj name="剪辑" r:id="rId6" imgW="4183380" imgH="3216275" progId="">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7969" y="4374662"/>
                        <a:ext cx="711200" cy="504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4483" name="Object 19"/>
          <p:cNvGraphicFramePr>
            <a:graphicFrameLocks noChangeAspect="1"/>
          </p:cNvGraphicFramePr>
          <p:nvPr/>
        </p:nvGraphicFramePr>
        <p:xfrm>
          <a:off x="4048369" y="3436815"/>
          <a:ext cx="986693" cy="1359877"/>
        </p:xfrm>
        <a:graphic>
          <a:graphicData uri="http://schemas.openxmlformats.org/presentationml/2006/ole">
            <mc:AlternateContent xmlns:mc="http://schemas.openxmlformats.org/markup-compatibility/2006">
              <mc:Choice xmlns:v="urn:schemas-microsoft-com:vml" Requires="v">
                <p:oleObj spid="_x0000_s3096" name="剪辑" r:id="rId8" imgW="3032125" imgH="4533900" progId="">
                  <p:embed/>
                </p:oleObj>
              </mc:Choice>
              <mc:Fallback>
                <p:oleObj name="剪辑" r:id="rId8" imgW="3032125" imgH="4533900" progId="">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48369" y="3436815"/>
                        <a:ext cx="986693" cy="135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4484" name="AutoShape 20"/>
          <p:cNvSpPr>
            <a:spLocks noChangeArrowheads="1"/>
          </p:cNvSpPr>
          <p:nvPr/>
        </p:nvSpPr>
        <p:spPr bwMode="auto">
          <a:xfrm rot="-218200">
            <a:off x="3233616" y="3700585"/>
            <a:ext cx="1219200" cy="750277"/>
          </a:xfrm>
          <a:prstGeom prst="leftArrow">
            <a:avLst>
              <a:gd name="adj1" fmla="val 50000"/>
              <a:gd name="adj2" fmla="val 37503"/>
            </a:avLst>
          </a:prstGeom>
          <a:solidFill>
            <a:srgbClr val="0066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endParaRPr lang="zh-CN" altLang="en-US" sz="2460">
              <a:solidFill>
                <a:srgbClr val="FFCCFF"/>
              </a:solidFill>
              <a:latin typeface="Times New Roman" panose="02020603050405020304" pitchFamily="18" charset="0"/>
              <a:ea typeface="楷体_GB2312"/>
              <a:cs typeface="楷体_GB2312"/>
            </a:endParaRPr>
          </a:p>
        </p:txBody>
      </p:sp>
      <p:graphicFrame>
        <p:nvGraphicFramePr>
          <p:cNvPr id="1214485" name="Object 21"/>
          <p:cNvGraphicFramePr>
            <a:graphicFrameLocks noChangeAspect="1"/>
          </p:cNvGraphicFramePr>
          <p:nvPr/>
        </p:nvGraphicFramePr>
        <p:xfrm>
          <a:off x="3032369" y="3624385"/>
          <a:ext cx="853831" cy="994508"/>
        </p:xfrm>
        <a:graphic>
          <a:graphicData uri="http://schemas.openxmlformats.org/presentationml/2006/ole">
            <mc:AlternateContent xmlns:mc="http://schemas.openxmlformats.org/markup-compatibility/2006">
              <mc:Choice xmlns:v="urn:schemas-microsoft-com:vml" Requires="v">
                <p:oleObj spid="_x0000_s3097" name="剪辑" r:id="rId10" imgW="3208655" imgH="4054475" progId="">
                  <p:embed/>
                </p:oleObj>
              </mc:Choice>
              <mc:Fallback>
                <p:oleObj name="剪辑" r:id="rId10" imgW="3208655" imgH="4054475" progId="">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32369" y="3624385"/>
                        <a:ext cx="853831" cy="994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4486" name="AutoShape 22"/>
          <p:cNvSpPr>
            <a:spLocks noChangeArrowheads="1"/>
          </p:cNvSpPr>
          <p:nvPr/>
        </p:nvSpPr>
        <p:spPr bwMode="auto">
          <a:xfrm>
            <a:off x="2829169" y="4843585"/>
            <a:ext cx="5181600" cy="844062"/>
          </a:xfrm>
          <a:prstGeom prst="horizontalScroll">
            <a:avLst>
              <a:gd name="adj" fmla="val 12500"/>
            </a:avLst>
          </a:prstGeom>
          <a:solidFill>
            <a:srgbClr val="FF0000"/>
          </a:solidFill>
          <a:ln w="12700" cap="sq">
            <a:solidFill>
              <a:schemeClr val="tx1"/>
            </a:solidFill>
            <a:round/>
            <a:headEnd type="none" w="sm" len="sm"/>
            <a:tailEnd type="none" w="sm" len="sm"/>
          </a:ln>
          <a:effectLst>
            <a:outerShdw dist="107763" dir="27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FF66"/>
                </a:solidFill>
                <a:latin typeface="Times New Roman" panose="02020603050405020304" pitchFamily="18" charset="0"/>
                <a:ea typeface="楷体_GB2312"/>
                <a:cs typeface="楷体_GB2312"/>
              </a:rPr>
              <a:t>主动发现有害信息源并给予封堵</a:t>
            </a:r>
            <a:endParaRPr lang="zh-CN" altLang="en-US" sz="2460" b="1">
              <a:solidFill>
                <a:srgbClr val="FFFF66"/>
              </a:solidFill>
              <a:latin typeface="Times New Roman" panose="02020603050405020304" pitchFamily="18" charset="0"/>
              <a:ea typeface="楷体_GB2312"/>
              <a:cs typeface="楷体_GB2312"/>
            </a:endParaRPr>
          </a:p>
        </p:txBody>
      </p:sp>
      <p:sp>
        <p:nvSpPr>
          <p:cNvPr id="1214487" name="AutoShape 23"/>
          <p:cNvSpPr>
            <a:spLocks noChangeArrowheads="1"/>
          </p:cNvSpPr>
          <p:nvPr/>
        </p:nvSpPr>
        <p:spPr bwMode="auto">
          <a:xfrm rot="19658933">
            <a:off x="3540369" y="4187092"/>
            <a:ext cx="304800" cy="750277"/>
          </a:xfrm>
          <a:prstGeom prst="upArrow">
            <a:avLst>
              <a:gd name="adj1" fmla="val 50000"/>
              <a:gd name="adj2" fmla="val 66667"/>
            </a:avLst>
          </a:prstGeom>
          <a:solidFill>
            <a:srgbClr val="FF0000"/>
          </a:solidFill>
          <a:ln w="12700" cap="sq">
            <a:solidFill>
              <a:schemeClr val="tx1"/>
            </a:solidFill>
            <a:miter lim="800000"/>
            <a:headEnd type="none" w="sm" len="sm"/>
            <a:tailEnd type="none" w="sm" len="sm"/>
          </a:ln>
          <a:effectLst>
            <a:outerShdw dist="35921" dir="2700000" algn="ctr" rotWithShape="0">
              <a:schemeClr val="bg2"/>
            </a:outerShdw>
          </a:effectLst>
        </p:spPr>
        <p:txBody>
          <a:bodyPr vert="eaVert"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4489" name="AutoShape 25"/>
          <p:cNvSpPr>
            <a:spLocks noChangeArrowheads="1"/>
          </p:cNvSpPr>
          <p:nvPr/>
        </p:nvSpPr>
        <p:spPr bwMode="auto">
          <a:xfrm>
            <a:off x="3133969" y="5875215"/>
            <a:ext cx="6400800" cy="844062"/>
          </a:xfrm>
          <a:prstGeom prst="horizontalScroll">
            <a:avLst>
              <a:gd name="adj" fmla="val 12500"/>
            </a:avLst>
          </a:prstGeom>
          <a:solidFill>
            <a:srgbClr val="006600"/>
          </a:solidFill>
          <a:ln w="12700" cap="sq">
            <a:solidFill>
              <a:schemeClr val="tx1"/>
            </a:solidFill>
            <a:round/>
            <a:headEnd type="none" w="sm" len="sm"/>
            <a:tailEnd type="none" w="sm" len="sm"/>
          </a:ln>
          <a:effectLst>
            <a:outerShdw dist="107763" dir="27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FF66"/>
                </a:solidFill>
                <a:latin typeface="Times New Roman" panose="02020603050405020304" pitchFamily="18" charset="0"/>
                <a:ea typeface="楷体_GB2312"/>
                <a:cs typeface="楷体_GB2312"/>
              </a:rPr>
              <a:t>监测网上有害信息的传播并给予截获</a:t>
            </a:r>
            <a:endParaRPr lang="zh-CN" altLang="en-US" sz="2460" b="1">
              <a:solidFill>
                <a:srgbClr val="FFFF66"/>
              </a:solidFill>
              <a:latin typeface="Times New Roman" panose="02020603050405020304" pitchFamily="18" charset="0"/>
              <a:ea typeface="楷体_GB2312"/>
              <a:cs typeface="楷体_GB2312"/>
            </a:endParaRPr>
          </a:p>
        </p:txBody>
      </p:sp>
      <p:sp>
        <p:nvSpPr>
          <p:cNvPr id="1214490" name="AutoShape 26"/>
          <p:cNvSpPr>
            <a:spLocks noChangeArrowheads="1"/>
          </p:cNvSpPr>
          <p:nvPr/>
        </p:nvSpPr>
        <p:spPr bwMode="auto">
          <a:xfrm rot="-1346745">
            <a:off x="8493370" y="623277"/>
            <a:ext cx="2336800" cy="1031631"/>
          </a:xfrm>
          <a:prstGeom prst="irregularSeal2">
            <a:avLst/>
          </a:prstGeom>
          <a:solidFill>
            <a:srgbClr val="FF0000"/>
          </a:solidFill>
          <a:ln w="12700" cap="sq">
            <a:solidFill>
              <a:schemeClr val="tx1"/>
            </a:solidFill>
            <a:miter lim="800000"/>
            <a:headEnd type="none" w="sm" len="sm"/>
            <a:tailEnd type="none" w="sm" len="sm"/>
          </a:ln>
          <a:effectLst>
            <a:outerShdw dist="107763" dir="135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710" b="1">
                <a:solidFill>
                  <a:srgbClr val="FFFF66"/>
                </a:solidFill>
                <a:latin typeface="Times New Roman" panose="02020603050405020304" pitchFamily="18" charset="0"/>
                <a:ea typeface="楷体_GB2312"/>
                <a:cs typeface="楷体_GB2312"/>
              </a:rPr>
              <a:t>隐患</a:t>
            </a:r>
            <a:endParaRPr lang="zh-CN" altLang="en-US" sz="2215" b="1">
              <a:latin typeface="Times New Roman" panose="02020603050405020304" pitchFamily="18" charset="0"/>
              <a:ea typeface="宋体" panose="02010600030101010101" pitchFamily="2" charset="-122"/>
            </a:endParaRPr>
          </a:p>
        </p:txBody>
      </p:sp>
      <p:sp>
        <p:nvSpPr>
          <p:cNvPr id="1214491" name="Oval 27"/>
          <p:cNvSpPr>
            <a:spLocks noChangeArrowheads="1"/>
          </p:cNvSpPr>
          <p:nvPr/>
        </p:nvSpPr>
        <p:spPr bwMode="auto">
          <a:xfrm rot="2056598">
            <a:off x="1101969" y="5687646"/>
            <a:ext cx="1828800" cy="844062"/>
          </a:xfrm>
          <a:prstGeom prst="ellipse">
            <a:avLst/>
          </a:prstGeom>
          <a:solidFill>
            <a:srgbClr val="FFCCFF"/>
          </a:solidFill>
          <a:ln w="12700" cap="sq">
            <a:solidFill>
              <a:schemeClr val="tx1"/>
            </a:solidFill>
            <a:round/>
            <a:headEnd type="none" w="sm" len="sm"/>
            <a:tailEnd type="none" w="sm" len="sm"/>
          </a:ln>
          <a:effectLst>
            <a:outerShdw dist="107763" dir="189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solidFill>
                  <a:srgbClr val="006600"/>
                </a:solidFill>
                <a:latin typeface="Times New Roman" panose="02020603050405020304" pitchFamily="18" charset="0"/>
                <a:ea typeface="楷体_GB2312"/>
                <a:cs typeface="楷体_GB2312"/>
              </a:rPr>
              <a:t>措施</a:t>
            </a:r>
            <a:endParaRPr lang="zh-CN" altLang="en-US" sz="2215" b="1">
              <a:solidFill>
                <a:srgbClr val="006600"/>
              </a:solidFill>
              <a:latin typeface="Times New Roman" panose="02020603050405020304" pitchFamily="18" charset="0"/>
              <a:ea typeface="楷体_GB2312"/>
              <a:cs typeface="楷体_GB2312"/>
            </a:endParaRPr>
          </a:p>
        </p:txBody>
      </p:sp>
      <p:sp>
        <p:nvSpPr>
          <p:cNvPr id="1214511" name="AutoShape 47"/>
          <p:cNvSpPr>
            <a:spLocks noChangeArrowheads="1"/>
          </p:cNvSpPr>
          <p:nvPr/>
        </p:nvSpPr>
        <p:spPr bwMode="auto">
          <a:xfrm rot="-1976391">
            <a:off x="7807569" y="2311400"/>
            <a:ext cx="445477" cy="3938954"/>
          </a:xfrm>
          <a:prstGeom prst="upArrow">
            <a:avLst>
              <a:gd name="adj1" fmla="val 50000"/>
              <a:gd name="adj2" fmla="val 239474"/>
            </a:avLst>
          </a:prstGeom>
          <a:solidFill>
            <a:srgbClr val="66FFFF"/>
          </a:solidFill>
          <a:ln w="12700" cap="sq">
            <a:solidFill>
              <a:schemeClr val="tx1"/>
            </a:solidFill>
            <a:miter lim="800000"/>
            <a:headEnd type="none" w="sm" len="sm"/>
            <a:tailEnd type="none" w="sm" len="sm"/>
          </a:ln>
          <a:effectLst>
            <a:prstShdw prst="shdw13" dist="53882" dir="13500000">
              <a:schemeClr val="bg2"/>
            </a:prstShdw>
          </a:effectLst>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endParaRPr lang="zh-CN" altLang="en-US" sz="2215">
              <a:solidFill>
                <a:srgbClr val="A50021"/>
              </a:solidFill>
              <a:latin typeface="Times New Roman" panose="02020603050405020304" pitchFamily="18" charset="0"/>
              <a:ea typeface="宋体" panose="02010600030101010101" pitchFamily="2" charset="-122"/>
            </a:endParaRPr>
          </a:p>
        </p:txBody>
      </p:sp>
      <p:graphicFrame>
        <p:nvGraphicFramePr>
          <p:cNvPr id="1214513" name="Object 49"/>
          <p:cNvGraphicFramePr>
            <a:graphicFrameLocks noChangeAspect="1"/>
          </p:cNvGraphicFramePr>
          <p:nvPr/>
        </p:nvGraphicFramePr>
        <p:xfrm>
          <a:off x="6080369" y="2123831"/>
          <a:ext cx="748324" cy="1148862"/>
        </p:xfrm>
        <a:graphic>
          <a:graphicData uri="http://schemas.openxmlformats.org/presentationml/2006/ole">
            <mc:AlternateContent xmlns:mc="http://schemas.openxmlformats.org/markup-compatibility/2006">
              <mc:Choice xmlns:v="urn:schemas-microsoft-com:vml" Requires="v">
                <p:oleObj spid="_x0000_s3098" name="剪辑" r:id="rId12" imgW="2033905" imgH="3390900" progId="">
                  <p:embed/>
                </p:oleObj>
              </mc:Choice>
              <mc:Fallback>
                <p:oleObj name="剪辑" r:id="rId12" imgW="2033905" imgH="3390900" progId="">
                  <p:embed/>
                  <p:pic>
                    <p:nvPicPr>
                      <p:cNvPr id="0" name="Object 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80369" y="2123831"/>
                        <a:ext cx="748324" cy="114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867508" y="216877"/>
            <a:ext cx="4716780" cy="546100"/>
          </a:xfrm>
          <a:prstGeom prst="rect">
            <a:avLst/>
          </a:prstGeom>
        </p:spPr>
        <p:txBody>
          <a:bodyPr wrap="none">
            <a:spAutoFit/>
          </a:bodyPr>
          <a:lstStyle/>
          <a:p>
            <a:pPr>
              <a:defRPr/>
            </a:pPr>
            <a:r>
              <a:rPr lang="zh-CN" altLang="zh-CN" sz="2955" b="1" dirty="0">
                <a:solidFill>
                  <a:srgbClr val="FF0000"/>
                </a:solidFill>
                <a:latin typeface="+mn-ea"/>
                <a:ea typeface="+mn-ea"/>
              </a:rPr>
              <a:t>应用安全</a:t>
            </a:r>
            <a:r>
              <a:rPr lang="zh-CN" altLang="en-US" sz="2955" b="1" dirty="0">
                <a:solidFill>
                  <a:srgbClr val="FF0000"/>
                </a:solidFill>
                <a:latin typeface="+mn-ea"/>
                <a:ea typeface="+mn-ea"/>
              </a:rPr>
              <a:t>中涉及的内容安全</a:t>
            </a:r>
            <a:endParaRPr lang="zh-CN" altLang="en-US" sz="2955" b="1"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1214480"/>
                                        </p:tgtEl>
                                        <p:attrNameLst>
                                          <p:attrName>style.visibility</p:attrName>
                                        </p:attrNameLst>
                                      </p:cBhvr>
                                      <p:to>
                                        <p:strVal val="visible"/>
                                      </p:to>
                                    </p:set>
                                    <p:animEffect transition="in" filter="box(out)">
                                      <p:cBhvr>
                                        <p:cTn id="12" dur="500"/>
                                        <p:tgtEl>
                                          <p:spTgt spid="1214480"/>
                                        </p:tgtEl>
                                      </p:cBhvr>
                                    </p:animEffect>
                                  </p:childTnLst>
                                </p:cTn>
                              </p:par>
                            </p:childTnLst>
                          </p:cTn>
                        </p:par>
                        <p:par>
                          <p:cTn id="13" fill="hold">
                            <p:stCondLst>
                              <p:cond delay="1000"/>
                            </p:stCondLst>
                            <p:childTnLst>
                              <p:par>
                                <p:cTn id="14" presetID="1" presetClass="mediacall" presetSubtype="0" fill="hold" nodeType="afterEffect">
                                  <p:stCondLst>
                                    <p:cond delay="0"/>
                                  </p:stCondLst>
                                  <p:childTnLst>
                                    <p:cmd type="call" cmd="playFrom(0.0)">
                                      <p:cBhvr>
                                        <p:cTn id="15" dur="1" fill="hold"/>
                                        <p:tgtEl>
                                          <p:spTgt spid="1214480"/>
                                        </p:tgtEl>
                                      </p:cBhvr>
                                    </p:cmd>
                                  </p:childTnLst>
                                </p:cTn>
                              </p:par>
                              <p:par>
                                <p:cTn id="16" presetID="23" presetClass="entr" presetSubtype="16" fill="hold" grpId="0" nodeType="withEffect">
                                  <p:stCondLst>
                                    <p:cond delay="0"/>
                                  </p:stCondLst>
                                  <p:childTnLst>
                                    <p:set>
                                      <p:cBhvr>
                                        <p:cTn id="17" dur="1" fill="hold">
                                          <p:stCondLst>
                                            <p:cond delay="0"/>
                                          </p:stCondLst>
                                        </p:cTn>
                                        <p:tgtEl>
                                          <p:spTgt spid="1214473"/>
                                        </p:tgtEl>
                                        <p:attrNameLst>
                                          <p:attrName>style.visibility</p:attrName>
                                        </p:attrNameLst>
                                      </p:cBhvr>
                                      <p:to>
                                        <p:strVal val="visible"/>
                                      </p:to>
                                    </p:set>
                                    <p:anim calcmode="lin" valueType="num">
                                      <p:cBhvr>
                                        <p:cTn id="18" dur="500" fill="hold"/>
                                        <p:tgtEl>
                                          <p:spTgt spid="1214473"/>
                                        </p:tgtEl>
                                        <p:attrNameLst>
                                          <p:attrName>ppt_w</p:attrName>
                                        </p:attrNameLst>
                                      </p:cBhvr>
                                      <p:tavLst>
                                        <p:tav tm="0">
                                          <p:val>
                                            <p:fltVal val="0"/>
                                          </p:val>
                                        </p:tav>
                                        <p:tav tm="100000">
                                          <p:val>
                                            <p:strVal val="#ppt_w"/>
                                          </p:val>
                                        </p:tav>
                                      </p:tavLst>
                                    </p:anim>
                                    <p:anim calcmode="lin" valueType="num">
                                      <p:cBhvr>
                                        <p:cTn id="19" dur="500" fill="hold"/>
                                        <p:tgtEl>
                                          <p:spTgt spid="1214473"/>
                                        </p:tgtEl>
                                        <p:attrNameLst>
                                          <p:attrName>ppt_h</p:attrName>
                                        </p:attrNameLst>
                                      </p:cBhvr>
                                      <p:tavLst>
                                        <p:tav tm="0">
                                          <p:val>
                                            <p:fltVal val="0"/>
                                          </p:val>
                                        </p:tav>
                                        <p:tav tm="100000">
                                          <p:val>
                                            <p:strVal val="#ppt_h"/>
                                          </p:val>
                                        </p:tav>
                                      </p:tavLst>
                                    </p:anim>
                                  </p:childTnLst>
                                </p:cTn>
                              </p:par>
                            </p:childTnLst>
                          </p:cTn>
                        </p:par>
                        <p:par>
                          <p:cTn id="20" fill="hold">
                            <p:stCondLst>
                              <p:cond delay="1000"/>
                            </p:stCondLst>
                            <p:childTnLst>
                              <p:par>
                                <p:cTn id="21" presetID="23" presetClass="entr" presetSubtype="16" fill="hold" grpId="0" nodeType="afterEffect">
                                  <p:stCondLst>
                                    <p:cond delay="0"/>
                                  </p:stCondLst>
                                  <p:childTnLst>
                                    <p:set>
                                      <p:cBhvr>
                                        <p:cTn id="22" dur="1" fill="hold">
                                          <p:stCondLst>
                                            <p:cond delay="0"/>
                                          </p:stCondLst>
                                        </p:cTn>
                                        <p:tgtEl>
                                          <p:spTgt spid="1214490"/>
                                        </p:tgtEl>
                                        <p:attrNameLst>
                                          <p:attrName>style.visibility</p:attrName>
                                        </p:attrNameLst>
                                      </p:cBhvr>
                                      <p:to>
                                        <p:strVal val="visible"/>
                                      </p:to>
                                    </p:set>
                                    <p:anim calcmode="lin" valueType="num">
                                      <p:cBhvr>
                                        <p:cTn id="23" dur="500" fill="hold"/>
                                        <p:tgtEl>
                                          <p:spTgt spid="1214490"/>
                                        </p:tgtEl>
                                        <p:attrNameLst>
                                          <p:attrName>ppt_w</p:attrName>
                                        </p:attrNameLst>
                                      </p:cBhvr>
                                      <p:tavLst>
                                        <p:tav tm="0">
                                          <p:val>
                                            <p:fltVal val="0"/>
                                          </p:val>
                                        </p:tav>
                                        <p:tav tm="100000">
                                          <p:val>
                                            <p:strVal val="#ppt_w"/>
                                          </p:val>
                                        </p:tav>
                                      </p:tavLst>
                                    </p:anim>
                                    <p:anim calcmode="lin" valueType="num">
                                      <p:cBhvr>
                                        <p:cTn id="24" dur="500" fill="hold"/>
                                        <p:tgtEl>
                                          <p:spTgt spid="1214490"/>
                                        </p:tgtEl>
                                        <p:attrNameLst>
                                          <p:attrName>ppt_h</p:attrName>
                                        </p:attrNameLst>
                                      </p:cBhvr>
                                      <p:tavLst>
                                        <p:tav tm="0">
                                          <p:val>
                                            <p:fltVal val="0"/>
                                          </p:val>
                                        </p:tav>
                                        <p:tav tm="100000">
                                          <p:val>
                                            <p:strVal val="#ppt_h"/>
                                          </p:val>
                                        </p:tav>
                                      </p:tavLst>
                                    </p:anim>
                                  </p:childTnLst>
                                </p:cTn>
                              </p:par>
                            </p:childTnLst>
                          </p:cTn>
                        </p:par>
                        <p:par>
                          <p:cTn id="25" fill="hold">
                            <p:stCondLst>
                              <p:cond delay="1500"/>
                            </p:stCondLst>
                            <p:childTnLst>
                              <p:par>
                                <p:cTn id="26" presetID="12" presetClass="entr" presetSubtype="4" fill="hold" nodeType="afterEffect">
                                  <p:stCondLst>
                                    <p:cond delay="0"/>
                                  </p:stCondLst>
                                  <p:childTnLst>
                                    <p:set>
                                      <p:cBhvr>
                                        <p:cTn id="27" dur="1" fill="hold">
                                          <p:stCondLst>
                                            <p:cond delay="0"/>
                                          </p:stCondLst>
                                        </p:cTn>
                                        <p:tgtEl>
                                          <p:spTgt spid="1214485"/>
                                        </p:tgtEl>
                                        <p:attrNameLst>
                                          <p:attrName>style.visibility</p:attrName>
                                        </p:attrNameLst>
                                      </p:cBhvr>
                                      <p:to>
                                        <p:strVal val="visible"/>
                                      </p:to>
                                    </p:set>
                                    <p:animEffect transition="in" filter="slide(fromBottom)">
                                      <p:cBhvr>
                                        <p:cTn id="28" dur="500"/>
                                        <p:tgtEl>
                                          <p:spTgt spid="1214485"/>
                                        </p:tgtEl>
                                      </p:cBhvr>
                                    </p:animEffec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1214472"/>
                                        </p:tgtEl>
                                        <p:attrNameLst>
                                          <p:attrName>style.visibility</p:attrName>
                                        </p:attrNameLst>
                                      </p:cBhvr>
                                      <p:to>
                                        <p:strVal val="visible"/>
                                      </p:to>
                                    </p:set>
                                    <p:animEffect transition="in" filter="wipe(left)">
                                      <p:cBhvr>
                                        <p:cTn id="32" dur="500"/>
                                        <p:tgtEl>
                                          <p:spTgt spid="1214472"/>
                                        </p:tgtEl>
                                      </p:cBhvr>
                                    </p:animEffect>
                                  </p:childTnLst>
                                  <p:subTnLst>
                                    <p:audio>
                                      <p:cMediaNode>
                                        <p:cTn display="0" masterRel="sameClick">
                                          <p:stCondLst>
                                            <p:cond evt="begin" delay="0">
                                              <p:tn val="30"/>
                                            </p:cond>
                                          </p:stCondLst>
                                          <p:endCondLst>
                                            <p:cond evt="onStopAudio" delay="0">
                                              <p:tgtEl>
                                                <p:sldTgt/>
                                              </p:tgtEl>
                                            </p:cond>
                                          </p:endCondLst>
                                        </p:cTn>
                                        <p:tgtEl>
                                          <p:sndTgt r:embed="rId14" name="whoosh.wav"/>
                                        </p:tgtEl>
                                      </p:cMediaNode>
                                    </p:audio>
                                  </p:subTnLst>
                                </p:cTn>
                              </p:par>
                            </p:childTnLst>
                          </p:cTn>
                        </p:par>
                        <p:par>
                          <p:cTn id="33" fill="hold">
                            <p:stCondLst>
                              <p:cond delay="2500"/>
                            </p:stCondLst>
                            <p:childTnLst>
                              <p:par>
                                <p:cTn id="34" presetID="1" presetClass="entr" presetSubtype="0" fill="hold" grpId="0" nodeType="afterEffect">
                                  <p:stCondLst>
                                    <p:cond delay="0"/>
                                  </p:stCondLst>
                                  <p:childTnLst>
                                    <p:set>
                                      <p:cBhvr>
                                        <p:cTn id="35" dur="1" fill="hold">
                                          <p:stCondLst>
                                            <p:cond delay="499"/>
                                          </p:stCondLst>
                                        </p:cTn>
                                        <p:tgtEl>
                                          <p:spTgt spid="121448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7" presetClass="entr" presetSubtype="4" fill="hold" nodeType="clickEffect">
                                  <p:stCondLst>
                                    <p:cond delay="0"/>
                                  </p:stCondLst>
                                  <p:childTnLst>
                                    <p:set>
                                      <p:cBhvr>
                                        <p:cTn id="39" dur="1" fill="hold">
                                          <p:stCondLst>
                                            <p:cond delay="0"/>
                                          </p:stCondLst>
                                        </p:cTn>
                                        <p:tgtEl>
                                          <p:spTgt spid="1214481"/>
                                        </p:tgtEl>
                                        <p:attrNameLst>
                                          <p:attrName>style.visibility</p:attrName>
                                        </p:attrNameLst>
                                      </p:cBhvr>
                                      <p:to>
                                        <p:strVal val="visible"/>
                                      </p:to>
                                    </p:set>
                                    <p:anim calcmode="lin" valueType="num">
                                      <p:cBhvr>
                                        <p:cTn id="40" dur="500" fill="hold"/>
                                        <p:tgtEl>
                                          <p:spTgt spid="1214481"/>
                                        </p:tgtEl>
                                        <p:attrNameLst>
                                          <p:attrName>ppt_x</p:attrName>
                                        </p:attrNameLst>
                                      </p:cBhvr>
                                      <p:tavLst>
                                        <p:tav tm="0">
                                          <p:val>
                                            <p:strVal val="#ppt_x"/>
                                          </p:val>
                                        </p:tav>
                                        <p:tav tm="100000">
                                          <p:val>
                                            <p:strVal val="#ppt_x"/>
                                          </p:val>
                                        </p:tav>
                                      </p:tavLst>
                                    </p:anim>
                                    <p:anim calcmode="lin" valueType="num">
                                      <p:cBhvr>
                                        <p:cTn id="41" dur="500" fill="hold"/>
                                        <p:tgtEl>
                                          <p:spTgt spid="1214481"/>
                                        </p:tgtEl>
                                        <p:attrNameLst>
                                          <p:attrName>ppt_y</p:attrName>
                                        </p:attrNameLst>
                                      </p:cBhvr>
                                      <p:tavLst>
                                        <p:tav tm="0">
                                          <p:val>
                                            <p:strVal val="#ppt_y+#ppt_h/2"/>
                                          </p:val>
                                        </p:tav>
                                        <p:tav tm="100000">
                                          <p:val>
                                            <p:strVal val="#ppt_y"/>
                                          </p:val>
                                        </p:tav>
                                      </p:tavLst>
                                    </p:anim>
                                    <p:anim calcmode="lin" valueType="num">
                                      <p:cBhvr>
                                        <p:cTn id="42" dur="500" fill="hold"/>
                                        <p:tgtEl>
                                          <p:spTgt spid="1214481"/>
                                        </p:tgtEl>
                                        <p:attrNameLst>
                                          <p:attrName>ppt_w</p:attrName>
                                        </p:attrNameLst>
                                      </p:cBhvr>
                                      <p:tavLst>
                                        <p:tav tm="0">
                                          <p:val>
                                            <p:strVal val="#ppt_w"/>
                                          </p:val>
                                        </p:tav>
                                        <p:tav tm="100000">
                                          <p:val>
                                            <p:strVal val="#ppt_w"/>
                                          </p:val>
                                        </p:tav>
                                      </p:tavLst>
                                    </p:anim>
                                    <p:anim calcmode="lin" valueType="num">
                                      <p:cBhvr>
                                        <p:cTn id="43" dur="500" fill="hold"/>
                                        <p:tgtEl>
                                          <p:spTgt spid="1214481"/>
                                        </p:tgtEl>
                                        <p:attrNameLst>
                                          <p:attrName>ppt_h</p:attrName>
                                        </p:attrNameLst>
                                      </p:cBhvr>
                                      <p:tavLst>
                                        <p:tav tm="0">
                                          <p:val>
                                            <p:fltVal val="0"/>
                                          </p:val>
                                        </p:tav>
                                        <p:tav tm="100000">
                                          <p:val>
                                            <p:strVal val="#ppt_h"/>
                                          </p:val>
                                        </p:tav>
                                      </p:tavLst>
                                    </p:anim>
                                  </p:childTnLst>
                                </p:cTn>
                              </p:par>
                            </p:childTnLst>
                          </p:cTn>
                        </p:par>
                        <p:par>
                          <p:cTn id="44" fill="hold">
                            <p:stCondLst>
                              <p:cond delay="500"/>
                            </p:stCondLst>
                            <p:childTnLst>
                              <p:par>
                                <p:cTn id="45" presetID="17" presetClass="entr" presetSubtype="8" fill="hold" nodeType="after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p:cTn id="47" dur="500" fill="hold"/>
                                        <p:tgtEl>
                                          <p:spTgt spid="3"/>
                                        </p:tgtEl>
                                        <p:attrNameLst>
                                          <p:attrName>ppt_x</p:attrName>
                                        </p:attrNameLst>
                                      </p:cBhvr>
                                      <p:tavLst>
                                        <p:tav tm="0">
                                          <p:val>
                                            <p:strVal val="#ppt_x-#ppt_w/2"/>
                                          </p:val>
                                        </p:tav>
                                        <p:tav tm="100000">
                                          <p:val>
                                            <p:strVal val="#ppt_x"/>
                                          </p:val>
                                        </p:tav>
                                      </p:tavLst>
                                    </p:anim>
                                    <p:anim calcmode="lin" valueType="num">
                                      <p:cBhvr>
                                        <p:cTn id="48" dur="500" fill="hold"/>
                                        <p:tgtEl>
                                          <p:spTgt spid="3"/>
                                        </p:tgtEl>
                                        <p:attrNameLst>
                                          <p:attrName>ppt_y</p:attrName>
                                        </p:attrNameLst>
                                      </p:cBhvr>
                                      <p:tavLst>
                                        <p:tav tm="0">
                                          <p:val>
                                            <p:strVal val="#ppt_y"/>
                                          </p:val>
                                        </p:tav>
                                        <p:tav tm="100000">
                                          <p:val>
                                            <p:strVal val="#ppt_y"/>
                                          </p:val>
                                        </p:tav>
                                      </p:tavLst>
                                    </p:anim>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strVal val="#ppt_h"/>
                                          </p:val>
                                        </p:tav>
                                        <p:tav tm="100000">
                                          <p:val>
                                            <p:strVal val="#ppt_h"/>
                                          </p:val>
                                        </p:tav>
                                      </p:tavLst>
                                    </p:anim>
                                  </p:childTnLst>
                                </p:cTn>
                              </p:par>
                            </p:childTnLst>
                          </p:cTn>
                        </p:par>
                        <p:par>
                          <p:cTn id="51" fill="hold">
                            <p:stCondLst>
                              <p:cond delay="1000"/>
                            </p:stCondLst>
                            <p:childTnLst>
                              <p:par>
                                <p:cTn id="52" presetID="12" presetClass="entr" presetSubtype="8" fill="hold" nodeType="afterEffect">
                                  <p:stCondLst>
                                    <p:cond delay="0"/>
                                  </p:stCondLst>
                                  <p:childTnLst>
                                    <p:set>
                                      <p:cBhvr>
                                        <p:cTn id="53" dur="1" fill="hold">
                                          <p:stCondLst>
                                            <p:cond delay="0"/>
                                          </p:stCondLst>
                                        </p:cTn>
                                        <p:tgtEl>
                                          <p:spTgt spid="1214482"/>
                                        </p:tgtEl>
                                        <p:attrNameLst>
                                          <p:attrName>style.visibility</p:attrName>
                                        </p:attrNameLst>
                                      </p:cBhvr>
                                      <p:to>
                                        <p:strVal val="visible"/>
                                      </p:to>
                                    </p:set>
                                    <p:animEffect transition="in" filter="slide(fromLeft)">
                                      <p:cBhvr>
                                        <p:cTn id="54" dur="500"/>
                                        <p:tgtEl>
                                          <p:spTgt spid="1214482"/>
                                        </p:tgtEl>
                                      </p:cBhvr>
                                    </p:animEffect>
                                  </p:childTnLst>
                                </p:cTn>
                              </p:par>
                            </p:childTnLst>
                          </p:cTn>
                        </p:par>
                        <p:par>
                          <p:cTn id="55" fill="hold">
                            <p:stCondLst>
                              <p:cond delay="1500"/>
                            </p:stCondLst>
                            <p:childTnLst>
                              <p:par>
                                <p:cTn id="56" presetID="17" presetClass="entr" presetSubtype="8" fill="hold" nodeType="afterEffect">
                                  <p:stCondLst>
                                    <p:cond delay="0"/>
                                  </p:stCondLst>
                                  <p:childTnLst>
                                    <p:set>
                                      <p:cBhvr>
                                        <p:cTn id="57" dur="1" fill="hold">
                                          <p:stCondLst>
                                            <p:cond delay="0"/>
                                          </p:stCondLst>
                                        </p:cTn>
                                        <p:tgtEl>
                                          <p:spTgt spid="4"/>
                                        </p:tgtEl>
                                        <p:attrNameLst>
                                          <p:attrName>style.visibility</p:attrName>
                                        </p:attrNameLst>
                                      </p:cBhvr>
                                      <p:to>
                                        <p:strVal val="visible"/>
                                      </p:to>
                                    </p:set>
                                    <p:anim calcmode="lin" valueType="num">
                                      <p:cBhvr>
                                        <p:cTn id="58" dur="500" fill="hold"/>
                                        <p:tgtEl>
                                          <p:spTgt spid="4"/>
                                        </p:tgtEl>
                                        <p:attrNameLst>
                                          <p:attrName>ppt_x</p:attrName>
                                        </p:attrNameLst>
                                      </p:cBhvr>
                                      <p:tavLst>
                                        <p:tav tm="0">
                                          <p:val>
                                            <p:strVal val="#ppt_x-#ppt_w/2"/>
                                          </p:val>
                                        </p:tav>
                                        <p:tav tm="100000">
                                          <p:val>
                                            <p:strVal val="#ppt_x"/>
                                          </p:val>
                                        </p:tav>
                                      </p:tavLst>
                                    </p:anim>
                                    <p:anim calcmode="lin" valueType="num">
                                      <p:cBhvr>
                                        <p:cTn id="59" dur="500" fill="hold"/>
                                        <p:tgtEl>
                                          <p:spTgt spid="4"/>
                                        </p:tgtEl>
                                        <p:attrNameLst>
                                          <p:attrName>ppt_y</p:attrName>
                                        </p:attrNameLst>
                                      </p:cBhvr>
                                      <p:tavLst>
                                        <p:tav tm="0">
                                          <p:val>
                                            <p:strVal val="#ppt_y"/>
                                          </p:val>
                                        </p:tav>
                                        <p:tav tm="100000">
                                          <p:val>
                                            <p:strVal val="#ppt_y"/>
                                          </p:val>
                                        </p:tav>
                                      </p:tavLst>
                                    </p:anim>
                                    <p:anim calcmode="lin" valueType="num">
                                      <p:cBhvr>
                                        <p:cTn id="60" dur="500" fill="hold"/>
                                        <p:tgtEl>
                                          <p:spTgt spid="4"/>
                                        </p:tgtEl>
                                        <p:attrNameLst>
                                          <p:attrName>ppt_w</p:attrName>
                                        </p:attrNameLst>
                                      </p:cBhvr>
                                      <p:tavLst>
                                        <p:tav tm="0">
                                          <p:val>
                                            <p:fltVal val="0"/>
                                          </p:val>
                                        </p:tav>
                                        <p:tav tm="100000">
                                          <p:val>
                                            <p:strVal val="#ppt_w"/>
                                          </p:val>
                                        </p:tav>
                                      </p:tavLst>
                                    </p:anim>
                                    <p:anim calcmode="lin" valueType="num">
                                      <p:cBhvr>
                                        <p:cTn id="61" dur="500" fill="hold"/>
                                        <p:tgtEl>
                                          <p:spTgt spid="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15" name="laser.wav"/>
                                        </p:tgtEl>
                                      </p:cMediaNode>
                                    </p:audio>
                                  </p:subTnLst>
                                </p:cTn>
                              </p:par>
                            </p:childTnLst>
                          </p:cTn>
                        </p:par>
                      </p:childTnLst>
                    </p:cTn>
                  </p:par>
                  <p:par>
                    <p:cTn id="62" fill="hold">
                      <p:stCondLst>
                        <p:cond delay="indefinite"/>
                      </p:stCondLst>
                      <p:childTnLst>
                        <p:par>
                          <p:cTn id="63" fill="hold">
                            <p:stCondLst>
                              <p:cond delay="0"/>
                            </p:stCondLst>
                            <p:childTnLst>
                              <p:par>
                                <p:cTn id="64" presetID="23" presetClass="entr" presetSubtype="16" fill="hold" grpId="0" nodeType="clickEffect">
                                  <p:stCondLst>
                                    <p:cond delay="0"/>
                                  </p:stCondLst>
                                  <p:childTnLst>
                                    <p:set>
                                      <p:cBhvr>
                                        <p:cTn id="65" dur="1" fill="hold">
                                          <p:stCondLst>
                                            <p:cond delay="0"/>
                                          </p:stCondLst>
                                        </p:cTn>
                                        <p:tgtEl>
                                          <p:spTgt spid="1214491"/>
                                        </p:tgtEl>
                                        <p:attrNameLst>
                                          <p:attrName>style.visibility</p:attrName>
                                        </p:attrNameLst>
                                      </p:cBhvr>
                                      <p:to>
                                        <p:strVal val="visible"/>
                                      </p:to>
                                    </p:set>
                                    <p:anim calcmode="lin" valueType="num">
                                      <p:cBhvr>
                                        <p:cTn id="66" dur="500" fill="hold"/>
                                        <p:tgtEl>
                                          <p:spTgt spid="1214491"/>
                                        </p:tgtEl>
                                        <p:attrNameLst>
                                          <p:attrName>ppt_w</p:attrName>
                                        </p:attrNameLst>
                                      </p:cBhvr>
                                      <p:tavLst>
                                        <p:tav tm="0">
                                          <p:val>
                                            <p:fltVal val="0"/>
                                          </p:val>
                                        </p:tav>
                                        <p:tav tm="100000">
                                          <p:val>
                                            <p:strVal val="#ppt_w"/>
                                          </p:val>
                                        </p:tav>
                                      </p:tavLst>
                                    </p:anim>
                                    <p:anim calcmode="lin" valueType="num">
                                      <p:cBhvr>
                                        <p:cTn id="67" dur="500" fill="hold"/>
                                        <p:tgtEl>
                                          <p:spTgt spid="1214491"/>
                                        </p:tgtEl>
                                        <p:attrNameLst>
                                          <p:attrName>ppt_h</p:attrName>
                                        </p:attrNameLst>
                                      </p:cBhvr>
                                      <p:tavLst>
                                        <p:tav tm="0">
                                          <p:val>
                                            <p:fltVal val="0"/>
                                          </p:val>
                                        </p:tav>
                                        <p:tav tm="100000">
                                          <p:val>
                                            <p:strVal val="#ppt_h"/>
                                          </p:val>
                                        </p:tav>
                                      </p:tavLst>
                                    </p:anim>
                                  </p:childTnLst>
                                </p:cTn>
                              </p:par>
                            </p:childTnLst>
                          </p:cTn>
                        </p:par>
                        <p:par>
                          <p:cTn id="68" fill="hold">
                            <p:stCondLst>
                              <p:cond delay="500"/>
                            </p:stCondLst>
                            <p:childTnLst>
                              <p:par>
                                <p:cTn id="69" presetID="17" presetClass="entr" presetSubtype="10" fill="hold" grpId="0" nodeType="afterEffect">
                                  <p:stCondLst>
                                    <p:cond delay="0"/>
                                  </p:stCondLst>
                                  <p:childTnLst>
                                    <p:set>
                                      <p:cBhvr>
                                        <p:cTn id="70" dur="1" fill="hold">
                                          <p:stCondLst>
                                            <p:cond delay="0"/>
                                          </p:stCondLst>
                                        </p:cTn>
                                        <p:tgtEl>
                                          <p:spTgt spid="1214486"/>
                                        </p:tgtEl>
                                        <p:attrNameLst>
                                          <p:attrName>style.visibility</p:attrName>
                                        </p:attrNameLst>
                                      </p:cBhvr>
                                      <p:to>
                                        <p:strVal val="visible"/>
                                      </p:to>
                                    </p:set>
                                    <p:anim calcmode="lin" valueType="num">
                                      <p:cBhvr>
                                        <p:cTn id="71" dur="500" fill="hold"/>
                                        <p:tgtEl>
                                          <p:spTgt spid="1214486"/>
                                        </p:tgtEl>
                                        <p:attrNameLst>
                                          <p:attrName>ppt_w</p:attrName>
                                        </p:attrNameLst>
                                      </p:cBhvr>
                                      <p:tavLst>
                                        <p:tav tm="0">
                                          <p:val>
                                            <p:fltVal val="0"/>
                                          </p:val>
                                        </p:tav>
                                        <p:tav tm="100000">
                                          <p:val>
                                            <p:strVal val="#ppt_w"/>
                                          </p:val>
                                        </p:tav>
                                      </p:tavLst>
                                    </p:anim>
                                    <p:anim calcmode="lin" valueType="num">
                                      <p:cBhvr>
                                        <p:cTn id="72" dur="500" fill="hold"/>
                                        <p:tgtEl>
                                          <p:spTgt spid="1214486"/>
                                        </p:tgtEl>
                                        <p:attrNameLst>
                                          <p:attrName>ppt_h</p:attrName>
                                        </p:attrNameLst>
                                      </p:cBhvr>
                                      <p:tavLst>
                                        <p:tav tm="0">
                                          <p:val>
                                            <p:strVal val="#ppt_h"/>
                                          </p:val>
                                        </p:tav>
                                        <p:tav tm="100000">
                                          <p:val>
                                            <p:strVal val="#ppt_h"/>
                                          </p:val>
                                        </p:tav>
                                      </p:tavLst>
                                    </p:anim>
                                  </p:childTnLst>
                                </p:cTn>
                              </p:par>
                            </p:childTnLst>
                          </p:cTn>
                        </p:par>
                        <p:par>
                          <p:cTn id="73" fill="hold">
                            <p:stCondLst>
                              <p:cond delay="1000"/>
                            </p:stCondLst>
                            <p:childTnLst>
                              <p:par>
                                <p:cTn id="74" presetID="22" presetClass="entr" presetSubtype="4" fill="hold" grpId="0" nodeType="afterEffect">
                                  <p:stCondLst>
                                    <p:cond delay="0"/>
                                  </p:stCondLst>
                                  <p:childTnLst>
                                    <p:set>
                                      <p:cBhvr>
                                        <p:cTn id="75" dur="1" fill="hold">
                                          <p:stCondLst>
                                            <p:cond delay="0"/>
                                          </p:stCondLst>
                                        </p:cTn>
                                        <p:tgtEl>
                                          <p:spTgt spid="1214487"/>
                                        </p:tgtEl>
                                        <p:attrNameLst>
                                          <p:attrName>style.visibility</p:attrName>
                                        </p:attrNameLst>
                                      </p:cBhvr>
                                      <p:to>
                                        <p:strVal val="visible"/>
                                      </p:to>
                                    </p:set>
                                    <p:animEffect transition="in" filter="wipe(down)">
                                      <p:cBhvr>
                                        <p:cTn id="76" dur="500"/>
                                        <p:tgtEl>
                                          <p:spTgt spid="1214487"/>
                                        </p:tgtEl>
                                      </p:cBhvr>
                                    </p:animEffect>
                                  </p:childTnLst>
                                </p:cTn>
                              </p:par>
                            </p:childTnLst>
                          </p:cTn>
                        </p:par>
                        <p:par>
                          <p:cTn id="77" fill="hold">
                            <p:stCondLst>
                              <p:cond delay="1500"/>
                            </p:stCondLst>
                            <p:childTnLst>
                              <p:par>
                                <p:cTn id="78" presetID="17" presetClass="entr" presetSubtype="4" fill="hold" nodeType="afterEffect">
                                  <p:stCondLst>
                                    <p:cond delay="0"/>
                                  </p:stCondLst>
                                  <p:childTnLst>
                                    <p:set>
                                      <p:cBhvr>
                                        <p:cTn id="79" dur="1" fill="hold">
                                          <p:stCondLst>
                                            <p:cond delay="0"/>
                                          </p:stCondLst>
                                        </p:cTn>
                                        <p:tgtEl>
                                          <p:spTgt spid="1214483"/>
                                        </p:tgtEl>
                                        <p:attrNameLst>
                                          <p:attrName>style.visibility</p:attrName>
                                        </p:attrNameLst>
                                      </p:cBhvr>
                                      <p:to>
                                        <p:strVal val="visible"/>
                                      </p:to>
                                    </p:set>
                                    <p:anim calcmode="lin" valueType="num">
                                      <p:cBhvr>
                                        <p:cTn id="80" dur="500" fill="hold"/>
                                        <p:tgtEl>
                                          <p:spTgt spid="1214483"/>
                                        </p:tgtEl>
                                        <p:attrNameLst>
                                          <p:attrName>ppt_x</p:attrName>
                                        </p:attrNameLst>
                                      </p:cBhvr>
                                      <p:tavLst>
                                        <p:tav tm="0">
                                          <p:val>
                                            <p:strVal val="#ppt_x"/>
                                          </p:val>
                                        </p:tav>
                                        <p:tav tm="100000">
                                          <p:val>
                                            <p:strVal val="#ppt_x"/>
                                          </p:val>
                                        </p:tav>
                                      </p:tavLst>
                                    </p:anim>
                                    <p:anim calcmode="lin" valueType="num">
                                      <p:cBhvr>
                                        <p:cTn id="81" dur="500" fill="hold"/>
                                        <p:tgtEl>
                                          <p:spTgt spid="1214483"/>
                                        </p:tgtEl>
                                        <p:attrNameLst>
                                          <p:attrName>ppt_y</p:attrName>
                                        </p:attrNameLst>
                                      </p:cBhvr>
                                      <p:tavLst>
                                        <p:tav tm="0">
                                          <p:val>
                                            <p:strVal val="#ppt_y+#ppt_h/2"/>
                                          </p:val>
                                        </p:tav>
                                        <p:tav tm="100000">
                                          <p:val>
                                            <p:strVal val="#ppt_y"/>
                                          </p:val>
                                        </p:tav>
                                      </p:tavLst>
                                    </p:anim>
                                    <p:anim calcmode="lin" valueType="num">
                                      <p:cBhvr>
                                        <p:cTn id="82" dur="500" fill="hold"/>
                                        <p:tgtEl>
                                          <p:spTgt spid="1214483"/>
                                        </p:tgtEl>
                                        <p:attrNameLst>
                                          <p:attrName>ppt_w</p:attrName>
                                        </p:attrNameLst>
                                      </p:cBhvr>
                                      <p:tavLst>
                                        <p:tav tm="0">
                                          <p:val>
                                            <p:strVal val="#ppt_w"/>
                                          </p:val>
                                        </p:tav>
                                        <p:tav tm="100000">
                                          <p:val>
                                            <p:strVal val="#ppt_w"/>
                                          </p:val>
                                        </p:tav>
                                      </p:tavLst>
                                    </p:anim>
                                    <p:anim calcmode="lin" valueType="num">
                                      <p:cBhvr>
                                        <p:cTn id="83" dur="500" fill="hold"/>
                                        <p:tgtEl>
                                          <p:spTgt spid="121448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16" name="carbrake.wav"/>
                                        </p:tgtEl>
                                      </p:cMediaNode>
                                    </p:audio>
                                  </p:subTnLst>
                                </p:cTn>
                              </p:par>
                            </p:childTnLst>
                          </p:cTn>
                        </p:par>
                      </p:childTnLst>
                    </p:cTn>
                  </p:par>
                  <p:par>
                    <p:cTn id="84" fill="hold">
                      <p:stCondLst>
                        <p:cond delay="indefinite"/>
                      </p:stCondLst>
                      <p:childTnLst>
                        <p:par>
                          <p:cTn id="85" fill="hold">
                            <p:stCondLst>
                              <p:cond delay="0"/>
                            </p:stCondLst>
                            <p:childTnLst>
                              <p:par>
                                <p:cTn id="86" presetID="17" presetClass="entr" presetSubtype="10" fill="hold" grpId="0" nodeType="clickEffect">
                                  <p:stCondLst>
                                    <p:cond delay="0"/>
                                  </p:stCondLst>
                                  <p:childTnLst>
                                    <p:set>
                                      <p:cBhvr>
                                        <p:cTn id="87" dur="1" fill="hold">
                                          <p:stCondLst>
                                            <p:cond delay="0"/>
                                          </p:stCondLst>
                                        </p:cTn>
                                        <p:tgtEl>
                                          <p:spTgt spid="1214489"/>
                                        </p:tgtEl>
                                        <p:attrNameLst>
                                          <p:attrName>style.visibility</p:attrName>
                                        </p:attrNameLst>
                                      </p:cBhvr>
                                      <p:to>
                                        <p:strVal val="visible"/>
                                      </p:to>
                                    </p:set>
                                    <p:anim calcmode="lin" valueType="num">
                                      <p:cBhvr>
                                        <p:cTn id="88" dur="500" fill="hold"/>
                                        <p:tgtEl>
                                          <p:spTgt spid="1214489"/>
                                        </p:tgtEl>
                                        <p:attrNameLst>
                                          <p:attrName>ppt_w</p:attrName>
                                        </p:attrNameLst>
                                      </p:cBhvr>
                                      <p:tavLst>
                                        <p:tav tm="0">
                                          <p:val>
                                            <p:fltVal val="0"/>
                                          </p:val>
                                        </p:tav>
                                        <p:tav tm="100000">
                                          <p:val>
                                            <p:strVal val="#ppt_w"/>
                                          </p:val>
                                        </p:tav>
                                      </p:tavLst>
                                    </p:anim>
                                    <p:anim calcmode="lin" valueType="num">
                                      <p:cBhvr>
                                        <p:cTn id="89" dur="500" fill="hold"/>
                                        <p:tgtEl>
                                          <p:spTgt spid="1214489"/>
                                        </p:tgtEl>
                                        <p:attrNameLst>
                                          <p:attrName>ppt_h</p:attrName>
                                        </p:attrNameLst>
                                      </p:cBhvr>
                                      <p:tavLst>
                                        <p:tav tm="0">
                                          <p:val>
                                            <p:strVal val="#ppt_h"/>
                                          </p:val>
                                        </p:tav>
                                        <p:tav tm="100000">
                                          <p:val>
                                            <p:strVal val="#ppt_h"/>
                                          </p:val>
                                        </p:tav>
                                      </p:tavLst>
                                    </p:anim>
                                  </p:childTnLst>
                                </p:cTn>
                              </p:par>
                            </p:childTnLst>
                          </p:cTn>
                        </p:par>
                        <p:par>
                          <p:cTn id="90" fill="hold">
                            <p:stCondLst>
                              <p:cond delay="500"/>
                            </p:stCondLst>
                            <p:childTnLst>
                              <p:par>
                                <p:cTn id="91" presetID="22" presetClass="entr" presetSubtype="4" fill="hold" grpId="0" nodeType="afterEffect">
                                  <p:stCondLst>
                                    <p:cond delay="0"/>
                                  </p:stCondLst>
                                  <p:childTnLst>
                                    <p:set>
                                      <p:cBhvr>
                                        <p:cTn id="92" dur="1" fill="hold">
                                          <p:stCondLst>
                                            <p:cond delay="0"/>
                                          </p:stCondLst>
                                        </p:cTn>
                                        <p:tgtEl>
                                          <p:spTgt spid="1214511"/>
                                        </p:tgtEl>
                                        <p:attrNameLst>
                                          <p:attrName>style.visibility</p:attrName>
                                        </p:attrNameLst>
                                      </p:cBhvr>
                                      <p:to>
                                        <p:strVal val="visible"/>
                                      </p:to>
                                    </p:set>
                                    <p:animEffect transition="in" filter="wipe(down)">
                                      <p:cBhvr>
                                        <p:cTn id="93" dur="500"/>
                                        <p:tgtEl>
                                          <p:spTgt spid="1214511"/>
                                        </p:tgtEl>
                                      </p:cBhvr>
                                    </p:animEffect>
                                  </p:childTnLst>
                                  <p:subTnLst>
                                    <p:audio>
                                      <p:cMediaNode>
                                        <p:cTn display="0" masterRel="sameClick">
                                          <p:stCondLst>
                                            <p:cond evt="begin" delay="0">
                                              <p:tn val="91"/>
                                            </p:cond>
                                          </p:stCondLst>
                                          <p:endCondLst>
                                            <p:cond evt="onStopAudio" delay="0">
                                              <p:tgtEl>
                                                <p:sldTgt/>
                                              </p:tgtEl>
                                            </p:cond>
                                          </p:endCondLst>
                                        </p:cTn>
                                        <p:tgtEl>
                                          <p:sndTgt r:embed="rId17" name="gunshot.wav"/>
                                        </p:tgtEl>
                                      </p:cMediaNode>
                                    </p:audio>
                                  </p:subTnLst>
                                </p:cTn>
                              </p:par>
                            </p:childTnLst>
                          </p:cTn>
                        </p:par>
                        <p:par>
                          <p:cTn id="94" fill="hold">
                            <p:stCondLst>
                              <p:cond delay="1000"/>
                            </p:stCondLst>
                            <p:childTnLst>
                              <p:par>
                                <p:cTn id="95" presetID="17" presetClass="entr" presetSubtype="4" fill="hold" nodeType="afterEffect">
                                  <p:stCondLst>
                                    <p:cond delay="0"/>
                                  </p:stCondLst>
                                  <p:childTnLst>
                                    <p:set>
                                      <p:cBhvr>
                                        <p:cTn id="96" dur="1" fill="hold">
                                          <p:stCondLst>
                                            <p:cond delay="0"/>
                                          </p:stCondLst>
                                        </p:cTn>
                                        <p:tgtEl>
                                          <p:spTgt spid="1214513"/>
                                        </p:tgtEl>
                                        <p:attrNameLst>
                                          <p:attrName>style.visibility</p:attrName>
                                        </p:attrNameLst>
                                      </p:cBhvr>
                                      <p:to>
                                        <p:strVal val="visible"/>
                                      </p:to>
                                    </p:set>
                                    <p:anim calcmode="lin" valueType="num">
                                      <p:cBhvr>
                                        <p:cTn id="97" dur="500" fill="hold"/>
                                        <p:tgtEl>
                                          <p:spTgt spid="1214513"/>
                                        </p:tgtEl>
                                        <p:attrNameLst>
                                          <p:attrName>ppt_x</p:attrName>
                                        </p:attrNameLst>
                                      </p:cBhvr>
                                      <p:tavLst>
                                        <p:tav tm="0">
                                          <p:val>
                                            <p:strVal val="#ppt_x"/>
                                          </p:val>
                                        </p:tav>
                                        <p:tav tm="100000">
                                          <p:val>
                                            <p:strVal val="#ppt_x"/>
                                          </p:val>
                                        </p:tav>
                                      </p:tavLst>
                                    </p:anim>
                                    <p:anim calcmode="lin" valueType="num">
                                      <p:cBhvr>
                                        <p:cTn id="98" dur="500" fill="hold"/>
                                        <p:tgtEl>
                                          <p:spTgt spid="1214513"/>
                                        </p:tgtEl>
                                        <p:attrNameLst>
                                          <p:attrName>ppt_y</p:attrName>
                                        </p:attrNameLst>
                                      </p:cBhvr>
                                      <p:tavLst>
                                        <p:tav tm="0">
                                          <p:val>
                                            <p:strVal val="#ppt_y+#ppt_h/2"/>
                                          </p:val>
                                        </p:tav>
                                        <p:tav tm="100000">
                                          <p:val>
                                            <p:strVal val="#ppt_y"/>
                                          </p:val>
                                        </p:tav>
                                      </p:tavLst>
                                    </p:anim>
                                    <p:anim calcmode="lin" valueType="num">
                                      <p:cBhvr>
                                        <p:cTn id="99" dur="500" fill="hold"/>
                                        <p:tgtEl>
                                          <p:spTgt spid="1214513"/>
                                        </p:tgtEl>
                                        <p:attrNameLst>
                                          <p:attrName>ppt_w</p:attrName>
                                        </p:attrNameLst>
                                      </p:cBhvr>
                                      <p:tavLst>
                                        <p:tav tm="0">
                                          <p:val>
                                            <p:strVal val="#ppt_w"/>
                                          </p:val>
                                        </p:tav>
                                        <p:tav tm="100000">
                                          <p:val>
                                            <p:strVal val="#ppt_w"/>
                                          </p:val>
                                        </p:tav>
                                      </p:tavLst>
                                    </p:anim>
                                    <p:anim calcmode="lin" valueType="num">
                                      <p:cBhvr>
                                        <p:cTn id="100" dur="500" fill="hold"/>
                                        <p:tgtEl>
                                          <p:spTgt spid="121451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5"/>
                                            </p:cond>
                                          </p:stCondLst>
                                          <p:endCondLst>
                                            <p:cond evt="onStopAudio" delay="0">
                                              <p:tgtEl>
                                                <p:sldTgt/>
                                              </p:tgtEl>
                                            </p:cond>
                                          </p:endCondLst>
                                        </p:cTn>
                                        <p:tgtEl>
                                          <p:sndTgt r:embed="rId16"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seq concurrent="1" nextAc="seek">
              <p:cTn id="101" restart="whenNotActive" fill="hold" evtFilter="cancelBubble" nodeType="interactiveSeq">
                <p:stCondLst>
                  <p:cond evt="onClick" delay="0">
                    <p:tgtEl>
                      <p:spTgt spid="1214480"/>
                    </p:tgtEl>
                  </p:cond>
                </p:stCondLst>
                <p:endSync evt="end" delay="0">
                  <p:rtn val="all"/>
                </p:endSync>
                <p:childTnLst>
                  <p:par>
                    <p:cTn id="102" fill="hold">
                      <p:stCondLst>
                        <p:cond delay="0"/>
                      </p:stCondLst>
                      <p:childTnLst>
                        <p:par>
                          <p:cTn id="103" fill="hold">
                            <p:stCondLst>
                              <p:cond delay="0"/>
                            </p:stCondLst>
                            <p:childTnLst>
                              <p:par>
                                <p:cTn id="104" presetID="2" presetClass="mediacall" presetSubtype="0" fill="hold" nodeType="clickEffect">
                                  <p:stCondLst>
                                    <p:cond delay="0"/>
                                  </p:stCondLst>
                                  <p:childTnLst>
                                    <p:cmd type="call" cmd="togglePause">
                                      <p:cBhvr>
                                        <p:cTn id="105" dur="1" fill="hold"/>
                                        <p:tgtEl>
                                          <p:spTgt spid="1214480"/>
                                        </p:tgtEl>
                                      </p:cBhvr>
                                    </p:cmd>
                                  </p:childTnLst>
                                </p:cTn>
                              </p:par>
                            </p:childTnLst>
                          </p:cTn>
                        </p:par>
                      </p:childTnLst>
                    </p:cTn>
                  </p:par>
                </p:childTnLst>
              </p:cTn>
              <p:nextCondLst>
                <p:cond evt="onClick" delay="0">
                  <p:tgtEl>
                    <p:spTgt spid="1214480"/>
                  </p:tgtEl>
                </p:cond>
              </p:nextCondLst>
            </p:seq>
            <p:video>
              <p:cMediaNode>
                <p:cTn id="106" repeatCount="indefinite" fill="hold" display="0">
                  <p:stCondLst>
                    <p:cond delay="indefinite"/>
                  </p:stCondLst>
                  <p:endCondLst>
                    <p:cond evt="onPrev" delay="0">
                      <p:tgtEl>
                        <p:sldTgt/>
                      </p:tgtEl>
                    </p:cond>
                  </p:endCondLst>
                </p:cTn>
                <p:tgtEl>
                  <p:spTgt spid="1214480"/>
                </p:tgtEl>
              </p:cMediaNode>
            </p:video>
          </p:childTnLst>
        </p:cTn>
      </p:par>
    </p:tnLst>
    <p:bldLst>
      <p:bldP spid="1214472" grpId="0" bldLvl="0" animBg="1" autoUpdateAnimBg="0"/>
      <p:bldP spid="1214473" grpId="0" bldLvl="0" animBg="1" autoUpdateAnimBg="0"/>
      <p:bldP spid="1214484" grpId="0" bldLvl="0" animBg="1" autoUpdateAnimBg="0"/>
      <p:bldP spid="1214486" grpId="0" bldLvl="0" animBg="1" autoUpdateAnimBg="0"/>
      <p:bldP spid="1214487" grpId="0" bldLvl="0" animBg="1"/>
      <p:bldP spid="1214489" grpId="0" bldLvl="0" animBg="1" autoUpdateAnimBg="0"/>
      <p:bldP spid="1214490" grpId="0" bldLvl="0" animBg="1" autoUpdateAnimBg="0"/>
      <p:bldP spid="1214491" grpId="0" bldLvl="0" animBg="1" autoUpdateAnimBg="0"/>
      <p:bldP spid="1214511" grpId="0" bldLvl="0" animBg="1"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1785" y="150446"/>
            <a:ext cx="11254154" cy="360680"/>
          </a:xfrm>
          <a:prstGeom prst="rect">
            <a:avLst/>
          </a:prstGeom>
        </p:spPr>
        <p:txBody>
          <a:bodyPr>
            <a:spAutoFit/>
          </a:bodyPr>
          <a:lstStyle/>
          <a:p>
            <a:pPr eaLnBrk="1" hangingPunct="1">
              <a:lnSpc>
                <a:spcPts val="2100"/>
              </a:lnSpc>
              <a:defRPr/>
            </a:pPr>
            <a:r>
              <a:rPr lang="zh-CN" altLang="en-US" sz="2955" b="1" dirty="0">
                <a:solidFill>
                  <a:srgbClr val="FF0000"/>
                </a:solidFill>
                <a:latin typeface="+mj-lt"/>
                <a:ea typeface="+mj-ea"/>
                <a:cs typeface="+mj-cs"/>
              </a:rPr>
              <a:t>网络</a:t>
            </a:r>
            <a:r>
              <a:rPr lang="zh-CN" altLang="zh-CN" sz="2955" b="1" dirty="0">
                <a:solidFill>
                  <a:srgbClr val="FF0000"/>
                </a:solidFill>
                <a:latin typeface="+mj-lt"/>
                <a:ea typeface="+mj-ea"/>
                <a:cs typeface="+mj-cs"/>
              </a:rPr>
              <a:t>安全</a:t>
            </a:r>
            <a:r>
              <a:rPr lang="zh-CN" altLang="zh-CN" sz="2460" dirty="0">
                <a:solidFill>
                  <a:srgbClr val="0000FF"/>
                </a:solidFill>
                <a:latin typeface="+mj-lt"/>
                <a:ea typeface="+mj-ea"/>
                <a:cs typeface="+mj-cs"/>
              </a:rPr>
              <a:t>（</a:t>
            </a:r>
            <a:r>
              <a:rPr lang="en-US" altLang="zh-CN" sz="2460" dirty="0">
                <a:solidFill>
                  <a:srgbClr val="0000FF"/>
                </a:solidFill>
              </a:rPr>
              <a:t> Network</a:t>
            </a:r>
            <a:r>
              <a:rPr lang="en-US" altLang="zh-CN" sz="2460" dirty="0">
                <a:solidFill>
                  <a:srgbClr val="0000FF"/>
                </a:solidFill>
                <a:latin typeface="+mj-lt"/>
                <a:ea typeface="+mj-ea"/>
                <a:cs typeface="+mj-cs"/>
              </a:rPr>
              <a:t> Security</a:t>
            </a:r>
            <a:r>
              <a:rPr lang="zh-CN" altLang="zh-CN" sz="2460" dirty="0">
                <a:solidFill>
                  <a:srgbClr val="0000FF"/>
                </a:solidFill>
                <a:latin typeface="+mj-lt"/>
                <a:ea typeface="+mj-ea"/>
                <a:cs typeface="+mj-cs"/>
              </a:rPr>
              <a:t>）</a:t>
            </a:r>
            <a:endParaRPr lang="zh-CN" altLang="en-US" sz="2460" dirty="0">
              <a:solidFill>
                <a:srgbClr val="0000FF"/>
              </a:solidFill>
              <a:latin typeface="+mj-lt"/>
              <a:ea typeface="+mj-ea"/>
              <a:cs typeface="+mj-cs"/>
            </a:endParaRPr>
          </a:p>
        </p:txBody>
      </p:sp>
      <p:sp>
        <p:nvSpPr>
          <p:cNvPr id="2" name="矩形 1"/>
          <p:cNvSpPr/>
          <p:nvPr/>
        </p:nvSpPr>
        <p:spPr>
          <a:xfrm>
            <a:off x="1221154" y="635000"/>
            <a:ext cx="10015415" cy="847725"/>
          </a:xfrm>
          <a:prstGeom prst="rect">
            <a:avLst/>
          </a:prstGeom>
        </p:spPr>
        <p:txBody>
          <a:bodyPr>
            <a:spAutoFit/>
          </a:bodyPr>
          <a:lstStyle/>
          <a:p>
            <a:pPr>
              <a:defRPr/>
            </a:pPr>
            <a:r>
              <a:rPr lang="zh-CN" altLang="zh-CN" sz="2460" b="1" dirty="0">
                <a:solidFill>
                  <a:srgbClr val="0000FF"/>
                </a:solidFill>
                <a:latin typeface="+mn-ea"/>
                <a:ea typeface="+mn-ea"/>
              </a:rPr>
              <a:t>——涉及网络的设计、实施和运营，目的在于实现机构内部、机构间以及机构与用户间网络的信息安全。</a:t>
            </a:r>
            <a:endParaRPr lang="zh-CN" altLang="en-US" sz="2460" b="1" dirty="0">
              <a:solidFill>
                <a:srgbClr val="0000FF"/>
              </a:solidFill>
              <a:latin typeface="+mn-ea"/>
              <a:ea typeface="+mn-ea"/>
            </a:endParaRPr>
          </a:p>
        </p:txBody>
      </p:sp>
      <p:grpSp>
        <p:nvGrpSpPr>
          <p:cNvPr id="5" name="组合 4"/>
          <p:cNvGrpSpPr/>
          <p:nvPr/>
        </p:nvGrpSpPr>
        <p:grpSpPr bwMode="auto">
          <a:xfrm>
            <a:off x="1930400" y="1922585"/>
            <a:ext cx="7975600" cy="4450079"/>
            <a:chOff x="1568624" y="2204864"/>
            <a:chExt cx="6480720" cy="3616418"/>
          </a:xfrm>
        </p:grpSpPr>
        <p:sp>
          <p:nvSpPr>
            <p:cNvPr id="457" name="矩形 456"/>
            <p:cNvSpPr/>
            <p:nvPr/>
          </p:nvSpPr>
          <p:spPr>
            <a:xfrm>
              <a:off x="3630960" y="5734587"/>
              <a:ext cx="273986" cy="86695"/>
            </a:xfrm>
            <a:prstGeom prst="rect">
              <a:avLst/>
            </a:prstGeom>
          </p:spPr>
          <p:txBody>
            <a:bodyPr wrap="none">
              <a:spAutoFit/>
            </a:bodyPr>
            <a:lstStyle/>
            <a:p>
              <a:pPr>
                <a:defRPr/>
              </a:pPr>
              <a:r>
                <a:rPr lang="zh-CN" altLang="en-US" sz="100" b="1" dirty="0">
                  <a:latin typeface="+mn-ea"/>
                  <a:ea typeface="+mn-ea"/>
                </a:rPr>
                <a:t>政企</a:t>
              </a:r>
              <a:r>
                <a:rPr lang="en-US" altLang="zh-CN" sz="100" b="1" dirty="0">
                  <a:latin typeface="+mn-ea"/>
                  <a:ea typeface="+mn-ea"/>
                </a:rPr>
                <a:t>Web</a:t>
              </a:r>
              <a:r>
                <a:rPr lang="zh-CN" altLang="en-US" sz="100" b="1" dirty="0">
                  <a:latin typeface="+mn-ea"/>
                  <a:ea typeface="+mn-ea"/>
                </a:rPr>
                <a:t>防护架构解决方案</a:t>
              </a:r>
              <a:endParaRPr lang="zh-CN" altLang="en-US" sz="100" b="1" dirty="0">
                <a:latin typeface="+mn-ea"/>
                <a:ea typeface="+mn-ea"/>
              </a:endParaRPr>
            </a:p>
          </p:txBody>
        </p:sp>
        <p:pic>
          <p:nvPicPr>
            <p:cNvPr id="162822"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68624" y="2204864"/>
              <a:ext cx="6480720" cy="337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 fill="hold"/>
                                        <p:tgtEl>
                                          <p:spTgt spid="4"/>
                                        </p:tgtEl>
                                        <p:attrNameLst>
                                          <p:attrName>ppt_x</p:attrName>
                                        </p:attrNameLst>
                                      </p:cBhvr>
                                      <p:tavLst>
                                        <p:tav tm="0">
                                          <p:val>
                                            <p:strVal val="#ppt_x"/>
                                          </p:val>
                                        </p:tav>
                                        <p:tav tm="100000">
                                          <p:val>
                                            <p:strVal val="#ppt_x"/>
                                          </p:val>
                                        </p:tav>
                                      </p:tavLst>
                                    </p:anim>
                                    <p:anim calcmode="lin" valueType="num">
                                      <p:cBhvr additive="base">
                                        <p:cTn id="8" dur="1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1000" fill="hold"/>
                                        <p:tgtEl>
                                          <p:spTgt spid="2"/>
                                        </p:tgtEl>
                                        <p:attrNameLst>
                                          <p:attrName>ppt_x</p:attrName>
                                        </p:attrNameLst>
                                      </p:cBhvr>
                                      <p:tavLst>
                                        <p:tav tm="0">
                                          <p:val>
                                            <p:strVal val="1+#ppt_w/2"/>
                                          </p:val>
                                        </p:tav>
                                        <p:tav tm="100000">
                                          <p:val>
                                            <p:strVal val="#ppt_x"/>
                                          </p:val>
                                        </p:tav>
                                      </p:tavLst>
                                    </p:anim>
                                    <p:anim calcmode="lin" valueType="num">
                                      <p:cBhvr additive="base">
                                        <p:cTn id="13" dur="1000" fill="hold"/>
                                        <p:tgtEl>
                                          <p:spTgt spid="2"/>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1500" fill="hold"/>
                                        <p:tgtEl>
                                          <p:spTgt spid="5"/>
                                        </p:tgtEl>
                                        <p:attrNameLst>
                                          <p:attrName>ppt_x</p:attrName>
                                        </p:attrNameLst>
                                      </p:cBhvr>
                                      <p:tavLst>
                                        <p:tav tm="0">
                                          <p:val>
                                            <p:strVal val="#ppt_x"/>
                                          </p:val>
                                        </p:tav>
                                        <p:tav tm="100000">
                                          <p:val>
                                            <p:strVal val="#ppt_x"/>
                                          </p:val>
                                        </p:tav>
                                      </p:tavLst>
                                    </p:anim>
                                    <p:anim calcmode="lin" valueType="num">
                                      <p:cBhvr additive="base">
                                        <p:cTn id="18" dur="1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4"/>
          <p:cNvSpPr>
            <a:spLocks noGrp="1" noChangeArrowheads="1"/>
          </p:cNvSpPr>
          <p:nvPr>
            <p:ph type="title"/>
          </p:nvPr>
        </p:nvSpPr>
        <p:spPr bwMode="auto">
          <a:xfrm>
            <a:off x="279401" y="96765"/>
            <a:ext cx="11551138" cy="359410"/>
          </a:xfrm>
        </p:spPr>
        <p:txBody>
          <a:bodyPr>
            <a:spAutoFit/>
          </a:bodyPr>
          <a:lstStyle/>
          <a:p>
            <a:pPr eaLnBrk="1" hangingPunct="1">
              <a:lnSpc>
                <a:spcPts val="2100"/>
              </a:lnSpc>
              <a:defRPr/>
            </a:pPr>
            <a:r>
              <a:rPr lang="zh-CN" altLang="zh-CN" sz="2955" kern="1200" dirty="0">
                <a:solidFill>
                  <a:srgbClr val="FF0000"/>
                </a:solidFill>
              </a:rPr>
              <a:t>因特网安全（</a:t>
            </a:r>
            <a:r>
              <a:rPr lang="en-US" altLang="zh-CN" sz="2955" kern="1200" dirty="0">
                <a:solidFill>
                  <a:srgbClr val="FF0000"/>
                </a:solidFill>
              </a:rPr>
              <a:t> Internet Security</a:t>
            </a:r>
            <a:r>
              <a:rPr lang="zh-CN" altLang="zh-CN" sz="2955" kern="1200" dirty="0">
                <a:solidFill>
                  <a:srgbClr val="FF0000"/>
                </a:solidFill>
              </a:rPr>
              <a:t>）</a:t>
            </a:r>
            <a:endParaRPr lang="zh-CN" altLang="en-US" sz="2460" kern="1200" dirty="0">
              <a:solidFill>
                <a:srgbClr val="0000FF"/>
              </a:solidFill>
              <a:latin typeface="+mn-ea"/>
              <a:ea typeface="+mn-ea"/>
              <a:cs typeface="+mn-cs"/>
            </a:endParaRPr>
          </a:p>
        </p:txBody>
      </p:sp>
      <p:sp>
        <p:nvSpPr>
          <p:cNvPr id="163843" name="AutoShape 6"/>
          <p:cNvSpPr>
            <a:spLocks noChangeArrowheads="1"/>
          </p:cNvSpPr>
          <p:nvPr/>
        </p:nvSpPr>
        <p:spPr bwMode="auto">
          <a:xfrm>
            <a:off x="4872892" y="2752969"/>
            <a:ext cx="5101493" cy="2731477"/>
          </a:xfrm>
          <a:prstGeom prst="cloudCallout">
            <a:avLst>
              <a:gd name="adj1" fmla="val -47884"/>
              <a:gd name="adj2" fmla="val 25894"/>
            </a:avLst>
          </a:prstGeom>
          <a:solidFill>
            <a:srgbClr val="66FFFF"/>
          </a:solidFill>
          <a:ln w="12700" cap="sq">
            <a:solidFill>
              <a:schemeClr val="tx1"/>
            </a:solidFill>
            <a:round/>
            <a:headEnd type="non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3940">
                <a:latin typeface="Times New Roman" panose="02020603050405020304" pitchFamily="18" charset="0"/>
                <a:ea typeface="楷体_GB2312"/>
                <a:cs typeface="楷体_GB2312"/>
              </a:rPr>
              <a:t>因特网</a:t>
            </a:r>
            <a:endParaRPr lang="zh-CN" altLang="en-US" sz="2215">
              <a:latin typeface="Times New Roman" panose="02020603050405020304" pitchFamily="18" charset="0"/>
              <a:ea typeface="宋体" panose="02010600030101010101" pitchFamily="2" charset="-122"/>
            </a:endParaRPr>
          </a:p>
        </p:txBody>
      </p:sp>
      <p:sp>
        <p:nvSpPr>
          <p:cNvPr id="1212423" name="Oval 7"/>
          <p:cNvSpPr>
            <a:spLocks noChangeArrowheads="1"/>
          </p:cNvSpPr>
          <p:nvPr/>
        </p:nvSpPr>
        <p:spPr bwMode="auto">
          <a:xfrm>
            <a:off x="6602047" y="3083170"/>
            <a:ext cx="455246" cy="498230"/>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24" name="Oval 8"/>
          <p:cNvSpPr>
            <a:spLocks noChangeArrowheads="1"/>
          </p:cNvSpPr>
          <p:nvPr/>
        </p:nvSpPr>
        <p:spPr bwMode="auto">
          <a:xfrm>
            <a:off x="8059616" y="2752969"/>
            <a:ext cx="547077" cy="578338"/>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25" name="Oval 9"/>
          <p:cNvSpPr>
            <a:spLocks noChangeArrowheads="1"/>
          </p:cNvSpPr>
          <p:nvPr/>
        </p:nvSpPr>
        <p:spPr bwMode="auto">
          <a:xfrm>
            <a:off x="6328508" y="4573954"/>
            <a:ext cx="728784" cy="744416"/>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26" name="Oval 10"/>
          <p:cNvSpPr>
            <a:spLocks noChangeArrowheads="1"/>
          </p:cNvSpPr>
          <p:nvPr/>
        </p:nvSpPr>
        <p:spPr bwMode="auto">
          <a:xfrm>
            <a:off x="5054601" y="3993662"/>
            <a:ext cx="636954" cy="744415"/>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27" name="Oval 11"/>
          <p:cNvSpPr>
            <a:spLocks noChangeArrowheads="1"/>
          </p:cNvSpPr>
          <p:nvPr/>
        </p:nvSpPr>
        <p:spPr bwMode="auto">
          <a:xfrm>
            <a:off x="7969739" y="4489939"/>
            <a:ext cx="636954" cy="580292"/>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28" name="Oval 12"/>
          <p:cNvSpPr>
            <a:spLocks noChangeArrowheads="1"/>
          </p:cNvSpPr>
          <p:nvPr/>
        </p:nvSpPr>
        <p:spPr bwMode="auto">
          <a:xfrm>
            <a:off x="8970108" y="4077677"/>
            <a:ext cx="636954" cy="660400"/>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29" name="AutoShape 13"/>
          <p:cNvSpPr>
            <a:spLocks noChangeArrowheads="1"/>
          </p:cNvSpPr>
          <p:nvPr/>
        </p:nvSpPr>
        <p:spPr bwMode="auto">
          <a:xfrm>
            <a:off x="2413001" y="5896708"/>
            <a:ext cx="5283200" cy="1076569"/>
          </a:xfrm>
          <a:prstGeom prst="horizontalScroll">
            <a:avLst>
              <a:gd name="adj" fmla="val 12500"/>
            </a:avLst>
          </a:prstGeom>
          <a:solidFill>
            <a:srgbClr val="006600"/>
          </a:solidFill>
          <a:ln w="12700" cap="sq">
            <a:solidFill>
              <a:schemeClr val="tx1"/>
            </a:solidFill>
            <a:round/>
            <a:headEnd type="none" w="sm" len="sm"/>
            <a:tailEnd type="none" w="sm" len="sm"/>
          </a:ln>
          <a:effectLst>
            <a:outerShdw dist="107763" dir="27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solidFill>
                  <a:srgbClr val="FFCCFF"/>
                </a:solidFill>
                <a:latin typeface="Times New Roman" panose="02020603050405020304" pitchFamily="18" charset="0"/>
                <a:ea typeface="楷体_GB2312"/>
                <a:cs typeface="楷体_GB2312"/>
              </a:rPr>
              <a:t>网络对国民经济的影响在加强</a:t>
            </a:r>
            <a:endParaRPr lang="zh-CN" altLang="en-US" sz="2215" b="1">
              <a:solidFill>
                <a:srgbClr val="FFCCFF"/>
              </a:solidFill>
              <a:latin typeface="Times New Roman" panose="02020603050405020304" pitchFamily="18" charset="0"/>
              <a:ea typeface="宋体" panose="02010600030101010101" pitchFamily="2" charset="-122"/>
            </a:endParaRPr>
          </a:p>
        </p:txBody>
      </p:sp>
      <p:sp>
        <p:nvSpPr>
          <p:cNvPr id="1212430" name="Oval 14"/>
          <p:cNvSpPr>
            <a:spLocks noChangeArrowheads="1"/>
          </p:cNvSpPr>
          <p:nvPr/>
        </p:nvSpPr>
        <p:spPr bwMode="auto">
          <a:xfrm>
            <a:off x="5418016" y="3167185"/>
            <a:ext cx="636954" cy="744416"/>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31" name="Oval 15"/>
          <p:cNvSpPr>
            <a:spLocks noChangeArrowheads="1"/>
          </p:cNvSpPr>
          <p:nvPr/>
        </p:nvSpPr>
        <p:spPr bwMode="auto">
          <a:xfrm>
            <a:off x="8970108" y="3083170"/>
            <a:ext cx="636954" cy="746369"/>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32" name="Oval 16"/>
          <p:cNvSpPr>
            <a:spLocks noChangeArrowheads="1"/>
          </p:cNvSpPr>
          <p:nvPr/>
        </p:nvSpPr>
        <p:spPr bwMode="auto">
          <a:xfrm>
            <a:off x="6693877" y="3829539"/>
            <a:ext cx="547077" cy="660400"/>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33" name="AutoShape 17"/>
          <p:cNvSpPr>
            <a:spLocks noChangeArrowheads="1"/>
          </p:cNvSpPr>
          <p:nvPr/>
        </p:nvSpPr>
        <p:spPr bwMode="auto">
          <a:xfrm rot="-1636714">
            <a:off x="1774092" y="1594339"/>
            <a:ext cx="4372708" cy="1375508"/>
          </a:xfrm>
          <a:prstGeom prst="irregularSeal1">
            <a:avLst/>
          </a:prstGeom>
          <a:solidFill>
            <a:srgbClr val="FF0000"/>
          </a:solidFill>
          <a:ln w="12700" cap="sq">
            <a:solidFill>
              <a:schemeClr val="tx1"/>
            </a:solidFill>
            <a:miter lim="800000"/>
            <a:headEnd type="none" w="sm" len="sm"/>
            <a:tailEnd type="none" w="sm" len="sm"/>
          </a:ln>
          <a:effectLst>
            <a:outerShdw dist="107763" dir="189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460" b="1">
                <a:solidFill>
                  <a:srgbClr val="FFFF66"/>
                </a:solidFill>
                <a:latin typeface="Times New Roman" panose="02020603050405020304" pitchFamily="18" charset="0"/>
                <a:ea typeface="楷体_GB2312"/>
                <a:cs typeface="楷体_GB2312"/>
              </a:rPr>
              <a:t>安全漏洞危害在增大</a:t>
            </a:r>
            <a:endParaRPr lang="zh-CN" altLang="en-US" sz="2215" b="1">
              <a:solidFill>
                <a:srgbClr val="FFFF66"/>
              </a:solidFill>
              <a:latin typeface="Times New Roman" panose="02020603050405020304" pitchFamily="18" charset="0"/>
              <a:ea typeface="宋体" panose="02010600030101010101" pitchFamily="2" charset="-122"/>
            </a:endParaRPr>
          </a:p>
        </p:txBody>
      </p:sp>
      <p:graphicFrame>
        <p:nvGraphicFramePr>
          <p:cNvPr id="1212434" name="Object 18"/>
          <p:cNvGraphicFramePr>
            <a:graphicFrameLocks noChangeAspect="1"/>
          </p:cNvGraphicFramePr>
          <p:nvPr/>
        </p:nvGraphicFramePr>
        <p:xfrm>
          <a:off x="1408724" y="4077677"/>
          <a:ext cx="1058985" cy="904631"/>
        </p:xfrm>
        <a:graphic>
          <a:graphicData uri="http://schemas.openxmlformats.org/presentationml/2006/ole">
            <mc:AlternateContent xmlns:mc="http://schemas.openxmlformats.org/markup-compatibility/2006">
              <mc:Choice xmlns:v="urn:schemas-microsoft-com:vml" Requires="v">
                <p:oleObj spid="_x0000_s4138" name="剪辑" r:id="rId1" imgW="3597275" imgH="3390900" progId="">
                  <p:embed/>
                </p:oleObj>
              </mc:Choice>
              <mc:Fallback>
                <p:oleObj name="剪辑" r:id="rId1" imgW="3597275" imgH="3390900" progId="">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724" y="4077677"/>
                        <a:ext cx="1058985" cy="90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2435" name="Text Box 19"/>
          <p:cNvSpPr txBox="1">
            <a:spLocks noChangeArrowheads="1"/>
          </p:cNvSpPr>
          <p:nvPr/>
        </p:nvSpPr>
        <p:spPr bwMode="auto">
          <a:xfrm>
            <a:off x="1133231" y="5070231"/>
            <a:ext cx="3319780" cy="469265"/>
          </a:xfrm>
          <a:prstGeom prst="rect">
            <a:avLst/>
          </a:prstGeom>
          <a:solidFill>
            <a:srgbClr val="000099"/>
          </a:soli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CCFF99"/>
                </a:solidFill>
                <a:latin typeface="Times New Roman" panose="02020603050405020304" pitchFamily="18" charset="0"/>
                <a:ea typeface="楷体_GB2312"/>
                <a:cs typeface="楷体_GB2312"/>
              </a:rPr>
              <a:t>网络对抗的威胁在增加</a:t>
            </a:r>
            <a:endParaRPr lang="zh-CN" altLang="en-US" sz="2215" b="1">
              <a:latin typeface="Times New Roman" panose="02020603050405020304" pitchFamily="18" charset="0"/>
              <a:ea typeface="宋体" panose="02010600030101010101" pitchFamily="2" charset="-122"/>
            </a:endParaRPr>
          </a:p>
        </p:txBody>
      </p:sp>
      <p:sp>
        <p:nvSpPr>
          <p:cNvPr id="1212436" name="Oval 20"/>
          <p:cNvSpPr>
            <a:spLocks noChangeArrowheads="1"/>
          </p:cNvSpPr>
          <p:nvPr/>
        </p:nvSpPr>
        <p:spPr bwMode="auto">
          <a:xfrm>
            <a:off x="4597401" y="3663462"/>
            <a:ext cx="730738" cy="1074615"/>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37" name="Oval 21"/>
          <p:cNvSpPr>
            <a:spLocks noChangeArrowheads="1"/>
          </p:cNvSpPr>
          <p:nvPr/>
        </p:nvSpPr>
        <p:spPr bwMode="auto">
          <a:xfrm>
            <a:off x="4962769" y="3581400"/>
            <a:ext cx="728785" cy="1654908"/>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38" name="Oval 22"/>
          <p:cNvSpPr>
            <a:spLocks noChangeArrowheads="1"/>
          </p:cNvSpPr>
          <p:nvPr/>
        </p:nvSpPr>
        <p:spPr bwMode="auto">
          <a:xfrm>
            <a:off x="5418016" y="3083170"/>
            <a:ext cx="636954" cy="2483338"/>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39" name="Oval 23"/>
          <p:cNvSpPr>
            <a:spLocks noChangeArrowheads="1"/>
          </p:cNvSpPr>
          <p:nvPr/>
        </p:nvSpPr>
        <p:spPr bwMode="auto">
          <a:xfrm>
            <a:off x="5783385" y="2670908"/>
            <a:ext cx="636954" cy="2977662"/>
          </a:xfrm>
          <a:prstGeom prst="ellipse">
            <a:avLst/>
          </a:prstGeom>
          <a:solidFill>
            <a:schemeClr val="bg1"/>
          </a:solidFill>
          <a:ln w="12700" cap="sq">
            <a:noFill/>
            <a:round/>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40" name="AutoShape 24"/>
          <p:cNvSpPr>
            <a:spLocks noChangeArrowheads="1"/>
          </p:cNvSpPr>
          <p:nvPr/>
        </p:nvSpPr>
        <p:spPr bwMode="auto">
          <a:xfrm>
            <a:off x="7057292" y="1346200"/>
            <a:ext cx="3643924" cy="744416"/>
          </a:xfrm>
          <a:prstGeom prst="horizontalScroll">
            <a:avLst>
              <a:gd name="adj" fmla="val 12500"/>
            </a:avLst>
          </a:prstGeom>
          <a:solidFill>
            <a:schemeClr val="accent2"/>
          </a:solidFill>
          <a:ln w="12700" cap="sq">
            <a:solidFill>
              <a:schemeClr val="tx1"/>
            </a:solidFill>
            <a:round/>
            <a:headEnd type="none" w="sm" len="sm"/>
            <a:tailEnd type="none" w="sm" len="sm"/>
          </a:ln>
          <a:effectLst>
            <a:outerShdw dist="107763" dir="27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solidFill>
                  <a:srgbClr val="CCFF99"/>
                </a:solidFill>
                <a:latin typeface="Times New Roman" panose="02020603050405020304" pitchFamily="18" charset="0"/>
                <a:ea typeface="楷体_GB2312"/>
                <a:cs typeface="楷体_GB2312"/>
              </a:rPr>
              <a:t>研究安全漏洞以防之</a:t>
            </a:r>
            <a:endParaRPr lang="zh-CN" altLang="en-US" sz="2215" b="1">
              <a:solidFill>
                <a:srgbClr val="CCFF99"/>
              </a:solidFill>
              <a:latin typeface="Times New Roman" panose="02020603050405020304" pitchFamily="18" charset="0"/>
              <a:ea typeface="宋体" panose="02010600030101010101" pitchFamily="2" charset="-122"/>
            </a:endParaRPr>
          </a:p>
        </p:txBody>
      </p:sp>
      <p:sp>
        <p:nvSpPr>
          <p:cNvPr id="1212441" name="AutoShape 25"/>
          <p:cNvSpPr>
            <a:spLocks noChangeArrowheads="1"/>
          </p:cNvSpPr>
          <p:nvPr/>
        </p:nvSpPr>
        <p:spPr bwMode="auto">
          <a:xfrm>
            <a:off x="4872892" y="2752969"/>
            <a:ext cx="5101493" cy="2731477"/>
          </a:xfrm>
          <a:prstGeom prst="cloudCallout">
            <a:avLst>
              <a:gd name="adj1" fmla="val -47884"/>
              <a:gd name="adj2" fmla="val 25894"/>
            </a:avLst>
          </a:prstGeom>
          <a:solidFill>
            <a:srgbClr val="66FFFF"/>
          </a:solidFill>
          <a:ln w="12700" cap="sq">
            <a:solidFill>
              <a:schemeClr val="tx1"/>
            </a:solidFill>
            <a:round/>
            <a:headEnd type="non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3940">
                <a:latin typeface="Times New Roman" panose="02020603050405020304" pitchFamily="18" charset="0"/>
                <a:ea typeface="楷体_GB2312"/>
                <a:cs typeface="楷体_GB2312"/>
              </a:rPr>
              <a:t>Internet</a:t>
            </a:r>
            <a:endParaRPr lang="en-US" altLang="zh-CN" sz="2215">
              <a:latin typeface="Times New Roman" panose="02020603050405020304" pitchFamily="18" charset="0"/>
              <a:ea typeface="宋体" panose="02010600030101010101" pitchFamily="2" charset="-122"/>
            </a:endParaRPr>
          </a:p>
        </p:txBody>
      </p:sp>
      <p:graphicFrame>
        <p:nvGraphicFramePr>
          <p:cNvPr id="163863" name="Object 26"/>
          <p:cNvGraphicFramePr>
            <a:graphicFrameLocks noChangeAspect="1"/>
          </p:cNvGraphicFramePr>
          <p:nvPr/>
        </p:nvGraphicFramePr>
        <p:xfrm>
          <a:off x="6238631" y="4822093"/>
          <a:ext cx="1029676" cy="992554"/>
        </p:xfrm>
        <a:graphic>
          <a:graphicData uri="http://schemas.openxmlformats.org/presentationml/2006/ole">
            <mc:AlternateContent xmlns:mc="http://schemas.openxmlformats.org/markup-compatibility/2006">
              <mc:Choice xmlns:v="urn:schemas-microsoft-com:vml" Requires="v">
                <p:oleObj spid="_x0000_s4139" name="剪辑" r:id="rId3" imgW="1951990" imgH="2065655" progId="">
                  <p:embed/>
                </p:oleObj>
              </mc:Choice>
              <mc:Fallback>
                <p:oleObj name="剪辑" r:id="rId3" imgW="1951990" imgH="2065655" progId="">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8631" y="4822093"/>
                        <a:ext cx="1029676" cy="992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64" name="Object 27"/>
          <p:cNvGraphicFramePr>
            <a:graphicFrameLocks noChangeAspect="1"/>
          </p:cNvGraphicFramePr>
          <p:nvPr/>
        </p:nvGraphicFramePr>
        <p:xfrm>
          <a:off x="6783754" y="2256692"/>
          <a:ext cx="562708" cy="910492"/>
        </p:xfrm>
        <a:graphic>
          <a:graphicData uri="http://schemas.openxmlformats.org/presentationml/2006/ole">
            <mc:AlternateContent xmlns:mc="http://schemas.openxmlformats.org/markup-compatibility/2006">
              <mc:Choice xmlns:v="urn:schemas-microsoft-com:vml" Requires="v">
                <p:oleObj spid="_x0000_s4140" name="剪辑" r:id="rId5" imgW="1776730" imgH="3170555" progId="">
                  <p:embed/>
                </p:oleObj>
              </mc:Choice>
              <mc:Fallback>
                <p:oleObj name="剪辑" r:id="rId5" imgW="1776730" imgH="3170555" progId="">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3754" y="2256692"/>
                        <a:ext cx="562708" cy="910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65" name="Object 28"/>
          <p:cNvGraphicFramePr>
            <a:graphicFrameLocks noChangeAspect="1"/>
          </p:cNvGraphicFramePr>
          <p:nvPr/>
        </p:nvGraphicFramePr>
        <p:xfrm>
          <a:off x="7877908" y="1924538"/>
          <a:ext cx="1201616" cy="1203569"/>
        </p:xfrm>
        <a:graphic>
          <a:graphicData uri="http://schemas.openxmlformats.org/presentationml/2006/ole">
            <mc:AlternateContent xmlns:mc="http://schemas.openxmlformats.org/markup-compatibility/2006">
              <mc:Choice xmlns:v="urn:schemas-microsoft-com:vml" Requires="v">
                <p:oleObj spid="_x0000_s4141" name="剪辑" r:id="rId7" imgW="3116580" imgH="3437255" progId="">
                  <p:embed/>
                </p:oleObj>
              </mc:Choice>
              <mc:Fallback>
                <p:oleObj name="剪辑" r:id="rId7" imgW="3116580" imgH="3437255" progId="">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7908" y="1924538"/>
                        <a:ext cx="1201616" cy="1203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66" name="Object 29"/>
          <p:cNvGraphicFramePr>
            <a:graphicFrameLocks noChangeAspect="1"/>
          </p:cNvGraphicFramePr>
          <p:nvPr/>
        </p:nvGraphicFramePr>
        <p:xfrm>
          <a:off x="9061938" y="4077677"/>
          <a:ext cx="1275862" cy="939801"/>
        </p:xfrm>
        <a:graphic>
          <a:graphicData uri="http://schemas.openxmlformats.org/presentationml/2006/ole">
            <mc:AlternateContent xmlns:mc="http://schemas.openxmlformats.org/markup-compatibility/2006">
              <mc:Choice xmlns:v="urn:schemas-microsoft-com:vml" Requires="v">
                <p:oleObj spid="_x0000_s4142" name="剪辑" r:id="rId9" imgW="1112520" imgH="906145" progId="">
                  <p:embed/>
                </p:oleObj>
              </mc:Choice>
              <mc:Fallback>
                <p:oleObj name="剪辑" r:id="rId9" imgW="1112520" imgH="906145" progId="">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61938" y="4077677"/>
                        <a:ext cx="1275862" cy="939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67" name="Object 30"/>
          <p:cNvGraphicFramePr>
            <a:graphicFrameLocks noChangeAspect="1"/>
          </p:cNvGraphicFramePr>
          <p:nvPr/>
        </p:nvGraphicFramePr>
        <p:xfrm>
          <a:off x="4505569" y="4159738"/>
          <a:ext cx="803031" cy="756139"/>
        </p:xfrm>
        <a:graphic>
          <a:graphicData uri="http://schemas.openxmlformats.org/presentationml/2006/ole">
            <mc:AlternateContent xmlns:mc="http://schemas.openxmlformats.org/markup-compatibility/2006">
              <mc:Choice xmlns:v="urn:schemas-microsoft-com:vml" Requires="v">
                <p:oleObj spid="_x0000_s4143" name="剪辑" r:id="rId11" imgW="4425950" imgH="4594225" progId="">
                  <p:embed/>
                </p:oleObj>
              </mc:Choice>
              <mc:Fallback>
                <p:oleObj name="剪辑" r:id="rId11" imgW="4425950" imgH="4594225" progId="">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5569" y="4159738"/>
                        <a:ext cx="803031" cy="756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68" name="Object 31"/>
          <p:cNvGraphicFramePr>
            <a:graphicFrameLocks noChangeAspect="1"/>
          </p:cNvGraphicFramePr>
          <p:nvPr/>
        </p:nvGraphicFramePr>
        <p:xfrm>
          <a:off x="7788031" y="4738077"/>
          <a:ext cx="1311031" cy="851877"/>
        </p:xfrm>
        <a:graphic>
          <a:graphicData uri="http://schemas.openxmlformats.org/presentationml/2006/ole">
            <mc:AlternateContent xmlns:mc="http://schemas.openxmlformats.org/markup-compatibility/2006">
              <mc:Choice xmlns:v="urn:schemas-microsoft-com:vml" Requires="v">
                <p:oleObj spid="_x0000_s4144" name="剪辑" r:id="rId13" imgW="2957830" imgH="2109470" progId="">
                  <p:embed/>
                </p:oleObj>
              </mc:Choice>
              <mc:Fallback>
                <p:oleObj name="剪辑" r:id="rId13" imgW="2957830" imgH="2109470" progId="">
                  <p:embed/>
                  <p:pic>
                    <p:nvPicPr>
                      <p:cNvPr id="0"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88031" y="4738077"/>
                        <a:ext cx="1311031" cy="851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69" name="Object 32"/>
          <p:cNvGraphicFramePr>
            <a:graphicFrameLocks noChangeAspect="1"/>
          </p:cNvGraphicFramePr>
          <p:nvPr/>
        </p:nvGraphicFramePr>
        <p:xfrm>
          <a:off x="4872892" y="2670908"/>
          <a:ext cx="1060939" cy="992554"/>
        </p:xfrm>
        <a:graphic>
          <a:graphicData uri="http://schemas.openxmlformats.org/presentationml/2006/ole">
            <mc:AlternateContent xmlns:mc="http://schemas.openxmlformats.org/markup-compatibility/2006">
              <mc:Choice xmlns:v="urn:schemas-microsoft-com:vml" Requires="v">
                <p:oleObj spid="_x0000_s4145" name="剪辑" r:id="rId15" imgW="3560445" imgH="3669030" progId="">
                  <p:embed/>
                </p:oleObj>
              </mc:Choice>
              <mc:Fallback>
                <p:oleObj name="剪辑" r:id="rId15" imgW="3560445" imgH="3669030" progId="">
                  <p:embed/>
                  <p:pic>
                    <p:nvPicPr>
                      <p:cNvPr id="0"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72892" y="2670908"/>
                        <a:ext cx="1060939" cy="992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70" name="Object 33"/>
          <p:cNvGraphicFramePr>
            <a:graphicFrameLocks noChangeAspect="1"/>
          </p:cNvGraphicFramePr>
          <p:nvPr/>
        </p:nvGraphicFramePr>
        <p:xfrm>
          <a:off x="8880231" y="2711939"/>
          <a:ext cx="1549399" cy="881184"/>
        </p:xfrm>
        <a:graphic>
          <a:graphicData uri="http://schemas.openxmlformats.org/presentationml/2006/ole">
            <mc:AlternateContent xmlns:mc="http://schemas.openxmlformats.org/markup-compatibility/2006">
              <mc:Choice xmlns:v="urn:schemas-microsoft-com:vml" Requires="v">
                <p:oleObj spid="_x0000_s4146" name="剪辑" r:id="rId17" imgW="5905500" imgH="3697605" progId="">
                  <p:embed/>
                </p:oleObj>
              </mc:Choice>
              <mc:Fallback>
                <p:oleObj name="剪辑" r:id="rId17" imgW="5905500" imgH="3697605" progId="">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80231" y="2711939"/>
                        <a:ext cx="1549399" cy="88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71" name="Text Box 34"/>
          <p:cNvSpPr txBox="1">
            <a:spLocks noChangeArrowheads="1"/>
          </p:cNvSpPr>
          <p:nvPr/>
        </p:nvSpPr>
        <p:spPr bwMode="auto">
          <a:xfrm>
            <a:off x="4415692" y="4904154"/>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电力</a:t>
            </a:r>
            <a:endParaRPr lang="zh-CN" altLang="en-US" sz="2215" b="1">
              <a:latin typeface="Times New Roman" panose="02020603050405020304" pitchFamily="18" charset="0"/>
              <a:ea typeface="宋体" panose="02010600030101010101" pitchFamily="2" charset="-122"/>
            </a:endParaRPr>
          </a:p>
        </p:txBody>
      </p:sp>
      <p:sp>
        <p:nvSpPr>
          <p:cNvPr id="163872" name="Text Box 35"/>
          <p:cNvSpPr txBox="1">
            <a:spLocks noChangeArrowheads="1"/>
          </p:cNvSpPr>
          <p:nvPr/>
        </p:nvSpPr>
        <p:spPr bwMode="auto">
          <a:xfrm>
            <a:off x="5509846" y="5236308"/>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交通</a:t>
            </a:r>
            <a:endParaRPr lang="zh-CN" altLang="en-US" sz="2215" b="1">
              <a:latin typeface="Times New Roman" panose="02020603050405020304" pitchFamily="18" charset="0"/>
              <a:ea typeface="宋体" panose="02010600030101010101" pitchFamily="2" charset="-122"/>
            </a:endParaRPr>
          </a:p>
        </p:txBody>
      </p:sp>
      <p:sp>
        <p:nvSpPr>
          <p:cNvPr id="163873" name="Text Box 36"/>
          <p:cNvSpPr txBox="1">
            <a:spLocks noChangeArrowheads="1"/>
          </p:cNvSpPr>
          <p:nvPr/>
        </p:nvSpPr>
        <p:spPr bwMode="auto">
          <a:xfrm>
            <a:off x="4232031" y="3331308"/>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通信</a:t>
            </a:r>
            <a:endParaRPr lang="zh-CN" altLang="en-US" sz="2215" b="1">
              <a:latin typeface="Times New Roman" panose="02020603050405020304" pitchFamily="18" charset="0"/>
              <a:ea typeface="宋体" panose="02010600030101010101" pitchFamily="2" charset="-122"/>
            </a:endParaRPr>
          </a:p>
        </p:txBody>
      </p:sp>
      <p:sp>
        <p:nvSpPr>
          <p:cNvPr id="163874" name="Text Box 37"/>
          <p:cNvSpPr txBox="1">
            <a:spLocks noChangeArrowheads="1"/>
          </p:cNvSpPr>
          <p:nvPr/>
        </p:nvSpPr>
        <p:spPr bwMode="auto">
          <a:xfrm>
            <a:off x="6054970" y="2422770"/>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控制</a:t>
            </a:r>
            <a:endParaRPr lang="zh-CN" altLang="en-US" sz="2215" b="1">
              <a:latin typeface="Times New Roman" panose="02020603050405020304" pitchFamily="18" charset="0"/>
              <a:ea typeface="宋体" panose="02010600030101010101" pitchFamily="2" charset="-122"/>
            </a:endParaRPr>
          </a:p>
        </p:txBody>
      </p:sp>
      <p:sp>
        <p:nvSpPr>
          <p:cNvPr id="163875" name="Text Box 38"/>
          <p:cNvSpPr txBox="1">
            <a:spLocks noChangeArrowheads="1"/>
          </p:cNvSpPr>
          <p:nvPr/>
        </p:nvSpPr>
        <p:spPr bwMode="auto">
          <a:xfrm>
            <a:off x="7422662" y="2256692"/>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广播</a:t>
            </a:r>
            <a:endParaRPr lang="zh-CN" altLang="en-US" sz="2215" b="1">
              <a:latin typeface="Times New Roman" panose="02020603050405020304" pitchFamily="18" charset="0"/>
              <a:ea typeface="宋体" panose="02010600030101010101" pitchFamily="2" charset="-122"/>
            </a:endParaRPr>
          </a:p>
        </p:txBody>
      </p:sp>
      <p:sp>
        <p:nvSpPr>
          <p:cNvPr id="163876" name="Text Box 39"/>
          <p:cNvSpPr txBox="1">
            <a:spLocks noChangeArrowheads="1"/>
          </p:cNvSpPr>
          <p:nvPr/>
        </p:nvSpPr>
        <p:spPr bwMode="auto">
          <a:xfrm>
            <a:off x="10064262" y="2752969"/>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工业</a:t>
            </a:r>
            <a:endParaRPr lang="zh-CN" altLang="en-US" sz="2215" b="1">
              <a:latin typeface="Times New Roman" panose="02020603050405020304" pitchFamily="18" charset="0"/>
              <a:ea typeface="宋体" panose="02010600030101010101" pitchFamily="2" charset="-122"/>
            </a:endParaRPr>
          </a:p>
        </p:txBody>
      </p:sp>
      <p:sp>
        <p:nvSpPr>
          <p:cNvPr id="163877" name="Text Box 40"/>
          <p:cNvSpPr txBox="1">
            <a:spLocks noChangeArrowheads="1"/>
          </p:cNvSpPr>
          <p:nvPr/>
        </p:nvSpPr>
        <p:spPr bwMode="auto">
          <a:xfrm>
            <a:off x="9607062" y="4822093"/>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金融</a:t>
            </a:r>
            <a:endParaRPr lang="zh-CN" altLang="en-US" sz="2215" b="1">
              <a:latin typeface="Times New Roman" panose="02020603050405020304" pitchFamily="18" charset="0"/>
              <a:ea typeface="宋体" panose="02010600030101010101" pitchFamily="2" charset="-122"/>
            </a:endParaRPr>
          </a:p>
        </p:txBody>
      </p:sp>
      <p:sp>
        <p:nvSpPr>
          <p:cNvPr id="163878" name="Text Box 41"/>
          <p:cNvSpPr txBox="1">
            <a:spLocks noChangeArrowheads="1"/>
          </p:cNvSpPr>
          <p:nvPr/>
        </p:nvSpPr>
        <p:spPr bwMode="auto">
          <a:xfrm>
            <a:off x="8059616" y="5566508"/>
            <a:ext cx="810260" cy="469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60" b="1">
                <a:solidFill>
                  <a:srgbClr val="A50021"/>
                </a:solidFill>
                <a:latin typeface="Times New Roman" panose="02020603050405020304" pitchFamily="18" charset="0"/>
                <a:ea typeface="楷体_GB2312"/>
                <a:cs typeface="楷体_GB2312"/>
              </a:rPr>
              <a:t>医疗</a:t>
            </a:r>
            <a:endParaRPr lang="zh-CN" altLang="en-US" sz="2215" b="1">
              <a:latin typeface="Times New Roman" panose="02020603050405020304" pitchFamily="18" charset="0"/>
              <a:ea typeface="宋体" panose="02010600030101010101" pitchFamily="2" charset="-122"/>
            </a:endParaRPr>
          </a:p>
        </p:txBody>
      </p:sp>
      <p:sp>
        <p:nvSpPr>
          <p:cNvPr id="1212458" name="AutoShape 42"/>
          <p:cNvSpPr>
            <a:spLocks noChangeArrowheads="1"/>
          </p:cNvSpPr>
          <p:nvPr/>
        </p:nvSpPr>
        <p:spPr bwMode="auto">
          <a:xfrm>
            <a:off x="2504831"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59" name="AutoShape 43"/>
          <p:cNvSpPr>
            <a:spLocks noChangeArrowheads="1"/>
          </p:cNvSpPr>
          <p:nvPr/>
        </p:nvSpPr>
        <p:spPr bwMode="auto">
          <a:xfrm>
            <a:off x="2686539"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0" name="AutoShape 44"/>
          <p:cNvSpPr>
            <a:spLocks noChangeArrowheads="1"/>
          </p:cNvSpPr>
          <p:nvPr/>
        </p:nvSpPr>
        <p:spPr bwMode="auto">
          <a:xfrm>
            <a:off x="2868246"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1" name="AutoShape 45"/>
          <p:cNvSpPr>
            <a:spLocks noChangeArrowheads="1"/>
          </p:cNvSpPr>
          <p:nvPr/>
        </p:nvSpPr>
        <p:spPr bwMode="auto">
          <a:xfrm>
            <a:off x="3049954"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2" name="AutoShape 46"/>
          <p:cNvSpPr>
            <a:spLocks noChangeArrowheads="1"/>
          </p:cNvSpPr>
          <p:nvPr/>
        </p:nvSpPr>
        <p:spPr bwMode="auto">
          <a:xfrm>
            <a:off x="3231662"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3" name="AutoShape 47"/>
          <p:cNvSpPr>
            <a:spLocks noChangeArrowheads="1"/>
          </p:cNvSpPr>
          <p:nvPr/>
        </p:nvSpPr>
        <p:spPr bwMode="auto">
          <a:xfrm>
            <a:off x="3413370"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4" name="AutoShape 48"/>
          <p:cNvSpPr>
            <a:spLocks noChangeArrowheads="1"/>
          </p:cNvSpPr>
          <p:nvPr/>
        </p:nvSpPr>
        <p:spPr bwMode="auto">
          <a:xfrm>
            <a:off x="3686908"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5" name="AutoShape 49"/>
          <p:cNvSpPr>
            <a:spLocks noChangeArrowheads="1"/>
          </p:cNvSpPr>
          <p:nvPr/>
        </p:nvSpPr>
        <p:spPr bwMode="auto">
          <a:xfrm>
            <a:off x="3868615"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6" name="AutoShape 50"/>
          <p:cNvSpPr>
            <a:spLocks noChangeArrowheads="1"/>
          </p:cNvSpPr>
          <p:nvPr/>
        </p:nvSpPr>
        <p:spPr bwMode="auto">
          <a:xfrm>
            <a:off x="4052277" y="4325816"/>
            <a:ext cx="453292"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7" name="AutoShape 51"/>
          <p:cNvSpPr>
            <a:spLocks noChangeArrowheads="1"/>
          </p:cNvSpPr>
          <p:nvPr/>
        </p:nvSpPr>
        <p:spPr bwMode="auto">
          <a:xfrm>
            <a:off x="4233985"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8" name="AutoShape 52"/>
          <p:cNvSpPr>
            <a:spLocks noChangeArrowheads="1"/>
          </p:cNvSpPr>
          <p:nvPr/>
        </p:nvSpPr>
        <p:spPr bwMode="auto">
          <a:xfrm>
            <a:off x="2504831"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69" name="AutoShape 53"/>
          <p:cNvSpPr>
            <a:spLocks noChangeArrowheads="1"/>
          </p:cNvSpPr>
          <p:nvPr/>
        </p:nvSpPr>
        <p:spPr bwMode="auto">
          <a:xfrm>
            <a:off x="2686539"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0" name="AutoShape 54"/>
          <p:cNvSpPr>
            <a:spLocks noChangeArrowheads="1"/>
          </p:cNvSpPr>
          <p:nvPr/>
        </p:nvSpPr>
        <p:spPr bwMode="auto">
          <a:xfrm>
            <a:off x="2868246"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1" name="AutoShape 55"/>
          <p:cNvSpPr>
            <a:spLocks noChangeArrowheads="1"/>
          </p:cNvSpPr>
          <p:nvPr/>
        </p:nvSpPr>
        <p:spPr bwMode="auto">
          <a:xfrm>
            <a:off x="3049954"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2" name="AutoShape 56"/>
          <p:cNvSpPr>
            <a:spLocks noChangeArrowheads="1"/>
          </p:cNvSpPr>
          <p:nvPr/>
        </p:nvSpPr>
        <p:spPr bwMode="auto">
          <a:xfrm>
            <a:off x="3231662"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3" name="AutoShape 57"/>
          <p:cNvSpPr>
            <a:spLocks noChangeArrowheads="1"/>
          </p:cNvSpPr>
          <p:nvPr/>
        </p:nvSpPr>
        <p:spPr bwMode="auto">
          <a:xfrm>
            <a:off x="3413370"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4" name="AutoShape 58"/>
          <p:cNvSpPr>
            <a:spLocks noChangeArrowheads="1"/>
          </p:cNvSpPr>
          <p:nvPr/>
        </p:nvSpPr>
        <p:spPr bwMode="auto">
          <a:xfrm>
            <a:off x="3686908"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5" name="AutoShape 59"/>
          <p:cNvSpPr>
            <a:spLocks noChangeArrowheads="1"/>
          </p:cNvSpPr>
          <p:nvPr/>
        </p:nvSpPr>
        <p:spPr bwMode="auto">
          <a:xfrm>
            <a:off x="3868615"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6" name="AutoShape 60"/>
          <p:cNvSpPr>
            <a:spLocks noChangeArrowheads="1"/>
          </p:cNvSpPr>
          <p:nvPr/>
        </p:nvSpPr>
        <p:spPr bwMode="auto">
          <a:xfrm>
            <a:off x="4052277" y="4325816"/>
            <a:ext cx="453292"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7" name="AutoShape 61"/>
          <p:cNvSpPr>
            <a:spLocks noChangeArrowheads="1"/>
          </p:cNvSpPr>
          <p:nvPr/>
        </p:nvSpPr>
        <p:spPr bwMode="auto">
          <a:xfrm>
            <a:off x="4233985"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8" name="AutoShape 62"/>
          <p:cNvSpPr>
            <a:spLocks noChangeArrowheads="1"/>
          </p:cNvSpPr>
          <p:nvPr/>
        </p:nvSpPr>
        <p:spPr bwMode="auto">
          <a:xfrm>
            <a:off x="4415692"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79" name="AutoShape 63"/>
          <p:cNvSpPr>
            <a:spLocks noChangeArrowheads="1"/>
          </p:cNvSpPr>
          <p:nvPr/>
        </p:nvSpPr>
        <p:spPr bwMode="auto">
          <a:xfrm>
            <a:off x="4597401"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0" name="AutoShape 64"/>
          <p:cNvSpPr>
            <a:spLocks noChangeArrowheads="1"/>
          </p:cNvSpPr>
          <p:nvPr/>
        </p:nvSpPr>
        <p:spPr bwMode="auto">
          <a:xfrm>
            <a:off x="2504831"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1" name="AutoShape 65"/>
          <p:cNvSpPr>
            <a:spLocks noChangeArrowheads="1"/>
          </p:cNvSpPr>
          <p:nvPr/>
        </p:nvSpPr>
        <p:spPr bwMode="auto">
          <a:xfrm>
            <a:off x="2686539"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2" name="AutoShape 66"/>
          <p:cNvSpPr>
            <a:spLocks noChangeArrowheads="1"/>
          </p:cNvSpPr>
          <p:nvPr/>
        </p:nvSpPr>
        <p:spPr bwMode="auto">
          <a:xfrm>
            <a:off x="2868246"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3" name="AutoShape 67"/>
          <p:cNvSpPr>
            <a:spLocks noChangeArrowheads="1"/>
          </p:cNvSpPr>
          <p:nvPr/>
        </p:nvSpPr>
        <p:spPr bwMode="auto">
          <a:xfrm>
            <a:off x="3049954"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4" name="AutoShape 68"/>
          <p:cNvSpPr>
            <a:spLocks noChangeArrowheads="1"/>
          </p:cNvSpPr>
          <p:nvPr/>
        </p:nvSpPr>
        <p:spPr bwMode="auto">
          <a:xfrm>
            <a:off x="3231662"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5" name="AutoShape 69"/>
          <p:cNvSpPr>
            <a:spLocks noChangeArrowheads="1"/>
          </p:cNvSpPr>
          <p:nvPr/>
        </p:nvSpPr>
        <p:spPr bwMode="auto">
          <a:xfrm>
            <a:off x="3413370"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6" name="AutoShape 70"/>
          <p:cNvSpPr>
            <a:spLocks noChangeArrowheads="1"/>
          </p:cNvSpPr>
          <p:nvPr/>
        </p:nvSpPr>
        <p:spPr bwMode="auto">
          <a:xfrm>
            <a:off x="3686908"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7" name="AutoShape 71"/>
          <p:cNvSpPr>
            <a:spLocks noChangeArrowheads="1"/>
          </p:cNvSpPr>
          <p:nvPr/>
        </p:nvSpPr>
        <p:spPr bwMode="auto">
          <a:xfrm>
            <a:off x="3868615"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8" name="AutoShape 72"/>
          <p:cNvSpPr>
            <a:spLocks noChangeArrowheads="1"/>
          </p:cNvSpPr>
          <p:nvPr/>
        </p:nvSpPr>
        <p:spPr bwMode="auto">
          <a:xfrm>
            <a:off x="4052277" y="4325816"/>
            <a:ext cx="453292"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89" name="AutoShape 73"/>
          <p:cNvSpPr>
            <a:spLocks noChangeArrowheads="1"/>
          </p:cNvSpPr>
          <p:nvPr/>
        </p:nvSpPr>
        <p:spPr bwMode="auto">
          <a:xfrm>
            <a:off x="4233985"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0" name="AutoShape 74"/>
          <p:cNvSpPr>
            <a:spLocks noChangeArrowheads="1"/>
          </p:cNvSpPr>
          <p:nvPr/>
        </p:nvSpPr>
        <p:spPr bwMode="auto">
          <a:xfrm>
            <a:off x="4415692"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1" name="AutoShape 75"/>
          <p:cNvSpPr>
            <a:spLocks noChangeArrowheads="1"/>
          </p:cNvSpPr>
          <p:nvPr/>
        </p:nvSpPr>
        <p:spPr bwMode="auto">
          <a:xfrm>
            <a:off x="4597401"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2" name="AutoShape 76"/>
          <p:cNvSpPr>
            <a:spLocks noChangeArrowheads="1"/>
          </p:cNvSpPr>
          <p:nvPr/>
        </p:nvSpPr>
        <p:spPr bwMode="auto">
          <a:xfrm>
            <a:off x="4781062"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3" name="AutoShape 77"/>
          <p:cNvSpPr>
            <a:spLocks noChangeArrowheads="1"/>
          </p:cNvSpPr>
          <p:nvPr/>
        </p:nvSpPr>
        <p:spPr bwMode="auto">
          <a:xfrm>
            <a:off x="4962769"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4" name="AutoShape 78"/>
          <p:cNvSpPr>
            <a:spLocks noChangeArrowheads="1"/>
          </p:cNvSpPr>
          <p:nvPr/>
        </p:nvSpPr>
        <p:spPr bwMode="auto">
          <a:xfrm>
            <a:off x="2504831"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5" name="AutoShape 79"/>
          <p:cNvSpPr>
            <a:spLocks noChangeArrowheads="1"/>
          </p:cNvSpPr>
          <p:nvPr/>
        </p:nvSpPr>
        <p:spPr bwMode="auto">
          <a:xfrm>
            <a:off x="2686539"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6" name="AutoShape 80"/>
          <p:cNvSpPr>
            <a:spLocks noChangeArrowheads="1"/>
          </p:cNvSpPr>
          <p:nvPr/>
        </p:nvSpPr>
        <p:spPr bwMode="auto">
          <a:xfrm>
            <a:off x="2868246"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7" name="AutoShape 81"/>
          <p:cNvSpPr>
            <a:spLocks noChangeArrowheads="1"/>
          </p:cNvSpPr>
          <p:nvPr/>
        </p:nvSpPr>
        <p:spPr bwMode="auto">
          <a:xfrm>
            <a:off x="3049954"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8" name="AutoShape 82"/>
          <p:cNvSpPr>
            <a:spLocks noChangeArrowheads="1"/>
          </p:cNvSpPr>
          <p:nvPr/>
        </p:nvSpPr>
        <p:spPr bwMode="auto">
          <a:xfrm>
            <a:off x="3231662"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499" name="AutoShape 83"/>
          <p:cNvSpPr>
            <a:spLocks noChangeArrowheads="1"/>
          </p:cNvSpPr>
          <p:nvPr/>
        </p:nvSpPr>
        <p:spPr bwMode="auto">
          <a:xfrm>
            <a:off x="3413370"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0" name="AutoShape 84"/>
          <p:cNvSpPr>
            <a:spLocks noChangeArrowheads="1"/>
          </p:cNvSpPr>
          <p:nvPr/>
        </p:nvSpPr>
        <p:spPr bwMode="auto">
          <a:xfrm>
            <a:off x="3686908"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1" name="AutoShape 85"/>
          <p:cNvSpPr>
            <a:spLocks noChangeArrowheads="1"/>
          </p:cNvSpPr>
          <p:nvPr/>
        </p:nvSpPr>
        <p:spPr bwMode="auto">
          <a:xfrm>
            <a:off x="3868615"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2" name="AutoShape 86"/>
          <p:cNvSpPr>
            <a:spLocks noChangeArrowheads="1"/>
          </p:cNvSpPr>
          <p:nvPr/>
        </p:nvSpPr>
        <p:spPr bwMode="auto">
          <a:xfrm>
            <a:off x="4052277" y="4325816"/>
            <a:ext cx="453292"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3" name="AutoShape 87"/>
          <p:cNvSpPr>
            <a:spLocks noChangeArrowheads="1"/>
          </p:cNvSpPr>
          <p:nvPr/>
        </p:nvSpPr>
        <p:spPr bwMode="auto">
          <a:xfrm>
            <a:off x="4233985"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4" name="AutoShape 88"/>
          <p:cNvSpPr>
            <a:spLocks noChangeArrowheads="1"/>
          </p:cNvSpPr>
          <p:nvPr/>
        </p:nvSpPr>
        <p:spPr bwMode="auto">
          <a:xfrm>
            <a:off x="4415692"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5" name="AutoShape 89"/>
          <p:cNvSpPr>
            <a:spLocks noChangeArrowheads="1"/>
          </p:cNvSpPr>
          <p:nvPr/>
        </p:nvSpPr>
        <p:spPr bwMode="auto">
          <a:xfrm>
            <a:off x="4597401" y="4325816"/>
            <a:ext cx="457200" cy="330199"/>
          </a:xfrm>
          <a:prstGeom prst="rightArrow">
            <a:avLst>
              <a:gd name="adj1" fmla="val 50000"/>
              <a:gd name="adj2" fmla="val 31953"/>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6" name="AutoShape 90"/>
          <p:cNvSpPr>
            <a:spLocks noChangeArrowheads="1"/>
          </p:cNvSpPr>
          <p:nvPr/>
        </p:nvSpPr>
        <p:spPr bwMode="auto">
          <a:xfrm>
            <a:off x="4781062"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7" name="AutoShape 91"/>
          <p:cNvSpPr>
            <a:spLocks noChangeArrowheads="1"/>
          </p:cNvSpPr>
          <p:nvPr/>
        </p:nvSpPr>
        <p:spPr bwMode="auto">
          <a:xfrm>
            <a:off x="4962769"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8" name="AutoShape 92"/>
          <p:cNvSpPr>
            <a:spLocks noChangeArrowheads="1"/>
          </p:cNvSpPr>
          <p:nvPr/>
        </p:nvSpPr>
        <p:spPr bwMode="auto">
          <a:xfrm>
            <a:off x="5146431" y="4325816"/>
            <a:ext cx="455247"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09" name="AutoShape 93"/>
          <p:cNvSpPr>
            <a:spLocks noChangeArrowheads="1"/>
          </p:cNvSpPr>
          <p:nvPr/>
        </p:nvSpPr>
        <p:spPr bwMode="auto">
          <a:xfrm>
            <a:off x="5418016" y="4325816"/>
            <a:ext cx="455246" cy="330199"/>
          </a:xfrm>
          <a:prstGeom prst="rightArrow">
            <a:avLst>
              <a:gd name="adj1" fmla="val 50000"/>
              <a:gd name="adj2" fmla="val 31805"/>
            </a:avLst>
          </a:prstGeom>
          <a:solidFill>
            <a:schemeClr val="accent2"/>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0" name="AutoShape 94"/>
          <p:cNvSpPr>
            <a:spLocks noChangeArrowheads="1"/>
          </p:cNvSpPr>
          <p:nvPr/>
        </p:nvSpPr>
        <p:spPr bwMode="auto">
          <a:xfrm>
            <a:off x="601785" y="3331308"/>
            <a:ext cx="3641969" cy="746369"/>
          </a:xfrm>
          <a:prstGeom prst="horizontalScroll">
            <a:avLst>
              <a:gd name="adj" fmla="val 12500"/>
            </a:avLst>
          </a:prstGeom>
          <a:solidFill>
            <a:schemeClr val="accent2"/>
          </a:solidFill>
          <a:ln w="12700" cap="sq">
            <a:solidFill>
              <a:schemeClr val="tx1"/>
            </a:solidFill>
            <a:round/>
            <a:headEnd type="none" w="sm" len="sm"/>
            <a:tailEnd type="none" w="sm" len="sm"/>
          </a:ln>
          <a:effectLst>
            <a:outerShdw dist="107763" dir="2700000" algn="ctr" rotWithShape="0">
              <a:schemeClr val="bg2"/>
            </a:outerShdw>
          </a:effec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215" b="1">
                <a:solidFill>
                  <a:srgbClr val="CCFF99"/>
                </a:solidFill>
                <a:latin typeface="Times New Roman" panose="02020603050405020304" pitchFamily="18" charset="0"/>
                <a:ea typeface="楷体_GB2312"/>
                <a:cs typeface="楷体_GB2312"/>
              </a:rPr>
              <a:t>研究攻防技术以阻之</a:t>
            </a:r>
            <a:endParaRPr lang="zh-CN" altLang="en-US" sz="2215" b="1">
              <a:solidFill>
                <a:srgbClr val="CCFF99"/>
              </a:solidFill>
              <a:latin typeface="Times New Roman" panose="02020603050405020304" pitchFamily="18" charset="0"/>
              <a:ea typeface="宋体" panose="02010600030101010101" pitchFamily="2" charset="-122"/>
            </a:endParaRPr>
          </a:p>
        </p:txBody>
      </p:sp>
      <p:graphicFrame>
        <p:nvGraphicFramePr>
          <p:cNvPr id="1212511" name="Object 95"/>
          <p:cNvGraphicFramePr>
            <a:graphicFrameLocks noChangeAspect="1"/>
          </p:cNvGraphicFramePr>
          <p:nvPr/>
        </p:nvGraphicFramePr>
        <p:xfrm>
          <a:off x="3960447" y="4077677"/>
          <a:ext cx="593969" cy="806939"/>
        </p:xfrm>
        <a:graphic>
          <a:graphicData uri="http://schemas.openxmlformats.org/presentationml/2006/ole">
            <mc:AlternateContent xmlns:mc="http://schemas.openxmlformats.org/markup-compatibility/2006">
              <mc:Choice xmlns:v="urn:schemas-microsoft-com:vml" Requires="v">
                <p:oleObj spid="_x0000_s4147" name="剪辑" r:id="rId19" imgW="3032125" imgH="4533900" progId="">
                  <p:embed/>
                </p:oleObj>
              </mc:Choice>
              <mc:Fallback>
                <p:oleObj name="剪辑" r:id="rId19" imgW="3032125" imgH="4533900" progId="">
                  <p:embed/>
                  <p:pic>
                    <p:nvPicPr>
                      <p:cNvPr id="0" name="Object 9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60447" y="4077677"/>
                        <a:ext cx="593969" cy="806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2512" name="AutoShape 96"/>
          <p:cNvSpPr>
            <a:spLocks noChangeArrowheads="1"/>
          </p:cNvSpPr>
          <p:nvPr/>
        </p:nvSpPr>
        <p:spPr bwMode="auto">
          <a:xfrm>
            <a:off x="2504831"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3" name="AutoShape 97"/>
          <p:cNvSpPr>
            <a:spLocks noChangeArrowheads="1"/>
          </p:cNvSpPr>
          <p:nvPr/>
        </p:nvSpPr>
        <p:spPr bwMode="auto">
          <a:xfrm>
            <a:off x="2686539"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4" name="AutoShape 98"/>
          <p:cNvSpPr>
            <a:spLocks noChangeArrowheads="1"/>
          </p:cNvSpPr>
          <p:nvPr/>
        </p:nvSpPr>
        <p:spPr bwMode="auto">
          <a:xfrm>
            <a:off x="2868246"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5" name="AutoShape 99"/>
          <p:cNvSpPr>
            <a:spLocks noChangeArrowheads="1"/>
          </p:cNvSpPr>
          <p:nvPr/>
        </p:nvSpPr>
        <p:spPr bwMode="auto">
          <a:xfrm>
            <a:off x="3049954"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6" name="AutoShape 100"/>
          <p:cNvSpPr>
            <a:spLocks noChangeArrowheads="1"/>
          </p:cNvSpPr>
          <p:nvPr/>
        </p:nvSpPr>
        <p:spPr bwMode="auto">
          <a:xfrm>
            <a:off x="3231662"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7" name="AutoShape 101"/>
          <p:cNvSpPr>
            <a:spLocks noChangeArrowheads="1"/>
          </p:cNvSpPr>
          <p:nvPr/>
        </p:nvSpPr>
        <p:spPr bwMode="auto">
          <a:xfrm>
            <a:off x="3413370"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8" name="AutoShape 102"/>
          <p:cNvSpPr>
            <a:spLocks noChangeArrowheads="1"/>
          </p:cNvSpPr>
          <p:nvPr/>
        </p:nvSpPr>
        <p:spPr bwMode="auto">
          <a:xfrm>
            <a:off x="3597031" y="4325816"/>
            <a:ext cx="453292"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19" name="AutoShape 103"/>
          <p:cNvSpPr>
            <a:spLocks noChangeArrowheads="1"/>
          </p:cNvSpPr>
          <p:nvPr/>
        </p:nvSpPr>
        <p:spPr bwMode="auto">
          <a:xfrm>
            <a:off x="3778738"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0" name="AutoShape 104"/>
          <p:cNvSpPr>
            <a:spLocks noChangeArrowheads="1"/>
          </p:cNvSpPr>
          <p:nvPr/>
        </p:nvSpPr>
        <p:spPr bwMode="auto">
          <a:xfrm>
            <a:off x="2504831"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1" name="AutoShape 105"/>
          <p:cNvSpPr>
            <a:spLocks noChangeArrowheads="1"/>
          </p:cNvSpPr>
          <p:nvPr/>
        </p:nvSpPr>
        <p:spPr bwMode="auto">
          <a:xfrm>
            <a:off x="2686539"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2" name="AutoShape 106"/>
          <p:cNvSpPr>
            <a:spLocks noChangeArrowheads="1"/>
          </p:cNvSpPr>
          <p:nvPr/>
        </p:nvSpPr>
        <p:spPr bwMode="auto">
          <a:xfrm>
            <a:off x="2868246"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3" name="AutoShape 107"/>
          <p:cNvSpPr>
            <a:spLocks noChangeArrowheads="1"/>
          </p:cNvSpPr>
          <p:nvPr/>
        </p:nvSpPr>
        <p:spPr bwMode="auto">
          <a:xfrm>
            <a:off x="3049954"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4" name="AutoShape 108"/>
          <p:cNvSpPr>
            <a:spLocks noChangeArrowheads="1"/>
          </p:cNvSpPr>
          <p:nvPr/>
        </p:nvSpPr>
        <p:spPr bwMode="auto">
          <a:xfrm>
            <a:off x="3231662"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5" name="AutoShape 109"/>
          <p:cNvSpPr>
            <a:spLocks noChangeArrowheads="1"/>
          </p:cNvSpPr>
          <p:nvPr/>
        </p:nvSpPr>
        <p:spPr bwMode="auto">
          <a:xfrm>
            <a:off x="3413370"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6" name="AutoShape 110"/>
          <p:cNvSpPr>
            <a:spLocks noChangeArrowheads="1"/>
          </p:cNvSpPr>
          <p:nvPr/>
        </p:nvSpPr>
        <p:spPr bwMode="auto">
          <a:xfrm>
            <a:off x="3597031" y="4325816"/>
            <a:ext cx="453292"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7" name="AutoShape 111"/>
          <p:cNvSpPr>
            <a:spLocks noChangeArrowheads="1"/>
          </p:cNvSpPr>
          <p:nvPr/>
        </p:nvSpPr>
        <p:spPr bwMode="auto">
          <a:xfrm>
            <a:off x="3778738"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8" name="AutoShape 112"/>
          <p:cNvSpPr>
            <a:spLocks noChangeArrowheads="1"/>
          </p:cNvSpPr>
          <p:nvPr/>
        </p:nvSpPr>
        <p:spPr bwMode="auto">
          <a:xfrm>
            <a:off x="2504831"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29" name="AutoShape 113"/>
          <p:cNvSpPr>
            <a:spLocks noChangeArrowheads="1"/>
          </p:cNvSpPr>
          <p:nvPr/>
        </p:nvSpPr>
        <p:spPr bwMode="auto">
          <a:xfrm>
            <a:off x="2686539"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30" name="AutoShape 114"/>
          <p:cNvSpPr>
            <a:spLocks noChangeArrowheads="1"/>
          </p:cNvSpPr>
          <p:nvPr/>
        </p:nvSpPr>
        <p:spPr bwMode="auto">
          <a:xfrm>
            <a:off x="2868246"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31" name="AutoShape 115"/>
          <p:cNvSpPr>
            <a:spLocks noChangeArrowheads="1"/>
          </p:cNvSpPr>
          <p:nvPr/>
        </p:nvSpPr>
        <p:spPr bwMode="auto">
          <a:xfrm>
            <a:off x="3049954"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32" name="AutoShape 116"/>
          <p:cNvSpPr>
            <a:spLocks noChangeArrowheads="1"/>
          </p:cNvSpPr>
          <p:nvPr/>
        </p:nvSpPr>
        <p:spPr bwMode="auto">
          <a:xfrm>
            <a:off x="3231662"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33" name="AutoShape 117"/>
          <p:cNvSpPr>
            <a:spLocks noChangeArrowheads="1"/>
          </p:cNvSpPr>
          <p:nvPr/>
        </p:nvSpPr>
        <p:spPr bwMode="auto">
          <a:xfrm>
            <a:off x="3413370" y="4325816"/>
            <a:ext cx="455246"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34" name="AutoShape 118"/>
          <p:cNvSpPr>
            <a:spLocks noChangeArrowheads="1"/>
          </p:cNvSpPr>
          <p:nvPr/>
        </p:nvSpPr>
        <p:spPr bwMode="auto">
          <a:xfrm>
            <a:off x="3597031" y="4325816"/>
            <a:ext cx="453292"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1212535" name="AutoShape 119"/>
          <p:cNvSpPr>
            <a:spLocks noChangeArrowheads="1"/>
          </p:cNvSpPr>
          <p:nvPr/>
        </p:nvSpPr>
        <p:spPr bwMode="auto">
          <a:xfrm>
            <a:off x="3778738" y="4325816"/>
            <a:ext cx="455247" cy="330199"/>
          </a:xfrm>
          <a:prstGeom prst="rightArrow">
            <a:avLst>
              <a:gd name="adj1" fmla="val 50000"/>
              <a:gd name="adj2" fmla="val 31805"/>
            </a:avLst>
          </a:prstGeom>
          <a:solidFill>
            <a:srgbClr val="000099"/>
          </a:solidFill>
          <a:ln w="12700" cap="sq">
            <a:solidFill>
              <a:schemeClr val="tx1"/>
            </a:solidFill>
            <a:miter lim="800000"/>
            <a:headEnd type="none" w="sm" len="sm"/>
            <a:tailEnd type="none" w="sm" len="sm"/>
          </a:ln>
          <a:effectLst/>
        </p:spPr>
        <p:txBody>
          <a:bodyPr wrap="none" anchor="ctr"/>
          <a:lstStyle/>
          <a:p>
            <a:pPr eaLnBrk="1" hangingPunct="1">
              <a:defRPr/>
            </a:pPr>
            <a:endParaRPr lang="zh-CN" altLang="en-US" sz="100">
              <a:effectLst>
                <a:outerShdw blurRad="38100" dist="38100" dir="2700000" algn="tl">
                  <a:srgbClr val="000000">
                    <a:alpha val="43137"/>
                  </a:srgbClr>
                </a:outerShdw>
              </a:effectLst>
            </a:endParaRPr>
          </a:p>
        </p:txBody>
      </p:sp>
      <p:sp>
        <p:nvSpPr>
          <p:cNvPr id="2" name="矩形 1"/>
          <p:cNvSpPr/>
          <p:nvPr/>
        </p:nvSpPr>
        <p:spPr>
          <a:xfrm>
            <a:off x="955431" y="416169"/>
            <a:ext cx="10724661" cy="1226185"/>
          </a:xfrm>
          <a:prstGeom prst="rect">
            <a:avLst/>
          </a:prstGeom>
        </p:spPr>
        <p:txBody>
          <a:bodyPr>
            <a:spAutoFit/>
          </a:bodyPr>
          <a:lstStyle/>
          <a:p>
            <a:pPr>
              <a:defRPr/>
            </a:pPr>
            <a:r>
              <a:rPr lang="zh-CN" altLang="zh-CN" sz="2460" b="1" dirty="0">
                <a:solidFill>
                  <a:srgbClr val="0000FF"/>
                </a:solidFill>
                <a:latin typeface="+mn-ea"/>
                <a:ea typeface="+mn-ea"/>
              </a:rPr>
              <a:t>——作为机构和家庭网络安全方面的延伸，关注保护因特网相关的服务以及相关的</a:t>
            </a:r>
            <a:r>
              <a:rPr lang="en-US" altLang="zh-CN" sz="2460" b="1" dirty="0">
                <a:solidFill>
                  <a:srgbClr val="0000FF"/>
                </a:solidFill>
                <a:latin typeface="+mn-ea"/>
                <a:ea typeface="+mn-ea"/>
              </a:rPr>
              <a:t>ICT</a:t>
            </a:r>
            <a:r>
              <a:rPr lang="zh-CN" altLang="zh-CN" sz="2460" b="1" dirty="0">
                <a:solidFill>
                  <a:srgbClr val="0000FF"/>
                </a:solidFill>
                <a:latin typeface="+mn-ea"/>
                <a:ea typeface="+mn-ea"/>
              </a:rPr>
              <a:t>系统和网络以达到安全目的。同时，因特网安全也保证因特网服务的可用性和可靠性。</a:t>
            </a:r>
            <a:endParaRPr lang="zh-CN" altLang="en-US" sz="2460" b="1" dirty="0">
              <a:solidFill>
                <a:srgbClr val="0000FF"/>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1212429"/>
                                        </p:tgtEl>
                                        <p:attrNameLst>
                                          <p:attrName>style.visibility</p:attrName>
                                        </p:attrNameLst>
                                      </p:cBhvr>
                                      <p:to>
                                        <p:strVal val="visible"/>
                                      </p:to>
                                    </p:set>
                                    <p:anim calcmode="lin" valueType="num">
                                      <p:cBhvr>
                                        <p:cTn id="12" dur="500" fill="hold"/>
                                        <p:tgtEl>
                                          <p:spTgt spid="1212429"/>
                                        </p:tgtEl>
                                        <p:attrNameLst>
                                          <p:attrName>ppt_w</p:attrName>
                                        </p:attrNameLst>
                                      </p:cBhvr>
                                      <p:tavLst>
                                        <p:tav tm="0">
                                          <p:val>
                                            <p:fltVal val="0"/>
                                          </p:val>
                                        </p:tav>
                                        <p:tav tm="100000">
                                          <p:val>
                                            <p:strVal val="#ppt_w"/>
                                          </p:val>
                                        </p:tav>
                                      </p:tavLst>
                                    </p:anim>
                                    <p:anim calcmode="lin" valueType="num">
                                      <p:cBhvr>
                                        <p:cTn id="13" dur="500" fill="hold"/>
                                        <p:tgtEl>
                                          <p:spTgt spid="1212429"/>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212433"/>
                                        </p:tgtEl>
                                        <p:attrNameLst>
                                          <p:attrName>style.visibility</p:attrName>
                                        </p:attrNameLst>
                                      </p:cBhvr>
                                      <p:to>
                                        <p:strVal val="visible"/>
                                      </p:to>
                                    </p:set>
                                    <p:anim calcmode="lin" valueType="num">
                                      <p:cBhvr>
                                        <p:cTn id="18" dur="500" fill="hold"/>
                                        <p:tgtEl>
                                          <p:spTgt spid="1212433"/>
                                        </p:tgtEl>
                                        <p:attrNameLst>
                                          <p:attrName>ppt_w</p:attrName>
                                        </p:attrNameLst>
                                      </p:cBhvr>
                                      <p:tavLst>
                                        <p:tav tm="0">
                                          <p:val>
                                            <p:fltVal val="0"/>
                                          </p:val>
                                        </p:tav>
                                        <p:tav tm="100000">
                                          <p:val>
                                            <p:strVal val="#ppt_w"/>
                                          </p:val>
                                        </p:tav>
                                      </p:tavLst>
                                    </p:anim>
                                    <p:anim calcmode="lin" valueType="num">
                                      <p:cBhvr>
                                        <p:cTn id="19" dur="500" fill="hold"/>
                                        <p:tgtEl>
                                          <p:spTgt spid="121243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6"/>
                                            </p:cond>
                                          </p:stCondLst>
                                          <p:endCondLst>
                                            <p:cond evt="onStopAudio" delay="0">
                                              <p:tgtEl>
                                                <p:sldTgt/>
                                              </p:tgtEl>
                                            </p:cond>
                                          </p:endCondLst>
                                        </p:cTn>
                                        <p:tgtEl>
                                          <p:sndTgt r:embed="rId21" name="drumroll.wav"/>
                                        </p:tgtEl>
                                      </p:cMediaNode>
                                    </p:audio>
                                  </p:subTnLst>
                                </p:cTn>
                              </p:par>
                            </p:childTnLst>
                          </p:cTn>
                        </p:par>
                        <p:par>
                          <p:cTn id="20" fill="hold">
                            <p:stCondLst>
                              <p:cond delay="500"/>
                            </p:stCondLst>
                            <p:childTnLst>
                              <p:par>
                                <p:cTn id="21" presetID="23" presetClass="entr" presetSubtype="16" fill="hold" grpId="0" nodeType="afterEffect">
                                  <p:stCondLst>
                                    <p:cond delay="0"/>
                                  </p:stCondLst>
                                  <p:childTnLst>
                                    <p:set>
                                      <p:cBhvr>
                                        <p:cTn id="22" dur="1" fill="hold">
                                          <p:stCondLst>
                                            <p:cond delay="0"/>
                                          </p:stCondLst>
                                        </p:cTn>
                                        <p:tgtEl>
                                          <p:spTgt spid="1212423"/>
                                        </p:tgtEl>
                                        <p:attrNameLst>
                                          <p:attrName>style.visibility</p:attrName>
                                        </p:attrNameLst>
                                      </p:cBhvr>
                                      <p:to>
                                        <p:strVal val="visible"/>
                                      </p:to>
                                    </p:set>
                                    <p:anim calcmode="lin" valueType="num">
                                      <p:cBhvr>
                                        <p:cTn id="23" dur="500" fill="hold"/>
                                        <p:tgtEl>
                                          <p:spTgt spid="1212423"/>
                                        </p:tgtEl>
                                        <p:attrNameLst>
                                          <p:attrName>ppt_w</p:attrName>
                                        </p:attrNameLst>
                                      </p:cBhvr>
                                      <p:tavLst>
                                        <p:tav tm="0">
                                          <p:val>
                                            <p:fltVal val="0"/>
                                          </p:val>
                                        </p:tav>
                                        <p:tav tm="100000">
                                          <p:val>
                                            <p:strVal val="#ppt_w"/>
                                          </p:val>
                                        </p:tav>
                                      </p:tavLst>
                                    </p:anim>
                                    <p:anim calcmode="lin" valueType="num">
                                      <p:cBhvr>
                                        <p:cTn id="24" dur="500" fill="hold"/>
                                        <p:tgtEl>
                                          <p:spTgt spid="121242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22" name="gunshot.wav"/>
                                        </p:tgtEl>
                                      </p:cMediaNode>
                                    </p:audio>
                                  </p:subTnLst>
                                </p:cTn>
                              </p:par>
                            </p:childTnLst>
                          </p:cTn>
                        </p:par>
                        <p:par>
                          <p:cTn id="25" fill="hold">
                            <p:stCondLst>
                              <p:cond delay="1000"/>
                            </p:stCondLst>
                            <p:childTnLst>
                              <p:par>
                                <p:cTn id="26" presetID="23" presetClass="entr" presetSubtype="16" fill="hold" grpId="0" nodeType="afterEffect">
                                  <p:stCondLst>
                                    <p:cond delay="0"/>
                                  </p:stCondLst>
                                  <p:childTnLst>
                                    <p:set>
                                      <p:cBhvr>
                                        <p:cTn id="27" dur="1" fill="hold">
                                          <p:stCondLst>
                                            <p:cond delay="0"/>
                                          </p:stCondLst>
                                        </p:cTn>
                                        <p:tgtEl>
                                          <p:spTgt spid="1212426"/>
                                        </p:tgtEl>
                                        <p:attrNameLst>
                                          <p:attrName>style.visibility</p:attrName>
                                        </p:attrNameLst>
                                      </p:cBhvr>
                                      <p:to>
                                        <p:strVal val="visible"/>
                                      </p:to>
                                    </p:set>
                                    <p:anim calcmode="lin" valueType="num">
                                      <p:cBhvr>
                                        <p:cTn id="28" dur="500" fill="hold"/>
                                        <p:tgtEl>
                                          <p:spTgt spid="1212426"/>
                                        </p:tgtEl>
                                        <p:attrNameLst>
                                          <p:attrName>ppt_w</p:attrName>
                                        </p:attrNameLst>
                                      </p:cBhvr>
                                      <p:tavLst>
                                        <p:tav tm="0">
                                          <p:val>
                                            <p:fltVal val="0"/>
                                          </p:val>
                                        </p:tav>
                                        <p:tav tm="100000">
                                          <p:val>
                                            <p:strVal val="#ppt_w"/>
                                          </p:val>
                                        </p:tav>
                                      </p:tavLst>
                                    </p:anim>
                                    <p:anim calcmode="lin" valueType="num">
                                      <p:cBhvr>
                                        <p:cTn id="29" dur="500" fill="hold"/>
                                        <p:tgtEl>
                                          <p:spTgt spid="1212426"/>
                                        </p:tgtEl>
                                        <p:attrNameLst>
                                          <p:attrName>ppt_h</p:attrName>
                                        </p:attrNameLst>
                                      </p:cBhvr>
                                      <p:tavLst>
                                        <p:tav tm="0">
                                          <p:val>
                                            <p:fltVal val="0"/>
                                          </p:val>
                                        </p:tav>
                                        <p:tav tm="100000">
                                          <p:val>
                                            <p:strVal val="#ppt_h"/>
                                          </p:val>
                                        </p:tav>
                                      </p:tavLst>
                                    </p:anim>
                                  </p:childTnLst>
                                </p:cTn>
                              </p:par>
                            </p:childTnLst>
                          </p:cTn>
                        </p:par>
                        <p:par>
                          <p:cTn id="30" fill="hold">
                            <p:stCondLst>
                              <p:cond delay="1500"/>
                            </p:stCondLst>
                            <p:childTnLst>
                              <p:par>
                                <p:cTn id="31" presetID="23" presetClass="entr" presetSubtype="16" fill="hold" grpId="0" nodeType="afterEffect">
                                  <p:stCondLst>
                                    <p:cond delay="0"/>
                                  </p:stCondLst>
                                  <p:childTnLst>
                                    <p:set>
                                      <p:cBhvr>
                                        <p:cTn id="32" dur="1" fill="hold">
                                          <p:stCondLst>
                                            <p:cond delay="0"/>
                                          </p:stCondLst>
                                        </p:cTn>
                                        <p:tgtEl>
                                          <p:spTgt spid="1212425"/>
                                        </p:tgtEl>
                                        <p:attrNameLst>
                                          <p:attrName>style.visibility</p:attrName>
                                        </p:attrNameLst>
                                      </p:cBhvr>
                                      <p:to>
                                        <p:strVal val="visible"/>
                                      </p:to>
                                    </p:set>
                                    <p:anim calcmode="lin" valueType="num">
                                      <p:cBhvr>
                                        <p:cTn id="33" dur="500" fill="hold"/>
                                        <p:tgtEl>
                                          <p:spTgt spid="1212425"/>
                                        </p:tgtEl>
                                        <p:attrNameLst>
                                          <p:attrName>ppt_w</p:attrName>
                                        </p:attrNameLst>
                                      </p:cBhvr>
                                      <p:tavLst>
                                        <p:tav tm="0">
                                          <p:val>
                                            <p:fltVal val="0"/>
                                          </p:val>
                                        </p:tav>
                                        <p:tav tm="100000">
                                          <p:val>
                                            <p:strVal val="#ppt_w"/>
                                          </p:val>
                                        </p:tav>
                                      </p:tavLst>
                                    </p:anim>
                                    <p:anim calcmode="lin" valueType="num">
                                      <p:cBhvr>
                                        <p:cTn id="34" dur="500" fill="hold"/>
                                        <p:tgtEl>
                                          <p:spTgt spid="1212425"/>
                                        </p:tgtEl>
                                        <p:attrNameLst>
                                          <p:attrName>ppt_h</p:attrName>
                                        </p:attrNameLst>
                                      </p:cBhvr>
                                      <p:tavLst>
                                        <p:tav tm="0">
                                          <p:val>
                                            <p:fltVal val="0"/>
                                          </p:val>
                                        </p:tav>
                                        <p:tav tm="100000">
                                          <p:val>
                                            <p:strVal val="#ppt_h"/>
                                          </p:val>
                                        </p:tav>
                                      </p:tavLst>
                                    </p:anim>
                                  </p:childTnLst>
                                </p:cTn>
                              </p:par>
                            </p:childTnLst>
                          </p:cTn>
                        </p:par>
                        <p:par>
                          <p:cTn id="35" fill="hold">
                            <p:stCondLst>
                              <p:cond delay="2000"/>
                            </p:stCondLst>
                            <p:childTnLst>
                              <p:par>
                                <p:cTn id="36" presetID="23" presetClass="entr" presetSubtype="16" fill="hold" grpId="0" nodeType="afterEffect">
                                  <p:stCondLst>
                                    <p:cond delay="0"/>
                                  </p:stCondLst>
                                  <p:childTnLst>
                                    <p:set>
                                      <p:cBhvr>
                                        <p:cTn id="37" dur="1" fill="hold">
                                          <p:stCondLst>
                                            <p:cond delay="0"/>
                                          </p:stCondLst>
                                        </p:cTn>
                                        <p:tgtEl>
                                          <p:spTgt spid="1212432"/>
                                        </p:tgtEl>
                                        <p:attrNameLst>
                                          <p:attrName>style.visibility</p:attrName>
                                        </p:attrNameLst>
                                      </p:cBhvr>
                                      <p:to>
                                        <p:strVal val="visible"/>
                                      </p:to>
                                    </p:set>
                                    <p:anim calcmode="lin" valueType="num">
                                      <p:cBhvr>
                                        <p:cTn id="38" dur="500" fill="hold"/>
                                        <p:tgtEl>
                                          <p:spTgt spid="1212432"/>
                                        </p:tgtEl>
                                        <p:attrNameLst>
                                          <p:attrName>ppt_w</p:attrName>
                                        </p:attrNameLst>
                                      </p:cBhvr>
                                      <p:tavLst>
                                        <p:tav tm="0">
                                          <p:val>
                                            <p:fltVal val="0"/>
                                          </p:val>
                                        </p:tav>
                                        <p:tav tm="100000">
                                          <p:val>
                                            <p:strVal val="#ppt_w"/>
                                          </p:val>
                                        </p:tav>
                                      </p:tavLst>
                                    </p:anim>
                                    <p:anim calcmode="lin" valueType="num">
                                      <p:cBhvr>
                                        <p:cTn id="39" dur="500" fill="hold"/>
                                        <p:tgtEl>
                                          <p:spTgt spid="121243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6"/>
                                            </p:cond>
                                          </p:stCondLst>
                                          <p:endCondLst>
                                            <p:cond evt="onStopAudio" delay="0">
                                              <p:tgtEl>
                                                <p:sldTgt/>
                                              </p:tgtEl>
                                            </p:cond>
                                          </p:endCondLst>
                                        </p:cTn>
                                        <p:tgtEl>
                                          <p:sndTgt r:embed="rId22" name="gunshot.wav"/>
                                        </p:tgtEl>
                                      </p:cMediaNode>
                                    </p:audio>
                                  </p:subTnLst>
                                </p:cTn>
                              </p:par>
                            </p:childTnLst>
                          </p:cTn>
                        </p:par>
                        <p:par>
                          <p:cTn id="40" fill="hold">
                            <p:stCondLst>
                              <p:cond delay="2500"/>
                            </p:stCondLst>
                            <p:childTnLst>
                              <p:par>
                                <p:cTn id="41" presetID="23" presetClass="entr" presetSubtype="16" fill="hold" grpId="0" nodeType="afterEffect">
                                  <p:stCondLst>
                                    <p:cond delay="0"/>
                                  </p:stCondLst>
                                  <p:childTnLst>
                                    <p:set>
                                      <p:cBhvr>
                                        <p:cTn id="42" dur="1" fill="hold">
                                          <p:stCondLst>
                                            <p:cond delay="0"/>
                                          </p:stCondLst>
                                        </p:cTn>
                                        <p:tgtEl>
                                          <p:spTgt spid="1212428"/>
                                        </p:tgtEl>
                                        <p:attrNameLst>
                                          <p:attrName>style.visibility</p:attrName>
                                        </p:attrNameLst>
                                      </p:cBhvr>
                                      <p:to>
                                        <p:strVal val="visible"/>
                                      </p:to>
                                    </p:set>
                                    <p:anim calcmode="lin" valueType="num">
                                      <p:cBhvr>
                                        <p:cTn id="43" dur="500" fill="hold"/>
                                        <p:tgtEl>
                                          <p:spTgt spid="1212428"/>
                                        </p:tgtEl>
                                        <p:attrNameLst>
                                          <p:attrName>ppt_w</p:attrName>
                                        </p:attrNameLst>
                                      </p:cBhvr>
                                      <p:tavLst>
                                        <p:tav tm="0">
                                          <p:val>
                                            <p:fltVal val="0"/>
                                          </p:val>
                                        </p:tav>
                                        <p:tav tm="100000">
                                          <p:val>
                                            <p:strVal val="#ppt_w"/>
                                          </p:val>
                                        </p:tav>
                                      </p:tavLst>
                                    </p:anim>
                                    <p:anim calcmode="lin" valueType="num">
                                      <p:cBhvr>
                                        <p:cTn id="44" dur="500" fill="hold"/>
                                        <p:tgtEl>
                                          <p:spTgt spid="1212428"/>
                                        </p:tgtEl>
                                        <p:attrNameLst>
                                          <p:attrName>ppt_h</p:attrName>
                                        </p:attrNameLst>
                                      </p:cBhvr>
                                      <p:tavLst>
                                        <p:tav tm="0">
                                          <p:val>
                                            <p:fltVal val="0"/>
                                          </p:val>
                                        </p:tav>
                                        <p:tav tm="100000">
                                          <p:val>
                                            <p:strVal val="#ppt_h"/>
                                          </p:val>
                                        </p:tav>
                                      </p:tavLst>
                                    </p:anim>
                                  </p:childTnLst>
                                </p:cTn>
                              </p:par>
                            </p:childTnLst>
                          </p:cTn>
                        </p:par>
                        <p:par>
                          <p:cTn id="45" fill="hold">
                            <p:stCondLst>
                              <p:cond delay="3000"/>
                            </p:stCondLst>
                            <p:childTnLst>
                              <p:par>
                                <p:cTn id="46" presetID="23" presetClass="entr" presetSubtype="16" fill="hold" grpId="0" nodeType="afterEffect">
                                  <p:stCondLst>
                                    <p:cond delay="0"/>
                                  </p:stCondLst>
                                  <p:childTnLst>
                                    <p:set>
                                      <p:cBhvr>
                                        <p:cTn id="47" dur="1" fill="hold">
                                          <p:stCondLst>
                                            <p:cond delay="0"/>
                                          </p:stCondLst>
                                        </p:cTn>
                                        <p:tgtEl>
                                          <p:spTgt spid="1212427"/>
                                        </p:tgtEl>
                                        <p:attrNameLst>
                                          <p:attrName>style.visibility</p:attrName>
                                        </p:attrNameLst>
                                      </p:cBhvr>
                                      <p:to>
                                        <p:strVal val="visible"/>
                                      </p:to>
                                    </p:set>
                                    <p:anim calcmode="lin" valueType="num">
                                      <p:cBhvr>
                                        <p:cTn id="48" dur="500" fill="hold"/>
                                        <p:tgtEl>
                                          <p:spTgt spid="1212427"/>
                                        </p:tgtEl>
                                        <p:attrNameLst>
                                          <p:attrName>ppt_w</p:attrName>
                                        </p:attrNameLst>
                                      </p:cBhvr>
                                      <p:tavLst>
                                        <p:tav tm="0">
                                          <p:val>
                                            <p:fltVal val="0"/>
                                          </p:val>
                                        </p:tav>
                                        <p:tav tm="100000">
                                          <p:val>
                                            <p:strVal val="#ppt_w"/>
                                          </p:val>
                                        </p:tav>
                                      </p:tavLst>
                                    </p:anim>
                                    <p:anim calcmode="lin" valueType="num">
                                      <p:cBhvr>
                                        <p:cTn id="49" dur="500" fill="hold"/>
                                        <p:tgtEl>
                                          <p:spTgt spid="1212427"/>
                                        </p:tgtEl>
                                        <p:attrNameLst>
                                          <p:attrName>ppt_h</p:attrName>
                                        </p:attrNameLst>
                                      </p:cBhvr>
                                      <p:tavLst>
                                        <p:tav tm="0">
                                          <p:val>
                                            <p:fltVal val="0"/>
                                          </p:val>
                                        </p:tav>
                                        <p:tav tm="100000">
                                          <p:val>
                                            <p:strVal val="#ppt_h"/>
                                          </p:val>
                                        </p:tav>
                                      </p:tavLst>
                                    </p:anim>
                                  </p:childTnLst>
                                </p:cTn>
                              </p:par>
                            </p:childTnLst>
                          </p:cTn>
                        </p:par>
                        <p:par>
                          <p:cTn id="50" fill="hold">
                            <p:stCondLst>
                              <p:cond delay="3500"/>
                            </p:stCondLst>
                            <p:childTnLst>
                              <p:par>
                                <p:cTn id="51" presetID="23" presetClass="entr" presetSubtype="16" fill="hold" grpId="0" nodeType="afterEffect">
                                  <p:stCondLst>
                                    <p:cond delay="0"/>
                                  </p:stCondLst>
                                  <p:childTnLst>
                                    <p:set>
                                      <p:cBhvr>
                                        <p:cTn id="52" dur="1" fill="hold">
                                          <p:stCondLst>
                                            <p:cond delay="0"/>
                                          </p:stCondLst>
                                        </p:cTn>
                                        <p:tgtEl>
                                          <p:spTgt spid="1212430"/>
                                        </p:tgtEl>
                                        <p:attrNameLst>
                                          <p:attrName>style.visibility</p:attrName>
                                        </p:attrNameLst>
                                      </p:cBhvr>
                                      <p:to>
                                        <p:strVal val="visible"/>
                                      </p:to>
                                    </p:set>
                                    <p:anim calcmode="lin" valueType="num">
                                      <p:cBhvr>
                                        <p:cTn id="53" dur="500" fill="hold"/>
                                        <p:tgtEl>
                                          <p:spTgt spid="1212430"/>
                                        </p:tgtEl>
                                        <p:attrNameLst>
                                          <p:attrName>ppt_w</p:attrName>
                                        </p:attrNameLst>
                                      </p:cBhvr>
                                      <p:tavLst>
                                        <p:tav tm="0">
                                          <p:val>
                                            <p:fltVal val="0"/>
                                          </p:val>
                                        </p:tav>
                                        <p:tav tm="100000">
                                          <p:val>
                                            <p:strVal val="#ppt_w"/>
                                          </p:val>
                                        </p:tav>
                                      </p:tavLst>
                                    </p:anim>
                                    <p:anim calcmode="lin" valueType="num">
                                      <p:cBhvr>
                                        <p:cTn id="54" dur="500" fill="hold"/>
                                        <p:tgtEl>
                                          <p:spTgt spid="121243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1"/>
                                            </p:cond>
                                          </p:stCondLst>
                                          <p:endCondLst>
                                            <p:cond evt="onStopAudio" delay="0">
                                              <p:tgtEl>
                                                <p:sldTgt/>
                                              </p:tgtEl>
                                            </p:cond>
                                          </p:endCondLst>
                                        </p:cTn>
                                        <p:tgtEl>
                                          <p:sndTgt r:embed="rId22" name="gunshot.wav"/>
                                        </p:tgtEl>
                                      </p:cMediaNode>
                                    </p:audio>
                                  </p:subTnLst>
                                </p:cTn>
                              </p:par>
                            </p:childTnLst>
                          </p:cTn>
                        </p:par>
                        <p:par>
                          <p:cTn id="55" fill="hold">
                            <p:stCondLst>
                              <p:cond delay="4000"/>
                            </p:stCondLst>
                            <p:childTnLst>
                              <p:par>
                                <p:cTn id="56" presetID="23" presetClass="entr" presetSubtype="16" fill="hold" grpId="0" nodeType="afterEffect">
                                  <p:stCondLst>
                                    <p:cond delay="0"/>
                                  </p:stCondLst>
                                  <p:childTnLst>
                                    <p:set>
                                      <p:cBhvr>
                                        <p:cTn id="57" dur="1" fill="hold">
                                          <p:stCondLst>
                                            <p:cond delay="0"/>
                                          </p:stCondLst>
                                        </p:cTn>
                                        <p:tgtEl>
                                          <p:spTgt spid="1212424"/>
                                        </p:tgtEl>
                                        <p:attrNameLst>
                                          <p:attrName>style.visibility</p:attrName>
                                        </p:attrNameLst>
                                      </p:cBhvr>
                                      <p:to>
                                        <p:strVal val="visible"/>
                                      </p:to>
                                    </p:set>
                                    <p:anim calcmode="lin" valueType="num">
                                      <p:cBhvr>
                                        <p:cTn id="58" dur="500" fill="hold"/>
                                        <p:tgtEl>
                                          <p:spTgt spid="1212424"/>
                                        </p:tgtEl>
                                        <p:attrNameLst>
                                          <p:attrName>ppt_w</p:attrName>
                                        </p:attrNameLst>
                                      </p:cBhvr>
                                      <p:tavLst>
                                        <p:tav tm="0">
                                          <p:val>
                                            <p:fltVal val="0"/>
                                          </p:val>
                                        </p:tav>
                                        <p:tav tm="100000">
                                          <p:val>
                                            <p:strVal val="#ppt_w"/>
                                          </p:val>
                                        </p:tav>
                                      </p:tavLst>
                                    </p:anim>
                                    <p:anim calcmode="lin" valueType="num">
                                      <p:cBhvr>
                                        <p:cTn id="59" dur="500" fill="hold"/>
                                        <p:tgtEl>
                                          <p:spTgt spid="1212424"/>
                                        </p:tgtEl>
                                        <p:attrNameLst>
                                          <p:attrName>ppt_h</p:attrName>
                                        </p:attrNameLst>
                                      </p:cBhvr>
                                      <p:tavLst>
                                        <p:tav tm="0">
                                          <p:val>
                                            <p:fltVal val="0"/>
                                          </p:val>
                                        </p:tav>
                                        <p:tav tm="100000">
                                          <p:val>
                                            <p:strVal val="#ppt_h"/>
                                          </p:val>
                                        </p:tav>
                                      </p:tavLst>
                                    </p:anim>
                                  </p:childTnLst>
                                </p:cTn>
                              </p:par>
                            </p:childTnLst>
                          </p:cTn>
                        </p:par>
                        <p:par>
                          <p:cTn id="60" fill="hold">
                            <p:stCondLst>
                              <p:cond delay="4500"/>
                            </p:stCondLst>
                            <p:childTnLst>
                              <p:par>
                                <p:cTn id="61" presetID="23" presetClass="entr" presetSubtype="16" fill="hold" grpId="0" nodeType="afterEffect">
                                  <p:stCondLst>
                                    <p:cond delay="0"/>
                                  </p:stCondLst>
                                  <p:childTnLst>
                                    <p:set>
                                      <p:cBhvr>
                                        <p:cTn id="62" dur="1" fill="hold">
                                          <p:stCondLst>
                                            <p:cond delay="0"/>
                                          </p:stCondLst>
                                        </p:cTn>
                                        <p:tgtEl>
                                          <p:spTgt spid="1212431"/>
                                        </p:tgtEl>
                                        <p:attrNameLst>
                                          <p:attrName>style.visibility</p:attrName>
                                        </p:attrNameLst>
                                      </p:cBhvr>
                                      <p:to>
                                        <p:strVal val="visible"/>
                                      </p:to>
                                    </p:set>
                                    <p:anim calcmode="lin" valueType="num">
                                      <p:cBhvr>
                                        <p:cTn id="63" dur="500" fill="hold"/>
                                        <p:tgtEl>
                                          <p:spTgt spid="1212431"/>
                                        </p:tgtEl>
                                        <p:attrNameLst>
                                          <p:attrName>ppt_w</p:attrName>
                                        </p:attrNameLst>
                                      </p:cBhvr>
                                      <p:tavLst>
                                        <p:tav tm="0">
                                          <p:val>
                                            <p:fltVal val="0"/>
                                          </p:val>
                                        </p:tav>
                                        <p:tav tm="100000">
                                          <p:val>
                                            <p:strVal val="#ppt_w"/>
                                          </p:val>
                                        </p:tav>
                                      </p:tavLst>
                                    </p:anim>
                                    <p:anim calcmode="lin" valueType="num">
                                      <p:cBhvr>
                                        <p:cTn id="64" dur="500" fill="hold"/>
                                        <p:tgtEl>
                                          <p:spTgt spid="1212431"/>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7" presetClass="entr" presetSubtype="10" fill="hold" grpId="0" nodeType="clickEffect">
                                  <p:stCondLst>
                                    <p:cond delay="0"/>
                                  </p:stCondLst>
                                  <p:childTnLst>
                                    <p:set>
                                      <p:cBhvr>
                                        <p:cTn id="68" dur="1" fill="hold">
                                          <p:stCondLst>
                                            <p:cond delay="0"/>
                                          </p:stCondLst>
                                        </p:cTn>
                                        <p:tgtEl>
                                          <p:spTgt spid="1212435"/>
                                        </p:tgtEl>
                                        <p:attrNameLst>
                                          <p:attrName>style.visibility</p:attrName>
                                        </p:attrNameLst>
                                      </p:cBhvr>
                                      <p:to>
                                        <p:strVal val="visible"/>
                                      </p:to>
                                    </p:set>
                                    <p:anim calcmode="lin" valueType="num">
                                      <p:cBhvr>
                                        <p:cTn id="69" dur="500" fill="hold"/>
                                        <p:tgtEl>
                                          <p:spTgt spid="1212435"/>
                                        </p:tgtEl>
                                        <p:attrNameLst>
                                          <p:attrName>ppt_w</p:attrName>
                                        </p:attrNameLst>
                                      </p:cBhvr>
                                      <p:tavLst>
                                        <p:tav tm="0">
                                          <p:val>
                                            <p:fltVal val="0"/>
                                          </p:val>
                                        </p:tav>
                                        <p:tav tm="100000">
                                          <p:val>
                                            <p:strVal val="#ppt_w"/>
                                          </p:val>
                                        </p:tav>
                                      </p:tavLst>
                                    </p:anim>
                                    <p:anim calcmode="lin" valueType="num">
                                      <p:cBhvr>
                                        <p:cTn id="70" dur="500" fill="hold"/>
                                        <p:tgtEl>
                                          <p:spTgt spid="1212435"/>
                                        </p:tgtEl>
                                        <p:attrNameLst>
                                          <p:attrName>ppt_h</p:attrName>
                                        </p:attrNameLst>
                                      </p:cBhvr>
                                      <p:tavLst>
                                        <p:tav tm="0">
                                          <p:val>
                                            <p:strVal val="#ppt_h"/>
                                          </p:val>
                                        </p:tav>
                                        <p:tav tm="100000">
                                          <p:val>
                                            <p:strVal val="#ppt_h"/>
                                          </p:val>
                                        </p:tav>
                                      </p:tavLst>
                                    </p:anim>
                                  </p:childTnLst>
                                </p:cTn>
                              </p:par>
                            </p:childTnLst>
                          </p:cTn>
                        </p:par>
                        <p:par>
                          <p:cTn id="71" fill="hold">
                            <p:stCondLst>
                              <p:cond delay="500"/>
                            </p:stCondLst>
                            <p:childTnLst>
                              <p:par>
                                <p:cTn id="72" presetID="12" presetClass="entr" presetSubtype="8" fill="hold" nodeType="afterEffect">
                                  <p:stCondLst>
                                    <p:cond delay="0"/>
                                  </p:stCondLst>
                                  <p:childTnLst>
                                    <p:set>
                                      <p:cBhvr>
                                        <p:cTn id="73" dur="1" fill="hold">
                                          <p:stCondLst>
                                            <p:cond delay="0"/>
                                          </p:stCondLst>
                                        </p:cTn>
                                        <p:tgtEl>
                                          <p:spTgt spid="1212434"/>
                                        </p:tgtEl>
                                        <p:attrNameLst>
                                          <p:attrName>style.visibility</p:attrName>
                                        </p:attrNameLst>
                                      </p:cBhvr>
                                      <p:to>
                                        <p:strVal val="visible"/>
                                      </p:to>
                                    </p:set>
                                    <p:animEffect transition="in" filter="slide(fromLeft)">
                                      <p:cBhvr>
                                        <p:cTn id="74" dur="500"/>
                                        <p:tgtEl>
                                          <p:spTgt spid="1212434"/>
                                        </p:tgtEl>
                                      </p:cBhvr>
                                    </p:animEffect>
                                  </p:childTnLst>
                                </p:cTn>
                              </p:par>
                            </p:childTnLst>
                          </p:cTn>
                        </p:par>
                        <p:par>
                          <p:cTn id="75" fill="hold">
                            <p:stCondLst>
                              <p:cond delay="1000"/>
                            </p:stCondLst>
                            <p:childTnLst>
                              <p:par>
                                <p:cTn id="76" presetID="11" presetClass="entr" presetSubtype="0" fill="hold" grpId="0" nodeType="afterEffect">
                                  <p:stCondLst>
                                    <p:cond delay="0"/>
                                  </p:stCondLst>
                                  <p:childTnLst>
                                    <p:set>
                                      <p:cBhvr>
                                        <p:cTn id="77" dur="75">
                                          <p:stCondLst>
                                            <p:cond delay="0"/>
                                          </p:stCondLst>
                                        </p:cTn>
                                        <p:tgtEl>
                                          <p:spTgt spid="1212458"/>
                                        </p:tgtEl>
                                        <p:attrNameLst>
                                          <p:attrName>style.visibility</p:attrName>
                                        </p:attrNameLst>
                                      </p:cBhvr>
                                      <p:to>
                                        <p:strVal val="visible"/>
                                      </p:to>
                                    </p:set>
                                  </p:childTnLst>
                                  <p:subTnLst>
                                    <p:audio>
                                      <p:cMediaNode>
                                        <p:cTn display="0" masterRel="sameClick">
                                          <p:stCondLst>
                                            <p:cond evt="begin" delay="0">
                                              <p:tn val="76"/>
                                            </p:cond>
                                          </p:stCondLst>
                                          <p:endCondLst>
                                            <p:cond evt="onStopAudio" delay="0">
                                              <p:tgtEl>
                                                <p:sldTgt/>
                                              </p:tgtEl>
                                            </p:cond>
                                          </p:endCondLst>
                                        </p:cTn>
                                        <p:tgtEl>
                                          <p:sndTgt r:embed="rId22" name="gunshot.wav"/>
                                        </p:tgtEl>
                                      </p:cMediaNode>
                                    </p:audio>
                                  </p:subTnLst>
                                </p:cTn>
                              </p:par>
                            </p:childTnLst>
                          </p:cTn>
                        </p:par>
                        <p:par>
                          <p:cTn id="78" fill="hold">
                            <p:stCondLst>
                              <p:cond delay="1500"/>
                            </p:stCondLst>
                            <p:childTnLst>
                              <p:par>
                                <p:cTn id="79" presetID="11" presetClass="entr" presetSubtype="0" fill="hold" grpId="0" nodeType="afterEffect">
                                  <p:stCondLst>
                                    <p:cond delay="0"/>
                                  </p:stCondLst>
                                  <p:childTnLst>
                                    <p:set>
                                      <p:cBhvr>
                                        <p:cTn id="80" dur="75">
                                          <p:stCondLst>
                                            <p:cond delay="0"/>
                                          </p:stCondLst>
                                        </p:cTn>
                                        <p:tgtEl>
                                          <p:spTgt spid="1212459"/>
                                        </p:tgtEl>
                                        <p:attrNameLst>
                                          <p:attrName>style.visibility</p:attrName>
                                        </p:attrNameLst>
                                      </p:cBhvr>
                                      <p:to>
                                        <p:strVal val="visible"/>
                                      </p:to>
                                    </p:set>
                                  </p:childTnLst>
                                </p:cTn>
                              </p:par>
                            </p:childTnLst>
                          </p:cTn>
                        </p:par>
                        <p:par>
                          <p:cTn id="81" fill="hold">
                            <p:stCondLst>
                              <p:cond delay="2000"/>
                            </p:stCondLst>
                            <p:childTnLst>
                              <p:par>
                                <p:cTn id="82" presetID="11" presetClass="entr" presetSubtype="0" fill="hold" grpId="0" nodeType="afterEffect">
                                  <p:stCondLst>
                                    <p:cond delay="0"/>
                                  </p:stCondLst>
                                  <p:childTnLst>
                                    <p:set>
                                      <p:cBhvr>
                                        <p:cTn id="83" dur="75">
                                          <p:stCondLst>
                                            <p:cond delay="0"/>
                                          </p:stCondLst>
                                        </p:cTn>
                                        <p:tgtEl>
                                          <p:spTgt spid="1212460"/>
                                        </p:tgtEl>
                                        <p:attrNameLst>
                                          <p:attrName>style.visibility</p:attrName>
                                        </p:attrNameLst>
                                      </p:cBhvr>
                                      <p:to>
                                        <p:strVal val="visible"/>
                                      </p:to>
                                    </p:set>
                                  </p:childTnLst>
                                </p:cTn>
                              </p:par>
                            </p:childTnLst>
                          </p:cTn>
                        </p:par>
                        <p:par>
                          <p:cTn id="84" fill="hold">
                            <p:stCondLst>
                              <p:cond delay="2500"/>
                            </p:stCondLst>
                            <p:childTnLst>
                              <p:par>
                                <p:cTn id="85" presetID="11" presetClass="entr" presetSubtype="0" fill="hold" grpId="0" nodeType="afterEffect">
                                  <p:stCondLst>
                                    <p:cond delay="0"/>
                                  </p:stCondLst>
                                  <p:childTnLst>
                                    <p:set>
                                      <p:cBhvr>
                                        <p:cTn id="86" dur="75">
                                          <p:stCondLst>
                                            <p:cond delay="0"/>
                                          </p:stCondLst>
                                        </p:cTn>
                                        <p:tgtEl>
                                          <p:spTgt spid="1212461"/>
                                        </p:tgtEl>
                                        <p:attrNameLst>
                                          <p:attrName>style.visibility</p:attrName>
                                        </p:attrNameLst>
                                      </p:cBhvr>
                                      <p:to>
                                        <p:strVal val="visible"/>
                                      </p:to>
                                    </p:set>
                                  </p:childTnLst>
                                </p:cTn>
                              </p:par>
                            </p:childTnLst>
                          </p:cTn>
                        </p:par>
                        <p:par>
                          <p:cTn id="87" fill="hold">
                            <p:stCondLst>
                              <p:cond delay="3000"/>
                            </p:stCondLst>
                            <p:childTnLst>
                              <p:par>
                                <p:cTn id="88" presetID="11" presetClass="entr" presetSubtype="0" fill="hold" grpId="0" nodeType="afterEffect">
                                  <p:stCondLst>
                                    <p:cond delay="0"/>
                                  </p:stCondLst>
                                  <p:childTnLst>
                                    <p:set>
                                      <p:cBhvr>
                                        <p:cTn id="89" dur="75">
                                          <p:stCondLst>
                                            <p:cond delay="0"/>
                                          </p:stCondLst>
                                        </p:cTn>
                                        <p:tgtEl>
                                          <p:spTgt spid="1212462"/>
                                        </p:tgtEl>
                                        <p:attrNameLst>
                                          <p:attrName>style.visibility</p:attrName>
                                        </p:attrNameLst>
                                      </p:cBhvr>
                                      <p:to>
                                        <p:strVal val="visible"/>
                                      </p:to>
                                    </p:set>
                                  </p:childTnLst>
                                  <p:subTnLst>
                                    <p:audio>
                                      <p:cMediaNode>
                                        <p:cTn display="0" masterRel="sameClick">
                                          <p:stCondLst>
                                            <p:cond evt="begin" delay="0">
                                              <p:tn val="88"/>
                                            </p:cond>
                                          </p:stCondLst>
                                          <p:endCondLst>
                                            <p:cond evt="onStopAudio" delay="0">
                                              <p:tgtEl>
                                                <p:sldTgt/>
                                              </p:tgtEl>
                                            </p:cond>
                                          </p:endCondLst>
                                        </p:cTn>
                                        <p:tgtEl>
                                          <p:sndTgt r:embed="rId23" name="ricochet.wav"/>
                                        </p:tgtEl>
                                      </p:cMediaNode>
                                    </p:audio>
                                  </p:subTnLst>
                                </p:cTn>
                              </p:par>
                            </p:childTnLst>
                          </p:cTn>
                        </p:par>
                        <p:par>
                          <p:cTn id="90" fill="hold">
                            <p:stCondLst>
                              <p:cond delay="3500"/>
                            </p:stCondLst>
                            <p:childTnLst>
                              <p:par>
                                <p:cTn id="91" presetID="11" presetClass="entr" presetSubtype="0" fill="hold" grpId="0" nodeType="afterEffect">
                                  <p:stCondLst>
                                    <p:cond delay="0"/>
                                  </p:stCondLst>
                                  <p:childTnLst>
                                    <p:set>
                                      <p:cBhvr>
                                        <p:cTn id="92" dur="75">
                                          <p:stCondLst>
                                            <p:cond delay="0"/>
                                          </p:stCondLst>
                                        </p:cTn>
                                        <p:tgtEl>
                                          <p:spTgt spid="1212463"/>
                                        </p:tgtEl>
                                        <p:attrNameLst>
                                          <p:attrName>style.visibility</p:attrName>
                                        </p:attrNameLst>
                                      </p:cBhvr>
                                      <p:to>
                                        <p:strVal val="visible"/>
                                      </p:to>
                                    </p:set>
                                  </p:childTnLst>
                                </p:cTn>
                              </p:par>
                            </p:childTnLst>
                          </p:cTn>
                        </p:par>
                        <p:par>
                          <p:cTn id="93" fill="hold">
                            <p:stCondLst>
                              <p:cond delay="4000"/>
                            </p:stCondLst>
                            <p:childTnLst>
                              <p:par>
                                <p:cTn id="94" presetID="11" presetClass="entr" presetSubtype="0" fill="hold" grpId="0" nodeType="afterEffect">
                                  <p:stCondLst>
                                    <p:cond delay="0"/>
                                  </p:stCondLst>
                                  <p:childTnLst>
                                    <p:set>
                                      <p:cBhvr>
                                        <p:cTn id="95" dur="75">
                                          <p:stCondLst>
                                            <p:cond delay="0"/>
                                          </p:stCondLst>
                                        </p:cTn>
                                        <p:tgtEl>
                                          <p:spTgt spid="1212464"/>
                                        </p:tgtEl>
                                        <p:attrNameLst>
                                          <p:attrName>style.visibility</p:attrName>
                                        </p:attrNameLst>
                                      </p:cBhvr>
                                      <p:to>
                                        <p:strVal val="visible"/>
                                      </p:to>
                                    </p:set>
                                  </p:childTnLst>
                                </p:cTn>
                              </p:par>
                            </p:childTnLst>
                          </p:cTn>
                        </p:par>
                        <p:par>
                          <p:cTn id="96" fill="hold">
                            <p:stCondLst>
                              <p:cond delay="4500"/>
                            </p:stCondLst>
                            <p:childTnLst>
                              <p:par>
                                <p:cTn id="97" presetID="11" presetClass="entr" presetSubtype="0" fill="hold" grpId="0" nodeType="afterEffect">
                                  <p:stCondLst>
                                    <p:cond delay="0"/>
                                  </p:stCondLst>
                                  <p:childTnLst>
                                    <p:set>
                                      <p:cBhvr>
                                        <p:cTn id="98" dur="75">
                                          <p:stCondLst>
                                            <p:cond delay="0"/>
                                          </p:stCondLst>
                                        </p:cTn>
                                        <p:tgtEl>
                                          <p:spTgt spid="1212465"/>
                                        </p:tgtEl>
                                        <p:attrNameLst>
                                          <p:attrName>style.visibility</p:attrName>
                                        </p:attrNameLst>
                                      </p:cBhvr>
                                      <p:to>
                                        <p:strVal val="visible"/>
                                      </p:to>
                                    </p:set>
                                  </p:childTnLst>
                                </p:cTn>
                              </p:par>
                            </p:childTnLst>
                          </p:cTn>
                        </p:par>
                        <p:par>
                          <p:cTn id="99" fill="hold">
                            <p:stCondLst>
                              <p:cond delay="5000"/>
                            </p:stCondLst>
                            <p:childTnLst>
                              <p:par>
                                <p:cTn id="100" presetID="11" presetClass="entr" presetSubtype="0" fill="hold" grpId="0" nodeType="afterEffect">
                                  <p:stCondLst>
                                    <p:cond delay="0"/>
                                  </p:stCondLst>
                                  <p:childTnLst>
                                    <p:set>
                                      <p:cBhvr>
                                        <p:cTn id="101" dur="75">
                                          <p:stCondLst>
                                            <p:cond delay="0"/>
                                          </p:stCondLst>
                                        </p:cTn>
                                        <p:tgtEl>
                                          <p:spTgt spid="1212466"/>
                                        </p:tgtEl>
                                        <p:attrNameLst>
                                          <p:attrName>style.visibility</p:attrName>
                                        </p:attrNameLst>
                                      </p:cBhvr>
                                      <p:to>
                                        <p:strVal val="visible"/>
                                      </p:to>
                                    </p:set>
                                  </p:childTnLst>
                                </p:cTn>
                              </p:par>
                            </p:childTnLst>
                          </p:cTn>
                        </p:par>
                        <p:par>
                          <p:cTn id="102" fill="hold">
                            <p:stCondLst>
                              <p:cond delay="5500"/>
                            </p:stCondLst>
                            <p:childTnLst>
                              <p:par>
                                <p:cTn id="103" presetID="11" presetClass="entr" presetSubtype="0" fill="hold" grpId="0" nodeType="afterEffect">
                                  <p:stCondLst>
                                    <p:cond delay="0"/>
                                  </p:stCondLst>
                                  <p:childTnLst>
                                    <p:set>
                                      <p:cBhvr>
                                        <p:cTn id="104" dur="75">
                                          <p:stCondLst>
                                            <p:cond delay="0"/>
                                          </p:stCondLst>
                                        </p:cTn>
                                        <p:tgtEl>
                                          <p:spTgt spid="1212467"/>
                                        </p:tgtEl>
                                        <p:attrNameLst>
                                          <p:attrName>style.visibility</p:attrName>
                                        </p:attrNameLst>
                                      </p:cBhvr>
                                      <p:to>
                                        <p:strVal val="visible"/>
                                      </p:to>
                                    </p:set>
                                  </p:childTnLst>
                                </p:cTn>
                              </p:par>
                            </p:childTnLst>
                          </p:cTn>
                        </p:par>
                        <p:par>
                          <p:cTn id="105" fill="hold">
                            <p:stCondLst>
                              <p:cond delay="6000"/>
                            </p:stCondLst>
                            <p:childTnLst>
                              <p:par>
                                <p:cTn id="106" presetID="22" presetClass="entr" presetSubtype="8" fill="hold" grpId="0" nodeType="afterEffect">
                                  <p:stCondLst>
                                    <p:cond delay="0"/>
                                  </p:stCondLst>
                                  <p:childTnLst>
                                    <p:set>
                                      <p:cBhvr>
                                        <p:cTn id="107" dur="1" fill="hold">
                                          <p:stCondLst>
                                            <p:cond delay="0"/>
                                          </p:stCondLst>
                                        </p:cTn>
                                        <p:tgtEl>
                                          <p:spTgt spid="1212436"/>
                                        </p:tgtEl>
                                        <p:attrNameLst>
                                          <p:attrName>style.visibility</p:attrName>
                                        </p:attrNameLst>
                                      </p:cBhvr>
                                      <p:to>
                                        <p:strVal val="visible"/>
                                      </p:to>
                                    </p:set>
                                    <p:animEffect transition="in" filter="wipe(left)">
                                      <p:cBhvr>
                                        <p:cTn id="108" dur="500"/>
                                        <p:tgtEl>
                                          <p:spTgt spid="1212436"/>
                                        </p:tgtEl>
                                      </p:cBhvr>
                                    </p:animEffect>
                                  </p:childTnLst>
                                </p:cTn>
                              </p:par>
                            </p:childTnLst>
                          </p:cTn>
                        </p:par>
                        <p:par>
                          <p:cTn id="109" fill="hold">
                            <p:stCondLst>
                              <p:cond delay="6500"/>
                            </p:stCondLst>
                            <p:childTnLst>
                              <p:par>
                                <p:cTn id="110" presetID="11" presetClass="entr" presetSubtype="0" fill="hold" grpId="0" nodeType="afterEffect">
                                  <p:stCondLst>
                                    <p:cond delay="0"/>
                                  </p:stCondLst>
                                  <p:childTnLst>
                                    <p:set>
                                      <p:cBhvr>
                                        <p:cTn id="111" dur="75">
                                          <p:stCondLst>
                                            <p:cond delay="0"/>
                                          </p:stCondLst>
                                        </p:cTn>
                                        <p:tgtEl>
                                          <p:spTgt spid="1212468"/>
                                        </p:tgtEl>
                                        <p:attrNameLst>
                                          <p:attrName>style.visibility</p:attrName>
                                        </p:attrNameLst>
                                      </p:cBhvr>
                                      <p:to>
                                        <p:strVal val="visible"/>
                                      </p:to>
                                    </p:set>
                                  </p:childTnLst>
                                  <p:subTnLst>
                                    <p:audio>
                                      <p:cMediaNode>
                                        <p:cTn display="0" masterRel="sameClick">
                                          <p:stCondLst>
                                            <p:cond evt="begin" delay="0">
                                              <p:tn val="110"/>
                                            </p:cond>
                                          </p:stCondLst>
                                          <p:endCondLst>
                                            <p:cond evt="onStopAudio" delay="0">
                                              <p:tgtEl>
                                                <p:sldTgt/>
                                              </p:tgtEl>
                                            </p:cond>
                                          </p:endCondLst>
                                        </p:cTn>
                                        <p:tgtEl>
                                          <p:sndTgt r:embed="rId22" name="gunshot.wav"/>
                                        </p:tgtEl>
                                      </p:cMediaNode>
                                    </p:audio>
                                  </p:subTnLst>
                                </p:cTn>
                              </p:par>
                            </p:childTnLst>
                          </p:cTn>
                        </p:par>
                        <p:par>
                          <p:cTn id="112" fill="hold">
                            <p:stCondLst>
                              <p:cond delay="7000"/>
                            </p:stCondLst>
                            <p:childTnLst>
                              <p:par>
                                <p:cTn id="113" presetID="11" presetClass="entr" presetSubtype="0" fill="hold" grpId="0" nodeType="afterEffect">
                                  <p:stCondLst>
                                    <p:cond delay="0"/>
                                  </p:stCondLst>
                                  <p:childTnLst>
                                    <p:set>
                                      <p:cBhvr>
                                        <p:cTn id="114" dur="75">
                                          <p:stCondLst>
                                            <p:cond delay="0"/>
                                          </p:stCondLst>
                                        </p:cTn>
                                        <p:tgtEl>
                                          <p:spTgt spid="1212469"/>
                                        </p:tgtEl>
                                        <p:attrNameLst>
                                          <p:attrName>style.visibility</p:attrName>
                                        </p:attrNameLst>
                                      </p:cBhvr>
                                      <p:to>
                                        <p:strVal val="visible"/>
                                      </p:to>
                                    </p:set>
                                  </p:childTnLst>
                                </p:cTn>
                              </p:par>
                            </p:childTnLst>
                          </p:cTn>
                        </p:par>
                        <p:par>
                          <p:cTn id="115" fill="hold">
                            <p:stCondLst>
                              <p:cond delay="7500"/>
                            </p:stCondLst>
                            <p:childTnLst>
                              <p:par>
                                <p:cTn id="116" presetID="11" presetClass="entr" presetSubtype="0" fill="hold" grpId="0" nodeType="afterEffect">
                                  <p:stCondLst>
                                    <p:cond delay="0"/>
                                  </p:stCondLst>
                                  <p:childTnLst>
                                    <p:set>
                                      <p:cBhvr>
                                        <p:cTn id="117" dur="75">
                                          <p:stCondLst>
                                            <p:cond delay="0"/>
                                          </p:stCondLst>
                                        </p:cTn>
                                        <p:tgtEl>
                                          <p:spTgt spid="1212470"/>
                                        </p:tgtEl>
                                        <p:attrNameLst>
                                          <p:attrName>style.visibility</p:attrName>
                                        </p:attrNameLst>
                                      </p:cBhvr>
                                      <p:to>
                                        <p:strVal val="visible"/>
                                      </p:to>
                                    </p:set>
                                  </p:childTnLst>
                                </p:cTn>
                              </p:par>
                            </p:childTnLst>
                          </p:cTn>
                        </p:par>
                        <p:par>
                          <p:cTn id="118" fill="hold">
                            <p:stCondLst>
                              <p:cond delay="8000"/>
                            </p:stCondLst>
                            <p:childTnLst>
                              <p:par>
                                <p:cTn id="119" presetID="11" presetClass="entr" presetSubtype="0" fill="hold" grpId="0" nodeType="afterEffect">
                                  <p:stCondLst>
                                    <p:cond delay="0"/>
                                  </p:stCondLst>
                                  <p:childTnLst>
                                    <p:set>
                                      <p:cBhvr>
                                        <p:cTn id="120" dur="75">
                                          <p:stCondLst>
                                            <p:cond delay="0"/>
                                          </p:stCondLst>
                                        </p:cTn>
                                        <p:tgtEl>
                                          <p:spTgt spid="1212471"/>
                                        </p:tgtEl>
                                        <p:attrNameLst>
                                          <p:attrName>style.visibility</p:attrName>
                                        </p:attrNameLst>
                                      </p:cBhvr>
                                      <p:to>
                                        <p:strVal val="visible"/>
                                      </p:to>
                                    </p:set>
                                  </p:childTnLst>
                                </p:cTn>
                              </p:par>
                            </p:childTnLst>
                          </p:cTn>
                        </p:par>
                        <p:par>
                          <p:cTn id="121" fill="hold">
                            <p:stCondLst>
                              <p:cond delay="8500"/>
                            </p:stCondLst>
                            <p:childTnLst>
                              <p:par>
                                <p:cTn id="122" presetID="11" presetClass="entr" presetSubtype="0" fill="hold" grpId="0" nodeType="afterEffect">
                                  <p:stCondLst>
                                    <p:cond delay="0"/>
                                  </p:stCondLst>
                                  <p:childTnLst>
                                    <p:set>
                                      <p:cBhvr>
                                        <p:cTn id="123" dur="75">
                                          <p:stCondLst>
                                            <p:cond delay="0"/>
                                          </p:stCondLst>
                                        </p:cTn>
                                        <p:tgtEl>
                                          <p:spTgt spid="1212472"/>
                                        </p:tgtEl>
                                        <p:attrNameLst>
                                          <p:attrName>style.visibility</p:attrName>
                                        </p:attrNameLst>
                                      </p:cBhvr>
                                      <p:to>
                                        <p:strVal val="visible"/>
                                      </p:to>
                                    </p:set>
                                  </p:childTnLst>
                                </p:cTn>
                              </p:par>
                            </p:childTnLst>
                          </p:cTn>
                        </p:par>
                        <p:par>
                          <p:cTn id="124" fill="hold">
                            <p:stCondLst>
                              <p:cond delay="9000"/>
                            </p:stCondLst>
                            <p:childTnLst>
                              <p:par>
                                <p:cTn id="125" presetID="11" presetClass="entr" presetSubtype="0" fill="hold" grpId="0" nodeType="afterEffect">
                                  <p:stCondLst>
                                    <p:cond delay="0"/>
                                  </p:stCondLst>
                                  <p:childTnLst>
                                    <p:set>
                                      <p:cBhvr>
                                        <p:cTn id="126" dur="75">
                                          <p:stCondLst>
                                            <p:cond delay="0"/>
                                          </p:stCondLst>
                                        </p:cTn>
                                        <p:tgtEl>
                                          <p:spTgt spid="1212473"/>
                                        </p:tgtEl>
                                        <p:attrNameLst>
                                          <p:attrName>style.visibility</p:attrName>
                                        </p:attrNameLst>
                                      </p:cBhvr>
                                      <p:to>
                                        <p:strVal val="visible"/>
                                      </p:to>
                                    </p:set>
                                  </p:childTnLst>
                                </p:cTn>
                              </p:par>
                            </p:childTnLst>
                          </p:cTn>
                        </p:par>
                        <p:par>
                          <p:cTn id="127" fill="hold">
                            <p:stCondLst>
                              <p:cond delay="9500"/>
                            </p:stCondLst>
                            <p:childTnLst>
                              <p:par>
                                <p:cTn id="128" presetID="11" presetClass="entr" presetSubtype="0" fill="hold" grpId="0" nodeType="afterEffect">
                                  <p:stCondLst>
                                    <p:cond delay="0"/>
                                  </p:stCondLst>
                                  <p:childTnLst>
                                    <p:set>
                                      <p:cBhvr>
                                        <p:cTn id="129" dur="75">
                                          <p:stCondLst>
                                            <p:cond delay="0"/>
                                          </p:stCondLst>
                                        </p:cTn>
                                        <p:tgtEl>
                                          <p:spTgt spid="1212474"/>
                                        </p:tgtEl>
                                        <p:attrNameLst>
                                          <p:attrName>style.visibility</p:attrName>
                                        </p:attrNameLst>
                                      </p:cBhvr>
                                      <p:to>
                                        <p:strVal val="visible"/>
                                      </p:to>
                                    </p:set>
                                  </p:childTnLst>
                                </p:cTn>
                              </p:par>
                            </p:childTnLst>
                          </p:cTn>
                        </p:par>
                        <p:par>
                          <p:cTn id="130" fill="hold">
                            <p:stCondLst>
                              <p:cond delay="10000"/>
                            </p:stCondLst>
                            <p:childTnLst>
                              <p:par>
                                <p:cTn id="131" presetID="11" presetClass="entr" presetSubtype="0" fill="hold" grpId="0" nodeType="afterEffect">
                                  <p:stCondLst>
                                    <p:cond delay="0"/>
                                  </p:stCondLst>
                                  <p:childTnLst>
                                    <p:set>
                                      <p:cBhvr>
                                        <p:cTn id="132" dur="75">
                                          <p:stCondLst>
                                            <p:cond delay="0"/>
                                          </p:stCondLst>
                                        </p:cTn>
                                        <p:tgtEl>
                                          <p:spTgt spid="1212475"/>
                                        </p:tgtEl>
                                        <p:attrNameLst>
                                          <p:attrName>style.visibility</p:attrName>
                                        </p:attrNameLst>
                                      </p:cBhvr>
                                      <p:to>
                                        <p:strVal val="visible"/>
                                      </p:to>
                                    </p:set>
                                  </p:childTnLst>
                                  <p:subTnLst>
                                    <p:audio>
                                      <p:cMediaNode>
                                        <p:cTn display="0" masterRel="sameClick">
                                          <p:stCondLst>
                                            <p:cond evt="begin" delay="0">
                                              <p:tn val="131"/>
                                            </p:cond>
                                          </p:stCondLst>
                                          <p:endCondLst>
                                            <p:cond evt="onStopAudio" delay="0">
                                              <p:tgtEl>
                                                <p:sldTgt/>
                                              </p:tgtEl>
                                            </p:cond>
                                          </p:endCondLst>
                                        </p:cTn>
                                        <p:tgtEl>
                                          <p:sndTgt r:embed="rId23" name="ricochet.wav"/>
                                        </p:tgtEl>
                                      </p:cMediaNode>
                                    </p:audio>
                                  </p:subTnLst>
                                </p:cTn>
                              </p:par>
                            </p:childTnLst>
                          </p:cTn>
                        </p:par>
                        <p:par>
                          <p:cTn id="133" fill="hold">
                            <p:stCondLst>
                              <p:cond delay="10500"/>
                            </p:stCondLst>
                            <p:childTnLst>
                              <p:par>
                                <p:cTn id="134" presetID="11" presetClass="entr" presetSubtype="0" fill="hold" grpId="0" nodeType="afterEffect">
                                  <p:stCondLst>
                                    <p:cond delay="0"/>
                                  </p:stCondLst>
                                  <p:childTnLst>
                                    <p:set>
                                      <p:cBhvr>
                                        <p:cTn id="135" dur="75">
                                          <p:stCondLst>
                                            <p:cond delay="0"/>
                                          </p:stCondLst>
                                        </p:cTn>
                                        <p:tgtEl>
                                          <p:spTgt spid="1212476"/>
                                        </p:tgtEl>
                                        <p:attrNameLst>
                                          <p:attrName>style.visibility</p:attrName>
                                        </p:attrNameLst>
                                      </p:cBhvr>
                                      <p:to>
                                        <p:strVal val="visible"/>
                                      </p:to>
                                    </p:set>
                                  </p:childTnLst>
                                </p:cTn>
                              </p:par>
                            </p:childTnLst>
                          </p:cTn>
                        </p:par>
                        <p:par>
                          <p:cTn id="136" fill="hold">
                            <p:stCondLst>
                              <p:cond delay="11000"/>
                            </p:stCondLst>
                            <p:childTnLst>
                              <p:par>
                                <p:cTn id="137" presetID="11" presetClass="entr" presetSubtype="0" fill="hold" grpId="0" nodeType="afterEffect">
                                  <p:stCondLst>
                                    <p:cond delay="0"/>
                                  </p:stCondLst>
                                  <p:childTnLst>
                                    <p:set>
                                      <p:cBhvr>
                                        <p:cTn id="138" dur="75">
                                          <p:stCondLst>
                                            <p:cond delay="0"/>
                                          </p:stCondLst>
                                        </p:cTn>
                                        <p:tgtEl>
                                          <p:spTgt spid="1212477"/>
                                        </p:tgtEl>
                                        <p:attrNameLst>
                                          <p:attrName>style.visibility</p:attrName>
                                        </p:attrNameLst>
                                      </p:cBhvr>
                                      <p:to>
                                        <p:strVal val="visible"/>
                                      </p:to>
                                    </p:set>
                                  </p:childTnLst>
                                </p:cTn>
                              </p:par>
                            </p:childTnLst>
                          </p:cTn>
                        </p:par>
                        <p:par>
                          <p:cTn id="139" fill="hold">
                            <p:stCondLst>
                              <p:cond delay="11500"/>
                            </p:stCondLst>
                            <p:childTnLst>
                              <p:par>
                                <p:cTn id="140" presetID="11" presetClass="entr" presetSubtype="0" fill="hold" grpId="0" nodeType="afterEffect">
                                  <p:stCondLst>
                                    <p:cond delay="0"/>
                                  </p:stCondLst>
                                  <p:childTnLst>
                                    <p:set>
                                      <p:cBhvr>
                                        <p:cTn id="141" dur="75">
                                          <p:stCondLst>
                                            <p:cond delay="0"/>
                                          </p:stCondLst>
                                        </p:cTn>
                                        <p:tgtEl>
                                          <p:spTgt spid="1212478"/>
                                        </p:tgtEl>
                                        <p:attrNameLst>
                                          <p:attrName>style.visibility</p:attrName>
                                        </p:attrNameLst>
                                      </p:cBhvr>
                                      <p:to>
                                        <p:strVal val="visible"/>
                                      </p:to>
                                    </p:set>
                                  </p:childTnLst>
                                </p:cTn>
                              </p:par>
                            </p:childTnLst>
                          </p:cTn>
                        </p:par>
                        <p:par>
                          <p:cTn id="142" fill="hold">
                            <p:stCondLst>
                              <p:cond delay="12000"/>
                            </p:stCondLst>
                            <p:childTnLst>
                              <p:par>
                                <p:cTn id="143" presetID="11" presetClass="entr" presetSubtype="0" fill="hold" grpId="0" nodeType="afterEffect">
                                  <p:stCondLst>
                                    <p:cond delay="0"/>
                                  </p:stCondLst>
                                  <p:childTnLst>
                                    <p:set>
                                      <p:cBhvr>
                                        <p:cTn id="144" dur="75">
                                          <p:stCondLst>
                                            <p:cond delay="0"/>
                                          </p:stCondLst>
                                        </p:cTn>
                                        <p:tgtEl>
                                          <p:spTgt spid="1212479"/>
                                        </p:tgtEl>
                                        <p:attrNameLst>
                                          <p:attrName>style.visibility</p:attrName>
                                        </p:attrNameLst>
                                      </p:cBhvr>
                                      <p:to>
                                        <p:strVal val="visible"/>
                                      </p:to>
                                    </p:set>
                                  </p:childTnLst>
                                </p:cTn>
                              </p:par>
                            </p:childTnLst>
                          </p:cTn>
                        </p:par>
                        <p:par>
                          <p:cTn id="145" fill="hold">
                            <p:stCondLst>
                              <p:cond delay="12500"/>
                            </p:stCondLst>
                            <p:childTnLst>
                              <p:par>
                                <p:cTn id="146" presetID="22" presetClass="entr" presetSubtype="8" fill="hold" grpId="0" nodeType="afterEffect">
                                  <p:stCondLst>
                                    <p:cond delay="0"/>
                                  </p:stCondLst>
                                  <p:childTnLst>
                                    <p:set>
                                      <p:cBhvr>
                                        <p:cTn id="147" dur="1" fill="hold">
                                          <p:stCondLst>
                                            <p:cond delay="0"/>
                                          </p:stCondLst>
                                        </p:cTn>
                                        <p:tgtEl>
                                          <p:spTgt spid="1212437"/>
                                        </p:tgtEl>
                                        <p:attrNameLst>
                                          <p:attrName>style.visibility</p:attrName>
                                        </p:attrNameLst>
                                      </p:cBhvr>
                                      <p:to>
                                        <p:strVal val="visible"/>
                                      </p:to>
                                    </p:set>
                                    <p:animEffect transition="in" filter="wipe(left)">
                                      <p:cBhvr>
                                        <p:cTn id="148" dur="500"/>
                                        <p:tgtEl>
                                          <p:spTgt spid="1212437"/>
                                        </p:tgtEl>
                                      </p:cBhvr>
                                    </p:animEffect>
                                  </p:childTnLst>
                                </p:cTn>
                              </p:par>
                            </p:childTnLst>
                          </p:cTn>
                        </p:par>
                        <p:par>
                          <p:cTn id="149" fill="hold">
                            <p:stCondLst>
                              <p:cond delay="13000"/>
                            </p:stCondLst>
                            <p:childTnLst>
                              <p:par>
                                <p:cTn id="150" presetID="11" presetClass="entr" presetSubtype="0" fill="hold" grpId="0" nodeType="afterEffect">
                                  <p:stCondLst>
                                    <p:cond delay="0"/>
                                  </p:stCondLst>
                                  <p:childTnLst>
                                    <p:set>
                                      <p:cBhvr>
                                        <p:cTn id="151" dur="75">
                                          <p:stCondLst>
                                            <p:cond delay="0"/>
                                          </p:stCondLst>
                                        </p:cTn>
                                        <p:tgtEl>
                                          <p:spTgt spid="1212480"/>
                                        </p:tgtEl>
                                        <p:attrNameLst>
                                          <p:attrName>style.visibility</p:attrName>
                                        </p:attrNameLst>
                                      </p:cBhvr>
                                      <p:to>
                                        <p:strVal val="visible"/>
                                      </p:to>
                                    </p:set>
                                  </p:childTnLst>
                                  <p:subTnLst>
                                    <p:audio>
                                      <p:cMediaNode>
                                        <p:cTn display="0" masterRel="sameClick">
                                          <p:stCondLst>
                                            <p:cond evt="begin" delay="0">
                                              <p:tn val="150"/>
                                            </p:cond>
                                          </p:stCondLst>
                                          <p:endCondLst>
                                            <p:cond evt="onStopAudio" delay="0">
                                              <p:tgtEl>
                                                <p:sldTgt/>
                                              </p:tgtEl>
                                            </p:cond>
                                          </p:endCondLst>
                                        </p:cTn>
                                        <p:tgtEl>
                                          <p:sndTgt r:embed="rId22" name="gunshot.wav"/>
                                        </p:tgtEl>
                                      </p:cMediaNode>
                                    </p:audio>
                                  </p:subTnLst>
                                </p:cTn>
                              </p:par>
                            </p:childTnLst>
                          </p:cTn>
                        </p:par>
                        <p:par>
                          <p:cTn id="152" fill="hold">
                            <p:stCondLst>
                              <p:cond delay="13500"/>
                            </p:stCondLst>
                            <p:childTnLst>
                              <p:par>
                                <p:cTn id="153" presetID="11" presetClass="entr" presetSubtype="0" fill="hold" grpId="0" nodeType="afterEffect">
                                  <p:stCondLst>
                                    <p:cond delay="0"/>
                                  </p:stCondLst>
                                  <p:childTnLst>
                                    <p:set>
                                      <p:cBhvr>
                                        <p:cTn id="154" dur="75">
                                          <p:stCondLst>
                                            <p:cond delay="0"/>
                                          </p:stCondLst>
                                        </p:cTn>
                                        <p:tgtEl>
                                          <p:spTgt spid="1212481"/>
                                        </p:tgtEl>
                                        <p:attrNameLst>
                                          <p:attrName>style.visibility</p:attrName>
                                        </p:attrNameLst>
                                      </p:cBhvr>
                                      <p:to>
                                        <p:strVal val="visible"/>
                                      </p:to>
                                    </p:set>
                                  </p:childTnLst>
                                </p:cTn>
                              </p:par>
                            </p:childTnLst>
                          </p:cTn>
                        </p:par>
                        <p:par>
                          <p:cTn id="155" fill="hold">
                            <p:stCondLst>
                              <p:cond delay="14000"/>
                            </p:stCondLst>
                            <p:childTnLst>
                              <p:par>
                                <p:cTn id="156" presetID="11" presetClass="entr" presetSubtype="0" fill="hold" grpId="0" nodeType="afterEffect">
                                  <p:stCondLst>
                                    <p:cond delay="0"/>
                                  </p:stCondLst>
                                  <p:childTnLst>
                                    <p:set>
                                      <p:cBhvr>
                                        <p:cTn id="157" dur="75">
                                          <p:stCondLst>
                                            <p:cond delay="0"/>
                                          </p:stCondLst>
                                        </p:cTn>
                                        <p:tgtEl>
                                          <p:spTgt spid="1212482"/>
                                        </p:tgtEl>
                                        <p:attrNameLst>
                                          <p:attrName>style.visibility</p:attrName>
                                        </p:attrNameLst>
                                      </p:cBhvr>
                                      <p:to>
                                        <p:strVal val="visible"/>
                                      </p:to>
                                    </p:set>
                                  </p:childTnLst>
                                </p:cTn>
                              </p:par>
                            </p:childTnLst>
                          </p:cTn>
                        </p:par>
                        <p:par>
                          <p:cTn id="158" fill="hold">
                            <p:stCondLst>
                              <p:cond delay="14500"/>
                            </p:stCondLst>
                            <p:childTnLst>
                              <p:par>
                                <p:cTn id="159" presetID="11" presetClass="entr" presetSubtype="0" fill="hold" grpId="0" nodeType="afterEffect">
                                  <p:stCondLst>
                                    <p:cond delay="0"/>
                                  </p:stCondLst>
                                  <p:childTnLst>
                                    <p:set>
                                      <p:cBhvr>
                                        <p:cTn id="160" dur="75">
                                          <p:stCondLst>
                                            <p:cond delay="0"/>
                                          </p:stCondLst>
                                        </p:cTn>
                                        <p:tgtEl>
                                          <p:spTgt spid="1212483"/>
                                        </p:tgtEl>
                                        <p:attrNameLst>
                                          <p:attrName>style.visibility</p:attrName>
                                        </p:attrNameLst>
                                      </p:cBhvr>
                                      <p:to>
                                        <p:strVal val="visible"/>
                                      </p:to>
                                    </p:set>
                                  </p:childTnLst>
                                </p:cTn>
                              </p:par>
                            </p:childTnLst>
                          </p:cTn>
                        </p:par>
                        <p:par>
                          <p:cTn id="161" fill="hold">
                            <p:stCondLst>
                              <p:cond delay="15000"/>
                            </p:stCondLst>
                            <p:childTnLst>
                              <p:par>
                                <p:cTn id="162" presetID="11" presetClass="entr" presetSubtype="0" fill="hold" grpId="0" nodeType="afterEffect">
                                  <p:stCondLst>
                                    <p:cond delay="0"/>
                                  </p:stCondLst>
                                  <p:childTnLst>
                                    <p:set>
                                      <p:cBhvr>
                                        <p:cTn id="163" dur="75">
                                          <p:stCondLst>
                                            <p:cond delay="0"/>
                                          </p:stCondLst>
                                        </p:cTn>
                                        <p:tgtEl>
                                          <p:spTgt spid="1212484"/>
                                        </p:tgtEl>
                                        <p:attrNameLst>
                                          <p:attrName>style.visibility</p:attrName>
                                        </p:attrNameLst>
                                      </p:cBhvr>
                                      <p:to>
                                        <p:strVal val="visible"/>
                                      </p:to>
                                    </p:set>
                                  </p:childTnLst>
                                </p:cTn>
                              </p:par>
                            </p:childTnLst>
                          </p:cTn>
                        </p:par>
                        <p:par>
                          <p:cTn id="164" fill="hold">
                            <p:stCondLst>
                              <p:cond delay="15500"/>
                            </p:stCondLst>
                            <p:childTnLst>
                              <p:par>
                                <p:cTn id="165" presetID="11" presetClass="entr" presetSubtype="0" fill="hold" grpId="0" nodeType="afterEffect">
                                  <p:stCondLst>
                                    <p:cond delay="0"/>
                                  </p:stCondLst>
                                  <p:childTnLst>
                                    <p:set>
                                      <p:cBhvr>
                                        <p:cTn id="166" dur="75">
                                          <p:stCondLst>
                                            <p:cond delay="0"/>
                                          </p:stCondLst>
                                        </p:cTn>
                                        <p:tgtEl>
                                          <p:spTgt spid="1212485"/>
                                        </p:tgtEl>
                                        <p:attrNameLst>
                                          <p:attrName>style.visibility</p:attrName>
                                        </p:attrNameLst>
                                      </p:cBhvr>
                                      <p:to>
                                        <p:strVal val="visible"/>
                                      </p:to>
                                    </p:set>
                                  </p:childTnLst>
                                </p:cTn>
                              </p:par>
                            </p:childTnLst>
                          </p:cTn>
                        </p:par>
                        <p:par>
                          <p:cTn id="167" fill="hold">
                            <p:stCondLst>
                              <p:cond delay="16000"/>
                            </p:stCondLst>
                            <p:childTnLst>
                              <p:par>
                                <p:cTn id="168" presetID="11" presetClass="entr" presetSubtype="0" fill="hold" grpId="0" nodeType="afterEffect">
                                  <p:stCondLst>
                                    <p:cond delay="0"/>
                                  </p:stCondLst>
                                  <p:childTnLst>
                                    <p:set>
                                      <p:cBhvr>
                                        <p:cTn id="169" dur="75">
                                          <p:stCondLst>
                                            <p:cond delay="0"/>
                                          </p:stCondLst>
                                        </p:cTn>
                                        <p:tgtEl>
                                          <p:spTgt spid="1212486"/>
                                        </p:tgtEl>
                                        <p:attrNameLst>
                                          <p:attrName>style.visibility</p:attrName>
                                        </p:attrNameLst>
                                      </p:cBhvr>
                                      <p:to>
                                        <p:strVal val="visible"/>
                                      </p:to>
                                    </p:set>
                                  </p:childTnLst>
                                </p:cTn>
                              </p:par>
                            </p:childTnLst>
                          </p:cTn>
                        </p:par>
                        <p:par>
                          <p:cTn id="170" fill="hold">
                            <p:stCondLst>
                              <p:cond delay="16500"/>
                            </p:stCondLst>
                            <p:childTnLst>
                              <p:par>
                                <p:cTn id="171" presetID="11" presetClass="entr" presetSubtype="0" fill="hold" grpId="0" nodeType="afterEffect">
                                  <p:stCondLst>
                                    <p:cond delay="0"/>
                                  </p:stCondLst>
                                  <p:childTnLst>
                                    <p:set>
                                      <p:cBhvr>
                                        <p:cTn id="172" dur="75">
                                          <p:stCondLst>
                                            <p:cond delay="0"/>
                                          </p:stCondLst>
                                        </p:cTn>
                                        <p:tgtEl>
                                          <p:spTgt spid="1212487"/>
                                        </p:tgtEl>
                                        <p:attrNameLst>
                                          <p:attrName>style.visibility</p:attrName>
                                        </p:attrNameLst>
                                      </p:cBhvr>
                                      <p:to>
                                        <p:strVal val="visible"/>
                                      </p:to>
                                    </p:set>
                                  </p:childTnLst>
                                  <p:subTnLst>
                                    <p:audio>
                                      <p:cMediaNode>
                                        <p:cTn display="0" masterRel="sameClick">
                                          <p:stCondLst>
                                            <p:cond evt="begin" delay="0">
                                              <p:tn val="171"/>
                                            </p:cond>
                                          </p:stCondLst>
                                          <p:endCondLst>
                                            <p:cond evt="onStopAudio" delay="0">
                                              <p:tgtEl>
                                                <p:sldTgt/>
                                              </p:tgtEl>
                                            </p:cond>
                                          </p:endCondLst>
                                        </p:cTn>
                                        <p:tgtEl>
                                          <p:sndTgt r:embed="rId23" name="ricochet.wav"/>
                                        </p:tgtEl>
                                      </p:cMediaNode>
                                    </p:audio>
                                  </p:subTnLst>
                                </p:cTn>
                              </p:par>
                            </p:childTnLst>
                          </p:cTn>
                        </p:par>
                        <p:par>
                          <p:cTn id="173" fill="hold">
                            <p:stCondLst>
                              <p:cond delay="17000"/>
                            </p:stCondLst>
                            <p:childTnLst>
                              <p:par>
                                <p:cTn id="174" presetID="11" presetClass="entr" presetSubtype="0" fill="hold" grpId="0" nodeType="afterEffect">
                                  <p:stCondLst>
                                    <p:cond delay="0"/>
                                  </p:stCondLst>
                                  <p:childTnLst>
                                    <p:set>
                                      <p:cBhvr>
                                        <p:cTn id="175" dur="75">
                                          <p:stCondLst>
                                            <p:cond delay="0"/>
                                          </p:stCondLst>
                                        </p:cTn>
                                        <p:tgtEl>
                                          <p:spTgt spid="1212488"/>
                                        </p:tgtEl>
                                        <p:attrNameLst>
                                          <p:attrName>style.visibility</p:attrName>
                                        </p:attrNameLst>
                                      </p:cBhvr>
                                      <p:to>
                                        <p:strVal val="visible"/>
                                      </p:to>
                                    </p:set>
                                  </p:childTnLst>
                                </p:cTn>
                              </p:par>
                            </p:childTnLst>
                          </p:cTn>
                        </p:par>
                        <p:par>
                          <p:cTn id="176" fill="hold">
                            <p:stCondLst>
                              <p:cond delay="17500"/>
                            </p:stCondLst>
                            <p:childTnLst>
                              <p:par>
                                <p:cTn id="177" presetID="11" presetClass="entr" presetSubtype="0" fill="hold" grpId="0" nodeType="afterEffect">
                                  <p:stCondLst>
                                    <p:cond delay="0"/>
                                  </p:stCondLst>
                                  <p:childTnLst>
                                    <p:set>
                                      <p:cBhvr>
                                        <p:cTn id="178" dur="75">
                                          <p:stCondLst>
                                            <p:cond delay="0"/>
                                          </p:stCondLst>
                                        </p:cTn>
                                        <p:tgtEl>
                                          <p:spTgt spid="1212489"/>
                                        </p:tgtEl>
                                        <p:attrNameLst>
                                          <p:attrName>style.visibility</p:attrName>
                                        </p:attrNameLst>
                                      </p:cBhvr>
                                      <p:to>
                                        <p:strVal val="visible"/>
                                      </p:to>
                                    </p:set>
                                  </p:childTnLst>
                                </p:cTn>
                              </p:par>
                            </p:childTnLst>
                          </p:cTn>
                        </p:par>
                        <p:par>
                          <p:cTn id="179" fill="hold">
                            <p:stCondLst>
                              <p:cond delay="18000"/>
                            </p:stCondLst>
                            <p:childTnLst>
                              <p:par>
                                <p:cTn id="180" presetID="11" presetClass="entr" presetSubtype="0" fill="hold" grpId="0" nodeType="afterEffect">
                                  <p:stCondLst>
                                    <p:cond delay="0"/>
                                  </p:stCondLst>
                                  <p:childTnLst>
                                    <p:set>
                                      <p:cBhvr>
                                        <p:cTn id="181" dur="75">
                                          <p:stCondLst>
                                            <p:cond delay="0"/>
                                          </p:stCondLst>
                                        </p:cTn>
                                        <p:tgtEl>
                                          <p:spTgt spid="1212490"/>
                                        </p:tgtEl>
                                        <p:attrNameLst>
                                          <p:attrName>style.visibility</p:attrName>
                                        </p:attrNameLst>
                                      </p:cBhvr>
                                      <p:to>
                                        <p:strVal val="visible"/>
                                      </p:to>
                                    </p:set>
                                  </p:childTnLst>
                                </p:cTn>
                              </p:par>
                            </p:childTnLst>
                          </p:cTn>
                        </p:par>
                        <p:par>
                          <p:cTn id="182" fill="hold">
                            <p:stCondLst>
                              <p:cond delay="18500"/>
                            </p:stCondLst>
                            <p:childTnLst>
                              <p:par>
                                <p:cTn id="183" presetID="11" presetClass="entr" presetSubtype="0" fill="hold" grpId="0" nodeType="afterEffect">
                                  <p:stCondLst>
                                    <p:cond delay="0"/>
                                  </p:stCondLst>
                                  <p:childTnLst>
                                    <p:set>
                                      <p:cBhvr>
                                        <p:cTn id="184" dur="75">
                                          <p:stCondLst>
                                            <p:cond delay="0"/>
                                          </p:stCondLst>
                                        </p:cTn>
                                        <p:tgtEl>
                                          <p:spTgt spid="1212491"/>
                                        </p:tgtEl>
                                        <p:attrNameLst>
                                          <p:attrName>style.visibility</p:attrName>
                                        </p:attrNameLst>
                                      </p:cBhvr>
                                      <p:to>
                                        <p:strVal val="visible"/>
                                      </p:to>
                                    </p:set>
                                  </p:childTnLst>
                                </p:cTn>
                              </p:par>
                            </p:childTnLst>
                          </p:cTn>
                        </p:par>
                        <p:par>
                          <p:cTn id="185" fill="hold">
                            <p:stCondLst>
                              <p:cond delay="19000"/>
                            </p:stCondLst>
                            <p:childTnLst>
                              <p:par>
                                <p:cTn id="186" presetID="11" presetClass="entr" presetSubtype="0" fill="hold" grpId="0" nodeType="afterEffect">
                                  <p:stCondLst>
                                    <p:cond delay="0"/>
                                  </p:stCondLst>
                                  <p:childTnLst>
                                    <p:set>
                                      <p:cBhvr>
                                        <p:cTn id="187" dur="75">
                                          <p:stCondLst>
                                            <p:cond delay="0"/>
                                          </p:stCondLst>
                                        </p:cTn>
                                        <p:tgtEl>
                                          <p:spTgt spid="1212492"/>
                                        </p:tgtEl>
                                        <p:attrNameLst>
                                          <p:attrName>style.visibility</p:attrName>
                                        </p:attrNameLst>
                                      </p:cBhvr>
                                      <p:to>
                                        <p:strVal val="visible"/>
                                      </p:to>
                                    </p:set>
                                  </p:childTnLst>
                                </p:cTn>
                              </p:par>
                            </p:childTnLst>
                          </p:cTn>
                        </p:par>
                        <p:par>
                          <p:cTn id="188" fill="hold">
                            <p:stCondLst>
                              <p:cond delay="19500"/>
                            </p:stCondLst>
                            <p:childTnLst>
                              <p:par>
                                <p:cTn id="189" presetID="11" presetClass="entr" presetSubtype="0" fill="hold" grpId="0" nodeType="afterEffect">
                                  <p:stCondLst>
                                    <p:cond delay="0"/>
                                  </p:stCondLst>
                                  <p:childTnLst>
                                    <p:set>
                                      <p:cBhvr>
                                        <p:cTn id="190" dur="75">
                                          <p:stCondLst>
                                            <p:cond delay="0"/>
                                          </p:stCondLst>
                                        </p:cTn>
                                        <p:tgtEl>
                                          <p:spTgt spid="1212493"/>
                                        </p:tgtEl>
                                        <p:attrNameLst>
                                          <p:attrName>style.visibility</p:attrName>
                                        </p:attrNameLst>
                                      </p:cBhvr>
                                      <p:to>
                                        <p:strVal val="visible"/>
                                      </p:to>
                                    </p:set>
                                  </p:childTnLst>
                                </p:cTn>
                              </p:par>
                            </p:childTnLst>
                          </p:cTn>
                        </p:par>
                        <p:par>
                          <p:cTn id="191" fill="hold">
                            <p:stCondLst>
                              <p:cond delay="20000"/>
                            </p:stCondLst>
                            <p:childTnLst>
                              <p:par>
                                <p:cTn id="192" presetID="22" presetClass="entr" presetSubtype="8" fill="hold" grpId="0" nodeType="afterEffect">
                                  <p:stCondLst>
                                    <p:cond delay="0"/>
                                  </p:stCondLst>
                                  <p:childTnLst>
                                    <p:set>
                                      <p:cBhvr>
                                        <p:cTn id="193" dur="1" fill="hold">
                                          <p:stCondLst>
                                            <p:cond delay="0"/>
                                          </p:stCondLst>
                                        </p:cTn>
                                        <p:tgtEl>
                                          <p:spTgt spid="1212438"/>
                                        </p:tgtEl>
                                        <p:attrNameLst>
                                          <p:attrName>style.visibility</p:attrName>
                                        </p:attrNameLst>
                                      </p:cBhvr>
                                      <p:to>
                                        <p:strVal val="visible"/>
                                      </p:to>
                                    </p:set>
                                    <p:animEffect transition="in" filter="wipe(left)">
                                      <p:cBhvr>
                                        <p:cTn id="194" dur="500"/>
                                        <p:tgtEl>
                                          <p:spTgt spid="1212438"/>
                                        </p:tgtEl>
                                      </p:cBhvr>
                                    </p:animEffect>
                                  </p:childTnLst>
                                </p:cTn>
                              </p:par>
                            </p:childTnLst>
                          </p:cTn>
                        </p:par>
                        <p:par>
                          <p:cTn id="195" fill="hold">
                            <p:stCondLst>
                              <p:cond delay="20500"/>
                            </p:stCondLst>
                            <p:childTnLst>
                              <p:par>
                                <p:cTn id="196" presetID="11" presetClass="entr" presetSubtype="0" fill="hold" grpId="0" nodeType="afterEffect">
                                  <p:stCondLst>
                                    <p:cond delay="0"/>
                                  </p:stCondLst>
                                  <p:childTnLst>
                                    <p:set>
                                      <p:cBhvr>
                                        <p:cTn id="197" dur="75">
                                          <p:stCondLst>
                                            <p:cond delay="0"/>
                                          </p:stCondLst>
                                        </p:cTn>
                                        <p:tgtEl>
                                          <p:spTgt spid="1212494"/>
                                        </p:tgtEl>
                                        <p:attrNameLst>
                                          <p:attrName>style.visibility</p:attrName>
                                        </p:attrNameLst>
                                      </p:cBhvr>
                                      <p:to>
                                        <p:strVal val="visible"/>
                                      </p:to>
                                    </p:set>
                                  </p:childTnLst>
                                  <p:subTnLst>
                                    <p:audio>
                                      <p:cMediaNode>
                                        <p:cTn display="0" masterRel="sameClick">
                                          <p:stCondLst>
                                            <p:cond evt="begin" delay="0">
                                              <p:tn val="196"/>
                                            </p:cond>
                                          </p:stCondLst>
                                          <p:endCondLst>
                                            <p:cond evt="onStopAudio" delay="0">
                                              <p:tgtEl>
                                                <p:sldTgt/>
                                              </p:tgtEl>
                                            </p:cond>
                                          </p:endCondLst>
                                        </p:cTn>
                                        <p:tgtEl>
                                          <p:sndTgt r:embed="rId22" name="gunshot.wav"/>
                                        </p:tgtEl>
                                      </p:cMediaNode>
                                    </p:audio>
                                  </p:subTnLst>
                                </p:cTn>
                              </p:par>
                            </p:childTnLst>
                          </p:cTn>
                        </p:par>
                        <p:par>
                          <p:cTn id="198" fill="hold">
                            <p:stCondLst>
                              <p:cond delay="21000"/>
                            </p:stCondLst>
                            <p:childTnLst>
                              <p:par>
                                <p:cTn id="199" presetID="11" presetClass="entr" presetSubtype="0" fill="hold" grpId="0" nodeType="afterEffect">
                                  <p:stCondLst>
                                    <p:cond delay="0"/>
                                  </p:stCondLst>
                                  <p:childTnLst>
                                    <p:set>
                                      <p:cBhvr>
                                        <p:cTn id="200" dur="75">
                                          <p:stCondLst>
                                            <p:cond delay="0"/>
                                          </p:stCondLst>
                                        </p:cTn>
                                        <p:tgtEl>
                                          <p:spTgt spid="1212495"/>
                                        </p:tgtEl>
                                        <p:attrNameLst>
                                          <p:attrName>style.visibility</p:attrName>
                                        </p:attrNameLst>
                                      </p:cBhvr>
                                      <p:to>
                                        <p:strVal val="visible"/>
                                      </p:to>
                                    </p:set>
                                  </p:childTnLst>
                                </p:cTn>
                              </p:par>
                            </p:childTnLst>
                          </p:cTn>
                        </p:par>
                        <p:par>
                          <p:cTn id="201" fill="hold">
                            <p:stCondLst>
                              <p:cond delay="21500"/>
                            </p:stCondLst>
                            <p:childTnLst>
                              <p:par>
                                <p:cTn id="202" presetID="11" presetClass="entr" presetSubtype="0" fill="hold" grpId="0" nodeType="afterEffect">
                                  <p:stCondLst>
                                    <p:cond delay="0"/>
                                  </p:stCondLst>
                                  <p:childTnLst>
                                    <p:set>
                                      <p:cBhvr>
                                        <p:cTn id="203" dur="75">
                                          <p:stCondLst>
                                            <p:cond delay="0"/>
                                          </p:stCondLst>
                                        </p:cTn>
                                        <p:tgtEl>
                                          <p:spTgt spid="1212496"/>
                                        </p:tgtEl>
                                        <p:attrNameLst>
                                          <p:attrName>style.visibility</p:attrName>
                                        </p:attrNameLst>
                                      </p:cBhvr>
                                      <p:to>
                                        <p:strVal val="visible"/>
                                      </p:to>
                                    </p:set>
                                  </p:childTnLst>
                                </p:cTn>
                              </p:par>
                            </p:childTnLst>
                          </p:cTn>
                        </p:par>
                        <p:par>
                          <p:cTn id="204" fill="hold">
                            <p:stCondLst>
                              <p:cond delay="22000"/>
                            </p:stCondLst>
                            <p:childTnLst>
                              <p:par>
                                <p:cTn id="205" presetID="11" presetClass="entr" presetSubtype="0" fill="hold" grpId="0" nodeType="afterEffect">
                                  <p:stCondLst>
                                    <p:cond delay="0"/>
                                  </p:stCondLst>
                                  <p:childTnLst>
                                    <p:set>
                                      <p:cBhvr>
                                        <p:cTn id="206" dur="75">
                                          <p:stCondLst>
                                            <p:cond delay="0"/>
                                          </p:stCondLst>
                                        </p:cTn>
                                        <p:tgtEl>
                                          <p:spTgt spid="1212497"/>
                                        </p:tgtEl>
                                        <p:attrNameLst>
                                          <p:attrName>style.visibility</p:attrName>
                                        </p:attrNameLst>
                                      </p:cBhvr>
                                      <p:to>
                                        <p:strVal val="visible"/>
                                      </p:to>
                                    </p:set>
                                  </p:childTnLst>
                                </p:cTn>
                              </p:par>
                            </p:childTnLst>
                          </p:cTn>
                        </p:par>
                        <p:par>
                          <p:cTn id="207" fill="hold">
                            <p:stCondLst>
                              <p:cond delay="22500"/>
                            </p:stCondLst>
                            <p:childTnLst>
                              <p:par>
                                <p:cTn id="208" presetID="11" presetClass="entr" presetSubtype="0" fill="hold" grpId="0" nodeType="afterEffect">
                                  <p:stCondLst>
                                    <p:cond delay="0"/>
                                  </p:stCondLst>
                                  <p:childTnLst>
                                    <p:set>
                                      <p:cBhvr>
                                        <p:cTn id="209" dur="75">
                                          <p:stCondLst>
                                            <p:cond delay="0"/>
                                          </p:stCondLst>
                                        </p:cTn>
                                        <p:tgtEl>
                                          <p:spTgt spid="1212498"/>
                                        </p:tgtEl>
                                        <p:attrNameLst>
                                          <p:attrName>style.visibility</p:attrName>
                                        </p:attrNameLst>
                                      </p:cBhvr>
                                      <p:to>
                                        <p:strVal val="visible"/>
                                      </p:to>
                                    </p:set>
                                  </p:childTnLst>
                                </p:cTn>
                              </p:par>
                            </p:childTnLst>
                          </p:cTn>
                        </p:par>
                        <p:par>
                          <p:cTn id="210" fill="hold">
                            <p:stCondLst>
                              <p:cond delay="23000"/>
                            </p:stCondLst>
                            <p:childTnLst>
                              <p:par>
                                <p:cTn id="211" presetID="11" presetClass="entr" presetSubtype="0" fill="hold" grpId="0" nodeType="afterEffect">
                                  <p:stCondLst>
                                    <p:cond delay="0"/>
                                  </p:stCondLst>
                                  <p:childTnLst>
                                    <p:set>
                                      <p:cBhvr>
                                        <p:cTn id="212" dur="75">
                                          <p:stCondLst>
                                            <p:cond delay="0"/>
                                          </p:stCondLst>
                                        </p:cTn>
                                        <p:tgtEl>
                                          <p:spTgt spid="1212499"/>
                                        </p:tgtEl>
                                        <p:attrNameLst>
                                          <p:attrName>style.visibility</p:attrName>
                                        </p:attrNameLst>
                                      </p:cBhvr>
                                      <p:to>
                                        <p:strVal val="visible"/>
                                      </p:to>
                                    </p:set>
                                  </p:childTnLst>
                                </p:cTn>
                              </p:par>
                            </p:childTnLst>
                          </p:cTn>
                        </p:par>
                        <p:par>
                          <p:cTn id="213" fill="hold">
                            <p:stCondLst>
                              <p:cond delay="23500"/>
                            </p:stCondLst>
                            <p:childTnLst>
                              <p:par>
                                <p:cTn id="214" presetID="11" presetClass="entr" presetSubtype="0" fill="hold" grpId="0" nodeType="afterEffect">
                                  <p:stCondLst>
                                    <p:cond delay="0"/>
                                  </p:stCondLst>
                                  <p:childTnLst>
                                    <p:set>
                                      <p:cBhvr>
                                        <p:cTn id="215" dur="75">
                                          <p:stCondLst>
                                            <p:cond delay="0"/>
                                          </p:stCondLst>
                                        </p:cTn>
                                        <p:tgtEl>
                                          <p:spTgt spid="1212500"/>
                                        </p:tgtEl>
                                        <p:attrNameLst>
                                          <p:attrName>style.visibility</p:attrName>
                                        </p:attrNameLst>
                                      </p:cBhvr>
                                      <p:to>
                                        <p:strVal val="visible"/>
                                      </p:to>
                                    </p:set>
                                  </p:childTnLst>
                                  <p:subTnLst>
                                    <p:audio>
                                      <p:cMediaNode>
                                        <p:cTn display="0" masterRel="sameClick">
                                          <p:stCondLst>
                                            <p:cond evt="begin" delay="0">
                                              <p:tn val="214"/>
                                            </p:cond>
                                          </p:stCondLst>
                                          <p:endCondLst>
                                            <p:cond evt="onStopAudio" delay="0">
                                              <p:tgtEl>
                                                <p:sldTgt/>
                                              </p:tgtEl>
                                            </p:cond>
                                          </p:endCondLst>
                                        </p:cTn>
                                        <p:tgtEl>
                                          <p:sndTgt r:embed="rId23" name="ricochet.wav"/>
                                        </p:tgtEl>
                                      </p:cMediaNode>
                                    </p:audio>
                                  </p:subTnLst>
                                </p:cTn>
                              </p:par>
                            </p:childTnLst>
                          </p:cTn>
                        </p:par>
                        <p:par>
                          <p:cTn id="216" fill="hold">
                            <p:stCondLst>
                              <p:cond delay="24000"/>
                            </p:stCondLst>
                            <p:childTnLst>
                              <p:par>
                                <p:cTn id="217" presetID="11" presetClass="entr" presetSubtype="0" fill="hold" grpId="0" nodeType="afterEffect">
                                  <p:stCondLst>
                                    <p:cond delay="0"/>
                                  </p:stCondLst>
                                  <p:childTnLst>
                                    <p:set>
                                      <p:cBhvr>
                                        <p:cTn id="218" dur="75">
                                          <p:stCondLst>
                                            <p:cond delay="0"/>
                                          </p:stCondLst>
                                        </p:cTn>
                                        <p:tgtEl>
                                          <p:spTgt spid="1212501"/>
                                        </p:tgtEl>
                                        <p:attrNameLst>
                                          <p:attrName>style.visibility</p:attrName>
                                        </p:attrNameLst>
                                      </p:cBhvr>
                                      <p:to>
                                        <p:strVal val="visible"/>
                                      </p:to>
                                    </p:set>
                                  </p:childTnLst>
                                </p:cTn>
                              </p:par>
                            </p:childTnLst>
                          </p:cTn>
                        </p:par>
                        <p:par>
                          <p:cTn id="219" fill="hold">
                            <p:stCondLst>
                              <p:cond delay="24500"/>
                            </p:stCondLst>
                            <p:childTnLst>
                              <p:par>
                                <p:cTn id="220" presetID="11" presetClass="entr" presetSubtype="0" fill="hold" grpId="0" nodeType="afterEffect">
                                  <p:stCondLst>
                                    <p:cond delay="0"/>
                                  </p:stCondLst>
                                  <p:childTnLst>
                                    <p:set>
                                      <p:cBhvr>
                                        <p:cTn id="221" dur="75">
                                          <p:stCondLst>
                                            <p:cond delay="0"/>
                                          </p:stCondLst>
                                        </p:cTn>
                                        <p:tgtEl>
                                          <p:spTgt spid="1212502"/>
                                        </p:tgtEl>
                                        <p:attrNameLst>
                                          <p:attrName>style.visibility</p:attrName>
                                        </p:attrNameLst>
                                      </p:cBhvr>
                                      <p:to>
                                        <p:strVal val="visible"/>
                                      </p:to>
                                    </p:set>
                                  </p:childTnLst>
                                </p:cTn>
                              </p:par>
                            </p:childTnLst>
                          </p:cTn>
                        </p:par>
                        <p:par>
                          <p:cTn id="222" fill="hold">
                            <p:stCondLst>
                              <p:cond delay="25000"/>
                            </p:stCondLst>
                            <p:childTnLst>
                              <p:par>
                                <p:cTn id="223" presetID="11" presetClass="entr" presetSubtype="0" fill="hold" grpId="0" nodeType="afterEffect">
                                  <p:stCondLst>
                                    <p:cond delay="0"/>
                                  </p:stCondLst>
                                  <p:childTnLst>
                                    <p:set>
                                      <p:cBhvr>
                                        <p:cTn id="224" dur="75">
                                          <p:stCondLst>
                                            <p:cond delay="0"/>
                                          </p:stCondLst>
                                        </p:cTn>
                                        <p:tgtEl>
                                          <p:spTgt spid="1212503"/>
                                        </p:tgtEl>
                                        <p:attrNameLst>
                                          <p:attrName>style.visibility</p:attrName>
                                        </p:attrNameLst>
                                      </p:cBhvr>
                                      <p:to>
                                        <p:strVal val="visible"/>
                                      </p:to>
                                    </p:set>
                                  </p:childTnLst>
                                </p:cTn>
                              </p:par>
                            </p:childTnLst>
                          </p:cTn>
                        </p:par>
                        <p:par>
                          <p:cTn id="225" fill="hold">
                            <p:stCondLst>
                              <p:cond delay="25500"/>
                            </p:stCondLst>
                            <p:childTnLst>
                              <p:par>
                                <p:cTn id="226" presetID="11" presetClass="entr" presetSubtype="0" fill="hold" grpId="0" nodeType="afterEffect">
                                  <p:stCondLst>
                                    <p:cond delay="0"/>
                                  </p:stCondLst>
                                  <p:childTnLst>
                                    <p:set>
                                      <p:cBhvr>
                                        <p:cTn id="227" dur="75">
                                          <p:stCondLst>
                                            <p:cond delay="0"/>
                                          </p:stCondLst>
                                        </p:cTn>
                                        <p:tgtEl>
                                          <p:spTgt spid="1212504"/>
                                        </p:tgtEl>
                                        <p:attrNameLst>
                                          <p:attrName>style.visibility</p:attrName>
                                        </p:attrNameLst>
                                      </p:cBhvr>
                                      <p:to>
                                        <p:strVal val="visible"/>
                                      </p:to>
                                    </p:set>
                                  </p:childTnLst>
                                </p:cTn>
                              </p:par>
                            </p:childTnLst>
                          </p:cTn>
                        </p:par>
                        <p:par>
                          <p:cTn id="228" fill="hold">
                            <p:stCondLst>
                              <p:cond delay="26000"/>
                            </p:stCondLst>
                            <p:childTnLst>
                              <p:par>
                                <p:cTn id="229" presetID="11" presetClass="entr" presetSubtype="0" fill="hold" grpId="0" nodeType="afterEffect">
                                  <p:stCondLst>
                                    <p:cond delay="0"/>
                                  </p:stCondLst>
                                  <p:childTnLst>
                                    <p:set>
                                      <p:cBhvr>
                                        <p:cTn id="230" dur="75">
                                          <p:stCondLst>
                                            <p:cond delay="0"/>
                                          </p:stCondLst>
                                        </p:cTn>
                                        <p:tgtEl>
                                          <p:spTgt spid="1212505"/>
                                        </p:tgtEl>
                                        <p:attrNameLst>
                                          <p:attrName>style.visibility</p:attrName>
                                        </p:attrNameLst>
                                      </p:cBhvr>
                                      <p:to>
                                        <p:strVal val="visible"/>
                                      </p:to>
                                    </p:set>
                                  </p:childTnLst>
                                </p:cTn>
                              </p:par>
                            </p:childTnLst>
                          </p:cTn>
                        </p:par>
                        <p:par>
                          <p:cTn id="231" fill="hold">
                            <p:stCondLst>
                              <p:cond delay="26500"/>
                            </p:stCondLst>
                            <p:childTnLst>
                              <p:par>
                                <p:cTn id="232" presetID="11" presetClass="entr" presetSubtype="0" fill="hold" grpId="0" nodeType="afterEffect">
                                  <p:stCondLst>
                                    <p:cond delay="0"/>
                                  </p:stCondLst>
                                  <p:childTnLst>
                                    <p:set>
                                      <p:cBhvr>
                                        <p:cTn id="233" dur="75">
                                          <p:stCondLst>
                                            <p:cond delay="0"/>
                                          </p:stCondLst>
                                        </p:cTn>
                                        <p:tgtEl>
                                          <p:spTgt spid="1212506"/>
                                        </p:tgtEl>
                                        <p:attrNameLst>
                                          <p:attrName>style.visibility</p:attrName>
                                        </p:attrNameLst>
                                      </p:cBhvr>
                                      <p:to>
                                        <p:strVal val="visible"/>
                                      </p:to>
                                    </p:set>
                                  </p:childTnLst>
                                </p:cTn>
                              </p:par>
                            </p:childTnLst>
                          </p:cTn>
                        </p:par>
                        <p:par>
                          <p:cTn id="234" fill="hold">
                            <p:stCondLst>
                              <p:cond delay="27000"/>
                            </p:stCondLst>
                            <p:childTnLst>
                              <p:par>
                                <p:cTn id="235" presetID="11" presetClass="entr" presetSubtype="0" fill="hold" grpId="0" nodeType="afterEffect">
                                  <p:stCondLst>
                                    <p:cond delay="0"/>
                                  </p:stCondLst>
                                  <p:childTnLst>
                                    <p:set>
                                      <p:cBhvr>
                                        <p:cTn id="236" dur="75">
                                          <p:stCondLst>
                                            <p:cond delay="0"/>
                                          </p:stCondLst>
                                        </p:cTn>
                                        <p:tgtEl>
                                          <p:spTgt spid="1212507"/>
                                        </p:tgtEl>
                                        <p:attrNameLst>
                                          <p:attrName>style.visibility</p:attrName>
                                        </p:attrNameLst>
                                      </p:cBhvr>
                                      <p:to>
                                        <p:strVal val="visible"/>
                                      </p:to>
                                    </p:set>
                                  </p:childTnLst>
                                </p:cTn>
                              </p:par>
                            </p:childTnLst>
                          </p:cTn>
                        </p:par>
                        <p:par>
                          <p:cTn id="237" fill="hold">
                            <p:stCondLst>
                              <p:cond delay="27500"/>
                            </p:stCondLst>
                            <p:childTnLst>
                              <p:par>
                                <p:cTn id="238" presetID="11" presetClass="entr" presetSubtype="0" fill="hold" grpId="0" nodeType="afterEffect">
                                  <p:stCondLst>
                                    <p:cond delay="0"/>
                                  </p:stCondLst>
                                  <p:childTnLst>
                                    <p:set>
                                      <p:cBhvr>
                                        <p:cTn id="239" dur="75">
                                          <p:stCondLst>
                                            <p:cond delay="0"/>
                                          </p:stCondLst>
                                        </p:cTn>
                                        <p:tgtEl>
                                          <p:spTgt spid="1212508"/>
                                        </p:tgtEl>
                                        <p:attrNameLst>
                                          <p:attrName>style.visibility</p:attrName>
                                        </p:attrNameLst>
                                      </p:cBhvr>
                                      <p:to>
                                        <p:strVal val="visible"/>
                                      </p:to>
                                    </p:set>
                                  </p:childTnLst>
                                </p:cTn>
                              </p:par>
                            </p:childTnLst>
                          </p:cTn>
                        </p:par>
                        <p:par>
                          <p:cTn id="240" fill="hold">
                            <p:stCondLst>
                              <p:cond delay="28000"/>
                            </p:stCondLst>
                            <p:childTnLst>
                              <p:par>
                                <p:cTn id="241" presetID="11" presetClass="entr" presetSubtype="0" fill="hold" grpId="0" nodeType="afterEffect">
                                  <p:stCondLst>
                                    <p:cond delay="0"/>
                                  </p:stCondLst>
                                  <p:childTnLst>
                                    <p:set>
                                      <p:cBhvr>
                                        <p:cTn id="242" dur="75">
                                          <p:stCondLst>
                                            <p:cond delay="0"/>
                                          </p:stCondLst>
                                        </p:cTn>
                                        <p:tgtEl>
                                          <p:spTgt spid="1212509"/>
                                        </p:tgtEl>
                                        <p:attrNameLst>
                                          <p:attrName>style.visibility</p:attrName>
                                        </p:attrNameLst>
                                      </p:cBhvr>
                                      <p:to>
                                        <p:strVal val="visible"/>
                                      </p:to>
                                    </p:set>
                                  </p:childTnLst>
                                </p:cTn>
                              </p:par>
                            </p:childTnLst>
                          </p:cTn>
                        </p:par>
                        <p:par>
                          <p:cTn id="243" fill="hold">
                            <p:stCondLst>
                              <p:cond delay="28500"/>
                            </p:stCondLst>
                            <p:childTnLst>
                              <p:par>
                                <p:cTn id="244" presetID="22" presetClass="entr" presetSubtype="8" fill="hold" grpId="0" nodeType="afterEffect">
                                  <p:stCondLst>
                                    <p:cond delay="0"/>
                                  </p:stCondLst>
                                  <p:childTnLst>
                                    <p:set>
                                      <p:cBhvr>
                                        <p:cTn id="245" dur="1" fill="hold">
                                          <p:stCondLst>
                                            <p:cond delay="0"/>
                                          </p:stCondLst>
                                        </p:cTn>
                                        <p:tgtEl>
                                          <p:spTgt spid="1212439"/>
                                        </p:tgtEl>
                                        <p:attrNameLst>
                                          <p:attrName>style.visibility</p:attrName>
                                        </p:attrNameLst>
                                      </p:cBhvr>
                                      <p:to>
                                        <p:strVal val="visible"/>
                                      </p:to>
                                    </p:set>
                                    <p:animEffect transition="in" filter="wipe(left)">
                                      <p:cBhvr>
                                        <p:cTn id="246" dur="500"/>
                                        <p:tgtEl>
                                          <p:spTgt spid="1212439"/>
                                        </p:tgtEl>
                                      </p:cBhvr>
                                    </p:animEffect>
                                  </p:childTnLst>
                                </p:cTn>
                              </p:par>
                            </p:childTnLst>
                          </p:cTn>
                        </p:par>
                      </p:childTnLst>
                    </p:cTn>
                  </p:par>
                  <p:par>
                    <p:cTn id="247" fill="hold">
                      <p:stCondLst>
                        <p:cond delay="indefinite"/>
                      </p:stCondLst>
                      <p:childTnLst>
                        <p:par>
                          <p:cTn id="248" fill="hold">
                            <p:stCondLst>
                              <p:cond delay="0"/>
                            </p:stCondLst>
                            <p:childTnLst>
                              <p:par>
                                <p:cTn id="249" presetID="17" presetClass="entr" presetSubtype="10" fill="hold" grpId="0" nodeType="clickEffect">
                                  <p:stCondLst>
                                    <p:cond delay="0"/>
                                  </p:stCondLst>
                                  <p:childTnLst>
                                    <p:set>
                                      <p:cBhvr>
                                        <p:cTn id="250" dur="1" fill="hold">
                                          <p:stCondLst>
                                            <p:cond delay="0"/>
                                          </p:stCondLst>
                                        </p:cTn>
                                        <p:tgtEl>
                                          <p:spTgt spid="1212440"/>
                                        </p:tgtEl>
                                        <p:attrNameLst>
                                          <p:attrName>style.visibility</p:attrName>
                                        </p:attrNameLst>
                                      </p:cBhvr>
                                      <p:to>
                                        <p:strVal val="visible"/>
                                      </p:to>
                                    </p:set>
                                    <p:anim calcmode="lin" valueType="num">
                                      <p:cBhvr>
                                        <p:cTn id="251" dur="500" fill="hold"/>
                                        <p:tgtEl>
                                          <p:spTgt spid="1212440"/>
                                        </p:tgtEl>
                                        <p:attrNameLst>
                                          <p:attrName>ppt_w</p:attrName>
                                        </p:attrNameLst>
                                      </p:cBhvr>
                                      <p:tavLst>
                                        <p:tav tm="0">
                                          <p:val>
                                            <p:fltVal val="0"/>
                                          </p:val>
                                        </p:tav>
                                        <p:tav tm="100000">
                                          <p:val>
                                            <p:strVal val="#ppt_w"/>
                                          </p:val>
                                        </p:tav>
                                      </p:tavLst>
                                    </p:anim>
                                    <p:anim calcmode="lin" valueType="num">
                                      <p:cBhvr>
                                        <p:cTn id="252" dur="500" fill="hold"/>
                                        <p:tgtEl>
                                          <p:spTgt spid="121244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9"/>
                                            </p:cond>
                                          </p:stCondLst>
                                          <p:endCondLst>
                                            <p:cond evt="onStopAudio" delay="0">
                                              <p:tgtEl>
                                                <p:sldTgt/>
                                              </p:tgtEl>
                                            </p:cond>
                                          </p:endCondLst>
                                        </p:cTn>
                                        <p:tgtEl>
                                          <p:sndTgt r:embed="rId21" name="drumroll.wav"/>
                                        </p:tgtEl>
                                      </p:cMediaNode>
                                    </p:audio>
                                  </p:subTnLst>
                                </p:cTn>
                              </p:par>
                            </p:childTnLst>
                          </p:cTn>
                        </p:par>
                        <p:par>
                          <p:cTn id="253" fill="hold">
                            <p:stCondLst>
                              <p:cond delay="500"/>
                            </p:stCondLst>
                            <p:childTnLst>
                              <p:par>
                                <p:cTn id="254" presetID="9" presetClass="entr" presetSubtype="0" fill="hold" grpId="0" nodeType="afterEffect">
                                  <p:stCondLst>
                                    <p:cond delay="0"/>
                                  </p:stCondLst>
                                  <p:childTnLst>
                                    <p:set>
                                      <p:cBhvr>
                                        <p:cTn id="255" dur="1" fill="hold">
                                          <p:stCondLst>
                                            <p:cond delay="0"/>
                                          </p:stCondLst>
                                        </p:cTn>
                                        <p:tgtEl>
                                          <p:spTgt spid="1212441"/>
                                        </p:tgtEl>
                                        <p:attrNameLst>
                                          <p:attrName>style.visibility</p:attrName>
                                        </p:attrNameLst>
                                      </p:cBhvr>
                                      <p:to>
                                        <p:strVal val="visible"/>
                                      </p:to>
                                    </p:set>
                                    <p:animEffect transition="in" filter="dissolve">
                                      <p:cBhvr>
                                        <p:cTn id="256" dur="500"/>
                                        <p:tgtEl>
                                          <p:spTgt spid="1212441"/>
                                        </p:tgtEl>
                                      </p:cBhvr>
                                    </p:animEffect>
                                  </p:childTnLst>
                                </p:cTn>
                              </p:par>
                            </p:childTnLst>
                          </p:cTn>
                        </p:par>
                      </p:childTnLst>
                    </p:cTn>
                  </p:par>
                  <p:par>
                    <p:cTn id="257" fill="hold">
                      <p:stCondLst>
                        <p:cond delay="indefinite"/>
                      </p:stCondLst>
                      <p:childTnLst>
                        <p:par>
                          <p:cTn id="258" fill="hold">
                            <p:stCondLst>
                              <p:cond delay="0"/>
                            </p:stCondLst>
                            <p:childTnLst>
                              <p:par>
                                <p:cTn id="259" presetID="17" presetClass="entr" presetSubtype="10" fill="hold" grpId="0" nodeType="clickEffect">
                                  <p:stCondLst>
                                    <p:cond delay="0"/>
                                  </p:stCondLst>
                                  <p:childTnLst>
                                    <p:set>
                                      <p:cBhvr>
                                        <p:cTn id="260" dur="1" fill="hold">
                                          <p:stCondLst>
                                            <p:cond delay="0"/>
                                          </p:stCondLst>
                                        </p:cTn>
                                        <p:tgtEl>
                                          <p:spTgt spid="1212510"/>
                                        </p:tgtEl>
                                        <p:attrNameLst>
                                          <p:attrName>style.visibility</p:attrName>
                                        </p:attrNameLst>
                                      </p:cBhvr>
                                      <p:to>
                                        <p:strVal val="visible"/>
                                      </p:to>
                                    </p:set>
                                    <p:anim calcmode="lin" valueType="num">
                                      <p:cBhvr>
                                        <p:cTn id="261" dur="500" fill="hold"/>
                                        <p:tgtEl>
                                          <p:spTgt spid="1212510"/>
                                        </p:tgtEl>
                                        <p:attrNameLst>
                                          <p:attrName>ppt_w</p:attrName>
                                        </p:attrNameLst>
                                      </p:cBhvr>
                                      <p:tavLst>
                                        <p:tav tm="0">
                                          <p:val>
                                            <p:fltVal val="0"/>
                                          </p:val>
                                        </p:tav>
                                        <p:tav tm="100000">
                                          <p:val>
                                            <p:strVal val="#ppt_w"/>
                                          </p:val>
                                        </p:tav>
                                      </p:tavLst>
                                    </p:anim>
                                    <p:anim calcmode="lin" valueType="num">
                                      <p:cBhvr>
                                        <p:cTn id="262" dur="500" fill="hold"/>
                                        <p:tgtEl>
                                          <p:spTgt spid="12125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9"/>
                                            </p:cond>
                                          </p:stCondLst>
                                          <p:endCondLst>
                                            <p:cond evt="onStopAudio" delay="0">
                                              <p:tgtEl>
                                                <p:sldTgt/>
                                              </p:tgtEl>
                                            </p:cond>
                                          </p:endCondLst>
                                        </p:cTn>
                                        <p:tgtEl>
                                          <p:sndTgt r:embed="rId24" name="carbrake.wav"/>
                                        </p:tgtEl>
                                      </p:cMediaNode>
                                    </p:audio>
                                  </p:subTnLst>
                                </p:cTn>
                              </p:par>
                            </p:childTnLst>
                          </p:cTn>
                        </p:par>
                        <p:par>
                          <p:cTn id="263" fill="hold">
                            <p:stCondLst>
                              <p:cond delay="500"/>
                            </p:stCondLst>
                            <p:childTnLst>
                              <p:par>
                                <p:cTn id="264" presetID="12" presetClass="entr" presetSubtype="2" fill="hold" nodeType="afterEffect">
                                  <p:stCondLst>
                                    <p:cond delay="0"/>
                                  </p:stCondLst>
                                  <p:childTnLst>
                                    <p:set>
                                      <p:cBhvr>
                                        <p:cTn id="265" dur="1" fill="hold">
                                          <p:stCondLst>
                                            <p:cond delay="0"/>
                                          </p:stCondLst>
                                        </p:cTn>
                                        <p:tgtEl>
                                          <p:spTgt spid="1212511"/>
                                        </p:tgtEl>
                                        <p:attrNameLst>
                                          <p:attrName>style.visibility</p:attrName>
                                        </p:attrNameLst>
                                      </p:cBhvr>
                                      <p:to>
                                        <p:strVal val="visible"/>
                                      </p:to>
                                    </p:set>
                                    <p:animEffect transition="in" filter="slide(fromRight)">
                                      <p:cBhvr>
                                        <p:cTn id="266" dur="500"/>
                                        <p:tgtEl>
                                          <p:spTgt spid="1212511"/>
                                        </p:tgtEl>
                                      </p:cBhvr>
                                    </p:animEffect>
                                  </p:childTnLst>
                                </p:cTn>
                              </p:par>
                            </p:childTnLst>
                          </p:cTn>
                        </p:par>
                        <p:par>
                          <p:cTn id="267" fill="hold">
                            <p:stCondLst>
                              <p:cond delay="1000"/>
                            </p:stCondLst>
                            <p:childTnLst>
                              <p:par>
                                <p:cTn id="268" presetID="11" presetClass="entr" presetSubtype="0" fill="hold" grpId="0" nodeType="afterEffect">
                                  <p:stCondLst>
                                    <p:cond delay="0"/>
                                  </p:stCondLst>
                                  <p:childTnLst>
                                    <p:set>
                                      <p:cBhvr>
                                        <p:cTn id="269" dur="75">
                                          <p:stCondLst>
                                            <p:cond delay="0"/>
                                          </p:stCondLst>
                                        </p:cTn>
                                        <p:tgtEl>
                                          <p:spTgt spid="1212512"/>
                                        </p:tgtEl>
                                        <p:attrNameLst>
                                          <p:attrName>style.visibility</p:attrName>
                                        </p:attrNameLst>
                                      </p:cBhvr>
                                      <p:to>
                                        <p:strVal val="visible"/>
                                      </p:to>
                                    </p:set>
                                  </p:childTnLst>
                                </p:cTn>
                              </p:par>
                            </p:childTnLst>
                          </p:cTn>
                        </p:par>
                        <p:par>
                          <p:cTn id="270" fill="hold">
                            <p:stCondLst>
                              <p:cond delay="1500"/>
                            </p:stCondLst>
                            <p:childTnLst>
                              <p:par>
                                <p:cTn id="271" presetID="11" presetClass="entr" presetSubtype="0" fill="hold" grpId="0" nodeType="afterEffect">
                                  <p:stCondLst>
                                    <p:cond delay="0"/>
                                  </p:stCondLst>
                                  <p:childTnLst>
                                    <p:set>
                                      <p:cBhvr>
                                        <p:cTn id="272" dur="75">
                                          <p:stCondLst>
                                            <p:cond delay="0"/>
                                          </p:stCondLst>
                                        </p:cTn>
                                        <p:tgtEl>
                                          <p:spTgt spid="1212513"/>
                                        </p:tgtEl>
                                        <p:attrNameLst>
                                          <p:attrName>style.visibility</p:attrName>
                                        </p:attrNameLst>
                                      </p:cBhvr>
                                      <p:to>
                                        <p:strVal val="visible"/>
                                      </p:to>
                                    </p:set>
                                  </p:childTnLst>
                                </p:cTn>
                              </p:par>
                            </p:childTnLst>
                          </p:cTn>
                        </p:par>
                        <p:par>
                          <p:cTn id="273" fill="hold">
                            <p:stCondLst>
                              <p:cond delay="2000"/>
                            </p:stCondLst>
                            <p:childTnLst>
                              <p:par>
                                <p:cTn id="274" presetID="11" presetClass="entr" presetSubtype="0" fill="hold" grpId="0" nodeType="afterEffect">
                                  <p:stCondLst>
                                    <p:cond delay="0"/>
                                  </p:stCondLst>
                                  <p:childTnLst>
                                    <p:set>
                                      <p:cBhvr>
                                        <p:cTn id="275" dur="75">
                                          <p:stCondLst>
                                            <p:cond delay="0"/>
                                          </p:stCondLst>
                                        </p:cTn>
                                        <p:tgtEl>
                                          <p:spTgt spid="1212514"/>
                                        </p:tgtEl>
                                        <p:attrNameLst>
                                          <p:attrName>style.visibility</p:attrName>
                                        </p:attrNameLst>
                                      </p:cBhvr>
                                      <p:to>
                                        <p:strVal val="visible"/>
                                      </p:to>
                                    </p:set>
                                  </p:childTnLst>
                                </p:cTn>
                              </p:par>
                            </p:childTnLst>
                          </p:cTn>
                        </p:par>
                        <p:par>
                          <p:cTn id="276" fill="hold">
                            <p:stCondLst>
                              <p:cond delay="2500"/>
                            </p:stCondLst>
                            <p:childTnLst>
                              <p:par>
                                <p:cTn id="277" presetID="11" presetClass="entr" presetSubtype="0" fill="hold" grpId="0" nodeType="afterEffect">
                                  <p:stCondLst>
                                    <p:cond delay="0"/>
                                  </p:stCondLst>
                                  <p:childTnLst>
                                    <p:set>
                                      <p:cBhvr>
                                        <p:cTn id="278" dur="75">
                                          <p:stCondLst>
                                            <p:cond delay="0"/>
                                          </p:stCondLst>
                                        </p:cTn>
                                        <p:tgtEl>
                                          <p:spTgt spid="1212515"/>
                                        </p:tgtEl>
                                        <p:attrNameLst>
                                          <p:attrName>style.visibility</p:attrName>
                                        </p:attrNameLst>
                                      </p:cBhvr>
                                      <p:to>
                                        <p:strVal val="visible"/>
                                      </p:to>
                                    </p:set>
                                  </p:childTnLst>
                                </p:cTn>
                              </p:par>
                            </p:childTnLst>
                          </p:cTn>
                        </p:par>
                        <p:par>
                          <p:cTn id="279" fill="hold">
                            <p:stCondLst>
                              <p:cond delay="3000"/>
                            </p:stCondLst>
                            <p:childTnLst>
                              <p:par>
                                <p:cTn id="280" presetID="11" presetClass="entr" presetSubtype="0" fill="hold" grpId="0" nodeType="afterEffect">
                                  <p:stCondLst>
                                    <p:cond delay="0"/>
                                  </p:stCondLst>
                                  <p:childTnLst>
                                    <p:set>
                                      <p:cBhvr>
                                        <p:cTn id="281" dur="75">
                                          <p:stCondLst>
                                            <p:cond delay="0"/>
                                          </p:stCondLst>
                                        </p:cTn>
                                        <p:tgtEl>
                                          <p:spTgt spid="1212516"/>
                                        </p:tgtEl>
                                        <p:attrNameLst>
                                          <p:attrName>style.visibility</p:attrName>
                                        </p:attrNameLst>
                                      </p:cBhvr>
                                      <p:to>
                                        <p:strVal val="visible"/>
                                      </p:to>
                                    </p:set>
                                  </p:childTnLst>
                                </p:cTn>
                              </p:par>
                            </p:childTnLst>
                          </p:cTn>
                        </p:par>
                        <p:par>
                          <p:cTn id="282" fill="hold">
                            <p:stCondLst>
                              <p:cond delay="3500"/>
                            </p:stCondLst>
                            <p:childTnLst>
                              <p:par>
                                <p:cTn id="283" presetID="11" presetClass="entr" presetSubtype="0" fill="hold" grpId="0" nodeType="afterEffect">
                                  <p:stCondLst>
                                    <p:cond delay="0"/>
                                  </p:stCondLst>
                                  <p:childTnLst>
                                    <p:set>
                                      <p:cBhvr>
                                        <p:cTn id="284" dur="75">
                                          <p:stCondLst>
                                            <p:cond delay="0"/>
                                          </p:stCondLst>
                                        </p:cTn>
                                        <p:tgtEl>
                                          <p:spTgt spid="1212517"/>
                                        </p:tgtEl>
                                        <p:attrNameLst>
                                          <p:attrName>style.visibility</p:attrName>
                                        </p:attrNameLst>
                                      </p:cBhvr>
                                      <p:to>
                                        <p:strVal val="visible"/>
                                      </p:to>
                                    </p:set>
                                  </p:childTnLst>
                                </p:cTn>
                              </p:par>
                            </p:childTnLst>
                          </p:cTn>
                        </p:par>
                        <p:par>
                          <p:cTn id="285" fill="hold">
                            <p:stCondLst>
                              <p:cond delay="4000"/>
                            </p:stCondLst>
                            <p:childTnLst>
                              <p:par>
                                <p:cTn id="286" presetID="11" presetClass="entr" presetSubtype="0" fill="hold" grpId="0" nodeType="afterEffect">
                                  <p:stCondLst>
                                    <p:cond delay="0"/>
                                  </p:stCondLst>
                                  <p:childTnLst>
                                    <p:set>
                                      <p:cBhvr>
                                        <p:cTn id="287" dur="75">
                                          <p:stCondLst>
                                            <p:cond delay="0"/>
                                          </p:stCondLst>
                                        </p:cTn>
                                        <p:tgtEl>
                                          <p:spTgt spid="1212518"/>
                                        </p:tgtEl>
                                        <p:attrNameLst>
                                          <p:attrName>style.visibility</p:attrName>
                                        </p:attrNameLst>
                                      </p:cBhvr>
                                      <p:to>
                                        <p:strVal val="visible"/>
                                      </p:to>
                                    </p:set>
                                  </p:childTnLst>
                                </p:cTn>
                              </p:par>
                            </p:childTnLst>
                          </p:cTn>
                        </p:par>
                        <p:par>
                          <p:cTn id="288" fill="hold">
                            <p:stCondLst>
                              <p:cond delay="4500"/>
                            </p:stCondLst>
                            <p:childTnLst>
                              <p:par>
                                <p:cTn id="289" presetID="11" presetClass="entr" presetSubtype="0" fill="hold" grpId="0" nodeType="afterEffect">
                                  <p:stCondLst>
                                    <p:cond delay="0"/>
                                  </p:stCondLst>
                                  <p:childTnLst>
                                    <p:set>
                                      <p:cBhvr>
                                        <p:cTn id="290" dur="75">
                                          <p:stCondLst>
                                            <p:cond delay="0"/>
                                          </p:stCondLst>
                                        </p:cTn>
                                        <p:tgtEl>
                                          <p:spTgt spid="1212519"/>
                                        </p:tgtEl>
                                        <p:attrNameLst>
                                          <p:attrName>style.visibility</p:attrName>
                                        </p:attrNameLst>
                                      </p:cBhvr>
                                      <p:to>
                                        <p:strVal val="visible"/>
                                      </p:to>
                                    </p:set>
                                  </p:childTnLst>
                                </p:cTn>
                              </p:par>
                            </p:childTnLst>
                          </p:cTn>
                        </p:par>
                        <p:par>
                          <p:cTn id="291" fill="hold">
                            <p:stCondLst>
                              <p:cond delay="5000"/>
                            </p:stCondLst>
                            <p:childTnLst>
                              <p:par>
                                <p:cTn id="292" presetID="11" presetClass="entr" presetSubtype="0" fill="hold" grpId="0" nodeType="afterEffect">
                                  <p:stCondLst>
                                    <p:cond delay="0"/>
                                  </p:stCondLst>
                                  <p:childTnLst>
                                    <p:set>
                                      <p:cBhvr>
                                        <p:cTn id="293" dur="75">
                                          <p:stCondLst>
                                            <p:cond delay="0"/>
                                          </p:stCondLst>
                                        </p:cTn>
                                        <p:tgtEl>
                                          <p:spTgt spid="1212520"/>
                                        </p:tgtEl>
                                        <p:attrNameLst>
                                          <p:attrName>style.visibility</p:attrName>
                                        </p:attrNameLst>
                                      </p:cBhvr>
                                      <p:to>
                                        <p:strVal val="visible"/>
                                      </p:to>
                                    </p:set>
                                  </p:childTnLst>
                                </p:cTn>
                              </p:par>
                            </p:childTnLst>
                          </p:cTn>
                        </p:par>
                        <p:par>
                          <p:cTn id="294" fill="hold">
                            <p:stCondLst>
                              <p:cond delay="5500"/>
                            </p:stCondLst>
                            <p:childTnLst>
                              <p:par>
                                <p:cTn id="295" presetID="11" presetClass="entr" presetSubtype="0" fill="hold" grpId="0" nodeType="afterEffect">
                                  <p:stCondLst>
                                    <p:cond delay="0"/>
                                  </p:stCondLst>
                                  <p:childTnLst>
                                    <p:set>
                                      <p:cBhvr>
                                        <p:cTn id="296" dur="75">
                                          <p:stCondLst>
                                            <p:cond delay="0"/>
                                          </p:stCondLst>
                                        </p:cTn>
                                        <p:tgtEl>
                                          <p:spTgt spid="1212521"/>
                                        </p:tgtEl>
                                        <p:attrNameLst>
                                          <p:attrName>style.visibility</p:attrName>
                                        </p:attrNameLst>
                                      </p:cBhvr>
                                      <p:to>
                                        <p:strVal val="visible"/>
                                      </p:to>
                                    </p:set>
                                  </p:childTnLst>
                                </p:cTn>
                              </p:par>
                            </p:childTnLst>
                          </p:cTn>
                        </p:par>
                        <p:par>
                          <p:cTn id="297" fill="hold">
                            <p:stCondLst>
                              <p:cond delay="6000"/>
                            </p:stCondLst>
                            <p:childTnLst>
                              <p:par>
                                <p:cTn id="298" presetID="11" presetClass="entr" presetSubtype="0" fill="hold" grpId="0" nodeType="afterEffect">
                                  <p:stCondLst>
                                    <p:cond delay="0"/>
                                  </p:stCondLst>
                                  <p:childTnLst>
                                    <p:set>
                                      <p:cBhvr>
                                        <p:cTn id="299" dur="75">
                                          <p:stCondLst>
                                            <p:cond delay="0"/>
                                          </p:stCondLst>
                                        </p:cTn>
                                        <p:tgtEl>
                                          <p:spTgt spid="1212522"/>
                                        </p:tgtEl>
                                        <p:attrNameLst>
                                          <p:attrName>style.visibility</p:attrName>
                                        </p:attrNameLst>
                                      </p:cBhvr>
                                      <p:to>
                                        <p:strVal val="visible"/>
                                      </p:to>
                                    </p:set>
                                  </p:childTnLst>
                                </p:cTn>
                              </p:par>
                            </p:childTnLst>
                          </p:cTn>
                        </p:par>
                        <p:par>
                          <p:cTn id="300" fill="hold">
                            <p:stCondLst>
                              <p:cond delay="6500"/>
                            </p:stCondLst>
                            <p:childTnLst>
                              <p:par>
                                <p:cTn id="301" presetID="11" presetClass="entr" presetSubtype="0" fill="hold" grpId="0" nodeType="afterEffect">
                                  <p:stCondLst>
                                    <p:cond delay="0"/>
                                  </p:stCondLst>
                                  <p:childTnLst>
                                    <p:set>
                                      <p:cBhvr>
                                        <p:cTn id="302" dur="75">
                                          <p:stCondLst>
                                            <p:cond delay="0"/>
                                          </p:stCondLst>
                                        </p:cTn>
                                        <p:tgtEl>
                                          <p:spTgt spid="1212523"/>
                                        </p:tgtEl>
                                        <p:attrNameLst>
                                          <p:attrName>style.visibility</p:attrName>
                                        </p:attrNameLst>
                                      </p:cBhvr>
                                      <p:to>
                                        <p:strVal val="visible"/>
                                      </p:to>
                                    </p:set>
                                  </p:childTnLst>
                                </p:cTn>
                              </p:par>
                            </p:childTnLst>
                          </p:cTn>
                        </p:par>
                        <p:par>
                          <p:cTn id="303" fill="hold">
                            <p:stCondLst>
                              <p:cond delay="7000"/>
                            </p:stCondLst>
                            <p:childTnLst>
                              <p:par>
                                <p:cTn id="304" presetID="11" presetClass="entr" presetSubtype="0" fill="hold" grpId="0" nodeType="afterEffect">
                                  <p:stCondLst>
                                    <p:cond delay="0"/>
                                  </p:stCondLst>
                                  <p:childTnLst>
                                    <p:set>
                                      <p:cBhvr>
                                        <p:cTn id="305" dur="75">
                                          <p:stCondLst>
                                            <p:cond delay="0"/>
                                          </p:stCondLst>
                                        </p:cTn>
                                        <p:tgtEl>
                                          <p:spTgt spid="1212524"/>
                                        </p:tgtEl>
                                        <p:attrNameLst>
                                          <p:attrName>style.visibility</p:attrName>
                                        </p:attrNameLst>
                                      </p:cBhvr>
                                      <p:to>
                                        <p:strVal val="visible"/>
                                      </p:to>
                                    </p:set>
                                  </p:childTnLst>
                                </p:cTn>
                              </p:par>
                            </p:childTnLst>
                          </p:cTn>
                        </p:par>
                        <p:par>
                          <p:cTn id="306" fill="hold">
                            <p:stCondLst>
                              <p:cond delay="7500"/>
                            </p:stCondLst>
                            <p:childTnLst>
                              <p:par>
                                <p:cTn id="307" presetID="11" presetClass="entr" presetSubtype="0" fill="hold" grpId="0" nodeType="afterEffect">
                                  <p:stCondLst>
                                    <p:cond delay="0"/>
                                  </p:stCondLst>
                                  <p:childTnLst>
                                    <p:set>
                                      <p:cBhvr>
                                        <p:cTn id="308" dur="75">
                                          <p:stCondLst>
                                            <p:cond delay="0"/>
                                          </p:stCondLst>
                                        </p:cTn>
                                        <p:tgtEl>
                                          <p:spTgt spid="1212525"/>
                                        </p:tgtEl>
                                        <p:attrNameLst>
                                          <p:attrName>style.visibility</p:attrName>
                                        </p:attrNameLst>
                                      </p:cBhvr>
                                      <p:to>
                                        <p:strVal val="visible"/>
                                      </p:to>
                                    </p:set>
                                  </p:childTnLst>
                                </p:cTn>
                              </p:par>
                            </p:childTnLst>
                          </p:cTn>
                        </p:par>
                        <p:par>
                          <p:cTn id="309" fill="hold">
                            <p:stCondLst>
                              <p:cond delay="8000"/>
                            </p:stCondLst>
                            <p:childTnLst>
                              <p:par>
                                <p:cTn id="310" presetID="11" presetClass="entr" presetSubtype="0" fill="hold" grpId="0" nodeType="afterEffect">
                                  <p:stCondLst>
                                    <p:cond delay="0"/>
                                  </p:stCondLst>
                                  <p:childTnLst>
                                    <p:set>
                                      <p:cBhvr>
                                        <p:cTn id="311" dur="75">
                                          <p:stCondLst>
                                            <p:cond delay="0"/>
                                          </p:stCondLst>
                                        </p:cTn>
                                        <p:tgtEl>
                                          <p:spTgt spid="1212526"/>
                                        </p:tgtEl>
                                        <p:attrNameLst>
                                          <p:attrName>style.visibility</p:attrName>
                                        </p:attrNameLst>
                                      </p:cBhvr>
                                      <p:to>
                                        <p:strVal val="visible"/>
                                      </p:to>
                                    </p:set>
                                  </p:childTnLst>
                                </p:cTn>
                              </p:par>
                            </p:childTnLst>
                          </p:cTn>
                        </p:par>
                        <p:par>
                          <p:cTn id="312" fill="hold">
                            <p:stCondLst>
                              <p:cond delay="8500"/>
                            </p:stCondLst>
                            <p:childTnLst>
                              <p:par>
                                <p:cTn id="313" presetID="11" presetClass="entr" presetSubtype="0" fill="hold" grpId="0" nodeType="afterEffect">
                                  <p:stCondLst>
                                    <p:cond delay="0"/>
                                  </p:stCondLst>
                                  <p:childTnLst>
                                    <p:set>
                                      <p:cBhvr>
                                        <p:cTn id="314" dur="75">
                                          <p:stCondLst>
                                            <p:cond delay="0"/>
                                          </p:stCondLst>
                                        </p:cTn>
                                        <p:tgtEl>
                                          <p:spTgt spid="1212527"/>
                                        </p:tgtEl>
                                        <p:attrNameLst>
                                          <p:attrName>style.visibility</p:attrName>
                                        </p:attrNameLst>
                                      </p:cBhvr>
                                      <p:to>
                                        <p:strVal val="visible"/>
                                      </p:to>
                                    </p:set>
                                  </p:childTnLst>
                                </p:cTn>
                              </p:par>
                            </p:childTnLst>
                          </p:cTn>
                        </p:par>
                        <p:par>
                          <p:cTn id="315" fill="hold">
                            <p:stCondLst>
                              <p:cond delay="9000"/>
                            </p:stCondLst>
                            <p:childTnLst>
                              <p:par>
                                <p:cTn id="316" presetID="11" presetClass="entr" presetSubtype="0" fill="hold" grpId="0" nodeType="afterEffect">
                                  <p:stCondLst>
                                    <p:cond delay="0"/>
                                  </p:stCondLst>
                                  <p:childTnLst>
                                    <p:set>
                                      <p:cBhvr>
                                        <p:cTn id="317" dur="75">
                                          <p:stCondLst>
                                            <p:cond delay="0"/>
                                          </p:stCondLst>
                                        </p:cTn>
                                        <p:tgtEl>
                                          <p:spTgt spid="1212528"/>
                                        </p:tgtEl>
                                        <p:attrNameLst>
                                          <p:attrName>style.visibility</p:attrName>
                                        </p:attrNameLst>
                                      </p:cBhvr>
                                      <p:to>
                                        <p:strVal val="visible"/>
                                      </p:to>
                                    </p:set>
                                  </p:childTnLst>
                                </p:cTn>
                              </p:par>
                            </p:childTnLst>
                          </p:cTn>
                        </p:par>
                        <p:par>
                          <p:cTn id="318" fill="hold">
                            <p:stCondLst>
                              <p:cond delay="9500"/>
                            </p:stCondLst>
                            <p:childTnLst>
                              <p:par>
                                <p:cTn id="319" presetID="11" presetClass="entr" presetSubtype="0" fill="hold" grpId="0" nodeType="afterEffect">
                                  <p:stCondLst>
                                    <p:cond delay="0"/>
                                  </p:stCondLst>
                                  <p:childTnLst>
                                    <p:set>
                                      <p:cBhvr>
                                        <p:cTn id="320" dur="75">
                                          <p:stCondLst>
                                            <p:cond delay="0"/>
                                          </p:stCondLst>
                                        </p:cTn>
                                        <p:tgtEl>
                                          <p:spTgt spid="1212529"/>
                                        </p:tgtEl>
                                        <p:attrNameLst>
                                          <p:attrName>style.visibility</p:attrName>
                                        </p:attrNameLst>
                                      </p:cBhvr>
                                      <p:to>
                                        <p:strVal val="visible"/>
                                      </p:to>
                                    </p:set>
                                  </p:childTnLst>
                                </p:cTn>
                              </p:par>
                            </p:childTnLst>
                          </p:cTn>
                        </p:par>
                        <p:par>
                          <p:cTn id="321" fill="hold">
                            <p:stCondLst>
                              <p:cond delay="10000"/>
                            </p:stCondLst>
                            <p:childTnLst>
                              <p:par>
                                <p:cTn id="322" presetID="11" presetClass="entr" presetSubtype="0" fill="hold" grpId="0" nodeType="afterEffect">
                                  <p:stCondLst>
                                    <p:cond delay="0"/>
                                  </p:stCondLst>
                                  <p:childTnLst>
                                    <p:set>
                                      <p:cBhvr>
                                        <p:cTn id="323" dur="75">
                                          <p:stCondLst>
                                            <p:cond delay="0"/>
                                          </p:stCondLst>
                                        </p:cTn>
                                        <p:tgtEl>
                                          <p:spTgt spid="1212530"/>
                                        </p:tgtEl>
                                        <p:attrNameLst>
                                          <p:attrName>style.visibility</p:attrName>
                                        </p:attrNameLst>
                                      </p:cBhvr>
                                      <p:to>
                                        <p:strVal val="visible"/>
                                      </p:to>
                                    </p:set>
                                  </p:childTnLst>
                                </p:cTn>
                              </p:par>
                            </p:childTnLst>
                          </p:cTn>
                        </p:par>
                        <p:par>
                          <p:cTn id="324" fill="hold">
                            <p:stCondLst>
                              <p:cond delay="10500"/>
                            </p:stCondLst>
                            <p:childTnLst>
                              <p:par>
                                <p:cTn id="325" presetID="11" presetClass="entr" presetSubtype="0" fill="hold" grpId="0" nodeType="afterEffect">
                                  <p:stCondLst>
                                    <p:cond delay="0"/>
                                  </p:stCondLst>
                                  <p:childTnLst>
                                    <p:set>
                                      <p:cBhvr>
                                        <p:cTn id="326" dur="75">
                                          <p:stCondLst>
                                            <p:cond delay="0"/>
                                          </p:stCondLst>
                                        </p:cTn>
                                        <p:tgtEl>
                                          <p:spTgt spid="1212531"/>
                                        </p:tgtEl>
                                        <p:attrNameLst>
                                          <p:attrName>style.visibility</p:attrName>
                                        </p:attrNameLst>
                                      </p:cBhvr>
                                      <p:to>
                                        <p:strVal val="visible"/>
                                      </p:to>
                                    </p:set>
                                  </p:childTnLst>
                                </p:cTn>
                              </p:par>
                            </p:childTnLst>
                          </p:cTn>
                        </p:par>
                        <p:par>
                          <p:cTn id="327" fill="hold">
                            <p:stCondLst>
                              <p:cond delay="11000"/>
                            </p:stCondLst>
                            <p:childTnLst>
                              <p:par>
                                <p:cTn id="328" presetID="11" presetClass="entr" presetSubtype="0" fill="hold" grpId="0" nodeType="afterEffect">
                                  <p:stCondLst>
                                    <p:cond delay="0"/>
                                  </p:stCondLst>
                                  <p:childTnLst>
                                    <p:set>
                                      <p:cBhvr>
                                        <p:cTn id="329" dur="75">
                                          <p:stCondLst>
                                            <p:cond delay="0"/>
                                          </p:stCondLst>
                                        </p:cTn>
                                        <p:tgtEl>
                                          <p:spTgt spid="1212532"/>
                                        </p:tgtEl>
                                        <p:attrNameLst>
                                          <p:attrName>style.visibility</p:attrName>
                                        </p:attrNameLst>
                                      </p:cBhvr>
                                      <p:to>
                                        <p:strVal val="visible"/>
                                      </p:to>
                                    </p:set>
                                  </p:childTnLst>
                                </p:cTn>
                              </p:par>
                            </p:childTnLst>
                          </p:cTn>
                        </p:par>
                        <p:par>
                          <p:cTn id="330" fill="hold">
                            <p:stCondLst>
                              <p:cond delay="11500"/>
                            </p:stCondLst>
                            <p:childTnLst>
                              <p:par>
                                <p:cTn id="331" presetID="11" presetClass="entr" presetSubtype="0" fill="hold" grpId="0" nodeType="afterEffect">
                                  <p:stCondLst>
                                    <p:cond delay="0"/>
                                  </p:stCondLst>
                                  <p:childTnLst>
                                    <p:set>
                                      <p:cBhvr>
                                        <p:cTn id="332" dur="75">
                                          <p:stCondLst>
                                            <p:cond delay="0"/>
                                          </p:stCondLst>
                                        </p:cTn>
                                        <p:tgtEl>
                                          <p:spTgt spid="1212533"/>
                                        </p:tgtEl>
                                        <p:attrNameLst>
                                          <p:attrName>style.visibility</p:attrName>
                                        </p:attrNameLst>
                                      </p:cBhvr>
                                      <p:to>
                                        <p:strVal val="visible"/>
                                      </p:to>
                                    </p:set>
                                  </p:childTnLst>
                                </p:cTn>
                              </p:par>
                            </p:childTnLst>
                          </p:cTn>
                        </p:par>
                        <p:par>
                          <p:cTn id="333" fill="hold">
                            <p:stCondLst>
                              <p:cond delay="12000"/>
                            </p:stCondLst>
                            <p:childTnLst>
                              <p:par>
                                <p:cTn id="334" presetID="11" presetClass="entr" presetSubtype="0" fill="hold" grpId="0" nodeType="afterEffect">
                                  <p:stCondLst>
                                    <p:cond delay="0"/>
                                  </p:stCondLst>
                                  <p:childTnLst>
                                    <p:set>
                                      <p:cBhvr>
                                        <p:cTn id="335" dur="75">
                                          <p:stCondLst>
                                            <p:cond delay="0"/>
                                          </p:stCondLst>
                                        </p:cTn>
                                        <p:tgtEl>
                                          <p:spTgt spid="1212534"/>
                                        </p:tgtEl>
                                        <p:attrNameLst>
                                          <p:attrName>style.visibility</p:attrName>
                                        </p:attrNameLst>
                                      </p:cBhvr>
                                      <p:to>
                                        <p:strVal val="visible"/>
                                      </p:to>
                                    </p:set>
                                  </p:childTnLst>
                                </p:cTn>
                              </p:par>
                            </p:childTnLst>
                          </p:cTn>
                        </p:par>
                        <p:par>
                          <p:cTn id="336" fill="hold">
                            <p:stCondLst>
                              <p:cond delay="12500"/>
                            </p:stCondLst>
                            <p:childTnLst>
                              <p:par>
                                <p:cTn id="337" presetID="11" presetClass="entr" presetSubtype="0" fill="hold" grpId="0" nodeType="afterEffect">
                                  <p:stCondLst>
                                    <p:cond delay="0"/>
                                  </p:stCondLst>
                                  <p:childTnLst>
                                    <p:set>
                                      <p:cBhvr>
                                        <p:cTn id="338" dur="75">
                                          <p:stCondLst>
                                            <p:cond delay="0"/>
                                          </p:stCondLst>
                                        </p:cTn>
                                        <p:tgtEl>
                                          <p:spTgt spid="12125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2423" grpId="0" bldLvl="0" animBg="1"/>
      <p:bldP spid="1212424" grpId="0" bldLvl="0" animBg="1"/>
      <p:bldP spid="1212425" grpId="0" bldLvl="0" animBg="1"/>
      <p:bldP spid="1212426" grpId="0" bldLvl="0" animBg="1"/>
      <p:bldP spid="1212427" grpId="0" bldLvl="0" animBg="1"/>
      <p:bldP spid="1212428" grpId="0" bldLvl="0" animBg="1"/>
      <p:bldP spid="1212429" grpId="0" bldLvl="0" animBg="1" autoUpdateAnimBg="0"/>
      <p:bldP spid="1212430" grpId="0" bldLvl="0" animBg="1"/>
      <p:bldP spid="1212431" grpId="0" bldLvl="0" animBg="1"/>
      <p:bldP spid="1212432" grpId="0" bldLvl="0" animBg="1"/>
      <p:bldP spid="1212433" grpId="0" bldLvl="0" animBg="1" autoUpdateAnimBg="0"/>
      <p:bldP spid="1212435" grpId="0" bldLvl="0" animBg="1" autoUpdateAnimBg="0"/>
      <p:bldP spid="1212436" grpId="0" bldLvl="0" animBg="1"/>
      <p:bldP spid="1212437" grpId="0" bldLvl="0" animBg="1"/>
      <p:bldP spid="1212438" grpId="0" bldLvl="0" animBg="1"/>
      <p:bldP spid="1212439" grpId="0" bldLvl="0" animBg="1"/>
      <p:bldP spid="1212440" grpId="0" bldLvl="0" animBg="1" autoUpdateAnimBg="0"/>
      <p:bldP spid="1212441" grpId="0" bldLvl="0" animBg="1" autoUpdateAnimBg="0"/>
      <p:bldP spid="1212458" grpId="0" bldLvl="0" animBg="1"/>
      <p:bldP spid="1212459" grpId="0" bldLvl="0" animBg="1"/>
      <p:bldP spid="1212460" grpId="0" bldLvl="0" animBg="1"/>
      <p:bldP spid="1212461" grpId="0" bldLvl="0" animBg="1"/>
      <p:bldP spid="1212462" grpId="0" bldLvl="0" animBg="1"/>
      <p:bldP spid="1212463" grpId="0" bldLvl="0" animBg="1"/>
      <p:bldP spid="1212464" grpId="0" bldLvl="0" animBg="1"/>
      <p:bldP spid="1212465" grpId="0" bldLvl="0" animBg="1"/>
      <p:bldP spid="1212466" grpId="0" bldLvl="0" animBg="1"/>
      <p:bldP spid="1212467" grpId="0" bldLvl="0" animBg="1"/>
      <p:bldP spid="1212468" grpId="0" bldLvl="0" animBg="1"/>
      <p:bldP spid="1212469" grpId="0" bldLvl="0" animBg="1"/>
      <p:bldP spid="1212470" grpId="0" bldLvl="0" animBg="1"/>
      <p:bldP spid="1212471" grpId="0" bldLvl="0" animBg="1"/>
      <p:bldP spid="1212472" grpId="0" bldLvl="0" animBg="1"/>
      <p:bldP spid="1212473" grpId="0" bldLvl="0" animBg="1"/>
      <p:bldP spid="1212474" grpId="0" bldLvl="0" animBg="1"/>
      <p:bldP spid="1212475" grpId="0" bldLvl="0" animBg="1"/>
      <p:bldP spid="1212476" grpId="0" bldLvl="0" animBg="1"/>
      <p:bldP spid="1212477" grpId="0" bldLvl="0" animBg="1"/>
      <p:bldP spid="1212478" grpId="0" bldLvl="0" animBg="1"/>
      <p:bldP spid="1212479" grpId="0" bldLvl="0" animBg="1"/>
      <p:bldP spid="1212480" grpId="0" bldLvl="0" animBg="1"/>
      <p:bldP spid="1212481" grpId="0" bldLvl="0" animBg="1"/>
      <p:bldP spid="1212482" grpId="0" bldLvl="0" animBg="1"/>
      <p:bldP spid="1212483" grpId="0" bldLvl="0" animBg="1"/>
      <p:bldP spid="1212484" grpId="0" bldLvl="0" animBg="1"/>
      <p:bldP spid="1212485" grpId="0" bldLvl="0" animBg="1"/>
      <p:bldP spid="1212486" grpId="0" bldLvl="0" animBg="1"/>
      <p:bldP spid="1212487" grpId="0" bldLvl="0" animBg="1"/>
      <p:bldP spid="1212488" grpId="0" bldLvl="0" animBg="1"/>
      <p:bldP spid="1212489" grpId="0" bldLvl="0" animBg="1"/>
      <p:bldP spid="1212490" grpId="0" bldLvl="0" animBg="1"/>
      <p:bldP spid="1212491" grpId="0" bldLvl="0" animBg="1"/>
      <p:bldP spid="1212492" grpId="0" bldLvl="0" animBg="1"/>
      <p:bldP spid="1212493" grpId="0" bldLvl="0" animBg="1"/>
      <p:bldP spid="1212494" grpId="0" bldLvl="0" animBg="1"/>
      <p:bldP spid="1212495" grpId="0" bldLvl="0" animBg="1"/>
      <p:bldP spid="1212496" grpId="0" bldLvl="0" animBg="1"/>
      <p:bldP spid="1212497" grpId="0" bldLvl="0" animBg="1"/>
      <p:bldP spid="1212498" grpId="0" bldLvl="0" animBg="1"/>
      <p:bldP spid="1212499" grpId="0" bldLvl="0" animBg="1"/>
      <p:bldP spid="1212500" grpId="0" bldLvl="0" animBg="1"/>
      <p:bldP spid="1212501" grpId="0" bldLvl="0" animBg="1"/>
      <p:bldP spid="1212502" grpId="0" bldLvl="0" animBg="1"/>
      <p:bldP spid="1212503" grpId="0" bldLvl="0" animBg="1"/>
      <p:bldP spid="1212504" grpId="0" bldLvl="0" animBg="1"/>
      <p:bldP spid="1212505" grpId="0" bldLvl="0" animBg="1"/>
      <p:bldP spid="1212506" grpId="0" bldLvl="0" animBg="1"/>
      <p:bldP spid="1212507" grpId="0" bldLvl="0" animBg="1"/>
      <p:bldP spid="1212508" grpId="0" bldLvl="0" animBg="1"/>
      <p:bldP spid="1212509" grpId="0" bldLvl="0" animBg="1"/>
      <p:bldP spid="1212510" grpId="0" bldLvl="0" animBg="1" autoUpdateAnimBg="0"/>
      <p:bldP spid="1212512" grpId="0" bldLvl="0" animBg="1"/>
      <p:bldP spid="1212513" grpId="0" bldLvl="0" animBg="1"/>
      <p:bldP spid="1212514" grpId="0" bldLvl="0" animBg="1"/>
      <p:bldP spid="1212515" grpId="0" bldLvl="0" animBg="1"/>
      <p:bldP spid="1212516" grpId="0" bldLvl="0" animBg="1"/>
      <p:bldP spid="1212517" grpId="0" bldLvl="0" animBg="1"/>
      <p:bldP spid="1212518" grpId="0" bldLvl="0" animBg="1"/>
      <p:bldP spid="1212519" grpId="0" bldLvl="0" animBg="1"/>
      <p:bldP spid="1212520" grpId="0" bldLvl="0" animBg="1"/>
      <p:bldP spid="1212521" grpId="0" bldLvl="0" animBg="1"/>
      <p:bldP spid="1212522" grpId="0" bldLvl="0" animBg="1"/>
      <p:bldP spid="1212523" grpId="0" bldLvl="0" animBg="1"/>
      <p:bldP spid="1212524" grpId="0" bldLvl="0" animBg="1"/>
      <p:bldP spid="1212525" grpId="0" bldLvl="0" animBg="1"/>
      <p:bldP spid="1212526" grpId="0" bldLvl="0" animBg="1"/>
      <p:bldP spid="1212527" grpId="0" bldLvl="0" animBg="1"/>
      <p:bldP spid="1212528" grpId="0" bldLvl="0" animBg="1"/>
      <p:bldP spid="1212529" grpId="0" bldLvl="0" animBg="1"/>
      <p:bldP spid="1212530" grpId="0" bldLvl="0" animBg="1"/>
      <p:bldP spid="1212531" grpId="0" bldLvl="0" animBg="1"/>
      <p:bldP spid="1212532" grpId="0" bldLvl="0" animBg="1"/>
      <p:bldP spid="1212533" grpId="0" bldLvl="0" animBg="1"/>
      <p:bldP spid="1212534" grpId="0" bldLvl="0" animBg="1"/>
      <p:bldP spid="1212535" grpId="0" bldLvl="0" animBg="1"/>
      <p:bldP spid="2"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1785" y="238370"/>
            <a:ext cx="11078308" cy="360680"/>
          </a:xfrm>
          <a:prstGeom prst="rect">
            <a:avLst/>
          </a:prstGeom>
        </p:spPr>
        <p:txBody>
          <a:bodyPr>
            <a:spAutoFit/>
          </a:bodyPr>
          <a:lstStyle/>
          <a:p>
            <a:pPr eaLnBrk="1" hangingPunct="1">
              <a:lnSpc>
                <a:spcPts val="2100"/>
              </a:lnSpc>
              <a:defRPr/>
            </a:pPr>
            <a:r>
              <a:rPr lang="zh-CN" altLang="zh-CN" sz="2955" b="1" dirty="0">
                <a:solidFill>
                  <a:srgbClr val="FF0000"/>
                </a:solidFill>
                <a:latin typeface="+mj-lt"/>
                <a:ea typeface="+mj-ea"/>
                <a:cs typeface="+mj-cs"/>
              </a:rPr>
              <a:t>关键信息基础设施保护</a:t>
            </a:r>
            <a:r>
              <a:rPr lang="zh-CN" altLang="zh-CN" sz="2460" b="1" dirty="0">
                <a:solidFill>
                  <a:srgbClr val="0000FF"/>
                </a:solidFill>
                <a:latin typeface="+mj-lt"/>
                <a:ea typeface="+mj-ea"/>
                <a:cs typeface="+mj-cs"/>
              </a:rPr>
              <a:t>（</a:t>
            </a:r>
            <a:r>
              <a:rPr lang="en-US" altLang="zh-CN" sz="2460" b="1" dirty="0">
                <a:solidFill>
                  <a:srgbClr val="0000FF"/>
                </a:solidFill>
                <a:latin typeface="+mj-lt"/>
                <a:ea typeface="+mj-ea"/>
                <a:cs typeface="+mj-cs"/>
              </a:rPr>
              <a:t>CIIP</a:t>
            </a:r>
            <a:r>
              <a:rPr lang="zh-CN" altLang="zh-CN" sz="2460" b="1" dirty="0">
                <a:solidFill>
                  <a:srgbClr val="0000FF"/>
                </a:solidFill>
                <a:latin typeface="+mj-lt"/>
                <a:ea typeface="+mj-ea"/>
                <a:cs typeface="+mj-cs"/>
              </a:rPr>
              <a:t>）</a:t>
            </a:r>
            <a:endParaRPr lang="zh-CN" altLang="en-US" sz="2460" b="1" dirty="0">
              <a:solidFill>
                <a:srgbClr val="0000FF"/>
              </a:solidFill>
              <a:latin typeface="+mj-lt"/>
              <a:ea typeface="+mj-ea"/>
              <a:cs typeface="+mj-cs"/>
            </a:endParaRPr>
          </a:p>
        </p:txBody>
      </p:sp>
      <p:sp>
        <p:nvSpPr>
          <p:cNvPr id="2" name="矩形 1"/>
          <p:cNvSpPr/>
          <p:nvPr/>
        </p:nvSpPr>
        <p:spPr>
          <a:xfrm>
            <a:off x="1398954" y="713154"/>
            <a:ext cx="10103339" cy="1226185"/>
          </a:xfrm>
          <a:prstGeom prst="rect">
            <a:avLst/>
          </a:prstGeom>
        </p:spPr>
        <p:txBody>
          <a:bodyPr>
            <a:spAutoFit/>
          </a:bodyPr>
          <a:lstStyle/>
          <a:p>
            <a:pPr>
              <a:defRPr/>
            </a:pPr>
            <a:r>
              <a:rPr lang="zh-CN" altLang="zh-CN" sz="2460" b="1" dirty="0">
                <a:solidFill>
                  <a:srgbClr val="0000FF"/>
                </a:solidFill>
                <a:latin typeface="+mn-ea"/>
                <a:ea typeface="+mn-ea"/>
              </a:rPr>
              <a:t>——关注于保护关键基础设施供应商提供或运营的系统，例如能源、电信和水利部门等。</a:t>
            </a:r>
            <a:r>
              <a:rPr lang="en-US" altLang="zh-CN" sz="2460" b="1" dirty="0">
                <a:solidFill>
                  <a:srgbClr val="0000FF"/>
                </a:solidFill>
                <a:latin typeface="+mn-ea"/>
                <a:ea typeface="+mn-ea"/>
              </a:rPr>
              <a:t>CIIP</a:t>
            </a:r>
            <a:r>
              <a:rPr lang="zh-CN" altLang="zh-CN" sz="2460" b="1" dirty="0">
                <a:solidFill>
                  <a:srgbClr val="0000FF"/>
                </a:solidFill>
                <a:latin typeface="+mn-ea"/>
                <a:ea typeface="+mn-ea"/>
              </a:rPr>
              <a:t>确保这些系统和网络得到保护</a:t>
            </a:r>
            <a:r>
              <a:rPr lang="zh-CN" altLang="en-US" sz="2460" b="1" dirty="0">
                <a:solidFill>
                  <a:srgbClr val="0000FF"/>
                </a:solidFill>
                <a:latin typeface="+mn-ea"/>
                <a:ea typeface="+mn-ea"/>
              </a:rPr>
              <a:t>，</a:t>
            </a:r>
            <a:r>
              <a:rPr lang="zh-CN" altLang="zh-CN" sz="2460" b="1" dirty="0">
                <a:solidFill>
                  <a:srgbClr val="0000FF"/>
                </a:solidFill>
                <a:latin typeface="+mn-ea"/>
                <a:ea typeface="+mn-ea"/>
              </a:rPr>
              <a:t>并有效地应对信息安全风险、网络安全风险、因特网安全风险以及网络空间安全</a:t>
            </a:r>
            <a:r>
              <a:rPr lang="zh-CN" altLang="en-US" sz="2460" b="1" dirty="0">
                <a:solidFill>
                  <a:srgbClr val="0000FF"/>
                </a:solidFill>
                <a:latin typeface="+mn-ea"/>
                <a:ea typeface="+mn-ea"/>
              </a:rPr>
              <a:t>风险。</a:t>
            </a:r>
            <a:endParaRPr lang="zh-CN" altLang="en-US" sz="2460" b="1" dirty="0">
              <a:solidFill>
                <a:srgbClr val="0000FF"/>
              </a:solidFill>
              <a:latin typeface="+mn-ea"/>
              <a:ea typeface="+mn-ea"/>
            </a:endParaRPr>
          </a:p>
        </p:txBody>
      </p:sp>
      <p:pic>
        <p:nvPicPr>
          <p:cNvPr id="16486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171093" y="2276231"/>
            <a:ext cx="4493846" cy="4409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90" name="组合 3"/>
          <p:cNvGrpSpPr/>
          <p:nvPr/>
        </p:nvGrpSpPr>
        <p:grpSpPr bwMode="auto">
          <a:xfrm>
            <a:off x="87924" y="150446"/>
            <a:ext cx="12033738" cy="6709508"/>
            <a:chOff x="-6404" y="1052423"/>
            <a:chExt cx="9150785" cy="4948518"/>
          </a:xfrm>
        </p:grpSpPr>
        <p:sp>
          <p:nvSpPr>
            <p:cNvPr id="165891" name="object 2"/>
            <p:cNvSpPr/>
            <p:nvPr/>
          </p:nvSpPr>
          <p:spPr bwMode="auto">
            <a:xfrm>
              <a:off x="-6404" y="1052423"/>
              <a:ext cx="9150593" cy="930593"/>
            </a:xfrm>
            <a:custGeom>
              <a:avLst/>
              <a:gdLst>
                <a:gd name="T0" fmla="*/ 0 w 12192000"/>
                <a:gd name="T1" fmla="*/ 124195 h 1240790"/>
                <a:gd name="T2" fmla="*/ 1227635 w 12192000"/>
                <a:gd name="T3" fmla="*/ 124195 h 1240790"/>
                <a:gd name="T4" fmla="*/ 1227635 w 12192000"/>
                <a:gd name="T5" fmla="*/ 0 h 1240790"/>
                <a:gd name="T6" fmla="*/ 0 w 12192000"/>
                <a:gd name="T7" fmla="*/ 0 h 1240790"/>
                <a:gd name="T8" fmla="*/ 0 w 12192000"/>
                <a:gd name="T9" fmla="*/ 124195 h 12407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40790">
                  <a:moveTo>
                    <a:pt x="0" y="1240536"/>
                  </a:moveTo>
                  <a:lnTo>
                    <a:pt x="12192000" y="1240536"/>
                  </a:lnTo>
                  <a:lnTo>
                    <a:pt x="12192000" y="0"/>
                  </a:lnTo>
                  <a:lnTo>
                    <a:pt x="0" y="0"/>
                  </a:lnTo>
                  <a:lnTo>
                    <a:pt x="0" y="1240536"/>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892" name="object 3"/>
            <p:cNvSpPr/>
            <p:nvPr/>
          </p:nvSpPr>
          <p:spPr bwMode="auto">
            <a:xfrm>
              <a:off x="0" y="3178683"/>
              <a:ext cx="9144000" cy="2822258"/>
            </a:xfrm>
            <a:custGeom>
              <a:avLst/>
              <a:gdLst>
                <a:gd name="T0" fmla="*/ 0 w 12192000"/>
                <a:gd name="T1" fmla="*/ 376701 h 3763009"/>
                <a:gd name="T2" fmla="*/ 1220577 w 12192000"/>
                <a:gd name="T3" fmla="*/ 376701 h 3763009"/>
                <a:gd name="T4" fmla="*/ 1220577 w 12192000"/>
                <a:gd name="T5" fmla="*/ 0 h 3763009"/>
                <a:gd name="T6" fmla="*/ 0 w 12192000"/>
                <a:gd name="T7" fmla="*/ 0 h 3763009"/>
                <a:gd name="T8" fmla="*/ 0 w 12192000"/>
                <a:gd name="T9" fmla="*/ 376701 h 3763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763009">
                  <a:moveTo>
                    <a:pt x="0" y="3762755"/>
                  </a:moveTo>
                  <a:lnTo>
                    <a:pt x="12192000" y="3762755"/>
                  </a:lnTo>
                  <a:lnTo>
                    <a:pt x="12192000" y="0"/>
                  </a:lnTo>
                  <a:lnTo>
                    <a:pt x="0" y="0"/>
                  </a:lnTo>
                  <a:lnTo>
                    <a:pt x="0" y="3762755"/>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893" name="object 11"/>
            <p:cNvSpPr/>
            <p:nvPr/>
          </p:nvSpPr>
          <p:spPr bwMode="auto">
            <a:xfrm>
              <a:off x="1" y="5711571"/>
              <a:ext cx="729614" cy="57150"/>
            </a:xfrm>
            <a:custGeom>
              <a:avLst/>
              <a:gdLst>
                <a:gd name="T0" fmla="*/ 92206 w 972819"/>
                <a:gd name="T1" fmla="*/ 0 h 76200"/>
                <a:gd name="T2" fmla="*/ 90298 w 972819"/>
                <a:gd name="T3" fmla="*/ 249 h 76200"/>
                <a:gd name="T4" fmla="*/ 88736 w 972819"/>
                <a:gd name="T5" fmla="*/ 940 h 76200"/>
                <a:gd name="T6" fmla="*/ 87625 w 972819"/>
                <a:gd name="T7" fmla="*/ 1982 h 76200"/>
                <a:gd name="T8" fmla="*/ 87071 w 972819"/>
                <a:gd name="T9" fmla="*/ 3287 h 76200"/>
                <a:gd name="T10" fmla="*/ 0 w 972819"/>
                <a:gd name="T11" fmla="*/ 3287 h 76200"/>
                <a:gd name="T12" fmla="*/ 0 w 972819"/>
                <a:gd name="T13" fmla="*/ 4342 h 76200"/>
                <a:gd name="T14" fmla="*/ 87071 w 972819"/>
                <a:gd name="T15" fmla="*/ 4342 h 76200"/>
                <a:gd name="T16" fmla="*/ 87625 w 972819"/>
                <a:gd name="T17" fmla="*/ 5648 h 76200"/>
                <a:gd name="T18" fmla="*/ 88738 w 972819"/>
                <a:gd name="T19" fmla="*/ 6691 h 76200"/>
                <a:gd name="T20" fmla="*/ 90298 w 972819"/>
                <a:gd name="T21" fmla="*/ 7379 h 76200"/>
                <a:gd name="T22" fmla="*/ 92206 w 972819"/>
                <a:gd name="T23" fmla="*/ 7629 h 76200"/>
                <a:gd name="T24" fmla="*/ 94226 w 972819"/>
                <a:gd name="T25" fmla="*/ 7323 h 76200"/>
                <a:gd name="T26" fmla="*/ 95477 w 972819"/>
                <a:gd name="T27" fmla="*/ 6691 h 76200"/>
                <a:gd name="T28" fmla="*/ 92200 w 972819"/>
                <a:gd name="T29" fmla="*/ 6690 h 76200"/>
                <a:gd name="T30" fmla="*/ 90724 w 972819"/>
                <a:gd name="T31" fmla="*/ 6465 h 76200"/>
                <a:gd name="T32" fmla="*/ 89497 w 972819"/>
                <a:gd name="T33" fmla="*/ 5854 h 76200"/>
                <a:gd name="T34" fmla="*/ 88662 w 972819"/>
                <a:gd name="T35" fmla="*/ 4958 h 76200"/>
                <a:gd name="T36" fmla="*/ 88354 w 972819"/>
                <a:gd name="T37" fmla="*/ 3873 h 76200"/>
                <a:gd name="T38" fmla="*/ 88662 w 972819"/>
                <a:gd name="T39" fmla="*/ 2722 h 76200"/>
                <a:gd name="T40" fmla="*/ 89497 w 972819"/>
                <a:gd name="T41" fmla="*/ 1790 h 76200"/>
                <a:gd name="T42" fmla="*/ 90724 w 972819"/>
                <a:gd name="T43" fmla="*/ 1166 h 76200"/>
                <a:gd name="T44" fmla="*/ 92206 w 972819"/>
                <a:gd name="T45" fmla="*/ 939 h 76200"/>
                <a:gd name="T46" fmla="*/ 95455 w 972819"/>
                <a:gd name="T47" fmla="*/ 939 h 76200"/>
                <a:gd name="T48" fmla="*/ 94226 w 972819"/>
                <a:gd name="T49" fmla="*/ 308 h 76200"/>
                <a:gd name="T50" fmla="*/ 92206 w 972819"/>
                <a:gd name="T51" fmla="*/ 0 h 76200"/>
                <a:gd name="T52" fmla="*/ 95455 w 972819"/>
                <a:gd name="T53" fmla="*/ 939 h 76200"/>
                <a:gd name="T54" fmla="*/ 92206 w 972819"/>
                <a:gd name="T55" fmla="*/ 939 h 76200"/>
                <a:gd name="T56" fmla="*/ 93687 w 972819"/>
                <a:gd name="T57" fmla="*/ 1166 h 76200"/>
                <a:gd name="T58" fmla="*/ 94913 w 972819"/>
                <a:gd name="T59" fmla="*/ 1790 h 76200"/>
                <a:gd name="T60" fmla="*/ 95748 w 972819"/>
                <a:gd name="T61" fmla="*/ 2722 h 76200"/>
                <a:gd name="T62" fmla="*/ 96056 w 972819"/>
                <a:gd name="T63" fmla="*/ 3873 h 76200"/>
                <a:gd name="T64" fmla="*/ 95748 w 972819"/>
                <a:gd name="T65" fmla="*/ 4958 h 76200"/>
                <a:gd name="T66" fmla="*/ 94913 w 972819"/>
                <a:gd name="T67" fmla="*/ 5854 h 76200"/>
                <a:gd name="T68" fmla="*/ 93687 w 972819"/>
                <a:gd name="T69" fmla="*/ 6465 h 76200"/>
                <a:gd name="T70" fmla="*/ 92206 w 972819"/>
                <a:gd name="T71" fmla="*/ 6691 h 76200"/>
                <a:gd name="T72" fmla="*/ 95479 w 972819"/>
                <a:gd name="T73" fmla="*/ 6690 h 76200"/>
                <a:gd name="T74" fmla="*/ 95856 w 972819"/>
                <a:gd name="T75" fmla="*/ 6500 h 76200"/>
                <a:gd name="T76" fmla="*/ 96944 w 972819"/>
                <a:gd name="T77" fmla="*/ 5302 h 76200"/>
                <a:gd name="T78" fmla="*/ 97340 w 972819"/>
                <a:gd name="T79" fmla="*/ 3873 h 76200"/>
                <a:gd name="T80" fmla="*/ 96944 w 972819"/>
                <a:gd name="T81" fmla="*/ 2378 h 76200"/>
                <a:gd name="T82" fmla="*/ 95856 w 972819"/>
                <a:gd name="T83" fmla="*/ 1145 h 76200"/>
                <a:gd name="T84" fmla="*/ 95455 w 972819"/>
                <a:gd name="T85" fmla="*/ 939 h 7620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72819" h="76200">
                  <a:moveTo>
                    <a:pt x="921016" y="0"/>
                  </a:moveTo>
                  <a:lnTo>
                    <a:pt x="901961" y="2491"/>
                  </a:lnTo>
                  <a:lnTo>
                    <a:pt x="886359" y="9380"/>
                  </a:lnTo>
                  <a:lnTo>
                    <a:pt x="875266" y="19786"/>
                  </a:lnTo>
                  <a:lnTo>
                    <a:pt x="869734" y="32829"/>
                  </a:lnTo>
                  <a:lnTo>
                    <a:pt x="0" y="32829"/>
                  </a:lnTo>
                  <a:lnTo>
                    <a:pt x="0" y="43370"/>
                  </a:lnTo>
                  <a:lnTo>
                    <a:pt x="869734" y="43370"/>
                  </a:lnTo>
                  <a:lnTo>
                    <a:pt x="875266" y="56413"/>
                  </a:lnTo>
                  <a:lnTo>
                    <a:pt x="886377" y="66827"/>
                  </a:lnTo>
                  <a:lnTo>
                    <a:pt x="901961" y="73708"/>
                  </a:lnTo>
                  <a:lnTo>
                    <a:pt x="921016" y="76200"/>
                  </a:lnTo>
                  <a:lnTo>
                    <a:pt x="941204" y="73140"/>
                  </a:lnTo>
                  <a:lnTo>
                    <a:pt x="953698" y="66827"/>
                  </a:lnTo>
                  <a:lnTo>
                    <a:pt x="920964" y="66819"/>
                  </a:lnTo>
                  <a:lnTo>
                    <a:pt x="906219" y="64573"/>
                  </a:lnTo>
                  <a:lnTo>
                    <a:pt x="893972" y="58470"/>
                  </a:lnTo>
                  <a:lnTo>
                    <a:pt x="885630" y="49510"/>
                  </a:lnTo>
                  <a:lnTo>
                    <a:pt x="882548" y="38684"/>
                  </a:lnTo>
                  <a:lnTo>
                    <a:pt x="885630" y="27181"/>
                  </a:lnTo>
                  <a:lnTo>
                    <a:pt x="893972" y="17875"/>
                  </a:lnTo>
                  <a:lnTo>
                    <a:pt x="906219" y="11645"/>
                  </a:lnTo>
                  <a:lnTo>
                    <a:pt x="921016" y="9372"/>
                  </a:lnTo>
                  <a:lnTo>
                    <a:pt x="953472" y="9372"/>
                  </a:lnTo>
                  <a:lnTo>
                    <a:pt x="941204" y="3077"/>
                  </a:lnTo>
                  <a:lnTo>
                    <a:pt x="921016" y="0"/>
                  </a:lnTo>
                  <a:close/>
                </a:path>
                <a:path w="972819" h="76200">
                  <a:moveTo>
                    <a:pt x="953472" y="9372"/>
                  </a:moveTo>
                  <a:lnTo>
                    <a:pt x="921016" y="9372"/>
                  </a:lnTo>
                  <a:lnTo>
                    <a:pt x="935819" y="11645"/>
                  </a:lnTo>
                  <a:lnTo>
                    <a:pt x="948066" y="17875"/>
                  </a:lnTo>
                  <a:lnTo>
                    <a:pt x="956405" y="27181"/>
                  </a:lnTo>
                  <a:lnTo>
                    <a:pt x="959485" y="38684"/>
                  </a:lnTo>
                  <a:lnTo>
                    <a:pt x="956405" y="49510"/>
                  </a:lnTo>
                  <a:lnTo>
                    <a:pt x="948066" y="58470"/>
                  </a:lnTo>
                  <a:lnTo>
                    <a:pt x="935819" y="64573"/>
                  </a:lnTo>
                  <a:lnTo>
                    <a:pt x="921016" y="66827"/>
                  </a:lnTo>
                  <a:lnTo>
                    <a:pt x="953714" y="66819"/>
                  </a:lnTo>
                  <a:lnTo>
                    <a:pt x="957484" y="64914"/>
                  </a:lnTo>
                  <a:lnTo>
                    <a:pt x="968354" y="52952"/>
                  </a:lnTo>
                  <a:lnTo>
                    <a:pt x="972312" y="38684"/>
                  </a:lnTo>
                  <a:lnTo>
                    <a:pt x="968354" y="23740"/>
                  </a:lnTo>
                  <a:lnTo>
                    <a:pt x="957484" y="11431"/>
                  </a:lnTo>
                  <a:lnTo>
                    <a:pt x="953472" y="937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894" name="object 12"/>
            <p:cNvSpPr/>
            <p:nvPr/>
          </p:nvSpPr>
          <p:spPr bwMode="auto">
            <a:xfrm>
              <a:off x="1" y="5711571"/>
              <a:ext cx="729614" cy="57150"/>
            </a:xfrm>
            <a:custGeom>
              <a:avLst/>
              <a:gdLst>
                <a:gd name="T0" fmla="*/ 0 w 972819"/>
                <a:gd name="T1" fmla="*/ 4342 h 76200"/>
                <a:gd name="T2" fmla="*/ 56703 w 972819"/>
                <a:gd name="T3" fmla="*/ 4342 h 76200"/>
                <a:gd name="T4" fmla="*/ 83275 w 972819"/>
                <a:gd name="T5" fmla="*/ 4342 h 76200"/>
                <a:gd name="T6" fmla="*/ 87071 w 972819"/>
                <a:gd name="T7" fmla="*/ 4342 h 76200"/>
                <a:gd name="T8" fmla="*/ 87625 w 972819"/>
                <a:gd name="T9" fmla="*/ 5648 h 76200"/>
                <a:gd name="T10" fmla="*/ 88736 w 972819"/>
                <a:gd name="T11" fmla="*/ 6690 h 76200"/>
                <a:gd name="T12" fmla="*/ 90298 w 972819"/>
                <a:gd name="T13" fmla="*/ 7379 h 76200"/>
                <a:gd name="T14" fmla="*/ 92206 w 972819"/>
                <a:gd name="T15" fmla="*/ 7629 h 76200"/>
                <a:gd name="T16" fmla="*/ 94226 w 972819"/>
                <a:gd name="T17" fmla="*/ 7323 h 76200"/>
                <a:gd name="T18" fmla="*/ 95856 w 972819"/>
                <a:gd name="T19" fmla="*/ 6500 h 76200"/>
                <a:gd name="T20" fmla="*/ 96944 w 972819"/>
                <a:gd name="T21" fmla="*/ 5302 h 76200"/>
                <a:gd name="T22" fmla="*/ 97340 w 972819"/>
                <a:gd name="T23" fmla="*/ 3873 h 76200"/>
                <a:gd name="T24" fmla="*/ 96944 w 972819"/>
                <a:gd name="T25" fmla="*/ 2378 h 76200"/>
                <a:gd name="T26" fmla="*/ 95856 w 972819"/>
                <a:gd name="T27" fmla="*/ 1145 h 76200"/>
                <a:gd name="T28" fmla="*/ 94226 w 972819"/>
                <a:gd name="T29" fmla="*/ 308 h 76200"/>
                <a:gd name="T30" fmla="*/ 92206 w 972819"/>
                <a:gd name="T31" fmla="*/ 0 h 76200"/>
                <a:gd name="T32" fmla="*/ 90298 w 972819"/>
                <a:gd name="T33" fmla="*/ 249 h 76200"/>
                <a:gd name="T34" fmla="*/ 88736 w 972819"/>
                <a:gd name="T35" fmla="*/ 940 h 76200"/>
                <a:gd name="T36" fmla="*/ 87625 w 972819"/>
                <a:gd name="T37" fmla="*/ 1982 h 76200"/>
                <a:gd name="T38" fmla="*/ 87071 w 972819"/>
                <a:gd name="T39" fmla="*/ 3287 h 76200"/>
                <a:gd name="T40" fmla="*/ 0 w 972819"/>
                <a:gd name="T41" fmla="*/ 3287 h 76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72819" h="76200">
                  <a:moveTo>
                    <a:pt x="0" y="43370"/>
                  </a:moveTo>
                  <a:lnTo>
                    <a:pt x="566389" y="43370"/>
                  </a:lnTo>
                  <a:lnTo>
                    <a:pt x="831816" y="43370"/>
                  </a:lnTo>
                  <a:lnTo>
                    <a:pt x="869734" y="43370"/>
                  </a:lnTo>
                  <a:lnTo>
                    <a:pt x="875266" y="56413"/>
                  </a:lnTo>
                  <a:lnTo>
                    <a:pt x="886359" y="66819"/>
                  </a:lnTo>
                  <a:lnTo>
                    <a:pt x="901961" y="73708"/>
                  </a:lnTo>
                  <a:lnTo>
                    <a:pt x="921016" y="76200"/>
                  </a:lnTo>
                  <a:lnTo>
                    <a:pt x="941204" y="73140"/>
                  </a:lnTo>
                  <a:lnTo>
                    <a:pt x="957484" y="64914"/>
                  </a:lnTo>
                  <a:lnTo>
                    <a:pt x="968354" y="52952"/>
                  </a:lnTo>
                  <a:lnTo>
                    <a:pt x="972312" y="38684"/>
                  </a:lnTo>
                  <a:lnTo>
                    <a:pt x="968354" y="23740"/>
                  </a:lnTo>
                  <a:lnTo>
                    <a:pt x="957484" y="11431"/>
                  </a:lnTo>
                  <a:lnTo>
                    <a:pt x="941204" y="3077"/>
                  </a:lnTo>
                  <a:lnTo>
                    <a:pt x="921016" y="0"/>
                  </a:lnTo>
                  <a:lnTo>
                    <a:pt x="901961" y="2491"/>
                  </a:lnTo>
                  <a:lnTo>
                    <a:pt x="886359" y="9380"/>
                  </a:lnTo>
                  <a:lnTo>
                    <a:pt x="875266" y="19786"/>
                  </a:lnTo>
                  <a:lnTo>
                    <a:pt x="869734" y="32829"/>
                  </a:lnTo>
                  <a:lnTo>
                    <a:pt x="0" y="32829"/>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895" name="object 13"/>
            <p:cNvSpPr/>
            <p:nvPr/>
          </p:nvSpPr>
          <p:spPr bwMode="auto">
            <a:xfrm>
              <a:off x="661911" y="5718601"/>
              <a:ext cx="58102" cy="43338"/>
            </a:xfrm>
            <a:custGeom>
              <a:avLst/>
              <a:gdLst>
                <a:gd name="T0" fmla="*/ 3851 w 77469"/>
                <a:gd name="T1" fmla="*/ 0 h 57784"/>
                <a:gd name="T2" fmla="*/ 5334 w 77469"/>
                <a:gd name="T3" fmla="*/ 227 h 57784"/>
                <a:gd name="T4" fmla="*/ 6560 w 77469"/>
                <a:gd name="T5" fmla="*/ 852 h 57784"/>
                <a:gd name="T6" fmla="*/ 7394 w 77469"/>
                <a:gd name="T7" fmla="*/ 1784 h 57784"/>
                <a:gd name="T8" fmla="*/ 7703 w 77469"/>
                <a:gd name="T9" fmla="*/ 2935 h 57784"/>
                <a:gd name="T10" fmla="*/ 7394 w 77469"/>
                <a:gd name="T11" fmla="*/ 4019 h 57784"/>
                <a:gd name="T12" fmla="*/ 6560 w 77469"/>
                <a:gd name="T13" fmla="*/ 4916 h 57784"/>
                <a:gd name="T14" fmla="*/ 5334 w 77469"/>
                <a:gd name="T15" fmla="*/ 5527 h 57784"/>
                <a:gd name="T16" fmla="*/ 3851 w 77469"/>
                <a:gd name="T17" fmla="*/ 5753 h 57784"/>
                <a:gd name="T18" fmla="*/ 2371 w 77469"/>
                <a:gd name="T19" fmla="*/ 5527 h 57784"/>
                <a:gd name="T20" fmla="*/ 1144 w 77469"/>
                <a:gd name="T21" fmla="*/ 4916 h 57784"/>
                <a:gd name="T22" fmla="*/ 308 w 77469"/>
                <a:gd name="T23" fmla="*/ 4019 h 57784"/>
                <a:gd name="T24" fmla="*/ 0 w 77469"/>
                <a:gd name="T25" fmla="*/ 2935 h 57784"/>
                <a:gd name="T26" fmla="*/ 308 w 77469"/>
                <a:gd name="T27" fmla="*/ 1784 h 57784"/>
                <a:gd name="T28" fmla="*/ 1144 w 77469"/>
                <a:gd name="T29" fmla="*/ 852 h 57784"/>
                <a:gd name="T30" fmla="*/ 2371 w 77469"/>
                <a:gd name="T31" fmla="*/ 227 h 57784"/>
                <a:gd name="T32" fmla="*/ 3851 w 77469"/>
                <a:gd name="T33" fmla="*/ 0 h 577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69" h="57784">
                  <a:moveTo>
                    <a:pt x="38468" y="0"/>
                  </a:moveTo>
                  <a:lnTo>
                    <a:pt x="53271" y="2272"/>
                  </a:lnTo>
                  <a:lnTo>
                    <a:pt x="65517" y="8502"/>
                  </a:lnTo>
                  <a:lnTo>
                    <a:pt x="73856" y="17809"/>
                  </a:lnTo>
                  <a:lnTo>
                    <a:pt x="76936" y="29311"/>
                  </a:lnTo>
                  <a:lnTo>
                    <a:pt x="73856" y="40138"/>
                  </a:lnTo>
                  <a:lnTo>
                    <a:pt x="65517" y="49098"/>
                  </a:lnTo>
                  <a:lnTo>
                    <a:pt x="53271" y="55200"/>
                  </a:lnTo>
                  <a:lnTo>
                    <a:pt x="38468" y="57454"/>
                  </a:lnTo>
                  <a:lnTo>
                    <a:pt x="23670" y="55200"/>
                  </a:lnTo>
                  <a:lnTo>
                    <a:pt x="11423" y="49098"/>
                  </a:lnTo>
                  <a:lnTo>
                    <a:pt x="3081" y="40138"/>
                  </a:lnTo>
                  <a:lnTo>
                    <a:pt x="0" y="29311"/>
                  </a:lnTo>
                  <a:lnTo>
                    <a:pt x="3081" y="17809"/>
                  </a:lnTo>
                  <a:lnTo>
                    <a:pt x="11423" y="8502"/>
                  </a:lnTo>
                  <a:lnTo>
                    <a:pt x="23670" y="2272"/>
                  </a:lnTo>
                  <a:lnTo>
                    <a:pt x="38468"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896" name="object 14"/>
            <p:cNvSpPr/>
            <p:nvPr/>
          </p:nvSpPr>
          <p:spPr bwMode="auto">
            <a:xfrm>
              <a:off x="9035414" y="5670994"/>
              <a:ext cx="61913" cy="0"/>
            </a:xfrm>
            <a:custGeom>
              <a:avLst/>
              <a:gdLst>
                <a:gd name="T0" fmla="*/ 0 w 82550"/>
                <a:gd name="T1" fmla="*/ 8239 w 82550"/>
                <a:gd name="T2" fmla="*/ 0 60000 65536"/>
                <a:gd name="T3" fmla="*/ 0 60000 65536"/>
              </a:gdLst>
              <a:ahLst/>
              <a:cxnLst>
                <a:cxn ang="T2">
                  <a:pos x="T0" y="0"/>
                </a:cxn>
                <a:cxn ang="T3">
                  <a:pos x="T1" y="0"/>
                </a:cxn>
              </a:cxnLst>
              <a:rect l="0" t="0" r="r" b="b"/>
              <a:pathLst>
                <a:path w="82550">
                  <a:moveTo>
                    <a:pt x="0" y="0"/>
                  </a:moveTo>
                  <a:lnTo>
                    <a:pt x="8229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897" name="object 15"/>
            <p:cNvSpPr/>
            <p:nvPr/>
          </p:nvSpPr>
          <p:spPr bwMode="auto">
            <a:xfrm>
              <a:off x="9031986" y="5670994"/>
              <a:ext cx="68580" cy="0"/>
            </a:xfrm>
            <a:custGeom>
              <a:avLst/>
              <a:gdLst>
                <a:gd name="T0" fmla="*/ 0 w 91440"/>
                <a:gd name="T1" fmla="*/ 9155 w 91440"/>
                <a:gd name="T2" fmla="*/ 0 60000 65536"/>
                <a:gd name="T3" fmla="*/ 0 60000 65536"/>
              </a:gdLst>
              <a:ahLst/>
              <a:cxnLst>
                <a:cxn ang="T2">
                  <a:pos x="T0" y="0"/>
                </a:cxn>
                <a:cxn ang="T3">
                  <a:pos x="T1" y="0"/>
                </a:cxn>
              </a:cxnLst>
              <a:rect l="0" t="0" r="r" b="b"/>
              <a:pathLst>
                <a:path w="91440">
                  <a:moveTo>
                    <a:pt x="0" y="0"/>
                  </a:moveTo>
                  <a:lnTo>
                    <a:pt x="9144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898" name="object 16"/>
            <p:cNvSpPr/>
            <p:nvPr/>
          </p:nvSpPr>
          <p:spPr bwMode="auto">
            <a:xfrm>
              <a:off x="8789670" y="5285803"/>
              <a:ext cx="245745" cy="0"/>
            </a:xfrm>
            <a:custGeom>
              <a:avLst/>
              <a:gdLst>
                <a:gd name="T0" fmla="*/ 0 w 327659"/>
                <a:gd name="T1" fmla="*/ 32804 w 327659"/>
                <a:gd name="T2" fmla="*/ 0 60000 65536"/>
                <a:gd name="T3" fmla="*/ 0 60000 65536"/>
              </a:gdLst>
              <a:ahLst/>
              <a:cxnLst>
                <a:cxn ang="T2">
                  <a:pos x="T0" y="0"/>
                </a:cxn>
                <a:cxn ang="T3">
                  <a:pos x="T1" y="0"/>
                </a:cxn>
              </a:cxnLst>
              <a:rect l="0" t="0" r="r" b="b"/>
              <a:pathLst>
                <a:path w="327659">
                  <a:moveTo>
                    <a:pt x="0" y="0"/>
                  </a:moveTo>
                  <a:lnTo>
                    <a:pt x="327659"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899" name="object 17"/>
            <p:cNvSpPr/>
            <p:nvPr/>
          </p:nvSpPr>
          <p:spPr bwMode="auto">
            <a:xfrm>
              <a:off x="8786242" y="5285803"/>
              <a:ext cx="252889" cy="0"/>
            </a:xfrm>
            <a:custGeom>
              <a:avLst/>
              <a:gdLst>
                <a:gd name="T0" fmla="*/ 0 w 337184"/>
                <a:gd name="T1" fmla="*/ 33719 w 337184"/>
                <a:gd name="T2" fmla="*/ 0 60000 65536"/>
                <a:gd name="T3" fmla="*/ 0 60000 65536"/>
              </a:gdLst>
              <a:ahLst/>
              <a:cxnLst>
                <a:cxn ang="T2">
                  <a:pos x="T0" y="0"/>
                </a:cxn>
                <a:cxn ang="T3">
                  <a:pos x="T1" y="0"/>
                </a:cxn>
              </a:cxnLst>
              <a:rect l="0" t="0" r="r" b="b"/>
              <a:pathLst>
                <a:path w="337184">
                  <a:moveTo>
                    <a:pt x="0" y="0"/>
                  </a:moveTo>
                  <a:lnTo>
                    <a:pt x="336803"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00" name="object 18"/>
            <p:cNvSpPr/>
            <p:nvPr/>
          </p:nvSpPr>
          <p:spPr bwMode="auto">
            <a:xfrm>
              <a:off x="8785098" y="5358383"/>
              <a:ext cx="182880" cy="0"/>
            </a:xfrm>
            <a:custGeom>
              <a:avLst/>
              <a:gdLst>
                <a:gd name="T0" fmla="*/ 0 w 243840"/>
                <a:gd name="T1" fmla="*/ 24412 w 243840"/>
                <a:gd name="T2" fmla="*/ 0 60000 65536"/>
                <a:gd name="T3" fmla="*/ 0 60000 65536"/>
              </a:gdLst>
              <a:ahLst/>
              <a:cxnLst>
                <a:cxn ang="T2">
                  <a:pos x="T0" y="0"/>
                </a:cxn>
                <a:cxn ang="T3">
                  <a:pos x="T1" y="0"/>
                </a:cxn>
              </a:cxnLst>
              <a:rect l="0" t="0" r="r" b="b"/>
              <a:pathLst>
                <a:path w="243840">
                  <a:moveTo>
                    <a:pt x="0" y="0"/>
                  </a:moveTo>
                  <a:lnTo>
                    <a:pt x="243840"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01" name="object 19"/>
            <p:cNvSpPr/>
            <p:nvPr/>
          </p:nvSpPr>
          <p:spPr bwMode="auto">
            <a:xfrm>
              <a:off x="8781670" y="5358383"/>
              <a:ext cx="190024" cy="0"/>
            </a:xfrm>
            <a:custGeom>
              <a:avLst/>
              <a:gdLst>
                <a:gd name="T0" fmla="*/ 0 w 253365"/>
                <a:gd name="T1" fmla="*/ 25328 w 253365"/>
                <a:gd name="T2" fmla="*/ 0 60000 65536"/>
                <a:gd name="T3" fmla="*/ 0 60000 65536"/>
              </a:gdLst>
              <a:ahLst/>
              <a:cxnLst>
                <a:cxn ang="T2">
                  <a:pos x="T0" y="0"/>
                </a:cxn>
                <a:cxn ang="T3">
                  <a:pos x="T1" y="0"/>
                </a:cxn>
              </a:cxnLst>
              <a:rect l="0" t="0" r="r" b="b"/>
              <a:pathLst>
                <a:path w="253365">
                  <a:moveTo>
                    <a:pt x="0" y="0"/>
                  </a:moveTo>
                  <a:lnTo>
                    <a:pt x="252984"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02" name="object 20"/>
            <p:cNvSpPr/>
            <p:nvPr/>
          </p:nvSpPr>
          <p:spPr bwMode="auto">
            <a:xfrm>
              <a:off x="8785098" y="5457254"/>
              <a:ext cx="182880" cy="0"/>
            </a:xfrm>
            <a:custGeom>
              <a:avLst/>
              <a:gdLst>
                <a:gd name="T0" fmla="*/ 0 w 243840"/>
                <a:gd name="T1" fmla="*/ 24412 w 243840"/>
                <a:gd name="T2" fmla="*/ 0 60000 65536"/>
                <a:gd name="T3" fmla="*/ 0 60000 65536"/>
              </a:gdLst>
              <a:ahLst/>
              <a:cxnLst>
                <a:cxn ang="T2">
                  <a:pos x="T0" y="0"/>
                </a:cxn>
                <a:cxn ang="T3">
                  <a:pos x="T1" y="0"/>
                </a:cxn>
              </a:cxnLst>
              <a:rect l="0" t="0" r="r" b="b"/>
              <a:pathLst>
                <a:path w="243840">
                  <a:moveTo>
                    <a:pt x="0" y="0"/>
                  </a:moveTo>
                  <a:lnTo>
                    <a:pt x="243840"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03" name="object 21"/>
            <p:cNvSpPr/>
            <p:nvPr/>
          </p:nvSpPr>
          <p:spPr bwMode="auto">
            <a:xfrm>
              <a:off x="8781670" y="5457254"/>
              <a:ext cx="190024" cy="0"/>
            </a:xfrm>
            <a:custGeom>
              <a:avLst/>
              <a:gdLst>
                <a:gd name="T0" fmla="*/ 0 w 253365"/>
                <a:gd name="T1" fmla="*/ 25328 w 253365"/>
                <a:gd name="T2" fmla="*/ 0 60000 65536"/>
                <a:gd name="T3" fmla="*/ 0 60000 65536"/>
              </a:gdLst>
              <a:ahLst/>
              <a:cxnLst>
                <a:cxn ang="T2">
                  <a:pos x="T0" y="0"/>
                </a:cxn>
                <a:cxn ang="T3">
                  <a:pos x="T1" y="0"/>
                </a:cxn>
              </a:cxnLst>
              <a:rect l="0" t="0" r="r" b="b"/>
              <a:pathLst>
                <a:path w="253365">
                  <a:moveTo>
                    <a:pt x="0" y="0"/>
                  </a:moveTo>
                  <a:lnTo>
                    <a:pt x="252984"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04" name="object 22"/>
            <p:cNvSpPr/>
            <p:nvPr/>
          </p:nvSpPr>
          <p:spPr bwMode="auto">
            <a:xfrm>
              <a:off x="9035414" y="5226939"/>
              <a:ext cx="10478" cy="445770"/>
            </a:xfrm>
            <a:custGeom>
              <a:avLst/>
              <a:gdLst>
                <a:gd name="T0" fmla="*/ 0 w 13970"/>
                <a:gd name="T1" fmla="*/ 59504 h 594360"/>
                <a:gd name="T2" fmla="*/ 1373 w 13970"/>
                <a:gd name="T3" fmla="*/ 59504 h 594360"/>
                <a:gd name="T4" fmla="*/ 1373 w 13970"/>
                <a:gd name="T5" fmla="*/ 0 h 594360"/>
                <a:gd name="T6" fmla="*/ 0 w 13970"/>
                <a:gd name="T7" fmla="*/ 0 h 594360"/>
                <a:gd name="T8" fmla="*/ 0 w 13970"/>
                <a:gd name="T9" fmla="*/ 59504 h 5943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70" h="594360">
                  <a:moveTo>
                    <a:pt x="0" y="594360"/>
                  </a:moveTo>
                  <a:lnTo>
                    <a:pt x="13715" y="594360"/>
                  </a:lnTo>
                  <a:lnTo>
                    <a:pt x="13715" y="0"/>
                  </a:lnTo>
                  <a:lnTo>
                    <a:pt x="0" y="0"/>
                  </a:lnTo>
                  <a:lnTo>
                    <a:pt x="0" y="59436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05" name="object 23"/>
            <p:cNvSpPr/>
            <p:nvPr/>
          </p:nvSpPr>
          <p:spPr bwMode="auto">
            <a:xfrm>
              <a:off x="9031986" y="5223510"/>
              <a:ext cx="17145" cy="452914"/>
            </a:xfrm>
            <a:custGeom>
              <a:avLst/>
              <a:gdLst>
                <a:gd name="T0" fmla="*/ 0 w 22859"/>
                <a:gd name="T1" fmla="*/ 60419 h 603885"/>
                <a:gd name="T2" fmla="*/ 2290 w 22859"/>
                <a:gd name="T3" fmla="*/ 60419 h 603885"/>
                <a:gd name="T4" fmla="*/ 2290 w 22859"/>
                <a:gd name="T5" fmla="*/ 0 h 603885"/>
                <a:gd name="T6" fmla="*/ 0 w 22859"/>
                <a:gd name="T7" fmla="*/ 0 h 603885"/>
                <a:gd name="T8" fmla="*/ 0 w 22859"/>
                <a:gd name="T9" fmla="*/ 60419 h 6038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59" h="603885">
                  <a:moveTo>
                    <a:pt x="0" y="603504"/>
                  </a:moveTo>
                  <a:lnTo>
                    <a:pt x="22860" y="603504"/>
                  </a:lnTo>
                  <a:lnTo>
                    <a:pt x="22860" y="0"/>
                  </a:lnTo>
                  <a:lnTo>
                    <a:pt x="0" y="0"/>
                  </a:lnTo>
                  <a:lnTo>
                    <a:pt x="0" y="603504"/>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06" name="object 24"/>
            <p:cNvSpPr/>
            <p:nvPr/>
          </p:nvSpPr>
          <p:spPr bwMode="auto">
            <a:xfrm>
              <a:off x="8779382" y="5226939"/>
              <a:ext cx="10478" cy="284798"/>
            </a:xfrm>
            <a:custGeom>
              <a:avLst/>
              <a:gdLst>
                <a:gd name="T0" fmla="*/ 0 w 13970"/>
                <a:gd name="T1" fmla="*/ 37991 h 379729"/>
                <a:gd name="T2" fmla="*/ 1373 w 13970"/>
                <a:gd name="T3" fmla="*/ 37991 h 379729"/>
                <a:gd name="T4" fmla="*/ 1373 w 13970"/>
                <a:gd name="T5" fmla="*/ 0 h 379729"/>
                <a:gd name="T6" fmla="*/ 0 w 13970"/>
                <a:gd name="T7" fmla="*/ 0 h 379729"/>
                <a:gd name="T8" fmla="*/ 0 w 13970"/>
                <a:gd name="T9" fmla="*/ 37991 h 379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70" h="379729">
                  <a:moveTo>
                    <a:pt x="0" y="379476"/>
                  </a:moveTo>
                  <a:lnTo>
                    <a:pt x="13715" y="379476"/>
                  </a:lnTo>
                  <a:lnTo>
                    <a:pt x="13715" y="0"/>
                  </a:lnTo>
                  <a:lnTo>
                    <a:pt x="0" y="0"/>
                  </a:lnTo>
                  <a:lnTo>
                    <a:pt x="0" y="379476"/>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07" name="object 25"/>
            <p:cNvSpPr/>
            <p:nvPr/>
          </p:nvSpPr>
          <p:spPr bwMode="auto">
            <a:xfrm>
              <a:off x="8775954" y="5223510"/>
              <a:ext cx="17145" cy="291465"/>
            </a:xfrm>
            <a:custGeom>
              <a:avLst/>
              <a:gdLst>
                <a:gd name="T0" fmla="*/ 0 w 22859"/>
                <a:gd name="T1" fmla="*/ 38906 h 388620"/>
                <a:gd name="T2" fmla="*/ 2290 w 22859"/>
                <a:gd name="T3" fmla="*/ 38906 h 388620"/>
                <a:gd name="T4" fmla="*/ 2290 w 22859"/>
                <a:gd name="T5" fmla="*/ 0 h 388620"/>
                <a:gd name="T6" fmla="*/ 0 w 22859"/>
                <a:gd name="T7" fmla="*/ 0 h 388620"/>
                <a:gd name="T8" fmla="*/ 0 w 22859"/>
                <a:gd name="T9" fmla="*/ 38906 h 3886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59" h="388620">
                  <a:moveTo>
                    <a:pt x="0" y="388620"/>
                  </a:moveTo>
                  <a:lnTo>
                    <a:pt x="22860" y="388620"/>
                  </a:lnTo>
                  <a:lnTo>
                    <a:pt x="22860" y="0"/>
                  </a:lnTo>
                  <a:lnTo>
                    <a:pt x="0" y="0"/>
                  </a:lnTo>
                  <a:lnTo>
                    <a:pt x="0" y="38862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08" name="object 26"/>
            <p:cNvSpPr/>
            <p:nvPr/>
          </p:nvSpPr>
          <p:spPr bwMode="auto">
            <a:xfrm>
              <a:off x="8628507" y="5507546"/>
              <a:ext cx="160020" cy="0"/>
            </a:xfrm>
            <a:custGeom>
              <a:avLst/>
              <a:gdLst>
                <a:gd name="T0" fmla="*/ 0 w 213359"/>
                <a:gd name="T1" fmla="*/ 21361 w 213359"/>
                <a:gd name="T2" fmla="*/ 0 60000 65536"/>
                <a:gd name="T3" fmla="*/ 0 60000 65536"/>
              </a:gdLst>
              <a:ahLst/>
              <a:cxnLst>
                <a:cxn ang="T2">
                  <a:pos x="T0" y="0"/>
                </a:cxn>
                <a:cxn ang="T3">
                  <a:pos x="T1" y="0"/>
                </a:cxn>
              </a:cxnLst>
              <a:rect l="0" t="0" r="r" b="b"/>
              <a:pathLst>
                <a:path w="213359">
                  <a:moveTo>
                    <a:pt x="0" y="0"/>
                  </a:moveTo>
                  <a:lnTo>
                    <a:pt x="213359"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09" name="object 27"/>
            <p:cNvSpPr/>
            <p:nvPr/>
          </p:nvSpPr>
          <p:spPr bwMode="auto">
            <a:xfrm>
              <a:off x="8625078" y="5507546"/>
              <a:ext cx="167164" cy="0"/>
            </a:xfrm>
            <a:custGeom>
              <a:avLst/>
              <a:gdLst>
                <a:gd name="T0" fmla="*/ 0 w 222884"/>
                <a:gd name="T1" fmla="*/ 22277 w 222884"/>
                <a:gd name="T2" fmla="*/ 0 60000 65536"/>
                <a:gd name="T3" fmla="*/ 0 60000 65536"/>
              </a:gdLst>
              <a:ahLst/>
              <a:cxnLst>
                <a:cxn ang="T2">
                  <a:pos x="T0" y="0"/>
                </a:cxn>
                <a:cxn ang="T3">
                  <a:pos x="T1" y="0"/>
                </a:cxn>
              </a:cxnLst>
              <a:rect l="0" t="0" r="r" b="b"/>
              <a:pathLst>
                <a:path w="222884">
                  <a:moveTo>
                    <a:pt x="0" y="0"/>
                  </a:moveTo>
                  <a:lnTo>
                    <a:pt x="222503"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10" name="object 28"/>
            <p:cNvSpPr/>
            <p:nvPr/>
          </p:nvSpPr>
          <p:spPr bwMode="auto">
            <a:xfrm>
              <a:off x="8783955" y="5230938"/>
              <a:ext cx="261938" cy="0"/>
            </a:xfrm>
            <a:custGeom>
              <a:avLst/>
              <a:gdLst>
                <a:gd name="T0" fmla="*/ 0 w 349250"/>
                <a:gd name="T1" fmla="*/ 34940 w 349250"/>
                <a:gd name="T2" fmla="*/ 0 60000 65536"/>
                <a:gd name="T3" fmla="*/ 0 60000 65536"/>
              </a:gdLst>
              <a:ahLst/>
              <a:cxnLst>
                <a:cxn ang="T2">
                  <a:pos x="T0" y="0"/>
                </a:cxn>
                <a:cxn ang="T3">
                  <a:pos x="T1" y="0"/>
                </a:cxn>
              </a:cxnLst>
              <a:rect l="0" t="0" r="r" b="b"/>
              <a:pathLst>
                <a:path w="349250">
                  <a:moveTo>
                    <a:pt x="0" y="0"/>
                  </a:moveTo>
                  <a:lnTo>
                    <a:pt x="34899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11" name="object 29"/>
            <p:cNvSpPr/>
            <p:nvPr/>
          </p:nvSpPr>
          <p:spPr bwMode="auto">
            <a:xfrm>
              <a:off x="8780526" y="5230938"/>
              <a:ext cx="268605" cy="0"/>
            </a:xfrm>
            <a:custGeom>
              <a:avLst/>
              <a:gdLst>
                <a:gd name="T0" fmla="*/ 0 w 358140"/>
                <a:gd name="T1" fmla="*/ 35855 w 358140"/>
                <a:gd name="T2" fmla="*/ 0 60000 65536"/>
                <a:gd name="T3" fmla="*/ 0 60000 65536"/>
              </a:gdLst>
              <a:ahLst/>
              <a:cxnLst>
                <a:cxn ang="T2">
                  <a:pos x="T0" y="0"/>
                </a:cxn>
                <a:cxn ang="T3">
                  <a:pos x="T1" y="0"/>
                </a:cxn>
              </a:cxnLst>
              <a:rect l="0" t="0" r="r" b="b"/>
              <a:pathLst>
                <a:path w="358140">
                  <a:moveTo>
                    <a:pt x="0" y="0"/>
                  </a:moveTo>
                  <a:lnTo>
                    <a:pt x="35814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12" name="object 30"/>
            <p:cNvSpPr/>
            <p:nvPr/>
          </p:nvSpPr>
          <p:spPr bwMode="auto">
            <a:xfrm>
              <a:off x="8966835" y="5332095"/>
              <a:ext cx="68580" cy="52864"/>
            </a:xfrm>
            <a:custGeom>
              <a:avLst/>
              <a:gdLst>
                <a:gd name="T0" fmla="*/ 0 w 91440"/>
                <a:gd name="T1" fmla="*/ 7019 h 70485"/>
                <a:gd name="T2" fmla="*/ 9155 w 91440"/>
                <a:gd name="T3" fmla="*/ 7019 h 70485"/>
                <a:gd name="T4" fmla="*/ 9155 w 91440"/>
                <a:gd name="T5" fmla="*/ 0 h 70485"/>
                <a:gd name="T6" fmla="*/ 0 w 91440"/>
                <a:gd name="T7" fmla="*/ 0 h 70485"/>
                <a:gd name="T8" fmla="*/ 0 w 91440"/>
                <a:gd name="T9" fmla="*/ 7019 h 704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 h="70485">
                  <a:moveTo>
                    <a:pt x="0" y="70103"/>
                  </a:moveTo>
                  <a:lnTo>
                    <a:pt x="91440" y="70103"/>
                  </a:lnTo>
                  <a:lnTo>
                    <a:pt x="91440" y="0"/>
                  </a:lnTo>
                  <a:lnTo>
                    <a:pt x="0" y="0"/>
                  </a:lnTo>
                  <a:lnTo>
                    <a:pt x="0" y="70103"/>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13" name="object 31"/>
            <p:cNvSpPr/>
            <p:nvPr/>
          </p:nvSpPr>
          <p:spPr bwMode="auto">
            <a:xfrm>
              <a:off x="8966835" y="5332095"/>
              <a:ext cx="68580" cy="52864"/>
            </a:xfrm>
            <a:custGeom>
              <a:avLst/>
              <a:gdLst>
                <a:gd name="T0" fmla="*/ 0 w 91440"/>
                <a:gd name="T1" fmla="*/ 7019 h 70485"/>
                <a:gd name="T2" fmla="*/ 9155 w 91440"/>
                <a:gd name="T3" fmla="*/ 7019 h 70485"/>
                <a:gd name="T4" fmla="*/ 9155 w 91440"/>
                <a:gd name="T5" fmla="*/ 0 h 70485"/>
                <a:gd name="T6" fmla="*/ 0 w 91440"/>
                <a:gd name="T7" fmla="*/ 0 h 70485"/>
                <a:gd name="T8" fmla="*/ 0 w 91440"/>
                <a:gd name="T9" fmla="*/ 7019 h 704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 h="70485">
                  <a:moveTo>
                    <a:pt x="0" y="70103"/>
                  </a:moveTo>
                  <a:lnTo>
                    <a:pt x="91440" y="70103"/>
                  </a:lnTo>
                  <a:lnTo>
                    <a:pt x="91440" y="0"/>
                  </a:lnTo>
                  <a:lnTo>
                    <a:pt x="0" y="0"/>
                  </a:lnTo>
                  <a:lnTo>
                    <a:pt x="0" y="70103"/>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14" name="object 32"/>
            <p:cNvSpPr/>
            <p:nvPr/>
          </p:nvSpPr>
          <p:spPr bwMode="auto">
            <a:xfrm>
              <a:off x="8966835" y="5430393"/>
              <a:ext cx="68580" cy="51435"/>
            </a:xfrm>
            <a:custGeom>
              <a:avLst/>
              <a:gdLst>
                <a:gd name="T0" fmla="*/ 0 w 91440"/>
                <a:gd name="T1" fmla="*/ 6866 h 68579"/>
                <a:gd name="T2" fmla="*/ 9155 w 91440"/>
                <a:gd name="T3" fmla="*/ 6866 h 68579"/>
                <a:gd name="T4" fmla="*/ 9155 w 91440"/>
                <a:gd name="T5" fmla="*/ 0 h 68579"/>
                <a:gd name="T6" fmla="*/ 0 w 91440"/>
                <a:gd name="T7" fmla="*/ 0 h 68579"/>
                <a:gd name="T8" fmla="*/ 0 w 91440"/>
                <a:gd name="T9" fmla="*/ 6866 h 68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 h="68579">
                  <a:moveTo>
                    <a:pt x="0" y="68579"/>
                  </a:moveTo>
                  <a:lnTo>
                    <a:pt x="91440" y="68579"/>
                  </a:lnTo>
                  <a:lnTo>
                    <a:pt x="91440" y="0"/>
                  </a:lnTo>
                  <a:lnTo>
                    <a:pt x="0" y="0"/>
                  </a:lnTo>
                  <a:lnTo>
                    <a:pt x="0" y="68579"/>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15" name="object 33"/>
            <p:cNvSpPr/>
            <p:nvPr/>
          </p:nvSpPr>
          <p:spPr bwMode="auto">
            <a:xfrm>
              <a:off x="8966835" y="5430393"/>
              <a:ext cx="68580" cy="51435"/>
            </a:xfrm>
            <a:custGeom>
              <a:avLst/>
              <a:gdLst>
                <a:gd name="T0" fmla="*/ 0 w 91440"/>
                <a:gd name="T1" fmla="*/ 6866 h 68579"/>
                <a:gd name="T2" fmla="*/ 9155 w 91440"/>
                <a:gd name="T3" fmla="*/ 6866 h 68579"/>
                <a:gd name="T4" fmla="*/ 9155 w 91440"/>
                <a:gd name="T5" fmla="*/ 0 h 68579"/>
                <a:gd name="T6" fmla="*/ 0 w 91440"/>
                <a:gd name="T7" fmla="*/ 0 h 68579"/>
                <a:gd name="T8" fmla="*/ 0 w 91440"/>
                <a:gd name="T9" fmla="*/ 6866 h 68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 h="68579">
                  <a:moveTo>
                    <a:pt x="0" y="68579"/>
                  </a:moveTo>
                  <a:lnTo>
                    <a:pt x="91440" y="68579"/>
                  </a:lnTo>
                  <a:lnTo>
                    <a:pt x="91440" y="0"/>
                  </a:lnTo>
                  <a:lnTo>
                    <a:pt x="0" y="0"/>
                  </a:lnTo>
                  <a:lnTo>
                    <a:pt x="0" y="68579"/>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16" name="object 34"/>
            <p:cNvSpPr/>
            <p:nvPr/>
          </p:nvSpPr>
          <p:spPr bwMode="auto">
            <a:xfrm>
              <a:off x="9091422" y="5641849"/>
              <a:ext cx="52864" cy="57150"/>
            </a:xfrm>
            <a:custGeom>
              <a:avLst/>
              <a:gdLst>
                <a:gd name="T0" fmla="*/ 5290 w 70484"/>
                <a:gd name="T1" fmla="*/ 0 h 76200"/>
                <a:gd name="T2" fmla="*/ 3246 w 70484"/>
                <a:gd name="T3" fmla="*/ 307 h 76200"/>
                <a:gd name="T4" fmla="*/ 1563 w 70484"/>
                <a:gd name="T5" fmla="*/ 1130 h 76200"/>
                <a:gd name="T6" fmla="*/ 421 w 70484"/>
                <a:gd name="T7" fmla="*/ 2327 h 76200"/>
                <a:gd name="T8" fmla="*/ 0 w 70484"/>
                <a:gd name="T9" fmla="*/ 3756 h 76200"/>
                <a:gd name="T10" fmla="*/ 421 w 70484"/>
                <a:gd name="T11" fmla="*/ 5252 h 76200"/>
                <a:gd name="T12" fmla="*/ 1563 w 70484"/>
                <a:gd name="T13" fmla="*/ 6485 h 76200"/>
                <a:gd name="T14" fmla="*/ 3246 w 70484"/>
                <a:gd name="T15" fmla="*/ 7321 h 76200"/>
                <a:gd name="T16" fmla="*/ 5290 w 70484"/>
                <a:gd name="T17" fmla="*/ 7629 h 76200"/>
                <a:gd name="T18" fmla="*/ 7019 w 70484"/>
                <a:gd name="T19" fmla="*/ 7395 h 76200"/>
                <a:gd name="T20" fmla="*/ 7019 w 70484"/>
                <a:gd name="T21" fmla="*/ 6691 h 76200"/>
                <a:gd name="T22" fmla="*/ 5290 w 70484"/>
                <a:gd name="T23" fmla="*/ 6691 h 76200"/>
                <a:gd name="T24" fmla="*/ 3746 w 70484"/>
                <a:gd name="T25" fmla="*/ 6464 h 76200"/>
                <a:gd name="T26" fmla="*/ 2531 w 70484"/>
                <a:gd name="T27" fmla="*/ 5840 h 76200"/>
                <a:gd name="T28" fmla="*/ 1735 w 70484"/>
                <a:gd name="T29" fmla="*/ 4908 h 76200"/>
                <a:gd name="T30" fmla="*/ 1450 w 70484"/>
                <a:gd name="T31" fmla="*/ 3756 h 76200"/>
                <a:gd name="T32" fmla="*/ 1735 w 70484"/>
                <a:gd name="T33" fmla="*/ 2672 h 76200"/>
                <a:gd name="T34" fmla="*/ 2531 w 70484"/>
                <a:gd name="T35" fmla="*/ 1775 h 76200"/>
                <a:gd name="T36" fmla="*/ 3746 w 70484"/>
                <a:gd name="T37" fmla="*/ 1164 h 76200"/>
                <a:gd name="T38" fmla="*/ 5290 w 70484"/>
                <a:gd name="T39" fmla="*/ 939 h 76200"/>
                <a:gd name="T40" fmla="*/ 7019 w 70484"/>
                <a:gd name="T41" fmla="*/ 939 h 76200"/>
                <a:gd name="T42" fmla="*/ 7019 w 70484"/>
                <a:gd name="T43" fmla="*/ 234 h 76200"/>
                <a:gd name="T44" fmla="*/ 5290 w 70484"/>
                <a:gd name="T45" fmla="*/ 0 h 76200"/>
                <a:gd name="T46" fmla="*/ 7019 w 70484"/>
                <a:gd name="T47" fmla="*/ 6338 h 76200"/>
                <a:gd name="T48" fmla="*/ 6772 w 70484"/>
                <a:gd name="T49" fmla="*/ 6464 h 76200"/>
                <a:gd name="T50" fmla="*/ 5290 w 70484"/>
                <a:gd name="T51" fmla="*/ 6691 h 76200"/>
                <a:gd name="T52" fmla="*/ 7019 w 70484"/>
                <a:gd name="T53" fmla="*/ 6691 h 76200"/>
                <a:gd name="T54" fmla="*/ 7019 w 70484"/>
                <a:gd name="T55" fmla="*/ 6338 h 76200"/>
                <a:gd name="T56" fmla="*/ 7019 w 70484"/>
                <a:gd name="T57" fmla="*/ 939 h 76200"/>
                <a:gd name="T58" fmla="*/ 5290 w 70484"/>
                <a:gd name="T59" fmla="*/ 939 h 76200"/>
                <a:gd name="T60" fmla="*/ 6772 w 70484"/>
                <a:gd name="T61" fmla="*/ 1164 h 76200"/>
                <a:gd name="T62" fmla="*/ 7019 w 70484"/>
                <a:gd name="T63" fmla="*/ 1288 h 76200"/>
                <a:gd name="T64" fmla="*/ 7019 w 70484"/>
                <a:gd name="T65" fmla="*/ 939 h 762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484" h="76200">
                  <a:moveTo>
                    <a:pt x="52831" y="0"/>
                  </a:moveTo>
                  <a:lnTo>
                    <a:pt x="32414" y="3059"/>
                  </a:lnTo>
                  <a:lnTo>
                    <a:pt x="15605" y="11285"/>
                  </a:lnTo>
                  <a:lnTo>
                    <a:pt x="4200" y="23247"/>
                  </a:lnTo>
                  <a:lnTo>
                    <a:pt x="0" y="37515"/>
                  </a:lnTo>
                  <a:lnTo>
                    <a:pt x="4200" y="52459"/>
                  </a:lnTo>
                  <a:lnTo>
                    <a:pt x="15605" y="64768"/>
                  </a:lnTo>
                  <a:lnTo>
                    <a:pt x="32414" y="73122"/>
                  </a:lnTo>
                  <a:lnTo>
                    <a:pt x="52831" y="76200"/>
                  </a:lnTo>
                  <a:lnTo>
                    <a:pt x="70103" y="73860"/>
                  </a:lnTo>
                  <a:lnTo>
                    <a:pt x="70103" y="66827"/>
                  </a:lnTo>
                  <a:lnTo>
                    <a:pt x="52831" y="66827"/>
                  </a:lnTo>
                  <a:lnTo>
                    <a:pt x="37409" y="64554"/>
                  </a:lnTo>
                  <a:lnTo>
                    <a:pt x="25273" y="58324"/>
                  </a:lnTo>
                  <a:lnTo>
                    <a:pt x="17327" y="49018"/>
                  </a:lnTo>
                  <a:lnTo>
                    <a:pt x="14477" y="37515"/>
                  </a:lnTo>
                  <a:lnTo>
                    <a:pt x="17327" y="26689"/>
                  </a:lnTo>
                  <a:lnTo>
                    <a:pt x="25273" y="17729"/>
                  </a:lnTo>
                  <a:lnTo>
                    <a:pt x="37409" y="11626"/>
                  </a:lnTo>
                  <a:lnTo>
                    <a:pt x="52831" y="9372"/>
                  </a:lnTo>
                  <a:lnTo>
                    <a:pt x="70103" y="9372"/>
                  </a:lnTo>
                  <a:lnTo>
                    <a:pt x="70103" y="2339"/>
                  </a:lnTo>
                  <a:lnTo>
                    <a:pt x="52831" y="0"/>
                  </a:lnTo>
                  <a:close/>
                </a:path>
                <a:path w="70484" h="76200">
                  <a:moveTo>
                    <a:pt x="70103" y="63297"/>
                  </a:moveTo>
                  <a:lnTo>
                    <a:pt x="67631" y="64554"/>
                  </a:lnTo>
                  <a:lnTo>
                    <a:pt x="52831" y="66827"/>
                  </a:lnTo>
                  <a:lnTo>
                    <a:pt x="70103" y="66827"/>
                  </a:lnTo>
                  <a:lnTo>
                    <a:pt x="70103" y="63297"/>
                  </a:lnTo>
                  <a:close/>
                </a:path>
                <a:path w="70484" h="76200">
                  <a:moveTo>
                    <a:pt x="70103" y="9372"/>
                  </a:moveTo>
                  <a:lnTo>
                    <a:pt x="52831" y="9372"/>
                  </a:lnTo>
                  <a:lnTo>
                    <a:pt x="67631" y="11626"/>
                  </a:lnTo>
                  <a:lnTo>
                    <a:pt x="70103" y="12858"/>
                  </a:lnTo>
                  <a:lnTo>
                    <a:pt x="70103" y="937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17" name="object 35"/>
            <p:cNvSpPr/>
            <p:nvPr/>
          </p:nvSpPr>
          <p:spPr bwMode="auto">
            <a:xfrm>
              <a:off x="9091422" y="5641849"/>
              <a:ext cx="52864" cy="57150"/>
            </a:xfrm>
            <a:custGeom>
              <a:avLst/>
              <a:gdLst>
                <a:gd name="T0" fmla="*/ 7019 w 70484"/>
                <a:gd name="T1" fmla="*/ 234 h 76200"/>
                <a:gd name="T2" fmla="*/ 1563 w 70484"/>
                <a:gd name="T3" fmla="*/ 1130 h 76200"/>
                <a:gd name="T4" fmla="*/ 0 w 70484"/>
                <a:gd name="T5" fmla="*/ 3756 h 76200"/>
                <a:gd name="T6" fmla="*/ 421 w 70484"/>
                <a:gd name="T7" fmla="*/ 5252 h 76200"/>
                <a:gd name="T8" fmla="*/ 1563 w 70484"/>
                <a:gd name="T9" fmla="*/ 6485 h 76200"/>
                <a:gd name="T10" fmla="*/ 3246 w 70484"/>
                <a:gd name="T11" fmla="*/ 7321 h 76200"/>
                <a:gd name="T12" fmla="*/ 5290 w 70484"/>
                <a:gd name="T13" fmla="*/ 7629 h 76200"/>
                <a:gd name="T14" fmla="*/ 7019 w 70484"/>
                <a:gd name="T15" fmla="*/ 7395 h 762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484" h="76200">
                  <a:moveTo>
                    <a:pt x="70103" y="2339"/>
                  </a:moveTo>
                  <a:lnTo>
                    <a:pt x="15605" y="11285"/>
                  </a:lnTo>
                  <a:lnTo>
                    <a:pt x="0" y="37515"/>
                  </a:lnTo>
                  <a:lnTo>
                    <a:pt x="4200" y="52459"/>
                  </a:lnTo>
                  <a:lnTo>
                    <a:pt x="15605" y="64768"/>
                  </a:lnTo>
                  <a:lnTo>
                    <a:pt x="32414" y="73122"/>
                  </a:lnTo>
                  <a:lnTo>
                    <a:pt x="52831" y="76200"/>
                  </a:lnTo>
                  <a:lnTo>
                    <a:pt x="70103" y="7386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18" name="object 36"/>
            <p:cNvSpPr/>
            <p:nvPr/>
          </p:nvSpPr>
          <p:spPr bwMode="auto">
            <a:xfrm>
              <a:off x="9102280" y="5648877"/>
              <a:ext cx="41910" cy="43338"/>
            </a:xfrm>
            <a:custGeom>
              <a:avLst/>
              <a:gdLst>
                <a:gd name="T0" fmla="*/ 3840 w 55879"/>
                <a:gd name="T1" fmla="*/ 5752 h 57785"/>
                <a:gd name="T2" fmla="*/ 2297 w 55879"/>
                <a:gd name="T3" fmla="*/ 5524 h 57785"/>
                <a:gd name="T4" fmla="*/ 1082 w 55879"/>
                <a:gd name="T5" fmla="*/ 4900 h 57785"/>
                <a:gd name="T6" fmla="*/ 286 w 55879"/>
                <a:gd name="T7" fmla="*/ 3968 h 57785"/>
                <a:gd name="T8" fmla="*/ 0 w 55879"/>
                <a:gd name="T9" fmla="*/ 2817 h 57785"/>
                <a:gd name="T10" fmla="*/ 286 w 55879"/>
                <a:gd name="T11" fmla="*/ 1733 h 57785"/>
                <a:gd name="T12" fmla="*/ 1082 w 55879"/>
                <a:gd name="T13" fmla="*/ 836 h 57785"/>
                <a:gd name="T14" fmla="*/ 2297 w 55879"/>
                <a:gd name="T15" fmla="*/ 225 h 57785"/>
                <a:gd name="T16" fmla="*/ 3840 w 55879"/>
                <a:gd name="T17" fmla="*/ 0 h 57785"/>
                <a:gd name="T18" fmla="*/ 5322 w 55879"/>
                <a:gd name="T19" fmla="*/ 225 h 57785"/>
                <a:gd name="T20" fmla="*/ 5570 w 55879"/>
                <a:gd name="T21" fmla="*/ 348 h 5778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79" h="57785">
                  <a:moveTo>
                    <a:pt x="38353" y="57454"/>
                  </a:moveTo>
                  <a:lnTo>
                    <a:pt x="22931" y="55182"/>
                  </a:lnTo>
                  <a:lnTo>
                    <a:pt x="10795" y="48952"/>
                  </a:lnTo>
                  <a:lnTo>
                    <a:pt x="2849" y="39645"/>
                  </a:lnTo>
                  <a:lnTo>
                    <a:pt x="0" y="28143"/>
                  </a:lnTo>
                  <a:lnTo>
                    <a:pt x="2849" y="17316"/>
                  </a:lnTo>
                  <a:lnTo>
                    <a:pt x="10795" y="8356"/>
                  </a:lnTo>
                  <a:lnTo>
                    <a:pt x="22931" y="2254"/>
                  </a:lnTo>
                  <a:lnTo>
                    <a:pt x="38353" y="0"/>
                  </a:lnTo>
                  <a:lnTo>
                    <a:pt x="53153" y="2254"/>
                  </a:lnTo>
                  <a:lnTo>
                    <a:pt x="55625" y="3485"/>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19" name="object 37"/>
            <p:cNvSpPr/>
            <p:nvPr/>
          </p:nvSpPr>
          <p:spPr bwMode="auto">
            <a:xfrm>
              <a:off x="9131046" y="5689321"/>
              <a:ext cx="13335" cy="2858"/>
            </a:xfrm>
            <a:custGeom>
              <a:avLst/>
              <a:gdLst>
                <a:gd name="T0" fmla="*/ 1730 w 17779"/>
                <a:gd name="T1" fmla="*/ 0 h 3810"/>
                <a:gd name="T2" fmla="*/ 1482 w 17779"/>
                <a:gd name="T3" fmla="*/ 126 h 3810"/>
                <a:gd name="T4" fmla="*/ 0 w 17779"/>
                <a:gd name="T5" fmla="*/ 354 h 3810"/>
                <a:gd name="T6" fmla="*/ 0 60000 65536"/>
                <a:gd name="T7" fmla="*/ 0 60000 65536"/>
                <a:gd name="T8" fmla="*/ 0 60000 65536"/>
              </a:gdLst>
              <a:ahLst/>
              <a:cxnLst>
                <a:cxn ang="T6">
                  <a:pos x="T0" y="T1"/>
                </a:cxn>
                <a:cxn ang="T7">
                  <a:pos x="T2" y="T3"/>
                </a:cxn>
                <a:cxn ang="T8">
                  <a:pos x="T4" y="T5"/>
                </a:cxn>
              </a:cxnLst>
              <a:rect l="0" t="0" r="r" b="b"/>
              <a:pathLst>
                <a:path w="17779" h="3810">
                  <a:moveTo>
                    <a:pt x="17271" y="0"/>
                  </a:moveTo>
                  <a:lnTo>
                    <a:pt x="14799" y="1256"/>
                  </a:lnTo>
                  <a:lnTo>
                    <a:pt x="0" y="3529"/>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0" name="object 38"/>
            <p:cNvSpPr/>
            <p:nvPr/>
          </p:nvSpPr>
          <p:spPr bwMode="auto">
            <a:xfrm>
              <a:off x="8674226" y="5588794"/>
              <a:ext cx="70485" cy="0"/>
            </a:xfrm>
            <a:custGeom>
              <a:avLst/>
              <a:gdLst>
                <a:gd name="T0" fmla="*/ 0 w 93979"/>
                <a:gd name="T1" fmla="*/ 9359 w 93979"/>
                <a:gd name="T2" fmla="*/ 0 60000 65536"/>
                <a:gd name="T3" fmla="*/ 0 60000 65536"/>
              </a:gdLst>
              <a:ahLst/>
              <a:cxnLst>
                <a:cxn ang="T2">
                  <a:pos x="T0" y="0"/>
                </a:cxn>
                <a:cxn ang="T3">
                  <a:pos x="T1" y="0"/>
                </a:cxn>
              </a:cxnLst>
              <a:rect l="0" t="0" r="r" b="b"/>
              <a:pathLst>
                <a:path w="93979">
                  <a:moveTo>
                    <a:pt x="0" y="0"/>
                  </a:moveTo>
                  <a:lnTo>
                    <a:pt x="93472" y="0"/>
                  </a:lnTo>
                </a:path>
              </a:pathLst>
            </a:custGeom>
            <a:noFill/>
            <a:ln w="2921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1" name="object 39"/>
            <p:cNvSpPr/>
            <p:nvPr/>
          </p:nvSpPr>
          <p:spPr bwMode="auto">
            <a:xfrm>
              <a:off x="8674227" y="5574506"/>
              <a:ext cx="361474" cy="0"/>
            </a:xfrm>
            <a:custGeom>
              <a:avLst/>
              <a:gdLst>
                <a:gd name="T0" fmla="*/ 0 w 481965"/>
                <a:gd name="T1" fmla="*/ 48213 w 481965"/>
                <a:gd name="T2" fmla="*/ 0 60000 65536"/>
                <a:gd name="T3" fmla="*/ 0 60000 65536"/>
              </a:gdLst>
              <a:ahLst/>
              <a:cxnLst>
                <a:cxn ang="T2">
                  <a:pos x="T0" y="0"/>
                </a:cxn>
                <a:cxn ang="T3">
                  <a:pos x="T1" y="0"/>
                </a:cxn>
              </a:cxnLst>
              <a:rect l="0" t="0" r="r" b="b"/>
              <a:pathLst>
                <a:path w="481965">
                  <a:moveTo>
                    <a:pt x="0" y="0"/>
                  </a:moveTo>
                  <a:lnTo>
                    <a:pt x="481584" y="0"/>
                  </a:lnTo>
                </a:path>
              </a:pathLst>
            </a:custGeom>
            <a:noFill/>
            <a:ln w="888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2" name="object 40"/>
            <p:cNvSpPr/>
            <p:nvPr/>
          </p:nvSpPr>
          <p:spPr bwMode="auto">
            <a:xfrm>
              <a:off x="8674226" y="5560218"/>
              <a:ext cx="70485" cy="0"/>
            </a:xfrm>
            <a:custGeom>
              <a:avLst/>
              <a:gdLst>
                <a:gd name="T0" fmla="*/ 0 w 93979"/>
                <a:gd name="T1" fmla="*/ 9359 w 93979"/>
                <a:gd name="T2" fmla="*/ 0 60000 65536"/>
                <a:gd name="T3" fmla="*/ 0 60000 65536"/>
              </a:gdLst>
              <a:ahLst/>
              <a:cxnLst>
                <a:cxn ang="T2">
                  <a:pos x="T0" y="0"/>
                </a:cxn>
                <a:cxn ang="T3">
                  <a:pos x="T1" y="0"/>
                </a:cxn>
              </a:cxnLst>
              <a:rect l="0" t="0" r="r" b="b"/>
              <a:pathLst>
                <a:path w="93979">
                  <a:moveTo>
                    <a:pt x="0" y="0"/>
                  </a:moveTo>
                  <a:lnTo>
                    <a:pt x="93472" y="0"/>
                  </a:lnTo>
                </a:path>
              </a:pathLst>
            </a:custGeom>
            <a:noFill/>
            <a:ln w="2921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3" name="object 41"/>
            <p:cNvSpPr/>
            <p:nvPr/>
          </p:nvSpPr>
          <p:spPr bwMode="auto">
            <a:xfrm>
              <a:off x="8966549" y="5588718"/>
              <a:ext cx="69056" cy="0"/>
            </a:xfrm>
            <a:custGeom>
              <a:avLst/>
              <a:gdLst>
                <a:gd name="T0" fmla="*/ 0 w 92075"/>
                <a:gd name="T1" fmla="*/ 9192 w 92075"/>
                <a:gd name="T2" fmla="*/ 0 60000 65536"/>
                <a:gd name="T3" fmla="*/ 0 60000 65536"/>
              </a:gdLst>
              <a:ahLst/>
              <a:cxnLst>
                <a:cxn ang="T2">
                  <a:pos x="T0" y="0"/>
                </a:cxn>
                <a:cxn ang="T3">
                  <a:pos x="T1" y="0"/>
                </a:cxn>
              </a:cxnLst>
              <a:rect l="0" t="0" r="r" b="b"/>
              <a:pathLst>
                <a:path w="92075">
                  <a:moveTo>
                    <a:pt x="0" y="0"/>
                  </a:moveTo>
                  <a:lnTo>
                    <a:pt x="91821" y="0"/>
                  </a:lnTo>
                </a:path>
              </a:pathLst>
            </a:custGeom>
            <a:noFill/>
            <a:ln w="28905">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4" name="object 42"/>
            <p:cNvSpPr/>
            <p:nvPr/>
          </p:nvSpPr>
          <p:spPr bwMode="auto">
            <a:xfrm>
              <a:off x="8966549" y="5560104"/>
              <a:ext cx="69056" cy="0"/>
            </a:xfrm>
            <a:custGeom>
              <a:avLst/>
              <a:gdLst>
                <a:gd name="T0" fmla="*/ 0 w 92075"/>
                <a:gd name="T1" fmla="*/ 9192 w 92075"/>
                <a:gd name="T2" fmla="*/ 0 60000 65536"/>
                <a:gd name="T3" fmla="*/ 0 60000 65536"/>
              </a:gdLst>
              <a:ahLst/>
              <a:cxnLst>
                <a:cxn ang="T2">
                  <a:pos x="T0" y="0"/>
                </a:cxn>
                <a:cxn ang="T3">
                  <a:pos x="T1" y="0"/>
                </a:cxn>
              </a:cxnLst>
              <a:rect l="0" t="0" r="r" b="b"/>
              <a:pathLst>
                <a:path w="92075">
                  <a:moveTo>
                    <a:pt x="0" y="0"/>
                  </a:moveTo>
                  <a:lnTo>
                    <a:pt x="91821" y="0"/>
                  </a:lnTo>
                </a:path>
              </a:pathLst>
            </a:custGeom>
            <a:noFill/>
            <a:ln w="28905">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5" name="object 43"/>
            <p:cNvSpPr/>
            <p:nvPr/>
          </p:nvSpPr>
          <p:spPr bwMode="auto">
            <a:xfrm>
              <a:off x="8674227" y="5549266"/>
              <a:ext cx="361474" cy="50482"/>
            </a:xfrm>
            <a:custGeom>
              <a:avLst/>
              <a:gdLst>
                <a:gd name="T0" fmla="*/ 48213 w 481965"/>
                <a:gd name="T1" fmla="*/ 6712 h 67310"/>
                <a:gd name="T2" fmla="*/ 48213 w 481965"/>
                <a:gd name="T3" fmla="*/ 0 h 67310"/>
                <a:gd name="T4" fmla="*/ 39021 w 481965"/>
                <a:gd name="T5" fmla="*/ 0 h 67310"/>
                <a:gd name="T6" fmla="*/ 39021 w 481965"/>
                <a:gd name="T7" fmla="*/ 2893 h 67310"/>
                <a:gd name="T8" fmla="*/ 9359 w 481965"/>
                <a:gd name="T9" fmla="*/ 2893 h 67310"/>
                <a:gd name="T10" fmla="*/ 9359 w 481965"/>
                <a:gd name="T11" fmla="*/ 0 h 67310"/>
                <a:gd name="T12" fmla="*/ 0 w 481965"/>
                <a:gd name="T13" fmla="*/ 0 h 67310"/>
                <a:gd name="T14" fmla="*/ 0 w 481965"/>
                <a:gd name="T15" fmla="*/ 6712 h 67310"/>
                <a:gd name="T16" fmla="*/ 9359 w 481965"/>
                <a:gd name="T17" fmla="*/ 6712 h 67310"/>
                <a:gd name="T18" fmla="*/ 9359 w 481965"/>
                <a:gd name="T19" fmla="*/ 3819 h 67310"/>
                <a:gd name="T20" fmla="*/ 39021 w 481965"/>
                <a:gd name="T21" fmla="*/ 3819 h 67310"/>
                <a:gd name="T22" fmla="*/ 39021 w 481965"/>
                <a:gd name="T23" fmla="*/ 6712 h 67310"/>
                <a:gd name="T24" fmla="*/ 48213 w 481965"/>
                <a:gd name="T25" fmla="*/ 6712 h 673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81965" h="67310">
                  <a:moveTo>
                    <a:pt x="481584" y="67055"/>
                  </a:moveTo>
                  <a:lnTo>
                    <a:pt x="481584" y="0"/>
                  </a:lnTo>
                  <a:lnTo>
                    <a:pt x="389763" y="0"/>
                  </a:lnTo>
                  <a:lnTo>
                    <a:pt x="389763" y="28905"/>
                  </a:lnTo>
                  <a:lnTo>
                    <a:pt x="93472" y="28905"/>
                  </a:lnTo>
                  <a:lnTo>
                    <a:pt x="93472" y="0"/>
                  </a:lnTo>
                  <a:lnTo>
                    <a:pt x="0" y="0"/>
                  </a:lnTo>
                  <a:lnTo>
                    <a:pt x="0" y="67055"/>
                  </a:lnTo>
                  <a:lnTo>
                    <a:pt x="93472" y="67055"/>
                  </a:lnTo>
                  <a:lnTo>
                    <a:pt x="93472" y="38150"/>
                  </a:lnTo>
                  <a:lnTo>
                    <a:pt x="389763" y="38150"/>
                  </a:lnTo>
                  <a:lnTo>
                    <a:pt x="389763" y="67055"/>
                  </a:lnTo>
                  <a:lnTo>
                    <a:pt x="481584" y="67055"/>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6" name="object 44"/>
            <p:cNvSpPr/>
            <p:nvPr/>
          </p:nvSpPr>
          <p:spPr bwMode="auto">
            <a:xfrm>
              <a:off x="7488935" y="5009768"/>
              <a:ext cx="1141095" cy="518160"/>
            </a:xfrm>
            <a:custGeom>
              <a:avLst/>
              <a:gdLst>
                <a:gd name="T0" fmla="*/ 74049 w 1521459"/>
                <a:gd name="T1" fmla="*/ 69116 h 690879"/>
                <a:gd name="T2" fmla="*/ 75498 w 1521459"/>
                <a:gd name="T3" fmla="*/ 68053 h 690879"/>
                <a:gd name="T4" fmla="*/ 3245 w 1521459"/>
                <a:gd name="T5" fmla="*/ 292 h 690879"/>
                <a:gd name="T6" fmla="*/ 0 w 1521459"/>
                <a:gd name="T7" fmla="*/ 3776 h 690879"/>
                <a:gd name="T8" fmla="*/ 2704 w 1521459"/>
                <a:gd name="T9" fmla="*/ 7153 h 690879"/>
                <a:gd name="T10" fmla="*/ 18920 w 1521459"/>
                <a:gd name="T11" fmla="*/ 68998 h 690879"/>
                <a:gd name="T12" fmla="*/ 5926 w 1521459"/>
                <a:gd name="T13" fmla="*/ 7562 h 690879"/>
                <a:gd name="T14" fmla="*/ 5289 w 1521459"/>
                <a:gd name="T15" fmla="*/ 6617 h 690879"/>
                <a:gd name="T16" fmla="*/ 1724 w 1521459"/>
                <a:gd name="T17" fmla="*/ 4871 h 690879"/>
                <a:gd name="T18" fmla="*/ 2524 w 1521459"/>
                <a:gd name="T19" fmla="*/ 1787 h 690879"/>
                <a:gd name="T20" fmla="*/ 8627 w 1521459"/>
                <a:gd name="T21" fmla="*/ 941 h 690879"/>
                <a:gd name="T22" fmla="*/ 83190 w 1521459"/>
                <a:gd name="T23" fmla="*/ 33790 h 690879"/>
                <a:gd name="T24" fmla="*/ 84474 w 1521459"/>
                <a:gd name="T25" fmla="*/ 34735 h 690879"/>
                <a:gd name="T26" fmla="*/ 83190 w 1521459"/>
                <a:gd name="T27" fmla="*/ 33790 h 690879"/>
                <a:gd name="T28" fmla="*/ 17635 w 1521459"/>
                <a:gd name="T29" fmla="*/ 67935 h 690879"/>
                <a:gd name="T30" fmla="*/ 28048 w 1521459"/>
                <a:gd name="T31" fmla="*/ 62144 h 690879"/>
                <a:gd name="T32" fmla="*/ 18920 w 1521459"/>
                <a:gd name="T33" fmla="*/ 48440 h 690879"/>
                <a:gd name="T34" fmla="*/ 18920 w 1521459"/>
                <a:gd name="T35" fmla="*/ 47495 h 690879"/>
                <a:gd name="T36" fmla="*/ 62351 w 1521459"/>
                <a:gd name="T37" fmla="*/ 37217 h 690879"/>
                <a:gd name="T38" fmla="*/ 62351 w 1521459"/>
                <a:gd name="T39" fmla="*/ 31544 h 690879"/>
                <a:gd name="T40" fmla="*/ 18920 w 1521459"/>
                <a:gd name="T41" fmla="*/ 23865 h 690879"/>
                <a:gd name="T42" fmla="*/ 152268 w 1521459"/>
                <a:gd name="T43" fmla="*/ 34735 h 690879"/>
                <a:gd name="T44" fmla="*/ 150983 w 1521459"/>
                <a:gd name="T45" fmla="*/ 66989 h 690879"/>
                <a:gd name="T46" fmla="*/ 28048 w 1521459"/>
                <a:gd name="T47" fmla="*/ 62144 h 690879"/>
                <a:gd name="T48" fmla="*/ 53210 w 1521459"/>
                <a:gd name="T49" fmla="*/ 65571 h 690879"/>
                <a:gd name="T50" fmla="*/ 28048 w 1521459"/>
                <a:gd name="T51" fmla="*/ 62144 h 690879"/>
                <a:gd name="T52" fmla="*/ 51926 w 1521459"/>
                <a:gd name="T53" fmla="*/ 64508 h 690879"/>
                <a:gd name="T54" fmla="*/ 75498 w 1521459"/>
                <a:gd name="T55" fmla="*/ 62144 h 690879"/>
                <a:gd name="T56" fmla="*/ 53210 w 1521459"/>
                <a:gd name="T57" fmla="*/ 58601 h 690879"/>
                <a:gd name="T58" fmla="*/ 26612 w 1521459"/>
                <a:gd name="T59" fmla="*/ 61082 h 690879"/>
                <a:gd name="T60" fmla="*/ 53210 w 1521459"/>
                <a:gd name="T61" fmla="*/ 58601 h 690879"/>
                <a:gd name="T62" fmla="*/ 74049 w 1521459"/>
                <a:gd name="T63" fmla="*/ 48440 h 690879"/>
                <a:gd name="T64" fmla="*/ 75498 w 1521459"/>
                <a:gd name="T65" fmla="*/ 48440 h 690879"/>
                <a:gd name="T66" fmla="*/ 26612 w 1521459"/>
                <a:gd name="T67" fmla="*/ 51866 h 690879"/>
                <a:gd name="T68" fmla="*/ 28048 w 1521459"/>
                <a:gd name="T69" fmla="*/ 50804 h 690879"/>
                <a:gd name="T70" fmla="*/ 51926 w 1521459"/>
                <a:gd name="T71" fmla="*/ 44896 h 690879"/>
                <a:gd name="T72" fmla="*/ 53210 w 1521459"/>
                <a:gd name="T73" fmla="*/ 48440 h 690879"/>
                <a:gd name="T74" fmla="*/ 53210 w 1521459"/>
                <a:gd name="T75" fmla="*/ 47495 h 690879"/>
                <a:gd name="T76" fmla="*/ 26612 w 1521459"/>
                <a:gd name="T77" fmla="*/ 43950 h 690879"/>
                <a:gd name="T78" fmla="*/ 28048 w 1521459"/>
                <a:gd name="T79" fmla="*/ 44896 h 690879"/>
                <a:gd name="T80" fmla="*/ 62351 w 1521459"/>
                <a:gd name="T81" fmla="*/ 38279 h 690879"/>
                <a:gd name="T82" fmla="*/ 74049 w 1521459"/>
                <a:gd name="T83" fmla="*/ 42650 h 690879"/>
                <a:gd name="T84" fmla="*/ 75498 w 1521459"/>
                <a:gd name="T85" fmla="*/ 41706 h 690879"/>
                <a:gd name="T86" fmla="*/ 62351 w 1521459"/>
                <a:gd name="T87" fmla="*/ 31544 h 690879"/>
                <a:gd name="T88" fmla="*/ 62351 w 1521459"/>
                <a:gd name="T89" fmla="*/ 37217 h 690879"/>
                <a:gd name="T90" fmla="*/ 60902 w 1521459"/>
                <a:gd name="T91" fmla="*/ 23865 h 690879"/>
                <a:gd name="T92" fmla="*/ 62351 w 1521459"/>
                <a:gd name="T93" fmla="*/ 23865 h 690879"/>
                <a:gd name="T94" fmla="*/ 6771 w 1521459"/>
                <a:gd name="T95" fmla="*/ 1169 h 690879"/>
                <a:gd name="T96" fmla="*/ 9142 w 1521459"/>
                <a:gd name="T97" fmla="*/ 3776 h 690879"/>
                <a:gd name="T98" fmla="*/ 6771 w 1521459"/>
                <a:gd name="T99" fmla="*/ 6390 h 690879"/>
                <a:gd name="T100" fmla="*/ 9132 w 1521459"/>
                <a:gd name="T101" fmla="*/ 6335 h 690879"/>
                <a:gd name="T102" fmla="*/ 10019 w 1521459"/>
                <a:gd name="T103" fmla="*/ 2291 h 6908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521459" h="690879">
                  <a:moveTo>
                    <a:pt x="754126" y="620737"/>
                  </a:moveTo>
                  <a:lnTo>
                    <a:pt x="739648" y="620737"/>
                  </a:lnTo>
                  <a:lnTo>
                    <a:pt x="739648" y="690372"/>
                  </a:lnTo>
                  <a:lnTo>
                    <a:pt x="843787" y="690372"/>
                  </a:lnTo>
                  <a:lnTo>
                    <a:pt x="843787" y="679754"/>
                  </a:lnTo>
                  <a:lnTo>
                    <a:pt x="754126" y="679754"/>
                  </a:lnTo>
                  <a:lnTo>
                    <a:pt x="754126" y="620737"/>
                  </a:lnTo>
                  <a:close/>
                </a:path>
                <a:path w="1521459" h="690879">
                  <a:moveTo>
                    <a:pt x="52831" y="0"/>
                  </a:moveTo>
                  <a:lnTo>
                    <a:pt x="32414" y="2911"/>
                  </a:lnTo>
                  <a:lnTo>
                    <a:pt x="15605" y="10906"/>
                  </a:lnTo>
                  <a:lnTo>
                    <a:pt x="4200" y="22877"/>
                  </a:lnTo>
                  <a:lnTo>
                    <a:pt x="0" y="37719"/>
                  </a:lnTo>
                  <a:lnTo>
                    <a:pt x="3397" y="51775"/>
                  </a:lnTo>
                  <a:lnTo>
                    <a:pt x="12795" y="63276"/>
                  </a:lnTo>
                  <a:lnTo>
                    <a:pt x="27003" y="71450"/>
                  </a:lnTo>
                  <a:lnTo>
                    <a:pt x="44830" y="75526"/>
                  </a:lnTo>
                  <a:lnTo>
                    <a:pt x="44830" y="689190"/>
                  </a:lnTo>
                  <a:lnTo>
                    <a:pt x="188975" y="689190"/>
                  </a:lnTo>
                  <a:lnTo>
                    <a:pt x="188975" y="678573"/>
                  </a:lnTo>
                  <a:lnTo>
                    <a:pt x="59181" y="678573"/>
                  </a:lnTo>
                  <a:lnTo>
                    <a:pt x="59181" y="75526"/>
                  </a:lnTo>
                  <a:lnTo>
                    <a:pt x="77009" y="71450"/>
                  </a:lnTo>
                  <a:lnTo>
                    <a:pt x="86325" y="66090"/>
                  </a:lnTo>
                  <a:lnTo>
                    <a:pt x="52831" y="66090"/>
                  </a:lnTo>
                  <a:lnTo>
                    <a:pt x="37389" y="63822"/>
                  </a:lnTo>
                  <a:lnTo>
                    <a:pt x="25209" y="57677"/>
                  </a:lnTo>
                  <a:lnTo>
                    <a:pt x="17220" y="48645"/>
                  </a:lnTo>
                  <a:lnTo>
                    <a:pt x="14350" y="37719"/>
                  </a:lnTo>
                  <a:lnTo>
                    <a:pt x="17220" y="26864"/>
                  </a:lnTo>
                  <a:lnTo>
                    <a:pt x="25209" y="17843"/>
                  </a:lnTo>
                  <a:lnTo>
                    <a:pt x="37389" y="11680"/>
                  </a:lnTo>
                  <a:lnTo>
                    <a:pt x="52831" y="9398"/>
                  </a:lnTo>
                  <a:lnTo>
                    <a:pt x="86169" y="9398"/>
                  </a:lnTo>
                  <a:lnTo>
                    <a:pt x="72991" y="2911"/>
                  </a:lnTo>
                  <a:lnTo>
                    <a:pt x="52831" y="0"/>
                  </a:lnTo>
                  <a:close/>
                </a:path>
                <a:path w="1521459" h="690879">
                  <a:moveTo>
                    <a:pt x="830960" y="337515"/>
                  </a:moveTo>
                  <a:lnTo>
                    <a:pt x="830960" y="679754"/>
                  </a:lnTo>
                  <a:lnTo>
                    <a:pt x="843787" y="679754"/>
                  </a:lnTo>
                  <a:lnTo>
                    <a:pt x="843787" y="346951"/>
                  </a:lnTo>
                  <a:lnTo>
                    <a:pt x="1520952" y="346951"/>
                  </a:lnTo>
                  <a:lnTo>
                    <a:pt x="1520952" y="339877"/>
                  </a:lnTo>
                  <a:lnTo>
                    <a:pt x="830960" y="337515"/>
                  </a:lnTo>
                  <a:close/>
                </a:path>
                <a:path w="1521459" h="690879">
                  <a:moveTo>
                    <a:pt x="622807" y="228942"/>
                  </a:moveTo>
                  <a:lnTo>
                    <a:pt x="176149" y="228942"/>
                  </a:lnTo>
                  <a:lnTo>
                    <a:pt x="176149" y="678573"/>
                  </a:lnTo>
                  <a:lnTo>
                    <a:pt x="188975" y="678573"/>
                  </a:lnTo>
                  <a:lnTo>
                    <a:pt x="188975" y="620737"/>
                  </a:lnTo>
                  <a:lnTo>
                    <a:pt x="280161" y="620737"/>
                  </a:lnTo>
                  <a:lnTo>
                    <a:pt x="280161" y="610120"/>
                  </a:lnTo>
                  <a:lnTo>
                    <a:pt x="188975" y="610120"/>
                  </a:lnTo>
                  <a:lnTo>
                    <a:pt x="188975" y="483844"/>
                  </a:lnTo>
                  <a:lnTo>
                    <a:pt x="280161" y="483844"/>
                  </a:lnTo>
                  <a:lnTo>
                    <a:pt x="280161" y="474408"/>
                  </a:lnTo>
                  <a:lnTo>
                    <a:pt x="188975" y="474408"/>
                  </a:lnTo>
                  <a:lnTo>
                    <a:pt x="188975" y="382358"/>
                  </a:lnTo>
                  <a:lnTo>
                    <a:pt x="622807" y="382358"/>
                  </a:lnTo>
                  <a:lnTo>
                    <a:pt x="622807" y="371741"/>
                  </a:lnTo>
                  <a:lnTo>
                    <a:pt x="188975" y="371741"/>
                  </a:lnTo>
                  <a:lnTo>
                    <a:pt x="188975" y="315087"/>
                  </a:lnTo>
                  <a:lnTo>
                    <a:pt x="622807" y="315087"/>
                  </a:lnTo>
                  <a:lnTo>
                    <a:pt x="622807" y="305650"/>
                  </a:lnTo>
                  <a:lnTo>
                    <a:pt x="188975" y="305650"/>
                  </a:lnTo>
                  <a:lnTo>
                    <a:pt x="188975" y="238379"/>
                  </a:lnTo>
                  <a:lnTo>
                    <a:pt x="622807" y="238379"/>
                  </a:lnTo>
                  <a:lnTo>
                    <a:pt x="622807" y="228942"/>
                  </a:lnTo>
                  <a:close/>
                </a:path>
                <a:path w="1521459" h="690879">
                  <a:moveTo>
                    <a:pt x="1520952" y="346951"/>
                  </a:moveTo>
                  <a:lnTo>
                    <a:pt x="843787" y="346951"/>
                  </a:lnTo>
                  <a:lnTo>
                    <a:pt x="1508125" y="349313"/>
                  </a:lnTo>
                  <a:lnTo>
                    <a:pt x="1508125" y="669124"/>
                  </a:lnTo>
                  <a:lnTo>
                    <a:pt x="1520952" y="669124"/>
                  </a:lnTo>
                  <a:lnTo>
                    <a:pt x="1520952" y="346951"/>
                  </a:lnTo>
                  <a:close/>
                </a:path>
                <a:path w="1521459" h="690879">
                  <a:moveTo>
                    <a:pt x="280161" y="620737"/>
                  </a:moveTo>
                  <a:lnTo>
                    <a:pt x="265810" y="620737"/>
                  </a:lnTo>
                  <a:lnTo>
                    <a:pt x="265810" y="654964"/>
                  </a:lnTo>
                  <a:lnTo>
                    <a:pt x="531495" y="654964"/>
                  </a:lnTo>
                  <a:lnTo>
                    <a:pt x="531495" y="644347"/>
                  </a:lnTo>
                  <a:lnTo>
                    <a:pt x="280161" y="644347"/>
                  </a:lnTo>
                  <a:lnTo>
                    <a:pt x="280161" y="620737"/>
                  </a:lnTo>
                  <a:close/>
                </a:path>
                <a:path w="1521459" h="690879">
                  <a:moveTo>
                    <a:pt x="531495" y="585343"/>
                  </a:moveTo>
                  <a:lnTo>
                    <a:pt x="518668" y="585343"/>
                  </a:lnTo>
                  <a:lnTo>
                    <a:pt x="518668" y="644347"/>
                  </a:lnTo>
                  <a:lnTo>
                    <a:pt x="531495" y="644347"/>
                  </a:lnTo>
                  <a:lnTo>
                    <a:pt x="531495" y="620737"/>
                  </a:lnTo>
                  <a:lnTo>
                    <a:pt x="754126" y="620737"/>
                  </a:lnTo>
                  <a:lnTo>
                    <a:pt x="754126" y="610120"/>
                  </a:lnTo>
                  <a:lnTo>
                    <a:pt x="531495" y="610120"/>
                  </a:lnTo>
                  <a:lnTo>
                    <a:pt x="531495" y="585343"/>
                  </a:lnTo>
                  <a:close/>
                </a:path>
                <a:path w="1521459" h="690879">
                  <a:moveTo>
                    <a:pt x="531495" y="575894"/>
                  </a:moveTo>
                  <a:lnTo>
                    <a:pt x="265810" y="575894"/>
                  </a:lnTo>
                  <a:lnTo>
                    <a:pt x="265810" y="610120"/>
                  </a:lnTo>
                  <a:lnTo>
                    <a:pt x="280161" y="610120"/>
                  </a:lnTo>
                  <a:lnTo>
                    <a:pt x="280161" y="585343"/>
                  </a:lnTo>
                  <a:lnTo>
                    <a:pt x="531495" y="585343"/>
                  </a:lnTo>
                  <a:lnTo>
                    <a:pt x="531495" y="575894"/>
                  </a:lnTo>
                  <a:close/>
                </a:path>
                <a:path w="1521459" h="690879">
                  <a:moveTo>
                    <a:pt x="754126" y="483844"/>
                  </a:moveTo>
                  <a:lnTo>
                    <a:pt x="739648" y="483844"/>
                  </a:lnTo>
                  <a:lnTo>
                    <a:pt x="739648" y="610120"/>
                  </a:lnTo>
                  <a:lnTo>
                    <a:pt x="754126" y="610120"/>
                  </a:lnTo>
                  <a:lnTo>
                    <a:pt x="754126" y="483844"/>
                  </a:lnTo>
                  <a:close/>
                </a:path>
                <a:path w="1521459" h="690879">
                  <a:moveTo>
                    <a:pt x="280161" y="483844"/>
                  </a:moveTo>
                  <a:lnTo>
                    <a:pt x="265810" y="483844"/>
                  </a:lnTo>
                  <a:lnTo>
                    <a:pt x="265810" y="518071"/>
                  </a:lnTo>
                  <a:lnTo>
                    <a:pt x="531495" y="518071"/>
                  </a:lnTo>
                  <a:lnTo>
                    <a:pt x="531495" y="507453"/>
                  </a:lnTo>
                  <a:lnTo>
                    <a:pt x="280161" y="507453"/>
                  </a:lnTo>
                  <a:lnTo>
                    <a:pt x="280161" y="483844"/>
                  </a:lnTo>
                  <a:close/>
                </a:path>
                <a:path w="1521459" h="690879">
                  <a:moveTo>
                    <a:pt x="531495" y="448449"/>
                  </a:moveTo>
                  <a:lnTo>
                    <a:pt x="518668" y="448449"/>
                  </a:lnTo>
                  <a:lnTo>
                    <a:pt x="518668" y="507453"/>
                  </a:lnTo>
                  <a:lnTo>
                    <a:pt x="531495" y="507453"/>
                  </a:lnTo>
                  <a:lnTo>
                    <a:pt x="531495" y="483844"/>
                  </a:lnTo>
                  <a:lnTo>
                    <a:pt x="754126" y="483844"/>
                  </a:lnTo>
                  <a:lnTo>
                    <a:pt x="754126" y="474408"/>
                  </a:lnTo>
                  <a:lnTo>
                    <a:pt x="531495" y="474408"/>
                  </a:lnTo>
                  <a:lnTo>
                    <a:pt x="531495" y="448449"/>
                  </a:lnTo>
                  <a:close/>
                </a:path>
                <a:path w="1521459" h="690879">
                  <a:moveTo>
                    <a:pt x="531495" y="439000"/>
                  </a:moveTo>
                  <a:lnTo>
                    <a:pt x="265810" y="439000"/>
                  </a:lnTo>
                  <a:lnTo>
                    <a:pt x="265810" y="474408"/>
                  </a:lnTo>
                  <a:lnTo>
                    <a:pt x="280161" y="474408"/>
                  </a:lnTo>
                  <a:lnTo>
                    <a:pt x="280161" y="448449"/>
                  </a:lnTo>
                  <a:lnTo>
                    <a:pt x="531495" y="448449"/>
                  </a:lnTo>
                  <a:lnTo>
                    <a:pt x="531495" y="439000"/>
                  </a:lnTo>
                  <a:close/>
                </a:path>
                <a:path w="1521459" h="690879">
                  <a:moveTo>
                    <a:pt x="622807" y="382358"/>
                  </a:moveTo>
                  <a:lnTo>
                    <a:pt x="608329" y="382358"/>
                  </a:lnTo>
                  <a:lnTo>
                    <a:pt x="608329" y="426021"/>
                  </a:lnTo>
                  <a:lnTo>
                    <a:pt x="739648" y="426021"/>
                  </a:lnTo>
                  <a:lnTo>
                    <a:pt x="739648" y="474408"/>
                  </a:lnTo>
                  <a:lnTo>
                    <a:pt x="754126" y="474408"/>
                  </a:lnTo>
                  <a:lnTo>
                    <a:pt x="754126" y="416585"/>
                  </a:lnTo>
                  <a:lnTo>
                    <a:pt x="622807" y="416585"/>
                  </a:lnTo>
                  <a:lnTo>
                    <a:pt x="622807" y="382358"/>
                  </a:lnTo>
                  <a:close/>
                </a:path>
                <a:path w="1521459" h="690879">
                  <a:moveTo>
                    <a:pt x="622807" y="315087"/>
                  </a:moveTo>
                  <a:lnTo>
                    <a:pt x="608329" y="315087"/>
                  </a:lnTo>
                  <a:lnTo>
                    <a:pt x="608329" y="371741"/>
                  </a:lnTo>
                  <a:lnTo>
                    <a:pt x="622807" y="371741"/>
                  </a:lnTo>
                  <a:lnTo>
                    <a:pt x="622807" y="315087"/>
                  </a:lnTo>
                  <a:close/>
                </a:path>
                <a:path w="1521459" h="690879">
                  <a:moveTo>
                    <a:pt x="622807" y="238379"/>
                  </a:moveTo>
                  <a:lnTo>
                    <a:pt x="608329" y="238379"/>
                  </a:lnTo>
                  <a:lnTo>
                    <a:pt x="608329" y="305650"/>
                  </a:lnTo>
                  <a:lnTo>
                    <a:pt x="622807" y="305650"/>
                  </a:lnTo>
                  <a:lnTo>
                    <a:pt x="622807" y="238379"/>
                  </a:lnTo>
                  <a:close/>
                </a:path>
                <a:path w="1521459" h="690879">
                  <a:moveTo>
                    <a:pt x="86169" y="9398"/>
                  </a:moveTo>
                  <a:lnTo>
                    <a:pt x="52831" y="9398"/>
                  </a:lnTo>
                  <a:lnTo>
                    <a:pt x="67631" y="11680"/>
                  </a:lnTo>
                  <a:lnTo>
                    <a:pt x="79882" y="17843"/>
                  </a:lnTo>
                  <a:lnTo>
                    <a:pt x="88229" y="26864"/>
                  </a:lnTo>
                  <a:lnTo>
                    <a:pt x="91312" y="37719"/>
                  </a:lnTo>
                  <a:lnTo>
                    <a:pt x="88229" y="48645"/>
                  </a:lnTo>
                  <a:lnTo>
                    <a:pt x="79882" y="57677"/>
                  </a:lnTo>
                  <a:lnTo>
                    <a:pt x="67631" y="63822"/>
                  </a:lnTo>
                  <a:lnTo>
                    <a:pt x="52831" y="66090"/>
                  </a:lnTo>
                  <a:lnTo>
                    <a:pt x="86325" y="66090"/>
                  </a:lnTo>
                  <a:lnTo>
                    <a:pt x="91217" y="63276"/>
                  </a:lnTo>
                  <a:lnTo>
                    <a:pt x="100615" y="51775"/>
                  </a:lnTo>
                  <a:lnTo>
                    <a:pt x="104012" y="37719"/>
                  </a:lnTo>
                  <a:lnTo>
                    <a:pt x="100070" y="22877"/>
                  </a:lnTo>
                  <a:lnTo>
                    <a:pt x="89233" y="10906"/>
                  </a:lnTo>
                  <a:lnTo>
                    <a:pt x="86169" y="939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27" name="object 45"/>
            <p:cNvSpPr/>
            <p:nvPr/>
          </p:nvSpPr>
          <p:spPr bwMode="auto">
            <a:xfrm>
              <a:off x="7488935" y="5009768"/>
              <a:ext cx="1141095" cy="518160"/>
            </a:xfrm>
            <a:custGeom>
              <a:avLst/>
              <a:gdLst>
                <a:gd name="T0" fmla="*/ 4488 w 1521459"/>
                <a:gd name="T1" fmla="*/ 43079 h 690879"/>
                <a:gd name="T2" fmla="*/ 4488 w 1521459"/>
                <a:gd name="T3" fmla="*/ 68037 h 690879"/>
                <a:gd name="T4" fmla="*/ 12831 w 1521459"/>
                <a:gd name="T5" fmla="*/ 68998 h 690879"/>
                <a:gd name="T6" fmla="*/ 18694 w 1521459"/>
                <a:gd name="T7" fmla="*/ 68998 h 690879"/>
                <a:gd name="T8" fmla="*/ 18920 w 1521459"/>
                <a:gd name="T9" fmla="*/ 65036 h 690879"/>
                <a:gd name="T10" fmla="*/ 18920 w 1521459"/>
                <a:gd name="T11" fmla="*/ 62252 h 690879"/>
                <a:gd name="T12" fmla="*/ 23366 w 1521459"/>
                <a:gd name="T13" fmla="*/ 62144 h 690879"/>
                <a:gd name="T14" fmla="*/ 26492 w 1521459"/>
                <a:gd name="T15" fmla="*/ 62144 h 690879"/>
                <a:gd name="T16" fmla="*/ 26612 w 1521459"/>
                <a:gd name="T17" fmla="*/ 64125 h 690879"/>
                <a:gd name="T18" fmla="*/ 26612 w 1521459"/>
                <a:gd name="T19" fmla="*/ 65517 h 690879"/>
                <a:gd name="T20" fmla="*/ 41989 w 1521459"/>
                <a:gd name="T21" fmla="*/ 65571 h 690879"/>
                <a:gd name="T22" fmla="*/ 52794 w 1521459"/>
                <a:gd name="T23" fmla="*/ 65571 h 690879"/>
                <a:gd name="T24" fmla="*/ 53210 w 1521459"/>
                <a:gd name="T25" fmla="*/ 63590 h 690879"/>
                <a:gd name="T26" fmla="*/ 53210 w 1521459"/>
                <a:gd name="T27" fmla="*/ 62198 h 690879"/>
                <a:gd name="T28" fmla="*/ 65257 w 1521459"/>
                <a:gd name="T29" fmla="*/ 62144 h 690879"/>
                <a:gd name="T30" fmla="*/ 73723 w 1521459"/>
                <a:gd name="T31" fmla="*/ 62144 h 690879"/>
                <a:gd name="T32" fmla="*/ 74049 w 1521459"/>
                <a:gd name="T33" fmla="*/ 66175 h 690879"/>
                <a:gd name="T34" fmla="*/ 74049 w 1521459"/>
                <a:gd name="T35" fmla="*/ 69007 h 690879"/>
                <a:gd name="T36" fmla="*/ 80076 w 1521459"/>
                <a:gd name="T37" fmla="*/ 69116 h 690879"/>
                <a:gd name="T38" fmla="*/ 84311 w 1521459"/>
                <a:gd name="T39" fmla="*/ 69116 h 690879"/>
                <a:gd name="T40" fmla="*/ 84474 w 1521459"/>
                <a:gd name="T41" fmla="*/ 49239 h 690879"/>
                <a:gd name="T42" fmla="*/ 84474 w 1521459"/>
                <a:gd name="T43" fmla="*/ 35272 h 690879"/>
                <a:gd name="T44" fmla="*/ 122925 w 1521459"/>
                <a:gd name="T45" fmla="*/ 34872 h 690879"/>
                <a:gd name="T46" fmla="*/ 149944 w 1521459"/>
                <a:gd name="T47" fmla="*/ 34967 h 690879"/>
                <a:gd name="T48" fmla="*/ 150983 w 1521459"/>
                <a:gd name="T49" fmla="*/ 53482 h 690879"/>
                <a:gd name="T50" fmla="*/ 150983 w 1521459"/>
                <a:gd name="T51" fmla="*/ 66488 h 690879"/>
                <a:gd name="T52" fmla="*/ 152268 w 1521459"/>
                <a:gd name="T53" fmla="*/ 66989 h 690879"/>
                <a:gd name="T54" fmla="*/ 152268 w 1521459"/>
                <a:gd name="T55" fmla="*/ 38147 h 690879"/>
                <a:gd name="T56" fmla="*/ 152268 w 1521459"/>
                <a:gd name="T57" fmla="*/ 34026 h 690879"/>
                <a:gd name="T58" fmla="*/ 91825 w 1521459"/>
                <a:gd name="T59" fmla="*/ 33820 h 690879"/>
                <a:gd name="T60" fmla="*/ 83190 w 1521459"/>
                <a:gd name="T61" fmla="*/ 33790 h 690879"/>
                <a:gd name="T62" fmla="*/ 83190 w 1521459"/>
                <a:gd name="T63" fmla="*/ 63770 h 690879"/>
                <a:gd name="T64" fmla="*/ 83190 w 1521459"/>
                <a:gd name="T65" fmla="*/ 68053 h 690879"/>
                <a:gd name="T66" fmla="*/ 76460 w 1521459"/>
                <a:gd name="T67" fmla="*/ 68053 h 690879"/>
                <a:gd name="T68" fmla="*/ 75498 w 1521459"/>
                <a:gd name="T69" fmla="*/ 68053 h 690879"/>
                <a:gd name="T70" fmla="*/ 75498 w 1521459"/>
                <a:gd name="T71" fmla="*/ 44999 h 690879"/>
                <a:gd name="T72" fmla="*/ 75498 w 1521459"/>
                <a:gd name="T73" fmla="*/ 41706 h 690879"/>
                <a:gd name="T74" fmla="*/ 63995 w 1521459"/>
                <a:gd name="T75" fmla="*/ 41706 h 690879"/>
                <a:gd name="T76" fmla="*/ 62351 w 1521459"/>
                <a:gd name="T77" fmla="*/ 41706 h 690879"/>
                <a:gd name="T78" fmla="*/ 62351 w 1521459"/>
                <a:gd name="T79" fmla="*/ 25269 h 690879"/>
                <a:gd name="T80" fmla="*/ 62351 w 1521459"/>
                <a:gd name="T81" fmla="*/ 22920 h 690879"/>
                <a:gd name="T82" fmla="*/ 23225 w 1521459"/>
                <a:gd name="T83" fmla="*/ 22920 h 690879"/>
                <a:gd name="T84" fmla="*/ 17635 w 1521459"/>
                <a:gd name="T85" fmla="*/ 22920 h 690879"/>
                <a:gd name="T86" fmla="*/ 17635 w 1521459"/>
                <a:gd name="T87" fmla="*/ 62308 h 690879"/>
                <a:gd name="T88" fmla="*/ 17635 w 1521459"/>
                <a:gd name="T89" fmla="*/ 67935 h 690879"/>
                <a:gd name="T90" fmla="*/ 7389 w 1521459"/>
                <a:gd name="T91" fmla="*/ 67935 h 690879"/>
                <a:gd name="T92" fmla="*/ 5926 w 1521459"/>
                <a:gd name="T93" fmla="*/ 67935 h 690879"/>
                <a:gd name="T94" fmla="*/ 5926 w 1521459"/>
                <a:gd name="T95" fmla="*/ 15108 h 690879"/>
                <a:gd name="T96" fmla="*/ 5926 w 1521459"/>
                <a:gd name="T97" fmla="*/ 7562 h 690879"/>
                <a:gd name="T98" fmla="*/ 9132 w 1521459"/>
                <a:gd name="T99" fmla="*/ 6335 h 690879"/>
                <a:gd name="T100" fmla="*/ 10413 w 1521459"/>
                <a:gd name="T101" fmla="*/ 3776 h 690879"/>
                <a:gd name="T102" fmla="*/ 8934 w 1521459"/>
                <a:gd name="T103" fmla="*/ 1092 h 690879"/>
                <a:gd name="T104" fmla="*/ 5289 w 1521459"/>
                <a:gd name="T105" fmla="*/ 0 h 690879"/>
                <a:gd name="T106" fmla="*/ 1563 w 1521459"/>
                <a:gd name="T107" fmla="*/ 1092 h 690879"/>
                <a:gd name="T108" fmla="*/ 0 w 1521459"/>
                <a:gd name="T109" fmla="*/ 3776 h 690879"/>
                <a:gd name="T110" fmla="*/ 1282 w 1521459"/>
                <a:gd name="T111" fmla="*/ 6335 h 690879"/>
                <a:gd name="T112" fmla="*/ 4488 w 1521459"/>
                <a:gd name="T113" fmla="*/ 7562 h 6908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21459" h="690879">
                  <a:moveTo>
                    <a:pt x="44830" y="75526"/>
                  </a:moveTo>
                  <a:lnTo>
                    <a:pt x="44830" y="430301"/>
                  </a:lnTo>
                  <a:lnTo>
                    <a:pt x="44830" y="612482"/>
                  </a:lnTo>
                  <a:lnTo>
                    <a:pt x="44830" y="679602"/>
                  </a:lnTo>
                  <a:lnTo>
                    <a:pt x="44830" y="689190"/>
                  </a:lnTo>
                  <a:lnTo>
                    <a:pt x="128164" y="689190"/>
                  </a:lnTo>
                  <a:lnTo>
                    <a:pt x="170957" y="689190"/>
                  </a:lnTo>
                  <a:lnTo>
                    <a:pt x="186723" y="689190"/>
                  </a:lnTo>
                  <a:lnTo>
                    <a:pt x="188975" y="689190"/>
                  </a:lnTo>
                  <a:lnTo>
                    <a:pt x="188975" y="649616"/>
                  </a:lnTo>
                  <a:lnTo>
                    <a:pt x="188975" y="629294"/>
                  </a:lnTo>
                  <a:lnTo>
                    <a:pt x="188975" y="621807"/>
                  </a:lnTo>
                  <a:lnTo>
                    <a:pt x="188975" y="620737"/>
                  </a:lnTo>
                  <a:lnTo>
                    <a:pt x="233396" y="620737"/>
                  </a:lnTo>
                  <a:lnTo>
                    <a:pt x="256206" y="620737"/>
                  </a:lnTo>
                  <a:lnTo>
                    <a:pt x="264610" y="620737"/>
                  </a:lnTo>
                  <a:lnTo>
                    <a:pt x="265810" y="620737"/>
                  </a:lnTo>
                  <a:lnTo>
                    <a:pt x="265810" y="640525"/>
                  </a:lnTo>
                  <a:lnTo>
                    <a:pt x="265810" y="650686"/>
                  </a:lnTo>
                  <a:lnTo>
                    <a:pt x="265810" y="654429"/>
                  </a:lnTo>
                  <a:lnTo>
                    <a:pt x="265810" y="654964"/>
                  </a:lnTo>
                  <a:lnTo>
                    <a:pt x="419409" y="654964"/>
                  </a:lnTo>
                  <a:lnTo>
                    <a:pt x="498284" y="654964"/>
                  </a:lnTo>
                  <a:lnTo>
                    <a:pt x="527343" y="654964"/>
                  </a:lnTo>
                  <a:lnTo>
                    <a:pt x="531495" y="654964"/>
                  </a:lnTo>
                  <a:lnTo>
                    <a:pt x="531495" y="635177"/>
                  </a:lnTo>
                  <a:lnTo>
                    <a:pt x="531495" y="625016"/>
                  </a:lnTo>
                  <a:lnTo>
                    <a:pt x="531495" y="621272"/>
                  </a:lnTo>
                  <a:lnTo>
                    <a:pt x="531495" y="620737"/>
                  </a:lnTo>
                  <a:lnTo>
                    <a:pt x="651833" y="620737"/>
                  </a:lnTo>
                  <a:lnTo>
                    <a:pt x="713628" y="620737"/>
                  </a:lnTo>
                  <a:lnTo>
                    <a:pt x="736395" y="620737"/>
                  </a:lnTo>
                  <a:lnTo>
                    <a:pt x="739648" y="620737"/>
                  </a:lnTo>
                  <a:lnTo>
                    <a:pt x="739648" y="660995"/>
                  </a:lnTo>
                  <a:lnTo>
                    <a:pt x="739648" y="681667"/>
                  </a:lnTo>
                  <a:lnTo>
                    <a:pt x="739648" y="689283"/>
                  </a:lnTo>
                  <a:lnTo>
                    <a:pt x="739648" y="690372"/>
                  </a:lnTo>
                  <a:lnTo>
                    <a:pt x="799853" y="690372"/>
                  </a:lnTo>
                  <a:lnTo>
                    <a:pt x="830770" y="690372"/>
                  </a:lnTo>
                  <a:lnTo>
                    <a:pt x="842160" y="690372"/>
                  </a:lnTo>
                  <a:lnTo>
                    <a:pt x="843787" y="690372"/>
                  </a:lnTo>
                  <a:lnTo>
                    <a:pt x="843787" y="491831"/>
                  </a:lnTo>
                  <a:lnTo>
                    <a:pt x="843787" y="389878"/>
                  </a:lnTo>
                  <a:lnTo>
                    <a:pt x="843787" y="352317"/>
                  </a:lnTo>
                  <a:lnTo>
                    <a:pt x="843787" y="346951"/>
                  </a:lnTo>
                  <a:lnTo>
                    <a:pt x="1227857" y="348316"/>
                  </a:lnTo>
                  <a:lnTo>
                    <a:pt x="1425082" y="349018"/>
                  </a:lnTo>
                  <a:lnTo>
                    <a:pt x="1497744" y="349276"/>
                  </a:lnTo>
                  <a:lnTo>
                    <a:pt x="1508125" y="349313"/>
                  </a:lnTo>
                  <a:lnTo>
                    <a:pt x="1508125" y="534204"/>
                  </a:lnTo>
                  <a:lnTo>
                    <a:pt x="1508125" y="629148"/>
                  </a:lnTo>
                  <a:lnTo>
                    <a:pt x="1508125" y="664127"/>
                  </a:lnTo>
                  <a:lnTo>
                    <a:pt x="1508125" y="669124"/>
                  </a:lnTo>
                  <a:lnTo>
                    <a:pt x="1520952" y="669124"/>
                  </a:lnTo>
                  <a:lnTo>
                    <a:pt x="1520952" y="478778"/>
                  </a:lnTo>
                  <a:lnTo>
                    <a:pt x="1520952" y="381033"/>
                  </a:lnTo>
                  <a:lnTo>
                    <a:pt x="1520952" y="345021"/>
                  </a:lnTo>
                  <a:lnTo>
                    <a:pt x="1520952" y="339877"/>
                  </a:lnTo>
                  <a:lnTo>
                    <a:pt x="1122050" y="338511"/>
                  </a:lnTo>
                  <a:lnTo>
                    <a:pt x="917209" y="337810"/>
                  </a:lnTo>
                  <a:lnTo>
                    <a:pt x="841742" y="337552"/>
                  </a:lnTo>
                  <a:lnTo>
                    <a:pt x="830960" y="337515"/>
                  </a:lnTo>
                  <a:lnTo>
                    <a:pt x="830960" y="535372"/>
                  </a:lnTo>
                  <a:lnTo>
                    <a:pt x="830960" y="636974"/>
                  </a:lnTo>
                  <a:lnTo>
                    <a:pt x="830960" y="674407"/>
                  </a:lnTo>
                  <a:lnTo>
                    <a:pt x="830960" y="679754"/>
                  </a:lnTo>
                  <a:lnTo>
                    <a:pt x="786540" y="679754"/>
                  </a:lnTo>
                  <a:lnTo>
                    <a:pt x="763730" y="679754"/>
                  </a:lnTo>
                  <a:lnTo>
                    <a:pt x="755326" y="679754"/>
                  </a:lnTo>
                  <a:lnTo>
                    <a:pt x="754126" y="679754"/>
                  </a:lnTo>
                  <a:lnTo>
                    <a:pt x="754126" y="527609"/>
                  </a:lnTo>
                  <a:lnTo>
                    <a:pt x="754126" y="449481"/>
                  </a:lnTo>
                  <a:lnTo>
                    <a:pt x="754126" y="420697"/>
                  </a:lnTo>
                  <a:lnTo>
                    <a:pt x="754126" y="416585"/>
                  </a:lnTo>
                  <a:lnTo>
                    <a:pt x="678207" y="416585"/>
                  </a:lnTo>
                  <a:lnTo>
                    <a:pt x="639222" y="416585"/>
                  </a:lnTo>
                  <a:lnTo>
                    <a:pt x="624859" y="416585"/>
                  </a:lnTo>
                  <a:lnTo>
                    <a:pt x="622807" y="416585"/>
                  </a:lnTo>
                  <a:lnTo>
                    <a:pt x="622807" y="308104"/>
                  </a:lnTo>
                  <a:lnTo>
                    <a:pt x="622807" y="252398"/>
                  </a:lnTo>
                  <a:lnTo>
                    <a:pt x="622807" y="231874"/>
                  </a:lnTo>
                  <a:lnTo>
                    <a:pt x="622807" y="228942"/>
                  </a:lnTo>
                  <a:lnTo>
                    <a:pt x="364583" y="228942"/>
                  </a:lnTo>
                  <a:lnTo>
                    <a:pt x="231981" y="228942"/>
                  </a:lnTo>
                  <a:lnTo>
                    <a:pt x="183128" y="228942"/>
                  </a:lnTo>
                  <a:lnTo>
                    <a:pt x="176149" y="228942"/>
                  </a:lnTo>
                  <a:lnTo>
                    <a:pt x="176149" y="488885"/>
                  </a:lnTo>
                  <a:lnTo>
                    <a:pt x="176149" y="622369"/>
                  </a:lnTo>
                  <a:lnTo>
                    <a:pt x="176149" y="671548"/>
                  </a:lnTo>
                  <a:lnTo>
                    <a:pt x="176149" y="678573"/>
                  </a:lnTo>
                  <a:lnTo>
                    <a:pt x="108527" y="678573"/>
                  </a:lnTo>
                  <a:lnTo>
                    <a:pt x="73802" y="678573"/>
                  </a:lnTo>
                  <a:lnTo>
                    <a:pt x="61009" y="678573"/>
                  </a:lnTo>
                  <a:lnTo>
                    <a:pt x="59181" y="678573"/>
                  </a:lnTo>
                  <a:lnTo>
                    <a:pt x="59181" y="329937"/>
                  </a:lnTo>
                  <a:lnTo>
                    <a:pt x="59181" y="150907"/>
                  </a:lnTo>
                  <a:lnTo>
                    <a:pt x="59181" y="84949"/>
                  </a:lnTo>
                  <a:lnTo>
                    <a:pt x="59181" y="75526"/>
                  </a:lnTo>
                  <a:lnTo>
                    <a:pt x="77009" y="71450"/>
                  </a:lnTo>
                  <a:lnTo>
                    <a:pt x="91217" y="63276"/>
                  </a:lnTo>
                  <a:lnTo>
                    <a:pt x="100615" y="51775"/>
                  </a:lnTo>
                  <a:lnTo>
                    <a:pt x="104012" y="37719"/>
                  </a:lnTo>
                  <a:lnTo>
                    <a:pt x="100070" y="22877"/>
                  </a:lnTo>
                  <a:lnTo>
                    <a:pt x="89233" y="10906"/>
                  </a:lnTo>
                  <a:lnTo>
                    <a:pt x="72991" y="2911"/>
                  </a:lnTo>
                  <a:lnTo>
                    <a:pt x="52831" y="0"/>
                  </a:lnTo>
                  <a:lnTo>
                    <a:pt x="32414" y="2911"/>
                  </a:lnTo>
                  <a:lnTo>
                    <a:pt x="15605" y="10906"/>
                  </a:lnTo>
                  <a:lnTo>
                    <a:pt x="4200" y="22877"/>
                  </a:lnTo>
                  <a:lnTo>
                    <a:pt x="0" y="37719"/>
                  </a:lnTo>
                  <a:lnTo>
                    <a:pt x="3397" y="51775"/>
                  </a:lnTo>
                  <a:lnTo>
                    <a:pt x="12795" y="63276"/>
                  </a:lnTo>
                  <a:lnTo>
                    <a:pt x="27003" y="71450"/>
                  </a:lnTo>
                  <a:lnTo>
                    <a:pt x="44830" y="75526"/>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8" name="object 46"/>
            <p:cNvSpPr/>
            <p:nvPr/>
          </p:nvSpPr>
          <p:spPr bwMode="auto">
            <a:xfrm>
              <a:off x="7699058" y="5448776"/>
              <a:ext cx="179070" cy="44291"/>
            </a:xfrm>
            <a:custGeom>
              <a:avLst/>
              <a:gdLst>
                <a:gd name="T0" fmla="*/ 23879 w 238759"/>
                <a:gd name="T1" fmla="*/ 5908 h 59054"/>
                <a:gd name="T2" fmla="*/ 10074 w 238759"/>
                <a:gd name="T3" fmla="*/ 5908 h 59054"/>
                <a:gd name="T4" fmla="*/ 2985 w 238759"/>
                <a:gd name="T5" fmla="*/ 5908 h 59054"/>
                <a:gd name="T6" fmla="*/ 373 w 238759"/>
                <a:gd name="T7" fmla="*/ 5908 h 59054"/>
                <a:gd name="T8" fmla="*/ 0 w 238759"/>
                <a:gd name="T9" fmla="*/ 5908 h 59054"/>
                <a:gd name="T10" fmla="*/ 0 w 238759"/>
                <a:gd name="T11" fmla="*/ 2492 h 59054"/>
                <a:gd name="T12" fmla="*/ 0 w 238759"/>
                <a:gd name="T13" fmla="*/ 739 h 59054"/>
                <a:gd name="T14" fmla="*/ 0 w 238759"/>
                <a:gd name="T15" fmla="*/ 92 h 59054"/>
                <a:gd name="T16" fmla="*/ 0 w 238759"/>
                <a:gd name="T17" fmla="*/ 0 h 59054"/>
                <a:gd name="T18" fmla="*/ 13805 w 238759"/>
                <a:gd name="T19" fmla="*/ 0 h 59054"/>
                <a:gd name="T20" fmla="*/ 20894 w 238759"/>
                <a:gd name="T21" fmla="*/ 0 h 59054"/>
                <a:gd name="T22" fmla="*/ 23505 w 238759"/>
                <a:gd name="T23" fmla="*/ 0 h 59054"/>
                <a:gd name="T24" fmla="*/ 23879 w 238759"/>
                <a:gd name="T25" fmla="*/ 0 h 59054"/>
                <a:gd name="T26" fmla="*/ 23879 w 238759"/>
                <a:gd name="T27" fmla="*/ 5908 h 590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38759" h="59054">
                  <a:moveTo>
                    <a:pt x="238506" y="59004"/>
                  </a:moveTo>
                  <a:lnTo>
                    <a:pt x="100619" y="59004"/>
                  </a:lnTo>
                  <a:lnTo>
                    <a:pt x="29813" y="59004"/>
                  </a:lnTo>
                  <a:lnTo>
                    <a:pt x="3726" y="59004"/>
                  </a:lnTo>
                  <a:lnTo>
                    <a:pt x="0" y="59004"/>
                  </a:lnTo>
                  <a:lnTo>
                    <a:pt x="0" y="24892"/>
                  </a:lnTo>
                  <a:lnTo>
                    <a:pt x="0" y="7375"/>
                  </a:lnTo>
                  <a:lnTo>
                    <a:pt x="0" y="921"/>
                  </a:lnTo>
                  <a:lnTo>
                    <a:pt x="0" y="0"/>
                  </a:lnTo>
                  <a:lnTo>
                    <a:pt x="137886" y="0"/>
                  </a:lnTo>
                  <a:lnTo>
                    <a:pt x="208692" y="0"/>
                  </a:lnTo>
                  <a:lnTo>
                    <a:pt x="234779" y="0"/>
                  </a:lnTo>
                  <a:lnTo>
                    <a:pt x="238506" y="0"/>
                  </a:lnTo>
                  <a:lnTo>
                    <a:pt x="238506" y="59004"/>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29" name="object 47"/>
            <p:cNvSpPr/>
            <p:nvPr/>
          </p:nvSpPr>
          <p:spPr bwMode="auto">
            <a:xfrm>
              <a:off x="7630667" y="5188554"/>
              <a:ext cx="314801" cy="50482"/>
            </a:xfrm>
            <a:custGeom>
              <a:avLst/>
              <a:gdLst>
                <a:gd name="T0" fmla="*/ 0 w 419734"/>
                <a:gd name="T1" fmla="*/ 0 h 67310"/>
                <a:gd name="T2" fmla="*/ 24272 w 419734"/>
                <a:gd name="T3" fmla="*/ 0 h 67310"/>
                <a:gd name="T4" fmla="*/ 36735 w 419734"/>
                <a:gd name="T5" fmla="*/ 0 h 67310"/>
                <a:gd name="T6" fmla="*/ 41327 w 419734"/>
                <a:gd name="T7" fmla="*/ 0 h 67310"/>
                <a:gd name="T8" fmla="*/ 41983 w 419734"/>
                <a:gd name="T9" fmla="*/ 0 h 67310"/>
                <a:gd name="T10" fmla="*/ 41983 w 419734"/>
                <a:gd name="T11" fmla="*/ 3893 h 67310"/>
                <a:gd name="T12" fmla="*/ 41983 w 419734"/>
                <a:gd name="T13" fmla="*/ 5893 h 67310"/>
                <a:gd name="T14" fmla="*/ 41983 w 419734"/>
                <a:gd name="T15" fmla="*/ 6629 h 67310"/>
                <a:gd name="T16" fmla="*/ 41983 w 419734"/>
                <a:gd name="T17" fmla="*/ 6734 h 67310"/>
                <a:gd name="T18" fmla="*/ 17711 w 419734"/>
                <a:gd name="T19" fmla="*/ 6734 h 67310"/>
                <a:gd name="T20" fmla="*/ 5249 w 419734"/>
                <a:gd name="T21" fmla="*/ 6734 h 67310"/>
                <a:gd name="T22" fmla="*/ 656 w 419734"/>
                <a:gd name="T23" fmla="*/ 6734 h 67310"/>
                <a:gd name="T24" fmla="*/ 0 w 419734"/>
                <a:gd name="T25" fmla="*/ 6734 h 67310"/>
                <a:gd name="T26" fmla="*/ 0 w 419734"/>
                <a:gd name="T27" fmla="*/ 0 h 673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19734" h="67310">
                  <a:moveTo>
                    <a:pt x="0" y="0"/>
                  </a:moveTo>
                  <a:lnTo>
                    <a:pt x="242439" y="0"/>
                  </a:lnTo>
                  <a:lnTo>
                    <a:pt x="366934" y="0"/>
                  </a:lnTo>
                  <a:lnTo>
                    <a:pt x="412801" y="0"/>
                  </a:lnTo>
                  <a:lnTo>
                    <a:pt x="419353" y="0"/>
                  </a:lnTo>
                  <a:lnTo>
                    <a:pt x="419353" y="38891"/>
                  </a:lnTo>
                  <a:lnTo>
                    <a:pt x="419353" y="58862"/>
                  </a:lnTo>
                  <a:lnTo>
                    <a:pt x="419353" y="66220"/>
                  </a:lnTo>
                  <a:lnTo>
                    <a:pt x="419353" y="67271"/>
                  </a:lnTo>
                  <a:lnTo>
                    <a:pt x="176914" y="67271"/>
                  </a:lnTo>
                  <a:lnTo>
                    <a:pt x="52419" y="67271"/>
                  </a:lnTo>
                  <a:lnTo>
                    <a:pt x="6552" y="67271"/>
                  </a:lnTo>
                  <a:lnTo>
                    <a:pt x="0" y="67271"/>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0" name="object 48"/>
            <p:cNvSpPr/>
            <p:nvPr/>
          </p:nvSpPr>
          <p:spPr bwMode="auto">
            <a:xfrm>
              <a:off x="7630667" y="5246083"/>
              <a:ext cx="314801" cy="42862"/>
            </a:xfrm>
            <a:custGeom>
              <a:avLst/>
              <a:gdLst>
                <a:gd name="T0" fmla="*/ 0 w 419734"/>
                <a:gd name="T1" fmla="*/ 0 h 57150"/>
                <a:gd name="T2" fmla="*/ 24272 w 419734"/>
                <a:gd name="T3" fmla="*/ 0 h 57150"/>
                <a:gd name="T4" fmla="*/ 36735 w 419734"/>
                <a:gd name="T5" fmla="*/ 0 h 57150"/>
                <a:gd name="T6" fmla="*/ 41327 w 419734"/>
                <a:gd name="T7" fmla="*/ 0 h 57150"/>
                <a:gd name="T8" fmla="*/ 41983 w 419734"/>
                <a:gd name="T9" fmla="*/ 0 h 57150"/>
                <a:gd name="T10" fmla="*/ 41983 w 419734"/>
                <a:gd name="T11" fmla="*/ 3279 h 57150"/>
                <a:gd name="T12" fmla="*/ 41983 w 419734"/>
                <a:gd name="T13" fmla="*/ 4963 h 57150"/>
                <a:gd name="T14" fmla="*/ 41983 w 419734"/>
                <a:gd name="T15" fmla="*/ 5583 h 57150"/>
                <a:gd name="T16" fmla="*/ 41983 w 419734"/>
                <a:gd name="T17" fmla="*/ 5671 h 57150"/>
                <a:gd name="T18" fmla="*/ 17711 w 419734"/>
                <a:gd name="T19" fmla="*/ 5671 h 57150"/>
                <a:gd name="T20" fmla="*/ 5249 w 419734"/>
                <a:gd name="T21" fmla="*/ 5671 h 57150"/>
                <a:gd name="T22" fmla="*/ 656 w 419734"/>
                <a:gd name="T23" fmla="*/ 5671 h 57150"/>
                <a:gd name="T24" fmla="*/ 0 w 419734"/>
                <a:gd name="T25" fmla="*/ 5671 h 57150"/>
                <a:gd name="T26" fmla="*/ 0 w 419734"/>
                <a:gd name="T27" fmla="*/ 0 h 57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19734" h="57150">
                  <a:moveTo>
                    <a:pt x="0" y="0"/>
                  </a:moveTo>
                  <a:lnTo>
                    <a:pt x="242439" y="0"/>
                  </a:lnTo>
                  <a:lnTo>
                    <a:pt x="366934" y="0"/>
                  </a:lnTo>
                  <a:lnTo>
                    <a:pt x="412801" y="0"/>
                  </a:lnTo>
                  <a:lnTo>
                    <a:pt x="419353" y="0"/>
                  </a:lnTo>
                  <a:lnTo>
                    <a:pt x="419353" y="32753"/>
                  </a:lnTo>
                  <a:lnTo>
                    <a:pt x="419353" y="49572"/>
                  </a:lnTo>
                  <a:lnTo>
                    <a:pt x="419353" y="55769"/>
                  </a:lnTo>
                  <a:lnTo>
                    <a:pt x="419353" y="56654"/>
                  </a:lnTo>
                  <a:lnTo>
                    <a:pt x="176914" y="56654"/>
                  </a:lnTo>
                  <a:lnTo>
                    <a:pt x="52419" y="56654"/>
                  </a:lnTo>
                  <a:lnTo>
                    <a:pt x="6552" y="56654"/>
                  </a:lnTo>
                  <a:lnTo>
                    <a:pt x="0" y="56654"/>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1" name="object 49"/>
            <p:cNvSpPr/>
            <p:nvPr/>
          </p:nvSpPr>
          <p:spPr bwMode="auto">
            <a:xfrm>
              <a:off x="7630667" y="5296538"/>
              <a:ext cx="413385" cy="69056"/>
            </a:xfrm>
            <a:custGeom>
              <a:avLst/>
              <a:gdLst>
                <a:gd name="T0" fmla="*/ 0 w 551179"/>
                <a:gd name="T1" fmla="*/ 0 h 92075"/>
                <a:gd name="T2" fmla="*/ 24272 w 551179"/>
                <a:gd name="T3" fmla="*/ 0 h 92075"/>
                <a:gd name="T4" fmla="*/ 36735 w 551179"/>
                <a:gd name="T5" fmla="*/ 0 h 92075"/>
                <a:gd name="T6" fmla="*/ 41327 w 551179"/>
                <a:gd name="T7" fmla="*/ 0 h 92075"/>
                <a:gd name="T8" fmla="*/ 41983 w 551179"/>
                <a:gd name="T9" fmla="*/ 0 h 92075"/>
                <a:gd name="T10" fmla="*/ 41983 w 551179"/>
                <a:gd name="T11" fmla="*/ 2527 h 92075"/>
                <a:gd name="T12" fmla="*/ 41983 w 551179"/>
                <a:gd name="T13" fmla="*/ 3824 h 92075"/>
                <a:gd name="T14" fmla="*/ 41983 w 551179"/>
                <a:gd name="T15" fmla="*/ 4303 h 92075"/>
                <a:gd name="T16" fmla="*/ 41983 w 551179"/>
                <a:gd name="T17" fmla="*/ 4370 h 92075"/>
                <a:gd name="T18" fmla="*/ 49583 w 551179"/>
                <a:gd name="T19" fmla="*/ 4370 h 92075"/>
                <a:gd name="T20" fmla="*/ 53486 w 551179"/>
                <a:gd name="T21" fmla="*/ 4370 h 92075"/>
                <a:gd name="T22" fmla="*/ 54924 w 551179"/>
                <a:gd name="T23" fmla="*/ 4370 h 92075"/>
                <a:gd name="T24" fmla="*/ 55130 w 551179"/>
                <a:gd name="T25" fmla="*/ 4370 h 92075"/>
                <a:gd name="T26" fmla="*/ 55130 w 551179"/>
                <a:gd name="T27" fmla="*/ 7171 h 92075"/>
                <a:gd name="T28" fmla="*/ 55130 w 551179"/>
                <a:gd name="T29" fmla="*/ 8609 h 92075"/>
                <a:gd name="T30" fmla="*/ 55130 w 551179"/>
                <a:gd name="T31" fmla="*/ 9139 h 92075"/>
                <a:gd name="T32" fmla="*/ 55130 w 551179"/>
                <a:gd name="T33" fmla="*/ 9215 h 92075"/>
                <a:gd name="T34" fmla="*/ 43082 w 551179"/>
                <a:gd name="T35" fmla="*/ 9215 h 92075"/>
                <a:gd name="T36" fmla="*/ 36896 w 551179"/>
                <a:gd name="T37" fmla="*/ 9215 h 92075"/>
                <a:gd name="T38" fmla="*/ 34617 w 551179"/>
                <a:gd name="T39" fmla="*/ 9215 h 92075"/>
                <a:gd name="T40" fmla="*/ 34292 w 551179"/>
                <a:gd name="T41" fmla="*/ 9215 h 92075"/>
                <a:gd name="T42" fmla="*/ 34292 w 551179"/>
                <a:gd name="T43" fmla="*/ 7165 h 92075"/>
                <a:gd name="T44" fmla="*/ 34292 w 551179"/>
                <a:gd name="T45" fmla="*/ 6113 h 92075"/>
                <a:gd name="T46" fmla="*/ 34292 w 551179"/>
                <a:gd name="T47" fmla="*/ 5726 h 92075"/>
                <a:gd name="T48" fmla="*/ 34292 w 551179"/>
                <a:gd name="T49" fmla="*/ 5671 h 92075"/>
                <a:gd name="T50" fmla="*/ 18914 w 551179"/>
                <a:gd name="T51" fmla="*/ 5671 h 92075"/>
                <a:gd name="T52" fmla="*/ 11018 w 551179"/>
                <a:gd name="T53" fmla="*/ 5671 h 92075"/>
                <a:gd name="T54" fmla="*/ 8108 w 551179"/>
                <a:gd name="T55" fmla="*/ 5671 h 92075"/>
                <a:gd name="T56" fmla="*/ 7692 w 551179"/>
                <a:gd name="T57" fmla="*/ 5671 h 92075"/>
                <a:gd name="T58" fmla="*/ 7692 w 551179"/>
                <a:gd name="T59" fmla="*/ 7719 h 92075"/>
                <a:gd name="T60" fmla="*/ 7692 w 551179"/>
                <a:gd name="T61" fmla="*/ 8772 h 92075"/>
                <a:gd name="T62" fmla="*/ 7692 w 551179"/>
                <a:gd name="T63" fmla="*/ 9160 h 92075"/>
                <a:gd name="T64" fmla="*/ 7692 w 551179"/>
                <a:gd name="T65" fmla="*/ 9215 h 92075"/>
                <a:gd name="T66" fmla="*/ 3245 w 551179"/>
                <a:gd name="T67" fmla="*/ 9215 h 92075"/>
                <a:gd name="T68" fmla="*/ 962 w 551179"/>
                <a:gd name="T69" fmla="*/ 9215 h 92075"/>
                <a:gd name="T70" fmla="*/ 121 w 551179"/>
                <a:gd name="T71" fmla="*/ 9215 h 92075"/>
                <a:gd name="T72" fmla="*/ 0 w 551179"/>
                <a:gd name="T73" fmla="*/ 9215 h 92075"/>
                <a:gd name="T74" fmla="*/ 0 w 551179"/>
                <a:gd name="T75" fmla="*/ 0 h 9207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179" h="92075">
                  <a:moveTo>
                    <a:pt x="0" y="0"/>
                  </a:moveTo>
                  <a:lnTo>
                    <a:pt x="242439" y="0"/>
                  </a:lnTo>
                  <a:lnTo>
                    <a:pt x="366934" y="0"/>
                  </a:lnTo>
                  <a:lnTo>
                    <a:pt x="412801" y="0"/>
                  </a:lnTo>
                  <a:lnTo>
                    <a:pt x="419353" y="0"/>
                  </a:lnTo>
                  <a:lnTo>
                    <a:pt x="419353" y="25242"/>
                  </a:lnTo>
                  <a:lnTo>
                    <a:pt x="419353" y="38204"/>
                  </a:lnTo>
                  <a:lnTo>
                    <a:pt x="419353" y="42980"/>
                  </a:lnTo>
                  <a:lnTo>
                    <a:pt x="419353" y="43662"/>
                  </a:lnTo>
                  <a:lnTo>
                    <a:pt x="495272" y="43662"/>
                  </a:lnTo>
                  <a:lnTo>
                    <a:pt x="534257" y="43662"/>
                  </a:lnTo>
                  <a:lnTo>
                    <a:pt x="548620" y="43662"/>
                  </a:lnTo>
                  <a:lnTo>
                    <a:pt x="550672" y="43662"/>
                  </a:lnTo>
                  <a:lnTo>
                    <a:pt x="550672" y="71636"/>
                  </a:lnTo>
                  <a:lnTo>
                    <a:pt x="550672" y="86001"/>
                  </a:lnTo>
                  <a:lnTo>
                    <a:pt x="550672" y="91293"/>
                  </a:lnTo>
                  <a:lnTo>
                    <a:pt x="550672" y="92049"/>
                  </a:lnTo>
                  <a:lnTo>
                    <a:pt x="430333" y="92049"/>
                  </a:lnTo>
                  <a:lnTo>
                    <a:pt x="368538" y="92049"/>
                  </a:lnTo>
                  <a:lnTo>
                    <a:pt x="345771" y="92049"/>
                  </a:lnTo>
                  <a:lnTo>
                    <a:pt x="342519" y="92049"/>
                  </a:lnTo>
                  <a:lnTo>
                    <a:pt x="342519" y="71579"/>
                  </a:lnTo>
                  <a:lnTo>
                    <a:pt x="342519" y="61067"/>
                  </a:lnTo>
                  <a:lnTo>
                    <a:pt x="342519" y="57195"/>
                  </a:lnTo>
                  <a:lnTo>
                    <a:pt x="342519" y="56641"/>
                  </a:lnTo>
                  <a:lnTo>
                    <a:pt x="188920" y="56641"/>
                  </a:lnTo>
                  <a:lnTo>
                    <a:pt x="110045" y="56641"/>
                  </a:lnTo>
                  <a:lnTo>
                    <a:pt x="80986" y="56641"/>
                  </a:lnTo>
                  <a:lnTo>
                    <a:pt x="76834" y="56641"/>
                  </a:lnTo>
                  <a:lnTo>
                    <a:pt x="76834" y="77112"/>
                  </a:lnTo>
                  <a:lnTo>
                    <a:pt x="76834" y="87623"/>
                  </a:lnTo>
                  <a:lnTo>
                    <a:pt x="76834" y="91496"/>
                  </a:lnTo>
                  <a:lnTo>
                    <a:pt x="76834" y="92049"/>
                  </a:lnTo>
                  <a:lnTo>
                    <a:pt x="32414" y="92049"/>
                  </a:lnTo>
                  <a:lnTo>
                    <a:pt x="9604" y="92049"/>
                  </a:lnTo>
                  <a:lnTo>
                    <a:pt x="1200" y="92049"/>
                  </a:lnTo>
                  <a:lnTo>
                    <a:pt x="0" y="92049"/>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2" name="object 50"/>
            <p:cNvSpPr/>
            <p:nvPr/>
          </p:nvSpPr>
          <p:spPr bwMode="auto">
            <a:xfrm>
              <a:off x="7699058" y="5346106"/>
              <a:ext cx="179070" cy="44291"/>
            </a:xfrm>
            <a:custGeom>
              <a:avLst/>
              <a:gdLst>
                <a:gd name="T0" fmla="*/ 23879 w 238759"/>
                <a:gd name="T1" fmla="*/ 0 h 59054"/>
                <a:gd name="T2" fmla="*/ 23879 w 238759"/>
                <a:gd name="T3" fmla="*/ 3415 h 59054"/>
                <a:gd name="T4" fmla="*/ 23879 w 238759"/>
                <a:gd name="T5" fmla="*/ 5169 h 59054"/>
                <a:gd name="T6" fmla="*/ 23879 w 238759"/>
                <a:gd name="T7" fmla="*/ 5816 h 59054"/>
                <a:gd name="T8" fmla="*/ 23879 w 238759"/>
                <a:gd name="T9" fmla="*/ 5908 h 59054"/>
                <a:gd name="T10" fmla="*/ 10074 w 238759"/>
                <a:gd name="T11" fmla="*/ 5908 h 59054"/>
                <a:gd name="T12" fmla="*/ 2985 w 238759"/>
                <a:gd name="T13" fmla="*/ 5908 h 59054"/>
                <a:gd name="T14" fmla="*/ 373 w 238759"/>
                <a:gd name="T15" fmla="*/ 5908 h 59054"/>
                <a:gd name="T16" fmla="*/ 0 w 238759"/>
                <a:gd name="T17" fmla="*/ 5908 h 59054"/>
                <a:gd name="T18" fmla="*/ 0 w 238759"/>
                <a:gd name="T19" fmla="*/ 2492 h 59054"/>
                <a:gd name="T20" fmla="*/ 0 w 238759"/>
                <a:gd name="T21" fmla="*/ 739 h 59054"/>
                <a:gd name="T22" fmla="*/ 0 w 238759"/>
                <a:gd name="T23" fmla="*/ 92 h 59054"/>
                <a:gd name="T24" fmla="*/ 0 w 238759"/>
                <a:gd name="T25" fmla="*/ 0 h 59054"/>
                <a:gd name="T26" fmla="*/ 23879 w 238759"/>
                <a:gd name="T27" fmla="*/ 0 h 590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38759" h="59054">
                  <a:moveTo>
                    <a:pt x="238506" y="0"/>
                  </a:moveTo>
                  <a:lnTo>
                    <a:pt x="238506" y="34111"/>
                  </a:lnTo>
                  <a:lnTo>
                    <a:pt x="238506" y="51628"/>
                  </a:lnTo>
                  <a:lnTo>
                    <a:pt x="238506" y="58082"/>
                  </a:lnTo>
                  <a:lnTo>
                    <a:pt x="238506" y="59004"/>
                  </a:lnTo>
                  <a:lnTo>
                    <a:pt x="100619" y="59004"/>
                  </a:lnTo>
                  <a:lnTo>
                    <a:pt x="29813" y="59004"/>
                  </a:lnTo>
                  <a:lnTo>
                    <a:pt x="3726" y="59004"/>
                  </a:lnTo>
                  <a:lnTo>
                    <a:pt x="0" y="59004"/>
                  </a:lnTo>
                  <a:lnTo>
                    <a:pt x="0" y="24892"/>
                  </a:lnTo>
                  <a:lnTo>
                    <a:pt x="0" y="7375"/>
                  </a:lnTo>
                  <a:lnTo>
                    <a:pt x="0" y="921"/>
                  </a:lnTo>
                  <a:lnTo>
                    <a:pt x="0" y="0"/>
                  </a:lnTo>
                  <a:lnTo>
                    <a:pt x="238506"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3" name="object 51"/>
            <p:cNvSpPr/>
            <p:nvPr/>
          </p:nvSpPr>
          <p:spPr bwMode="auto">
            <a:xfrm>
              <a:off x="7630667" y="5372653"/>
              <a:ext cx="413385" cy="94773"/>
            </a:xfrm>
            <a:custGeom>
              <a:avLst/>
              <a:gdLst>
                <a:gd name="T0" fmla="*/ 0 w 551179"/>
                <a:gd name="T1" fmla="*/ 0 h 126364"/>
                <a:gd name="T2" fmla="*/ 4448 w 551179"/>
                <a:gd name="T3" fmla="*/ 0 h 126364"/>
                <a:gd name="T4" fmla="*/ 6731 w 551179"/>
                <a:gd name="T5" fmla="*/ 0 h 126364"/>
                <a:gd name="T6" fmla="*/ 7573 w 551179"/>
                <a:gd name="T7" fmla="*/ 0 h 126364"/>
                <a:gd name="T8" fmla="*/ 7692 w 551179"/>
                <a:gd name="T9" fmla="*/ 0 h 126364"/>
                <a:gd name="T10" fmla="*/ 7692 w 551179"/>
                <a:gd name="T11" fmla="*/ 1982 h 126364"/>
                <a:gd name="T12" fmla="*/ 7692 w 551179"/>
                <a:gd name="T13" fmla="*/ 2999 h 126364"/>
                <a:gd name="T14" fmla="*/ 7692 w 551179"/>
                <a:gd name="T15" fmla="*/ 3373 h 126364"/>
                <a:gd name="T16" fmla="*/ 7692 w 551179"/>
                <a:gd name="T17" fmla="*/ 3427 h 126364"/>
                <a:gd name="T18" fmla="*/ 23069 w 551179"/>
                <a:gd name="T19" fmla="*/ 3427 h 126364"/>
                <a:gd name="T20" fmla="*/ 30966 w 551179"/>
                <a:gd name="T21" fmla="*/ 3427 h 126364"/>
                <a:gd name="T22" fmla="*/ 33875 w 551179"/>
                <a:gd name="T23" fmla="*/ 3427 h 126364"/>
                <a:gd name="T24" fmla="*/ 34292 w 551179"/>
                <a:gd name="T25" fmla="*/ 3427 h 126364"/>
                <a:gd name="T26" fmla="*/ 34292 w 551179"/>
                <a:gd name="T27" fmla="*/ 1446 h 126364"/>
                <a:gd name="T28" fmla="*/ 34292 w 551179"/>
                <a:gd name="T29" fmla="*/ 429 h 126364"/>
                <a:gd name="T30" fmla="*/ 34292 w 551179"/>
                <a:gd name="T31" fmla="*/ 54 h 126364"/>
                <a:gd name="T32" fmla="*/ 34292 w 551179"/>
                <a:gd name="T33" fmla="*/ 0 h 126364"/>
                <a:gd name="T34" fmla="*/ 46338 w 551179"/>
                <a:gd name="T35" fmla="*/ 0 h 126364"/>
                <a:gd name="T36" fmla="*/ 52526 w 551179"/>
                <a:gd name="T37" fmla="*/ 0 h 126364"/>
                <a:gd name="T38" fmla="*/ 54805 w 551179"/>
                <a:gd name="T39" fmla="*/ 0 h 126364"/>
                <a:gd name="T40" fmla="*/ 55130 w 551179"/>
                <a:gd name="T41" fmla="*/ 0 h 126364"/>
                <a:gd name="T42" fmla="*/ 55130 w 551179"/>
                <a:gd name="T43" fmla="*/ 7309 h 126364"/>
                <a:gd name="T44" fmla="*/ 55130 w 551179"/>
                <a:gd name="T45" fmla="*/ 11062 h 126364"/>
                <a:gd name="T46" fmla="*/ 55130 w 551179"/>
                <a:gd name="T47" fmla="*/ 12445 h 126364"/>
                <a:gd name="T48" fmla="*/ 55130 w 551179"/>
                <a:gd name="T49" fmla="*/ 12642 h 126364"/>
                <a:gd name="T50" fmla="*/ 43082 w 551179"/>
                <a:gd name="T51" fmla="*/ 12642 h 126364"/>
                <a:gd name="T52" fmla="*/ 36896 w 551179"/>
                <a:gd name="T53" fmla="*/ 12642 h 126364"/>
                <a:gd name="T54" fmla="*/ 34617 w 551179"/>
                <a:gd name="T55" fmla="*/ 12642 h 126364"/>
                <a:gd name="T56" fmla="*/ 34292 w 551179"/>
                <a:gd name="T57" fmla="*/ 12642 h 126364"/>
                <a:gd name="T58" fmla="*/ 34292 w 551179"/>
                <a:gd name="T59" fmla="*/ 10661 h 126364"/>
                <a:gd name="T60" fmla="*/ 34292 w 551179"/>
                <a:gd name="T61" fmla="*/ 9644 h 126364"/>
                <a:gd name="T62" fmla="*/ 34292 w 551179"/>
                <a:gd name="T63" fmla="*/ 9269 h 126364"/>
                <a:gd name="T64" fmla="*/ 34292 w 551179"/>
                <a:gd name="T65" fmla="*/ 9216 h 126364"/>
                <a:gd name="T66" fmla="*/ 18914 w 551179"/>
                <a:gd name="T67" fmla="*/ 9216 h 126364"/>
                <a:gd name="T68" fmla="*/ 11018 w 551179"/>
                <a:gd name="T69" fmla="*/ 9216 h 126364"/>
                <a:gd name="T70" fmla="*/ 8108 w 551179"/>
                <a:gd name="T71" fmla="*/ 9216 h 126364"/>
                <a:gd name="T72" fmla="*/ 7692 w 551179"/>
                <a:gd name="T73" fmla="*/ 9216 h 126364"/>
                <a:gd name="T74" fmla="*/ 7692 w 551179"/>
                <a:gd name="T75" fmla="*/ 11197 h 126364"/>
                <a:gd name="T76" fmla="*/ 7692 w 551179"/>
                <a:gd name="T77" fmla="*/ 12214 h 126364"/>
                <a:gd name="T78" fmla="*/ 7692 w 551179"/>
                <a:gd name="T79" fmla="*/ 12589 h 126364"/>
                <a:gd name="T80" fmla="*/ 7692 w 551179"/>
                <a:gd name="T81" fmla="*/ 12642 h 126364"/>
                <a:gd name="T82" fmla="*/ 3245 w 551179"/>
                <a:gd name="T83" fmla="*/ 12642 h 126364"/>
                <a:gd name="T84" fmla="*/ 962 w 551179"/>
                <a:gd name="T85" fmla="*/ 12642 h 126364"/>
                <a:gd name="T86" fmla="*/ 121 w 551179"/>
                <a:gd name="T87" fmla="*/ 12642 h 126364"/>
                <a:gd name="T88" fmla="*/ 0 w 551179"/>
                <a:gd name="T89" fmla="*/ 12642 h 126364"/>
                <a:gd name="T90" fmla="*/ 0 w 551179"/>
                <a:gd name="T91" fmla="*/ 0 h 12636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51179" h="126364">
                  <a:moveTo>
                    <a:pt x="0" y="0"/>
                  </a:moveTo>
                  <a:lnTo>
                    <a:pt x="44420" y="0"/>
                  </a:lnTo>
                  <a:lnTo>
                    <a:pt x="67230" y="0"/>
                  </a:lnTo>
                  <a:lnTo>
                    <a:pt x="75634" y="0"/>
                  </a:lnTo>
                  <a:lnTo>
                    <a:pt x="76834" y="0"/>
                  </a:lnTo>
                  <a:lnTo>
                    <a:pt x="76834" y="19787"/>
                  </a:lnTo>
                  <a:lnTo>
                    <a:pt x="76834" y="29948"/>
                  </a:lnTo>
                  <a:lnTo>
                    <a:pt x="76834" y="33691"/>
                  </a:lnTo>
                  <a:lnTo>
                    <a:pt x="76834" y="34226"/>
                  </a:lnTo>
                  <a:lnTo>
                    <a:pt x="230433" y="34226"/>
                  </a:lnTo>
                  <a:lnTo>
                    <a:pt x="309308" y="34226"/>
                  </a:lnTo>
                  <a:lnTo>
                    <a:pt x="338367" y="34226"/>
                  </a:lnTo>
                  <a:lnTo>
                    <a:pt x="342519" y="34226"/>
                  </a:lnTo>
                  <a:lnTo>
                    <a:pt x="342519" y="14439"/>
                  </a:lnTo>
                  <a:lnTo>
                    <a:pt x="342519" y="4278"/>
                  </a:lnTo>
                  <a:lnTo>
                    <a:pt x="342519" y="534"/>
                  </a:lnTo>
                  <a:lnTo>
                    <a:pt x="342519" y="0"/>
                  </a:lnTo>
                  <a:lnTo>
                    <a:pt x="462857" y="0"/>
                  </a:lnTo>
                  <a:lnTo>
                    <a:pt x="524652" y="0"/>
                  </a:lnTo>
                  <a:lnTo>
                    <a:pt x="547419" y="0"/>
                  </a:lnTo>
                  <a:lnTo>
                    <a:pt x="550672" y="0"/>
                  </a:lnTo>
                  <a:lnTo>
                    <a:pt x="550672" y="73003"/>
                  </a:lnTo>
                  <a:lnTo>
                    <a:pt x="550672" y="110491"/>
                  </a:lnTo>
                  <a:lnTo>
                    <a:pt x="550672" y="124303"/>
                  </a:lnTo>
                  <a:lnTo>
                    <a:pt x="550672" y="126276"/>
                  </a:lnTo>
                  <a:lnTo>
                    <a:pt x="430333" y="126276"/>
                  </a:lnTo>
                  <a:lnTo>
                    <a:pt x="368538" y="126276"/>
                  </a:lnTo>
                  <a:lnTo>
                    <a:pt x="345771" y="126276"/>
                  </a:lnTo>
                  <a:lnTo>
                    <a:pt x="342519" y="126276"/>
                  </a:lnTo>
                  <a:lnTo>
                    <a:pt x="342519" y="106488"/>
                  </a:lnTo>
                  <a:lnTo>
                    <a:pt x="342519" y="96327"/>
                  </a:lnTo>
                  <a:lnTo>
                    <a:pt x="342519" y="92584"/>
                  </a:lnTo>
                  <a:lnTo>
                    <a:pt x="342519" y="92049"/>
                  </a:lnTo>
                  <a:lnTo>
                    <a:pt x="188920" y="92049"/>
                  </a:lnTo>
                  <a:lnTo>
                    <a:pt x="110045" y="92049"/>
                  </a:lnTo>
                  <a:lnTo>
                    <a:pt x="80986" y="92049"/>
                  </a:lnTo>
                  <a:lnTo>
                    <a:pt x="76834" y="92049"/>
                  </a:lnTo>
                  <a:lnTo>
                    <a:pt x="76834" y="111836"/>
                  </a:lnTo>
                  <a:lnTo>
                    <a:pt x="76834" y="121997"/>
                  </a:lnTo>
                  <a:lnTo>
                    <a:pt x="76834" y="125741"/>
                  </a:lnTo>
                  <a:lnTo>
                    <a:pt x="76834" y="126276"/>
                  </a:lnTo>
                  <a:lnTo>
                    <a:pt x="32414" y="126276"/>
                  </a:lnTo>
                  <a:lnTo>
                    <a:pt x="9604" y="126276"/>
                  </a:lnTo>
                  <a:lnTo>
                    <a:pt x="1200" y="126276"/>
                  </a:lnTo>
                  <a:lnTo>
                    <a:pt x="0" y="126276"/>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4" name="object 52"/>
            <p:cNvSpPr/>
            <p:nvPr/>
          </p:nvSpPr>
          <p:spPr bwMode="auto">
            <a:xfrm>
              <a:off x="7499699" y="5016818"/>
              <a:ext cx="58102" cy="42862"/>
            </a:xfrm>
            <a:custGeom>
              <a:avLst/>
              <a:gdLst>
                <a:gd name="T0" fmla="*/ 3852 w 77470"/>
                <a:gd name="T1" fmla="*/ 0 h 57150"/>
                <a:gd name="T2" fmla="*/ 5333 w 77470"/>
                <a:gd name="T3" fmla="*/ 228 h 57150"/>
                <a:gd name="T4" fmla="*/ 6559 w 77470"/>
                <a:gd name="T5" fmla="*/ 844 h 57150"/>
                <a:gd name="T6" fmla="*/ 7396 w 77470"/>
                <a:gd name="T7" fmla="*/ 1748 h 57150"/>
                <a:gd name="T8" fmla="*/ 7704 w 77470"/>
                <a:gd name="T9" fmla="*/ 2836 h 57150"/>
                <a:gd name="T10" fmla="*/ 7396 w 77470"/>
                <a:gd name="T11" fmla="*/ 3929 h 57150"/>
                <a:gd name="T12" fmla="*/ 6559 w 77470"/>
                <a:gd name="T13" fmla="*/ 4833 h 57150"/>
                <a:gd name="T14" fmla="*/ 5333 w 77470"/>
                <a:gd name="T15" fmla="*/ 5448 h 57150"/>
                <a:gd name="T16" fmla="*/ 3852 w 77470"/>
                <a:gd name="T17" fmla="*/ 5675 h 57150"/>
                <a:gd name="T18" fmla="*/ 2305 w 77470"/>
                <a:gd name="T19" fmla="*/ 5448 h 57150"/>
                <a:gd name="T20" fmla="*/ 1087 w 77470"/>
                <a:gd name="T21" fmla="*/ 4833 h 57150"/>
                <a:gd name="T22" fmla="*/ 286 w 77470"/>
                <a:gd name="T23" fmla="*/ 3929 h 57150"/>
                <a:gd name="T24" fmla="*/ 0 w 77470"/>
                <a:gd name="T25" fmla="*/ 2836 h 57150"/>
                <a:gd name="T26" fmla="*/ 286 w 77470"/>
                <a:gd name="T27" fmla="*/ 1748 h 57150"/>
                <a:gd name="T28" fmla="*/ 1087 w 77470"/>
                <a:gd name="T29" fmla="*/ 844 h 57150"/>
                <a:gd name="T30" fmla="*/ 2305 w 77470"/>
                <a:gd name="T31" fmla="*/ 228 h 57150"/>
                <a:gd name="T32" fmla="*/ 3852 w 77470"/>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7150">
                  <a:moveTo>
                    <a:pt x="38480" y="0"/>
                  </a:moveTo>
                  <a:lnTo>
                    <a:pt x="53280" y="2282"/>
                  </a:lnTo>
                  <a:lnTo>
                    <a:pt x="65531" y="8445"/>
                  </a:lnTo>
                  <a:lnTo>
                    <a:pt x="73878" y="17466"/>
                  </a:lnTo>
                  <a:lnTo>
                    <a:pt x="76961" y="28321"/>
                  </a:lnTo>
                  <a:lnTo>
                    <a:pt x="73878" y="39247"/>
                  </a:lnTo>
                  <a:lnTo>
                    <a:pt x="65531" y="48279"/>
                  </a:lnTo>
                  <a:lnTo>
                    <a:pt x="53280" y="54424"/>
                  </a:lnTo>
                  <a:lnTo>
                    <a:pt x="38480" y="56692"/>
                  </a:lnTo>
                  <a:lnTo>
                    <a:pt x="23038" y="54424"/>
                  </a:lnTo>
                  <a:lnTo>
                    <a:pt x="10858" y="48279"/>
                  </a:lnTo>
                  <a:lnTo>
                    <a:pt x="2869" y="39247"/>
                  </a:lnTo>
                  <a:lnTo>
                    <a:pt x="0" y="28321"/>
                  </a:lnTo>
                  <a:lnTo>
                    <a:pt x="2869" y="17466"/>
                  </a:lnTo>
                  <a:lnTo>
                    <a:pt x="10858" y="8445"/>
                  </a:lnTo>
                  <a:lnTo>
                    <a:pt x="23038" y="2282"/>
                  </a:lnTo>
                  <a:lnTo>
                    <a:pt x="3848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5" name="object 53"/>
            <p:cNvSpPr/>
            <p:nvPr/>
          </p:nvSpPr>
          <p:spPr bwMode="auto">
            <a:xfrm>
              <a:off x="5803011" y="4729733"/>
              <a:ext cx="346710" cy="912495"/>
            </a:xfrm>
            <a:custGeom>
              <a:avLst/>
              <a:gdLst>
                <a:gd name="T0" fmla="*/ 37390 w 462279"/>
                <a:gd name="T1" fmla="*/ 39688 h 1216660"/>
                <a:gd name="T2" fmla="*/ 36170 w 462279"/>
                <a:gd name="T3" fmla="*/ 43794 h 1216660"/>
                <a:gd name="T4" fmla="*/ 40305 w 462279"/>
                <a:gd name="T5" fmla="*/ 46220 h 1216660"/>
                <a:gd name="T6" fmla="*/ 0 w 462279"/>
                <a:gd name="T7" fmla="*/ 118325 h 1216660"/>
                <a:gd name="T8" fmla="*/ 34035 w 462279"/>
                <a:gd name="T9" fmla="*/ 120748 h 1216660"/>
                <a:gd name="T10" fmla="*/ 39469 w 462279"/>
                <a:gd name="T11" fmla="*/ 121442 h 1216660"/>
                <a:gd name="T12" fmla="*/ 35952 w 462279"/>
                <a:gd name="T13" fmla="*/ 120462 h 1216660"/>
                <a:gd name="T14" fmla="*/ 33592 w 462279"/>
                <a:gd name="T15" fmla="*/ 117852 h 1216660"/>
                <a:gd name="T16" fmla="*/ 1437 w 462279"/>
                <a:gd name="T17" fmla="*/ 77189 h 1216660"/>
                <a:gd name="T18" fmla="*/ 43532 w 462279"/>
                <a:gd name="T19" fmla="*/ 45795 h 1216660"/>
                <a:gd name="T20" fmla="*/ 39538 w 462279"/>
                <a:gd name="T21" fmla="*/ 45047 h 1216660"/>
                <a:gd name="T22" fmla="*/ 37114 w 462279"/>
                <a:gd name="T23" fmla="*/ 42441 h 1216660"/>
                <a:gd name="T24" fmla="*/ 39538 w 462279"/>
                <a:gd name="T25" fmla="*/ 39833 h 1216660"/>
                <a:gd name="T26" fmla="*/ 43055 w 462279"/>
                <a:gd name="T27" fmla="*/ 38847 h 1216660"/>
                <a:gd name="T28" fmla="*/ 37432 w 462279"/>
                <a:gd name="T29" fmla="*/ 115016 h 1216660"/>
                <a:gd name="T30" fmla="*/ 40985 w 462279"/>
                <a:gd name="T31" fmla="*/ 116761 h 1216660"/>
                <a:gd name="T32" fmla="*/ 40191 w 462279"/>
                <a:gd name="T33" fmla="*/ 119847 h 1216660"/>
                <a:gd name="T34" fmla="*/ 40971 w 462279"/>
                <a:gd name="T35" fmla="*/ 120689 h 1216660"/>
                <a:gd name="T36" fmla="*/ 42709 w 462279"/>
                <a:gd name="T37" fmla="*/ 117852 h 1216660"/>
                <a:gd name="T38" fmla="*/ 40972 w 462279"/>
                <a:gd name="T39" fmla="*/ 115016 h 1216660"/>
                <a:gd name="T40" fmla="*/ 34035 w 462279"/>
                <a:gd name="T41" fmla="*/ 114956 h 1216660"/>
                <a:gd name="T42" fmla="*/ 33725 w 462279"/>
                <a:gd name="T43" fmla="*/ 117379 h 1216660"/>
                <a:gd name="T44" fmla="*/ 35952 w 462279"/>
                <a:gd name="T45" fmla="*/ 115242 h 1216660"/>
                <a:gd name="T46" fmla="*/ 39469 w 462279"/>
                <a:gd name="T47" fmla="*/ 114262 h 1216660"/>
                <a:gd name="T48" fmla="*/ 16036 w 462279"/>
                <a:gd name="T49" fmla="*/ 15778 h 1216660"/>
                <a:gd name="T50" fmla="*/ 12791 w 462279"/>
                <a:gd name="T51" fmla="*/ 19262 h 1216660"/>
                <a:gd name="T52" fmla="*/ 15629 w 462279"/>
                <a:gd name="T53" fmla="*/ 22640 h 1216660"/>
                <a:gd name="T54" fmla="*/ 18716 w 462279"/>
                <a:gd name="T55" fmla="*/ 76125 h 1216660"/>
                <a:gd name="T56" fmla="*/ 21409 w 462279"/>
                <a:gd name="T57" fmla="*/ 22111 h 1216660"/>
                <a:gd name="T58" fmla="*/ 15378 w 462279"/>
                <a:gd name="T59" fmla="*/ 21311 h 1216660"/>
                <a:gd name="T60" fmla="*/ 14547 w 462279"/>
                <a:gd name="T61" fmla="*/ 18176 h 1216660"/>
                <a:gd name="T62" fmla="*/ 18080 w 462279"/>
                <a:gd name="T63" fmla="*/ 16427 h 1216660"/>
                <a:gd name="T64" fmla="*/ 18080 w 462279"/>
                <a:gd name="T65" fmla="*/ 15486 h 1216660"/>
                <a:gd name="T66" fmla="*/ 27316 w 462279"/>
                <a:gd name="T67" fmla="*/ 1151 h 1216660"/>
                <a:gd name="T68" fmla="*/ 26099 w 462279"/>
                <a:gd name="T69" fmla="*/ 5261 h 1216660"/>
                <a:gd name="T70" fmla="*/ 30235 w 462279"/>
                <a:gd name="T71" fmla="*/ 7679 h 1216660"/>
                <a:gd name="T72" fmla="*/ 31673 w 462279"/>
                <a:gd name="T73" fmla="*/ 7679 h 1216660"/>
                <a:gd name="T74" fmla="*/ 30388 w 462279"/>
                <a:gd name="T75" fmla="*/ 6740 h 1216660"/>
                <a:gd name="T76" fmla="*/ 27449 w 462279"/>
                <a:gd name="T77" fmla="*/ 4908 h 1216660"/>
                <a:gd name="T78" fmla="*/ 28277 w 462279"/>
                <a:gd name="T79" fmla="*/ 1909 h 1216660"/>
                <a:gd name="T80" fmla="*/ 34510 w 462279"/>
                <a:gd name="T81" fmla="*/ 1068 h 1216660"/>
                <a:gd name="T82" fmla="*/ 44528 w 462279"/>
                <a:gd name="T83" fmla="*/ 39605 h 1216660"/>
                <a:gd name="T84" fmla="*/ 43808 w 462279"/>
                <a:gd name="T85" fmla="*/ 40446 h 1216660"/>
                <a:gd name="T86" fmla="*/ 44639 w 462279"/>
                <a:gd name="T87" fmla="*/ 43530 h 1216660"/>
                <a:gd name="T88" fmla="*/ 41106 w 462279"/>
                <a:gd name="T89" fmla="*/ 45274 h 1216660"/>
                <a:gd name="T90" fmla="*/ 45890 w 462279"/>
                <a:gd name="T91" fmla="*/ 43794 h 1216660"/>
                <a:gd name="T92" fmla="*/ 44689 w 462279"/>
                <a:gd name="T93" fmla="*/ 39688 h 1216660"/>
                <a:gd name="T94" fmla="*/ 18080 w 462279"/>
                <a:gd name="T95" fmla="*/ 16427 h 1216660"/>
                <a:gd name="T96" fmla="*/ 21611 w 462279"/>
                <a:gd name="T97" fmla="*/ 18176 h 1216660"/>
                <a:gd name="T98" fmla="*/ 20778 w 462279"/>
                <a:gd name="T99" fmla="*/ 21311 h 1216660"/>
                <a:gd name="T100" fmla="*/ 21409 w 462279"/>
                <a:gd name="T101" fmla="*/ 22111 h 1216660"/>
                <a:gd name="T102" fmla="*/ 23191 w 462279"/>
                <a:gd name="T103" fmla="*/ 19262 h 1216660"/>
                <a:gd name="T104" fmla="*/ 21407 w 462279"/>
                <a:gd name="T105" fmla="*/ 16427 h 1216660"/>
                <a:gd name="T106" fmla="*/ 32511 w 462279"/>
                <a:gd name="T107" fmla="*/ 1295 h 1216660"/>
                <a:gd name="T108" fmla="*/ 34877 w 462279"/>
                <a:gd name="T109" fmla="*/ 3903 h 1216660"/>
                <a:gd name="T110" fmla="*/ 32849 w 462279"/>
                <a:gd name="T111" fmla="*/ 6392 h 1216660"/>
                <a:gd name="T112" fmla="*/ 34868 w 462279"/>
                <a:gd name="T113" fmla="*/ 6416 h 1216660"/>
                <a:gd name="T114" fmla="*/ 35753 w 462279"/>
                <a:gd name="T115" fmla="*/ 2393 h 12166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62279" h="1216660">
                  <a:moveTo>
                    <a:pt x="410591" y="384937"/>
                  </a:moveTo>
                  <a:lnTo>
                    <a:pt x="390247" y="388028"/>
                  </a:lnTo>
                  <a:lnTo>
                    <a:pt x="373475" y="396430"/>
                  </a:lnTo>
                  <a:lnTo>
                    <a:pt x="362084" y="408832"/>
                  </a:lnTo>
                  <a:lnTo>
                    <a:pt x="357885" y="423925"/>
                  </a:lnTo>
                  <a:lnTo>
                    <a:pt x="361281" y="437442"/>
                  </a:lnTo>
                  <a:lnTo>
                    <a:pt x="370665" y="448979"/>
                  </a:lnTo>
                  <a:lnTo>
                    <a:pt x="384835" y="457426"/>
                  </a:lnTo>
                  <a:lnTo>
                    <a:pt x="402590" y="461670"/>
                  </a:lnTo>
                  <a:lnTo>
                    <a:pt x="402590" y="760387"/>
                  </a:lnTo>
                  <a:lnTo>
                    <a:pt x="0" y="760387"/>
                  </a:lnTo>
                  <a:lnTo>
                    <a:pt x="0" y="1181912"/>
                  </a:lnTo>
                  <a:lnTo>
                    <a:pt x="322706" y="1181912"/>
                  </a:lnTo>
                  <a:lnTo>
                    <a:pt x="328507" y="1195229"/>
                  </a:lnTo>
                  <a:lnTo>
                    <a:pt x="339963" y="1206114"/>
                  </a:lnTo>
                  <a:lnTo>
                    <a:pt x="355586" y="1213457"/>
                  </a:lnTo>
                  <a:lnTo>
                    <a:pt x="373887" y="1216152"/>
                  </a:lnTo>
                  <a:lnTo>
                    <a:pt x="394231" y="1213051"/>
                  </a:lnTo>
                  <a:lnTo>
                    <a:pt x="409241" y="1205522"/>
                  </a:lnTo>
                  <a:lnTo>
                    <a:pt x="373887" y="1205522"/>
                  </a:lnTo>
                  <a:lnTo>
                    <a:pt x="359108" y="1203254"/>
                  </a:lnTo>
                  <a:lnTo>
                    <a:pt x="346900" y="1197113"/>
                  </a:lnTo>
                  <a:lnTo>
                    <a:pt x="338597" y="1188093"/>
                  </a:lnTo>
                  <a:lnTo>
                    <a:pt x="335533" y="1177188"/>
                  </a:lnTo>
                  <a:lnTo>
                    <a:pt x="336861" y="1172464"/>
                  </a:lnTo>
                  <a:lnTo>
                    <a:pt x="14350" y="1172464"/>
                  </a:lnTo>
                  <a:lnTo>
                    <a:pt x="14350" y="771016"/>
                  </a:lnTo>
                  <a:lnTo>
                    <a:pt x="417068" y="771016"/>
                  </a:lnTo>
                  <a:lnTo>
                    <a:pt x="417068" y="461670"/>
                  </a:lnTo>
                  <a:lnTo>
                    <a:pt x="434822" y="457426"/>
                  </a:lnTo>
                  <a:lnTo>
                    <a:pt x="443554" y="452221"/>
                  </a:lnTo>
                  <a:lnTo>
                    <a:pt x="410591" y="452221"/>
                  </a:lnTo>
                  <a:lnTo>
                    <a:pt x="394930" y="449952"/>
                  </a:lnTo>
                  <a:lnTo>
                    <a:pt x="382269" y="443812"/>
                  </a:lnTo>
                  <a:lnTo>
                    <a:pt x="373800" y="434803"/>
                  </a:lnTo>
                  <a:lnTo>
                    <a:pt x="370712" y="423925"/>
                  </a:lnTo>
                  <a:lnTo>
                    <a:pt x="373800" y="413017"/>
                  </a:lnTo>
                  <a:lnTo>
                    <a:pt x="382269" y="404002"/>
                  </a:lnTo>
                  <a:lnTo>
                    <a:pt x="394930" y="397869"/>
                  </a:lnTo>
                  <a:lnTo>
                    <a:pt x="410591" y="395604"/>
                  </a:lnTo>
                  <a:lnTo>
                    <a:pt x="444769" y="395604"/>
                  </a:lnTo>
                  <a:lnTo>
                    <a:pt x="430053" y="388028"/>
                  </a:lnTo>
                  <a:lnTo>
                    <a:pt x="410591" y="384937"/>
                  </a:lnTo>
                  <a:close/>
                </a:path>
                <a:path w="462279" h="1216660">
                  <a:moveTo>
                    <a:pt x="409250" y="1148854"/>
                  </a:moveTo>
                  <a:lnTo>
                    <a:pt x="373887" y="1148854"/>
                  </a:lnTo>
                  <a:lnTo>
                    <a:pt x="389310" y="1151122"/>
                  </a:lnTo>
                  <a:lnTo>
                    <a:pt x="401447" y="1157263"/>
                  </a:lnTo>
                  <a:lnTo>
                    <a:pt x="409392" y="1166283"/>
                  </a:lnTo>
                  <a:lnTo>
                    <a:pt x="412242" y="1177188"/>
                  </a:lnTo>
                  <a:lnTo>
                    <a:pt x="409392" y="1188093"/>
                  </a:lnTo>
                  <a:lnTo>
                    <a:pt x="401447" y="1197113"/>
                  </a:lnTo>
                  <a:lnTo>
                    <a:pt x="389310" y="1203254"/>
                  </a:lnTo>
                  <a:lnTo>
                    <a:pt x="373887" y="1205522"/>
                  </a:lnTo>
                  <a:lnTo>
                    <a:pt x="409241" y="1205522"/>
                  </a:lnTo>
                  <a:lnTo>
                    <a:pt x="411003" y="1204637"/>
                  </a:lnTo>
                  <a:lnTo>
                    <a:pt x="422394" y="1192240"/>
                  </a:lnTo>
                  <a:lnTo>
                    <a:pt x="426593" y="1177188"/>
                  </a:lnTo>
                  <a:lnTo>
                    <a:pt x="422394" y="1162131"/>
                  </a:lnTo>
                  <a:lnTo>
                    <a:pt x="411003" y="1149734"/>
                  </a:lnTo>
                  <a:lnTo>
                    <a:pt x="409250" y="1148854"/>
                  </a:lnTo>
                  <a:close/>
                </a:path>
                <a:path w="462279" h="1216660">
                  <a:moveTo>
                    <a:pt x="373887" y="1138224"/>
                  </a:moveTo>
                  <a:lnTo>
                    <a:pt x="355586" y="1140918"/>
                  </a:lnTo>
                  <a:lnTo>
                    <a:pt x="339963" y="1148262"/>
                  </a:lnTo>
                  <a:lnTo>
                    <a:pt x="328507" y="1159147"/>
                  </a:lnTo>
                  <a:lnTo>
                    <a:pt x="322706" y="1172464"/>
                  </a:lnTo>
                  <a:lnTo>
                    <a:pt x="336861" y="1172464"/>
                  </a:lnTo>
                  <a:lnTo>
                    <a:pt x="338597" y="1166283"/>
                  </a:lnTo>
                  <a:lnTo>
                    <a:pt x="346900" y="1157263"/>
                  </a:lnTo>
                  <a:lnTo>
                    <a:pt x="359108" y="1151122"/>
                  </a:lnTo>
                  <a:lnTo>
                    <a:pt x="373887" y="1148854"/>
                  </a:lnTo>
                  <a:lnTo>
                    <a:pt x="409250" y="1148854"/>
                  </a:lnTo>
                  <a:lnTo>
                    <a:pt x="394231" y="1141323"/>
                  </a:lnTo>
                  <a:lnTo>
                    <a:pt x="373887" y="1138224"/>
                  </a:lnTo>
                  <a:close/>
                </a:path>
                <a:path w="462279" h="1216660">
                  <a:moveTo>
                    <a:pt x="180594" y="154685"/>
                  </a:moveTo>
                  <a:lnTo>
                    <a:pt x="160176" y="157597"/>
                  </a:lnTo>
                  <a:lnTo>
                    <a:pt x="143367" y="165592"/>
                  </a:lnTo>
                  <a:lnTo>
                    <a:pt x="131962" y="177563"/>
                  </a:lnTo>
                  <a:lnTo>
                    <a:pt x="127761" y="192404"/>
                  </a:lnTo>
                  <a:lnTo>
                    <a:pt x="131415" y="206444"/>
                  </a:lnTo>
                  <a:lnTo>
                    <a:pt x="141366" y="217947"/>
                  </a:lnTo>
                  <a:lnTo>
                    <a:pt x="156104" y="226141"/>
                  </a:lnTo>
                  <a:lnTo>
                    <a:pt x="174117" y="230250"/>
                  </a:lnTo>
                  <a:lnTo>
                    <a:pt x="174117" y="760387"/>
                  </a:lnTo>
                  <a:lnTo>
                    <a:pt x="186944" y="760387"/>
                  </a:lnTo>
                  <a:lnTo>
                    <a:pt x="186944" y="230250"/>
                  </a:lnTo>
                  <a:lnTo>
                    <a:pt x="204698" y="226141"/>
                  </a:lnTo>
                  <a:lnTo>
                    <a:pt x="213844" y="220853"/>
                  </a:lnTo>
                  <a:lnTo>
                    <a:pt x="180594" y="220853"/>
                  </a:lnTo>
                  <a:lnTo>
                    <a:pt x="165814" y="218747"/>
                  </a:lnTo>
                  <a:lnTo>
                    <a:pt x="153606" y="212867"/>
                  </a:lnTo>
                  <a:lnTo>
                    <a:pt x="145303" y="203868"/>
                  </a:lnTo>
                  <a:lnTo>
                    <a:pt x="142240" y="192404"/>
                  </a:lnTo>
                  <a:lnTo>
                    <a:pt x="145303" y="181550"/>
                  </a:lnTo>
                  <a:lnTo>
                    <a:pt x="153606" y="172529"/>
                  </a:lnTo>
                  <a:lnTo>
                    <a:pt x="165814" y="166366"/>
                  </a:lnTo>
                  <a:lnTo>
                    <a:pt x="180594" y="164084"/>
                  </a:lnTo>
                  <a:lnTo>
                    <a:pt x="213827" y="164084"/>
                  </a:lnTo>
                  <a:lnTo>
                    <a:pt x="200679" y="157597"/>
                  </a:lnTo>
                  <a:lnTo>
                    <a:pt x="180594" y="154685"/>
                  </a:lnTo>
                  <a:close/>
                </a:path>
                <a:path w="462279" h="1216660">
                  <a:moveTo>
                    <a:pt x="310006" y="0"/>
                  </a:moveTo>
                  <a:lnTo>
                    <a:pt x="289609" y="3091"/>
                  </a:lnTo>
                  <a:lnTo>
                    <a:pt x="272843" y="11493"/>
                  </a:lnTo>
                  <a:lnTo>
                    <a:pt x="261483" y="23895"/>
                  </a:lnTo>
                  <a:lnTo>
                    <a:pt x="257301" y="38988"/>
                  </a:lnTo>
                  <a:lnTo>
                    <a:pt x="260697" y="52544"/>
                  </a:lnTo>
                  <a:lnTo>
                    <a:pt x="270081" y="64087"/>
                  </a:lnTo>
                  <a:lnTo>
                    <a:pt x="284251" y="72511"/>
                  </a:lnTo>
                  <a:lnTo>
                    <a:pt x="302005" y="76707"/>
                  </a:lnTo>
                  <a:lnTo>
                    <a:pt x="302005" y="760387"/>
                  </a:lnTo>
                  <a:lnTo>
                    <a:pt x="316356" y="760387"/>
                  </a:lnTo>
                  <a:lnTo>
                    <a:pt x="316356" y="76707"/>
                  </a:lnTo>
                  <a:lnTo>
                    <a:pt x="334111" y="72511"/>
                  </a:lnTo>
                  <a:lnTo>
                    <a:pt x="342860" y="67310"/>
                  </a:lnTo>
                  <a:lnTo>
                    <a:pt x="303529" y="67310"/>
                  </a:lnTo>
                  <a:lnTo>
                    <a:pt x="291155" y="63849"/>
                  </a:lnTo>
                  <a:lnTo>
                    <a:pt x="281019" y="57531"/>
                  </a:lnTo>
                  <a:lnTo>
                    <a:pt x="274169" y="49022"/>
                  </a:lnTo>
                  <a:lnTo>
                    <a:pt x="271652" y="38988"/>
                  </a:lnTo>
                  <a:lnTo>
                    <a:pt x="274502" y="28080"/>
                  </a:lnTo>
                  <a:lnTo>
                    <a:pt x="282448" y="19065"/>
                  </a:lnTo>
                  <a:lnTo>
                    <a:pt x="294584" y="12932"/>
                  </a:lnTo>
                  <a:lnTo>
                    <a:pt x="310006" y="10668"/>
                  </a:lnTo>
                  <a:lnTo>
                    <a:pt x="344705" y="10668"/>
                  </a:lnTo>
                  <a:lnTo>
                    <a:pt x="330092" y="3091"/>
                  </a:lnTo>
                  <a:lnTo>
                    <a:pt x="310006" y="0"/>
                  </a:lnTo>
                  <a:close/>
                </a:path>
                <a:path w="462279" h="1216660">
                  <a:moveTo>
                    <a:pt x="444769" y="395604"/>
                  </a:moveTo>
                  <a:lnTo>
                    <a:pt x="410591" y="395604"/>
                  </a:lnTo>
                  <a:lnTo>
                    <a:pt x="425370" y="397869"/>
                  </a:lnTo>
                  <a:lnTo>
                    <a:pt x="437578" y="404002"/>
                  </a:lnTo>
                  <a:lnTo>
                    <a:pt x="445881" y="413017"/>
                  </a:lnTo>
                  <a:lnTo>
                    <a:pt x="448945" y="423925"/>
                  </a:lnTo>
                  <a:lnTo>
                    <a:pt x="445881" y="434803"/>
                  </a:lnTo>
                  <a:lnTo>
                    <a:pt x="437578" y="443812"/>
                  </a:lnTo>
                  <a:lnTo>
                    <a:pt x="425370" y="449952"/>
                  </a:lnTo>
                  <a:lnTo>
                    <a:pt x="410591" y="452221"/>
                  </a:lnTo>
                  <a:lnTo>
                    <a:pt x="443554" y="452221"/>
                  </a:lnTo>
                  <a:lnTo>
                    <a:pt x="448992" y="448979"/>
                  </a:lnTo>
                  <a:lnTo>
                    <a:pt x="458376" y="437442"/>
                  </a:lnTo>
                  <a:lnTo>
                    <a:pt x="461772" y="423925"/>
                  </a:lnTo>
                  <a:lnTo>
                    <a:pt x="457596" y="408832"/>
                  </a:lnTo>
                  <a:lnTo>
                    <a:pt x="446373" y="396430"/>
                  </a:lnTo>
                  <a:lnTo>
                    <a:pt x="444769" y="395604"/>
                  </a:lnTo>
                  <a:close/>
                </a:path>
                <a:path w="462279" h="1216660">
                  <a:moveTo>
                    <a:pt x="213827" y="164084"/>
                  </a:moveTo>
                  <a:lnTo>
                    <a:pt x="180594" y="164084"/>
                  </a:lnTo>
                  <a:lnTo>
                    <a:pt x="195320" y="166366"/>
                  </a:lnTo>
                  <a:lnTo>
                    <a:pt x="207533" y="172529"/>
                  </a:lnTo>
                  <a:lnTo>
                    <a:pt x="215866" y="181550"/>
                  </a:lnTo>
                  <a:lnTo>
                    <a:pt x="218948" y="192404"/>
                  </a:lnTo>
                  <a:lnTo>
                    <a:pt x="215866" y="203868"/>
                  </a:lnTo>
                  <a:lnTo>
                    <a:pt x="207533" y="212867"/>
                  </a:lnTo>
                  <a:lnTo>
                    <a:pt x="195320" y="218747"/>
                  </a:lnTo>
                  <a:lnTo>
                    <a:pt x="180594" y="220853"/>
                  </a:lnTo>
                  <a:lnTo>
                    <a:pt x="213844" y="220853"/>
                  </a:lnTo>
                  <a:lnTo>
                    <a:pt x="218868" y="217947"/>
                  </a:lnTo>
                  <a:lnTo>
                    <a:pt x="228252" y="206444"/>
                  </a:lnTo>
                  <a:lnTo>
                    <a:pt x="231648" y="192404"/>
                  </a:lnTo>
                  <a:lnTo>
                    <a:pt x="227707" y="177563"/>
                  </a:lnTo>
                  <a:lnTo>
                    <a:pt x="216884" y="165592"/>
                  </a:lnTo>
                  <a:lnTo>
                    <a:pt x="213827" y="164084"/>
                  </a:lnTo>
                  <a:close/>
                </a:path>
                <a:path w="462279" h="1216660">
                  <a:moveTo>
                    <a:pt x="344705" y="10668"/>
                  </a:moveTo>
                  <a:lnTo>
                    <a:pt x="310006" y="10668"/>
                  </a:lnTo>
                  <a:lnTo>
                    <a:pt x="324733" y="12932"/>
                  </a:lnTo>
                  <a:lnTo>
                    <a:pt x="336946" y="19065"/>
                  </a:lnTo>
                  <a:lnTo>
                    <a:pt x="345279" y="28080"/>
                  </a:lnTo>
                  <a:lnTo>
                    <a:pt x="348360" y="38988"/>
                  </a:lnTo>
                  <a:lnTo>
                    <a:pt x="345801" y="49021"/>
                  </a:lnTo>
                  <a:lnTo>
                    <a:pt x="338740" y="57530"/>
                  </a:lnTo>
                  <a:lnTo>
                    <a:pt x="328108" y="63849"/>
                  </a:lnTo>
                  <a:lnTo>
                    <a:pt x="314832" y="67310"/>
                  </a:lnTo>
                  <a:lnTo>
                    <a:pt x="342860" y="67310"/>
                  </a:lnTo>
                  <a:lnTo>
                    <a:pt x="348281" y="64087"/>
                  </a:lnTo>
                  <a:lnTo>
                    <a:pt x="357665" y="52544"/>
                  </a:lnTo>
                  <a:lnTo>
                    <a:pt x="361060" y="38988"/>
                  </a:lnTo>
                  <a:lnTo>
                    <a:pt x="357120" y="23895"/>
                  </a:lnTo>
                  <a:lnTo>
                    <a:pt x="346297" y="11493"/>
                  </a:lnTo>
                  <a:lnTo>
                    <a:pt x="344705" y="1066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36" name="object 54"/>
            <p:cNvSpPr/>
            <p:nvPr/>
          </p:nvSpPr>
          <p:spPr bwMode="auto">
            <a:xfrm>
              <a:off x="5803011" y="4729733"/>
              <a:ext cx="346710" cy="912495"/>
            </a:xfrm>
            <a:custGeom>
              <a:avLst/>
              <a:gdLst>
                <a:gd name="T0" fmla="*/ 39469 w 462279"/>
                <a:gd name="T1" fmla="*/ 121442 h 1216660"/>
                <a:gd name="T2" fmla="*/ 42288 w 462279"/>
                <a:gd name="T3" fmla="*/ 119359 h 1216660"/>
                <a:gd name="T4" fmla="*/ 42288 w 462279"/>
                <a:gd name="T5" fmla="*/ 116345 h 1216660"/>
                <a:gd name="T6" fmla="*/ 39469 w 462279"/>
                <a:gd name="T7" fmla="*/ 114262 h 1216660"/>
                <a:gd name="T8" fmla="*/ 35599 w 462279"/>
                <a:gd name="T9" fmla="*/ 114221 h 1216660"/>
                <a:gd name="T10" fmla="*/ 32888 w 462279"/>
                <a:gd name="T11" fmla="*/ 116045 h 1216660"/>
                <a:gd name="T12" fmla="*/ 14460 w 462279"/>
                <a:gd name="T13" fmla="*/ 117379 h 1216660"/>
                <a:gd name="T14" fmla="*/ 1919 w 462279"/>
                <a:gd name="T15" fmla="*/ 117379 h 1216660"/>
                <a:gd name="T16" fmla="*/ 1437 w 462279"/>
                <a:gd name="T17" fmla="*/ 94145 h 1216660"/>
                <a:gd name="T18" fmla="*/ 1437 w 462279"/>
                <a:gd name="T19" fmla="*/ 77817 h 1216660"/>
                <a:gd name="T20" fmla="*/ 24745 w 462279"/>
                <a:gd name="T21" fmla="*/ 77189 h 1216660"/>
                <a:gd name="T22" fmla="*/ 41125 w 462279"/>
                <a:gd name="T23" fmla="*/ 77189 h 1216660"/>
                <a:gd name="T24" fmla="*/ 41755 w 462279"/>
                <a:gd name="T25" fmla="*/ 59285 h 1216660"/>
                <a:gd name="T26" fmla="*/ 41755 w 462279"/>
                <a:gd name="T27" fmla="*/ 46703 h 1216660"/>
                <a:gd name="T28" fmla="*/ 43532 w 462279"/>
                <a:gd name="T29" fmla="*/ 45795 h 1216660"/>
                <a:gd name="T30" fmla="*/ 45890 w 462279"/>
                <a:gd name="T31" fmla="*/ 43794 h 1216660"/>
                <a:gd name="T32" fmla="*/ 45812 w 462279"/>
                <a:gd name="T33" fmla="*/ 40930 h 1216660"/>
                <a:gd name="T34" fmla="*/ 43055 w 462279"/>
                <a:gd name="T35" fmla="*/ 38847 h 1216660"/>
                <a:gd name="T36" fmla="*/ 39070 w 462279"/>
                <a:gd name="T37" fmla="*/ 38847 h 1216660"/>
                <a:gd name="T38" fmla="*/ 36250 w 462279"/>
                <a:gd name="T39" fmla="*/ 40930 h 1216660"/>
                <a:gd name="T40" fmla="*/ 36170 w 462279"/>
                <a:gd name="T41" fmla="*/ 43794 h 1216660"/>
                <a:gd name="T42" fmla="*/ 38528 w 462279"/>
                <a:gd name="T43" fmla="*/ 45795 h 1216660"/>
                <a:gd name="T44" fmla="*/ 40305 w 462279"/>
                <a:gd name="T45" fmla="*/ 63509 h 1216660"/>
                <a:gd name="T46" fmla="*/ 40305 w 462279"/>
                <a:gd name="T47" fmla="*/ 75658 h 1216660"/>
                <a:gd name="T48" fmla="*/ 35314 w 462279"/>
                <a:gd name="T49" fmla="*/ 76125 h 1216660"/>
                <a:gd name="T50" fmla="*/ 31808 w 462279"/>
                <a:gd name="T51" fmla="*/ 76125 h 1216660"/>
                <a:gd name="T52" fmla="*/ 31673 w 462279"/>
                <a:gd name="T53" fmla="*/ 36555 h 1216660"/>
                <a:gd name="T54" fmla="*/ 31673 w 462279"/>
                <a:gd name="T55" fmla="*/ 8750 h 1216660"/>
                <a:gd name="T56" fmla="*/ 33449 w 462279"/>
                <a:gd name="T57" fmla="*/ 7259 h 1216660"/>
                <a:gd name="T58" fmla="*/ 35807 w 462279"/>
                <a:gd name="T59" fmla="*/ 5261 h 1216660"/>
                <a:gd name="T60" fmla="*/ 35753 w 462279"/>
                <a:gd name="T61" fmla="*/ 2393 h 1216660"/>
                <a:gd name="T62" fmla="*/ 33047 w 462279"/>
                <a:gd name="T63" fmla="*/ 310 h 1216660"/>
                <a:gd name="T64" fmla="*/ 28994 w 462279"/>
                <a:gd name="T65" fmla="*/ 310 h 1216660"/>
                <a:gd name="T66" fmla="*/ 26178 w 462279"/>
                <a:gd name="T67" fmla="*/ 2393 h 1216660"/>
                <a:gd name="T68" fmla="*/ 26099 w 462279"/>
                <a:gd name="T69" fmla="*/ 5261 h 1216660"/>
                <a:gd name="T70" fmla="*/ 28457 w 462279"/>
                <a:gd name="T71" fmla="*/ 7259 h 1216660"/>
                <a:gd name="T72" fmla="*/ 30235 w 462279"/>
                <a:gd name="T73" fmla="*/ 47249 h 1216660"/>
                <a:gd name="T74" fmla="*/ 30235 w 462279"/>
                <a:gd name="T75" fmla="*/ 75056 h 1216660"/>
                <a:gd name="T76" fmla="*/ 23576 w 462279"/>
                <a:gd name="T77" fmla="*/ 76125 h 1216660"/>
                <a:gd name="T78" fmla="*/ 18896 w 462279"/>
                <a:gd name="T79" fmla="*/ 76125 h 1216660"/>
                <a:gd name="T80" fmla="*/ 18716 w 462279"/>
                <a:gd name="T81" fmla="*/ 45443 h 1216660"/>
                <a:gd name="T82" fmla="*/ 18716 w 462279"/>
                <a:gd name="T83" fmla="*/ 23881 h 1216660"/>
                <a:gd name="T84" fmla="*/ 20493 w 462279"/>
                <a:gd name="T85" fmla="*/ 22640 h 1216660"/>
                <a:gd name="T86" fmla="*/ 22852 w 462279"/>
                <a:gd name="T87" fmla="*/ 20668 h 1216660"/>
                <a:gd name="T88" fmla="*/ 22797 w 462279"/>
                <a:gd name="T89" fmla="*/ 17777 h 1216660"/>
                <a:gd name="T90" fmla="*/ 20091 w 462279"/>
                <a:gd name="T91" fmla="*/ 15778 h 1216660"/>
                <a:gd name="T92" fmla="*/ 16036 w 462279"/>
                <a:gd name="T93" fmla="*/ 15778 h 1216660"/>
                <a:gd name="T94" fmla="*/ 13211 w 462279"/>
                <a:gd name="T95" fmla="*/ 17777 h 1216660"/>
                <a:gd name="T96" fmla="*/ 13157 w 462279"/>
                <a:gd name="T97" fmla="*/ 20668 h 1216660"/>
                <a:gd name="T98" fmla="*/ 15629 w 462279"/>
                <a:gd name="T99" fmla="*/ 22640 h 1216660"/>
                <a:gd name="T100" fmla="*/ 17432 w 462279"/>
                <a:gd name="T101" fmla="*/ 53735 h 1216660"/>
                <a:gd name="T102" fmla="*/ 17432 w 462279"/>
                <a:gd name="T103" fmla="*/ 75296 h 1216660"/>
                <a:gd name="T104" fmla="*/ 7355 w 462279"/>
                <a:gd name="T105" fmla="*/ 76125 h 1216660"/>
                <a:gd name="T106" fmla="*/ 273 w 462279"/>
                <a:gd name="T107" fmla="*/ 76125 h 1216660"/>
                <a:gd name="T108" fmla="*/ 0 w 462279"/>
                <a:gd name="T109" fmla="*/ 100523 h 1216660"/>
                <a:gd name="T110" fmla="*/ 0 w 462279"/>
                <a:gd name="T111" fmla="*/ 117665 h 1216660"/>
                <a:gd name="T112" fmla="*/ 18678 w 462279"/>
                <a:gd name="T113" fmla="*/ 118325 h 1216660"/>
                <a:gd name="T114" fmla="*/ 31803 w 462279"/>
                <a:gd name="T115" fmla="*/ 118325 h 1216660"/>
                <a:gd name="T116" fmla="*/ 32888 w 462279"/>
                <a:gd name="T117" fmla="*/ 119659 h 1216660"/>
                <a:gd name="T118" fmla="*/ 35599 w 462279"/>
                <a:gd name="T119" fmla="*/ 121484 h 121666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62279" h="1216660">
                  <a:moveTo>
                    <a:pt x="373887" y="1216152"/>
                  </a:moveTo>
                  <a:lnTo>
                    <a:pt x="394231" y="1213051"/>
                  </a:lnTo>
                  <a:lnTo>
                    <a:pt x="411003" y="1204637"/>
                  </a:lnTo>
                  <a:lnTo>
                    <a:pt x="422394" y="1192240"/>
                  </a:lnTo>
                  <a:lnTo>
                    <a:pt x="426593" y="1177188"/>
                  </a:lnTo>
                  <a:lnTo>
                    <a:pt x="422394" y="1162131"/>
                  </a:lnTo>
                  <a:lnTo>
                    <a:pt x="411003" y="1149734"/>
                  </a:lnTo>
                  <a:lnTo>
                    <a:pt x="394231" y="1141323"/>
                  </a:lnTo>
                  <a:lnTo>
                    <a:pt x="373887" y="1138224"/>
                  </a:lnTo>
                  <a:lnTo>
                    <a:pt x="355586" y="1140918"/>
                  </a:lnTo>
                  <a:lnTo>
                    <a:pt x="339963" y="1148262"/>
                  </a:lnTo>
                  <a:lnTo>
                    <a:pt x="328507" y="1159147"/>
                  </a:lnTo>
                  <a:lnTo>
                    <a:pt x="322706" y="1172464"/>
                  </a:lnTo>
                  <a:lnTo>
                    <a:pt x="144438" y="1172464"/>
                  </a:lnTo>
                  <a:lnTo>
                    <a:pt x="52895" y="1172464"/>
                  </a:lnTo>
                  <a:lnTo>
                    <a:pt x="19169" y="1172464"/>
                  </a:lnTo>
                  <a:lnTo>
                    <a:pt x="14350" y="1172464"/>
                  </a:lnTo>
                  <a:lnTo>
                    <a:pt x="14350" y="940377"/>
                  </a:lnTo>
                  <a:lnTo>
                    <a:pt x="14350" y="821197"/>
                  </a:lnTo>
                  <a:lnTo>
                    <a:pt x="14350" y="777289"/>
                  </a:lnTo>
                  <a:lnTo>
                    <a:pt x="14350" y="771016"/>
                  </a:lnTo>
                  <a:lnTo>
                    <a:pt x="247171" y="771016"/>
                  </a:lnTo>
                  <a:lnTo>
                    <a:pt x="366728" y="771016"/>
                  </a:lnTo>
                  <a:lnTo>
                    <a:pt x="410775" y="771016"/>
                  </a:lnTo>
                  <a:lnTo>
                    <a:pt x="417068" y="771016"/>
                  </a:lnTo>
                  <a:lnTo>
                    <a:pt x="417068" y="592175"/>
                  </a:lnTo>
                  <a:lnTo>
                    <a:pt x="417068" y="500338"/>
                  </a:lnTo>
                  <a:lnTo>
                    <a:pt x="417068" y="466503"/>
                  </a:lnTo>
                  <a:lnTo>
                    <a:pt x="417068" y="461670"/>
                  </a:lnTo>
                  <a:lnTo>
                    <a:pt x="434822" y="457426"/>
                  </a:lnTo>
                  <a:lnTo>
                    <a:pt x="448992" y="448979"/>
                  </a:lnTo>
                  <a:lnTo>
                    <a:pt x="458376" y="437442"/>
                  </a:lnTo>
                  <a:lnTo>
                    <a:pt x="461772" y="423925"/>
                  </a:lnTo>
                  <a:lnTo>
                    <a:pt x="457596" y="408832"/>
                  </a:lnTo>
                  <a:lnTo>
                    <a:pt x="446373" y="396430"/>
                  </a:lnTo>
                  <a:lnTo>
                    <a:pt x="430053" y="388028"/>
                  </a:lnTo>
                  <a:lnTo>
                    <a:pt x="410591" y="384937"/>
                  </a:lnTo>
                  <a:lnTo>
                    <a:pt x="390247" y="388028"/>
                  </a:lnTo>
                  <a:lnTo>
                    <a:pt x="373475" y="396430"/>
                  </a:lnTo>
                  <a:lnTo>
                    <a:pt x="362084" y="408832"/>
                  </a:lnTo>
                  <a:lnTo>
                    <a:pt x="357885" y="423925"/>
                  </a:lnTo>
                  <a:lnTo>
                    <a:pt x="361281" y="437442"/>
                  </a:lnTo>
                  <a:lnTo>
                    <a:pt x="370665" y="448979"/>
                  </a:lnTo>
                  <a:lnTo>
                    <a:pt x="384835" y="457426"/>
                  </a:lnTo>
                  <a:lnTo>
                    <a:pt x="402590" y="461670"/>
                  </a:lnTo>
                  <a:lnTo>
                    <a:pt x="402590" y="634365"/>
                  </a:lnTo>
                  <a:lnTo>
                    <a:pt x="402590" y="723047"/>
                  </a:lnTo>
                  <a:lnTo>
                    <a:pt x="402590" y="755719"/>
                  </a:lnTo>
                  <a:lnTo>
                    <a:pt x="402590" y="760387"/>
                  </a:lnTo>
                  <a:lnTo>
                    <a:pt x="352736" y="760387"/>
                  </a:lnTo>
                  <a:lnTo>
                    <a:pt x="327136" y="760387"/>
                  </a:lnTo>
                  <a:lnTo>
                    <a:pt x="317704" y="760387"/>
                  </a:lnTo>
                  <a:lnTo>
                    <a:pt x="316356" y="760387"/>
                  </a:lnTo>
                  <a:lnTo>
                    <a:pt x="316356" y="365135"/>
                  </a:lnTo>
                  <a:lnTo>
                    <a:pt x="316356" y="162167"/>
                  </a:lnTo>
                  <a:lnTo>
                    <a:pt x="316356" y="87390"/>
                  </a:lnTo>
                  <a:lnTo>
                    <a:pt x="316356" y="76707"/>
                  </a:lnTo>
                  <a:lnTo>
                    <a:pt x="334111" y="72511"/>
                  </a:lnTo>
                  <a:lnTo>
                    <a:pt x="348281" y="64087"/>
                  </a:lnTo>
                  <a:lnTo>
                    <a:pt x="357665" y="52544"/>
                  </a:lnTo>
                  <a:lnTo>
                    <a:pt x="361060" y="38988"/>
                  </a:lnTo>
                  <a:lnTo>
                    <a:pt x="357120" y="23895"/>
                  </a:lnTo>
                  <a:lnTo>
                    <a:pt x="346297" y="11493"/>
                  </a:lnTo>
                  <a:lnTo>
                    <a:pt x="330092" y="3091"/>
                  </a:lnTo>
                  <a:lnTo>
                    <a:pt x="310006" y="0"/>
                  </a:lnTo>
                  <a:lnTo>
                    <a:pt x="289609" y="3091"/>
                  </a:lnTo>
                  <a:lnTo>
                    <a:pt x="272843" y="11493"/>
                  </a:lnTo>
                  <a:lnTo>
                    <a:pt x="261483" y="23895"/>
                  </a:lnTo>
                  <a:lnTo>
                    <a:pt x="257301" y="38988"/>
                  </a:lnTo>
                  <a:lnTo>
                    <a:pt x="260697" y="52544"/>
                  </a:lnTo>
                  <a:lnTo>
                    <a:pt x="270081" y="64087"/>
                  </a:lnTo>
                  <a:lnTo>
                    <a:pt x="284251" y="72511"/>
                  </a:lnTo>
                  <a:lnTo>
                    <a:pt x="302005" y="76707"/>
                  </a:lnTo>
                  <a:lnTo>
                    <a:pt x="302005" y="471959"/>
                  </a:lnTo>
                  <a:lnTo>
                    <a:pt x="302005" y="674927"/>
                  </a:lnTo>
                  <a:lnTo>
                    <a:pt x="302005" y="749704"/>
                  </a:lnTo>
                  <a:lnTo>
                    <a:pt x="302005" y="760387"/>
                  </a:lnTo>
                  <a:lnTo>
                    <a:pt x="235485" y="760387"/>
                  </a:lnTo>
                  <a:lnTo>
                    <a:pt x="201326" y="760387"/>
                  </a:lnTo>
                  <a:lnTo>
                    <a:pt x="188741" y="760387"/>
                  </a:lnTo>
                  <a:lnTo>
                    <a:pt x="186944" y="760387"/>
                  </a:lnTo>
                  <a:lnTo>
                    <a:pt x="186944" y="453902"/>
                  </a:lnTo>
                  <a:lnTo>
                    <a:pt x="186944" y="296518"/>
                  </a:lnTo>
                  <a:lnTo>
                    <a:pt x="186944" y="238534"/>
                  </a:lnTo>
                  <a:lnTo>
                    <a:pt x="186944" y="230250"/>
                  </a:lnTo>
                  <a:lnTo>
                    <a:pt x="204698" y="226141"/>
                  </a:lnTo>
                  <a:lnTo>
                    <a:pt x="218868" y="217947"/>
                  </a:lnTo>
                  <a:lnTo>
                    <a:pt x="228252" y="206444"/>
                  </a:lnTo>
                  <a:lnTo>
                    <a:pt x="231648" y="192404"/>
                  </a:lnTo>
                  <a:lnTo>
                    <a:pt x="227707" y="177563"/>
                  </a:lnTo>
                  <a:lnTo>
                    <a:pt x="216884" y="165592"/>
                  </a:lnTo>
                  <a:lnTo>
                    <a:pt x="200679" y="157597"/>
                  </a:lnTo>
                  <a:lnTo>
                    <a:pt x="180594" y="154685"/>
                  </a:lnTo>
                  <a:lnTo>
                    <a:pt x="160176" y="157597"/>
                  </a:lnTo>
                  <a:lnTo>
                    <a:pt x="143367" y="165592"/>
                  </a:lnTo>
                  <a:lnTo>
                    <a:pt x="131962" y="177563"/>
                  </a:lnTo>
                  <a:lnTo>
                    <a:pt x="127761" y="192404"/>
                  </a:lnTo>
                  <a:lnTo>
                    <a:pt x="131415" y="206444"/>
                  </a:lnTo>
                  <a:lnTo>
                    <a:pt x="141366" y="217947"/>
                  </a:lnTo>
                  <a:lnTo>
                    <a:pt x="156104" y="226141"/>
                  </a:lnTo>
                  <a:lnTo>
                    <a:pt x="174117" y="230250"/>
                  </a:lnTo>
                  <a:lnTo>
                    <a:pt x="174117" y="536735"/>
                  </a:lnTo>
                  <a:lnTo>
                    <a:pt x="174117" y="694120"/>
                  </a:lnTo>
                  <a:lnTo>
                    <a:pt x="174117" y="752103"/>
                  </a:lnTo>
                  <a:lnTo>
                    <a:pt x="174117" y="760387"/>
                  </a:lnTo>
                  <a:lnTo>
                    <a:pt x="73455" y="760387"/>
                  </a:lnTo>
                  <a:lnTo>
                    <a:pt x="21764" y="760387"/>
                  </a:lnTo>
                  <a:lnTo>
                    <a:pt x="2720" y="760387"/>
                  </a:lnTo>
                  <a:lnTo>
                    <a:pt x="0" y="760387"/>
                  </a:lnTo>
                  <a:lnTo>
                    <a:pt x="0" y="1004081"/>
                  </a:lnTo>
                  <a:lnTo>
                    <a:pt x="0" y="1129222"/>
                  </a:lnTo>
                  <a:lnTo>
                    <a:pt x="0" y="1175326"/>
                  </a:lnTo>
                  <a:lnTo>
                    <a:pt x="0" y="1181912"/>
                  </a:lnTo>
                  <a:lnTo>
                    <a:pt x="186564" y="1181912"/>
                  </a:lnTo>
                  <a:lnTo>
                    <a:pt x="282368" y="1181912"/>
                  </a:lnTo>
                  <a:lnTo>
                    <a:pt x="317664" y="1181912"/>
                  </a:lnTo>
                  <a:lnTo>
                    <a:pt x="322706" y="1181912"/>
                  </a:lnTo>
                  <a:lnTo>
                    <a:pt x="328507" y="1195229"/>
                  </a:lnTo>
                  <a:lnTo>
                    <a:pt x="339963" y="1206114"/>
                  </a:lnTo>
                  <a:lnTo>
                    <a:pt x="355586" y="1213457"/>
                  </a:lnTo>
                  <a:lnTo>
                    <a:pt x="373887" y="121615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7" name="object 55"/>
            <p:cNvSpPr/>
            <p:nvPr/>
          </p:nvSpPr>
          <p:spPr bwMode="auto">
            <a:xfrm>
              <a:off x="6054661" y="5591375"/>
              <a:ext cx="57626" cy="42862"/>
            </a:xfrm>
            <a:custGeom>
              <a:avLst/>
              <a:gdLst>
                <a:gd name="T0" fmla="*/ 3840 w 76834"/>
                <a:gd name="T1" fmla="*/ 0 h 57150"/>
                <a:gd name="T2" fmla="*/ 5384 w 76834"/>
                <a:gd name="T3" fmla="*/ 226 h 57150"/>
                <a:gd name="T4" fmla="*/ 6599 w 76834"/>
                <a:gd name="T5" fmla="*/ 841 h 57150"/>
                <a:gd name="T6" fmla="*/ 7395 w 76834"/>
                <a:gd name="T7" fmla="*/ 1744 h 57150"/>
                <a:gd name="T8" fmla="*/ 7680 w 76834"/>
                <a:gd name="T9" fmla="*/ 2836 h 57150"/>
                <a:gd name="T10" fmla="*/ 7395 w 76834"/>
                <a:gd name="T11" fmla="*/ 3928 h 57150"/>
                <a:gd name="T12" fmla="*/ 6599 w 76834"/>
                <a:gd name="T13" fmla="*/ 4831 h 57150"/>
                <a:gd name="T14" fmla="*/ 5384 w 76834"/>
                <a:gd name="T15" fmla="*/ 5446 h 57150"/>
                <a:gd name="T16" fmla="*/ 3840 w 76834"/>
                <a:gd name="T17" fmla="*/ 5673 h 57150"/>
                <a:gd name="T18" fmla="*/ 2360 w 76834"/>
                <a:gd name="T19" fmla="*/ 5446 h 57150"/>
                <a:gd name="T20" fmla="*/ 1139 w 76834"/>
                <a:gd name="T21" fmla="*/ 4831 h 57150"/>
                <a:gd name="T22" fmla="*/ 307 w 76834"/>
                <a:gd name="T23" fmla="*/ 3928 h 57150"/>
                <a:gd name="T24" fmla="*/ 0 w 76834"/>
                <a:gd name="T25" fmla="*/ 2836 h 57150"/>
                <a:gd name="T26" fmla="*/ 307 w 76834"/>
                <a:gd name="T27" fmla="*/ 1744 h 57150"/>
                <a:gd name="T28" fmla="*/ 1139 w 76834"/>
                <a:gd name="T29" fmla="*/ 841 h 57150"/>
                <a:gd name="T30" fmla="*/ 2360 w 76834"/>
                <a:gd name="T31" fmla="*/ 226 h 57150"/>
                <a:gd name="T32" fmla="*/ 3840 w 76834"/>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353" y="0"/>
                  </a:moveTo>
                  <a:lnTo>
                    <a:pt x="53776" y="2267"/>
                  </a:lnTo>
                  <a:lnTo>
                    <a:pt x="65913" y="8408"/>
                  </a:lnTo>
                  <a:lnTo>
                    <a:pt x="73858" y="17428"/>
                  </a:lnTo>
                  <a:lnTo>
                    <a:pt x="76708" y="28333"/>
                  </a:lnTo>
                  <a:lnTo>
                    <a:pt x="73858" y="39238"/>
                  </a:lnTo>
                  <a:lnTo>
                    <a:pt x="65913" y="48258"/>
                  </a:lnTo>
                  <a:lnTo>
                    <a:pt x="53776" y="54399"/>
                  </a:lnTo>
                  <a:lnTo>
                    <a:pt x="38353" y="56667"/>
                  </a:lnTo>
                  <a:lnTo>
                    <a:pt x="23574" y="54399"/>
                  </a:lnTo>
                  <a:lnTo>
                    <a:pt x="11366" y="48258"/>
                  </a:lnTo>
                  <a:lnTo>
                    <a:pt x="3063" y="39238"/>
                  </a:lnTo>
                  <a:lnTo>
                    <a:pt x="0" y="28333"/>
                  </a:lnTo>
                  <a:lnTo>
                    <a:pt x="3063" y="17428"/>
                  </a:lnTo>
                  <a:lnTo>
                    <a:pt x="11366" y="8408"/>
                  </a:lnTo>
                  <a:lnTo>
                    <a:pt x="23574" y="2267"/>
                  </a:lnTo>
                  <a:lnTo>
                    <a:pt x="38353"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8" name="object 56"/>
            <p:cNvSpPr/>
            <p:nvPr/>
          </p:nvSpPr>
          <p:spPr bwMode="auto">
            <a:xfrm>
              <a:off x="6081045" y="5026437"/>
              <a:ext cx="59055" cy="42862"/>
            </a:xfrm>
            <a:custGeom>
              <a:avLst/>
              <a:gdLst>
                <a:gd name="T0" fmla="*/ 0 w 78740"/>
                <a:gd name="T1" fmla="*/ 2836 h 57150"/>
                <a:gd name="T2" fmla="*/ 310 w 78740"/>
                <a:gd name="T3" fmla="*/ 1743 h 57150"/>
                <a:gd name="T4" fmla="*/ 1157 w 78740"/>
                <a:gd name="T5" fmla="*/ 840 h 57150"/>
                <a:gd name="T6" fmla="*/ 2425 w 78740"/>
                <a:gd name="T7" fmla="*/ 226 h 57150"/>
                <a:gd name="T8" fmla="*/ 3993 w 78740"/>
                <a:gd name="T9" fmla="*/ 0 h 57150"/>
                <a:gd name="T10" fmla="*/ 5472 w 78740"/>
                <a:gd name="T11" fmla="*/ 226 h 57150"/>
                <a:gd name="T12" fmla="*/ 6695 w 78740"/>
                <a:gd name="T13" fmla="*/ 840 h 57150"/>
                <a:gd name="T14" fmla="*/ 7526 w 78740"/>
                <a:gd name="T15" fmla="*/ 1743 h 57150"/>
                <a:gd name="T16" fmla="*/ 7833 w 78740"/>
                <a:gd name="T17" fmla="*/ 2836 h 57150"/>
                <a:gd name="T18" fmla="*/ 7526 w 78740"/>
                <a:gd name="T19" fmla="*/ 3924 h 57150"/>
                <a:gd name="T20" fmla="*/ 6695 w 78740"/>
                <a:gd name="T21" fmla="*/ 4826 h 57150"/>
                <a:gd name="T22" fmla="*/ 5472 w 78740"/>
                <a:gd name="T23" fmla="*/ 5440 h 57150"/>
                <a:gd name="T24" fmla="*/ 3993 w 78740"/>
                <a:gd name="T25" fmla="*/ 5668 h 57150"/>
                <a:gd name="T26" fmla="*/ 2425 w 78740"/>
                <a:gd name="T27" fmla="*/ 5440 h 57150"/>
                <a:gd name="T28" fmla="*/ 1157 w 78740"/>
                <a:gd name="T29" fmla="*/ 4826 h 57150"/>
                <a:gd name="T30" fmla="*/ 310 w 78740"/>
                <a:gd name="T31" fmla="*/ 3924 h 57150"/>
                <a:gd name="T32" fmla="*/ 0 w 78740"/>
                <a:gd name="T33" fmla="*/ 2836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8740" h="57150">
                  <a:moveTo>
                    <a:pt x="0" y="28321"/>
                  </a:moveTo>
                  <a:lnTo>
                    <a:pt x="3087" y="17412"/>
                  </a:lnTo>
                  <a:lnTo>
                    <a:pt x="11556" y="8397"/>
                  </a:lnTo>
                  <a:lnTo>
                    <a:pt x="24217" y="2264"/>
                  </a:lnTo>
                  <a:lnTo>
                    <a:pt x="39878" y="0"/>
                  </a:lnTo>
                  <a:lnTo>
                    <a:pt x="54657" y="2264"/>
                  </a:lnTo>
                  <a:lnTo>
                    <a:pt x="66865" y="8397"/>
                  </a:lnTo>
                  <a:lnTo>
                    <a:pt x="75168" y="17412"/>
                  </a:lnTo>
                  <a:lnTo>
                    <a:pt x="78232" y="28321"/>
                  </a:lnTo>
                  <a:lnTo>
                    <a:pt x="75168" y="39198"/>
                  </a:lnTo>
                  <a:lnTo>
                    <a:pt x="66865" y="48207"/>
                  </a:lnTo>
                  <a:lnTo>
                    <a:pt x="54657" y="54347"/>
                  </a:lnTo>
                  <a:lnTo>
                    <a:pt x="39878" y="56616"/>
                  </a:lnTo>
                  <a:lnTo>
                    <a:pt x="24217" y="54347"/>
                  </a:lnTo>
                  <a:lnTo>
                    <a:pt x="11556" y="48207"/>
                  </a:lnTo>
                  <a:lnTo>
                    <a:pt x="3087" y="39198"/>
                  </a:lnTo>
                  <a:lnTo>
                    <a:pt x="0" y="2832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39" name="object 57"/>
            <p:cNvSpPr/>
            <p:nvPr/>
          </p:nvSpPr>
          <p:spPr bwMode="auto">
            <a:xfrm>
              <a:off x="6006751" y="4737735"/>
              <a:ext cx="57626" cy="42862"/>
            </a:xfrm>
            <a:custGeom>
              <a:avLst/>
              <a:gdLst>
                <a:gd name="T0" fmla="*/ 0 w 76834"/>
                <a:gd name="T1" fmla="*/ 2836 h 57150"/>
                <a:gd name="T2" fmla="*/ 286 w 76834"/>
                <a:gd name="T3" fmla="*/ 1743 h 57150"/>
                <a:gd name="T4" fmla="*/ 1082 w 76834"/>
                <a:gd name="T5" fmla="*/ 840 h 57150"/>
                <a:gd name="T6" fmla="*/ 2297 w 76834"/>
                <a:gd name="T7" fmla="*/ 226 h 57150"/>
                <a:gd name="T8" fmla="*/ 3840 w 76834"/>
                <a:gd name="T9" fmla="*/ 0 h 57150"/>
                <a:gd name="T10" fmla="*/ 5315 w 76834"/>
                <a:gd name="T11" fmla="*/ 226 h 57150"/>
                <a:gd name="T12" fmla="*/ 6537 w 76834"/>
                <a:gd name="T13" fmla="*/ 840 h 57150"/>
                <a:gd name="T14" fmla="*/ 7372 w 76834"/>
                <a:gd name="T15" fmla="*/ 1743 h 57150"/>
                <a:gd name="T16" fmla="*/ 7680 w 76834"/>
                <a:gd name="T17" fmla="*/ 2836 h 57150"/>
                <a:gd name="T18" fmla="*/ 7424 w 76834"/>
                <a:gd name="T19" fmla="*/ 3839 h 57150"/>
                <a:gd name="T20" fmla="*/ 6716 w 76834"/>
                <a:gd name="T21" fmla="*/ 4691 h 57150"/>
                <a:gd name="T22" fmla="*/ 5653 w 76834"/>
                <a:gd name="T23" fmla="*/ 5323 h 57150"/>
                <a:gd name="T24" fmla="*/ 4323 w 76834"/>
                <a:gd name="T25" fmla="*/ 5671 h 57150"/>
                <a:gd name="T26" fmla="*/ 3192 w 76834"/>
                <a:gd name="T27" fmla="*/ 5671 h 57150"/>
                <a:gd name="T28" fmla="*/ 1952 w 76834"/>
                <a:gd name="T29" fmla="*/ 5323 h 57150"/>
                <a:gd name="T30" fmla="*/ 938 w 76834"/>
                <a:gd name="T31" fmla="*/ 4691 h 57150"/>
                <a:gd name="T32" fmla="*/ 252 w 76834"/>
                <a:gd name="T33" fmla="*/ 3839 h 57150"/>
                <a:gd name="T34" fmla="*/ 0 w 76834"/>
                <a:gd name="T35" fmla="*/ 2836 h 571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834" h="57150">
                  <a:moveTo>
                    <a:pt x="0" y="28321"/>
                  </a:moveTo>
                  <a:lnTo>
                    <a:pt x="2849" y="17412"/>
                  </a:lnTo>
                  <a:lnTo>
                    <a:pt x="10795" y="8397"/>
                  </a:lnTo>
                  <a:lnTo>
                    <a:pt x="22931" y="2264"/>
                  </a:lnTo>
                  <a:lnTo>
                    <a:pt x="38353" y="0"/>
                  </a:lnTo>
                  <a:lnTo>
                    <a:pt x="53080" y="2264"/>
                  </a:lnTo>
                  <a:lnTo>
                    <a:pt x="65293" y="8397"/>
                  </a:lnTo>
                  <a:lnTo>
                    <a:pt x="73626" y="17412"/>
                  </a:lnTo>
                  <a:lnTo>
                    <a:pt x="76707" y="28321"/>
                  </a:lnTo>
                  <a:lnTo>
                    <a:pt x="74148" y="38354"/>
                  </a:lnTo>
                  <a:lnTo>
                    <a:pt x="67087" y="46862"/>
                  </a:lnTo>
                  <a:lnTo>
                    <a:pt x="56455" y="53181"/>
                  </a:lnTo>
                  <a:lnTo>
                    <a:pt x="43179" y="56642"/>
                  </a:lnTo>
                  <a:lnTo>
                    <a:pt x="31876" y="56642"/>
                  </a:lnTo>
                  <a:lnTo>
                    <a:pt x="19502" y="53181"/>
                  </a:lnTo>
                  <a:lnTo>
                    <a:pt x="9366" y="46863"/>
                  </a:lnTo>
                  <a:lnTo>
                    <a:pt x="2516" y="38354"/>
                  </a:lnTo>
                  <a:lnTo>
                    <a:pt x="0" y="2832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0" name="object 58"/>
            <p:cNvSpPr/>
            <p:nvPr/>
          </p:nvSpPr>
          <p:spPr bwMode="auto">
            <a:xfrm>
              <a:off x="5909692" y="4852797"/>
              <a:ext cx="57626" cy="42862"/>
            </a:xfrm>
            <a:custGeom>
              <a:avLst/>
              <a:gdLst>
                <a:gd name="T0" fmla="*/ 0 w 76834"/>
                <a:gd name="T1" fmla="*/ 2835 h 57150"/>
                <a:gd name="T2" fmla="*/ 307 w 76834"/>
                <a:gd name="T3" fmla="*/ 1748 h 57150"/>
                <a:gd name="T4" fmla="*/ 1139 w 76834"/>
                <a:gd name="T5" fmla="*/ 844 h 57150"/>
                <a:gd name="T6" fmla="*/ 2360 w 76834"/>
                <a:gd name="T7" fmla="*/ 228 h 57150"/>
                <a:gd name="T8" fmla="*/ 3840 w 76834"/>
                <a:gd name="T9" fmla="*/ 0 h 57150"/>
                <a:gd name="T10" fmla="*/ 5315 w 76834"/>
                <a:gd name="T11" fmla="*/ 228 h 57150"/>
                <a:gd name="T12" fmla="*/ 6537 w 76834"/>
                <a:gd name="T13" fmla="*/ 844 h 57150"/>
                <a:gd name="T14" fmla="*/ 7372 w 76834"/>
                <a:gd name="T15" fmla="*/ 1748 h 57150"/>
                <a:gd name="T16" fmla="*/ 7680 w 76834"/>
                <a:gd name="T17" fmla="*/ 2835 h 57150"/>
                <a:gd name="T18" fmla="*/ 7372 w 76834"/>
                <a:gd name="T19" fmla="*/ 3982 h 57150"/>
                <a:gd name="T20" fmla="*/ 6537 w 76834"/>
                <a:gd name="T21" fmla="*/ 4883 h 57150"/>
                <a:gd name="T22" fmla="*/ 5315 w 76834"/>
                <a:gd name="T23" fmla="*/ 5472 h 57150"/>
                <a:gd name="T24" fmla="*/ 3840 w 76834"/>
                <a:gd name="T25" fmla="*/ 5683 h 57150"/>
                <a:gd name="T26" fmla="*/ 2360 w 76834"/>
                <a:gd name="T27" fmla="*/ 5472 h 57150"/>
                <a:gd name="T28" fmla="*/ 1139 w 76834"/>
                <a:gd name="T29" fmla="*/ 4883 h 57150"/>
                <a:gd name="T30" fmla="*/ 307 w 76834"/>
                <a:gd name="T31" fmla="*/ 3982 h 57150"/>
                <a:gd name="T32" fmla="*/ 0 w 76834"/>
                <a:gd name="T33" fmla="*/ 2835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0" y="28320"/>
                  </a:moveTo>
                  <a:lnTo>
                    <a:pt x="3063" y="17466"/>
                  </a:lnTo>
                  <a:lnTo>
                    <a:pt x="11366" y="8445"/>
                  </a:lnTo>
                  <a:lnTo>
                    <a:pt x="23574" y="2282"/>
                  </a:lnTo>
                  <a:lnTo>
                    <a:pt x="38353" y="0"/>
                  </a:lnTo>
                  <a:lnTo>
                    <a:pt x="53080" y="2282"/>
                  </a:lnTo>
                  <a:lnTo>
                    <a:pt x="65293" y="8445"/>
                  </a:lnTo>
                  <a:lnTo>
                    <a:pt x="73626" y="17466"/>
                  </a:lnTo>
                  <a:lnTo>
                    <a:pt x="76707" y="28320"/>
                  </a:lnTo>
                  <a:lnTo>
                    <a:pt x="73626" y="39784"/>
                  </a:lnTo>
                  <a:lnTo>
                    <a:pt x="65293" y="48783"/>
                  </a:lnTo>
                  <a:lnTo>
                    <a:pt x="53080" y="54663"/>
                  </a:lnTo>
                  <a:lnTo>
                    <a:pt x="38353" y="56768"/>
                  </a:lnTo>
                  <a:lnTo>
                    <a:pt x="23574" y="54663"/>
                  </a:lnTo>
                  <a:lnTo>
                    <a:pt x="11366" y="48783"/>
                  </a:lnTo>
                  <a:lnTo>
                    <a:pt x="3063" y="39784"/>
                  </a:lnTo>
                  <a:lnTo>
                    <a:pt x="0" y="2832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1" name="object 59"/>
            <p:cNvSpPr/>
            <p:nvPr/>
          </p:nvSpPr>
          <p:spPr bwMode="auto">
            <a:xfrm>
              <a:off x="0" y="5711571"/>
              <a:ext cx="5447824" cy="168593"/>
            </a:xfrm>
            <a:custGeom>
              <a:avLst/>
              <a:gdLst>
                <a:gd name="T0" fmla="*/ 721870 w 7263765"/>
                <a:gd name="T1" fmla="*/ 0 h 224790"/>
                <a:gd name="T2" fmla="*/ 720029 w 7263765"/>
                <a:gd name="T3" fmla="*/ 251 h 224790"/>
                <a:gd name="T4" fmla="*/ 718457 w 7263765"/>
                <a:gd name="T5" fmla="*/ 947 h 224790"/>
                <a:gd name="T6" fmla="*/ 717308 w 7263765"/>
                <a:gd name="T7" fmla="*/ 1996 h 224790"/>
                <a:gd name="T8" fmla="*/ 716733 w 7263765"/>
                <a:gd name="T9" fmla="*/ 3312 h 224790"/>
                <a:gd name="T10" fmla="*/ 566132 w 7263765"/>
                <a:gd name="T11" fmla="*/ 3312 h 224790"/>
                <a:gd name="T12" fmla="*/ 545294 w 7263765"/>
                <a:gd name="T13" fmla="*/ 21409 h 224790"/>
                <a:gd name="T14" fmla="*/ 0 w 7263765"/>
                <a:gd name="T15" fmla="*/ 21522 h 224790"/>
                <a:gd name="T16" fmla="*/ 0 w 7263765"/>
                <a:gd name="T17" fmla="*/ 22473 h 224790"/>
                <a:gd name="T18" fmla="*/ 545929 w 7263765"/>
                <a:gd name="T19" fmla="*/ 22473 h 224790"/>
                <a:gd name="T20" fmla="*/ 566780 w 7263765"/>
                <a:gd name="T21" fmla="*/ 4377 h 224790"/>
                <a:gd name="T22" fmla="*/ 718145 w 7263765"/>
                <a:gd name="T23" fmla="*/ 4259 h 224790"/>
                <a:gd name="T24" fmla="*/ 721870 w 7263765"/>
                <a:gd name="T25" fmla="*/ 947 h 224790"/>
                <a:gd name="T26" fmla="*/ 725286 w 7263765"/>
                <a:gd name="T27" fmla="*/ 947 h 224790"/>
                <a:gd name="T28" fmla="*/ 723914 w 7263765"/>
                <a:gd name="T29" fmla="*/ 292 h 224790"/>
                <a:gd name="T30" fmla="*/ 721870 w 7263765"/>
                <a:gd name="T31" fmla="*/ 0 h 224790"/>
                <a:gd name="T32" fmla="*/ 718145 w 7263765"/>
                <a:gd name="T33" fmla="*/ 4259 h 224790"/>
                <a:gd name="T34" fmla="*/ 716733 w 7263765"/>
                <a:gd name="T35" fmla="*/ 4259 h 224790"/>
                <a:gd name="T36" fmla="*/ 717308 w 7263765"/>
                <a:gd name="T37" fmla="*/ 5593 h 224790"/>
                <a:gd name="T38" fmla="*/ 718457 w 7263765"/>
                <a:gd name="T39" fmla="*/ 6683 h 224790"/>
                <a:gd name="T40" fmla="*/ 720029 w 7263765"/>
                <a:gd name="T41" fmla="*/ 7419 h 224790"/>
                <a:gd name="T42" fmla="*/ 721870 w 7263765"/>
                <a:gd name="T43" fmla="*/ 7688 h 224790"/>
                <a:gd name="T44" fmla="*/ 723914 w 7263765"/>
                <a:gd name="T45" fmla="*/ 7379 h 224790"/>
                <a:gd name="T46" fmla="*/ 725419 w 7263765"/>
                <a:gd name="T47" fmla="*/ 6625 h 224790"/>
                <a:gd name="T48" fmla="*/ 721870 w 7263765"/>
                <a:gd name="T49" fmla="*/ 6625 h 224790"/>
                <a:gd name="T50" fmla="*/ 720389 w 7263765"/>
                <a:gd name="T51" fmla="*/ 6414 h 224790"/>
                <a:gd name="T52" fmla="*/ 719162 w 7263765"/>
                <a:gd name="T53" fmla="*/ 5825 h 224790"/>
                <a:gd name="T54" fmla="*/ 718326 w 7263765"/>
                <a:gd name="T55" fmla="*/ 4927 h 224790"/>
                <a:gd name="T56" fmla="*/ 718145 w 7263765"/>
                <a:gd name="T57" fmla="*/ 4259 h 224790"/>
                <a:gd name="T58" fmla="*/ 725286 w 7263765"/>
                <a:gd name="T59" fmla="*/ 947 h 224790"/>
                <a:gd name="T60" fmla="*/ 721870 w 7263765"/>
                <a:gd name="T61" fmla="*/ 947 h 224790"/>
                <a:gd name="T62" fmla="*/ 723350 w 7263765"/>
                <a:gd name="T63" fmla="*/ 1174 h 224790"/>
                <a:gd name="T64" fmla="*/ 724571 w 7263765"/>
                <a:gd name="T65" fmla="*/ 1790 h 224790"/>
                <a:gd name="T66" fmla="*/ 725403 w 7263765"/>
                <a:gd name="T67" fmla="*/ 2693 h 224790"/>
                <a:gd name="T68" fmla="*/ 725710 w 7263765"/>
                <a:gd name="T69" fmla="*/ 3785 h 224790"/>
                <a:gd name="T70" fmla="*/ 725403 w 7263765"/>
                <a:gd name="T71" fmla="*/ 4927 h 224790"/>
                <a:gd name="T72" fmla="*/ 724571 w 7263765"/>
                <a:gd name="T73" fmla="*/ 5825 h 224790"/>
                <a:gd name="T74" fmla="*/ 723350 w 7263765"/>
                <a:gd name="T75" fmla="*/ 6414 h 224790"/>
                <a:gd name="T76" fmla="*/ 721870 w 7263765"/>
                <a:gd name="T77" fmla="*/ 6625 h 224790"/>
                <a:gd name="T78" fmla="*/ 725419 w 7263765"/>
                <a:gd name="T79" fmla="*/ 6625 h 224790"/>
                <a:gd name="T80" fmla="*/ 725597 w 7263765"/>
                <a:gd name="T81" fmla="*/ 6536 h 224790"/>
                <a:gd name="T82" fmla="*/ 726738 w 7263765"/>
                <a:gd name="T83" fmla="*/ 5294 h 224790"/>
                <a:gd name="T84" fmla="*/ 727159 w 7263765"/>
                <a:gd name="T85" fmla="*/ 3785 h 224790"/>
                <a:gd name="T86" fmla="*/ 726738 w 7263765"/>
                <a:gd name="T87" fmla="*/ 2296 h 224790"/>
                <a:gd name="T88" fmla="*/ 725597 w 7263765"/>
                <a:gd name="T89" fmla="*/ 1095 h 224790"/>
                <a:gd name="T90" fmla="*/ 725286 w 7263765"/>
                <a:gd name="T91" fmla="*/ 947 h 22479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263765" h="224790">
                  <a:moveTo>
                    <a:pt x="7210552" y="0"/>
                  </a:moveTo>
                  <a:lnTo>
                    <a:pt x="7192158" y="2510"/>
                  </a:lnTo>
                  <a:lnTo>
                    <a:pt x="7176468" y="9450"/>
                  </a:lnTo>
                  <a:lnTo>
                    <a:pt x="7164992" y="19936"/>
                  </a:lnTo>
                  <a:lnTo>
                    <a:pt x="7159244" y="33083"/>
                  </a:lnTo>
                  <a:lnTo>
                    <a:pt x="5654929" y="33083"/>
                  </a:lnTo>
                  <a:lnTo>
                    <a:pt x="5446776" y="213842"/>
                  </a:lnTo>
                  <a:lnTo>
                    <a:pt x="0" y="214974"/>
                  </a:lnTo>
                  <a:lnTo>
                    <a:pt x="0" y="224472"/>
                  </a:lnTo>
                  <a:lnTo>
                    <a:pt x="5453126" y="224472"/>
                  </a:lnTo>
                  <a:lnTo>
                    <a:pt x="5661406" y="43713"/>
                  </a:lnTo>
                  <a:lnTo>
                    <a:pt x="7173348" y="42532"/>
                  </a:lnTo>
                  <a:lnTo>
                    <a:pt x="7210552" y="9448"/>
                  </a:lnTo>
                  <a:lnTo>
                    <a:pt x="7244677" y="9448"/>
                  </a:lnTo>
                  <a:lnTo>
                    <a:pt x="7230969" y="2916"/>
                  </a:lnTo>
                  <a:lnTo>
                    <a:pt x="7210552" y="0"/>
                  </a:lnTo>
                  <a:close/>
                </a:path>
                <a:path w="7263765" h="224790">
                  <a:moveTo>
                    <a:pt x="7173348" y="42532"/>
                  </a:moveTo>
                  <a:lnTo>
                    <a:pt x="7159244" y="42532"/>
                  </a:lnTo>
                  <a:lnTo>
                    <a:pt x="7164992" y="55858"/>
                  </a:lnTo>
                  <a:lnTo>
                    <a:pt x="7176468" y="66751"/>
                  </a:lnTo>
                  <a:lnTo>
                    <a:pt x="7192158" y="74100"/>
                  </a:lnTo>
                  <a:lnTo>
                    <a:pt x="7210552" y="76796"/>
                  </a:lnTo>
                  <a:lnTo>
                    <a:pt x="7230969" y="73694"/>
                  </a:lnTo>
                  <a:lnTo>
                    <a:pt x="7245997" y="66167"/>
                  </a:lnTo>
                  <a:lnTo>
                    <a:pt x="7210552" y="66167"/>
                  </a:lnTo>
                  <a:lnTo>
                    <a:pt x="7195752" y="64061"/>
                  </a:lnTo>
                  <a:lnTo>
                    <a:pt x="7183501" y="58188"/>
                  </a:lnTo>
                  <a:lnTo>
                    <a:pt x="7175154" y="49214"/>
                  </a:lnTo>
                  <a:lnTo>
                    <a:pt x="7173348" y="42532"/>
                  </a:lnTo>
                  <a:close/>
                </a:path>
                <a:path w="7263765" h="224790">
                  <a:moveTo>
                    <a:pt x="7244677" y="9448"/>
                  </a:moveTo>
                  <a:lnTo>
                    <a:pt x="7210552" y="9448"/>
                  </a:lnTo>
                  <a:lnTo>
                    <a:pt x="7225331" y="11720"/>
                  </a:lnTo>
                  <a:lnTo>
                    <a:pt x="7237539" y="17870"/>
                  </a:lnTo>
                  <a:lnTo>
                    <a:pt x="7245842" y="26899"/>
                  </a:lnTo>
                  <a:lnTo>
                    <a:pt x="7248906" y="37807"/>
                  </a:lnTo>
                  <a:lnTo>
                    <a:pt x="7245842" y="49214"/>
                  </a:lnTo>
                  <a:lnTo>
                    <a:pt x="7237539" y="58188"/>
                  </a:lnTo>
                  <a:lnTo>
                    <a:pt x="7225331" y="64061"/>
                  </a:lnTo>
                  <a:lnTo>
                    <a:pt x="7210552" y="66167"/>
                  </a:lnTo>
                  <a:lnTo>
                    <a:pt x="7245997" y="66167"/>
                  </a:lnTo>
                  <a:lnTo>
                    <a:pt x="7247778" y="65274"/>
                  </a:lnTo>
                  <a:lnTo>
                    <a:pt x="7259183" y="52868"/>
                  </a:lnTo>
                  <a:lnTo>
                    <a:pt x="7263383" y="37807"/>
                  </a:lnTo>
                  <a:lnTo>
                    <a:pt x="7259183" y="22926"/>
                  </a:lnTo>
                  <a:lnTo>
                    <a:pt x="7247778" y="10926"/>
                  </a:lnTo>
                  <a:lnTo>
                    <a:pt x="7244677" y="944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42" name="object 60"/>
            <p:cNvSpPr/>
            <p:nvPr/>
          </p:nvSpPr>
          <p:spPr bwMode="auto">
            <a:xfrm>
              <a:off x="0" y="5711572"/>
              <a:ext cx="5447824" cy="161449"/>
            </a:xfrm>
            <a:custGeom>
              <a:avLst/>
              <a:gdLst>
                <a:gd name="T0" fmla="*/ 721870 w 7263765"/>
                <a:gd name="T1" fmla="*/ 7688 h 215265"/>
                <a:gd name="T2" fmla="*/ 723914 w 7263765"/>
                <a:gd name="T3" fmla="*/ 7379 h 215265"/>
                <a:gd name="T4" fmla="*/ 725597 w 7263765"/>
                <a:gd name="T5" fmla="*/ 6536 h 215265"/>
                <a:gd name="T6" fmla="*/ 726738 w 7263765"/>
                <a:gd name="T7" fmla="*/ 5294 h 215265"/>
                <a:gd name="T8" fmla="*/ 727159 w 7263765"/>
                <a:gd name="T9" fmla="*/ 3785 h 215265"/>
                <a:gd name="T10" fmla="*/ 726738 w 7263765"/>
                <a:gd name="T11" fmla="*/ 2296 h 215265"/>
                <a:gd name="T12" fmla="*/ 725597 w 7263765"/>
                <a:gd name="T13" fmla="*/ 1095 h 215265"/>
                <a:gd name="T14" fmla="*/ 723914 w 7263765"/>
                <a:gd name="T15" fmla="*/ 292 h 215265"/>
                <a:gd name="T16" fmla="*/ 721870 w 7263765"/>
                <a:gd name="T17" fmla="*/ 0 h 215265"/>
                <a:gd name="T18" fmla="*/ 720029 w 7263765"/>
                <a:gd name="T19" fmla="*/ 251 h 215265"/>
                <a:gd name="T20" fmla="*/ 718457 w 7263765"/>
                <a:gd name="T21" fmla="*/ 947 h 215265"/>
                <a:gd name="T22" fmla="*/ 717308 w 7263765"/>
                <a:gd name="T23" fmla="*/ 1996 h 215265"/>
                <a:gd name="T24" fmla="*/ 716733 w 7263765"/>
                <a:gd name="T25" fmla="*/ 3312 h 215265"/>
                <a:gd name="T26" fmla="*/ 629666 w 7263765"/>
                <a:gd name="T27" fmla="*/ 3312 h 215265"/>
                <a:gd name="T28" fmla="*/ 584957 w 7263765"/>
                <a:gd name="T29" fmla="*/ 3312 h 215265"/>
                <a:gd name="T30" fmla="*/ 568484 w 7263765"/>
                <a:gd name="T31" fmla="*/ 3312 h 215265"/>
                <a:gd name="T32" fmla="*/ 566132 w 7263765"/>
                <a:gd name="T33" fmla="*/ 3312 h 215265"/>
                <a:gd name="T34" fmla="*/ 554084 w 7263765"/>
                <a:gd name="T35" fmla="*/ 13774 h 215265"/>
                <a:gd name="T36" fmla="*/ 547898 w 7263765"/>
                <a:gd name="T37" fmla="*/ 19147 h 215265"/>
                <a:gd name="T38" fmla="*/ 545618 w 7263765"/>
                <a:gd name="T39" fmla="*/ 21126 h 215265"/>
                <a:gd name="T40" fmla="*/ 545294 w 7263765"/>
                <a:gd name="T41" fmla="*/ 21409 h 215265"/>
                <a:gd name="T42" fmla="*/ 216227 w 7263765"/>
                <a:gd name="T43" fmla="*/ 21477 h 215265"/>
                <a:gd name="T44" fmla="*/ 47246 w 7263765"/>
                <a:gd name="T45" fmla="*/ 21512 h 215265"/>
                <a:gd name="T46" fmla="*/ 0 w 7263765"/>
                <a:gd name="T47" fmla="*/ 21522 h 215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263765" h="215265">
                  <a:moveTo>
                    <a:pt x="7210552" y="76796"/>
                  </a:moveTo>
                  <a:lnTo>
                    <a:pt x="7230969" y="73694"/>
                  </a:lnTo>
                  <a:lnTo>
                    <a:pt x="7247778" y="65274"/>
                  </a:lnTo>
                  <a:lnTo>
                    <a:pt x="7259183" y="52868"/>
                  </a:lnTo>
                  <a:lnTo>
                    <a:pt x="7263383" y="37807"/>
                  </a:lnTo>
                  <a:lnTo>
                    <a:pt x="7259183" y="22926"/>
                  </a:lnTo>
                  <a:lnTo>
                    <a:pt x="7247778" y="10926"/>
                  </a:lnTo>
                  <a:lnTo>
                    <a:pt x="7230969" y="2916"/>
                  </a:lnTo>
                  <a:lnTo>
                    <a:pt x="7210552" y="0"/>
                  </a:lnTo>
                  <a:lnTo>
                    <a:pt x="7192158" y="2510"/>
                  </a:lnTo>
                  <a:lnTo>
                    <a:pt x="7176468" y="9450"/>
                  </a:lnTo>
                  <a:lnTo>
                    <a:pt x="7164992" y="19936"/>
                  </a:lnTo>
                  <a:lnTo>
                    <a:pt x="7159244" y="33083"/>
                  </a:lnTo>
                  <a:lnTo>
                    <a:pt x="6289561" y="33083"/>
                  </a:lnTo>
                  <a:lnTo>
                    <a:pt x="5842968" y="33083"/>
                  </a:lnTo>
                  <a:lnTo>
                    <a:pt x="5678433" y="33083"/>
                  </a:lnTo>
                  <a:lnTo>
                    <a:pt x="5654929" y="33083"/>
                  </a:lnTo>
                  <a:lnTo>
                    <a:pt x="5534590" y="137584"/>
                  </a:lnTo>
                  <a:lnTo>
                    <a:pt x="5472795" y="191247"/>
                  </a:lnTo>
                  <a:lnTo>
                    <a:pt x="5450028" y="211018"/>
                  </a:lnTo>
                  <a:lnTo>
                    <a:pt x="5446776" y="213842"/>
                  </a:lnTo>
                  <a:lnTo>
                    <a:pt x="2159818" y="214525"/>
                  </a:lnTo>
                  <a:lnTo>
                    <a:pt x="471920" y="214876"/>
                  </a:lnTo>
                  <a:lnTo>
                    <a:pt x="0" y="214974"/>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3" name="object 61"/>
            <p:cNvSpPr/>
            <p:nvPr/>
          </p:nvSpPr>
          <p:spPr bwMode="auto">
            <a:xfrm>
              <a:off x="1" y="5743470"/>
              <a:ext cx="5408294" cy="136684"/>
            </a:xfrm>
            <a:custGeom>
              <a:avLst/>
              <a:gdLst>
                <a:gd name="T0" fmla="*/ 0 w 7211059"/>
                <a:gd name="T1" fmla="*/ 18215 h 182245"/>
                <a:gd name="T2" fmla="*/ 305463 w 7211059"/>
                <a:gd name="T3" fmla="*/ 18215 h 182245"/>
                <a:gd name="T4" fmla="*/ 474679 w 7211059"/>
                <a:gd name="T5" fmla="*/ 18215 h 182245"/>
                <a:gd name="T6" fmla="*/ 537022 w 7211059"/>
                <a:gd name="T7" fmla="*/ 18215 h 182245"/>
                <a:gd name="T8" fmla="*/ 545928 w 7211059"/>
                <a:gd name="T9" fmla="*/ 18215 h 182245"/>
                <a:gd name="T10" fmla="*/ 557983 w 7211059"/>
                <a:gd name="T11" fmla="*/ 7753 h 182245"/>
                <a:gd name="T12" fmla="*/ 564172 w 7211059"/>
                <a:gd name="T13" fmla="*/ 2381 h 182245"/>
                <a:gd name="T14" fmla="*/ 566454 w 7211059"/>
                <a:gd name="T15" fmla="*/ 401 h 182245"/>
                <a:gd name="T16" fmla="*/ 566779 w 7211059"/>
                <a:gd name="T17" fmla="*/ 119 h 182245"/>
                <a:gd name="T18" fmla="*/ 653470 w 7211059"/>
                <a:gd name="T19" fmla="*/ 50 h 182245"/>
                <a:gd name="T20" fmla="*/ 697988 w 7211059"/>
                <a:gd name="T21" fmla="*/ 15 h 182245"/>
                <a:gd name="T22" fmla="*/ 714389 w 7211059"/>
                <a:gd name="T23" fmla="*/ 2 h 182245"/>
                <a:gd name="T24" fmla="*/ 716732 w 7211059"/>
                <a:gd name="T25" fmla="*/ 0 h 182245"/>
                <a:gd name="T26" fmla="*/ 717307 w 7211059"/>
                <a:gd name="T27" fmla="*/ 1334 h 182245"/>
                <a:gd name="T28" fmla="*/ 718457 w 7211059"/>
                <a:gd name="T29" fmla="*/ 2425 h 182245"/>
                <a:gd name="T30" fmla="*/ 720028 w 7211059"/>
                <a:gd name="T31" fmla="*/ 3161 h 182245"/>
                <a:gd name="T32" fmla="*/ 721869 w 7211059"/>
                <a:gd name="T33" fmla="*/ 3431 h 1822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211059" h="182245">
                  <a:moveTo>
                    <a:pt x="0" y="181940"/>
                  </a:moveTo>
                  <a:lnTo>
                    <a:pt x="3051181" y="181940"/>
                  </a:lnTo>
                  <a:lnTo>
                    <a:pt x="4741438" y="181940"/>
                  </a:lnTo>
                  <a:lnTo>
                    <a:pt x="5364165" y="181940"/>
                  </a:lnTo>
                  <a:lnTo>
                    <a:pt x="5453126" y="181940"/>
                  </a:lnTo>
                  <a:lnTo>
                    <a:pt x="5573537" y="77438"/>
                  </a:lnTo>
                  <a:lnTo>
                    <a:pt x="5635370" y="23775"/>
                  </a:lnTo>
                  <a:lnTo>
                    <a:pt x="5658151" y="4005"/>
                  </a:lnTo>
                  <a:lnTo>
                    <a:pt x="5661406" y="1181"/>
                  </a:lnTo>
                  <a:lnTo>
                    <a:pt x="6527343" y="498"/>
                  </a:lnTo>
                  <a:lnTo>
                    <a:pt x="6972014" y="147"/>
                  </a:lnTo>
                  <a:lnTo>
                    <a:pt x="7135840" y="18"/>
                  </a:lnTo>
                  <a:lnTo>
                    <a:pt x="7159244" y="0"/>
                  </a:lnTo>
                  <a:lnTo>
                    <a:pt x="7164992" y="13326"/>
                  </a:lnTo>
                  <a:lnTo>
                    <a:pt x="7176468" y="24218"/>
                  </a:lnTo>
                  <a:lnTo>
                    <a:pt x="7192158" y="31568"/>
                  </a:lnTo>
                  <a:lnTo>
                    <a:pt x="7210552" y="34264"/>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4" name="object 62"/>
            <p:cNvSpPr>
              <a:spLocks noChangeArrowheads="1"/>
            </p:cNvSpPr>
            <p:nvPr/>
          </p:nvSpPr>
          <p:spPr bwMode="auto">
            <a:xfrm>
              <a:off x="-3429" y="4271391"/>
              <a:ext cx="6361938" cy="1543050"/>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5945" name="object 63"/>
            <p:cNvSpPr/>
            <p:nvPr/>
          </p:nvSpPr>
          <p:spPr bwMode="auto">
            <a:xfrm>
              <a:off x="0" y="5674470"/>
              <a:ext cx="3840956" cy="140018"/>
            </a:xfrm>
            <a:custGeom>
              <a:avLst/>
              <a:gdLst>
                <a:gd name="T0" fmla="*/ 0 w 5121275"/>
                <a:gd name="T1" fmla="*/ 18684 h 186690"/>
                <a:gd name="T2" fmla="*/ 206860 w 5121275"/>
                <a:gd name="T3" fmla="*/ 18684 h 186690"/>
                <a:gd name="T4" fmla="*/ 406946 w 5121275"/>
                <a:gd name="T5" fmla="*/ 18684 h 186690"/>
                <a:gd name="T6" fmla="*/ 480661 w 5121275"/>
                <a:gd name="T7" fmla="*/ 18684 h 186690"/>
                <a:gd name="T8" fmla="*/ 491193 w 5121275"/>
                <a:gd name="T9" fmla="*/ 18684 h 186690"/>
                <a:gd name="T10" fmla="*/ 512680 w 5121275"/>
                <a:gd name="T11" fmla="*/ 0 h 1866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21275" h="186690">
                  <a:moveTo>
                    <a:pt x="0" y="186626"/>
                  </a:moveTo>
                  <a:lnTo>
                    <a:pt x="2066268" y="186626"/>
                  </a:lnTo>
                  <a:lnTo>
                    <a:pt x="4064873" y="186626"/>
                  </a:lnTo>
                  <a:lnTo>
                    <a:pt x="4801201" y="186626"/>
                  </a:lnTo>
                  <a:lnTo>
                    <a:pt x="4906391" y="186626"/>
                  </a:lnTo>
                  <a:lnTo>
                    <a:pt x="5121021"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6" name="object 64"/>
            <p:cNvSpPr/>
            <p:nvPr/>
          </p:nvSpPr>
          <p:spPr bwMode="auto">
            <a:xfrm>
              <a:off x="6286596" y="5652326"/>
              <a:ext cx="57626" cy="42862"/>
            </a:xfrm>
            <a:custGeom>
              <a:avLst/>
              <a:gdLst>
                <a:gd name="T0" fmla="*/ 3853 w 76834"/>
                <a:gd name="T1" fmla="*/ 0 h 57150"/>
                <a:gd name="T2" fmla="*/ 5332 w 76834"/>
                <a:gd name="T3" fmla="*/ 210 h 57150"/>
                <a:gd name="T4" fmla="*/ 6554 w 76834"/>
                <a:gd name="T5" fmla="*/ 797 h 57150"/>
                <a:gd name="T6" fmla="*/ 7386 w 76834"/>
                <a:gd name="T7" fmla="*/ 1696 h 57150"/>
                <a:gd name="T8" fmla="*/ 7692 w 76834"/>
                <a:gd name="T9" fmla="*/ 2837 h 57150"/>
                <a:gd name="T10" fmla="*/ 7386 w 76834"/>
                <a:gd name="T11" fmla="*/ 3929 h 57150"/>
                <a:gd name="T12" fmla="*/ 6554 w 76834"/>
                <a:gd name="T13" fmla="*/ 4834 h 57150"/>
                <a:gd name="T14" fmla="*/ 5332 w 76834"/>
                <a:gd name="T15" fmla="*/ 5449 h 57150"/>
                <a:gd name="T16" fmla="*/ 3853 w 76834"/>
                <a:gd name="T17" fmla="*/ 5677 h 57150"/>
                <a:gd name="T18" fmla="*/ 2371 w 76834"/>
                <a:gd name="T19" fmla="*/ 5449 h 57150"/>
                <a:gd name="T20" fmla="*/ 1145 w 76834"/>
                <a:gd name="T21" fmla="*/ 4834 h 57150"/>
                <a:gd name="T22" fmla="*/ 309 w 76834"/>
                <a:gd name="T23" fmla="*/ 3929 h 57150"/>
                <a:gd name="T24" fmla="*/ 0 w 76834"/>
                <a:gd name="T25" fmla="*/ 2837 h 57150"/>
                <a:gd name="T26" fmla="*/ 309 w 76834"/>
                <a:gd name="T27" fmla="*/ 1696 h 57150"/>
                <a:gd name="T28" fmla="*/ 1145 w 76834"/>
                <a:gd name="T29" fmla="*/ 797 h 57150"/>
                <a:gd name="T30" fmla="*/ 2371 w 76834"/>
                <a:gd name="T31" fmla="*/ 210 h 57150"/>
                <a:gd name="T32" fmla="*/ 3853 w 76834"/>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480" y="0"/>
                  </a:moveTo>
                  <a:lnTo>
                    <a:pt x="53260" y="2103"/>
                  </a:lnTo>
                  <a:lnTo>
                    <a:pt x="65468" y="7972"/>
                  </a:lnTo>
                  <a:lnTo>
                    <a:pt x="73771" y="16941"/>
                  </a:lnTo>
                  <a:lnTo>
                    <a:pt x="76834" y="28346"/>
                  </a:lnTo>
                  <a:lnTo>
                    <a:pt x="73771" y="39255"/>
                  </a:lnTo>
                  <a:lnTo>
                    <a:pt x="65468" y="48283"/>
                  </a:lnTo>
                  <a:lnTo>
                    <a:pt x="53260" y="54433"/>
                  </a:lnTo>
                  <a:lnTo>
                    <a:pt x="38480" y="56705"/>
                  </a:lnTo>
                  <a:lnTo>
                    <a:pt x="23681" y="54433"/>
                  </a:lnTo>
                  <a:lnTo>
                    <a:pt x="11429" y="48283"/>
                  </a:lnTo>
                  <a:lnTo>
                    <a:pt x="3083" y="39255"/>
                  </a:lnTo>
                  <a:lnTo>
                    <a:pt x="0" y="28346"/>
                  </a:lnTo>
                  <a:lnTo>
                    <a:pt x="3083" y="16941"/>
                  </a:lnTo>
                  <a:lnTo>
                    <a:pt x="11429" y="7972"/>
                  </a:lnTo>
                  <a:lnTo>
                    <a:pt x="23681" y="2103"/>
                  </a:lnTo>
                  <a:lnTo>
                    <a:pt x="38480"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7" name="object 65"/>
            <p:cNvSpPr/>
            <p:nvPr/>
          </p:nvSpPr>
          <p:spPr bwMode="auto">
            <a:xfrm>
              <a:off x="5418106" y="4281870"/>
              <a:ext cx="47149" cy="34766"/>
            </a:xfrm>
            <a:custGeom>
              <a:avLst/>
              <a:gdLst>
                <a:gd name="T0" fmla="*/ 0 w 62865"/>
                <a:gd name="T1" fmla="*/ 2366 h 46354"/>
                <a:gd name="T2" fmla="*/ 227 w 62865"/>
                <a:gd name="T3" fmla="*/ 1449 h 46354"/>
                <a:gd name="T4" fmla="*/ 857 w 62865"/>
                <a:gd name="T5" fmla="*/ 697 h 46354"/>
                <a:gd name="T6" fmla="*/ 1819 w 62865"/>
                <a:gd name="T7" fmla="*/ 188 h 46354"/>
                <a:gd name="T8" fmla="*/ 3039 w 62865"/>
                <a:gd name="T9" fmla="*/ 0 h 46354"/>
                <a:gd name="T10" fmla="*/ 4286 w 62865"/>
                <a:gd name="T11" fmla="*/ 188 h 46354"/>
                <a:gd name="T12" fmla="*/ 5304 w 62865"/>
                <a:gd name="T13" fmla="*/ 697 h 46354"/>
                <a:gd name="T14" fmla="*/ 5991 w 62865"/>
                <a:gd name="T15" fmla="*/ 1449 h 46354"/>
                <a:gd name="T16" fmla="*/ 6243 w 62865"/>
                <a:gd name="T17" fmla="*/ 2366 h 46354"/>
                <a:gd name="T18" fmla="*/ 5991 w 62865"/>
                <a:gd name="T19" fmla="*/ 3216 h 46354"/>
                <a:gd name="T20" fmla="*/ 5304 w 62865"/>
                <a:gd name="T21" fmla="*/ 3934 h 46354"/>
                <a:gd name="T22" fmla="*/ 4286 w 62865"/>
                <a:gd name="T23" fmla="*/ 4431 h 46354"/>
                <a:gd name="T24" fmla="*/ 3039 w 62865"/>
                <a:gd name="T25" fmla="*/ 4616 h 46354"/>
                <a:gd name="T26" fmla="*/ 1819 w 62865"/>
                <a:gd name="T27" fmla="*/ 4431 h 46354"/>
                <a:gd name="T28" fmla="*/ 857 w 62865"/>
                <a:gd name="T29" fmla="*/ 3934 h 46354"/>
                <a:gd name="T30" fmla="*/ 227 w 62865"/>
                <a:gd name="T31" fmla="*/ 3216 h 46354"/>
                <a:gd name="T32" fmla="*/ 0 w 62865"/>
                <a:gd name="T33" fmla="*/ 2366 h 463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2865" h="46354">
                  <a:moveTo>
                    <a:pt x="0" y="23622"/>
                  </a:moveTo>
                  <a:lnTo>
                    <a:pt x="2260" y="14466"/>
                  </a:lnTo>
                  <a:lnTo>
                    <a:pt x="8556" y="6953"/>
                  </a:lnTo>
                  <a:lnTo>
                    <a:pt x="18162" y="1869"/>
                  </a:lnTo>
                  <a:lnTo>
                    <a:pt x="30352" y="0"/>
                  </a:lnTo>
                  <a:lnTo>
                    <a:pt x="42800" y="1869"/>
                  </a:lnTo>
                  <a:lnTo>
                    <a:pt x="52974" y="6953"/>
                  </a:lnTo>
                  <a:lnTo>
                    <a:pt x="59838" y="14466"/>
                  </a:lnTo>
                  <a:lnTo>
                    <a:pt x="62356" y="23622"/>
                  </a:lnTo>
                  <a:lnTo>
                    <a:pt x="59838" y="32117"/>
                  </a:lnTo>
                  <a:lnTo>
                    <a:pt x="52974" y="39290"/>
                  </a:lnTo>
                  <a:lnTo>
                    <a:pt x="42800" y="44249"/>
                  </a:lnTo>
                  <a:lnTo>
                    <a:pt x="30352" y="46101"/>
                  </a:lnTo>
                  <a:lnTo>
                    <a:pt x="18162" y="44249"/>
                  </a:lnTo>
                  <a:lnTo>
                    <a:pt x="8556" y="39290"/>
                  </a:lnTo>
                  <a:lnTo>
                    <a:pt x="2260" y="32117"/>
                  </a:lnTo>
                  <a:lnTo>
                    <a:pt x="0" y="23622"/>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8" name="object 66"/>
            <p:cNvSpPr/>
            <p:nvPr/>
          </p:nvSpPr>
          <p:spPr bwMode="auto">
            <a:xfrm>
              <a:off x="5183789" y="4444936"/>
              <a:ext cx="551498" cy="1221582"/>
            </a:xfrm>
            <a:custGeom>
              <a:avLst/>
              <a:gdLst>
                <a:gd name="T0" fmla="*/ 19250 w 735329"/>
                <a:gd name="T1" fmla="*/ 39847 h 1628775"/>
                <a:gd name="T2" fmla="*/ 25733 w 735329"/>
                <a:gd name="T3" fmla="*/ 28023 h 1628775"/>
                <a:gd name="T4" fmla="*/ 30464 w 735329"/>
                <a:gd name="T5" fmla="*/ 3503 h 1628775"/>
                <a:gd name="T6" fmla="*/ 37886 w 735329"/>
                <a:gd name="T7" fmla="*/ 0 h 1628775"/>
                <a:gd name="T8" fmla="*/ 38004 w 735329"/>
                <a:gd name="T9" fmla="*/ 28023 h 1628775"/>
                <a:gd name="T10" fmla="*/ 50515 w 735329"/>
                <a:gd name="T11" fmla="*/ 34859 h 1628775"/>
                <a:gd name="T12" fmla="*/ 70718 w 735329"/>
                <a:gd name="T13" fmla="*/ 39847 h 1628775"/>
                <a:gd name="T14" fmla="*/ 73604 w 735329"/>
                <a:gd name="T15" fmla="*/ 161134 h 1628775"/>
                <a:gd name="T16" fmla="*/ 65747 w 735329"/>
                <a:gd name="T17" fmla="*/ 163059 h 1628775"/>
                <a:gd name="T18" fmla="*/ 60540 w 735329"/>
                <a:gd name="T19" fmla="*/ 62568 h 1628775"/>
                <a:gd name="T20" fmla="*/ 60458 w 735329"/>
                <a:gd name="T21" fmla="*/ 52969 h 1628775"/>
                <a:gd name="T22" fmla="*/ 54368 w 735329"/>
                <a:gd name="T23" fmla="*/ 58437 h 1628775"/>
                <a:gd name="T24" fmla="*/ 59418 w 735329"/>
                <a:gd name="T25" fmla="*/ 70294 h 1628775"/>
                <a:gd name="T26" fmla="*/ 52141 w 735329"/>
                <a:gd name="T27" fmla="*/ 163059 h 1628775"/>
                <a:gd name="T28" fmla="*/ 50998 w 735329"/>
                <a:gd name="T29" fmla="*/ 144553 h 1628775"/>
                <a:gd name="T30" fmla="*/ 41373 w 735329"/>
                <a:gd name="T31" fmla="*/ 134444 h 1628775"/>
                <a:gd name="T32" fmla="*/ 49549 w 735329"/>
                <a:gd name="T33" fmla="*/ 144495 h 1628775"/>
                <a:gd name="T34" fmla="*/ 45469 w 735329"/>
                <a:gd name="T35" fmla="*/ 163059 h 1628775"/>
                <a:gd name="T36" fmla="*/ 42492 w 735329"/>
                <a:gd name="T37" fmla="*/ 149195 h 1628775"/>
                <a:gd name="T38" fmla="*/ 33180 w 735329"/>
                <a:gd name="T39" fmla="*/ 137438 h 1628775"/>
                <a:gd name="T40" fmla="*/ 33032 w 735329"/>
                <a:gd name="T41" fmla="*/ 123329 h 1628775"/>
                <a:gd name="T42" fmla="*/ 37264 w 735329"/>
                <a:gd name="T43" fmla="*/ 118290 h 1628775"/>
                <a:gd name="T44" fmla="*/ 48873 w 735329"/>
                <a:gd name="T45" fmla="*/ 99014 h 1628775"/>
                <a:gd name="T46" fmla="*/ 50998 w 735329"/>
                <a:gd name="T47" fmla="*/ 71810 h 1628775"/>
                <a:gd name="T48" fmla="*/ 45544 w 735329"/>
                <a:gd name="T49" fmla="*/ 62428 h 1628775"/>
                <a:gd name="T50" fmla="*/ 47328 w 735329"/>
                <a:gd name="T51" fmla="*/ 52969 h 1628775"/>
                <a:gd name="T52" fmla="*/ 48552 w 735329"/>
                <a:gd name="T53" fmla="*/ 46853 h 1628775"/>
                <a:gd name="T54" fmla="*/ 40028 w 735329"/>
                <a:gd name="T55" fmla="*/ 48055 h 1628775"/>
                <a:gd name="T56" fmla="*/ 44259 w 735329"/>
                <a:gd name="T57" fmla="*/ 53439 h 1628775"/>
                <a:gd name="T58" fmla="*/ 47317 w 735329"/>
                <a:gd name="T59" fmla="*/ 67625 h 1628775"/>
                <a:gd name="T60" fmla="*/ 49549 w 735329"/>
                <a:gd name="T61" fmla="*/ 93145 h 1628775"/>
                <a:gd name="T62" fmla="*/ 32665 w 735329"/>
                <a:gd name="T63" fmla="*/ 115456 h 1628775"/>
                <a:gd name="T64" fmla="*/ 27528 w 735329"/>
                <a:gd name="T65" fmla="*/ 118037 h 1628775"/>
                <a:gd name="T66" fmla="*/ 31748 w 735329"/>
                <a:gd name="T67" fmla="*/ 123329 h 1628775"/>
                <a:gd name="T68" fmla="*/ 37129 w 735329"/>
                <a:gd name="T69" fmla="*/ 143379 h 1628775"/>
                <a:gd name="T70" fmla="*/ 41055 w 735329"/>
                <a:gd name="T71" fmla="*/ 161123 h 1628775"/>
                <a:gd name="T72" fmla="*/ 33470 w 735329"/>
                <a:gd name="T73" fmla="*/ 163059 h 1628775"/>
                <a:gd name="T74" fmla="*/ 33350 w 735329"/>
                <a:gd name="T75" fmla="*/ 150289 h 1628775"/>
                <a:gd name="T76" fmla="*/ 24221 w 735329"/>
                <a:gd name="T77" fmla="*/ 125459 h 1628775"/>
                <a:gd name="T78" fmla="*/ 39652 w 735329"/>
                <a:gd name="T79" fmla="*/ 98378 h 1628775"/>
                <a:gd name="T80" fmla="*/ 41856 w 735329"/>
                <a:gd name="T81" fmla="*/ 71801 h 1628775"/>
                <a:gd name="T82" fmla="*/ 36567 w 735329"/>
                <a:gd name="T83" fmla="*/ 62428 h 1628775"/>
                <a:gd name="T84" fmla="*/ 35117 w 735329"/>
                <a:gd name="T85" fmla="*/ 52969 h 1628775"/>
                <a:gd name="T86" fmla="*/ 38271 w 735329"/>
                <a:gd name="T87" fmla="*/ 67625 h 1628775"/>
                <a:gd name="T88" fmla="*/ 40572 w 735329"/>
                <a:gd name="T89" fmla="*/ 92731 h 1628775"/>
                <a:gd name="T90" fmla="*/ 23213 w 735329"/>
                <a:gd name="T91" fmla="*/ 114401 h 1628775"/>
                <a:gd name="T92" fmla="*/ 22937 w 735329"/>
                <a:gd name="T93" fmla="*/ 140239 h 1628775"/>
                <a:gd name="T94" fmla="*/ 31913 w 735329"/>
                <a:gd name="T95" fmla="*/ 157772 h 1628775"/>
                <a:gd name="T96" fmla="*/ 17039 w 735329"/>
                <a:gd name="T97" fmla="*/ 163059 h 1628775"/>
                <a:gd name="T98" fmla="*/ 14915 w 735329"/>
                <a:gd name="T99" fmla="*/ 123950 h 1628775"/>
                <a:gd name="T100" fmla="*/ 19403 w 735329"/>
                <a:gd name="T101" fmla="*/ 119544 h 1628775"/>
                <a:gd name="T102" fmla="*/ 12093 w 735329"/>
                <a:gd name="T103" fmla="*/ 115953 h 1628775"/>
                <a:gd name="T104" fmla="*/ 10264 w 735329"/>
                <a:gd name="T105" fmla="*/ 122102 h 1628775"/>
                <a:gd name="T106" fmla="*/ 13478 w 735329"/>
                <a:gd name="T107" fmla="*/ 162439 h 1628775"/>
                <a:gd name="T108" fmla="*/ 0 w 735329"/>
                <a:gd name="T109" fmla="*/ 163059 h 162877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35329" h="1628775">
                  <a:moveTo>
                    <a:pt x="0" y="398018"/>
                  </a:moveTo>
                  <a:lnTo>
                    <a:pt x="111160" y="398018"/>
                  </a:lnTo>
                  <a:lnTo>
                    <a:pt x="168243" y="398018"/>
                  </a:lnTo>
                  <a:lnTo>
                    <a:pt x="189273" y="398018"/>
                  </a:lnTo>
                  <a:lnTo>
                    <a:pt x="192277" y="398018"/>
                  </a:lnTo>
                  <a:lnTo>
                    <a:pt x="192277" y="329735"/>
                  </a:lnTo>
                  <a:lnTo>
                    <a:pt x="192277" y="294671"/>
                  </a:lnTo>
                  <a:lnTo>
                    <a:pt x="192277" y="281753"/>
                  </a:lnTo>
                  <a:lnTo>
                    <a:pt x="192277" y="279908"/>
                  </a:lnTo>
                  <a:lnTo>
                    <a:pt x="257036" y="279908"/>
                  </a:lnTo>
                  <a:lnTo>
                    <a:pt x="290290" y="279908"/>
                  </a:lnTo>
                  <a:lnTo>
                    <a:pt x="302541" y="279908"/>
                  </a:lnTo>
                  <a:lnTo>
                    <a:pt x="304292" y="279908"/>
                  </a:lnTo>
                  <a:lnTo>
                    <a:pt x="304292" y="118086"/>
                  </a:lnTo>
                  <a:lnTo>
                    <a:pt x="304292" y="34988"/>
                  </a:lnTo>
                  <a:lnTo>
                    <a:pt x="304292" y="4373"/>
                  </a:lnTo>
                  <a:lnTo>
                    <a:pt x="304292" y="0"/>
                  </a:lnTo>
                  <a:lnTo>
                    <a:pt x="347831" y="0"/>
                  </a:lnTo>
                  <a:lnTo>
                    <a:pt x="370189" y="0"/>
                  </a:lnTo>
                  <a:lnTo>
                    <a:pt x="378426" y="0"/>
                  </a:lnTo>
                  <a:lnTo>
                    <a:pt x="379602" y="0"/>
                  </a:lnTo>
                  <a:lnTo>
                    <a:pt x="379602" y="161821"/>
                  </a:lnTo>
                  <a:lnTo>
                    <a:pt x="379602" y="244919"/>
                  </a:lnTo>
                  <a:lnTo>
                    <a:pt x="379602" y="275534"/>
                  </a:lnTo>
                  <a:lnTo>
                    <a:pt x="379602" y="279908"/>
                  </a:lnTo>
                  <a:lnTo>
                    <a:pt x="451850" y="279908"/>
                  </a:lnTo>
                  <a:lnTo>
                    <a:pt x="488950" y="279908"/>
                  </a:lnTo>
                  <a:lnTo>
                    <a:pt x="502618" y="279908"/>
                  </a:lnTo>
                  <a:lnTo>
                    <a:pt x="504571" y="279908"/>
                  </a:lnTo>
                  <a:lnTo>
                    <a:pt x="504571" y="348190"/>
                  </a:lnTo>
                  <a:lnTo>
                    <a:pt x="504571" y="383254"/>
                  </a:lnTo>
                  <a:lnTo>
                    <a:pt x="504571" y="396172"/>
                  </a:lnTo>
                  <a:lnTo>
                    <a:pt x="504571" y="398018"/>
                  </a:lnTo>
                  <a:lnTo>
                    <a:pt x="637905" y="398018"/>
                  </a:lnTo>
                  <a:lnTo>
                    <a:pt x="706374" y="398018"/>
                  </a:lnTo>
                  <a:lnTo>
                    <a:pt x="731599" y="398018"/>
                  </a:lnTo>
                  <a:lnTo>
                    <a:pt x="735202" y="398018"/>
                  </a:lnTo>
                  <a:lnTo>
                    <a:pt x="735202" y="1109534"/>
                  </a:lnTo>
                  <a:lnTo>
                    <a:pt x="735202" y="1474908"/>
                  </a:lnTo>
                  <a:lnTo>
                    <a:pt x="735202" y="1609519"/>
                  </a:lnTo>
                  <a:lnTo>
                    <a:pt x="735202" y="1628749"/>
                  </a:lnTo>
                  <a:lnTo>
                    <a:pt x="689828" y="1628749"/>
                  </a:lnTo>
                  <a:lnTo>
                    <a:pt x="666527" y="1628749"/>
                  </a:lnTo>
                  <a:lnTo>
                    <a:pt x="657943" y="1628749"/>
                  </a:lnTo>
                  <a:lnTo>
                    <a:pt x="656717" y="1628749"/>
                  </a:lnTo>
                  <a:lnTo>
                    <a:pt x="656717" y="1462140"/>
                  </a:lnTo>
                  <a:lnTo>
                    <a:pt x="656717" y="713359"/>
                  </a:lnTo>
                  <a:lnTo>
                    <a:pt x="626173" y="661449"/>
                  </a:lnTo>
                  <a:lnTo>
                    <a:pt x="610488" y="634793"/>
                  </a:lnTo>
                  <a:lnTo>
                    <a:pt x="604710" y="624972"/>
                  </a:lnTo>
                  <a:lnTo>
                    <a:pt x="603884" y="623570"/>
                  </a:lnTo>
                  <a:lnTo>
                    <a:pt x="603884" y="568944"/>
                  </a:lnTo>
                  <a:lnTo>
                    <a:pt x="603884" y="540893"/>
                  </a:lnTo>
                  <a:lnTo>
                    <a:pt x="603884" y="530558"/>
                  </a:lnTo>
                  <a:lnTo>
                    <a:pt x="603884" y="529082"/>
                  </a:lnTo>
                  <a:lnTo>
                    <a:pt x="568715" y="529082"/>
                  </a:lnTo>
                  <a:lnTo>
                    <a:pt x="550656" y="529082"/>
                  </a:lnTo>
                  <a:lnTo>
                    <a:pt x="544002" y="529082"/>
                  </a:lnTo>
                  <a:lnTo>
                    <a:pt x="543051" y="529082"/>
                  </a:lnTo>
                  <a:lnTo>
                    <a:pt x="543051" y="583707"/>
                  </a:lnTo>
                  <a:lnTo>
                    <a:pt x="543051" y="611759"/>
                  </a:lnTo>
                  <a:lnTo>
                    <a:pt x="543051" y="622093"/>
                  </a:lnTo>
                  <a:lnTo>
                    <a:pt x="543051" y="623570"/>
                  </a:lnTo>
                  <a:lnTo>
                    <a:pt x="576385" y="675479"/>
                  </a:lnTo>
                  <a:lnTo>
                    <a:pt x="593502" y="702135"/>
                  </a:lnTo>
                  <a:lnTo>
                    <a:pt x="599809" y="711956"/>
                  </a:lnTo>
                  <a:lnTo>
                    <a:pt x="600709" y="713359"/>
                  </a:lnTo>
                  <a:lnTo>
                    <a:pt x="600709" y="1628749"/>
                  </a:lnTo>
                  <a:lnTo>
                    <a:pt x="547919" y="1628749"/>
                  </a:lnTo>
                  <a:lnTo>
                    <a:pt x="520811" y="1628749"/>
                  </a:lnTo>
                  <a:lnTo>
                    <a:pt x="510823" y="1628749"/>
                  </a:lnTo>
                  <a:lnTo>
                    <a:pt x="509397" y="1628749"/>
                  </a:lnTo>
                  <a:lnTo>
                    <a:pt x="509397" y="1520180"/>
                  </a:lnTo>
                  <a:lnTo>
                    <a:pt x="509397" y="1464429"/>
                  </a:lnTo>
                  <a:lnTo>
                    <a:pt x="509397" y="1443888"/>
                  </a:lnTo>
                  <a:lnTo>
                    <a:pt x="509397" y="1440954"/>
                  </a:lnTo>
                  <a:lnTo>
                    <a:pt x="453816" y="1384280"/>
                  </a:lnTo>
                  <a:lnTo>
                    <a:pt x="425275" y="1355177"/>
                  </a:lnTo>
                  <a:lnTo>
                    <a:pt x="414760" y="1344455"/>
                  </a:lnTo>
                  <a:lnTo>
                    <a:pt x="413257" y="1342923"/>
                  </a:lnTo>
                  <a:lnTo>
                    <a:pt x="397255" y="1342923"/>
                  </a:lnTo>
                  <a:lnTo>
                    <a:pt x="453717" y="1400963"/>
                  </a:lnTo>
                  <a:lnTo>
                    <a:pt x="482711" y="1430767"/>
                  </a:lnTo>
                  <a:lnTo>
                    <a:pt x="493393" y="1441748"/>
                  </a:lnTo>
                  <a:lnTo>
                    <a:pt x="494919" y="1443316"/>
                  </a:lnTo>
                  <a:lnTo>
                    <a:pt x="494919" y="1550520"/>
                  </a:lnTo>
                  <a:lnTo>
                    <a:pt x="494919" y="1605570"/>
                  </a:lnTo>
                  <a:lnTo>
                    <a:pt x="494919" y="1625852"/>
                  </a:lnTo>
                  <a:lnTo>
                    <a:pt x="494919" y="1628749"/>
                  </a:lnTo>
                  <a:lnTo>
                    <a:pt x="454169" y="1628749"/>
                  </a:lnTo>
                  <a:lnTo>
                    <a:pt x="433244" y="1628749"/>
                  </a:lnTo>
                  <a:lnTo>
                    <a:pt x="425535" y="1628749"/>
                  </a:lnTo>
                  <a:lnTo>
                    <a:pt x="424433" y="1628749"/>
                  </a:lnTo>
                  <a:lnTo>
                    <a:pt x="424433" y="1537251"/>
                  </a:lnTo>
                  <a:lnTo>
                    <a:pt x="424433" y="1490265"/>
                  </a:lnTo>
                  <a:lnTo>
                    <a:pt x="424433" y="1472955"/>
                  </a:lnTo>
                  <a:lnTo>
                    <a:pt x="424433" y="1470482"/>
                  </a:lnTo>
                  <a:lnTo>
                    <a:pt x="369808" y="1413125"/>
                  </a:lnTo>
                  <a:lnTo>
                    <a:pt x="341756" y="1383671"/>
                  </a:lnTo>
                  <a:lnTo>
                    <a:pt x="331422" y="1372819"/>
                  </a:lnTo>
                  <a:lnTo>
                    <a:pt x="329946" y="1371269"/>
                  </a:lnTo>
                  <a:lnTo>
                    <a:pt x="329946" y="1290689"/>
                  </a:lnTo>
                  <a:lnTo>
                    <a:pt x="329946" y="1249310"/>
                  </a:lnTo>
                  <a:lnTo>
                    <a:pt x="329946" y="1234065"/>
                  </a:lnTo>
                  <a:lnTo>
                    <a:pt x="329946" y="1231887"/>
                  </a:lnTo>
                  <a:lnTo>
                    <a:pt x="347773" y="1227808"/>
                  </a:lnTo>
                  <a:lnTo>
                    <a:pt x="361981" y="1219633"/>
                  </a:lnTo>
                  <a:lnTo>
                    <a:pt x="371379" y="1208136"/>
                  </a:lnTo>
                  <a:lnTo>
                    <a:pt x="374776" y="1194092"/>
                  </a:lnTo>
                  <a:lnTo>
                    <a:pt x="372209" y="1181561"/>
                  </a:lnTo>
                  <a:lnTo>
                    <a:pt x="364998" y="1170913"/>
                  </a:lnTo>
                  <a:lnTo>
                    <a:pt x="353881" y="1162700"/>
                  </a:lnTo>
                  <a:lnTo>
                    <a:pt x="339598" y="1157478"/>
                  </a:lnTo>
                  <a:lnTo>
                    <a:pt x="437763" y="1046170"/>
                  </a:lnTo>
                  <a:lnTo>
                    <a:pt x="488172" y="989012"/>
                  </a:lnTo>
                  <a:lnTo>
                    <a:pt x="506743" y="967954"/>
                  </a:lnTo>
                  <a:lnTo>
                    <a:pt x="509397" y="964946"/>
                  </a:lnTo>
                  <a:lnTo>
                    <a:pt x="509397" y="819497"/>
                  </a:lnTo>
                  <a:lnTo>
                    <a:pt x="509397" y="744807"/>
                  </a:lnTo>
                  <a:lnTo>
                    <a:pt x="509397" y="717290"/>
                  </a:lnTo>
                  <a:lnTo>
                    <a:pt x="509397" y="713359"/>
                  </a:lnTo>
                  <a:lnTo>
                    <a:pt x="477899" y="661449"/>
                  </a:lnTo>
                  <a:lnTo>
                    <a:pt x="461724" y="634793"/>
                  </a:lnTo>
                  <a:lnTo>
                    <a:pt x="455765" y="624972"/>
                  </a:lnTo>
                  <a:lnTo>
                    <a:pt x="454913" y="623570"/>
                  </a:lnTo>
                  <a:lnTo>
                    <a:pt x="454913" y="571660"/>
                  </a:lnTo>
                  <a:lnTo>
                    <a:pt x="454913" y="545004"/>
                  </a:lnTo>
                  <a:lnTo>
                    <a:pt x="454913" y="535183"/>
                  </a:lnTo>
                  <a:lnTo>
                    <a:pt x="454913" y="533781"/>
                  </a:lnTo>
                  <a:lnTo>
                    <a:pt x="472741" y="529083"/>
                  </a:lnTo>
                  <a:lnTo>
                    <a:pt x="486949" y="520588"/>
                  </a:lnTo>
                  <a:lnTo>
                    <a:pt x="496347" y="508974"/>
                  </a:lnTo>
                  <a:lnTo>
                    <a:pt x="499745" y="494919"/>
                  </a:lnTo>
                  <a:lnTo>
                    <a:pt x="495802" y="480004"/>
                  </a:lnTo>
                  <a:lnTo>
                    <a:pt x="484965" y="467995"/>
                  </a:lnTo>
                  <a:lnTo>
                    <a:pt x="468723" y="459986"/>
                  </a:lnTo>
                  <a:lnTo>
                    <a:pt x="448563" y="457073"/>
                  </a:lnTo>
                  <a:lnTo>
                    <a:pt x="428126" y="459986"/>
                  </a:lnTo>
                  <a:lnTo>
                    <a:pt x="411273" y="467995"/>
                  </a:lnTo>
                  <a:lnTo>
                    <a:pt x="399825" y="480004"/>
                  </a:lnTo>
                  <a:lnTo>
                    <a:pt x="395604" y="494919"/>
                  </a:lnTo>
                  <a:lnTo>
                    <a:pt x="399260" y="509135"/>
                  </a:lnTo>
                  <a:lnTo>
                    <a:pt x="409225" y="521017"/>
                  </a:lnTo>
                  <a:lnTo>
                    <a:pt x="424001" y="529566"/>
                  </a:lnTo>
                  <a:lnTo>
                    <a:pt x="442086" y="533781"/>
                  </a:lnTo>
                  <a:lnTo>
                    <a:pt x="442086" y="585690"/>
                  </a:lnTo>
                  <a:lnTo>
                    <a:pt x="442086" y="612346"/>
                  </a:lnTo>
                  <a:lnTo>
                    <a:pt x="442086" y="622167"/>
                  </a:lnTo>
                  <a:lnTo>
                    <a:pt x="442086" y="623570"/>
                  </a:lnTo>
                  <a:lnTo>
                    <a:pt x="472630" y="675479"/>
                  </a:lnTo>
                  <a:lnTo>
                    <a:pt x="488315" y="702135"/>
                  </a:lnTo>
                  <a:lnTo>
                    <a:pt x="494093" y="711956"/>
                  </a:lnTo>
                  <a:lnTo>
                    <a:pt x="494919" y="713359"/>
                  </a:lnTo>
                  <a:lnTo>
                    <a:pt x="494919" y="856759"/>
                  </a:lnTo>
                  <a:lnTo>
                    <a:pt x="494919" y="930397"/>
                  </a:lnTo>
                  <a:lnTo>
                    <a:pt x="494919" y="957527"/>
                  </a:lnTo>
                  <a:lnTo>
                    <a:pt x="494919" y="961402"/>
                  </a:lnTo>
                  <a:lnTo>
                    <a:pt x="395872" y="1074075"/>
                  </a:lnTo>
                  <a:lnTo>
                    <a:pt x="345011" y="1131935"/>
                  </a:lnTo>
                  <a:lnTo>
                    <a:pt x="326272" y="1153251"/>
                  </a:lnTo>
                  <a:lnTo>
                    <a:pt x="323596" y="1156296"/>
                  </a:lnTo>
                  <a:lnTo>
                    <a:pt x="323596" y="1155115"/>
                  </a:lnTo>
                  <a:lnTo>
                    <a:pt x="303178" y="1158216"/>
                  </a:lnTo>
                  <a:lnTo>
                    <a:pt x="286369" y="1166631"/>
                  </a:lnTo>
                  <a:lnTo>
                    <a:pt x="274964" y="1179033"/>
                  </a:lnTo>
                  <a:lnTo>
                    <a:pt x="270763" y="1194092"/>
                  </a:lnTo>
                  <a:lnTo>
                    <a:pt x="274417" y="1208136"/>
                  </a:lnTo>
                  <a:lnTo>
                    <a:pt x="284368" y="1219633"/>
                  </a:lnTo>
                  <a:lnTo>
                    <a:pt x="299106" y="1227808"/>
                  </a:lnTo>
                  <a:lnTo>
                    <a:pt x="317119" y="1231887"/>
                  </a:lnTo>
                  <a:lnTo>
                    <a:pt x="317119" y="1314516"/>
                  </a:lnTo>
                  <a:lnTo>
                    <a:pt x="317119" y="1356947"/>
                  </a:lnTo>
                  <a:lnTo>
                    <a:pt x="317119" y="1372579"/>
                  </a:lnTo>
                  <a:lnTo>
                    <a:pt x="317119" y="1374813"/>
                  </a:lnTo>
                  <a:lnTo>
                    <a:pt x="370863" y="1432170"/>
                  </a:lnTo>
                  <a:lnTo>
                    <a:pt x="398462" y="1461623"/>
                  </a:lnTo>
                  <a:lnTo>
                    <a:pt x="408630" y="1472475"/>
                  </a:lnTo>
                  <a:lnTo>
                    <a:pt x="410082" y="1474025"/>
                  </a:lnTo>
                  <a:lnTo>
                    <a:pt x="410082" y="1563475"/>
                  </a:lnTo>
                  <a:lnTo>
                    <a:pt x="410082" y="1609409"/>
                  </a:lnTo>
                  <a:lnTo>
                    <a:pt x="410082" y="1626332"/>
                  </a:lnTo>
                  <a:lnTo>
                    <a:pt x="410082" y="1628749"/>
                  </a:lnTo>
                  <a:lnTo>
                    <a:pt x="365589" y="1628749"/>
                  </a:lnTo>
                  <a:lnTo>
                    <a:pt x="342741" y="1628749"/>
                  </a:lnTo>
                  <a:lnTo>
                    <a:pt x="334323" y="1628749"/>
                  </a:lnTo>
                  <a:lnTo>
                    <a:pt x="333121" y="1628749"/>
                  </a:lnTo>
                  <a:lnTo>
                    <a:pt x="333121" y="1555004"/>
                  </a:lnTo>
                  <a:lnTo>
                    <a:pt x="333121" y="1517135"/>
                  </a:lnTo>
                  <a:lnTo>
                    <a:pt x="333121" y="1503183"/>
                  </a:lnTo>
                  <a:lnTo>
                    <a:pt x="333121" y="1501190"/>
                  </a:lnTo>
                  <a:lnTo>
                    <a:pt x="280404" y="1441102"/>
                  </a:lnTo>
                  <a:lnTo>
                    <a:pt x="253333" y="1410246"/>
                  </a:lnTo>
                  <a:lnTo>
                    <a:pt x="243359" y="1398878"/>
                  </a:lnTo>
                  <a:lnTo>
                    <a:pt x="241934" y="1397254"/>
                  </a:lnTo>
                  <a:lnTo>
                    <a:pt x="241934" y="1253170"/>
                  </a:lnTo>
                  <a:lnTo>
                    <a:pt x="241934" y="1179182"/>
                  </a:lnTo>
                  <a:lnTo>
                    <a:pt x="241934" y="1151923"/>
                  </a:lnTo>
                  <a:lnTo>
                    <a:pt x="241934" y="1148029"/>
                  </a:lnTo>
                  <a:lnTo>
                    <a:pt x="343771" y="1038770"/>
                  </a:lnTo>
                  <a:lnTo>
                    <a:pt x="396065" y="982664"/>
                  </a:lnTo>
                  <a:lnTo>
                    <a:pt x="415331" y="961993"/>
                  </a:lnTo>
                  <a:lnTo>
                    <a:pt x="418083" y="959040"/>
                  </a:lnTo>
                  <a:lnTo>
                    <a:pt x="418083" y="817005"/>
                  </a:lnTo>
                  <a:lnTo>
                    <a:pt x="418083" y="744069"/>
                  </a:lnTo>
                  <a:lnTo>
                    <a:pt x="418083" y="717197"/>
                  </a:lnTo>
                  <a:lnTo>
                    <a:pt x="418083" y="713359"/>
                  </a:lnTo>
                  <a:lnTo>
                    <a:pt x="387540" y="661449"/>
                  </a:lnTo>
                  <a:lnTo>
                    <a:pt x="371855" y="634793"/>
                  </a:lnTo>
                  <a:lnTo>
                    <a:pt x="366077" y="624972"/>
                  </a:lnTo>
                  <a:lnTo>
                    <a:pt x="365251" y="623570"/>
                  </a:lnTo>
                  <a:lnTo>
                    <a:pt x="365251" y="568944"/>
                  </a:lnTo>
                  <a:lnTo>
                    <a:pt x="365251" y="540893"/>
                  </a:lnTo>
                  <a:lnTo>
                    <a:pt x="365251" y="530558"/>
                  </a:lnTo>
                  <a:lnTo>
                    <a:pt x="365251" y="529082"/>
                  </a:lnTo>
                  <a:lnTo>
                    <a:pt x="350774" y="529082"/>
                  </a:lnTo>
                  <a:lnTo>
                    <a:pt x="350774" y="583707"/>
                  </a:lnTo>
                  <a:lnTo>
                    <a:pt x="350774" y="611759"/>
                  </a:lnTo>
                  <a:lnTo>
                    <a:pt x="350774" y="622093"/>
                  </a:lnTo>
                  <a:lnTo>
                    <a:pt x="350774" y="623570"/>
                  </a:lnTo>
                  <a:lnTo>
                    <a:pt x="382271" y="675479"/>
                  </a:lnTo>
                  <a:lnTo>
                    <a:pt x="398446" y="702135"/>
                  </a:lnTo>
                  <a:lnTo>
                    <a:pt x="404405" y="711956"/>
                  </a:lnTo>
                  <a:lnTo>
                    <a:pt x="405256" y="713359"/>
                  </a:lnTo>
                  <a:lnTo>
                    <a:pt x="405256" y="854027"/>
                  </a:lnTo>
                  <a:lnTo>
                    <a:pt x="405256" y="926263"/>
                  </a:lnTo>
                  <a:lnTo>
                    <a:pt x="405256" y="952876"/>
                  </a:lnTo>
                  <a:lnTo>
                    <a:pt x="405256" y="956678"/>
                  </a:lnTo>
                  <a:lnTo>
                    <a:pt x="303420" y="1065937"/>
                  </a:lnTo>
                  <a:lnTo>
                    <a:pt x="251126" y="1122043"/>
                  </a:lnTo>
                  <a:lnTo>
                    <a:pt x="231860" y="1142714"/>
                  </a:lnTo>
                  <a:lnTo>
                    <a:pt x="229107" y="1145667"/>
                  </a:lnTo>
                  <a:lnTo>
                    <a:pt x="229107" y="1293164"/>
                  </a:lnTo>
                  <a:lnTo>
                    <a:pt x="229107" y="1368906"/>
                  </a:lnTo>
                  <a:lnTo>
                    <a:pt x="229107" y="1396810"/>
                  </a:lnTo>
                  <a:lnTo>
                    <a:pt x="229107" y="1400797"/>
                  </a:lnTo>
                  <a:lnTo>
                    <a:pt x="280943" y="1460202"/>
                  </a:lnTo>
                  <a:lnTo>
                    <a:pt x="307562" y="1490708"/>
                  </a:lnTo>
                  <a:lnTo>
                    <a:pt x="317369" y="1501947"/>
                  </a:lnTo>
                  <a:lnTo>
                    <a:pt x="318770" y="1503553"/>
                  </a:lnTo>
                  <a:lnTo>
                    <a:pt x="318770" y="1575932"/>
                  </a:lnTo>
                  <a:lnTo>
                    <a:pt x="318770" y="1613100"/>
                  </a:lnTo>
                  <a:lnTo>
                    <a:pt x="318770" y="1626793"/>
                  </a:lnTo>
                  <a:lnTo>
                    <a:pt x="318770" y="1628749"/>
                  </a:lnTo>
                  <a:lnTo>
                    <a:pt x="220604" y="1628749"/>
                  </a:lnTo>
                  <a:lnTo>
                    <a:pt x="170195" y="1628749"/>
                  </a:lnTo>
                  <a:lnTo>
                    <a:pt x="151624" y="1628749"/>
                  </a:lnTo>
                  <a:lnTo>
                    <a:pt x="148971" y="1628749"/>
                  </a:lnTo>
                  <a:lnTo>
                    <a:pt x="148971" y="1399313"/>
                  </a:lnTo>
                  <a:lnTo>
                    <a:pt x="148971" y="1281495"/>
                  </a:lnTo>
                  <a:lnTo>
                    <a:pt x="148971" y="1238088"/>
                  </a:lnTo>
                  <a:lnTo>
                    <a:pt x="148971" y="1231887"/>
                  </a:lnTo>
                  <a:lnTo>
                    <a:pt x="166102" y="1227808"/>
                  </a:lnTo>
                  <a:lnTo>
                    <a:pt x="180387" y="1219633"/>
                  </a:lnTo>
                  <a:lnTo>
                    <a:pt x="190172" y="1208136"/>
                  </a:lnTo>
                  <a:lnTo>
                    <a:pt x="193801" y="1194092"/>
                  </a:lnTo>
                  <a:lnTo>
                    <a:pt x="189601" y="1179033"/>
                  </a:lnTo>
                  <a:lnTo>
                    <a:pt x="178196" y="1166631"/>
                  </a:lnTo>
                  <a:lnTo>
                    <a:pt x="161387" y="1158216"/>
                  </a:lnTo>
                  <a:lnTo>
                    <a:pt x="140970" y="1155115"/>
                  </a:lnTo>
                  <a:lnTo>
                    <a:pt x="120790" y="1158216"/>
                  </a:lnTo>
                  <a:lnTo>
                    <a:pt x="104505" y="1166631"/>
                  </a:lnTo>
                  <a:lnTo>
                    <a:pt x="93624" y="1179033"/>
                  </a:lnTo>
                  <a:lnTo>
                    <a:pt x="89661" y="1194092"/>
                  </a:lnTo>
                  <a:lnTo>
                    <a:pt x="93079" y="1208136"/>
                  </a:lnTo>
                  <a:lnTo>
                    <a:pt x="102520" y="1219633"/>
                  </a:lnTo>
                  <a:lnTo>
                    <a:pt x="116772" y="1227808"/>
                  </a:lnTo>
                  <a:lnTo>
                    <a:pt x="134620" y="1231887"/>
                  </a:lnTo>
                  <a:lnTo>
                    <a:pt x="134620" y="1461323"/>
                  </a:lnTo>
                  <a:lnTo>
                    <a:pt x="134620" y="1579141"/>
                  </a:lnTo>
                  <a:lnTo>
                    <a:pt x="134620" y="1622548"/>
                  </a:lnTo>
                  <a:lnTo>
                    <a:pt x="134620" y="1628749"/>
                  </a:lnTo>
                  <a:lnTo>
                    <a:pt x="56792" y="1628749"/>
                  </a:lnTo>
                  <a:lnTo>
                    <a:pt x="16827" y="1628749"/>
                  </a:lnTo>
                  <a:lnTo>
                    <a:pt x="2103" y="1628749"/>
                  </a:lnTo>
                  <a:lnTo>
                    <a:pt x="0" y="1628749"/>
                  </a:lnTo>
                  <a:lnTo>
                    <a:pt x="0" y="398018"/>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49" name="object 67"/>
            <p:cNvSpPr/>
            <p:nvPr/>
          </p:nvSpPr>
          <p:spPr bwMode="auto">
            <a:xfrm>
              <a:off x="5397627" y="5319246"/>
              <a:ext cx="58102" cy="42862"/>
            </a:xfrm>
            <a:custGeom>
              <a:avLst/>
              <a:gdLst>
                <a:gd name="T0" fmla="*/ 3852 w 77470"/>
                <a:gd name="T1" fmla="*/ 5675 h 57150"/>
                <a:gd name="T2" fmla="*/ 2371 w 77470"/>
                <a:gd name="T3" fmla="*/ 5448 h 57150"/>
                <a:gd name="T4" fmla="*/ 1144 w 77470"/>
                <a:gd name="T5" fmla="*/ 4832 h 57150"/>
                <a:gd name="T6" fmla="*/ 308 w 77470"/>
                <a:gd name="T7" fmla="*/ 3929 h 57150"/>
                <a:gd name="T8" fmla="*/ 0 w 77470"/>
                <a:gd name="T9" fmla="*/ 2837 h 57150"/>
                <a:gd name="T10" fmla="*/ 308 w 77470"/>
                <a:gd name="T11" fmla="*/ 1745 h 57150"/>
                <a:gd name="T12" fmla="*/ 1144 w 77470"/>
                <a:gd name="T13" fmla="*/ 842 h 57150"/>
                <a:gd name="T14" fmla="*/ 2371 w 77470"/>
                <a:gd name="T15" fmla="*/ 226 h 57150"/>
                <a:gd name="T16" fmla="*/ 3852 w 77470"/>
                <a:gd name="T17" fmla="*/ 0 h 57150"/>
                <a:gd name="T18" fmla="*/ 5333 w 77470"/>
                <a:gd name="T19" fmla="*/ 226 h 57150"/>
                <a:gd name="T20" fmla="*/ 6559 w 77470"/>
                <a:gd name="T21" fmla="*/ 842 h 57150"/>
                <a:gd name="T22" fmla="*/ 7396 w 77470"/>
                <a:gd name="T23" fmla="*/ 1745 h 57150"/>
                <a:gd name="T24" fmla="*/ 7704 w 77470"/>
                <a:gd name="T25" fmla="*/ 2837 h 57150"/>
                <a:gd name="T26" fmla="*/ 7396 w 77470"/>
                <a:gd name="T27" fmla="*/ 3929 h 57150"/>
                <a:gd name="T28" fmla="*/ 6559 w 77470"/>
                <a:gd name="T29" fmla="*/ 4832 h 57150"/>
                <a:gd name="T30" fmla="*/ 5333 w 77470"/>
                <a:gd name="T31" fmla="*/ 5448 h 57150"/>
                <a:gd name="T32" fmla="*/ 3852 w 77470"/>
                <a:gd name="T33" fmla="*/ 5675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7150">
                  <a:moveTo>
                    <a:pt x="38481" y="56692"/>
                  </a:moveTo>
                  <a:lnTo>
                    <a:pt x="23681" y="54422"/>
                  </a:lnTo>
                  <a:lnTo>
                    <a:pt x="11429" y="48277"/>
                  </a:lnTo>
                  <a:lnTo>
                    <a:pt x="3083" y="39253"/>
                  </a:lnTo>
                  <a:lnTo>
                    <a:pt x="0" y="28346"/>
                  </a:lnTo>
                  <a:lnTo>
                    <a:pt x="3083" y="17439"/>
                  </a:lnTo>
                  <a:lnTo>
                    <a:pt x="11430" y="8415"/>
                  </a:lnTo>
                  <a:lnTo>
                    <a:pt x="23681" y="2269"/>
                  </a:lnTo>
                  <a:lnTo>
                    <a:pt x="38481" y="0"/>
                  </a:lnTo>
                  <a:lnTo>
                    <a:pt x="53280" y="2269"/>
                  </a:lnTo>
                  <a:lnTo>
                    <a:pt x="65532" y="8415"/>
                  </a:lnTo>
                  <a:lnTo>
                    <a:pt x="73878" y="17439"/>
                  </a:lnTo>
                  <a:lnTo>
                    <a:pt x="76962" y="28346"/>
                  </a:lnTo>
                  <a:lnTo>
                    <a:pt x="73878" y="39253"/>
                  </a:lnTo>
                  <a:lnTo>
                    <a:pt x="65532" y="48277"/>
                  </a:lnTo>
                  <a:lnTo>
                    <a:pt x="53280" y="54422"/>
                  </a:lnTo>
                  <a:lnTo>
                    <a:pt x="38481" y="56692"/>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0" name="object 68"/>
            <p:cNvSpPr/>
            <p:nvPr/>
          </p:nvSpPr>
          <p:spPr bwMode="auto">
            <a:xfrm>
              <a:off x="5491353" y="4794790"/>
              <a:ext cx="57626" cy="42862"/>
            </a:xfrm>
            <a:custGeom>
              <a:avLst/>
              <a:gdLst>
                <a:gd name="T0" fmla="*/ 3853 w 76834"/>
                <a:gd name="T1" fmla="*/ 5683 h 57150"/>
                <a:gd name="T2" fmla="*/ 2371 w 76834"/>
                <a:gd name="T3" fmla="*/ 5473 h 57150"/>
                <a:gd name="T4" fmla="*/ 1145 w 76834"/>
                <a:gd name="T5" fmla="*/ 4885 h 57150"/>
                <a:gd name="T6" fmla="*/ 309 w 76834"/>
                <a:gd name="T7" fmla="*/ 3988 h 57150"/>
                <a:gd name="T8" fmla="*/ 0 w 76834"/>
                <a:gd name="T9" fmla="*/ 2848 h 57150"/>
                <a:gd name="T10" fmla="*/ 309 w 76834"/>
                <a:gd name="T11" fmla="*/ 1753 h 57150"/>
                <a:gd name="T12" fmla="*/ 1145 w 76834"/>
                <a:gd name="T13" fmla="*/ 847 h 57150"/>
                <a:gd name="T14" fmla="*/ 2371 w 76834"/>
                <a:gd name="T15" fmla="*/ 228 h 57150"/>
                <a:gd name="T16" fmla="*/ 3853 w 76834"/>
                <a:gd name="T17" fmla="*/ 0 h 57150"/>
                <a:gd name="T18" fmla="*/ 5332 w 76834"/>
                <a:gd name="T19" fmla="*/ 228 h 57150"/>
                <a:gd name="T20" fmla="*/ 6554 w 76834"/>
                <a:gd name="T21" fmla="*/ 847 h 57150"/>
                <a:gd name="T22" fmla="*/ 7386 w 76834"/>
                <a:gd name="T23" fmla="*/ 1753 h 57150"/>
                <a:gd name="T24" fmla="*/ 7693 w 76834"/>
                <a:gd name="T25" fmla="*/ 2848 h 57150"/>
                <a:gd name="T26" fmla="*/ 7386 w 76834"/>
                <a:gd name="T27" fmla="*/ 3988 h 57150"/>
                <a:gd name="T28" fmla="*/ 6554 w 76834"/>
                <a:gd name="T29" fmla="*/ 4885 h 57150"/>
                <a:gd name="T30" fmla="*/ 5332 w 76834"/>
                <a:gd name="T31" fmla="*/ 5473 h 57150"/>
                <a:gd name="T32" fmla="*/ 3853 w 76834"/>
                <a:gd name="T33" fmla="*/ 5683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480" y="56769"/>
                  </a:moveTo>
                  <a:lnTo>
                    <a:pt x="23681" y="54665"/>
                  </a:lnTo>
                  <a:lnTo>
                    <a:pt x="11429" y="48799"/>
                  </a:lnTo>
                  <a:lnTo>
                    <a:pt x="3083" y="39838"/>
                  </a:lnTo>
                  <a:lnTo>
                    <a:pt x="0" y="28448"/>
                  </a:lnTo>
                  <a:lnTo>
                    <a:pt x="3083" y="17520"/>
                  </a:lnTo>
                  <a:lnTo>
                    <a:pt x="11429" y="8461"/>
                  </a:lnTo>
                  <a:lnTo>
                    <a:pt x="23681" y="2284"/>
                  </a:lnTo>
                  <a:lnTo>
                    <a:pt x="38480" y="0"/>
                  </a:lnTo>
                  <a:lnTo>
                    <a:pt x="53260" y="2284"/>
                  </a:lnTo>
                  <a:lnTo>
                    <a:pt x="65468" y="8461"/>
                  </a:lnTo>
                  <a:lnTo>
                    <a:pt x="73771" y="17520"/>
                  </a:lnTo>
                  <a:lnTo>
                    <a:pt x="76835" y="28448"/>
                  </a:lnTo>
                  <a:lnTo>
                    <a:pt x="73771" y="39838"/>
                  </a:lnTo>
                  <a:lnTo>
                    <a:pt x="65468" y="48799"/>
                  </a:lnTo>
                  <a:lnTo>
                    <a:pt x="53260" y="54665"/>
                  </a:lnTo>
                  <a:lnTo>
                    <a:pt x="38480" y="56769"/>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1" name="object 69"/>
            <p:cNvSpPr/>
            <p:nvPr/>
          </p:nvSpPr>
          <p:spPr bwMode="auto">
            <a:xfrm>
              <a:off x="5260657" y="5319246"/>
              <a:ext cx="58102" cy="42862"/>
            </a:xfrm>
            <a:custGeom>
              <a:avLst/>
              <a:gdLst>
                <a:gd name="T0" fmla="*/ 3852 w 77470"/>
                <a:gd name="T1" fmla="*/ 5675 h 57150"/>
                <a:gd name="T2" fmla="*/ 2371 w 77470"/>
                <a:gd name="T3" fmla="*/ 5448 h 57150"/>
                <a:gd name="T4" fmla="*/ 1144 w 77470"/>
                <a:gd name="T5" fmla="*/ 4832 h 57150"/>
                <a:gd name="T6" fmla="*/ 308 w 77470"/>
                <a:gd name="T7" fmla="*/ 3929 h 57150"/>
                <a:gd name="T8" fmla="*/ 0 w 77470"/>
                <a:gd name="T9" fmla="*/ 2837 h 57150"/>
                <a:gd name="T10" fmla="*/ 308 w 77470"/>
                <a:gd name="T11" fmla="*/ 1745 h 57150"/>
                <a:gd name="T12" fmla="*/ 1144 w 77470"/>
                <a:gd name="T13" fmla="*/ 842 h 57150"/>
                <a:gd name="T14" fmla="*/ 2371 w 77470"/>
                <a:gd name="T15" fmla="*/ 226 h 57150"/>
                <a:gd name="T16" fmla="*/ 3852 w 77470"/>
                <a:gd name="T17" fmla="*/ 0 h 57150"/>
                <a:gd name="T18" fmla="*/ 5403 w 77470"/>
                <a:gd name="T19" fmla="*/ 226 h 57150"/>
                <a:gd name="T20" fmla="*/ 6622 w 77470"/>
                <a:gd name="T21" fmla="*/ 842 h 57150"/>
                <a:gd name="T22" fmla="*/ 7419 w 77470"/>
                <a:gd name="T23" fmla="*/ 1745 h 57150"/>
                <a:gd name="T24" fmla="*/ 7704 w 77470"/>
                <a:gd name="T25" fmla="*/ 2837 h 57150"/>
                <a:gd name="T26" fmla="*/ 7419 w 77470"/>
                <a:gd name="T27" fmla="*/ 3929 h 57150"/>
                <a:gd name="T28" fmla="*/ 6622 w 77470"/>
                <a:gd name="T29" fmla="*/ 4832 h 57150"/>
                <a:gd name="T30" fmla="*/ 5403 w 77470"/>
                <a:gd name="T31" fmla="*/ 5448 h 57150"/>
                <a:gd name="T32" fmla="*/ 3852 w 77470"/>
                <a:gd name="T33" fmla="*/ 5675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7150">
                  <a:moveTo>
                    <a:pt x="38481" y="56692"/>
                  </a:moveTo>
                  <a:lnTo>
                    <a:pt x="23681" y="54422"/>
                  </a:lnTo>
                  <a:lnTo>
                    <a:pt x="11429" y="48277"/>
                  </a:lnTo>
                  <a:lnTo>
                    <a:pt x="3083" y="39253"/>
                  </a:lnTo>
                  <a:lnTo>
                    <a:pt x="0" y="28346"/>
                  </a:lnTo>
                  <a:lnTo>
                    <a:pt x="3083" y="17439"/>
                  </a:lnTo>
                  <a:lnTo>
                    <a:pt x="11430" y="8415"/>
                  </a:lnTo>
                  <a:lnTo>
                    <a:pt x="23681" y="2269"/>
                  </a:lnTo>
                  <a:lnTo>
                    <a:pt x="38481" y="0"/>
                  </a:lnTo>
                  <a:lnTo>
                    <a:pt x="53976" y="2269"/>
                  </a:lnTo>
                  <a:lnTo>
                    <a:pt x="66151" y="8415"/>
                  </a:lnTo>
                  <a:lnTo>
                    <a:pt x="74110" y="17439"/>
                  </a:lnTo>
                  <a:lnTo>
                    <a:pt x="76962" y="28346"/>
                  </a:lnTo>
                  <a:lnTo>
                    <a:pt x="74110" y="39253"/>
                  </a:lnTo>
                  <a:lnTo>
                    <a:pt x="66151" y="48277"/>
                  </a:lnTo>
                  <a:lnTo>
                    <a:pt x="53976" y="54422"/>
                  </a:lnTo>
                  <a:lnTo>
                    <a:pt x="38481" y="56692"/>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2" name="object 70"/>
            <p:cNvSpPr/>
            <p:nvPr/>
          </p:nvSpPr>
          <p:spPr bwMode="auto">
            <a:xfrm>
              <a:off x="4508659" y="5005673"/>
              <a:ext cx="58102" cy="233838"/>
            </a:xfrm>
            <a:custGeom>
              <a:avLst/>
              <a:gdLst>
                <a:gd name="T0" fmla="*/ 7704 w 77470"/>
                <a:gd name="T1" fmla="*/ 31214 h 311785"/>
                <a:gd name="T2" fmla="*/ 3250 w 77470"/>
                <a:gd name="T3" fmla="*/ 31214 h 311785"/>
                <a:gd name="T4" fmla="*/ 962 w 77470"/>
                <a:gd name="T5" fmla="*/ 31214 h 311785"/>
                <a:gd name="T6" fmla="*/ 120 w 77470"/>
                <a:gd name="T7" fmla="*/ 31214 h 311785"/>
                <a:gd name="T8" fmla="*/ 0 w 77470"/>
                <a:gd name="T9" fmla="*/ 31214 h 311785"/>
                <a:gd name="T10" fmla="*/ 0 w 77470"/>
                <a:gd name="T11" fmla="*/ 13168 h 311785"/>
                <a:gd name="T12" fmla="*/ 0 w 77470"/>
                <a:gd name="T13" fmla="*/ 3901 h 311785"/>
                <a:gd name="T14" fmla="*/ 0 w 77470"/>
                <a:gd name="T15" fmla="*/ 487 h 311785"/>
                <a:gd name="T16" fmla="*/ 0 w 77470"/>
                <a:gd name="T17" fmla="*/ 0 h 311785"/>
                <a:gd name="T18" fmla="*/ 4453 w 77470"/>
                <a:gd name="T19" fmla="*/ 3553 h 311785"/>
                <a:gd name="T20" fmla="*/ 6741 w 77470"/>
                <a:gd name="T21" fmla="*/ 5377 h 311785"/>
                <a:gd name="T22" fmla="*/ 7584 w 77470"/>
                <a:gd name="T23" fmla="*/ 6050 h 311785"/>
                <a:gd name="T24" fmla="*/ 7704 w 77470"/>
                <a:gd name="T25" fmla="*/ 6145 h 311785"/>
                <a:gd name="T26" fmla="*/ 7704 w 77470"/>
                <a:gd name="T27" fmla="*/ 31214 h 3117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7470" h="311785">
                  <a:moveTo>
                    <a:pt x="76962" y="311797"/>
                  </a:moveTo>
                  <a:lnTo>
                    <a:pt x="32468" y="311797"/>
                  </a:lnTo>
                  <a:lnTo>
                    <a:pt x="9620" y="311797"/>
                  </a:lnTo>
                  <a:lnTo>
                    <a:pt x="1202" y="311797"/>
                  </a:lnTo>
                  <a:lnTo>
                    <a:pt x="0" y="311797"/>
                  </a:lnTo>
                  <a:lnTo>
                    <a:pt x="0" y="131539"/>
                  </a:lnTo>
                  <a:lnTo>
                    <a:pt x="0" y="38974"/>
                  </a:lnTo>
                  <a:lnTo>
                    <a:pt x="0" y="4871"/>
                  </a:lnTo>
                  <a:lnTo>
                    <a:pt x="0" y="0"/>
                  </a:lnTo>
                  <a:lnTo>
                    <a:pt x="44493" y="35492"/>
                  </a:lnTo>
                  <a:lnTo>
                    <a:pt x="67341" y="53717"/>
                  </a:lnTo>
                  <a:lnTo>
                    <a:pt x="75759" y="60432"/>
                  </a:lnTo>
                  <a:lnTo>
                    <a:pt x="76962" y="61391"/>
                  </a:lnTo>
                  <a:lnTo>
                    <a:pt x="76962" y="311797"/>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3" name="object 71"/>
            <p:cNvSpPr/>
            <p:nvPr/>
          </p:nvSpPr>
          <p:spPr bwMode="auto">
            <a:xfrm>
              <a:off x="4915948" y="5506164"/>
              <a:ext cx="57626" cy="42862"/>
            </a:xfrm>
            <a:custGeom>
              <a:avLst/>
              <a:gdLst>
                <a:gd name="T0" fmla="*/ 0 w 76834"/>
                <a:gd name="T1" fmla="*/ 2837 h 57150"/>
                <a:gd name="T2" fmla="*/ 307 w 76834"/>
                <a:gd name="T3" fmla="*/ 1696 h 57150"/>
                <a:gd name="T4" fmla="*/ 1139 w 76834"/>
                <a:gd name="T5" fmla="*/ 797 h 57150"/>
                <a:gd name="T6" fmla="*/ 2360 w 76834"/>
                <a:gd name="T7" fmla="*/ 210 h 57150"/>
                <a:gd name="T8" fmla="*/ 3840 w 76834"/>
                <a:gd name="T9" fmla="*/ 0 h 57150"/>
                <a:gd name="T10" fmla="*/ 5322 w 76834"/>
                <a:gd name="T11" fmla="*/ 210 h 57150"/>
                <a:gd name="T12" fmla="*/ 6548 w 76834"/>
                <a:gd name="T13" fmla="*/ 797 h 57150"/>
                <a:gd name="T14" fmla="*/ 7384 w 76834"/>
                <a:gd name="T15" fmla="*/ 1696 h 57150"/>
                <a:gd name="T16" fmla="*/ 7692 w 76834"/>
                <a:gd name="T17" fmla="*/ 2837 h 57150"/>
                <a:gd name="T18" fmla="*/ 7384 w 76834"/>
                <a:gd name="T19" fmla="*/ 3929 h 57150"/>
                <a:gd name="T20" fmla="*/ 6548 w 76834"/>
                <a:gd name="T21" fmla="*/ 4832 h 57150"/>
                <a:gd name="T22" fmla="*/ 5322 w 76834"/>
                <a:gd name="T23" fmla="*/ 5448 h 57150"/>
                <a:gd name="T24" fmla="*/ 3840 w 76834"/>
                <a:gd name="T25" fmla="*/ 5675 h 57150"/>
                <a:gd name="T26" fmla="*/ 2360 w 76834"/>
                <a:gd name="T27" fmla="*/ 5448 h 57150"/>
                <a:gd name="T28" fmla="*/ 1139 w 76834"/>
                <a:gd name="T29" fmla="*/ 4832 h 57150"/>
                <a:gd name="T30" fmla="*/ 307 w 76834"/>
                <a:gd name="T31" fmla="*/ 3929 h 57150"/>
                <a:gd name="T32" fmla="*/ 0 w 76834"/>
                <a:gd name="T33" fmla="*/ 2837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0" y="28346"/>
                  </a:moveTo>
                  <a:lnTo>
                    <a:pt x="3063" y="16941"/>
                  </a:lnTo>
                  <a:lnTo>
                    <a:pt x="11366" y="7972"/>
                  </a:lnTo>
                  <a:lnTo>
                    <a:pt x="23574" y="2103"/>
                  </a:lnTo>
                  <a:lnTo>
                    <a:pt x="38353" y="0"/>
                  </a:lnTo>
                  <a:lnTo>
                    <a:pt x="53153" y="2103"/>
                  </a:lnTo>
                  <a:lnTo>
                    <a:pt x="65404" y="7972"/>
                  </a:lnTo>
                  <a:lnTo>
                    <a:pt x="73751" y="16941"/>
                  </a:lnTo>
                  <a:lnTo>
                    <a:pt x="76834" y="28346"/>
                  </a:lnTo>
                  <a:lnTo>
                    <a:pt x="73751" y="39253"/>
                  </a:lnTo>
                  <a:lnTo>
                    <a:pt x="65404" y="48277"/>
                  </a:lnTo>
                  <a:lnTo>
                    <a:pt x="53153" y="54422"/>
                  </a:lnTo>
                  <a:lnTo>
                    <a:pt x="38353" y="56692"/>
                  </a:lnTo>
                  <a:lnTo>
                    <a:pt x="23574" y="54422"/>
                  </a:lnTo>
                  <a:lnTo>
                    <a:pt x="11366" y="48277"/>
                  </a:lnTo>
                  <a:lnTo>
                    <a:pt x="3063" y="39253"/>
                  </a:lnTo>
                  <a:lnTo>
                    <a:pt x="0" y="28346"/>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4" name="object 72"/>
            <p:cNvSpPr/>
            <p:nvPr/>
          </p:nvSpPr>
          <p:spPr bwMode="auto">
            <a:xfrm>
              <a:off x="4818603" y="5506164"/>
              <a:ext cx="57626" cy="42862"/>
            </a:xfrm>
            <a:custGeom>
              <a:avLst/>
              <a:gdLst>
                <a:gd name="T0" fmla="*/ 0 w 76835"/>
                <a:gd name="T1" fmla="*/ 2837 h 57150"/>
                <a:gd name="T2" fmla="*/ 285 w 76835"/>
                <a:gd name="T3" fmla="*/ 1696 h 57150"/>
                <a:gd name="T4" fmla="*/ 1082 w 76835"/>
                <a:gd name="T5" fmla="*/ 797 h 57150"/>
                <a:gd name="T6" fmla="*/ 2301 w 76835"/>
                <a:gd name="T7" fmla="*/ 210 h 57150"/>
                <a:gd name="T8" fmla="*/ 3852 w 76835"/>
                <a:gd name="T9" fmla="*/ 0 h 57150"/>
                <a:gd name="T10" fmla="*/ 5332 w 76835"/>
                <a:gd name="T11" fmla="*/ 210 h 57150"/>
                <a:gd name="T12" fmla="*/ 6553 w 76835"/>
                <a:gd name="T13" fmla="*/ 797 h 57150"/>
                <a:gd name="T14" fmla="*/ 7385 w 76835"/>
                <a:gd name="T15" fmla="*/ 1696 h 57150"/>
                <a:gd name="T16" fmla="*/ 7691 w 76835"/>
                <a:gd name="T17" fmla="*/ 2837 h 57150"/>
                <a:gd name="T18" fmla="*/ 7385 w 76835"/>
                <a:gd name="T19" fmla="*/ 3929 h 57150"/>
                <a:gd name="T20" fmla="*/ 6553 w 76835"/>
                <a:gd name="T21" fmla="*/ 4832 h 57150"/>
                <a:gd name="T22" fmla="*/ 5332 w 76835"/>
                <a:gd name="T23" fmla="*/ 5448 h 57150"/>
                <a:gd name="T24" fmla="*/ 3852 w 76835"/>
                <a:gd name="T25" fmla="*/ 5675 h 57150"/>
                <a:gd name="T26" fmla="*/ 2301 w 76835"/>
                <a:gd name="T27" fmla="*/ 5448 h 57150"/>
                <a:gd name="T28" fmla="*/ 1082 w 76835"/>
                <a:gd name="T29" fmla="*/ 4832 h 57150"/>
                <a:gd name="T30" fmla="*/ 285 w 76835"/>
                <a:gd name="T31" fmla="*/ 3929 h 57150"/>
                <a:gd name="T32" fmla="*/ 0 w 76835"/>
                <a:gd name="T33" fmla="*/ 2837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7150">
                  <a:moveTo>
                    <a:pt x="0" y="28346"/>
                  </a:moveTo>
                  <a:lnTo>
                    <a:pt x="2851" y="16941"/>
                  </a:lnTo>
                  <a:lnTo>
                    <a:pt x="10810" y="7972"/>
                  </a:lnTo>
                  <a:lnTo>
                    <a:pt x="22985" y="2103"/>
                  </a:lnTo>
                  <a:lnTo>
                    <a:pt x="38481" y="0"/>
                  </a:lnTo>
                  <a:lnTo>
                    <a:pt x="53260" y="2103"/>
                  </a:lnTo>
                  <a:lnTo>
                    <a:pt x="65468" y="7972"/>
                  </a:lnTo>
                  <a:lnTo>
                    <a:pt x="73771" y="16941"/>
                  </a:lnTo>
                  <a:lnTo>
                    <a:pt x="76835" y="28346"/>
                  </a:lnTo>
                  <a:lnTo>
                    <a:pt x="73771" y="39253"/>
                  </a:lnTo>
                  <a:lnTo>
                    <a:pt x="65468" y="48277"/>
                  </a:lnTo>
                  <a:lnTo>
                    <a:pt x="53260" y="54422"/>
                  </a:lnTo>
                  <a:lnTo>
                    <a:pt x="38481" y="56692"/>
                  </a:lnTo>
                  <a:lnTo>
                    <a:pt x="22985" y="54422"/>
                  </a:lnTo>
                  <a:lnTo>
                    <a:pt x="10810" y="48277"/>
                  </a:lnTo>
                  <a:lnTo>
                    <a:pt x="2851" y="39253"/>
                  </a:lnTo>
                  <a:lnTo>
                    <a:pt x="0" y="28346"/>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5" name="object 73"/>
            <p:cNvSpPr/>
            <p:nvPr/>
          </p:nvSpPr>
          <p:spPr bwMode="auto">
            <a:xfrm>
              <a:off x="4399311" y="5384797"/>
              <a:ext cx="302895" cy="281940"/>
            </a:xfrm>
            <a:custGeom>
              <a:avLst/>
              <a:gdLst>
                <a:gd name="T0" fmla="*/ 0 w 403860"/>
                <a:gd name="T1" fmla="*/ 6740 h 375920"/>
                <a:gd name="T2" fmla="*/ 0 w 403860"/>
                <a:gd name="T3" fmla="*/ 2843 h 375920"/>
                <a:gd name="T4" fmla="*/ 0 w 403860"/>
                <a:gd name="T5" fmla="*/ 843 h 375920"/>
                <a:gd name="T6" fmla="*/ 0 w 403860"/>
                <a:gd name="T7" fmla="*/ 105 h 375920"/>
                <a:gd name="T8" fmla="*/ 0 w 403860"/>
                <a:gd name="T9" fmla="*/ 0 h 375920"/>
                <a:gd name="T10" fmla="*/ 23368 w 403860"/>
                <a:gd name="T11" fmla="*/ 0 h 375920"/>
                <a:gd name="T12" fmla="*/ 35367 w 403860"/>
                <a:gd name="T13" fmla="*/ 0 h 375920"/>
                <a:gd name="T14" fmla="*/ 39788 w 403860"/>
                <a:gd name="T15" fmla="*/ 0 h 375920"/>
                <a:gd name="T16" fmla="*/ 40419 w 403860"/>
                <a:gd name="T17" fmla="*/ 0 h 375920"/>
                <a:gd name="T18" fmla="*/ 40419 w 403860"/>
                <a:gd name="T19" fmla="*/ 3896 h 375920"/>
                <a:gd name="T20" fmla="*/ 40419 w 403860"/>
                <a:gd name="T21" fmla="*/ 5897 h 375920"/>
                <a:gd name="T22" fmla="*/ 40419 w 403860"/>
                <a:gd name="T23" fmla="*/ 6635 h 375920"/>
                <a:gd name="T24" fmla="*/ 40419 w 403860"/>
                <a:gd name="T25" fmla="*/ 6740 h 375920"/>
                <a:gd name="T26" fmla="*/ 31423 w 403860"/>
                <a:gd name="T27" fmla="*/ 6740 h 375920"/>
                <a:gd name="T28" fmla="*/ 26802 w 403860"/>
                <a:gd name="T29" fmla="*/ 6740 h 375920"/>
                <a:gd name="T30" fmla="*/ 25100 w 403860"/>
                <a:gd name="T31" fmla="*/ 6740 h 375920"/>
                <a:gd name="T32" fmla="*/ 24857 w 403860"/>
                <a:gd name="T33" fmla="*/ 6740 h 375920"/>
                <a:gd name="T34" fmla="*/ 24857 w 403860"/>
                <a:gd name="T35" fmla="*/ 24583 h 375920"/>
                <a:gd name="T36" fmla="*/ 24857 w 403860"/>
                <a:gd name="T37" fmla="*/ 33745 h 375920"/>
                <a:gd name="T38" fmla="*/ 24857 w 403860"/>
                <a:gd name="T39" fmla="*/ 37121 h 375920"/>
                <a:gd name="T40" fmla="*/ 24857 w 403860"/>
                <a:gd name="T41" fmla="*/ 37604 h 375920"/>
                <a:gd name="T42" fmla="*/ 20410 w 403860"/>
                <a:gd name="T43" fmla="*/ 37604 h 375920"/>
                <a:gd name="T44" fmla="*/ 18126 w 403860"/>
                <a:gd name="T45" fmla="*/ 37604 h 375920"/>
                <a:gd name="T46" fmla="*/ 17285 w 403860"/>
                <a:gd name="T47" fmla="*/ 37604 h 375920"/>
                <a:gd name="T48" fmla="*/ 17165 w 403860"/>
                <a:gd name="T49" fmla="*/ 37604 h 375920"/>
                <a:gd name="T50" fmla="*/ 17165 w 403860"/>
                <a:gd name="T51" fmla="*/ 19761 h 375920"/>
                <a:gd name="T52" fmla="*/ 17165 w 403860"/>
                <a:gd name="T53" fmla="*/ 10598 h 375920"/>
                <a:gd name="T54" fmla="*/ 17165 w 403860"/>
                <a:gd name="T55" fmla="*/ 7223 h 375920"/>
                <a:gd name="T56" fmla="*/ 17165 w 403860"/>
                <a:gd name="T57" fmla="*/ 6740 h 375920"/>
                <a:gd name="T58" fmla="*/ 0 w 403860"/>
                <a:gd name="T59" fmla="*/ 6740 h 37592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03860" h="375920">
                  <a:moveTo>
                    <a:pt x="0" y="67322"/>
                  </a:moveTo>
                  <a:lnTo>
                    <a:pt x="0" y="28401"/>
                  </a:lnTo>
                  <a:lnTo>
                    <a:pt x="0" y="8415"/>
                  </a:lnTo>
                  <a:lnTo>
                    <a:pt x="0" y="1051"/>
                  </a:lnTo>
                  <a:lnTo>
                    <a:pt x="0" y="0"/>
                  </a:lnTo>
                  <a:lnTo>
                    <a:pt x="233408" y="0"/>
                  </a:lnTo>
                  <a:lnTo>
                    <a:pt x="353266" y="0"/>
                  </a:lnTo>
                  <a:lnTo>
                    <a:pt x="397424" y="0"/>
                  </a:lnTo>
                  <a:lnTo>
                    <a:pt x="403733" y="0"/>
                  </a:lnTo>
                  <a:lnTo>
                    <a:pt x="403733" y="38920"/>
                  </a:lnTo>
                  <a:lnTo>
                    <a:pt x="403733" y="58907"/>
                  </a:lnTo>
                  <a:lnTo>
                    <a:pt x="403733" y="66270"/>
                  </a:lnTo>
                  <a:lnTo>
                    <a:pt x="403733" y="67322"/>
                  </a:lnTo>
                  <a:lnTo>
                    <a:pt x="313864" y="67322"/>
                  </a:lnTo>
                  <a:lnTo>
                    <a:pt x="267715" y="67322"/>
                  </a:lnTo>
                  <a:lnTo>
                    <a:pt x="250713" y="67322"/>
                  </a:lnTo>
                  <a:lnTo>
                    <a:pt x="248285" y="67322"/>
                  </a:lnTo>
                  <a:lnTo>
                    <a:pt x="248285" y="245546"/>
                  </a:lnTo>
                  <a:lnTo>
                    <a:pt x="248285" y="337067"/>
                  </a:lnTo>
                  <a:lnTo>
                    <a:pt x="248285" y="370785"/>
                  </a:lnTo>
                  <a:lnTo>
                    <a:pt x="248285" y="375602"/>
                  </a:lnTo>
                  <a:lnTo>
                    <a:pt x="203864" y="375602"/>
                  </a:lnTo>
                  <a:lnTo>
                    <a:pt x="181054" y="375602"/>
                  </a:lnTo>
                  <a:lnTo>
                    <a:pt x="172650" y="375602"/>
                  </a:lnTo>
                  <a:lnTo>
                    <a:pt x="171450" y="375602"/>
                  </a:lnTo>
                  <a:lnTo>
                    <a:pt x="171450" y="197378"/>
                  </a:lnTo>
                  <a:lnTo>
                    <a:pt x="171450" y="105857"/>
                  </a:lnTo>
                  <a:lnTo>
                    <a:pt x="171450" y="72139"/>
                  </a:lnTo>
                  <a:lnTo>
                    <a:pt x="171450" y="67322"/>
                  </a:lnTo>
                  <a:lnTo>
                    <a:pt x="0" y="67322"/>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6" name="object 74"/>
            <p:cNvSpPr/>
            <p:nvPr/>
          </p:nvSpPr>
          <p:spPr bwMode="auto">
            <a:xfrm>
              <a:off x="3435953" y="5213833"/>
              <a:ext cx="57626" cy="43814"/>
            </a:xfrm>
            <a:custGeom>
              <a:avLst/>
              <a:gdLst>
                <a:gd name="T0" fmla="*/ 3839 w 76835"/>
                <a:gd name="T1" fmla="*/ 0 h 58420"/>
                <a:gd name="T2" fmla="*/ 5321 w 76835"/>
                <a:gd name="T3" fmla="*/ 229 h 58420"/>
                <a:gd name="T4" fmla="*/ 6547 w 76835"/>
                <a:gd name="T5" fmla="*/ 857 h 58420"/>
                <a:gd name="T6" fmla="*/ 7383 w 76835"/>
                <a:gd name="T7" fmla="*/ 1795 h 58420"/>
                <a:gd name="T8" fmla="*/ 7691 w 76835"/>
                <a:gd name="T9" fmla="*/ 2955 h 58420"/>
                <a:gd name="T10" fmla="*/ 7383 w 76835"/>
                <a:gd name="T11" fmla="*/ 4047 h 58420"/>
                <a:gd name="T12" fmla="*/ 6547 w 76835"/>
                <a:gd name="T13" fmla="*/ 4951 h 58420"/>
                <a:gd name="T14" fmla="*/ 5321 w 76835"/>
                <a:gd name="T15" fmla="*/ 5566 h 58420"/>
                <a:gd name="T16" fmla="*/ 3839 w 76835"/>
                <a:gd name="T17" fmla="*/ 5792 h 58420"/>
                <a:gd name="T18" fmla="*/ 2359 w 76835"/>
                <a:gd name="T19" fmla="*/ 5566 h 58420"/>
                <a:gd name="T20" fmla="*/ 1138 w 76835"/>
                <a:gd name="T21" fmla="*/ 4951 h 58420"/>
                <a:gd name="T22" fmla="*/ 307 w 76835"/>
                <a:gd name="T23" fmla="*/ 4047 h 58420"/>
                <a:gd name="T24" fmla="*/ 0 w 76835"/>
                <a:gd name="T25" fmla="*/ 2955 h 58420"/>
                <a:gd name="T26" fmla="*/ 307 w 76835"/>
                <a:gd name="T27" fmla="*/ 1795 h 58420"/>
                <a:gd name="T28" fmla="*/ 1138 w 76835"/>
                <a:gd name="T29" fmla="*/ 857 h 58420"/>
                <a:gd name="T30" fmla="*/ 2359 w 76835"/>
                <a:gd name="T31" fmla="*/ 229 h 58420"/>
                <a:gd name="T32" fmla="*/ 3839 w 76835"/>
                <a:gd name="T33" fmla="*/ 0 h 584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8420">
                  <a:moveTo>
                    <a:pt x="38353" y="0"/>
                  </a:moveTo>
                  <a:lnTo>
                    <a:pt x="53153" y="2288"/>
                  </a:lnTo>
                  <a:lnTo>
                    <a:pt x="65404" y="8562"/>
                  </a:lnTo>
                  <a:lnTo>
                    <a:pt x="73751" y="17937"/>
                  </a:lnTo>
                  <a:lnTo>
                    <a:pt x="76834" y="29527"/>
                  </a:lnTo>
                  <a:lnTo>
                    <a:pt x="73751" y="40434"/>
                  </a:lnTo>
                  <a:lnTo>
                    <a:pt x="65404" y="49458"/>
                  </a:lnTo>
                  <a:lnTo>
                    <a:pt x="53153" y="55603"/>
                  </a:lnTo>
                  <a:lnTo>
                    <a:pt x="38353" y="57873"/>
                  </a:lnTo>
                  <a:lnTo>
                    <a:pt x="23574" y="55603"/>
                  </a:lnTo>
                  <a:lnTo>
                    <a:pt x="11366" y="49458"/>
                  </a:lnTo>
                  <a:lnTo>
                    <a:pt x="3063" y="40434"/>
                  </a:lnTo>
                  <a:lnTo>
                    <a:pt x="0" y="29527"/>
                  </a:lnTo>
                  <a:lnTo>
                    <a:pt x="3063" y="17937"/>
                  </a:lnTo>
                  <a:lnTo>
                    <a:pt x="11366" y="8562"/>
                  </a:lnTo>
                  <a:lnTo>
                    <a:pt x="23574" y="2288"/>
                  </a:lnTo>
                  <a:lnTo>
                    <a:pt x="38353"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7" name="object 75"/>
            <p:cNvSpPr/>
            <p:nvPr/>
          </p:nvSpPr>
          <p:spPr bwMode="auto">
            <a:xfrm>
              <a:off x="3124771" y="5224463"/>
              <a:ext cx="57626" cy="42862"/>
            </a:xfrm>
            <a:custGeom>
              <a:avLst/>
              <a:gdLst>
                <a:gd name="T0" fmla="*/ 3852 w 76835"/>
                <a:gd name="T1" fmla="*/ 0 h 57150"/>
                <a:gd name="T2" fmla="*/ 5332 w 76835"/>
                <a:gd name="T3" fmla="*/ 226 h 57150"/>
                <a:gd name="T4" fmla="*/ 6553 w 76835"/>
                <a:gd name="T5" fmla="*/ 842 h 57150"/>
                <a:gd name="T6" fmla="*/ 7385 w 76835"/>
                <a:gd name="T7" fmla="*/ 1745 h 57150"/>
                <a:gd name="T8" fmla="*/ 7691 w 76835"/>
                <a:gd name="T9" fmla="*/ 2837 h 57150"/>
                <a:gd name="T10" fmla="*/ 7385 w 76835"/>
                <a:gd name="T11" fmla="*/ 3929 h 57150"/>
                <a:gd name="T12" fmla="*/ 6553 w 76835"/>
                <a:gd name="T13" fmla="*/ 4832 h 57150"/>
                <a:gd name="T14" fmla="*/ 5332 w 76835"/>
                <a:gd name="T15" fmla="*/ 5448 h 57150"/>
                <a:gd name="T16" fmla="*/ 3852 w 76835"/>
                <a:gd name="T17" fmla="*/ 5675 h 57150"/>
                <a:gd name="T18" fmla="*/ 2371 w 76835"/>
                <a:gd name="T19" fmla="*/ 5448 h 57150"/>
                <a:gd name="T20" fmla="*/ 1144 w 76835"/>
                <a:gd name="T21" fmla="*/ 4832 h 57150"/>
                <a:gd name="T22" fmla="*/ 308 w 76835"/>
                <a:gd name="T23" fmla="*/ 3929 h 57150"/>
                <a:gd name="T24" fmla="*/ 0 w 76835"/>
                <a:gd name="T25" fmla="*/ 2837 h 57150"/>
                <a:gd name="T26" fmla="*/ 308 w 76835"/>
                <a:gd name="T27" fmla="*/ 1745 h 57150"/>
                <a:gd name="T28" fmla="*/ 1144 w 76835"/>
                <a:gd name="T29" fmla="*/ 842 h 57150"/>
                <a:gd name="T30" fmla="*/ 2371 w 76835"/>
                <a:gd name="T31" fmla="*/ 226 h 57150"/>
                <a:gd name="T32" fmla="*/ 3852 w 76835"/>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7150">
                  <a:moveTo>
                    <a:pt x="38480" y="0"/>
                  </a:moveTo>
                  <a:lnTo>
                    <a:pt x="53260" y="2269"/>
                  </a:lnTo>
                  <a:lnTo>
                    <a:pt x="65468" y="8415"/>
                  </a:lnTo>
                  <a:lnTo>
                    <a:pt x="73771" y="17439"/>
                  </a:lnTo>
                  <a:lnTo>
                    <a:pt x="76835" y="28346"/>
                  </a:lnTo>
                  <a:lnTo>
                    <a:pt x="73771" y="39253"/>
                  </a:lnTo>
                  <a:lnTo>
                    <a:pt x="65468" y="48277"/>
                  </a:lnTo>
                  <a:lnTo>
                    <a:pt x="53260" y="54422"/>
                  </a:lnTo>
                  <a:lnTo>
                    <a:pt x="38480" y="56692"/>
                  </a:lnTo>
                  <a:lnTo>
                    <a:pt x="23681" y="54422"/>
                  </a:lnTo>
                  <a:lnTo>
                    <a:pt x="11430" y="48277"/>
                  </a:lnTo>
                  <a:lnTo>
                    <a:pt x="3083" y="39253"/>
                  </a:lnTo>
                  <a:lnTo>
                    <a:pt x="0" y="28346"/>
                  </a:lnTo>
                  <a:lnTo>
                    <a:pt x="3083" y="17439"/>
                  </a:lnTo>
                  <a:lnTo>
                    <a:pt x="11430" y="8415"/>
                  </a:lnTo>
                  <a:lnTo>
                    <a:pt x="23681" y="2269"/>
                  </a:lnTo>
                  <a:lnTo>
                    <a:pt x="38480"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8" name="object 76"/>
            <p:cNvSpPr/>
            <p:nvPr/>
          </p:nvSpPr>
          <p:spPr bwMode="auto">
            <a:xfrm>
              <a:off x="1259110" y="5722315"/>
              <a:ext cx="58102" cy="42862"/>
            </a:xfrm>
            <a:custGeom>
              <a:avLst/>
              <a:gdLst>
                <a:gd name="T0" fmla="*/ 3853 w 77469"/>
                <a:gd name="T1" fmla="*/ 5675 h 57150"/>
                <a:gd name="T2" fmla="*/ 2371 w 77469"/>
                <a:gd name="T3" fmla="*/ 5448 h 57150"/>
                <a:gd name="T4" fmla="*/ 1145 w 77469"/>
                <a:gd name="T5" fmla="*/ 4832 h 57150"/>
                <a:gd name="T6" fmla="*/ 309 w 77469"/>
                <a:gd name="T7" fmla="*/ 3929 h 57150"/>
                <a:gd name="T8" fmla="*/ 0 w 77469"/>
                <a:gd name="T9" fmla="*/ 2837 h 57150"/>
                <a:gd name="T10" fmla="*/ 309 w 77469"/>
                <a:gd name="T11" fmla="*/ 1696 h 57150"/>
                <a:gd name="T12" fmla="*/ 1145 w 77469"/>
                <a:gd name="T13" fmla="*/ 797 h 57150"/>
                <a:gd name="T14" fmla="*/ 2371 w 77469"/>
                <a:gd name="T15" fmla="*/ 210 h 57150"/>
                <a:gd name="T16" fmla="*/ 3853 w 77469"/>
                <a:gd name="T17" fmla="*/ 0 h 57150"/>
                <a:gd name="T18" fmla="*/ 5334 w 77469"/>
                <a:gd name="T19" fmla="*/ 210 h 57150"/>
                <a:gd name="T20" fmla="*/ 6560 w 77469"/>
                <a:gd name="T21" fmla="*/ 797 h 57150"/>
                <a:gd name="T22" fmla="*/ 7397 w 77469"/>
                <a:gd name="T23" fmla="*/ 1696 h 57150"/>
                <a:gd name="T24" fmla="*/ 7706 w 77469"/>
                <a:gd name="T25" fmla="*/ 2837 h 57150"/>
                <a:gd name="T26" fmla="*/ 7397 w 77469"/>
                <a:gd name="T27" fmla="*/ 3929 h 57150"/>
                <a:gd name="T28" fmla="*/ 6560 w 77469"/>
                <a:gd name="T29" fmla="*/ 4832 h 57150"/>
                <a:gd name="T30" fmla="*/ 5334 w 77469"/>
                <a:gd name="T31" fmla="*/ 5448 h 57150"/>
                <a:gd name="T32" fmla="*/ 3853 w 77469"/>
                <a:gd name="T33" fmla="*/ 5675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69" h="57150">
                  <a:moveTo>
                    <a:pt x="38481" y="56692"/>
                  </a:moveTo>
                  <a:lnTo>
                    <a:pt x="23681" y="54422"/>
                  </a:lnTo>
                  <a:lnTo>
                    <a:pt x="11430" y="48277"/>
                  </a:lnTo>
                  <a:lnTo>
                    <a:pt x="3083" y="39253"/>
                  </a:lnTo>
                  <a:lnTo>
                    <a:pt x="0" y="28346"/>
                  </a:lnTo>
                  <a:lnTo>
                    <a:pt x="3083" y="16941"/>
                  </a:lnTo>
                  <a:lnTo>
                    <a:pt x="11430" y="7972"/>
                  </a:lnTo>
                  <a:lnTo>
                    <a:pt x="23681" y="2103"/>
                  </a:lnTo>
                  <a:lnTo>
                    <a:pt x="38481" y="0"/>
                  </a:lnTo>
                  <a:lnTo>
                    <a:pt x="53280" y="2103"/>
                  </a:lnTo>
                  <a:lnTo>
                    <a:pt x="65531" y="7972"/>
                  </a:lnTo>
                  <a:lnTo>
                    <a:pt x="73878" y="16941"/>
                  </a:lnTo>
                  <a:lnTo>
                    <a:pt x="76962" y="28346"/>
                  </a:lnTo>
                  <a:lnTo>
                    <a:pt x="73878" y="39253"/>
                  </a:lnTo>
                  <a:lnTo>
                    <a:pt x="65532" y="48277"/>
                  </a:lnTo>
                  <a:lnTo>
                    <a:pt x="53280" y="54422"/>
                  </a:lnTo>
                  <a:lnTo>
                    <a:pt x="38481" y="56692"/>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59" name="object 77"/>
            <p:cNvSpPr/>
            <p:nvPr/>
          </p:nvSpPr>
          <p:spPr bwMode="auto">
            <a:xfrm>
              <a:off x="3283362" y="5652326"/>
              <a:ext cx="57626" cy="42862"/>
            </a:xfrm>
            <a:custGeom>
              <a:avLst/>
              <a:gdLst>
                <a:gd name="T0" fmla="*/ 3839 w 76835"/>
                <a:gd name="T1" fmla="*/ 0 h 57150"/>
                <a:gd name="T2" fmla="*/ 5321 w 76835"/>
                <a:gd name="T3" fmla="*/ 226 h 57150"/>
                <a:gd name="T4" fmla="*/ 6547 w 76835"/>
                <a:gd name="T5" fmla="*/ 842 h 57150"/>
                <a:gd name="T6" fmla="*/ 7383 w 76835"/>
                <a:gd name="T7" fmla="*/ 1745 h 57150"/>
                <a:gd name="T8" fmla="*/ 7691 w 76835"/>
                <a:gd name="T9" fmla="*/ 2837 h 57150"/>
                <a:gd name="T10" fmla="*/ 7383 w 76835"/>
                <a:gd name="T11" fmla="*/ 3929 h 57150"/>
                <a:gd name="T12" fmla="*/ 6547 w 76835"/>
                <a:gd name="T13" fmla="*/ 4834 h 57150"/>
                <a:gd name="T14" fmla="*/ 5321 w 76835"/>
                <a:gd name="T15" fmla="*/ 5449 h 57150"/>
                <a:gd name="T16" fmla="*/ 3839 w 76835"/>
                <a:gd name="T17" fmla="*/ 5677 h 57150"/>
                <a:gd name="T18" fmla="*/ 2296 w 76835"/>
                <a:gd name="T19" fmla="*/ 5449 h 57150"/>
                <a:gd name="T20" fmla="*/ 1081 w 76835"/>
                <a:gd name="T21" fmla="*/ 4834 h 57150"/>
                <a:gd name="T22" fmla="*/ 285 w 76835"/>
                <a:gd name="T23" fmla="*/ 3929 h 57150"/>
                <a:gd name="T24" fmla="*/ 0 w 76835"/>
                <a:gd name="T25" fmla="*/ 2837 h 57150"/>
                <a:gd name="T26" fmla="*/ 285 w 76835"/>
                <a:gd name="T27" fmla="*/ 1745 h 57150"/>
                <a:gd name="T28" fmla="*/ 1081 w 76835"/>
                <a:gd name="T29" fmla="*/ 842 h 57150"/>
                <a:gd name="T30" fmla="*/ 2296 w 76835"/>
                <a:gd name="T31" fmla="*/ 226 h 57150"/>
                <a:gd name="T32" fmla="*/ 3839 w 76835"/>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7150">
                  <a:moveTo>
                    <a:pt x="38354" y="0"/>
                  </a:moveTo>
                  <a:lnTo>
                    <a:pt x="53153" y="2269"/>
                  </a:lnTo>
                  <a:lnTo>
                    <a:pt x="65404" y="8415"/>
                  </a:lnTo>
                  <a:lnTo>
                    <a:pt x="73751" y="17439"/>
                  </a:lnTo>
                  <a:lnTo>
                    <a:pt x="76835" y="28346"/>
                  </a:lnTo>
                  <a:lnTo>
                    <a:pt x="73751" y="39255"/>
                  </a:lnTo>
                  <a:lnTo>
                    <a:pt x="65404" y="48283"/>
                  </a:lnTo>
                  <a:lnTo>
                    <a:pt x="53153" y="54433"/>
                  </a:lnTo>
                  <a:lnTo>
                    <a:pt x="38354" y="56705"/>
                  </a:lnTo>
                  <a:lnTo>
                    <a:pt x="22931" y="54433"/>
                  </a:lnTo>
                  <a:lnTo>
                    <a:pt x="10795" y="48283"/>
                  </a:lnTo>
                  <a:lnTo>
                    <a:pt x="2849" y="39255"/>
                  </a:lnTo>
                  <a:lnTo>
                    <a:pt x="0" y="28346"/>
                  </a:lnTo>
                  <a:lnTo>
                    <a:pt x="2849" y="17439"/>
                  </a:lnTo>
                  <a:lnTo>
                    <a:pt x="10795" y="8415"/>
                  </a:lnTo>
                  <a:lnTo>
                    <a:pt x="22931" y="2269"/>
                  </a:lnTo>
                  <a:lnTo>
                    <a:pt x="38354"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0" name="object 78"/>
            <p:cNvSpPr/>
            <p:nvPr/>
          </p:nvSpPr>
          <p:spPr bwMode="auto">
            <a:xfrm>
              <a:off x="2997423" y="5311274"/>
              <a:ext cx="1232535" cy="357187"/>
            </a:xfrm>
            <a:custGeom>
              <a:avLst/>
              <a:gdLst>
                <a:gd name="T0" fmla="*/ 1367 w 1643379"/>
                <a:gd name="T1" fmla="*/ 43754 h 476250"/>
                <a:gd name="T2" fmla="*/ 5114 w 1643379"/>
                <a:gd name="T3" fmla="*/ 36301 h 476250"/>
                <a:gd name="T4" fmla="*/ 10118 w 1643379"/>
                <a:gd name="T5" fmla="*/ 29362 h 476250"/>
                <a:gd name="T6" fmla="*/ 16270 w 1643379"/>
                <a:gd name="T7" fmla="*/ 23001 h 476250"/>
                <a:gd name="T8" fmla="*/ 23461 w 1643379"/>
                <a:gd name="T9" fmla="*/ 17281 h 476250"/>
                <a:gd name="T10" fmla="*/ 31580 w 1643379"/>
                <a:gd name="T11" fmla="*/ 12266 h 476250"/>
                <a:gd name="T12" fmla="*/ 40518 w 1643379"/>
                <a:gd name="T13" fmla="*/ 8020 h 476250"/>
                <a:gd name="T14" fmla="*/ 50165 w 1643379"/>
                <a:gd name="T15" fmla="*/ 4606 h 476250"/>
                <a:gd name="T16" fmla="*/ 60411 w 1643379"/>
                <a:gd name="T17" fmla="*/ 2089 h 476250"/>
                <a:gd name="T18" fmla="*/ 71147 w 1643379"/>
                <a:gd name="T19" fmla="*/ 532 h 476250"/>
                <a:gd name="T20" fmla="*/ 82262 w 1643379"/>
                <a:gd name="T21" fmla="*/ 0 h 476250"/>
                <a:gd name="T22" fmla="*/ 93380 w 1643379"/>
                <a:gd name="T23" fmla="*/ 532 h 476250"/>
                <a:gd name="T24" fmla="*/ 104118 w 1643379"/>
                <a:gd name="T25" fmla="*/ 2088 h 476250"/>
                <a:gd name="T26" fmla="*/ 114365 w 1643379"/>
                <a:gd name="T27" fmla="*/ 4601 h 476250"/>
                <a:gd name="T28" fmla="*/ 124013 w 1643379"/>
                <a:gd name="T29" fmla="*/ 8008 h 476250"/>
                <a:gd name="T30" fmla="*/ 132950 w 1643379"/>
                <a:gd name="T31" fmla="*/ 12241 h 476250"/>
                <a:gd name="T32" fmla="*/ 141068 w 1643379"/>
                <a:gd name="T33" fmla="*/ 17236 h 476250"/>
                <a:gd name="T34" fmla="*/ 148258 w 1643379"/>
                <a:gd name="T35" fmla="*/ 22930 h 476250"/>
                <a:gd name="T36" fmla="*/ 154409 w 1643379"/>
                <a:gd name="T37" fmla="*/ 29257 h 476250"/>
                <a:gd name="T38" fmla="*/ 159412 w 1643379"/>
                <a:gd name="T39" fmla="*/ 36151 h 476250"/>
                <a:gd name="T40" fmla="*/ 163157 w 1643379"/>
                <a:gd name="T41" fmla="*/ 43549 h 476250"/>
                <a:gd name="T42" fmla="*/ 157482 w 1643379"/>
                <a:gd name="T43" fmla="*/ 47416 h 476250"/>
                <a:gd name="T44" fmla="*/ 152534 w 1643379"/>
                <a:gd name="T45" fmla="*/ 47416 h 476250"/>
                <a:gd name="T46" fmla="*/ 150792 w 1643379"/>
                <a:gd name="T47" fmla="*/ 43660 h 476250"/>
                <a:gd name="T48" fmla="*/ 146615 w 1643379"/>
                <a:gd name="T49" fmla="*/ 36570 h 476250"/>
                <a:gd name="T50" fmla="*/ 141116 w 1643379"/>
                <a:gd name="T51" fmla="*/ 30107 h 476250"/>
                <a:gd name="T52" fmla="*/ 134428 w 1643379"/>
                <a:gd name="T53" fmla="*/ 24348 h 476250"/>
                <a:gd name="T54" fmla="*/ 126681 w 1643379"/>
                <a:gd name="T55" fmla="*/ 19363 h 476250"/>
                <a:gd name="T56" fmla="*/ 118009 w 1643379"/>
                <a:gd name="T57" fmla="*/ 15227 h 476250"/>
                <a:gd name="T58" fmla="*/ 108542 w 1643379"/>
                <a:gd name="T59" fmla="*/ 12016 h 476250"/>
                <a:gd name="T60" fmla="*/ 98412 w 1643379"/>
                <a:gd name="T61" fmla="*/ 9802 h 476250"/>
                <a:gd name="T62" fmla="*/ 87751 w 1643379"/>
                <a:gd name="T63" fmla="*/ 8659 h 476250"/>
                <a:gd name="T64" fmla="*/ 76774 w 1643379"/>
                <a:gd name="T65" fmla="*/ 8661 h 476250"/>
                <a:gd name="T66" fmla="*/ 66113 w 1643379"/>
                <a:gd name="T67" fmla="*/ 9811 h 476250"/>
                <a:gd name="T68" fmla="*/ 55983 w 1643379"/>
                <a:gd name="T69" fmla="*/ 12040 h 476250"/>
                <a:gd name="T70" fmla="*/ 46517 w 1643379"/>
                <a:gd name="T71" fmla="*/ 15274 h 476250"/>
                <a:gd name="T72" fmla="*/ 37844 w 1643379"/>
                <a:gd name="T73" fmla="*/ 19436 h 476250"/>
                <a:gd name="T74" fmla="*/ 30100 w 1643379"/>
                <a:gd name="T75" fmla="*/ 24453 h 476250"/>
                <a:gd name="T76" fmla="*/ 23413 w 1643379"/>
                <a:gd name="T77" fmla="*/ 30248 h 476250"/>
                <a:gd name="T78" fmla="*/ 17917 w 1643379"/>
                <a:gd name="T79" fmla="*/ 36748 h 476250"/>
                <a:gd name="T80" fmla="*/ 13743 w 1643379"/>
                <a:gd name="T81" fmla="*/ 43876 h 476250"/>
                <a:gd name="T82" fmla="*/ 0 w 1643379"/>
                <a:gd name="T83" fmla="*/ 47653 h 47625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643379" h="476250">
                  <a:moveTo>
                    <a:pt x="0" y="475995"/>
                  </a:moveTo>
                  <a:lnTo>
                    <a:pt x="13655" y="437048"/>
                  </a:lnTo>
                  <a:lnTo>
                    <a:pt x="30725" y="399225"/>
                  </a:lnTo>
                  <a:lnTo>
                    <a:pt x="51074" y="362606"/>
                  </a:lnTo>
                  <a:lnTo>
                    <a:pt x="74565" y="327269"/>
                  </a:lnTo>
                  <a:lnTo>
                    <a:pt x="101059" y="293296"/>
                  </a:lnTo>
                  <a:lnTo>
                    <a:pt x="130421" y="260764"/>
                  </a:lnTo>
                  <a:lnTo>
                    <a:pt x="162512" y="229755"/>
                  </a:lnTo>
                  <a:lnTo>
                    <a:pt x="197197" y="200347"/>
                  </a:lnTo>
                  <a:lnTo>
                    <a:pt x="234338" y="172620"/>
                  </a:lnTo>
                  <a:lnTo>
                    <a:pt x="273797" y="146654"/>
                  </a:lnTo>
                  <a:lnTo>
                    <a:pt x="315439" y="122528"/>
                  </a:lnTo>
                  <a:lnTo>
                    <a:pt x="359124" y="100322"/>
                  </a:lnTo>
                  <a:lnTo>
                    <a:pt x="404718" y="80116"/>
                  </a:lnTo>
                  <a:lnTo>
                    <a:pt x="452082" y="61989"/>
                  </a:lnTo>
                  <a:lnTo>
                    <a:pt x="501079" y="46020"/>
                  </a:lnTo>
                  <a:lnTo>
                    <a:pt x="551573" y="32290"/>
                  </a:lnTo>
                  <a:lnTo>
                    <a:pt x="603426" y="20878"/>
                  </a:lnTo>
                  <a:lnTo>
                    <a:pt x="656501" y="11863"/>
                  </a:lnTo>
                  <a:lnTo>
                    <a:pt x="710662" y="5325"/>
                  </a:lnTo>
                  <a:lnTo>
                    <a:pt x="765770" y="1344"/>
                  </a:lnTo>
                  <a:lnTo>
                    <a:pt x="821689" y="0"/>
                  </a:lnTo>
                  <a:lnTo>
                    <a:pt x="877625" y="1344"/>
                  </a:lnTo>
                  <a:lnTo>
                    <a:pt x="932747" y="5323"/>
                  </a:lnTo>
                  <a:lnTo>
                    <a:pt x="986918" y="11856"/>
                  </a:lnTo>
                  <a:lnTo>
                    <a:pt x="1040000" y="20861"/>
                  </a:lnTo>
                  <a:lnTo>
                    <a:pt x="1091859" y="32258"/>
                  </a:lnTo>
                  <a:lnTo>
                    <a:pt x="1142355" y="45965"/>
                  </a:lnTo>
                  <a:lnTo>
                    <a:pt x="1191354" y="61901"/>
                  </a:lnTo>
                  <a:lnTo>
                    <a:pt x="1238717" y="79985"/>
                  </a:lnTo>
                  <a:lnTo>
                    <a:pt x="1284308" y="100136"/>
                  </a:lnTo>
                  <a:lnTo>
                    <a:pt x="1327990" y="122273"/>
                  </a:lnTo>
                  <a:lnTo>
                    <a:pt x="1369627" y="146314"/>
                  </a:lnTo>
                  <a:lnTo>
                    <a:pt x="1409081" y="172179"/>
                  </a:lnTo>
                  <a:lnTo>
                    <a:pt x="1446216" y="199786"/>
                  </a:lnTo>
                  <a:lnTo>
                    <a:pt x="1480895" y="229055"/>
                  </a:lnTo>
                  <a:lnTo>
                    <a:pt x="1512980" y="259903"/>
                  </a:lnTo>
                  <a:lnTo>
                    <a:pt x="1542336" y="292251"/>
                  </a:lnTo>
                  <a:lnTo>
                    <a:pt x="1568826" y="326016"/>
                  </a:lnTo>
                  <a:lnTo>
                    <a:pt x="1592311" y="361118"/>
                  </a:lnTo>
                  <a:lnTo>
                    <a:pt x="1612657" y="397476"/>
                  </a:lnTo>
                  <a:lnTo>
                    <a:pt x="1629725" y="435008"/>
                  </a:lnTo>
                  <a:lnTo>
                    <a:pt x="1643379" y="473633"/>
                  </a:lnTo>
                  <a:lnTo>
                    <a:pt x="1573041" y="473633"/>
                  </a:lnTo>
                  <a:lnTo>
                    <a:pt x="1536922" y="473633"/>
                  </a:lnTo>
                  <a:lnTo>
                    <a:pt x="1523615" y="473633"/>
                  </a:lnTo>
                  <a:lnTo>
                    <a:pt x="1521714" y="473633"/>
                  </a:lnTo>
                  <a:lnTo>
                    <a:pt x="1506213" y="436105"/>
                  </a:lnTo>
                  <a:lnTo>
                    <a:pt x="1487083" y="399959"/>
                  </a:lnTo>
                  <a:lnTo>
                    <a:pt x="1464489" y="365288"/>
                  </a:lnTo>
                  <a:lnTo>
                    <a:pt x="1438595" y="332185"/>
                  </a:lnTo>
                  <a:lnTo>
                    <a:pt x="1409565" y="300741"/>
                  </a:lnTo>
                  <a:lnTo>
                    <a:pt x="1377564" y="271049"/>
                  </a:lnTo>
                  <a:lnTo>
                    <a:pt x="1342756" y="243202"/>
                  </a:lnTo>
                  <a:lnTo>
                    <a:pt x="1305307" y="217292"/>
                  </a:lnTo>
                  <a:lnTo>
                    <a:pt x="1265380" y="193411"/>
                  </a:lnTo>
                  <a:lnTo>
                    <a:pt x="1223140" y="171652"/>
                  </a:lnTo>
                  <a:lnTo>
                    <a:pt x="1178751" y="152106"/>
                  </a:lnTo>
                  <a:lnTo>
                    <a:pt x="1132379" y="134867"/>
                  </a:lnTo>
                  <a:lnTo>
                    <a:pt x="1084186" y="120027"/>
                  </a:lnTo>
                  <a:lnTo>
                    <a:pt x="1034339" y="107677"/>
                  </a:lnTo>
                  <a:lnTo>
                    <a:pt x="983001" y="97911"/>
                  </a:lnTo>
                  <a:lnTo>
                    <a:pt x="930337" y="90822"/>
                  </a:lnTo>
                  <a:lnTo>
                    <a:pt x="876512" y="86500"/>
                  </a:lnTo>
                  <a:lnTo>
                    <a:pt x="821689" y="85039"/>
                  </a:lnTo>
                  <a:lnTo>
                    <a:pt x="766867" y="86511"/>
                  </a:lnTo>
                  <a:lnTo>
                    <a:pt x="713042" y="90864"/>
                  </a:lnTo>
                  <a:lnTo>
                    <a:pt x="660378" y="98004"/>
                  </a:lnTo>
                  <a:lnTo>
                    <a:pt x="609041" y="107839"/>
                  </a:lnTo>
                  <a:lnTo>
                    <a:pt x="559195" y="120275"/>
                  </a:lnTo>
                  <a:lnTo>
                    <a:pt x="511005" y="135217"/>
                  </a:lnTo>
                  <a:lnTo>
                    <a:pt x="464635" y="152572"/>
                  </a:lnTo>
                  <a:lnTo>
                    <a:pt x="420250" y="172248"/>
                  </a:lnTo>
                  <a:lnTo>
                    <a:pt x="378015" y="194149"/>
                  </a:lnTo>
                  <a:lnTo>
                    <a:pt x="338094" y="218183"/>
                  </a:lnTo>
                  <a:lnTo>
                    <a:pt x="300652" y="244256"/>
                  </a:lnTo>
                  <a:lnTo>
                    <a:pt x="265853" y="272274"/>
                  </a:lnTo>
                  <a:lnTo>
                    <a:pt x="233862" y="302144"/>
                  </a:lnTo>
                  <a:lnTo>
                    <a:pt x="204844" y="333773"/>
                  </a:lnTo>
                  <a:lnTo>
                    <a:pt x="178964" y="367065"/>
                  </a:lnTo>
                  <a:lnTo>
                    <a:pt x="156385" y="401929"/>
                  </a:lnTo>
                  <a:lnTo>
                    <a:pt x="137273" y="438270"/>
                  </a:lnTo>
                  <a:lnTo>
                    <a:pt x="121792" y="475995"/>
                  </a:lnTo>
                  <a:lnTo>
                    <a:pt x="0" y="475995"/>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1" name="object 79"/>
            <p:cNvSpPr/>
            <p:nvPr/>
          </p:nvSpPr>
          <p:spPr bwMode="auto">
            <a:xfrm>
              <a:off x="3099530" y="5383025"/>
              <a:ext cx="1028700" cy="285274"/>
            </a:xfrm>
            <a:custGeom>
              <a:avLst/>
              <a:gdLst>
                <a:gd name="T0" fmla="*/ 99712 w 1371600"/>
                <a:gd name="T1" fmla="*/ 14571 h 380364"/>
                <a:gd name="T2" fmla="*/ 90005 w 1371600"/>
                <a:gd name="T3" fmla="*/ 11108 h 380364"/>
                <a:gd name="T4" fmla="*/ 79577 w 1371600"/>
                <a:gd name="T5" fmla="*/ 8995 h 380364"/>
                <a:gd name="T6" fmla="*/ 68632 w 1371600"/>
                <a:gd name="T7" fmla="*/ 8279 h 380364"/>
                <a:gd name="T8" fmla="*/ 57792 w 1371600"/>
                <a:gd name="T9" fmla="*/ 8995 h 380364"/>
                <a:gd name="T10" fmla="*/ 47413 w 1371600"/>
                <a:gd name="T11" fmla="*/ 11108 h 380364"/>
                <a:gd name="T12" fmla="*/ 37718 w 1371600"/>
                <a:gd name="T13" fmla="*/ 14571 h 380364"/>
                <a:gd name="T14" fmla="*/ 28445 w 1371600"/>
                <a:gd name="T15" fmla="*/ 19634 h 380364"/>
                <a:gd name="T16" fmla="*/ 20349 w 1371600"/>
                <a:gd name="T17" fmla="*/ 26282 h 380364"/>
                <a:gd name="T18" fmla="*/ 14339 w 1371600"/>
                <a:gd name="T19" fmla="*/ 33954 h 380364"/>
                <a:gd name="T20" fmla="*/ 5145 w 1371600"/>
                <a:gd name="T21" fmla="*/ 38076 h 380364"/>
                <a:gd name="T22" fmla="*/ 191 w 1371600"/>
                <a:gd name="T23" fmla="*/ 38076 h 380364"/>
                <a:gd name="T24" fmla="*/ 1646 w 1371600"/>
                <a:gd name="T25" fmla="*/ 34185 h 380364"/>
                <a:gd name="T26" fmla="*/ 6101 w 1371600"/>
                <a:gd name="T27" fmla="*/ 26871 h 380364"/>
                <a:gd name="T28" fmla="*/ 11979 w 1371600"/>
                <a:gd name="T29" fmla="*/ 20255 h 380364"/>
                <a:gd name="T30" fmla="*/ 19129 w 1371600"/>
                <a:gd name="T31" fmla="*/ 14423 h 380364"/>
                <a:gd name="T32" fmla="*/ 27398 w 1371600"/>
                <a:gd name="T33" fmla="*/ 9458 h 380364"/>
                <a:gd name="T34" fmla="*/ 36635 w 1371600"/>
                <a:gd name="T35" fmla="*/ 5449 h 380364"/>
                <a:gd name="T36" fmla="*/ 46688 w 1371600"/>
                <a:gd name="T37" fmla="*/ 2479 h 380364"/>
                <a:gd name="T38" fmla="*/ 57404 w 1371600"/>
                <a:gd name="T39" fmla="*/ 634 h 380364"/>
                <a:gd name="T40" fmla="*/ 68632 w 1371600"/>
                <a:gd name="T41" fmla="*/ 0 h 380364"/>
                <a:gd name="T42" fmla="*/ 79861 w 1371600"/>
                <a:gd name="T43" fmla="*/ 629 h 380364"/>
                <a:gd name="T44" fmla="*/ 90578 w 1371600"/>
                <a:gd name="T45" fmla="*/ 2461 h 380364"/>
                <a:gd name="T46" fmla="*/ 100631 w 1371600"/>
                <a:gd name="T47" fmla="*/ 5410 h 380364"/>
                <a:gd name="T48" fmla="*/ 109868 w 1371600"/>
                <a:gd name="T49" fmla="*/ 9392 h 380364"/>
                <a:gd name="T50" fmla="*/ 118136 w 1371600"/>
                <a:gd name="T51" fmla="*/ 14324 h 380364"/>
                <a:gd name="T52" fmla="*/ 125286 w 1371600"/>
                <a:gd name="T53" fmla="*/ 20120 h 380364"/>
                <a:gd name="T54" fmla="*/ 131164 w 1371600"/>
                <a:gd name="T55" fmla="*/ 26696 h 380364"/>
                <a:gd name="T56" fmla="*/ 135618 w 1371600"/>
                <a:gd name="T57" fmla="*/ 33969 h 380364"/>
                <a:gd name="T58" fmla="*/ 130223 w 1371600"/>
                <a:gd name="T59" fmla="*/ 37840 h 380364"/>
                <a:gd name="T60" fmla="*/ 125274 w 1371600"/>
                <a:gd name="T61" fmla="*/ 37840 h 380364"/>
                <a:gd name="T62" fmla="*/ 122938 w 1371600"/>
                <a:gd name="T63" fmla="*/ 33776 h 380364"/>
                <a:gd name="T64" fmla="*/ 116942 w 1371600"/>
                <a:gd name="T65" fmla="*/ 26207 h 380364"/>
                <a:gd name="T66" fmla="*/ 108916 w 1371600"/>
                <a:gd name="T67" fmla="*/ 19624 h 3803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371600" h="380364">
                  <a:moveTo>
                    <a:pt x="1041145" y="167728"/>
                  </a:moveTo>
                  <a:lnTo>
                    <a:pt x="995988" y="145539"/>
                  </a:lnTo>
                  <a:lnTo>
                    <a:pt x="948532" y="126593"/>
                  </a:lnTo>
                  <a:lnTo>
                    <a:pt x="899027" y="110953"/>
                  </a:lnTo>
                  <a:lnTo>
                    <a:pt x="847725" y="98681"/>
                  </a:lnTo>
                  <a:lnTo>
                    <a:pt x="794877" y="89838"/>
                  </a:lnTo>
                  <a:lnTo>
                    <a:pt x="740733" y="84487"/>
                  </a:lnTo>
                  <a:lnTo>
                    <a:pt x="685545" y="82689"/>
                  </a:lnTo>
                  <a:lnTo>
                    <a:pt x="630969" y="84487"/>
                  </a:lnTo>
                  <a:lnTo>
                    <a:pt x="577264" y="89838"/>
                  </a:lnTo>
                  <a:lnTo>
                    <a:pt x="524709" y="98681"/>
                  </a:lnTo>
                  <a:lnTo>
                    <a:pt x="473585" y="110953"/>
                  </a:lnTo>
                  <a:lnTo>
                    <a:pt x="424172" y="126593"/>
                  </a:lnTo>
                  <a:lnTo>
                    <a:pt x="376749" y="145539"/>
                  </a:lnTo>
                  <a:lnTo>
                    <a:pt x="331596" y="167728"/>
                  </a:lnTo>
                  <a:lnTo>
                    <a:pt x="284129" y="196108"/>
                  </a:lnTo>
                  <a:lnTo>
                    <a:pt x="241248" y="227833"/>
                  </a:lnTo>
                  <a:lnTo>
                    <a:pt x="203263" y="262512"/>
                  </a:lnTo>
                  <a:lnTo>
                    <a:pt x="170485" y="299749"/>
                  </a:lnTo>
                  <a:lnTo>
                    <a:pt x="143225" y="339152"/>
                  </a:lnTo>
                  <a:lnTo>
                    <a:pt x="121792" y="380326"/>
                  </a:lnTo>
                  <a:lnTo>
                    <a:pt x="51381" y="380326"/>
                  </a:lnTo>
                  <a:lnTo>
                    <a:pt x="15224" y="380326"/>
                  </a:lnTo>
                  <a:lnTo>
                    <a:pt x="1903" y="380326"/>
                  </a:lnTo>
                  <a:lnTo>
                    <a:pt x="0" y="380326"/>
                  </a:lnTo>
                  <a:lnTo>
                    <a:pt x="16441" y="341454"/>
                  </a:lnTo>
                  <a:lnTo>
                    <a:pt x="36816" y="304110"/>
                  </a:lnTo>
                  <a:lnTo>
                    <a:pt x="60935" y="268401"/>
                  </a:lnTo>
                  <a:lnTo>
                    <a:pt x="88609" y="234435"/>
                  </a:lnTo>
                  <a:lnTo>
                    <a:pt x="119649" y="202317"/>
                  </a:lnTo>
                  <a:lnTo>
                    <a:pt x="153863" y="172156"/>
                  </a:lnTo>
                  <a:lnTo>
                    <a:pt x="191063" y="144057"/>
                  </a:lnTo>
                  <a:lnTo>
                    <a:pt x="231060" y="118127"/>
                  </a:lnTo>
                  <a:lnTo>
                    <a:pt x="273662" y="94474"/>
                  </a:lnTo>
                  <a:lnTo>
                    <a:pt x="318681" y="73204"/>
                  </a:lnTo>
                  <a:lnTo>
                    <a:pt x="365927" y="54423"/>
                  </a:lnTo>
                  <a:lnTo>
                    <a:pt x="415210" y="38238"/>
                  </a:lnTo>
                  <a:lnTo>
                    <a:pt x="466341" y="24757"/>
                  </a:lnTo>
                  <a:lnTo>
                    <a:pt x="519130" y="14086"/>
                  </a:lnTo>
                  <a:lnTo>
                    <a:pt x="573386" y="6331"/>
                  </a:lnTo>
                  <a:lnTo>
                    <a:pt x="628921" y="1600"/>
                  </a:lnTo>
                  <a:lnTo>
                    <a:pt x="685545" y="0"/>
                  </a:lnTo>
                  <a:lnTo>
                    <a:pt x="742170" y="1588"/>
                  </a:lnTo>
                  <a:lnTo>
                    <a:pt x="797705" y="6284"/>
                  </a:lnTo>
                  <a:lnTo>
                    <a:pt x="851961" y="13982"/>
                  </a:lnTo>
                  <a:lnTo>
                    <a:pt x="904750" y="24576"/>
                  </a:lnTo>
                  <a:lnTo>
                    <a:pt x="955881" y="37962"/>
                  </a:lnTo>
                  <a:lnTo>
                    <a:pt x="1005164" y="54033"/>
                  </a:lnTo>
                  <a:lnTo>
                    <a:pt x="1052410" y="72685"/>
                  </a:lnTo>
                  <a:lnTo>
                    <a:pt x="1097429" y="93812"/>
                  </a:lnTo>
                  <a:lnTo>
                    <a:pt x="1140031" y="117310"/>
                  </a:lnTo>
                  <a:lnTo>
                    <a:pt x="1180028" y="143071"/>
                  </a:lnTo>
                  <a:lnTo>
                    <a:pt x="1217228" y="170992"/>
                  </a:lnTo>
                  <a:lnTo>
                    <a:pt x="1251442" y="200967"/>
                  </a:lnTo>
                  <a:lnTo>
                    <a:pt x="1282482" y="232891"/>
                  </a:lnTo>
                  <a:lnTo>
                    <a:pt x="1310156" y="266658"/>
                  </a:lnTo>
                  <a:lnTo>
                    <a:pt x="1334275" y="302162"/>
                  </a:lnTo>
                  <a:lnTo>
                    <a:pt x="1354650" y="339300"/>
                  </a:lnTo>
                  <a:lnTo>
                    <a:pt x="1371091" y="377964"/>
                  </a:lnTo>
                  <a:lnTo>
                    <a:pt x="1300753" y="377964"/>
                  </a:lnTo>
                  <a:lnTo>
                    <a:pt x="1264634" y="377964"/>
                  </a:lnTo>
                  <a:lnTo>
                    <a:pt x="1251327" y="377964"/>
                  </a:lnTo>
                  <a:lnTo>
                    <a:pt x="1249426" y="377964"/>
                  </a:lnTo>
                  <a:lnTo>
                    <a:pt x="1227991" y="337375"/>
                  </a:lnTo>
                  <a:lnTo>
                    <a:pt x="1200761" y="298524"/>
                  </a:lnTo>
                  <a:lnTo>
                    <a:pt x="1168098" y="261773"/>
                  </a:lnTo>
                  <a:lnTo>
                    <a:pt x="1130365" y="227483"/>
                  </a:lnTo>
                  <a:lnTo>
                    <a:pt x="1087927" y="196015"/>
                  </a:lnTo>
                  <a:lnTo>
                    <a:pt x="1041145" y="167728"/>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2" name="object 80"/>
            <p:cNvSpPr/>
            <p:nvPr/>
          </p:nvSpPr>
          <p:spPr bwMode="auto">
            <a:xfrm>
              <a:off x="3700177" y="5505279"/>
              <a:ext cx="58102" cy="43814"/>
            </a:xfrm>
            <a:custGeom>
              <a:avLst/>
              <a:gdLst>
                <a:gd name="T0" fmla="*/ 3852 w 77470"/>
                <a:gd name="T1" fmla="*/ 5792 h 58420"/>
                <a:gd name="T2" fmla="*/ 2371 w 77470"/>
                <a:gd name="T3" fmla="*/ 5566 h 58420"/>
                <a:gd name="T4" fmla="*/ 1144 w 77470"/>
                <a:gd name="T5" fmla="*/ 4951 h 58420"/>
                <a:gd name="T6" fmla="*/ 308 w 77470"/>
                <a:gd name="T7" fmla="*/ 4047 h 58420"/>
                <a:gd name="T8" fmla="*/ 0 w 77470"/>
                <a:gd name="T9" fmla="*/ 2955 h 58420"/>
                <a:gd name="T10" fmla="*/ 308 w 77470"/>
                <a:gd name="T11" fmla="*/ 1795 h 58420"/>
                <a:gd name="T12" fmla="*/ 1144 w 77470"/>
                <a:gd name="T13" fmla="*/ 857 h 58420"/>
                <a:gd name="T14" fmla="*/ 2371 w 77470"/>
                <a:gd name="T15" fmla="*/ 229 h 58420"/>
                <a:gd name="T16" fmla="*/ 3852 w 77470"/>
                <a:gd name="T17" fmla="*/ 0 h 58420"/>
                <a:gd name="T18" fmla="*/ 5333 w 77470"/>
                <a:gd name="T19" fmla="*/ 229 h 58420"/>
                <a:gd name="T20" fmla="*/ 6559 w 77470"/>
                <a:gd name="T21" fmla="*/ 857 h 58420"/>
                <a:gd name="T22" fmla="*/ 7396 w 77470"/>
                <a:gd name="T23" fmla="*/ 1795 h 58420"/>
                <a:gd name="T24" fmla="*/ 7704 w 77470"/>
                <a:gd name="T25" fmla="*/ 2955 h 58420"/>
                <a:gd name="T26" fmla="*/ 7396 w 77470"/>
                <a:gd name="T27" fmla="*/ 4047 h 58420"/>
                <a:gd name="T28" fmla="*/ 6559 w 77470"/>
                <a:gd name="T29" fmla="*/ 4951 h 58420"/>
                <a:gd name="T30" fmla="*/ 5333 w 77470"/>
                <a:gd name="T31" fmla="*/ 5566 h 58420"/>
                <a:gd name="T32" fmla="*/ 3852 w 77470"/>
                <a:gd name="T33" fmla="*/ 5792 h 584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8420">
                  <a:moveTo>
                    <a:pt x="38480" y="57873"/>
                  </a:moveTo>
                  <a:lnTo>
                    <a:pt x="23681" y="55603"/>
                  </a:lnTo>
                  <a:lnTo>
                    <a:pt x="11430" y="49458"/>
                  </a:lnTo>
                  <a:lnTo>
                    <a:pt x="3083" y="40434"/>
                  </a:lnTo>
                  <a:lnTo>
                    <a:pt x="0" y="29527"/>
                  </a:lnTo>
                  <a:lnTo>
                    <a:pt x="3083" y="17937"/>
                  </a:lnTo>
                  <a:lnTo>
                    <a:pt x="11430" y="8562"/>
                  </a:lnTo>
                  <a:lnTo>
                    <a:pt x="23681" y="2288"/>
                  </a:lnTo>
                  <a:lnTo>
                    <a:pt x="38480" y="0"/>
                  </a:lnTo>
                  <a:lnTo>
                    <a:pt x="53280" y="2288"/>
                  </a:lnTo>
                  <a:lnTo>
                    <a:pt x="65531" y="8562"/>
                  </a:lnTo>
                  <a:lnTo>
                    <a:pt x="73878" y="17937"/>
                  </a:lnTo>
                  <a:lnTo>
                    <a:pt x="76961" y="29527"/>
                  </a:lnTo>
                  <a:lnTo>
                    <a:pt x="73878" y="40434"/>
                  </a:lnTo>
                  <a:lnTo>
                    <a:pt x="65531" y="49458"/>
                  </a:lnTo>
                  <a:lnTo>
                    <a:pt x="53280" y="55603"/>
                  </a:lnTo>
                  <a:lnTo>
                    <a:pt x="38480" y="57873"/>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3" name="object 81"/>
            <p:cNvSpPr/>
            <p:nvPr/>
          </p:nvSpPr>
          <p:spPr bwMode="auto">
            <a:xfrm>
              <a:off x="4329684" y="5711572"/>
              <a:ext cx="2541270" cy="128111"/>
            </a:xfrm>
            <a:custGeom>
              <a:avLst/>
              <a:gdLst>
                <a:gd name="T0" fmla="*/ 3107 w 3388359"/>
                <a:gd name="T1" fmla="*/ 9685 h 170815"/>
                <a:gd name="T2" fmla="*/ 395 w 3388359"/>
                <a:gd name="T3" fmla="*/ 11777 h 170815"/>
                <a:gd name="T4" fmla="*/ 395 w 3388359"/>
                <a:gd name="T5" fmla="*/ 14785 h 170815"/>
                <a:gd name="T6" fmla="*/ 3107 w 3388359"/>
                <a:gd name="T7" fmla="*/ 16795 h 170815"/>
                <a:gd name="T8" fmla="*/ 7038 w 3388359"/>
                <a:gd name="T9" fmla="*/ 16835 h 170815"/>
                <a:gd name="T10" fmla="*/ 5125 w 3388359"/>
                <a:gd name="T11" fmla="*/ 16138 h 170815"/>
                <a:gd name="T12" fmla="*/ 2427 w 3388359"/>
                <a:gd name="T13" fmla="*/ 15292 h 170815"/>
                <a:gd name="T14" fmla="*/ 1284 w 3388359"/>
                <a:gd name="T15" fmla="*/ 13290 h 170815"/>
                <a:gd name="T16" fmla="*/ 2427 w 3388359"/>
                <a:gd name="T17" fmla="*/ 11243 h 170815"/>
                <a:gd name="T18" fmla="*/ 5125 w 3388359"/>
                <a:gd name="T19" fmla="*/ 10442 h 170815"/>
                <a:gd name="T20" fmla="*/ 8675 w 3388359"/>
                <a:gd name="T21" fmla="*/ 10324 h 170815"/>
                <a:gd name="T22" fmla="*/ 5125 w 3388359"/>
                <a:gd name="T23" fmla="*/ 9374 h 170815"/>
                <a:gd name="T24" fmla="*/ 5125 w 3388359"/>
                <a:gd name="T25" fmla="*/ 10442 h 170815"/>
                <a:gd name="T26" fmla="*/ 7895 w 3388359"/>
                <a:gd name="T27" fmla="*/ 11243 h 170815"/>
                <a:gd name="T28" fmla="*/ 8977 w 3388359"/>
                <a:gd name="T29" fmla="*/ 13290 h 170815"/>
                <a:gd name="T30" fmla="*/ 7895 w 3388359"/>
                <a:gd name="T31" fmla="*/ 15292 h 170815"/>
                <a:gd name="T32" fmla="*/ 5125 w 3388359"/>
                <a:gd name="T33" fmla="*/ 16138 h 170815"/>
                <a:gd name="T34" fmla="*/ 9773 w 3388359"/>
                <a:gd name="T35" fmla="*/ 15085 h 170815"/>
                <a:gd name="T36" fmla="*/ 183684 w 3388359"/>
                <a:gd name="T37" fmla="*/ 13765 h 170815"/>
                <a:gd name="T38" fmla="*/ 10413 w 3388359"/>
                <a:gd name="T39" fmla="*/ 12697 h 170815"/>
                <a:gd name="T40" fmla="*/ 8806 w 3388359"/>
                <a:gd name="T41" fmla="*/ 10442 h 170815"/>
                <a:gd name="T42" fmla="*/ 332133 w 3388359"/>
                <a:gd name="T43" fmla="*/ 252 h 170815"/>
                <a:gd name="T44" fmla="*/ 329460 w 3388359"/>
                <a:gd name="T45" fmla="*/ 2002 h 170815"/>
                <a:gd name="T46" fmla="*/ 193792 w 3388359"/>
                <a:gd name="T47" fmla="*/ 3322 h 170815"/>
                <a:gd name="T48" fmla="*/ 184893 w 3388359"/>
                <a:gd name="T49" fmla="*/ 12697 h 170815"/>
                <a:gd name="T50" fmla="*/ 330320 w 3388359"/>
                <a:gd name="T51" fmla="*/ 4271 h 170815"/>
                <a:gd name="T52" fmla="*/ 334045 w 3388359"/>
                <a:gd name="T53" fmla="*/ 949 h 170815"/>
                <a:gd name="T54" fmla="*/ 336057 w 3388359"/>
                <a:gd name="T55" fmla="*/ 292 h 170815"/>
                <a:gd name="T56" fmla="*/ 330320 w 3388359"/>
                <a:gd name="T57" fmla="*/ 4271 h 170815"/>
                <a:gd name="T58" fmla="*/ 329460 w 3388359"/>
                <a:gd name="T59" fmla="*/ 5610 h 170815"/>
                <a:gd name="T60" fmla="*/ 332133 w 3388359"/>
                <a:gd name="T61" fmla="*/ 7442 h 170815"/>
                <a:gd name="T62" fmla="*/ 336057 w 3388359"/>
                <a:gd name="T63" fmla="*/ 7402 h 170815"/>
                <a:gd name="T64" fmla="*/ 334045 w 3388359"/>
                <a:gd name="T65" fmla="*/ 6645 h 170815"/>
                <a:gd name="T66" fmla="*/ 331337 w 3388359"/>
                <a:gd name="T67" fmla="*/ 5844 h 170815"/>
                <a:gd name="T68" fmla="*/ 330320 w 3388359"/>
                <a:gd name="T69" fmla="*/ 4271 h 170815"/>
                <a:gd name="T70" fmla="*/ 334045 w 3388359"/>
                <a:gd name="T71" fmla="*/ 949 h 170815"/>
                <a:gd name="T72" fmla="*/ 336741 w 3388359"/>
                <a:gd name="T73" fmla="*/ 1795 h 170815"/>
                <a:gd name="T74" fmla="*/ 337884 w 3388359"/>
                <a:gd name="T75" fmla="*/ 3797 h 170815"/>
                <a:gd name="T76" fmla="*/ 336741 w 3388359"/>
                <a:gd name="T77" fmla="*/ 5844 h 170815"/>
                <a:gd name="T78" fmla="*/ 334045 w 3388359"/>
                <a:gd name="T79" fmla="*/ 6645 h 170815"/>
                <a:gd name="T80" fmla="*/ 337684 w 3388359"/>
                <a:gd name="T81" fmla="*/ 6556 h 170815"/>
                <a:gd name="T82" fmla="*/ 339169 w 3388359"/>
                <a:gd name="T83" fmla="*/ 3797 h 170815"/>
                <a:gd name="T84" fmla="*/ 337684 w 3388359"/>
                <a:gd name="T85" fmla="*/ 1097 h 17081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388359" h="170815">
                  <a:moveTo>
                    <a:pt x="51180" y="93637"/>
                  </a:moveTo>
                  <a:lnTo>
                    <a:pt x="31021" y="96748"/>
                  </a:lnTo>
                  <a:lnTo>
                    <a:pt x="14779" y="105194"/>
                  </a:lnTo>
                  <a:lnTo>
                    <a:pt x="3942" y="117640"/>
                  </a:lnTo>
                  <a:lnTo>
                    <a:pt x="0" y="132753"/>
                  </a:lnTo>
                  <a:lnTo>
                    <a:pt x="3942" y="147681"/>
                  </a:lnTo>
                  <a:lnTo>
                    <a:pt x="14779" y="159721"/>
                  </a:lnTo>
                  <a:lnTo>
                    <a:pt x="31021" y="167761"/>
                  </a:lnTo>
                  <a:lnTo>
                    <a:pt x="51180" y="170688"/>
                  </a:lnTo>
                  <a:lnTo>
                    <a:pt x="70294" y="168169"/>
                  </a:lnTo>
                  <a:lnTo>
                    <a:pt x="86079" y="161201"/>
                  </a:lnTo>
                  <a:lnTo>
                    <a:pt x="51180" y="161201"/>
                  </a:lnTo>
                  <a:lnTo>
                    <a:pt x="36454" y="158924"/>
                  </a:lnTo>
                  <a:lnTo>
                    <a:pt x="24241" y="152758"/>
                  </a:lnTo>
                  <a:lnTo>
                    <a:pt x="15908" y="143702"/>
                  </a:lnTo>
                  <a:lnTo>
                    <a:pt x="12826" y="132753"/>
                  </a:lnTo>
                  <a:lnTo>
                    <a:pt x="15908" y="121310"/>
                  </a:lnTo>
                  <a:lnTo>
                    <a:pt x="24241" y="112309"/>
                  </a:lnTo>
                  <a:lnTo>
                    <a:pt x="36454" y="106417"/>
                  </a:lnTo>
                  <a:lnTo>
                    <a:pt x="51180" y="104305"/>
                  </a:lnTo>
                  <a:lnTo>
                    <a:pt x="87952" y="104305"/>
                  </a:lnTo>
                  <a:lnTo>
                    <a:pt x="86645" y="103120"/>
                  </a:lnTo>
                  <a:lnTo>
                    <a:pt x="70508" y="96156"/>
                  </a:lnTo>
                  <a:lnTo>
                    <a:pt x="51180" y="93637"/>
                  </a:lnTo>
                  <a:close/>
                </a:path>
                <a:path w="3388359" h="170815">
                  <a:moveTo>
                    <a:pt x="87952" y="104305"/>
                  </a:moveTo>
                  <a:lnTo>
                    <a:pt x="51180" y="104305"/>
                  </a:lnTo>
                  <a:lnTo>
                    <a:pt x="66676" y="106417"/>
                  </a:lnTo>
                  <a:lnTo>
                    <a:pt x="78851" y="112309"/>
                  </a:lnTo>
                  <a:lnTo>
                    <a:pt x="86810" y="121310"/>
                  </a:lnTo>
                  <a:lnTo>
                    <a:pt x="89662" y="132753"/>
                  </a:lnTo>
                  <a:lnTo>
                    <a:pt x="86810" y="143702"/>
                  </a:lnTo>
                  <a:lnTo>
                    <a:pt x="78851" y="152758"/>
                  </a:lnTo>
                  <a:lnTo>
                    <a:pt x="66676" y="158924"/>
                  </a:lnTo>
                  <a:lnTo>
                    <a:pt x="51180" y="161201"/>
                  </a:lnTo>
                  <a:lnTo>
                    <a:pt x="86079" y="161201"/>
                  </a:lnTo>
                  <a:lnTo>
                    <a:pt x="97615" y="150687"/>
                  </a:lnTo>
                  <a:lnTo>
                    <a:pt x="104012" y="137502"/>
                  </a:lnTo>
                  <a:lnTo>
                    <a:pt x="1834768" y="137502"/>
                  </a:lnTo>
                  <a:lnTo>
                    <a:pt x="1846841" y="126834"/>
                  </a:lnTo>
                  <a:lnTo>
                    <a:pt x="104012" y="126834"/>
                  </a:lnTo>
                  <a:lnTo>
                    <a:pt x="98258" y="113643"/>
                  </a:lnTo>
                  <a:lnTo>
                    <a:pt x="87952" y="104305"/>
                  </a:lnTo>
                  <a:close/>
                </a:path>
                <a:path w="3388359" h="170815">
                  <a:moveTo>
                    <a:pt x="3336670" y="0"/>
                  </a:moveTo>
                  <a:lnTo>
                    <a:pt x="3317581" y="2518"/>
                  </a:lnTo>
                  <a:lnTo>
                    <a:pt x="3301963" y="9486"/>
                  </a:lnTo>
                  <a:lnTo>
                    <a:pt x="3290879" y="20000"/>
                  </a:lnTo>
                  <a:lnTo>
                    <a:pt x="3285363" y="33185"/>
                  </a:lnTo>
                  <a:lnTo>
                    <a:pt x="1935734" y="33185"/>
                  </a:lnTo>
                  <a:lnTo>
                    <a:pt x="1826767" y="126834"/>
                  </a:lnTo>
                  <a:lnTo>
                    <a:pt x="1846841" y="126834"/>
                  </a:lnTo>
                  <a:lnTo>
                    <a:pt x="1942084" y="42672"/>
                  </a:lnTo>
                  <a:lnTo>
                    <a:pt x="3299466" y="42672"/>
                  </a:lnTo>
                  <a:lnTo>
                    <a:pt x="3321871" y="11763"/>
                  </a:lnTo>
                  <a:lnTo>
                    <a:pt x="3336670" y="9486"/>
                  </a:lnTo>
                  <a:lnTo>
                    <a:pt x="3370034" y="9486"/>
                  </a:lnTo>
                  <a:lnTo>
                    <a:pt x="3356776" y="2926"/>
                  </a:lnTo>
                  <a:lnTo>
                    <a:pt x="3336670" y="0"/>
                  </a:lnTo>
                  <a:close/>
                </a:path>
                <a:path w="3388359" h="170815">
                  <a:moveTo>
                    <a:pt x="3299466" y="42672"/>
                  </a:moveTo>
                  <a:lnTo>
                    <a:pt x="3285363" y="42672"/>
                  </a:lnTo>
                  <a:lnTo>
                    <a:pt x="3290879" y="56042"/>
                  </a:lnTo>
                  <a:lnTo>
                    <a:pt x="3301968" y="66971"/>
                  </a:lnTo>
                  <a:lnTo>
                    <a:pt x="3317581" y="74345"/>
                  </a:lnTo>
                  <a:lnTo>
                    <a:pt x="3336670" y="77050"/>
                  </a:lnTo>
                  <a:lnTo>
                    <a:pt x="3356776" y="73939"/>
                  </a:lnTo>
                  <a:lnTo>
                    <a:pt x="3371314" y="66382"/>
                  </a:lnTo>
                  <a:lnTo>
                    <a:pt x="3336670" y="66382"/>
                  </a:lnTo>
                  <a:lnTo>
                    <a:pt x="3321871" y="64270"/>
                  </a:lnTo>
                  <a:lnTo>
                    <a:pt x="3309619" y="58378"/>
                  </a:lnTo>
                  <a:lnTo>
                    <a:pt x="3301273" y="49377"/>
                  </a:lnTo>
                  <a:lnTo>
                    <a:pt x="3299466" y="42672"/>
                  </a:lnTo>
                  <a:close/>
                </a:path>
                <a:path w="3388359" h="170815">
                  <a:moveTo>
                    <a:pt x="3370034" y="9486"/>
                  </a:moveTo>
                  <a:lnTo>
                    <a:pt x="3336670" y="9486"/>
                  </a:lnTo>
                  <a:lnTo>
                    <a:pt x="3351397" y="11763"/>
                  </a:lnTo>
                  <a:lnTo>
                    <a:pt x="3363610" y="17929"/>
                  </a:lnTo>
                  <a:lnTo>
                    <a:pt x="3371943" y="26985"/>
                  </a:lnTo>
                  <a:lnTo>
                    <a:pt x="3375024" y="37934"/>
                  </a:lnTo>
                  <a:lnTo>
                    <a:pt x="3371943" y="49377"/>
                  </a:lnTo>
                  <a:lnTo>
                    <a:pt x="3363610" y="58378"/>
                  </a:lnTo>
                  <a:lnTo>
                    <a:pt x="3351397" y="64270"/>
                  </a:lnTo>
                  <a:lnTo>
                    <a:pt x="3336670" y="66382"/>
                  </a:lnTo>
                  <a:lnTo>
                    <a:pt x="3371314" y="66382"/>
                  </a:lnTo>
                  <a:lnTo>
                    <a:pt x="3373024" y="65493"/>
                  </a:lnTo>
                  <a:lnTo>
                    <a:pt x="3383891" y="53047"/>
                  </a:lnTo>
                  <a:lnTo>
                    <a:pt x="3387852" y="37934"/>
                  </a:lnTo>
                  <a:lnTo>
                    <a:pt x="3383891" y="23006"/>
                  </a:lnTo>
                  <a:lnTo>
                    <a:pt x="3373024" y="10966"/>
                  </a:lnTo>
                  <a:lnTo>
                    <a:pt x="3370034" y="9486"/>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64" name="object 82"/>
            <p:cNvSpPr/>
            <p:nvPr/>
          </p:nvSpPr>
          <p:spPr bwMode="auto">
            <a:xfrm>
              <a:off x="4329684" y="5711572"/>
              <a:ext cx="2541270" cy="128111"/>
            </a:xfrm>
            <a:custGeom>
              <a:avLst/>
              <a:gdLst>
                <a:gd name="T0" fmla="*/ 194429 w 3388359"/>
                <a:gd name="T1" fmla="*/ 4271 h 170815"/>
                <a:gd name="T2" fmla="*/ 272175 w 3388359"/>
                <a:gd name="T3" fmla="*/ 4271 h 170815"/>
                <a:gd name="T4" fmla="*/ 312098 w 3388359"/>
                <a:gd name="T5" fmla="*/ 4271 h 170815"/>
                <a:gd name="T6" fmla="*/ 326807 w 3388359"/>
                <a:gd name="T7" fmla="*/ 4271 h 170815"/>
                <a:gd name="T8" fmla="*/ 328908 w 3388359"/>
                <a:gd name="T9" fmla="*/ 4271 h 170815"/>
                <a:gd name="T10" fmla="*/ 329460 w 3388359"/>
                <a:gd name="T11" fmla="*/ 5610 h 170815"/>
                <a:gd name="T12" fmla="*/ 330571 w 3388359"/>
                <a:gd name="T13" fmla="*/ 6704 h 170815"/>
                <a:gd name="T14" fmla="*/ 332133 w 3388359"/>
                <a:gd name="T15" fmla="*/ 7442 h 170815"/>
                <a:gd name="T16" fmla="*/ 334045 w 3388359"/>
                <a:gd name="T17" fmla="*/ 7714 h 170815"/>
                <a:gd name="T18" fmla="*/ 336057 w 3388359"/>
                <a:gd name="T19" fmla="*/ 7402 h 170815"/>
                <a:gd name="T20" fmla="*/ 337684 w 3388359"/>
                <a:gd name="T21" fmla="*/ 6556 h 170815"/>
                <a:gd name="T22" fmla="*/ 338772 w 3388359"/>
                <a:gd name="T23" fmla="*/ 5311 h 170815"/>
                <a:gd name="T24" fmla="*/ 339169 w 3388359"/>
                <a:gd name="T25" fmla="*/ 3797 h 170815"/>
                <a:gd name="T26" fmla="*/ 338772 w 3388359"/>
                <a:gd name="T27" fmla="*/ 2302 h 170815"/>
                <a:gd name="T28" fmla="*/ 337684 w 3388359"/>
                <a:gd name="T29" fmla="*/ 1097 h 170815"/>
                <a:gd name="T30" fmla="*/ 336057 w 3388359"/>
                <a:gd name="T31" fmla="*/ 292 h 170815"/>
                <a:gd name="T32" fmla="*/ 334045 w 3388359"/>
                <a:gd name="T33" fmla="*/ 0 h 170815"/>
                <a:gd name="T34" fmla="*/ 332133 w 3388359"/>
                <a:gd name="T35" fmla="*/ 252 h 170815"/>
                <a:gd name="T36" fmla="*/ 330571 w 3388359"/>
                <a:gd name="T37" fmla="*/ 949 h 170815"/>
                <a:gd name="T38" fmla="*/ 329460 w 3388359"/>
                <a:gd name="T39" fmla="*/ 2002 h 170815"/>
                <a:gd name="T40" fmla="*/ 328908 w 3388359"/>
                <a:gd name="T41" fmla="*/ 3322 h 170815"/>
                <a:gd name="T42" fmla="*/ 250794 w 3388359"/>
                <a:gd name="T43" fmla="*/ 3322 h 170815"/>
                <a:gd name="T44" fmla="*/ 210683 w 3388359"/>
                <a:gd name="T45" fmla="*/ 3322 h 170815"/>
                <a:gd name="T46" fmla="*/ 195903 w 3388359"/>
                <a:gd name="T47" fmla="*/ 3322 h 170815"/>
                <a:gd name="T48" fmla="*/ 193792 w 3388359"/>
                <a:gd name="T49" fmla="*/ 3322 h 170815"/>
                <a:gd name="T50" fmla="*/ 187486 w 3388359"/>
                <a:gd name="T51" fmla="*/ 8742 h 170815"/>
                <a:gd name="T52" fmla="*/ 184247 w 3388359"/>
                <a:gd name="T53" fmla="*/ 11525 h 170815"/>
                <a:gd name="T54" fmla="*/ 183054 w 3388359"/>
                <a:gd name="T55" fmla="*/ 12551 h 170815"/>
                <a:gd name="T56" fmla="*/ 182884 w 3388359"/>
                <a:gd name="T57" fmla="*/ 12697 h 170815"/>
                <a:gd name="T58" fmla="*/ 83174 w 3388359"/>
                <a:gd name="T59" fmla="*/ 12697 h 170815"/>
                <a:gd name="T60" fmla="*/ 31972 w 3388359"/>
                <a:gd name="T61" fmla="*/ 12697 h 170815"/>
                <a:gd name="T62" fmla="*/ 13108 w 3388359"/>
                <a:gd name="T63" fmla="*/ 12697 h 170815"/>
                <a:gd name="T64" fmla="*/ 10413 w 3388359"/>
                <a:gd name="T65" fmla="*/ 12697 h 170815"/>
                <a:gd name="T66" fmla="*/ 9838 w 3388359"/>
                <a:gd name="T67" fmla="*/ 11377 h 170815"/>
                <a:gd name="T68" fmla="*/ 8675 w 3388359"/>
                <a:gd name="T69" fmla="*/ 10324 h 170815"/>
                <a:gd name="T70" fmla="*/ 7060 w 3388359"/>
                <a:gd name="T71" fmla="*/ 9626 h 170815"/>
                <a:gd name="T72" fmla="*/ 5125 w 3388359"/>
                <a:gd name="T73" fmla="*/ 9374 h 170815"/>
                <a:gd name="T74" fmla="*/ 3107 w 3388359"/>
                <a:gd name="T75" fmla="*/ 9685 h 170815"/>
                <a:gd name="T76" fmla="*/ 1480 w 3388359"/>
                <a:gd name="T77" fmla="*/ 10531 h 170815"/>
                <a:gd name="T78" fmla="*/ 395 w 3388359"/>
                <a:gd name="T79" fmla="*/ 11777 h 170815"/>
                <a:gd name="T80" fmla="*/ 0 w 3388359"/>
                <a:gd name="T81" fmla="*/ 13290 h 170815"/>
                <a:gd name="T82" fmla="*/ 395 w 3388359"/>
                <a:gd name="T83" fmla="*/ 14785 h 170815"/>
                <a:gd name="T84" fmla="*/ 1480 w 3388359"/>
                <a:gd name="T85" fmla="*/ 15989 h 170815"/>
                <a:gd name="T86" fmla="*/ 3107 w 3388359"/>
                <a:gd name="T87" fmla="*/ 16795 h 170815"/>
                <a:gd name="T88" fmla="*/ 5125 w 3388359"/>
                <a:gd name="T89" fmla="*/ 17088 h 170815"/>
                <a:gd name="T90" fmla="*/ 7038 w 3388359"/>
                <a:gd name="T91" fmla="*/ 16835 h 170815"/>
                <a:gd name="T92" fmla="*/ 8618 w 3388359"/>
                <a:gd name="T93" fmla="*/ 16138 h 170815"/>
                <a:gd name="T94" fmla="*/ 9773 w 3388359"/>
                <a:gd name="T95" fmla="*/ 15085 h 170815"/>
                <a:gd name="T96" fmla="*/ 10413 w 3388359"/>
                <a:gd name="T97" fmla="*/ 13765 h 170815"/>
                <a:gd name="T98" fmla="*/ 110586 w 3388359"/>
                <a:gd name="T99" fmla="*/ 13765 h 170815"/>
                <a:gd name="T100" fmla="*/ 162026 w 3388359"/>
                <a:gd name="T101" fmla="*/ 13765 h 170815"/>
                <a:gd name="T102" fmla="*/ 180977 w 3388359"/>
                <a:gd name="T103" fmla="*/ 13765 h 170815"/>
                <a:gd name="T104" fmla="*/ 183684 w 3388359"/>
                <a:gd name="T105" fmla="*/ 13765 h 170815"/>
                <a:gd name="T106" fmla="*/ 194429 w 3388359"/>
                <a:gd name="T107" fmla="*/ 4271 h 17081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388359" h="170815">
                  <a:moveTo>
                    <a:pt x="1942084" y="42672"/>
                  </a:moveTo>
                  <a:lnTo>
                    <a:pt x="2718667" y="42672"/>
                  </a:lnTo>
                  <a:lnTo>
                    <a:pt x="3117453" y="42672"/>
                  </a:lnTo>
                  <a:lnTo>
                    <a:pt x="3264374" y="42672"/>
                  </a:lnTo>
                  <a:lnTo>
                    <a:pt x="3285363" y="42672"/>
                  </a:lnTo>
                  <a:lnTo>
                    <a:pt x="3290879" y="56042"/>
                  </a:lnTo>
                  <a:lnTo>
                    <a:pt x="3301968" y="66971"/>
                  </a:lnTo>
                  <a:lnTo>
                    <a:pt x="3317581" y="74345"/>
                  </a:lnTo>
                  <a:lnTo>
                    <a:pt x="3336670" y="77050"/>
                  </a:lnTo>
                  <a:lnTo>
                    <a:pt x="3356776" y="73939"/>
                  </a:lnTo>
                  <a:lnTo>
                    <a:pt x="3373024" y="65493"/>
                  </a:lnTo>
                  <a:lnTo>
                    <a:pt x="3383891" y="53047"/>
                  </a:lnTo>
                  <a:lnTo>
                    <a:pt x="3387852" y="37934"/>
                  </a:lnTo>
                  <a:lnTo>
                    <a:pt x="3383891" y="23006"/>
                  </a:lnTo>
                  <a:lnTo>
                    <a:pt x="3373024" y="10966"/>
                  </a:lnTo>
                  <a:lnTo>
                    <a:pt x="3356776" y="2926"/>
                  </a:lnTo>
                  <a:lnTo>
                    <a:pt x="3336670" y="0"/>
                  </a:lnTo>
                  <a:lnTo>
                    <a:pt x="3317581" y="2518"/>
                  </a:lnTo>
                  <a:lnTo>
                    <a:pt x="3301968" y="9482"/>
                  </a:lnTo>
                  <a:lnTo>
                    <a:pt x="3290879" y="20000"/>
                  </a:lnTo>
                  <a:lnTo>
                    <a:pt x="3285363" y="33185"/>
                  </a:lnTo>
                  <a:lnTo>
                    <a:pt x="2505108" y="33185"/>
                  </a:lnTo>
                  <a:lnTo>
                    <a:pt x="2104437" y="33185"/>
                  </a:lnTo>
                  <a:lnTo>
                    <a:pt x="1956821" y="33185"/>
                  </a:lnTo>
                  <a:lnTo>
                    <a:pt x="1935734" y="33185"/>
                  </a:lnTo>
                  <a:lnTo>
                    <a:pt x="1872738" y="87326"/>
                  </a:lnTo>
                  <a:lnTo>
                    <a:pt x="1840388" y="115128"/>
                  </a:lnTo>
                  <a:lnTo>
                    <a:pt x="1828470" y="125371"/>
                  </a:lnTo>
                  <a:lnTo>
                    <a:pt x="1826767" y="126834"/>
                  </a:lnTo>
                  <a:lnTo>
                    <a:pt x="830800" y="126834"/>
                  </a:lnTo>
                  <a:lnTo>
                    <a:pt x="319357" y="126834"/>
                  </a:lnTo>
                  <a:lnTo>
                    <a:pt x="130931" y="126834"/>
                  </a:lnTo>
                  <a:lnTo>
                    <a:pt x="104012" y="126834"/>
                  </a:lnTo>
                  <a:lnTo>
                    <a:pt x="98258" y="113643"/>
                  </a:lnTo>
                  <a:lnTo>
                    <a:pt x="86645" y="103120"/>
                  </a:lnTo>
                  <a:lnTo>
                    <a:pt x="70508" y="96156"/>
                  </a:lnTo>
                  <a:lnTo>
                    <a:pt x="51180" y="93637"/>
                  </a:lnTo>
                  <a:lnTo>
                    <a:pt x="31021" y="96748"/>
                  </a:lnTo>
                  <a:lnTo>
                    <a:pt x="14779" y="105194"/>
                  </a:lnTo>
                  <a:lnTo>
                    <a:pt x="3942" y="117640"/>
                  </a:lnTo>
                  <a:lnTo>
                    <a:pt x="0" y="132753"/>
                  </a:lnTo>
                  <a:lnTo>
                    <a:pt x="3942" y="147681"/>
                  </a:lnTo>
                  <a:lnTo>
                    <a:pt x="14779" y="159721"/>
                  </a:lnTo>
                  <a:lnTo>
                    <a:pt x="31021" y="167761"/>
                  </a:lnTo>
                  <a:lnTo>
                    <a:pt x="51180" y="170688"/>
                  </a:lnTo>
                  <a:lnTo>
                    <a:pt x="70294" y="168169"/>
                  </a:lnTo>
                  <a:lnTo>
                    <a:pt x="86074" y="161205"/>
                  </a:lnTo>
                  <a:lnTo>
                    <a:pt x="97615" y="150687"/>
                  </a:lnTo>
                  <a:lnTo>
                    <a:pt x="104012" y="137502"/>
                  </a:lnTo>
                  <a:lnTo>
                    <a:pt x="1104606" y="137502"/>
                  </a:lnTo>
                  <a:lnTo>
                    <a:pt x="1618424" y="137502"/>
                  </a:lnTo>
                  <a:lnTo>
                    <a:pt x="1807725" y="137502"/>
                  </a:lnTo>
                  <a:lnTo>
                    <a:pt x="1834768" y="137502"/>
                  </a:lnTo>
                  <a:lnTo>
                    <a:pt x="1942084" y="42672"/>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5" name="object 83"/>
            <p:cNvSpPr/>
            <p:nvPr/>
          </p:nvSpPr>
          <p:spPr bwMode="auto">
            <a:xfrm>
              <a:off x="6803327" y="5718686"/>
              <a:ext cx="57626" cy="42862"/>
            </a:xfrm>
            <a:custGeom>
              <a:avLst/>
              <a:gdLst>
                <a:gd name="T0" fmla="*/ 3853 w 76834"/>
                <a:gd name="T1" fmla="*/ 0 h 57150"/>
                <a:gd name="T2" fmla="*/ 5327 w 76834"/>
                <a:gd name="T3" fmla="*/ 228 h 57150"/>
                <a:gd name="T4" fmla="*/ 6549 w 76834"/>
                <a:gd name="T5" fmla="*/ 844 h 57150"/>
                <a:gd name="T6" fmla="*/ 7384 w 76834"/>
                <a:gd name="T7" fmla="*/ 1751 h 57150"/>
                <a:gd name="T8" fmla="*/ 7692 w 76834"/>
                <a:gd name="T9" fmla="*/ 2848 h 57150"/>
                <a:gd name="T10" fmla="*/ 7384 w 76834"/>
                <a:gd name="T11" fmla="*/ 3993 h 57150"/>
                <a:gd name="T12" fmla="*/ 6549 w 76834"/>
                <a:gd name="T13" fmla="*/ 4894 h 57150"/>
                <a:gd name="T14" fmla="*/ 5327 w 76834"/>
                <a:gd name="T15" fmla="*/ 5484 h 57150"/>
                <a:gd name="T16" fmla="*/ 3853 w 76834"/>
                <a:gd name="T17" fmla="*/ 5695 h 57150"/>
                <a:gd name="T18" fmla="*/ 2371 w 76834"/>
                <a:gd name="T19" fmla="*/ 5484 h 57150"/>
                <a:gd name="T20" fmla="*/ 1145 w 76834"/>
                <a:gd name="T21" fmla="*/ 4894 h 57150"/>
                <a:gd name="T22" fmla="*/ 309 w 76834"/>
                <a:gd name="T23" fmla="*/ 3993 h 57150"/>
                <a:gd name="T24" fmla="*/ 0 w 76834"/>
                <a:gd name="T25" fmla="*/ 2848 h 57150"/>
                <a:gd name="T26" fmla="*/ 309 w 76834"/>
                <a:gd name="T27" fmla="*/ 1751 h 57150"/>
                <a:gd name="T28" fmla="*/ 1145 w 76834"/>
                <a:gd name="T29" fmla="*/ 844 h 57150"/>
                <a:gd name="T30" fmla="*/ 2371 w 76834"/>
                <a:gd name="T31" fmla="*/ 228 h 57150"/>
                <a:gd name="T32" fmla="*/ 3853 w 76834"/>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480" y="0"/>
                  </a:moveTo>
                  <a:lnTo>
                    <a:pt x="53207" y="2276"/>
                  </a:lnTo>
                  <a:lnTo>
                    <a:pt x="65420" y="8442"/>
                  </a:lnTo>
                  <a:lnTo>
                    <a:pt x="73753" y="17498"/>
                  </a:lnTo>
                  <a:lnTo>
                    <a:pt x="76834" y="28447"/>
                  </a:lnTo>
                  <a:lnTo>
                    <a:pt x="73753" y="39890"/>
                  </a:lnTo>
                  <a:lnTo>
                    <a:pt x="65420" y="48891"/>
                  </a:lnTo>
                  <a:lnTo>
                    <a:pt x="53207" y="54783"/>
                  </a:lnTo>
                  <a:lnTo>
                    <a:pt x="38480" y="56896"/>
                  </a:lnTo>
                  <a:lnTo>
                    <a:pt x="23681" y="54783"/>
                  </a:lnTo>
                  <a:lnTo>
                    <a:pt x="11429" y="48891"/>
                  </a:lnTo>
                  <a:lnTo>
                    <a:pt x="3083" y="39890"/>
                  </a:lnTo>
                  <a:lnTo>
                    <a:pt x="0" y="28447"/>
                  </a:lnTo>
                  <a:lnTo>
                    <a:pt x="3083" y="17498"/>
                  </a:lnTo>
                  <a:lnTo>
                    <a:pt x="11429" y="8442"/>
                  </a:lnTo>
                  <a:lnTo>
                    <a:pt x="23681" y="2276"/>
                  </a:lnTo>
                  <a:lnTo>
                    <a:pt x="3848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6" name="object 84"/>
            <p:cNvSpPr/>
            <p:nvPr/>
          </p:nvSpPr>
          <p:spPr bwMode="auto">
            <a:xfrm>
              <a:off x="4339305" y="5789800"/>
              <a:ext cx="57626" cy="42862"/>
            </a:xfrm>
            <a:custGeom>
              <a:avLst/>
              <a:gdLst>
                <a:gd name="T0" fmla="*/ 3839 w 76835"/>
                <a:gd name="T1" fmla="*/ 5695 h 57150"/>
                <a:gd name="T2" fmla="*/ 2365 w 76835"/>
                <a:gd name="T3" fmla="*/ 5468 h 57150"/>
                <a:gd name="T4" fmla="*/ 1142 w 76835"/>
                <a:gd name="T5" fmla="*/ 4850 h 57150"/>
                <a:gd name="T6" fmla="*/ 308 w 76835"/>
                <a:gd name="T7" fmla="*/ 3944 h 57150"/>
                <a:gd name="T8" fmla="*/ 0 w 76835"/>
                <a:gd name="T9" fmla="*/ 2848 h 57150"/>
                <a:gd name="T10" fmla="*/ 308 w 76835"/>
                <a:gd name="T11" fmla="*/ 1702 h 57150"/>
                <a:gd name="T12" fmla="*/ 1142 w 76835"/>
                <a:gd name="T13" fmla="*/ 801 h 57150"/>
                <a:gd name="T14" fmla="*/ 2365 w 76835"/>
                <a:gd name="T15" fmla="*/ 211 h 57150"/>
                <a:gd name="T16" fmla="*/ 3839 w 76835"/>
                <a:gd name="T17" fmla="*/ 0 h 57150"/>
                <a:gd name="T18" fmla="*/ 5390 w 76835"/>
                <a:gd name="T19" fmla="*/ 211 h 57150"/>
                <a:gd name="T20" fmla="*/ 6609 w 76835"/>
                <a:gd name="T21" fmla="*/ 801 h 57150"/>
                <a:gd name="T22" fmla="*/ 7406 w 76835"/>
                <a:gd name="T23" fmla="*/ 1702 h 57150"/>
                <a:gd name="T24" fmla="*/ 7691 w 76835"/>
                <a:gd name="T25" fmla="*/ 2848 h 57150"/>
                <a:gd name="T26" fmla="*/ 7406 w 76835"/>
                <a:gd name="T27" fmla="*/ 3944 h 57150"/>
                <a:gd name="T28" fmla="*/ 6609 w 76835"/>
                <a:gd name="T29" fmla="*/ 4850 h 57150"/>
                <a:gd name="T30" fmla="*/ 5390 w 76835"/>
                <a:gd name="T31" fmla="*/ 5468 h 57150"/>
                <a:gd name="T32" fmla="*/ 3839 w 76835"/>
                <a:gd name="T33" fmla="*/ 5695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7150">
                  <a:moveTo>
                    <a:pt x="38353" y="56896"/>
                  </a:moveTo>
                  <a:lnTo>
                    <a:pt x="23627" y="54619"/>
                  </a:lnTo>
                  <a:lnTo>
                    <a:pt x="11414" y="48453"/>
                  </a:lnTo>
                  <a:lnTo>
                    <a:pt x="3081" y="39397"/>
                  </a:lnTo>
                  <a:lnTo>
                    <a:pt x="0" y="28448"/>
                  </a:lnTo>
                  <a:lnTo>
                    <a:pt x="3081" y="17005"/>
                  </a:lnTo>
                  <a:lnTo>
                    <a:pt x="11414" y="8004"/>
                  </a:lnTo>
                  <a:lnTo>
                    <a:pt x="23627" y="2112"/>
                  </a:lnTo>
                  <a:lnTo>
                    <a:pt x="38353" y="0"/>
                  </a:lnTo>
                  <a:lnTo>
                    <a:pt x="53849" y="2112"/>
                  </a:lnTo>
                  <a:lnTo>
                    <a:pt x="66024" y="8004"/>
                  </a:lnTo>
                  <a:lnTo>
                    <a:pt x="73983" y="17005"/>
                  </a:lnTo>
                  <a:lnTo>
                    <a:pt x="76835" y="28448"/>
                  </a:lnTo>
                  <a:lnTo>
                    <a:pt x="73983" y="39397"/>
                  </a:lnTo>
                  <a:lnTo>
                    <a:pt x="66024" y="48453"/>
                  </a:lnTo>
                  <a:lnTo>
                    <a:pt x="53849" y="54619"/>
                  </a:lnTo>
                  <a:lnTo>
                    <a:pt x="38353" y="56896"/>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7" name="object 85"/>
            <p:cNvSpPr/>
            <p:nvPr/>
          </p:nvSpPr>
          <p:spPr bwMode="auto">
            <a:xfrm>
              <a:off x="4978908" y="5781294"/>
              <a:ext cx="3621405" cy="123825"/>
            </a:xfrm>
            <a:custGeom>
              <a:avLst/>
              <a:gdLst>
                <a:gd name="T0" fmla="*/ 3117 w 4828540"/>
                <a:gd name="T1" fmla="*/ 9085 h 165100"/>
                <a:gd name="T2" fmla="*/ 398 w 4828540"/>
                <a:gd name="T3" fmla="*/ 11173 h 165100"/>
                <a:gd name="T4" fmla="*/ 398 w 4828540"/>
                <a:gd name="T5" fmla="*/ 14177 h 165100"/>
                <a:gd name="T6" fmla="*/ 3117 w 4828540"/>
                <a:gd name="T7" fmla="*/ 16186 h 165100"/>
                <a:gd name="T8" fmla="*/ 7067 w 4828540"/>
                <a:gd name="T9" fmla="*/ 16226 h 165100"/>
                <a:gd name="T10" fmla="*/ 5137 w 4828540"/>
                <a:gd name="T11" fmla="*/ 15530 h 165100"/>
                <a:gd name="T12" fmla="*/ 2429 w 4828540"/>
                <a:gd name="T13" fmla="*/ 14685 h 165100"/>
                <a:gd name="T14" fmla="*/ 1284 w 4828540"/>
                <a:gd name="T15" fmla="*/ 12685 h 165100"/>
                <a:gd name="T16" fmla="*/ 2429 w 4828540"/>
                <a:gd name="T17" fmla="*/ 10685 h 165100"/>
                <a:gd name="T18" fmla="*/ 5137 w 4828540"/>
                <a:gd name="T19" fmla="*/ 9840 h 165100"/>
                <a:gd name="T20" fmla="*/ 8682 w 4828540"/>
                <a:gd name="T21" fmla="*/ 9780 h 165100"/>
                <a:gd name="T22" fmla="*/ 5137 w 4828540"/>
                <a:gd name="T23" fmla="*/ 8773 h 165100"/>
                <a:gd name="T24" fmla="*/ 5137 w 4828540"/>
                <a:gd name="T25" fmla="*/ 9840 h 165100"/>
                <a:gd name="T26" fmla="*/ 7896 w 4828540"/>
                <a:gd name="T27" fmla="*/ 10685 h 165100"/>
                <a:gd name="T28" fmla="*/ 8977 w 4828540"/>
                <a:gd name="T29" fmla="*/ 12685 h 165100"/>
                <a:gd name="T30" fmla="*/ 7896 w 4828540"/>
                <a:gd name="T31" fmla="*/ 14685 h 165100"/>
                <a:gd name="T32" fmla="*/ 5137 w 4828540"/>
                <a:gd name="T33" fmla="*/ 15530 h 165100"/>
                <a:gd name="T34" fmla="*/ 9848 w 4828540"/>
                <a:gd name="T35" fmla="*/ 14477 h 165100"/>
                <a:gd name="T36" fmla="*/ 305666 w 4828540"/>
                <a:gd name="T37" fmla="*/ 13159 h 165100"/>
                <a:gd name="T38" fmla="*/ 10426 w 4828540"/>
                <a:gd name="T39" fmla="*/ 12210 h 165100"/>
                <a:gd name="T40" fmla="*/ 8746 w 4828540"/>
                <a:gd name="T41" fmla="*/ 9840 h 165100"/>
                <a:gd name="T42" fmla="*/ 476148 w 4828540"/>
                <a:gd name="T43" fmla="*/ 252 h 165100"/>
                <a:gd name="T44" fmla="*/ 473475 w 4828540"/>
                <a:gd name="T45" fmla="*/ 2001 h 165100"/>
                <a:gd name="T46" fmla="*/ 314960 w 4828540"/>
                <a:gd name="T47" fmla="*/ 3320 h 165100"/>
                <a:gd name="T48" fmla="*/ 306741 w 4828540"/>
                <a:gd name="T49" fmla="*/ 12210 h 165100"/>
                <a:gd name="T50" fmla="*/ 474341 w 4828540"/>
                <a:gd name="T51" fmla="*/ 4387 h 165100"/>
                <a:gd name="T52" fmla="*/ 478060 w 4828540"/>
                <a:gd name="T53" fmla="*/ 1067 h 165100"/>
                <a:gd name="T54" fmla="*/ 480104 w 4828540"/>
                <a:gd name="T55" fmla="*/ 312 h 165100"/>
                <a:gd name="T56" fmla="*/ 474341 w 4828540"/>
                <a:gd name="T57" fmla="*/ 4387 h 165100"/>
                <a:gd name="T58" fmla="*/ 473475 w 4828540"/>
                <a:gd name="T59" fmla="*/ 5705 h 165100"/>
                <a:gd name="T60" fmla="*/ 476148 w 4828540"/>
                <a:gd name="T61" fmla="*/ 7454 h 165100"/>
                <a:gd name="T62" fmla="*/ 480104 w 4828540"/>
                <a:gd name="T63" fmla="*/ 7413 h 165100"/>
                <a:gd name="T64" fmla="*/ 478060 w 4828540"/>
                <a:gd name="T65" fmla="*/ 6756 h 165100"/>
                <a:gd name="T66" fmla="*/ 475352 w 4828540"/>
                <a:gd name="T67" fmla="*/ 5912 h 165100"/>
                <a:gd name="T68" fmla="*/ 474341 w 4828540"/>
                <a:gd name="T69" fmla="*/ 4387 h 165100"/>
                <a:gd name="T70" fmla="*/ 478060 w 4828540"/>
                <a:gd name="T71" fmla="*/ 1067 h 165100"/>
                <a:gd name="T72" fmla="*/ 480761 w 4828540"/>
                <a:gd name="T73" fmla="*/ 1867 h 165100"/>
                <a:gd name="T74" fmla="*/ 481899 w 4828540"/>
                <a:gd name="T75" fmla="*/ 3913 h 165100"/>
                <a:gd name="T76" fmla="*/ 480761 w 4828540"/>
                <a:gd name="T77" fmla="*/ 5912 h 165100"/>
                <a:gd name="T78" fmla="*/ 478060 w 4828540"/>
                <a:gd name="T79" fmla="*/ 6756 h 165100"/>
                <a:gd name="T80" fmla="*/ 481787 w 4828540"/>
                <a:gd name="T81" fmla="*/ 6609 h 165100"/>
                <a:gd name="T82" fmla="*/ 483349 w 4828540"/>
                <a:gd name="T83" fmla="*/ 3913 h 165100"/>
                <a:gd name="T84" fmla="*/ 481787 w 4828540"/>
                <a:gd name="T85" fmla="*/ 1156 h 16510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828540" h="165100">
                  <a:moveTo>
                    <a:pt x="51307" y="87629"/>
                  </a:moveTo>
                  <a:lnTo>
                    <a:pt x="31128" y="90737"/>
                  </a:lnTo>
                  <a:lnTo>
                    <a:pt x="14843" y="99171"/>
                  </a:lnTo>
                  <a:lnTo>
                    <a:pt x="3962" y="111600"/>
                  </a:lnTo>
                  <a:lnTo>
                    <a:pt x="0" y="126695"/>
                  </a:lnTo>
                  <a:lnTo>
                    <a:pt x="3962" y="141612"/>
                  </a:lnTo>
                  <a:lnTo>
                    <a:pt x="14843" y="153639"/>
                  </a:lnTo>
                  <a:lnTo>
                    <a:pt x="31128" y="161669"/>
                  </a:lnTo>
                  <a:lnTo>
                    <a:pt x="51307" y="164591"/>
                  </a:lnTo>
                  <a:lnTo>
                    <a:pt x="70582" y="162075"/>
                  </a:lnTo>
                  <a:lnTo>
                    <a:pt x="86725" y="155117"/>
                  </a:lnTo>
                  <a:lnTo>
                    <a:pt x="51307" y="155117"/>
                  </a:lnTo>
                  <a:lnTo>
                    <a:pt x="36508" y="152841"/>
                  </a:lnTo>
                  <a:lnTo>
                    <a:pt x="24256" y="146678"/>
                  </a:lnTo>
                  <a:lnTo>
                    <a:pt x="15910" y="137629"/>
                  </a:lnTo>
                  <a:lnTo>
                    <a:pt x="12826" y="126695"/>
                  </a:lnTo>
                  <a:lnTo>
                    <a:pt x="15910" y="115762"/>
                  </a:lnTo>
                  <a:lnTo>
                    <a:pt x="24256" y="106718"/>
                  </a:lnTo>
                  <a:lnTo>
                    <a:pt x="36508" y="100559"/>
                  </a:lnTo>
                  <a:lnTo>
                    <a:pt x="51307" y="98285"/>
                  </a:lnTo>
                  <a:lnTo>
                    <a:pt x="87356" y="98285"/>
                  </a:lnTo>
                  <a:lnTo>
                    <a:pt x="86725" y="97693"/>
                  </a:lnTo>
                  <a:lnTo>
                    <a:pt x="70582" y="90330"/>
                  </a:lnTo>
                  <a:lnTo>
                    <a:pt x="51307" y="87629"/>
                  </a:lnTo>
                  <a:close/>
                </a:path>
                <a:path w="4828540" h="165100">
                  <a:moveTo>
                    <a:pt x="87356" y="98285"/>
                  </a:moveTo>
                  <a:lnTo>
                    <a:pt x="51307" y="98285"/>
                  </a:lnTo>
                  <a:lnTo>
                    <a:pt x="66730" y="100559"/>
                  </a:lnTo>
                  <a:lnTo>
                    <a:pt x="78866" y="106718"/>
                  </a:lnTo>
                  <a:lnTo>
                    <a:pt x="86812" y="115762"/>
                  </a:lnTo>
                  <a:lnTo>
                    <a:pt x="89661" y="126695"/>
                  </a:lnTo>
                  <a:lnTo>
                    <a:pt x="86812" y="137629"/>
                  </a:lnTo>
                  <a:lnTo>
                    <a:pt x="78866" y="146678"/>
                  </a:lnTo>
                  <a:lnTo>
                    <a:pt x="66730" y="152841"/>
                  </a:lnTo>
                  <a:lnTo>
                    <a:pt x="51307" y="155117"/>
                  </a:lnTo>
                  <a:lnTo>
                    <a:pt x="86725" y="155117"/>
                  </a:lnTo>
                  <a:lnTo>
                    <a:pt x="98367" y="144607"/>
                  </a:lnTo>
                  <a:lnTo>
                    <a:pt x="104139" y="131432"/>
                  </a:lnTo>
                  <a:lnTo>
                    <a:pt x="3053206" y="131432"/>
                  </a:lnTo>
                  <a:lnTo>
                    <a:pt x="3063945" y="121958"/>
                  </a:lnTo>
                  <a:lnTo>
                    <a:pt x="104139" y="121958"/>
                  </a:lnTo>
                  <a:lnTo>
                    <a:pt x="98367" y="108605"/>
                  </a:lnTo>
                  <a:lnTo>
                    <a:pt x="87356" y="98285"/>
                  </a:lnTo>
                  <a:close/>
                </a:path>
                <a:path w="4828540" h="165100">
                  <a:moveTo>
                    <a:pt x="4775200" y="0"/>
                  </a:moveTo>
                  <a:lnTo>
                    <a:pt x="4756110" y="2516"/>
                  </a:lnTo>
                  <a:lnTo>
                    <a:pt x="4740497" y="9474"/>
                  </a:lnTo>
                  <a:lnTo>
                    <a:pt x="4729408" y="19984"/>
                  </a:lnTo>
                  <a:lnTo>
                    <a:pt x="4723891" y="33159"/>
                  </a:lnTo>
                  <a:lnTo>
                    <a:pt x="3146044" y="33159"/>
                  </a:lnTo>
                  <a:lnTo>
                    <a:pt x="3046729" y="121958"/>
                  </a:lnTo>
                  <a:lnTo>
                    <a:pt x="3063945" y="121958"/>
                  </a:lnTo>
                  <a:lnTo>
                    <a:pt x="3152521" y="43814"/>
                  </a:lnTo>
                  <a:lnTo>
                    <a:pt x="4738055" y="43814"/>
                  </a:lnTo>
                  <a:lnTo>
                    <a:pt x="4760400" y="12763"/>
                  </a:lnTo>
                  <a:lnTo>
                    <a:pt x="4775200" y="10655"/>
                  </a:lnTo>
                  <a:lnTo>
                    <a:pt x="4810649" y="10655"/>
                  </a:lnTo>
                  <a:lnTo>
                    <a:pt x="4795617" y="3109"/>
                  </a:lnTo>
                  <a:lnTo>
                    <a:pt x="4775200" y="0"/>
                  </a:lnTo>
                  <a:close/>
                </a:path>
                <a:path w="4828540" h="165100">
                  <a:moveTo>
                    <a:pt x="4738055" y="43814"/>
                  </a:moveTo>
                  <a:lnTo>
                    <a:pt x="4723891" y="43814"/>
                  </a:lnTo>
                  <a:lnTo>
                    <a:pt x="4729408" y="56988"/>
                  </a:lnTo>
                  <a:lnTo>
                    <a:pt x="4740497" y="67494"/>
                  </a:lnTo>
                  <a:lnTo>
                    <a:pt x="4756110" y="74447"/>
                  </a:lnTo>
                  <a:lnTo>
                    <a:pt x="4775200" y="76961"/>
                  </a:lnTo>
                  <a:lnTo>
                    <a:pt x="4795617" y="74039"/>
                  </a:lnTo>
                  <a:lnTo>
                    <a:pt x="4809335" y="67487"/>
                  </a:lnTo>
                  <a:lnTo>
                    <a:pt x="4775200" y="67487"/>
                  </a:lnTo>
                  <a:lnTo>
                    <a:pt x="4760400" y="65213"/>
                  </a:lnTo>
                  <a:lnTo>
                    <a:pt x="4748149" y="59054"/>
                  </a:lnTo>
                  <a:lnTo>
                    <a:pt x="4739802" y="50010"/>
                  </a:lnTo>
                  <a:lnTo>
                    <a:pt x="4738055" y="43814"/>
                  </a:lnTo>
                  <a:close/>
                </a:path>
                <a:path w="4828540" h="165100">
                  <a:moveTo>
                    <a:pt x="4810649" y="10655"/>
                  </a:moveTo>
                  <a:lnTo>
                    <a:pt x="4775200" y="10655"/>
                  </a:lnTo>
                  <a:lnTo>
                    <a:pt x="4789979" y="12763"/>
                  </a:lnTo>
                  <a:lnTo>
                    <a:pt x="4802187" y="18646"/>
                  </a:lnTo>
                  <a:lnTo>
                    <a:pt x="4810490" y="27639"/>
                  </a:lnTo>
                  <a:lnTo>
                    <a:pt x="4813554" y="39077"/>
                  </a:lnTo>
                  <a:lnTo>
                    <a:pt x="4810490" y="50010"/>
                  </a:lnTo>
                  <a:lnTo>
                    <a:pt x="4802187" y="59054"/>
                  </a:lnTo>
                  <a:lnTo>
                    <a:pt x="4789979" y="65213"/>
                  </a:lnTo>
                  <a:lnTo>
                    <a:pt x="4775200" y="67487"/>
                  </a:lnTo>
                  <a:lnTo>
                    <a:pt x="4809335" y="67487"/>
                  </a:lnTo>
                  <a:lnTo>
                    <a:pt x="4812426" y="66011"/>
                  </a:lnTo>
                  <a:lnTo>
                    <a:pt x="4823831" y="53987"/>
                  </a:lnTo>
                  <a:lnTo>
                    <a:pt x="4828032" y="39077"/>
                  </a:lnTo>
                  <a:lnTo>
                    <a:pt x="4823831" y="23981"/>
                  </a:lnTo>
                  <a:lnTo>
                    <a:pt x="4812426" y="11547"/>
                  </a:lnTo>
                  <a:lnTo>
                    <a:pt x="4810649" y="1065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68" name="object 86"/>
            <p:cNvSpPr/>
            <p:nvPr/>
          </p:nvSpPr>
          <p:spPr bwMode="auto">
            <a:xfrm>
              <a:off x="4978908" y="5781294"/>
              <a:ext cx="3621405" cy="123825"/>
            </a:xfrm>
            <a:custGeom>
              <a:avLst/>
              <a:gdLst>
                <a:gd name="T0" fmla="*/ 478060 w 4828540"/>
                <a:gd name="T1" fmla="*/ 0 h 165100"/>
                <a:gd name="T2" fmla="*/ 476148 w 4828540"/>
                <a:gd name="T3" fmla="*/ 252 h 165100"/>
                <a:gd name="T4" fmla="*/ 474585 w 4828540"/>
                <a:gd name="T5" fmla="*/ 949 h 165100"/>
                <a:gd name="T6" fmla="*/ 473475 w 4828540"/>
                <a:gd name="T7" fmla="*/ 2001 h 165100"/>
                <a:gd name="T8" fmla="*/ 472923 w 4828540"/>
                <a:gd name="T9" fmla="*/ 3320 h 165100"/>
                <a:gd name="T10" fmla="*/ 381601 w 4828540"/>
                <a:gd name="T11" fmla="*/ 3320 h 165100"/>
                <a:gd name="T12" fmla="*/ 334705 w 4828540"/>
                <a:gd name="T13" fmla="*/ 3320 h 165100"/>
                <a:gd name="T14" fmla="*/ 317429 w 4828540"/>
                <a:gd name="T15" fmla="*/ 3320 h 165100"/>
                <a:gd name="T16" fmla="*/ 314960 w 4828540"/>
                <a:gd name="T17" fmla="*/ 3320 h 165100"/>
                <a:gd name="T18" fmla="*/ 309212 w 4828540"/>
                <a:gd name="T19" fmla="*/ 8459 h 165100"/>
                <a:gd name="T20" fmla="*/ 306260 w 4828540"/>
                <a:gd name="T21" fmla="*/ 11099 h 165100"/>
                <a:gd name="T22" fmla="*/ 305173 w 4828540"/>
                <a:gd name="T23" fmla="*/ 12071 h 165100"/>
                <a:gd name="T24" fmla="*/ 305017 w 4828540"/>
                <a:gd name="T25" fmla="*/ 12210 h 165100"/>
                <a:gd name="T26" fmla="*/ 134707 w 4828540"/>
                <a:gd name="T27" fmla="*/ 12210 h 165100"/>
                <a:gd name="T28" fmla="*/ 47249 w 4828540"/>
                <a:gd name="T29" fmla="*/ 12210 h 165100"/>
                <a:gd name="T30" fmla="*/ 15029 w 4828540"/>
                <a:gd name="T31" fmla="*/ 12210 h 165100"/>
                <a:gd name="T32" fmla="*/ 10426 w 4828540"/>
                <a:gd name="T33" fmla="*/ 12210 h 165100"/>
                <a:gd name="T34" fmla="*/ 9848 w 4828540"/>
                <a:gd name="T35" fmla="*/ 10874 h 165100"/>
                <a:gd name="T36" fmla="*/ 8682 w 4828540"/>
                <a:gd name="T37" fmla="*/ 9780 h 165100"/>
                <a:gd name="T38" fmla="*/ 7067 w 4828540"/>
                <a:gd name="T39" fmla="*/ 9044 h 165100"/>
                <a:gd name="T40" fmla="*/ 5137 w 4828540"/>
                <a:gd name="T41" fmla="*/ 8773 h 165100"/>
                <a:gd name="T42" fmla="*/ 3117 w 4828540"/>
                <a:gd name="T43" fmla="*/ 9085 h 165100"/>
                <a:gd name="T44" fmla="*/ 1487 w 4828540"/>
                <a:gd name="T45" fmla="*/ 9929 h 165100"/>
                <a:gd name="T46" fmla="*/ 398 w 4828540"/>
                <a:gd name="T47" fmla="*/ 11173 h 165100"/>
                <a:gd name="T48" fmla="*/ 0 w 4828540"/>
                <a:gd name="T49" fmla="*/ 12685 h 165100"/>
                <a:gd name="T50" fmla="*/ 398 w 4828540"/>
                <a:gd name="T51" fmla="*/ 14177 h 165100"/>
                <a:gd name="T52" fmla="*/ 1487 w 4828540"/>
                <a:gd name="T53" fmla="*/ 15382 h 165100"/>
                <a:gd name="T54" fmla="*/ 3117 w 4828540"/>
                <a:gd name="T55" fmla="*/ 16186 h 165100"/>
                <a:gd name="T56" fmla="*/ 5137 w 4828540"/>
                <a:gd name="T57" fmla="*/ 16478 h 165100"/>
                <a:gd name="T58" fmla="*/ 7067 w 4828540"/>
                <a:gd name="T59" fmla="*/ 16226 h 165100"/>
                <a:gd name="T60" fmla="*/ 8682 w 4828540"/>
                <a:gd name="T61" fmla="*/ 15530 h 165100"/>
                <a:gd name="T62" fmla="*/ 9848 w 4828540"/>
                <a:gd name="T63" fmla="*/ 14477 h 165100"/>
                <a:gd name="T64" fmla="*/ 10426 w 4828540"/>
                <a:gd name="T65" fmla="*/ 13159 h 165100"/>
                <a:gd name="T66" fmla="*/ 181112 w 4828540"/>
                <a:gd name="T67" fmla="*/ 13159 h 165100"/>
                <a:gd name="T68" fmla="*/ 268761 w 4828540"/>
                <a:gd name="T69" fmla="*/ 13159 h 165100"/>
                <a:gd name="T70" fmla="*/ 301053 w 4828540"/>
                <a:gd name="T71" fmla="*/ 13159 h 165100"/>
                <a:gd name="T72" fmla="*/ 305666 w 4828540"/>
                <a:gd name="T73" fmla="*/ 13159 h 165100"/>
                <a:gd name="T74" fmla="*/ 311414 w 4828540"/>
                <a:gd name="T75" fmla="*/ 8087 h 165100"/>
                <a:gd name="T76" fmla="*/ 314366 w 4828540"/>
                <a:gd name="T77" fmla="*/ 5483 h 165100"/>
                <a:gd name="T78" fmla="*/ 315453 w 4828540"/>
                <a:gd name="T79" fmla="*/ 4524 h 165100"/>
                <a:gd name="T80" fmla="*/ 315609 w 4828540"/>
                <a:gd name="T81" fmla="*/ 4387 h 165100"/>
                <a:gd name="T82" fmla="*/ 406556 w 4828540"/>
                <a:gd name="T83" fmla="*/ 4387 h 165100"/>
                <a:gd name="T84" fmla="*/ 453259 w 4828540"/>
                <a:gd name="T85" fmla="*/ 4387 h 165100"/>
                <a:gd name="T86" fmla="*/ 470465 w 4828540"/>
                <a:gd name="T87" fmla="*/ 4387 h 165100"/>
                <a:gd name="T88" fmla="*/ 472923 w 4828540"/>
                <a:gd name="T89" fmla="*/ 4387 h 165100"/>
                <a:gd name="T90" fmla="*/ 473475 w 4828540"/>
                <a:gd name="T91" fmla="*/ 5705 h 165100"/>
                <a:gd name="T92" fmla="*/ 474585 w 4828540"/>
                <a:gd name="T93" fmla="*/ 6758 h 165100"/>
                <a:gd name="T94" fmla="*/ 476148 w 4828540"/>
                <a:gd name="T95" fmla="*/ 7454 h 165100"/>
                <a:gd name="T96" fmla="*/ 478060 w 4828540"/>
                <a:gd name="T97" fmla="*/ 7705 h 165100"/>
                <a:gd name="T98" fmla="*/ 480104 w 4828540"/>
                <a:gd name="T99" fmla="*/ 7413 h 165100"/>
                <a:gd name="T100" fmla="*/ 481787 w 4828540"/>
                <a:gd name="T101" fmla="*/ 6609 h 165100"/>
                <a:gd name="T102" fmla="*/ 482928 w 4828540"/>
                <a:gd name="T103" fmla="*/ 5405 h 165100"/>
                <a:gd name="T104" fmla="*/ 483349 w 4828540"/>
                <a:gd name="T105" fmla="*/ 3913 h 165100"/>
                <a:gd name="T106" fmla="*/ 482928 w 4828540"/>
                <a:gd name="T107" fmla="*/ 2402 h 165100"/>
                <a:gd name="T108" fmla="*/ 481787 w 4828540"/>
                <a:gd name="T109" fmla="*/ 1156 h 165100"/>
                <a:gd name="T110" fmla="*/ 480104 w 4828540"/>
                <a:gd name="T111" fmla="*/ 312 h 165100"/>
                <a:gd name="T112" fmla="*/ 478060 w 4828540"/>
                <a:gd name="T113" fmla="*/ 0 h 16510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4828540" h="165100">
                  <a:moveTo>
                    <a:pt x="4775200" y="0"/>
                  </a:moveTo>
                  <a:lnTo>
                    <a:pt x="4756110" y="2516"/>
                  </a:lnTo>
                  <a:lnTo>
                    <a:pt x="4740497" y="9474"/>
                  </a:lnTo>
                  <a:lnTo>
                    <a:pt x="4729408" y="19984"/>
                  </a:lnTo>
                  <a:lnTo>
                    <a:pt x="4723891" y="33159"/>
                  </a:lnTo>
                  <a:lnTo>
                    <a:pt x="3811698" y="33159"/>
                  </a:lnTo>
                  <a:lnTo>
                    <a:pt x="3343275" y="33159"/>
                  </a:lnTo>
                  <a:lnTo>
                    <a:pt x="3170697" y="33159"/>
                  </a:lnTo>
                  <a:lnTo>
                    <a:pt x="3146044" y="33159"/>
                  </a:lnTo>
                  <a:lnTo>
                    <a:pt x="3088628" y="84496"/>
                  </a:lnTo>
                  <a:lnTo>
                    <a:pt x="3059144" y="110858"/>
                  </a:lnTo>
                  <a:lnTo>
                    <a:pt x="3048281" y="120570"/>
                  </a:lnTo>
                  <a:lnTo>
                    <a:pt x="3046729" y="121958"/>
                  </a:lnTo>
                  <a:lnTo>
                    <a:pt x="1345545" y="121958"/>
                  </a:lnTo>
                  <a:lnTo>
                    <a:pt x="471963" y="121958"/>
                  </a:lnTo>
                  <a:lnTo>
                    <a:pt x="150117" y="121958"/>
                  </a:lnTo>
                  <a:lnTo>
                    <a:pt x="104139" y="121958"/>
                  </a:lnTo>
                  <a:lnTo>
                    <a:pt x="98367" y="108605"/>
                  </a:lnTo>
                  <a:lnTo>
                    <a:pt x="86725" y="97693"/>
                  </a:lnTo>
                  <a:lnTo>
                    <a:pt x="70582" y="90330"/>
                  </a:lnTo>
                  <a:lnTo>
                    <a:pt x="51307" y="87629"/>
                  </a:lnTo>
                  <a:lnTo>
                    <a:pt x="31128" y="90737"/>
                  </a:lnTo>
                  <a:lnTo>
                    <a:pt x="14843" y="99171"/>
                  </a:lnTo>
                  <a:lnTo>
                    <a:pt x="3962" y="111600"/>
                  </a:lnTo>
                  <a:lnTo>
                    <a:pt x="0" y="126695"/>
                  </a:lnTo>
                  <a:lnTo>
                    <a:pt x="3962" y="141612"/>
                  </a:lnTo>
                  <a:lnTo>
                    <a:pt x="14843" y="153639"/>
                  </a:lnTo>
                  <a:lnTo>
                    <a:pt x="31128" y="161669"/>
                  </a:lnTo>
                  <a:lnTo>
                    <a:pt x="51307" y="164591"/>
                  </a:lnTo>
                  <a:lnTo>
                    <a:pt x="70582" y="162075"/>
                  </a:lnTo>
                  <a:lnTo>
                    <a:pt x="86725" y="155117"/>
                  </a:lnTo>
                  <a:lnTo>
                    <a:pt x="98367" y="144607"/>
                  </a:lnTo>
                  <a:lnTo>
                    <a:pt x="104139" y="131432"/>
                  </a:lnTo>
                  <a:lnTo>
                    <a:pt x="1809069" y="131432"/>
                  </a:lnTo>
                  <a:lnTo>
                    <a:pt x="2684573" y="131432"/>
                  </a:lnTo>
                  <a:lnTo>
                    <a:pt x="3007127" y="131432"/>
                  </a:lnTo>
                  <a:lnTo>
                    <a:pt x="3053206" y="131432"/>
                  </a:lnTo>
                  <a:lnTo>
                    <a:pt x="3110622" y="80778"/>
                  </a:lnTo>
                  <a:lnTo>
                    <a:pt x="3140106" y="54767"/>
                  </a:lnTo>
                  <a:lnTo>
                    <a:pt x="3150969" y="45184"/>
                  </a:lnTo>
                  <a:lnTo>
                    <a:pt x="3152521" y="43814"/>
                  </a:lnTo>
                  <a:lnTo>
                    <a:pt x="4060969" y="43814"/>
                  </a:lnTo>
                  <a:lnTo>
                    <a:pt x="4527470" y="43814"/>
                  </a:lnTo>
                  <a:lnTo>
                    <a:pt x="4699339" y="43814"/>
                  </a:lnTo>
                  <a:lnTo>
                    <a:pt x="4723891" y="43814"/>
                  </a:lnTo>
                  <a:lnTo>
                    <a:pt x="4729408" y="56988"/>
                  </a:lnTo>
                  <a:lnTo>
                    <a:pt x="4740497" y="67494"/>
                  </a:lnTo>
                  <a:lnTo>
                    <a:pt x="4756110" y="74447"/>
                  </a:lnTo>
                  <a:lnTo>
                    <a:pt x="4775200" y="76961"/>
                  </a:lnTo>
                  <a:lnTo>
                    <a:pt x="4795617" y="74039"/>
                  </a:lnTo>
                  <a:lnTo>
                    <a:pt x="4812426" y="66011"/>
                  </a:lnTo>
                  <a:lnTo>
                    <a:pt x="4823831" y="53987"/>
                  </a:lnTo>
                  <a:lnTo>
                    <a:pt x="4828032" y="39077"/>
                  </a:lnTo>
                  <a:lnTo>
                    <a:pt x="4823831" y="23981"/>
                  </a:lnTo>
                  <a:lnTo>
                    <a:pt x="4812426" y="11547"/>
                  </a:lnTo>
                  <a:lnTo>
                    <a:pt x="4795617" y="3109"/>
                  </a:lnTo>
                  <a:lnTo>
                    <a:pt x="477520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69" name="object 87"/>
            <p:cNvSpPr/>
            <p:nvPr/>
          </p:nvSpPr>
          <p:spPr bwMode="auto">
            <a:xfrm>
              <a:off x="4988528" y="5855007"/>
              <a:ext cx="57626" cy="42862"/>
            </a:xfrm>
            <a:custGeom>
              <a:avLst/>
              <a:gdLst>
                <a:gd name="T0" fmla="*/ 3853 w 76834"/>
                <a:gd name="T1" fmla="*/ 5689 h 57150"/>
                <a:gd name="T2" fmla="*/ 2371 w 76834"/>
                <a:gd name="T3" fmla="*/ 5461 h 57150"/>
                <a:gd name="T4" fmla="*/ 1145 w 76834"/>
                <a:gd name="T5" fmla="*/ 4844 h 57150"/>
                <a:gd name="T6" fmla="*/ 309 w 76834"/>
                <a:gd name="T7" fmla="*/ 3938 h 57150"/>
                <a:gd name="T8" fmla="*/ 0 w 76834"/>
                <a:gd name="T9" fmla="*/ 2844 h 57150"/>
                <a:gd name="T10" fmla="*/ 309 w 76834"/>
                <a:gd name="T11" fmla="*/ 1749 h 57150"/>
                <a:gd name="T12" fmla="*/ 1145 w 76834"/>
                <a:gd name="T13" fmla="*/ 844 h 57150"/>
                <a:gd name="T14" fmla="*/ 2371 w 76834"/>
                <a:gd name="T15" fmla="*/ 227 h 57150"/>
                <a:gd name="T16" fmla="*/ 3853 w 76834"/>
                <a:gd name="T17" fmla="*/ 0 h 57150"/>
                <a:gd name="T18" fmla="*/ 5397 w 76834"/>
                <a:gd name="T19" fmla="*/ 227 h 57150"/>
                <a:gd name="T20" fmla="*/ 6612 w 76834"/>
                <a:gd name="T21" fmla="*/ 844 h 57150"/>
                <a:gd name="T22" fmla="*/ 7408 w 76834"/>
                <a:gd name="T23" fmla="*/ 1749 h 57150"/>
                <a:gd name="T24" fmla="*/ 7692 w 76834"/>
                <a:gd name="T25" fmla="*/ 2844 h 57150"/>
                <a:gd name="T26" fmla="*/ 7408 w 76834"/>
                <a:gd name="T27" fmla="*/ 3938 h 57150"/>
                <a:gd name="T28" fmla="*/ 6612 w 76834"/>
                <a:gd name="T29" fmla="*/ 4844 h 57150"/>
                <a:gd name="T30" fmla="*/ 5397 w 76834"/>
                <a:gd name="T31" fmla="*/ 5461 h 57150"/>
                <a:gd name="T32" fmla="*/ 3853 w 76834"/>
                <a:gd name="T33" fmla="*/ 5689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480" y="56832"/>
                  </a:moveTo>
                  <a:lnTo>
                    <a:pt x="23681" y="54556"/>
                  </a:lnTo>
                  <a:lnTo>
                    <a:pt x="11429" y="48393"/>
                  </a:lnTo>
                  <a:lnTo>
                    <a:pt x="3083" y="39344"/>
                  </a:lnTo>
                  <a:lnTo>
                    <a:pt x="0" y="28409"/>
                  </a:lnTo>
                  <a:lnTo>
                    <a:pt x="3083" y="17477"/>
                  </a:lnTo>
                  <a:lnTo>
                    <a:pt x="11429" y="8432"/>
                  </a:lnTo>
                  <a:lnTo>
                    <a:pt x="23681" y="2274"/>
                  </a:lnTo>
                  <a:lnTo>
                    <a:pt x="38480" y="0"/>
                  </a:lnTo>
                  <a:lnTo>
                    <a:pt x="53903" y="2274"/>
                  </a:lnTo>
                  <a:lnTo>
                    <a:pt x="66039" y="8432"/>
                  </a:lnTo>
                  <a:lnTo>
                    <a:pt x="73985" y="17477"/>
                  </a:lnTo>
                  <a:lnTo>
                    <a:pt x="76834" y="28409"/>
                  </a:lnTo>
                  <a:lnTo>
                    <a:pt x="73985" y="39344"/>
                  </a:lnTo>
                  <a:lnTo>
                    <a:pt x="66039" y="48393"/>
                  </a:lnTo>
                  <a:lnTo>
                    <a:pt x="53903" y="54556"/>
                  </a:lnTo>
                  <a:lnTo>
                    <a:pt x="38480" y="5683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70" name="object 88"/>
            <p:cNvSpPr/>
            <p:nvPr/>
          </p:nvSpPr>
          <p:spPr bwMode="auto">
            <a:xfrm>
              <a:off x="8531448" y="5789286"/>
              <a:ext cx="57626" cy="42862"/>
            </a:xfrm>
            <a:custGeom>
              <a:avLst/>
              <a:gdLst>
                <a:gd name="T0" fmla="*/ 3853 w 76834"/>
                <a:gd name="T1" fmla="*/ 5689 h 57150"/>
                <a:gd name="T2" fmla="*/ 2371 w 76834"/>
                <a:gd name="T3" fmla="*/ 5461 h 57150"/>
                <a:gd name="T4" fmla="*/ 1145 w 76834"/>
                <a:gd name="T5" fmla="*/ 4845 h 57150"/>
                <a:gd name="T6" fmla="*/ 309 w 76834"/>
                <a:gd name="T7" fmla="*/ 3940 h 57150"/>
                <a:gd name="T8" fmla="*/ 0 w 76834"/>
                <a:gd name="T9" fmla="*/ 2845 h 57150"/>
                <a:gd name="T10" fmla="*/ 309 w 76834"/>
                <a:gd name="T11" fmla="*/ 1699 h 57150"/>
                <a:gd name="T12" fmla="*/ 1145 w 76834"/>
                <a:gd name="T13" fmla="*/ 799 h 57150"/>
                <a:gd name="T14" fmla="*/ 2371 w 76834"/>
                <a:gd name="T15" fmla="*/ 211 h 57150"/>
                <a:gd name="T16" fmla="*/ 3853 w 76834"/>
                <a:gd name="T17" fmla="*/ 0 h 57150"/>
                <a:gd name="T18" fmla="*/ 5332 w 76834"/>
                <a:gd name="T19" fmla="*/ 211 h 57150"/>
                <a:gd name="T20" fmla="*/ 6554 w 76834"/>
                <a:gd name="T21" fmla="*/ 799 h 57150"/>
                <a:gd name="T22" fmla="*/ 7386 w 76834"/>
                <a:gd name="T23" fmla="*/ 1699 h 57150"/>
                <a:gd name="T24" fmla="*/ 7692 w 76834"/>
                <a:gd name="T25" fmla="*/ 2845 h 57150"/>
                <a:gd name="T26" fmla="*/ 7386 w 76834"/>
                <a:gd name="T27" fmla="*/ 3940 h 57150"/>
                <a:gd name="T28" fmla="*/ 6554 w 76834"/>
                <a:gd name="T29" fmla="*/ 4845 h 57150"/>
                <a:gd name="T30" fmla="*/ 5332 w 76834"/>
                <a:gd name="T31" fmla="*/ 5461 h 57150"/>
                <a:gd name="T32" fmla="*/ 3853 w 76834"/>
                <a:gd name="T33" fmla="*/ 5689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480" y="56832"/>
                  </a:moveTo>
                  <a:lnTo>
                    <a:pt x="23681" y="54558"/>
                  </a:lnTo>
                  <a:lnTo>
                    <a:pt x="11429" y="48399"/>
                  </a:lnTo>
                  <a:lnTo>
                    <a:pt x="3083" y="39355"/>
                  </a:lnTo>
                  <a:lnTo>
                    <a:pt x="0" y="28422"/>
                  </a:lnTo>
                  <a:lnTo>
                    <a:pt x="3083" y="16984"/>
                  </a:lnTo>
                  <a:lnTo>
                    <a:pt x="11429" y="7991"/>
                  </a:lnTo>
                  <a:lnTo>
                    <a:pt x="23681" y="2108"/>
                  </a:lnTo>
                  <a:lnTo>
                    <a:pt x="38480" y="0"/>
                  </a:lnTo>
                  <a:lnTo>
                    <a:pt x="53260" y="2108"/>
                  </a:lnTo>
                  <a:lnTo>
                    <a:pt x="65468" y="7991"/>
                  </a:lnTo>
                  <a:lnTo>
                    <a:pt x="73771" y="16984"/>
                  </a:lnTo>
                  <a:lnTo>
                    <a:pt x="76834" y="28422"/>
                  </a:lnTo>
                  <a:lnTo>
                    <a:pt x="73771" y="39355"/>
                  </a:lnTo>
                  <a:lnTo>
                    <a:pt x="65468" y="48399"/>
                  </a:lnTo>
                  <a:lnTo>
                    <a:pt x="53260" y="54558"/>
                  </a:lnTo>
                  <a:lnTo>
                    <a:pt x="38480" y="5683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71" name="object 89"/>
            <p:cNvSpPr/>
            <p:nvPr/>
          </p:nvSpPr>
          <p:spPr bwMode="auto">
            <a:xfrm>
              <a:off x="4367403" y="4823459"/>
              <a:ext cx="341947" cy="368142"/>
            </a:xfrm>
            <a:custGeom>
              <a:avLst/>
              <a:gdLst>
                <a:gd name="T0" fmla="*/ 4502 w 455929"/>
                <a:gd name="T1" fmla="*/ 41435 h 490854"/>
                <a:gd name="T2" fmla="*/ 1288 w 455929"/>
                <a:gd name="T3" fmla="*/ 42707 h 490854"/>
                <a:gd name="T4" fmla="*/ 0 w 455929"/>
                <a:gd name="T5" fmla="*/ 45222 h 490854"/>
                <a:gd name="T6" fmla="*/ 1487 w 455929"/>
                <a:gd name="T7" fmla="*/ 47975 h 490854"/>
                <a:gd name="T8" fmla="*/ 5137 w 455929"/>
                <a:gd name="T9" fmla="*/ 49130 h 490854"/>
                <a:gd name="T10" fmla="*/ 8697 w 455929"/>
                <a:gd name="T11" fmla="*/ 48064 h 490854"/>
                <a:gd name="T12" fmla="*/ 3656 w 455929"/>
                <a:gd name="T13" fmla="*/ 47837 h 490854"/>
                <a:gd name="T14" fmla="*/ 1593 w 455929"/>
                <a:gd name="T15" fmla="*/ 46316 h 490854"/>
                <a:gd name="T16" fmla="*/ 1593 w 455929"/>
                <a:gd name="T17" fmla="*/ 44129 h 490854"/>
                <a:gd name="T18" fmla="*/ 3656 w 455929"/>
                <a:gd name="T19" fmla="*/ 42610 h 490854"/>
                <a:gd name="T20" fmla="*/ 8507 w 455929"/>
                <a:gd name="T21" fmla="*/ 42382 h 490854"/>
                <a:gd name="T22" fmla="*/ 5786 w 455929"/>
                <a:gd name="T23" fmla="*/ 41435 h 490854"/>
                <a:gd name="T24" fmla="*/ 8083 w 455929"/>
                <a:gd name="T25" fmla="*/ 2722 h 490854"/>
                <a:gd name="T26" fmla="*/ 8083 w 455929"/>
                <a:gd name="T27" fmla="*/ 2722 h 490854"/>
                <a:gd name="T28" fmla="*/ 39682 w 455929"/>
                <a:gd name="T29" fmla="*/ 28061 h 490854"/>
                <a:gd name="T30" fmla="*/ 37889 w 455929"/>
                <a:gd name="T31" fmla="*/ 41861 h 490854"/>
                <a:gd name="T32" fmla="*/ 35522 w 455929"/>
                <a:gd name="T33" fmla="*/ 43865 h 490854"/>
                <a:gd name="T34" fmla="*/ 35578 w 455929"/>
                <a:gd name="T35" fmla="*/ 46733 h 490854"/>
                <a:gd name="T36" fmla="*/ 38297 w 455929"/>
                <a:gd name="T37" fmla="*/ 48818 h 490854"/>
                <a:gd name="T38" fmla="*/ 42364 w 455929"/>
                <a:gd name="T39" fmla="*/ 48818 h 490854"/>
                <a:gd name="T40" fmla="*/ 40317 w 455929"/>
                <a:gd name="T41" fmla="*/ 48064 h 490854"/>
                <a:gd name="T42" fmla="*/ 37609 w 455929"/>
                <a:gd name="T43" fmla="*/ 47221 h 490854"/>
                <a:gd name="T44" fmla="*/ 36465 w 455929"/>
                <a:gd name="T45" fmla="*/ 45222 h 490854"/>
                <a:gd name="T46" fmla="*/ 37610 w 455929"/>
                <a:gd name="T47" fmla="*/ 43226 h 490854"/>
                <a:gd name="T48" fmla="*/ 40317 w 455929"/>
                <a:gd name="T49" fmla="*/ 42382 h 490854"/>
                <a:gd name="T50" fmla="*/ 42776 w 455929"/>
                <a:gd name="T51" fmla="*/ 41861 h 490854"/>
                <a:gd name="T52" fmla="*/ 40966 w 455929"/>
                <a:gd name="T53" fmla="*/ 27705 h 490854"/>
                <a:gd name="T54" fmla="*/ 8507 w 455929"/>
                <a:gd name="T55" fmla="*/ 42382 h 490854"/>
                <a:gd name="T56" fmla="*/ 6624 w 455929"/>
                <a:gd name="T57" fmla="*/ 42610 h 490854"/>
                <a:gd name="T58" fmla="*/ 8682 w 455929"/>
                <a:gd name="T59" fmla="*/ 44129 h 490854"/>
                <a:gd name="T60" fmla="*/ 8682 w 455929"/>
                <a:gd name="T61" fmla="*/ 46316 h 490854"/>
                <a:gd name="T62" fmla="*/ 6624 w 455929"/>
                <a:gd name="T63" fmla="*/ 47837 h 490854"/>
                <a:gd name="T64" fmla="*/ 8697 w 455929"/>
                <a:gd name="T65" fmla="*/ 48064 h 490854"/>
                <a:gd name="T66" fmla="*/ 10019 w 455929"/>
                <a:gd name="T67" fmla="*/ 46733 h 490854"/>
                <a:gd name="T68" fmla="*/ 10073 w 455929"/>
                <a:gd name="T69" fmla="*/ 43865 h 490854"/>
                <a:gd name="T70" fmla="*/ 8507 w 455929"/>
                <a:gd name="T71" fmla="*/ 42382 h 490854"/>
                <a:gd name="T72" fmla="*/ 40317 w 455929"/>
                <a:gd name="T73" fmla="*/ 42382 h 490854"/>
                <a:gd name="T74" fmla="*/ 43026 w 455929"/>
                <a:gd name="T75" fmla="*/ 43226 h 490854"/>
                <a:gd name="T76" fmla="*/ 44170 w 455929"/>
                <a:gd name="T77" fmla="*/ 45222 h 490854"/>
                <a:gd name="T78" fmla="*/ 43026 w 455929"/>
                <a:gd name="T79" fmla="*/ 47221 h 490854"/>
                <a:gd name="T80" fmla="*/ 40317 w 455929"/>
                <a:gd name="T81" fmla="*/ 48064 h 490854"/>
                <a:gd name="T82" fmla="*/ 44051 w 455929"/>
                <a:gd name="T83" fmla="*/ 47975 h 490854"/>
                <a:gd name="T84" fmla="*/ 45620 w 455929"/>
                <a:gd name="T85" fmla="*/ 45222 h 490854"/>
                <a:gd name="T86" fmla="*/ 44256 w 455929"/>
                <a:gd name="T87" fmla="*/ 42707 h 4908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929" h="490854">
                  <a:moveTo>
                    <a:pt x="44958" y="0"/>
                  </a:moveTo>
                  <a:lnTo>
                    <a:pt x="44958" y="413867"/>
                  </a:lnTo>
                  <a:lnTo>
                    <a:pt x="27110" y="418116"/>
                  </a:lnTo>
                  <a:lnTo>
                    <a:pt x="12858" y="426578"/>
                  </a:lnTo>
                  <a:lnTo>
                    <a:pt x="3417" y="438143"/>
                  </a:lnTo>
                  <a:lnTo>
                    <a:pt x="0" y="451700"/>
                  </a:lnTo>
                  <a:lnTo>
                    <a:pt x="3962" y="466778"/>
                  </a:lnTo>
                  <a:lnTo>
                    <a:pt x="14843" y="479196"/>
                  </a:lnTo>
                  <a:lnTo>
                    <a:pt x="31128" y="487623"/>
                  </a:lnTo>
                  <a:lnTo>
                    <a:pt x="51308" y="490728"/>
                  </a:lnTo>
                  <a:lnTo>
                    <a:pt x="71798" y="487623"/>
                  </a:lnTo>
                  <a:lnTo>
                    <a:pt x="86868" y="480085"/>
                  </a:lnTo>
                  <a:lnTo>
                    <a:pt x="51308" y="480085"/>
                  </a:lnTo>
                  <a:lnTo>
                    <a:pt x="36508" y="477813"/>
                  </a:lnTo>
                  <a:lnTo>
                    <a:pt x="24257" y="471660"/>
                  </a:lnTo>
                  <a:lnTo>
                    <a:pt x="15910" y="462624"/>
                  </a:lnTo>
                  <a:lnTo>
                    <a:pt x="12826" y="451700"/>
                  </a:lnTo>
                  <a:lnTo>
                    <a:pt x="15910" y="440784"/>
                  </a:lnTo>
                  <a:lnTo>
                    <a:pt x="24257" y="431752"/>
                  </a:lnTo>
                  <a:lnTo>
                    <a:pt x="36508" y="425601"/>
                  </a:lnTo>
                  <a:lnTo>
                    <a:pt x="51308" y="423329"/>
                  </a:lnTo>
                  <a:lnTo>
                    <a:pt x="84972" y="423329"/>
                  </a:lnTo>
                  <a:lnTo>
                    <a:pt x="75870" y="418116"/>
                  </a:lnTo>
                  <a:lnTo>
                    <a:pt x="57785" y="413867"/>
                  </a:lnTo>
                  <a:lnTo>
                    <a:pt x="57785" y="27178"/>
                  </a:lnTo>
                  <a:lnTo>
                    <a:pt x="80729" y="27178"/>
                  </a:lnTo>
                  <a:lnTo>
                    <a:pt x="44958" y="0"/>
                  </a:lnTo>
                  <a:close/>
                </a:path>
                <a:path w="455929" h="490854">
                  <a:moveTo>
                    <a:pt x="80729" y="27178"/>
                  </a:moveTo>
                  <a:lnTo>
                    <a:pt x="57785" y="27178"/>
                  </a:lnTo>
                  <a:lnTo>
                    <a:pt x="396367" y="280289"/>
                  </a:lnTo>
                  <a:lnTo>
                    <a:pt x="396367" y="413867"/>
                  </a:lnTo>
                  <a:lnTo>
                    <a:pt x="378465" y="418116"/>
                  </a:lnTo>
                  <a:lnTo>
                    <a:pt x="364220" y="426578"/>
                  </a:lnTo>
                  <a:lnTo>
                    <a:pt x="354808" y="438143"/>
                  </a:lnTo>
                  <a:lnTo>
                    <a:pt x="351409" y="451700"/>
                  </a:lnTo>
                  <a:lnTo>
                    <a:pt x="355371" y="466778"/>
                  </a:lnTo>
                  <a:lnTo>
                    <a:pt x="366252" y="479196"/>
                  </a:lnTo>
                  <a:lnTo>
                    <a:pt x="382537" y="487623"/>
                  </a:lnTo>
                  <a:lnTo>
                    <a:pt x="402717" y="490728"/>
                  </a:lnTo>
                  <a:lnTo>
                    <a:pt x="423154" y="487623"/>
                  </a:lnTo>
                  <a:lnTo>
                    <a:pt x="438229" y="480085"/>
                  </a:lnTo>
                  <a:lnTo>
                    <a:pt x="402717" y="480085"/>
                  </a:lnTo>
                  <a:lnTo>
                    <a:pt x="387917" y="477813"/>
                  </a:lnTo>
                  <a:lnTo>
                    <a:pt x="375665" y="471660"/>
                  </a:lnTo>
                  <a:lnTo>
                    <a:pt x="367319" y="462624"/>
                  </a:lnTo>
                  <a:lnTo>
                    <a:pt x="364236" y="451700"/>
                  </a:lnTo>
                  <a:lnTo>
                    <a:pt x="367319" y="440784"/>
                  </a:lnTo>
                  <a:lnTo>
                    <a:pt x="375666" y="431752"/>
                  </a:lnTo>
                  <a:lnTo>
                    <a:pt x="387917" y="425601"/>
                  </a:lnTo>
                  <a:lnTo>
                    <a:pt x="402717" y="423329"/>
                  </a:lnTo>
                  <a:lnTo>
                    <a:pt x="436381" y="423329"/>
                  </a:lnTo>
                  <a:lnTo>
                    <a:pt x="427279" y="418116"/>
                  </a:lnTo>
                  <a:lnTo>
                    <a:pt x="409194" y="413867"/>
                  </a:lnTo>
                  <a:lnTo>
                    <a:pt x="409194" y="276733"/>
                  </a:lnTo>
                  <a:lnTo>
                    <a:pt x="80729" y="27178"/>
                  </a:lnTo>
                  <a:close/>
                </a:path>
                <a:path w="455929" h="490854">
                  <a:moveTo>
                    <a:pt x="84972" y="423329"/>
                  </a:moveTo>
                  <a:lnTo>
                    <a:pt x="51308" y="423329"/>
                  </a:lnTo>
                  <a:lnTo>
                    <a:pt x="66161" y="425601"/>
                  </a:lnTo>
                  <a:lnTo>
                    <a:pt x="78406" y="431752"/>
                  </a:lnTo>
                  <a:lnTo>
                    <a:pt x="86723" y="440784"/>
                  </a:lnTo>
                  <a:lnTo>
                    <a:pt x="89788" y="451700"/>
                  </a:lnTo>
                  <a:lnTo>
                    <a:pt x="86723" y="462624"/>
                  </a:lnTo>
                  <a:lnTo>
                    <a:pt x="78406" y="471660"/>
                  </a:lnTo>
                  <a:lnTo>
                    <a:pt x="66161" y="477813"/>
                  </a:lnTo>
                  <a:lnTo>
                    <a:pt x="51308" y="480085"/>
                  </a:lnTo>
                  <a:lnTo>
                    <a:pt x="86868" y="480085"/>
                  </a:lnTo>
                  <a:lnTo>
                    <a:pt x="88646" y="479196"/>
                  </a:lnTo>
                  <a:lnTo>
                    <a:pt x="100064" y="466778"/>
                  </a:lnTo>
                  <a:lnTo>
                    <a:pt x="104267" y="451700"/>
                  </a:lnTo>
                  <a:lnTo>
                    <a:pt x="100611" y="438143"/>
                  </a:lnTo>
                  <a:lnTo>
                    <a:pt x="90646" y="426578"/>
                  </a:lnTo>
                  <a:lnTo>
                    <a:pt x="84972" y="423329"/>
                  </a:lnTo>
                  <a:close/>
                </a:path>
                <a:path w="455929" h="490854">
                  <a:moveTo>
                    <a:pt x="436381" y="423329"/>
                  </a:moveTo>
                  <a:lnTo>
                    <a:pt x="402717" y="423329"/>
                  </a:lnTo>
                  <a:lnTo>
                    <a:pt x="417516" y="425601"/>
                  </a:lnTo>
                  <a:lnTo>
                    <a:pt x="429767" y="431752"/>
                  </a:lnTo>
                  <a:lnTo>
                    <a:pt x="438114" y="440784"/>
                  </a:lnTo>
                  <a:lnTo>
                    <a:pt x="441198" y="451700"/>
                  </a:lnTo>
                  <a:lnTo>
                    <a:pt x="438114" y="462624"/>
                  </a:lnTo>
                  <a:lnTo>
                    <a:pt x="429767" y="471660"/>
                  </a:lnTo>
                  <a:lnTo>
                    <a:pt x="417516" y="477813"/>
                  </a:lnTo>
                  <a:lnTo>
                    <a:pt x="402717" y="480085"/>
                  </a:lnTo>
                  <a:lnTo>
                    <a:pt x="438229" y="480085"/>
                  </a:lnTo>
                  <a:lnTo>
                    <a:pt x="440007" y="479196"/>
                  </a:lnTo>
                  <a:lnTo>
                    <a:pt x="451455" y="466778"/>
                  </a:lnTo>
                  <a:lnTo>
                    <a:pt x="455675" y="451700"/>
                  </a:lnTo>
                  <a:lnTo>
                    <a:pt x="452020" y="438143"/>
                  </a:lnTo>
                  <a:lnTo>
                    <a:pt x="442055" y="426578"/>
                  </a:lnTo>
                  <a:lnTo>
                    <a:pt x="436381" y="423329"/>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72" name="object 90"/>
            <p:cNvSpPr/>
            <p:nvPr/>
          </p:nvSpPr>
          <p:spPr bwMode="auto">
            <a:xfrm>
              <a:off x="4367403" y="4823459"/>
              <a:ext cx="341947" cy="368142"/>
            </a:xfrm>
            <a:custGeom>
              <a:avLst/>
              <a:gdLst>
                <a:gd name="T0" fmla="*/ 5137 w 455929"/>
                <a:gd name="T1" fmla="*/ 49130 h 490854"/>
                <a:gd name="T2" fmla="*/ 7188 w 455929"/>
                <a:gd name="T3" fmla="*/ 48818 h 490854"/>
                <a:gd name="T4" fmla="*/ 8876 w 455929"/>
                <a:gd name="T5" fmla="*/ 47975 h 490854"/>
                <a:gd name="T6" fmla="*/ 10019 w 455929"/>
                <a:gd name="T7" fmla="*/ 46733 h 490854"/>
                <a:gd name="T8" fmla="*/ 10439 w 455929"/>
                <a:gd name="T9" fmla="*/ 45222 h 490854"/>
                <a:gd name="T10" fmla="*/ 10073 w 455929"/>
                <a:gd name="T11" fmla="*/ 43865 h 490854"/>
                <a:gd name="T12" fmla="*/ 9076 w 455929"/>
                <a:gd name="T13" fmla="*/ 42707 h 490854"/>
                <a:gd name="T14" fmla="*/ 7596 w 455929"/>
                <a:gd name="T15" fmla="*/ 41861 h 490854"/>
                <a:gd name="T16" fmla="*/ 5786 w 455929"/>
                <a:gd name="T17" fmla="*/ 41435 h 490854"/>
                <a:gd name="T18" fmla="*/ 5786 w 455929"/>
                <a:gd name="T19" fmla="*/ 19053 h 490854"/>
                <a:gd name="T20" fmla="*/ 5786 w 455929"/>
                <a:gd name="T21" fmla="*/ 7561 h 490854"/>
                <a:gd name="T22" fmla="*/ 5786 w 455929"/>
                <a:gd name="T23" fmla="*/ 3326 h 490854"/>
                <a:gd name="T24" fmla="*/ 5786 w 455929"/>
                <a:gd name="T25" fmla="*/ 2722 h 490854"/>
                <a:gd name="T26" fmla="*/ 25382 w 455929"/>
                <a:gd name="T27" fmla="*/ 17371 h 490854"/>
                <a:gd name="T28" fmla="*/ 35445 w 455929"/>
                <a:gd name="T29" fmla="*/ 24893 h 490854"/>
                <a:gd name="T30" fmla="*/ 39152 w 455929"/>
                <a:gd name="T31" fmla="*/ 27665 h 490854"/>
                <a:gd name="T32" fmla="*/ 39682 w 455929"/>
                <a:gd name="T33" fmla="*/ 28061 h 490854"/>
                <a:gd name="T34" fmla="*/ 39682 w 455929"/>
                <a:gd name="T35" fmla="*/ 35793 h 490854"/>
                <a:gd name="T36" fmla="*/ 39682 w 455929"/>
                <a:gd name="T37" fmla="*/ 39763 h 490854"/>
                <a:gd name="T38" fmla="*/ 39682 w 455929"/>
                <a:gd name="T39" fmla="*/ 41226 h 490854"/>
                <a:gd name="T40" fmla="*/ 39682 w 455929"/>
                <a:gd name="T41" fmla="*/ 41435 h 490854"/>
                <a:gd name="T42" fmla="*/ 37889 w 455929"/>
                <a:gd name="T43" fmla="*/ 41861 h 490854"/>
                <a:gd name="T44" fmla="*/ 36464 w 455929"/>
                <a:gd name="T45" fmla="*/ 42707 h 490854"/>
                <a:gd name="T46" fmla="*/ 35522 w 455929"/>
                <a:gd name="T47" fmla="*/ 43865 h 490854"/>
                <a:gd name="T48" fmla="*/ 35180 w 455929"/>
                <a:gd name="T49" fmla="*/ 45222 h 490854"/>
                <a:gd name="T50" fmla="*/ 35578 w 455929"/>
                <a:gd name="T51" fmla="*/ 46733 h 490854"/>
                <a:gd name="T52" fmla="*/ 36668 w 455929"/>
                <a:gd name="T53" fmla="*/ 47975 h 490854"/>
                <a:gd name="T54" fmla="*/ 38297 w 455929"/>
                <a:gd name="T55" fmla="*/ 48818 h 490854"/>
                <a:gd name="T56" fmla="*/ 40317 w 455929"/>
                <a:gd name="T57" fmla="*/ 49130 h 490854"/>
                <a:gd name="T58" fmla="*/ 42364 w 455929"/>
                <a:gd name="T59" fmla="*/ 48818 h 490854"/>
                <a:gd name="T60" fmla="*/ 44051 w 455929"/>
                <a:gd name="T61" fmla="*/ 47975 h 490854"/>
                <a:gd name="T62" fmla="*/ 45197 w 455929"/>
                <a:gd name="T63" fmla="*/ 46733 h 490854"/>
                <a:gd name="T64" fmla="*/ 45620 w 455929"/>
                <a:gd name="T65" fmla="*/ 45222 h 490854"/>
                <a:gd name="T66" fmla="*/ 45254 w 455929"/>
                <a:gd name="T67" fmla="*/ 43865 h 490854"/>
                <a:gd name="T68" fmla="*/ 44256 w 455929"/>
                <a:gd name="T69" fmla="*/ 42707 h 490854"/>
                <a:gd name="T70" fmla="*/ 42776 w 455929"/>
                <a:gd name="T71" fmla="*/ 41861 h 490854"/>
                <a:gd name="T72" fmla="*/ 40966 w 455929"/>
                <a:gd name="T73" fmla="*/ 41435 h 490854"/>
                <a:gd name="T74" fmla="*/ 40966 w 455929"/>
                <a:gd name="T75" fmla="*/ 33497 h 490854"/>
                <a:gd name="T76" fmla="*/ 40966 w 455929"/>
                <a:gd name="T77" fmla="*/ 29421 h 490854"/>
                <a:gd name="T78" fmla="*/ 40966 w 455929"/>
                <a:gd name="T79" fmla="*/ 27920 h 490854"/>
                <a:gd name="T80" fmla="*/ 40966 w 455929"/>
                <a:gd name="T81" fmla="*/ 27705 h 490854"/>
                <a:gd name="T82" fmla="*/ 19885 w 455929"/>
                <a:gd name="T83" fmla="*/ 11688 h 490854"/>
                <a:gd name="T84" fmla="*/ 9059 w 455929"/>
                <a:gd name="T85" fmla="*/ 3464 h 490854"/>
                <a:gd name="T86" fmla="*/ 5071 w 455929"/>
                <a:gd name="T87" fmla="*/ 434 h 490854"/>
                <a:gd name="T88" fmla="*/ 4502 w 455929"/>
                <a:gd name="T89" fmla="*/ 0 h 490854"/>
                <a:gd name="T90" fmla="*/ 4502 w 455929"/>
                <a:gd name="T91" fmla="*/ 23954 h 490854"/>
                <a:gd name="T92" fmla="*/ 4502 w 455929"/>
                <a:gd name="T93" fmla="*/ 36256 h 490854"/>
                <a:gd name="T94" fmla="*/ 4502 w 455929"/>
                <a:gd name="T95" fmla="*/ 40787 h 490854"/>
                <a:gd name="T96" fmla="*/ 4502 w 455929"/>
                <a:gd name="T97" fmla="*/ 41435 h 490854"/>
                <a:gd name="T98" fmla="*/ 2715 w 455929"/>
                <a:gd name="T99" fmla="*/ 41861 h 490854"/>
                <a:gd name="T100" fmla="*/ 1288 w 455929"/>
                <a:gd name="T101" fmla="*/ 42707 h 490854"/>
                <a:gd name="T102" fmla="*/ 343 w 455929"/>
                <a:gd name="T103" fmla="*/ 43865 h 490854"/>
                <a:gd name="T104" fmla="*/ 0 w 455929"/>
                <a:gd name="T105" fmla="*/ 45222 h 490854"/>
                <a:gd name="T106" fmla="*/ 398 w 455929"/>
                <a:gd name="T107" fmla="*/ 46733 h 490854"/>
                <a:gd name="T108" fmla="*/ 1487 w 455929"/>
                <a:gd name="T109" fmla="*/ 47975 h 490854"/>
                <a:gd name="T110" fmla="*/ 3117 w 455929"/>
                <a:gd name="T111" fmla="*/ 48818 h 490854"/>
                <a:gd name="T112" fmla="*/ 5137 w 455929"/>
                <a:gd name="T113" fmla="*/ 49130 h 49085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455929" h="490854">
                  <a:moveTo>
                    <a:pt x="51308" y="490728"/>
                  </a:moveTo>
                  <a:lnTo>
                    <a:pt x="71798" y="487623"/>
                  </a:lnTo>
                  <a:lnTo>
                    <a:pt x="88646" y="479196"/>
                  </a:lnTo>
                  <a:lnTo>
                    <a:pt x="100064" y="466778"/>
                  </a:lnTo>
                  <a:lnTo>
                    <a:pt x="104267" y="451700"/>
                  </a:lnTo>
                  <a:lnTo>
                    <a:pt x="100611" y="438143"/>
                  </a:lnTo>
                  <a:lnTo>
                    <a:pt x="90646" y="426578"/>
                  </a:lnTo>
                  <a:lnTo>
                    <a:pt x="75870" y="418116"/>
                  </a:lnTo>
                  <a:lnTo>
                    <a:pt x="57785" y="413867"/>
                  </a:lnTo>
                  <a:lnTo>
                    <a:pt x="57785" y="190312"/>
                  </a:lnTo>
                  <a:lnTo>
                    <a:pt x="57785" y="75514"/>
                  </a:lnTo>
                  <a:lnTo>
                    <a:pt x="57785" y="33220"/>
                  </a:lnTo>
                  <a:lnTo>
                    <a:pt x="57785" y="27178"/>
                  </a:lnTo>
                  <a:lnTo>
                    <a:pt x="253527" y="173507"/>
                  </a:lnTo>
                  <a:lnTo>
                    <a:pt x="354044" y="248650"/>
                  </a:lnTo>
                  <a:lnTo>
                    <a:pt x="391076" y="276334"/>
                  </a:lnTo>
                  <a:lnTo>
                    <a:pt x="396367" y="280289"/>
                  </a:lnTo>
                  <a:lnTo>
                    <a:pt x="396367" y="357514"/>
                  </a:lnTo>
                  <a:lnTo>
                    <a:pt x="396367" y="397170"/>
                  </a:lnTo>
                  <a:lnTo>
                    <a:pt x="396367" y="411780"/>
                  </a:lnTo>
                  <a:lnTo>
                    <a:pt x="396367" y="413867"/>
                  </a:lnTo>
                  <a:lnTo>
                    <a:pt x="378465" y="418116"/>
                  </a:lnTo>
                  <a:lnTo>
                    <a:pt x="364220" y="426578"/>
                  </a:lnTo>
                  <a:lnTo>
                    <a:pt x="354808" y="438143"/>
                  </a:lnTo>
                  <a:lnTo>
                    <a:pt x="351409" y="451700"/>
                  </a:lnTo>
                  <a:lnTo>
                    <a:pt x="355371" y="466778"/>
                  </a:lnTo>
                  <a:lnTo>
                    <a:pt x="366252" y="479196"/>
                  </a:lnTo>
                  <a:lnTo>
                    <a:pt x="382537" y="487623"/>
                  </a:lnTo>
                  <a:lnTo>
                    <a:pt x="402717" y="490728"/>
                  </a:lnTo>
                  <a:lnTo>
                    <a:pt x="423154" y="487623"/>
                  </a:lnTo>
                  <a:lnTo>
                    <a:pt x="440007" y="479196"/>
                  </a:lnTo>
                  <a:lnTo>
                    <a:pt x="451455" y="466778"/>
                  </a:lnTo>
                  <a:lnTo>
                    <a:pt x="455675" y="451700"/>
                  </a:lnTo>
                  <a:lnTo>
                    <a:pt x="452020" y="438143"/>
                  </a:lnTo>
                  <a:lnTo>
                    <a:pt x="442055" y="426578"/>
                  </a:lnTo>
                  <a:lnTo>
                    <a:pt x="427279" y="418116"/>
                  </a:lnTo>
                  <a:lnTo>
                    <a:pt x="409194" y="413867"/>
                  </a:lnTo>
                  <a:lnTo>
                    <a:pt x="409194" y="334586"/>
                  </a:lnTo>
                  <a:lnTo>
                    <a:pt x="409194" y="293874"/>
                  </a:lnTo>
                  <a:lnTo>
                    <a:pt x="409194" y="278875"/>
                  </a:lnTo>
                  <a:lnTo>
                    <a:pt x="409194" y="276733"/>
                  </a:lnTo>
                  <a:lnTo>
                    <a:pt x="198620" y="116746"/>
                  </a:lnTo>
                  <a:lnTo>
                    <a:pt x="90487" y="34591"/>
                  </a:lnTo>
                  <a:lnTo>
                    <a:pt x="50649" y="4323"/>
                  </a:lnTo>
                  <a:lnTo>
                    <a:pt x="44958" y="0"/>
                  </a:lnTo>
                  <a:lnTo>
                    <a:pt x="44958" y="239267"/>
                  </a:lnTo>
                  <a:lnTo>
                    <a:pt x="44958" y="362134"/>
                  </a:lnTo>
                  <a:lnTo>
                    <a:pt x="44958" y="407400"/>
                  </a:lnTo>
                  <a:lnTo>
                    <a:pt x="44958" y="413867"/>
                  </a:lnTo>
                  <a:lnTo>
                    <a:pt x="27110" y="418116"/>
                  </a:lnTo>
                  <a:lnTo>
                    <a:pt x="12858" y="426578"/>
                  </a:lnTo>
                  <a:lnTo>
                    <a:pt x="3417" y="438143"/>
                  </a:lnTo>
                  <a:lnTo>
                    <a:pt x="0" y="451700"/>
                  </a:lnTo>
                  <a:lnTo>
                    <a:pt x="3962" y="466778"/>
                  </a:lnTo>
                  <a:lnTo>
                    <a:pt x="14843" y="479196"/>
                  </a:lnTo>
                  <a:lnTo>
                    <a:pt x="31128" y="487623"/>
                  </a:lnTo>
                  <a:lnTo>
                    <a:pt x="51308" y="490728"/>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73" name="object 91"/>
            <p:cNvSpPr/>
            <p:nvPr/>
          </p:nvSpPr>
          <p:spPr bwMode="auto">
            <a:xfrm>
              <a:off x="4640580" y="5140957"/>
              <a:ext cx="58102" cy="42862"/>
            </a:xfrm>
            <a:custGeom>
              <a:avLst/>
              <a:gdLst>
                <a:gd name="T0" fmla="*/ 7704 w 77470"/>
                <a:gd name="T1" fmla="*/ 2840 h 57150"/>
                <a:gd name="T2" fmla="*/ 7396 w 77470"/>
                <a:gd name="T3" fmla="*/ 3934 h 57150"/>
                <a:gd name="T4" fmla="*/ 6559 w 77470"/>
                <a:gd name="T5" fmla="*/ 4838 h 57150"/>
                <a:gd name="T6" fmla="*/ 5333 w 77470"/>
                <a:gd name="T7" fmla="*/ 5454 h 57150"/>
                <a:gd name="T8" fmla="*/ 3852 w 77470"/>
                <a:gd name="T9" fmla="*/ 5682 h 57150"/>
                <a:gd name="T10" fmla="*/ 2371 w 77470"/>
                <a:gd name="T11" fmla="*/ 5454 h 57150"/>
                <a:gd name="T12" fmla="*/ 1144 w 77470"/>
                <a:gd name="T13" fmla="*/ 4838 h 57150"/>
                <a:gd name="T14" fmla="*/ 308 w 77470"/>
                <a:gd name="T15" fmla="*/ 3934 h 57150"/>
                <a:gd name="T16" fmla="*/ 0 w 77470"/>
                <a:gd name="T17" fmla="*/ 2840 h 57150"/>
                <a:gd name="T18" fmla="*/ 308 w 77470"/>
                <a:gd name="T19" fmla="*/ 1747 h 57150"/>
                <a:gd name="T20" fmla="*/ 1144 w 77470"/>
                <a:gd name="T21" fmla="*/ 843 h 57150"/>
                <a:gd name="T22" fmla="*/ 2371 w 77470"/>
                <a:gd name="T23" fmla="*/ 226 h 57150"/>
                <a:gd name="T24" fmla="*/ 3852 w 77470"/>
                <a:gd name="T25" fmla="*/ 0 h 57150"/>
                <a:gd name="T26" fmla="*/ 5333 w 77470"/>
                <a:gd name="T27" fmla="*/ 226 h 57150"/>
                <a:gd name="T28" fmla="*/ 6559 w 77470"/>
                <a:gd name="T29" fmla="*/ 843 h 57150"/>
                <a:gd name="T30" fmla="*/ 7396 w 77470"/>
                <a:gd name="T31" fmla="*/ 1747 h 57150"/>
                <a:gd name="T32" fmla="*/ 7704 w 77470"/>
                <a:gd name="T33" fmla="*/ 284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7150">
                  <a:moveTo>
                    <a:pt x="76962" y="28371"/>
                  </a:moveTo>
                  <a:lnTo>
                    <a:pt x="73878" y="39295"/>
                  </a:lnTo>
                  <a:lnTo>
                    <a:pt x="65531" y="48331"/>
                  </a:lnTo>
                  <a:lnTo>
                    <a:pt x="53280" y="54483"/>
                  </a:lnTo>
                  <a:lnTo>
                    <a:pt x="38481" y="56756"/>
                  </a:lnTo>
                  <a:lnTo>
                    <a:pt x="23681" y="54483"/>
                  </a:lnTo>
                  <a:lnTo>
                    <a:pt x="11429" y="48331"/>
                  </a:lnTo>
                  <a:lnTo>
                    <a:pt x="3083" y="39295"/>
                  </a:lnTo>
                  <a:lnTo>
                    <a:pt x="0" y="28371"/>
                  </a:lnTo>
                  <a:lnTo>
                    <a:pt x="3083" y="17455"/>
                  </a:lnTo>
                  <a:lnTo>
                    <a:pt x="11430" y="8423"/>
                  </a:lnTo>
                  <a:lnTo>
                    <a:pt x="23681" y="2272"/>
                  </a:lnTo>
                  <a:lnTo>
                    <a:pt x="38481" y="0"/>
                  </a:lnTo>
                  <a:lnTo>
                    <a:pt x="53280" y="2272"/>
                  </a:lnTo>
                  <a:lnTo>
                    <a:pt x="65531" y="8423"/>
                  </a:lnTo>
                  <a:lnTo>
                    <a:pt x="73878" y="17455"/>
                  </a:lnTo>
                  <a:lnTo>
                    <a:pt x="76962" y="2837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74" name="object 92"/>
            <p:cNvSpPr/>
            <p:nvPr/>
          </p:nvSpPr>
          <p:spPr bwMode="auto">
            <a:xfrm>
              <a:off x="4377023" y="5140957"/>
              <a:ext cx="58102" cy="42862"/>
            </a:xfrm>
            <a:custGeom>
              <a:avLst/>
              <a:gdLst>
                <a:gd name="T0" fmla="*/ 3852 w 77470"/>
                <a:gd name="T1" fmla="*/ 0 h 57150"/>
                <a:gd name="T2" fmla="*/ 5339 w 77470"/>
                <a:gd name="T3" fmla="*/ 226 h 57150"/>
                <a:gd name="T4" fmla="*/ 6565 w 77470"/>
                <a:gd name="T5" fmla="*/ 843 h 57150"/>
                <a:gd name="T6" fmla="*/ 7397 w 77470"/>
                <a:gd name="T7" fmla="*/ 1747 h 57150"/>
                <a:gd name="T8" fmla="*/ 7704 w 77470"/>
                <a:gd name="T9" fmla="*/ 2840 h 57150"/>
                <a:gd name="T10" fmla="*/ 7397 w 77470"/>
                <a:gd name="T11" fmla="*/ 3934 h 57150"/>
                <a:gd name="T12" fmla="*/ 6565 w 77470"/>
                <a:gd name="T13" fmla="*/ 4838 h 57150"/>
                <a:gd name="T14" fmla="*/ 5339 w 77470"/>
                <a:gd name="T15" fmla="*/ 5454 h 57150"/>
                <a:gd name="T16" fmla="*/ 3852 w 77470"/>
                <a:gd name="T17" fmla="*/ 5682 h 57150"/>
                <a:gd name="T18" fmla="*/ 2371 w 77470"/>
                <a:gd name="T19" fmla="*/ 5454 h 57150"/>
                <a:gd name="T20" fmla="*/ 1144 w 77470"/>
                <a:gd name="T21" fmla="*/ 4838 h 57150"/>
                <a:gd name="T22" fmla="*/ 308 w 77470"/>
                <a:gd name="T23" fmla="*/ 3934 h 57150"/>
                <a:gd name="T24" fmla="*/ 0 w 77470"/>
                <a:gd name="T25" fmla="*/ 2840 h 57150"/>
                <a:gd name="T26" fmla="*/ 308 w 77470"/>
                <a:gd name="T27" fmla="*/ 1747 h 57150"/>
                <a:gd name="T28" fmla="*/ 1144 w 77470"/>
                <a:gd name="T29" fmla="*/ 843 h 57150"/>
                <a:gd name="T30" fmla="*/ 2371 w 77470"/>
                <a:gd name="T31" fmla="*/ 226 h 57150"/>
                <a:gd name="T32" fmla="*/ 3852 w 77470"/>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7150">
                  <a:moveTo>
                    <a:pt x="38481" y="0"/>
                  </a:moveTo>
                  <a:lnTo>
                    <a:pt x="53334" y="2272"/>
                  </a:lnTo>
                  <a:lnTo>
                    <a:pt x="65579" y="8423"/>
                  </a:lnTo>
                  <a:lnTo>
                    <a:pt x="73896" y="17455"/>
                  </a:lnTo>
                  <a:lnTo>
                    <a:pt x="76962" y="28371"/>
                  </a:lnTo>
                  <a:lnTo>
                    <a:pt x="73896" y="39295"/>
                  </a:lnTo>
                  <a:lnTo>
                    <a:pt x="65579" y="48331"/>
                  </a:lnTo>
                  <a:lnTo>
                    <a:pt x="53334" y="54483"/>
                  </a:lnTo>
                  <a:lnTo>
                    <a:pt x="38481" y="56756"/>
                  </a:lnTo>
                  <a:lnTo>
                    <a:pt x="23681" y="54483"/>
                  </a:lnTo>
                  <a:lnTo>
                    <a:pt x="11430" y="48331"/>
                  </a:lnTo>
                  <a:lnTo>
                    <a:pt x="3083" y="39295"/>
                  </a:lnTo>
                  <a:lnTo>
                    <a:pt x="0" y="28371"/>
                  </a:lnTo>
                  <a:lnTo>
                    <a:pt x="3083" y="17455"/>
                  </a:lnTo>
                  <a:lnTo>
                    <a:pt x="11430" y="8423"/>
                  </a:lnTo>
                  <a:lnTo>
                    <a:pt x="23681" y="2272"/>
                  </a:lnTo>
                  <a:lnTo>
                    <a:pt x="38481"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75" name="object 93"/>
            <p:cNvSpPr/>
            <p:nvPr/>
          </p:nvSpPr>
          <p:spPr bwMode="auto">
            <a:xfrm>
              <a:off x="1379602" y="5200651"/>
              <a:ext cx="165734" cy="448151"/>
            </a:xfrm>
            <a:custGeom>
              <a:avLst/>
              <a:gdLst>
                <a:gd name="T0" fmla="*/ 16833 w 220980"/>
                <a:gd name="T1" fmla="*/ 0 h 597535"/>
                <a:gd name="T2" fmla="*/ 14813 w 220980"/>
                <a:gd name="T3" fmla="*/ 309 h 597535"/>
                <a:gd name="T4" fmla="*/ 13183 w 220980"/>
                <a:gd name="T5" fmla="*/ 1150 h 597535"/>
                <a:gd name="T6" fmla="*/ 12093 w 220980"/>
                <a:gd name="T7" fmla="*/ 2388 h 597535"/>
                <a:gd name="T8" fmla="*/ 11696 w 220980"/>
                <a:gd name="T9" fmla="*/ 3893 h 597535"/>
                <a:gd name="T10" fmla="*/ 12039 w 220980"/>
                <a:gd name="T11" fmla="*/ 5245 h 597535"/>
                <a:gd name="T12" fmla="*/ 12982 w 220980"/>
                <a:gd name="T13" fmla="*/ 6400 h 597535"/>
                <a:gd name="T14" fmla="*/ 14405 w 220980"/>
                <a:gd name="T15" fmla="*/ 7243 h 597535"/>
                <a:gd name="T16" fmla="*/ 16185 w 220980"/>
                <a:gd name="T17" fmla="*/ 7668 h 597535"/>
                <a:gd name="T18" fmla="*/ 16185 w 220980"/>
                <a:gd name="T19" fmla="*/ 31732 h 597535"/>
                <a:gd name="T20" fmla="*/ 0 w 220980"/>
                <a:gd name="T21" fmla="*/ 43057 h 597535"/>
                <a:gd name="T22" fmla="*/ 0 w 220980"/>
                <a:gd name="T23" fmla="*/ 59808 h 597535"/>
                <a:gd name="T24" fmla="*/ 1283 w 220980"/>
                <a:gd name="T25" fmla="*/ 59808 h 597535"/>
                <a:gd name="T26" fmla="*/ 1283 w 220980"/>
                <a:gd name="T27" fmla="*/ 43528 h 597535"/>
                <a:gd name="T28" fmla="*/ 17634 w 220980"/>
                <a:gd name="T29" fmla="*/ 32203 h 597535"/>
                <a:gd name="T30" fmla="*/ 17634 w 220980"/>
                <a:gd name="T31" fmla="*/ 7668 h 597535"/>
                <a:gd name="T32" fmla="*/ 19418 w 220980"/>
                <a:gd name="T33" fmla="*/ 7243 h 597535"/>
                <a:gd name="T34" fmla="*/ 20296 w 220980"/>
                <a:gd name="T35" fmla="*/ 6724 h 597535"/>
                <a:gd name="T36" fmla="*/ 16833 w 220980"/>
                <a:gd name="T37" fmla="*/ 6724 h 597535"/>
                <a:gd name="T38" fmla="*/ 15352 w 220980"/>
                <a:gd name="T39" fmla="*/ 6496 h 597535"/>
                <a:gd name="T40" fmla="*/ 14125 w 220980"/>
                <a:gd name="T41" fmla="*/ 5883 h 597535"/>
                <a:gd name="T42" fmla="*/ 13289 w 220980"/>
                <a:gd name="T43" fmla="*/ 4982 h 597535"/>
                <a:gd name="T44" fmla="*/ 12981 w 220980"/>
                <a:gd name="T45" fmla="*/ 3893 h 597535"/>
                <a:gd name="T46" fmla="*/ 13289 w 220980"/>
                <a:gd name="T47" fmla="*/ 2803 h 597535"/>
                <a:gd name="T48" fmla="*/ 14125 w 220980"/>
                <a:gd name="T49" fmla="*/ 1902 h 597535"/>
                <a:gd name="T50" fmla="*/ 15352 w 220980"/>
                <a:gd name="T51" fmla="*/ 1288 h 597535"/>
                <a:gd name="T52" fmla="*/ 16833 w 220980"/>
                <a:gd name="T53" fmla="*/ 1061 h 597535"/>
                <a:gd name="T54" fmla="*/ 20382 w 220980"/>
                <a:gd name="T55" fmla="*/ 1061 h 597535"/>
                <a:gd name="T56" fmla="*/ 18877 w 220980"/>
                <a:gd name="T57" fmla="*/ 309 h 597535"/>
                <a:gd name="T58" fmla="*/ 16833 w 220980"/>
                <a:gd name="T59" fmla="*/ 0 h 597535"/>
                <a:gd name="T60" fmla="*/ 20382 w 220980"/>
                <a:gd name="T61" fmla="*/ 1061 h 597535"/>
                <a:gd name="T62" fmla="*/ 16833 w 220980"/>
                <a:gd name="T63" fmla="*/ 1061 h 597535"/>
                <a:gd name="T64" fmla="*/ 18379 w 220980"/>
                <a:gd name="T65" fmla="*/ 1288 h 597535"/>
                <a:gd name="T66" fmla="*/ 19598 w 220980"/>
                <a:gd name="T67" fmla="*/ 1902 h 597535"/>
                <a:gd name="T68" fmla="*/ 20398 w 220980"/>
                <a:gd name="T69" fmla="*/ 2803 h 597535"/>
                <a:gd name="T70" fmla="*/ 20685 w 220980"/>
                <a:gd name="T71" fmla="*/ 3893 h 597535"/>
                <a:gd name="T72" fmla="*/ 20398 w 220980"/>
                <a:gd name="T73" fmla="*/ 4982 h 597535"/>
                <a:gd name="T74" fmla="*/ 19598 w 220980"/>
                <a:gd name="T75" fmla="*/ 5883 h 597535"/>
                <a:gd name="T76" fmla="*/ 18379 w 220980"/>
                <a:gd name="T77" fmla="*/ 6496 h 597535"/>
                <a:gd name="T78" fmla="*/ 16833 w 220980"/>
                <a:gd name="T79" fmla="*/ 6724 h 597535"/>
                <a:gd name="T80" fmla="*/ 20296 w 220980"/>
                <a:gd name="T81" fmla="*/ 6724 h 597535"/>
                <a:gd name="T82" fmla="*/ 20841 w 220980"/>
                <a:gd name="T83" fmla="*/ 6400 h 597535"/>
                <a:gd name="T84" fmla="*/ 21782 w 220980"/>
                <a:gd name="T85" fmla="*/ 5245 h 597535"/>
                <a:gd name="T86" fmla="*/ 22122 w 220980"/>
                <a:gd name="T87" fmla="*/ 3893 h 597535"/>
                <a:gd name="T88" fmla="*/ 21702 w 220980"/>
                <a:gd name="T89" fmla="*/ 2388 h 597535"/>
                <a:gd name="T90" fmla="*/ 20560 w 220980"/>
                <a:gd name="T91" fmla="*/ 1150 h 597535"/>
                <a:gd name="T92" fmla="*/ 20382 w 220980"/>
                <a:gd name="T93" fmla="*/ 1061 h 59753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20980" h="597535">
                  <a:moveTo>
                    <a:pt x="168148" y="0"/>
                  </a:moveTo>
                  <a:lnTo>
                    <a:pt x="147968" y="3093"/>
                  </a:lnTo>
                  <a:lnTo>
                    <a:pt x="131683" y="11490"/>
                  </a:lnTo>
                  <a:lnTo>
                    <a:pt x="120802" y="23863"/>
                  </a:lnTo>
                  <a:lnTo>
                    <a:pt x="116839" y="38887"/>
                  </a:lnTo>
                  <a:lnTo>
                    <a:pt x="120255" y="52397"/>
                  </a:lnTo>
                  <a:lnTo>
                    <a:pt x="129682" y="63922"/>
                  </a:lnTo>
                  <a:lnTo>
                    <a:pt x="143896" y="72355"/>
                  </a:lnTo>
                  <a:lnTo>
                    <a:pt x="161670" y="76593"/>
                  </a:lnTo>
                  <a:lnTo>
                    <a:pt x="161670" y="316966"/>
                  </a:lnTo>
                  <a:lnTo>
                    <a:pt x="0" y="430085"/>
                  </a:lnTo>
                  <a:lnTo>
                    <a:pt x="0" y="597408"/>
                  </a:lnTo>
                  <a:lnTo>
                    <a:pt x="12826" y="597408"/>
                  </a:lnTo>
                  <a:lnTo>
                    <a:pt x="12826" y="434797"/>
                  </a:lnTo>
                  <a:lnTo>
                    <a:pt x="176149" y="321678"/>
                  </a:lnTo>
                  <a:lnTo>
                    <a:pt x="176149" y="76593"/>
                  </a:lnTo>
                  <a:lnTo>
                    <a:pt x="193976" y="72355"/>
                  </a:lnTo>
                  <a:lnTo>
                    <a:pt x="202734" y="67157"/>
                  </a:lnTo>
                  <a:lnTo>
                    <a:pt x="168148" y="67157"/>
                  </a:lnTo>
                  <a:lnTo>
                    <a:pt x="153348" y="64894"/>
                  </a:lnTo>
                  <a:lnTo>
                    <a:pt x="141097" y="58766"/>
                  </a:lnTo>
                  <a:lnTo>
                    <a:pt x="132750" y="49766"/>
                  </a:lnTo>
                  <a:lnTo>
                    <a:pt x="129667" y="38887"/>
                  </a:lnTo>
                  <a:lnTo>
                    <a:pt x="132750" y="28006"/>
                  </a:lnTo>
                  <a:lnTo>
                    <a:pt x="141096" y="19002"/>
                  </a:lnTo>
                  <a:lnTo>
                    <a:pt x="153348" y="12869"/>
                  </a:lnTo>
                  <a:lnTo>
                    <a:pt x="168148" y="10604"/>
                  </a:lnTo>
                  <a:lnTo>
                    <a:pt x="203601" y="10604"/>
                  </a:lnTo>
                  <a:lnTo>
                    <a:pt x="188565" y="3093"/>
                  </a:lnTo>
                  <a:lnTo>
                    <a:pt x="168148" y="0"/>
                  </a:lnTo>
                  <a:close/>
                </a:path>
                <a:path w="220980" h="597535">
                  <a:moveTo>
                    <a:pt x="203601" y="10604"/>
                  </a:moveTo>
                  <a:lnTo>
                    <a:pt x="168148" y="10604"/>
                  </a:lnTo>
                  <a:lnTo>
                    <a:pt x="183590" y="12869"/>
                  </a:lnTo>
                  <a:lnTo>
                    <a:pt x="195770" y="19002"/>
                  </a:lnTo>
                  <a:lnTo>
                    <a:pt x="203759" y="28006"/>
                  </a:lnTo>
                  <a:lnTo>
                    <a:pt x="206629" y="38887"/>
                  </a:lnTo>
                  <a:lnTo>
                    <a:pt x="203759" y="49766"/>
                  </a:lnTo>
                  <a:lnTo>
                    <a:pt x="195770" y="58766"/>
                  </a:lnTo>
                  <a:lnTo>
                    <a:pt x="183590" y="64894"/>
                  </a:lnTo>
                  <a:lnTo>
                    <a:pt x="168148" y="67157"/>
                  </a:lnTo>
                  <a:lnTo>
                    <a:pt x="202734" y="67157"/>
                  </a:lnTo>
                  <a:lnTo>
                    <a:pt x="208184" y="63922"/>
                  </a:lnTo>
                  <a:lnTo>
                    <a:pt x="217582" y="52397"/>
                  </a:lnTo>
                  <a:lnTo>
                    <a:pt x="220980" y="38887"/>
                  </a:lnTo>
                  <a:lnTo>
                    <a:pt x="216779" y="23863"/>
                  </a:lnTo>
                  <a:lnTo>
                    <a:pt x="205374" y="11490"/>
                  </a:lnTo>
                  <a:lnTo>
                    <a:pt x="203601" y="10604"/>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76" name="object 94"/>
            <p:cNvSpPr/>
            <p:nvPr/>
          </p:nvSpPr>
          <p:spPr bwMode="auto">
            <a:xfrm>
              <a:off x="1379602" y="5200651"/>
              <a:ext cx="165734" cy="448151"/>
            </a:xfrm>
            <a:custGeom>
              <a:avLst/>
              <a:gdLst>
                <a:gd name="T0" fmla="*/ 16185 w 220980"/>
                <a:gd name="T1" fmla="*/ 7668 h 597535"/>
                <a:gd name="T2" fmla="*/ 16185 w 220980"/>
                <a:gd name="T3" fmla="*/ 21580 h 597535"/>
                <a:gd name="T4" fmla="*/ 16185 w 220980"/>
                <a:gd name="T5" fmla="*/ 28724 h 597535"/>
                <a:gd name="T6" fmla="*/ 16185 w 220980"/>
                <a:gd name="T7" fmla="*/ 31356 h 597535"/>
                <a:gd name="T8" fmla="*/ 16185 w 220980"/>
                <a:gd name="T9" fmla="*/ 31732 h 597535"/>
                <a:gd name="T10" fmla="*/ 6828 w 220980"/>
                <a:gd name="T11" fmla="*/ 38279 h 597535"/>
                <a:gd name="T12" fmla="*/ 2023 w 220980"/>
                <a:gd name="T13" fmla="*/ 41641 h 597535"/>
                <a:gd name="T14" fmla="*/ 253 w 220980"/>
                <a:gd name="T15" fmla="*/ 42880 h 597535"/>
                <a:gd name="T16" fmla="*/ 0 w 220980"/>
                <a:gd name="T17" fmla="*/ 43057 h 597535"/>
                <a:gd name="T18" fmla="*/ 0 w 220980"/>
                <a:gd name="T19" fmla="*/ 52741 h 597535"/>
                <a:gd name="T20" fmla="*/ 0 w 220980"/>
                <a:gd name="T21" fmla="*/ 57714 h 597535"/>
                <a:gd name="T22" fmla="*/ 0 w 220980"/>
                <a:gd name="T23" fmla="*/ 59546 h 597535"/>
                <a:gd name="T24" fmla="*/ 0 w 220980"/>
                <a:gd name="T25" fmla="*/ 59808 h 597535"/>
                <a:gd name="T26" fmla="*/ 1283 w 220980"/>
                <a:gd name="T27" fmla="*/ 59808 h 597535"/>
                <a:gd name="T28" fmla="*/ 1283 w 220980"/>
                <a:gd name="T29" fmla="*/ 50396 h 597535"/>
                <a:gd name="T30" fmla="*/ 1283 w 220980"/>
                <a:gd name="T31" fmla="*/ 45563 h 597535"/>
                <a:gd name="T32" fmla="*/ 1283 w 220980"/>
                <a:gd name="T33" fmla="*/ 43783 h 597535"/>
                <a:gd name="T34" fmla="*/ 1283 w 220980"/>
                <a:gd name="T35" fmla="*/ 43528 h 597535"/>
                <a:gd name="T36" fmla="*/ 10736 w 220980"/>
                <a:gd name="T37" fmla="*/ 36982 h 597535"/>
                <a:gd name="T38" fmla="*/ 15590 w 220980"/>
                <a:gd name="T39" fmla="*/ 33619 h 597535"/>
                <a:gd name="T40" fmla="*/ 17378 w 220980"/>
                <a:gd name="T41" fmla="*/ 32380 h 597535"/>
                <a:gd name="T42" fmla="*/ 17634 w 220980"/>
                <a:gd name="T43" fmla="*/ 32203 h 597535"/>
                <a:gd name="T44" fmla="*/ 17634 w 220980"/>
                <a:gd name="T45" fmla="*/ 18019 h 597535"/>
                <a:gd name="T46" fmla="*/ 17634 w 220980"/>
                <a:gd name="T47" fmla="*/ 10735 h 597535"/>
                <a:gd name="T48" fmla="*/ 17634 w 220980"/>
                <a:gd name="T49" fmla="*/ 8051 h 597535"/>
                <a:gd name="T50" fmla="*/ 17634 w 220980"/>
                <a:gd name="T51" fmla="*/ 7668 h 597535"/>
                <a:gd name="T52" fmla="*/ 19418 w 220980"/>
                <a:gd name="T53" fmla="*/ 7243 h 597535"/>
                <a:gd name="T54" fmla="*/ 20841 w 220980"/>
                <a:gd name="T55" fmla="*/ 6400 h 597535"/>
                <a:gd name="T56" fmla="*/ 21782 w 220980"/>
                <a:gd name="T57" fmla="*/ 5245 h 597535"/>
                <a:gd name="T58" fmla="*/ 22122 w 220980"/>
                <a:gd name="T59" fmla="*/ 3893 h 597535"/>
                <a:gd name="T60" fmla="*/ 21702 w 220980"/>
                <a:gd name="T61" fmla="*/ 2388 h 597535"/>
                <a:gd name="T62" fmla="*/ 20560 w 220980"/>
                <a:gd name="T63" fmla="*/ 1150 h 597535"/>
                <a:gd name="T64" fmla="*/ 18877 w 220980"/>
                <a:gd name="T65" fmla="*/ 309 h 597535"/>
                <a:gd name="T66" fmla="*/ 16833 w 220980"/>
                <a:gd name="T67" fmla="*/ 0 h 597535"/>
                <a:gd name="T68" fmla="*/ 14813 w 220980"/>
                <a:gd name="T69" fmla="*/ 309 h 597535"/>
                <a:gd name="T70" fmla="*/ 13183 w 220980"/>
                <a:gd name="T71" fmla="*/ 1150 h 597535"/>
                <a:gd name="T72" fmla="*/ 12093 w 220980"/>
                <a:gd name="T73" fmla="*/ 2388 h 597535"/>
                <a:gd name="T74" fmla="*/ 11696 w 220980"/>
                <a:gd name="T75" fmla="*/ 3893 h 597535"/>
                <a:gd name="T76" fmla="*/ 12039 w 220980"/>
                <a:gd name="T77" fmla="*/ 5245 h 597535"/>
                <a:gd name="T78" fmla="*/ 12982 w 220980"/>
                <a:gd name="T79" fmla="*/ 6400 h 597535"/>
                <a:gd name="T80" fmla="*/ 14405 w 220980"/>
                <a:gd name="T81" fmla="*/ 7243 h 597535"/>
                <a:gd name="T82" fmla="*/ 16185 w 220980"/>
                <a:gd name="T83" fmla="*/ 7668 h 59753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20980" h="597535">
                  <a:moveTo>
                    <a:pt x="161670" y="76593"/>
                  </a:moveTo>
                  <a:lnTo>
                    <a:pt x="161670" y="215559"/>
                  </a:lnTo>
                  <a:lnTo>
                    <a:pt x="161670" y="286919"/>
                  </a:lnTo>
                  <a:lnTo>
                    <a:pt x="161670" y="313210"/>
                  </a:lnTo>
                  <a:lnTo>
                    <a:pt x="161670" y="316966"/>
                  </a:lnTo>
                  <a:lnTo>
                    <a:pt x="68204" y="382363"/>
                  </a:lnTo>
                  <a:lnTo>
                    <a:pt x="20208" y="415945"/>
                  </a:lnTo>
                  <a:lnTo>
                    <a:pt x="2526" y="428318"/>
                  </a:lnTo>
                  <a:lnTo>
                    <a:pt x="0" y="430085"/>
                  </a:lnTo>
                  <a:lnTo>
                    <a:pt x="0" y="526818"/>
                  </a:lnTo>
                  <a:lnTo>
                    <a:pt x="0" y="576492"/>
                  </a:lnTo>
                  <a:lnTo>
                    <a:pt x="0" y="594793"/>
                  </a:lnTo>
                  <a:lnTo>
                    <a:pt x="0" y="597408"/>
                  </a:lnTo>
                  <a:lnTo>
                    <a:pt x="12826" y="597408"/>
                  </a:lnTo>
                  <a:lnTo>
                    <a:pt x="12826" y="503398"/>
                  </a:lnTo>
                  <a:lnTo>
                    <a:pt x="12826" y="455123"/>
                  </a:lnTo>
                  <a:lnTo>
                    <a:pt x="12826" y="437337"/>
                  </a:lnTo>
                  <a:lnTo>
                    <a:pt x="12826" y="434797"/>
                  </a:lnTo>
                  <a:lnTo>
                    <a:pt x="107247" y="369400"/>
                  </a:lnTo>
                  <a:lnTo>
                    <a:pt x="155733" y="335818"/>
                  </a:lnTo>
                  <a:lnTo>
                    <a:pt x="173597" y="323445"/>
                  </a:lnTo>
                  <a:lnTo>
                    <a:pt x="176149" y="321678"/>
                  </a:lnTo>
                  <a:lnTo>
                    <a:pt x="176149" y="179988"/>
                  </a:lnTo>
                  <a:lnTo>
                    <a:pt x="176149" y="107229"/>
                  </a:lnTo>
                  <a:lnTo>
                    <a:pt x="176149" y="80423"/>
                  </a:lnTo>
                  <a:lnTo>
                    <a:pt x="176149" y="76593"/>
                  </a:lnTo>
                  <a:lnTo>
                    <a:pt x="193976" y="72355"/>
                  </a:lnTo>
                  <a:lnTo>
                    <a:pt x="208184" y="63922"/>
                  </a:lnTo>
                  <a:lnTo>
                    <a:pt x="217582" y="52397"/>
                  </a:lnTo>
                  <a:lnTo>
                    <a:pt x="220980" y="38887"/>
                  </a:lnTo>
                  <a:lnTo>
                    <a:pt x="216779" y="23863"/>
                  </a:lnTo>
                  <a:lnTo>
                    <a:pt x="205374" y="11490"/>
                  </a:lnTo>
                  <a:lnTo>
                    <a:pt x="188565" y="3093"/>
                  </a:lnTo>
                  <a:lnTo>
                    <a:pt x="168148" y="0"/>
                  </a:lnTo>
                  <a:lnTo>
                    <a:pt x="147968" y="3093"/>
                  </a:lnTo>
                  <a:lnTo>
                    <a:pt x="131683" y="11490"/>
                  </a:lnTo>
                  <a:lnTo>
                    <a:pt x="120802" y="23863"/>
                  </a:lnTo>
                  <a:lnTo>
                    <a:pt x="116839" y="38887"/>
                  </a:lnTo>
                  <a:lnTo>
                    <a:pt x="120255" y="52397"/>
                  </a:lnTo>
                  <a:lnTo>
                    <a:pt x="129682" y="63922"/>
                  </a:lnTo>
                  <a:lnTo>
                    <a:pt x="143896" y="72355"/>
                  </a:lnTo>
                  <a:lnTo>
                    <a:pt x="161670" y="76593"/>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77" name="object 95"/>
            <p:cNvSpPr/>
            <p:nvPr/>
          </p:nvSpPr>
          <p:spPr bwMode="auto">
            <a:xfrm>
              <a:off x="1476851" y="5208603"/>
              <a:ext cx="58102" cy="42862"/>
            </a:xfrm>
            <a:custGeom>
              <a:avLst/>
              <a:gdLst>
                <a:gd name="T0" fmla="*/ 3853 w 77469"/>
                <a:gd name="T1" fmla="*/ 0 h 57150"/>
                <a:gd name="T2" fmla="*/ 5399 w 77469"/>
                <a:gd name="T3" fmla="*/ 226 h 57150"/>
                <a:gd name="T4" fmla="*/ 6618 w 77469"/>
                <a:gd name="T5" fmla="*/ 840 h 57150"/>
                <a:gd name="T6" fmla="*/ 7418 w 77469"/>
                <a:gd name="T7" fmla="*/ 1742 h 57150"/>
                <a:gd name="T8" fmla="*/ 7706 w 77469"/>
                <a:gd name="T9" fmla="*/ 2831 h 57150"/>
                <a:gd name="T10" fmla="*/ 7418 w 77469"/>
                <a:gd name="T11" fmla="*/ 3920 h 57150"/>
                <a:gd name="T12" fmla="*/ 6618 w 77469"/>
                <a:gd name="T13" fmla="*/ 4821 h 57150"/>
                <a:gd name="T14" fmla="*/ 5399 w 77469"/>
                <a:gd name="T15" fmla="*/ 5434 h 57150"/>
                <a:gd name="T16" fmla="*/ 3853 w 77469"/>
                <a:gd name="T17" fmla="*/ 5662 h 57150"/>
                <a:gd name="T18" fmla="*/ 2371 w 77469"/>
                <a:gd name="T19" fmla="*/ 5434 h 57150"/>
                <a:gd name="T20" fmla="*/ 1145 w 77469"/>
                <a:gd name="T21" fmla="*/ 4821 h 57150"/>
                <a:gd name="T22" fmla="*/ 309 w 77469"/>
                <a:gd name="T23" fmla="*/ 3920 h 57150"/>
                <a:gd name="T24" fmla="*/ 0 w 77469"/>
                <a:gd name="T25" fmla="*/ 2831 h 57150"/>
                <a:gd name="T26" fmla="*/ 309 w 77469"/>
                <a:gd name="T27" fmla="*/ 1742 h 57150"/>
                <a:gd name="T28" fmla="*/ 1145 w 77469"/>
                <a:gd name="T29" fmla="*/ 840 h 57150"/>
                <a:gd name="T30" fmla="*/ 2371 w 77469"/>
                <a:gd name="T31" fmla="*/ 226 h 57150"/>
                <a:gd name="T32" fmla="*/ 3853 w 77469"/>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69" h="57150">
                  <a:moveTo>
                    <a:pt x="38481" y="0"/>
                  </a:moveTo>
                  <a:lnTo>
                    <a:pt x="53923" y="2265"/>
                  </a:lnTo>
                  <a:lnTo>
                    <a:pt x="66103" y="8397"/>
                  </a:lnTo>
                  <a:lnTo>
                    <a:pt x="74092" y="17402"/>
                  </a:lnTo>
                  <a:lnTo>
                    <a:pt x="76962" y="28282"/>
                  </a:lnTo>
                  <a:lnTo>
                    <a:pt x="74092" y="39161"/>
                  </a:lnTo>
                  <a:lnTo>
                    <a:pt x="66103" y="48161"/>
                  </a:lnTo>
                  <a:lnTo>
                    <a:pt x="53923" y="54289"/>
                  </a:lnTo>
                  <a:lnTo>
                    <a:pt x="38481" y="56553"/>
                  </a:lnTo>
                  <a:lnTo>
                    <a:pt x="23681" y="54289"/>
                  </a:lnTo>
                  <a:lnTo>
                    <a:pt x="11430" y="48161"/>
                  </a:lnTo>
                  <a:lnTo>
                    <a:pt x="3083" y="39161"/>
                  </a:lnTo>
                  <a:lnTo>
                    <a:pt x="0" y="28282"/>
                  </a:lnTo>
                  <a:lnTo>
                    <a:pt x="3083" y="17402"/>
                  </a:lnTo>
                  <a:lnTo>
                    <a:pt x="11429" y="8397"/>
                  </a:lnTo>
                  <a:lnTo>
                    <a:pt x="23681" y="2265"/>
                  </a:lnTo>
                  <a:lnTo>
                    <a:pt x="38481"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78" name="object 96"/>
            <p:cNvSpPr/>
            <p:nvPr/>
          </p:nvSpPr>
          <p:spPr bwMode="auto">
            <a:xfrm>
              <a:off x="1" y="5669185"/>
              <a:ext cx="1249679" cy="79058"/>
            </a:xfrm>
            <a:custGeom>
              <a:avLst/>
              <a:gdLst>
                <a:gd name="T0" fmla="*/ 105410 w 1666239"/>
                <a:gd name="T1" fmla="*/ 0 h 105409"/>
                <a:gd name="T2" fmla="*/ 0 w 1666239"/>
                <a:gd name="T3" fmla="*/ 0 h 105409"/>
                <a:gd name="T4" fmla="*/ 0 w 1666239"/>
                <a:gd name="T5" fmla="*/ 938 h 105409"/>
                <a:gd name="T6" fmla="*/ 104774 w 1666239"/>
                <a:gd name="T7" fmla="*/ 938 h 105409"/>
                <a:gd name="T8" fmla="*/ 117967 w 1666239"/>
                <a:gd name="T9" fmla="*/ 10541 h 105409"/>
                <a:gd name="T10" fmla="*/ 166761 w 1666239"/>
                <a:gd name="T11" fmla="*/ 10541 h 105409"/>
                <a:gd name="T12" fmla="*/ 166761 w 1666239"/>
                <a:gd name="T13" fmla="*/ 9604 h 105409"/>
                <a:gd name="T14" fmla="*/ 118603 w 1666239"/>
                <a:gd name="T15" fmla="*/ 9604 h 105409"/>
                <a:gd name="T16" fmla="*/ 105410 w 1666239"/>
                <a:gd name="T17" fmla="*/ 0 h 1054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66239" h="105409">
                  <a:moveTo>
                    <a:pt x="1052918" y="0"/>
                  </a:moveTo>
                  <a:lnTo>
                    <a:pt x="0" y="0"/>
                  </a:lnTo>
                  <a:lnTo>
                    <a:pt x="0" y="9359"/>
                  </a:lnTo>
                  <a:lnTo>
                    <a:pt x="1046568" y="9359"/>
                  </a:lnTo>
                  <a:lnTo>
                    <a:pt x="1178344" y="105283"/>
                  </a:lnTo>
                  <a:lnTo>
                    <a:pt x="1665732" y="105283"/>
                  </a:lnTo>
                  <a:lnTo>
                    <a:pt x="1665732" y="95923"/>
                  </a:lnTo>
                  <a:lnTo>
                    <a:pt x="1184694" y="95923"/>
                  </a:lnTo>
                  <a:lnTo>
                    <a:pt x="1052918"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79" name="object 97"/>
            <p:cNvSpPr/>
            <p:nvPr/>
          </p:nvSpPr>
          <p:spPr bwMode="auto">
            <a:xfrm>
              <a:off x="1" y="5669186"/>
              <a:ext cx="888682" cy="72390"/>
            </a:xfrm>
            <a:custGeom>
              <a:avLst/>
              <a:gdLst>
                <a:gd name="T0" fmla="*/ 118603 w 1184910"/>
                <a:gd name="T1" fmla="*/ 9603 h 96520"/>
                <a:gd name="T2" fmla="*/ 105410 w 1184910"/>
                <a:gd name="T3" fmla="*/ 0 h 96520"/>
                <a:gd name="T4" fmla="*/ 0 w 1184910"/>
                <a:gd name="T5" fmla="*/ 0 h 96520"/>
                <a:gd name="T6" fmla="*/ 0 60000 65536"/>
                <a:gd name="T7" fmla="*/ 0 60000 65536"/>
                <a:gd name="T8" fmla="*/ 0 60000 65536"/>
              </a:gdLst>
              <a:ahLst/>
              <a:cxnLst>
                <a:cxn ang="T6">
                  <a:pos x="T0" y="T1"/>
                </a:cxn>
                <a:cxn ang="T7">
                  <a:pos x="T2" y="T3"/>
                </a:cxn>
                <a:cxn ang="T8">
                  <a:pos x="T4" y="T5"/>
                </a:cxn>
              </a:cxnLst>
              <a:rect l="0" t="0" r="r" b="b"/>
              <a:pathLst>
                <a:path w="1184910" h="96520">
                  <a:moveTo>
                    <a:pt x="1184694" y="95923"/>
                  </a:moveTo>
                  <a:lnTo>
                    <a:pt x="1052918" y="0"/>
                  </a:lnTo>
                  <a:lnTo>
                    <a:pt x="0"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0" name="object 98"/>
            <p:cNvSpPr/>
            <p:nvPr/>
          </p:nvSpPr>
          <p:spPr bwMode="auto">
            <a:xfrm>
              <a:off x="1" y="5676205"/>
              <a:ext cx="1249679" cy="72390"/>
            </a:xfrm>
            <a:custGeom>
              <a:avLst/>
              <a:gdLst>
                <a:gd name="T0" fmla="*/ 0 w 1666239"/>
                <a:gd name="T1" fmla="*/ 0 h 96520"/>
                <a:gd name="T2" fmla="*/ 104774 w 1666239"/>
                <a:gd name="T3" fmla="*/ 0 h 96520"/>
                <a:gd name="T4" fmla="*/ 117967 w 1666239"/>
                <a:gd name="T5" fmla="*/ 9603 h 96520"/>
                <a:gd name="T6" fmla="*/ 166761 w 1666239"/>
                <a:gd name="T7" fmla="*/ 9603 h 96520"/>
                <a:gd name="T8" fmla="*/ 166761 w 1666239"/>
                <a:gd name="T9" fmla="*/ 9017 h 96520"/>
                <a:gd name="T10" fmla="*/ 166761 w 1666239"/>
                <a:gd name="T11" fmla="*/ 8666 h 96520"/>
                <a:gd name="T12" fmla="*/ 118603 w 1666239"/>
                <a:gd name="T13" fmla="*/ 8666 h 965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66239" h="96520">
                  <a:moveTo>
                    <a:pt x="0" y="0"/>
                  </a:moveTo>
                  <a:lnTo>
                    <a:pt x="1046568" y="0"/>
                  </a:lnTo>
                  <a:lnTo>
                    <a:pt x="1178344" y="95923"/>
                  </a:lnTo>
                  <a:lnTo>
                    <a:pt x="1665732" y="95923"/>
                  </a:lnTo>
                  <a:lnTo>
                    <a:pt x="1665732" y="90068"/>
                  </a:lnTo>
                  <a:lnTo>
                    <a:pt x="1665732" y="86563"/>
                  </a:lnTo>
                  <a:lnTo>
                    <a:pt x="1184694" y="86563"/>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1" name="object 99"/>
            <p:cNvSpPr/>
            <p:nvPr/>
          </p:nvSpPr>
          <p:spPr bwMode="auto">
            <a:xfrm>
              <a:off x="5870448" y="5226940"/>
              <a:ext cx="504349" cy="310991"/>
            </a:xfrm>
            <a:custGeom>
              <a:avLst/>
              <a:gdLst>
                <a:gd name="T0" fmla="*/ 67284 w 672465"/>
                <a:gd name="T1" fmla="*/ 936 h 414654"/>
                <a:gd name="T2" fmla="*/ 66013 w 672465"/>
                <a:gd name="T3" fmla="*/ 936 h 414654"/>
                <a:gd name="T4" fmla="*/ 66013 w 672465"/>
                <a:gd name="T5" fmla="*/ 33902 h 414654"/>
                <a:gd name="T6" fmla="*/ 31342 w 672465"/>
                <a:gd name="T7" fmla="*/ 33902 h 414654"/>
                <a:gd name="T8" fmla="*/ 31342 w 672465"/>
                <a:gd name="T9" fmla="*/ 40448 h 414654"/>
                <a:gd name="T10" fmla="*/ 166 w 672465"/>
                <a:gd name="T11" fmla="*/ 40448 h 414654"/>
                <a:gd name="T12" fmla="*/ 166 w 672465"/>
                <a:gd name="T13" fmla="*/ 41500 h 414654"/>
                <a:gd name="T14" fmla="*/ 32765 w 672465"/>
                <a:gd name="T15" fmla="*/ 41500 h 414654"/>
                <a:gd name="T16" fmla="*/ 32765 w 672465"/>
                <a:gd name="T17" fmla="*/ 34836 h 414654"/>
                <a:gd name="T18" fmla="*/ 67284 w 672465"/>
                <a:gd name="T19" fmla="*/ 34836 h 414654"/>
                <a:gd name="T20" fmla="*/ 67284 w 672465"/>
                <a:gd name="T21" fmla="*/ 936 h 414654"/>
                <a:gd name="T22" fmla="*/ 22747 w 672465"/>
                <a:gd name="T23" fmla="*/ 16483 h 414654"/>
                <a:gd name="T24" fmla="*/ 0 w 672465"/>
                <a:gd name="T25" fmla="*/ 16483 h 414654"/>
                <a:gd name="T26" fmla="*/ 0 w 672465"/>
                <a:gd name="T27" fmla="*/ 35538 h 414654"/>
                <a:gd name="T28" fmla="*/ 1437 w 672465"/>
                <a:gd name="T29" fmla="*/ 35538 h 414654"/>
                <a:gd name="T30" fmla="*/ 1437 w 672465"/>
                <a:gd name="T31" fmla="*/ 17419 h 414654"/>
                <a:gd name="T32" fmla="*/ 23546 w 672465"/>
                <a:gd name="T33" fmla="*/ 17419 h 414654"/>
                <a:gd name="T34" fmla="*/ 22747 w 672465"/>
                <a:gd name="T35" fmla="*/ 16483 h 414654"/>
                <a:gd name="T36" fmla="*/ 23546 w 672465"/>
                <a:gd name="T37" fmla="*/ 17419 h 414654"/>
                <a:gd name="T38" fmla="*/ 22110 w 672465"/>
                <a:gd name="T39" fmla="*/ 17419 h 414654"/>
                <a:gd name="T40" fmla="*/ 31342 w 672465"/>
                <a:gd name="T41" fmla="*/ 28407 h 414654"/>
                <a:gd name="T42" fmla="*/ 42950 w 672465"/>
                <a:gd name="T43" fmla="*/ 28407 h 414654"/>
                <a:gd name="T44" fmla="*/ 42950 w 672465"/>
                <a:gd name="T45" fmla="*/ 27472 h 414654"/>
                <a:gd name="T46" fmla="*/ 32129 w 672465"/>
                <a:gd name="T47" fmla="*/ 27472 h 414654"/>
                <a:gd name="T48" fmla="*/ 23546 w 672465"/>
                <a:gd name="T49" fmla="*/ 17419 h 414654"/>
                <a:gd name="T50" fmla="*/ 67284 w 672465"/>
                <a:gd name="T51" fmla="*/ 0 h 414654"/>
                <a:gd name="T52" fmla="*/ 41512 w 672465"/>
                <a:gd name="T53" fmla="*/ 0 h 414654"/>
                <a:gd name="T54" fmla="*/ 41512 w 672465"/>
                <a:gd name="T55" fmla="*/ 27472 h 414654"/>
                <a:gd name="T56" fmla="*/ 42950 w 672465"/>
                <a:gd name="T57" fmla="*/ 27472 h 414654"/>
                <a:gd name="T58" fmla="*/ 42950 w 672465"/>
                <a:gd name="T59" fmla="*/ 21860 h 414654"/>
                <a:gd name="T60" fmla="*/ 58220 w 672465"/>
                <a:gd name="T61" fmla="*/ 21860 h 414654"/>
                <a:gd name="T62" fmla="*/ 58220 w 672465"/>
                <a:gd name="T63" fmla="*/ 20809 h 414654"/>
                <a:gd name="T64" fmla="*/ 42950 w 672465"/>
                <a:gd name="T65" fmla="*/ 20809 h 414654"/>
                <a:gd name="T66" fmla="*/ 42950 w 672465"/>
                <a:gd name="T67" fmla="*/ 15081 h 414654"/>
                <a:gd name="T68" fmla="*/ 58220 w 672465"/>
                <a:gd name="T69" fmla="*/ 15081 h 414654"/>
                <a:gd name="T70" fmla="*/ 58220 w 672465"/>
                <a:gd name="T71" fmla="*/ 14145 h 414654"/>
                <a:gd name="T72" fmla="*/ 42950 w 672465"/>
                <a:gd name="T73" fmla="*/ 14145 h 414654"/>
                <a:gd name="T74" fmla="*/ 42950 w 672465"/>
                <a:gd name="T75" fmla="*/ 8534 h 414654"/>
                <a:gd name="T76" fmla="*/ 58220 w 672465"/>
                <a:gd name="T77" fmla="*/ 8534 h 414654"/>
                <a:gd name="T78" fmla="*/ 58220 w 672465"/>
                <a:gd name="T79" fmla="*/ 7482 h 414654"/>
                <a:gd name="T80" fmla="*/ 42950 w 672465"/>
                <a:gd name="T81" fmla="*/ 7482 h 414654"/>
                <a:gd name="T82" fmla="*/ 42950 w 672465"/>
                <a:gd name="T83" fmla="*/ 936 h 414654"/>
                <a:gd name="T84" fmla="*/ 67284 w 672465"/>
                <a:gd name="T85" fmla="*/ 936 h 414654"/>
                <a:gd name="T86" fmla="*/ 67284 w 672465"/>
                <a:gd name="T87" fmla="*/ 0 h 4146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72465" h="414654">
                  <a:moveTo>
                    <a:pt x="672083" y="9347"/>
                  </a:moveTo>
                  <a:lnTo>
                    <a:pt x="659383" y="9347"/>
                  </a:lnTo>
                  <a:lnTo>
                    <a:pt x="659383" y="338632"/>
                  </a:lnTo>
                  <a:lnTo>
                    <a:pt x="313054" y="338632"/>
                  </a:lnTo>
                  <a:lnTo>
                    <a:pt x="313054" y="404012"/>
                  </a:lnTo>
                  <a:lnTo>
                    <a:pt x="1650" y="404012"/>
                  </a:lnTo>
                  <a:lnTo>
                    <a:pt x="1650" y="414528"/>
                  </a:lnTo>
                  <a:lnTo>
                    <a:pt x="327278" y="414528"/>
                  </a:lnTo>
                  <a:lnTo>
                    <a:pt x="327278" y="347967"/>
                  </a:lnTo>
                  <a:lnTo>
                    <a:pt x="672083" y="347967"/>
                  </a:lnTo>
                  <a:lnTo>
                    <a:pt x="672083" y="9347"/>
                  </a:lnTo>
                  <a:close/>
                </a:path>
                <a:path w="672465" h="414654">
                  <a:moveTo>
                    <a:pt x="227202" y="164642"/>
                  </a:moveTo>
                  <a:lnTo>
                    <a:pt x="0" y="164642"/>
                  </a:lnTo>
                  <a:lnTo>
                    <a:pt x="0" y="354977"/>
                  </a:lnTo>
                  <a:lnTo>
                    <a:pt x="14350" y="354977"/>
                  </a:lnTo>
                  <a:lnTo>
                    <a:pt x="14350" y="173990"/>
                  </a:lnTo>
                  <a:lnTo>
                    <a:pt x="235184" y="173990"/>
                  </a:lnTo>
                  <a:lnTo>
                    <a:pt x="227202" y="164642"/>
                  </a:lnTo>
                  <a:close/>
                </a:path>
                <a:path w="672465" h="414654">
                  <a:moveTo>
                    <a:pt x="235184" y="173990"/>
                  </a:moveTo>
                  <a:lnTo>
                    <a:pt x="220852" y="173990"/>
                  </a:lnTo>
                  <a:lnTo>
                    <a:pt x="313054" y="283743"/>
                  </a:lnTo>
                  <a:lnTo>
                    <a:pt x="429005" y="283743"/>
                  </a:lnTo>
                  <a:lnTo>
                    <a:pt x="429005" y="274408"/>
                  </a:lnTo>
                  <a:lnTo>
                    <a:pt x="320928" y="274408"/>
                  </a:lnTo>
                  <a:lnTo>
                    <a:pt x="235184" y="173990"/>
                  </a:lnTo>
                  <a:close/>
                </a:path>
                <a:path w="672465" h="414654">
                  <a:moveTo>
                    <a:pt x="672083" y="0"/>
                  </a:moveTo>
                  <a:lnTo>
                    <a:pt x="414654" y="0"/>
                  </a:lnTo>
                  <a:lnTo>
                    <a:pt x="414654" y="274408"/>
                  </a:lnTo>
                  <a:lnTo>
                    <a:pt x="429005" y="274408"/>
                  </a:lnTo>
                  <a:lnTo>
                    <a:pt x="429005" y="218351"/>
                  </a:lnTo>
                  <a:lnTo>
                    <a:pt x="581532" y="218351"/>
                  </a:lnTo>
                  <a:lnTo>
                    <a:pt x="581532" y="207848"/>
                  </a:lnTo>
                  <a:lnTo>
                    <a:pt x="429005" y="207848"/>
                  </a:lnTo>
                  <a:lnTo>
                    <a:pt x="429005" y="150634"/>
                  </a:lnTo>
                  <a:lnTo>
                    <a:pt x="581532" y="150634"/>
                  </a:lnTo>
                  <a:lnTo>
                    <a:pt x="581532" y="141287"/>
                  </a:lnTo>
                  <a:lnTo>
                    <a:pt x="429005" y="141287"/>
                  </a:lnTo>
                  <a:lnTo>
                    <a:pt x="429005" y="85242"/>
                  </a:lnTo>
                  <a:lnTo>
                    <a:pt x="581532" y="85242"/>
                  </a:lnTo>
                  <a:lnTo>
                    <a:pt x="581532" y="74726"/>
                  </a:lnTo>
                  <a:lnTo>
                    <a:pt x="429005" y="74726"/>
                  </a:lnTo>
                  <a:lnTo>
                    <a:pt x="429005" y="9347"/>
                  </a:lnTo>
                  <a:lnTo>
                    <a:pt x="672083" y="9347"/>
                  </a:lnTo>
                  <a:lnTo>
                    <a:pt x="672083"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5982" name="object 100"/>
            <p:cNvSpPr/>
            <p:nvPr/>
          </p:nvSpPr>
          <p:spPr bwMode="auto">
            <a:xfrm>
              <a:off x="5870448" y="5226940"/>
              <a:ext cx="504349" cy="310991"/>
            </a:xfrm>
            <a:custGeom>
              <a:avLst/>
              <a:gdLst>
                <a:gd name="T0" fmla="*/ 22747 w 672465"/>
                <a:gd name="T1" fmla="*/ 16483 h 414654"/>
                <a:gd name="T2" fmla="*/ 0 w 672465"/>
                <a:gd name="T3" fmla="*/ 16483 h 414654"/>
                <a:gd name="T4" fmla="*/ 0 w 672465"/>
                <a:gd name="T5" fmla="*/ 35538 h 414654"/>
                <a:gd name="T6" fmla="*/ 1437 w 672465"/>
                <a:gd name="T7" fmla="*/ 35538 h 414654"/>
                <a:gd name="T8" fmla="*/ 1437 w 672465"/>
                <a:gd name="T9" fmla="*/ 17419 h 414654"/>
                <a:gd name="T10" fmla="*/ 22110 w 672465"/>
                <a:gd name="T11" fmla="*/ 17419 h 414654"/>
                <a:gd name="T12" fmla="*/ 31342 w 672465"/>
                <a:gd name="T13" fmla="*/ 28407 h 414654"/>
                <a:gd name="T14" fmla="*/ 32930 w 672465"/>
                <a:gd name="T15" fmla="*/ 28407 h 414654"/>
                <a:gd name="T16" fmla="*/ 41512 w 672465"/>
                <a:gd name="T17" fmla="*/ 28407 h 414654"/>
                <a:gd name="T18" fmla="*/ 42950 w 672465"/>
                <a:gd name="T19" fmla="*/ 28407 h 414654"/>
                <a:gd name="T20" fmla="*/ 42950 w 672465"/>
                <a:gd name="T21" fmla="*/ 21860 h 414654"/>
                <a:gd name="T22" fmla="*/ 58220 w 672465"/>
                <a:gd name="T23" fmla="*/ 21860 h 414654"/>
                <a:gd name="T24" fmla="*/ 58220 w 672465"/>
                <a:gd name="T25" fmla="*/ 20809 h 414654"/>
                <a:gd name="T26" fmla="*/ 42950 w 672465"/>
                <a:gd name="T27" fmla="*/ 20809 h 414654"/>
                <a:gd name="T28" fmla="*/ 42950 w 672465"/>
                <a:gd name="T29" fmla="*/ 15081 h 414654"/>
                <a:gd name="T30" fmla="*/ 58220 w 672465"/>
                <a:gd name="T31" fmla="*/ 15081 h 414654"/>
                <a:gd name="T32" fmla="*/ 58220 w 672465"/>
                <a:gd name="T33" fmla="*/ 14145 h 414654"/>
                <a:gd name="T34" fmla="*/ 42950 w 672465"/>
                <a:gd name="T35" fmla="*/ 14145 h 414654"/>
                <a:gd name="T36" fmla="*/ 42950 w 672465"/>
                <a:gd name="T37" fmla="*/ 8534 h 414654"/>
                <a:gd name="T38" fmla="*/ 58220 w 672465"/>
                <a:gd name="T39" fmla="*/ 8534 h 414654"/>
                <a:gd name="T40" fmla="*/ 58220 w 672465"/>
                <a:gd name="T41" fmla="*/ 7482 h 414654"/>
                <a:gd name="T42" fmla="*/ 42950 w 672465"/>
                <a:gd name="T43" fmla="*/ 7482 h 414654"/>
                <a:gd name="T44" fmla="*/ 42950 w 672465"/>
                <a:gd name="T45" fmla="*/ 936 h 414654"/>
                <a:gd name="T46" fmla="*/ 66013 w 672465"/>
                <a:gd name="T47" fmla="*/ 936 h 414654"/>
                <a:gd name="T48" fmla="*/ 66013 w 672465"/>
                <a:gd name="T49" fmla="*/ 33902 h 414654"/>
                <a:gd name="T50" fmla="*/ 31342 w 672465"/>
                <a:gd name="T51" fmla="*/ 33902 h 414654"/>
                <a:gd name="T52" fmla="*/ 31342 w 672465"/>
                <a:gd name="T53" fmla="*/ 40448 h 414654"/>
                <a:gd name="T54" fmla="*/ 166 w 672465"/>
                <a:gd name="T55" fmla="*/ 40448 h 414654"/>
                <a:gd name="T56" fmla="*/ 166 w 672465"/>
                <a:gd name="T57" fmla="*/ 41500 h 414654"/>
                <a:gd name="T58" fmla="*/ 32765 w 672465"/>
                <a:gd name="T59" fmla="*/ 41500 h 414654"/>
                <a:gd name="T60" fmla="*/ 32765 w 672465"/>
                <a:gd name="T61" fmla="*/ 34836 h 414654"/>
                <a:gd name="T62" fmla="*/ 67284 w 672465"/>
                <a:gd name="T63" fmla="*/ 34836 h 414654"/>
                <a:gd name="T64" fmla="*/ 67284 w 672465"/>
                <a:gd name="T65" fmla="*/ 0 h 414654"/>
                <a:gd name="T66" fmla="*/ 41512 w 672465"/>
                <a:gd name="T67" fmla="*/ 0 h 414654"/>
                <a:gd name="T68" fmla="*/ 41512 w 672465"/>
                <a:gd name="T69" fmla="*/ 351 h 414654"/>
                <a:gd name="T70" fmla="*/ 41512 w 672465"/>
                <a:gd name="T71" fmla="*/ 936 h 414654"/>
                <a:gd name="T72" fmla="*/ 41512 w 672465"/>
                <a:gd name="T73" fmla="*/ 27472 h 414654"/>
                <a:gd name="T74" fmla="*/ 32129 w 672465"/>
                <a:gd name="T75" fmla="*/ 27472 h 414654"/>
                <a:gd name="T76" fmla="*/ 22747 w 672465"/>
                <a:gd name="T77" fmla="*/ 16483 h 41465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72465" h="414654">
                  <a:moveTo>
                    <a:pt x="227202" y="164642"/>
                  </a:moveTo>
                  <a:lnTo>
                    <a:pt x="0" y="164642"/>
                  </a:lnTo>
                  <a:lnTo>
                    <a:pt x="0" y="354977"/>
                  </a:lnTo>
                  <a:lnTo>
                    <a:pt x="14350" y="354977"/>
                  </a:lnTo>
                  <a:lnTo>
                    <a:pt x="14350" y="173990"/>
                  </a:lnTo>
                  <a:lnTo>
                    <a:pt x="220852" y="173990"/>
                  </a:lnTo>
                  <a:lnTo>
                    <a:pt x="313054" y="283743"/>
                  </a:lnTo>
                  <a:lnTo>
                    <a:pt x="328929" y="283743"/>
                  </a:lnTo>
                  <a:lnTo>
                    <a:pt x="414654" y="283743"/>
                  </a:lnTo>
                  <a:lnTo>
                    <a:pt x="429005" y="283743"/>
                  </a:lnTo>
                  <a:lnTo>
                    <a:pt x="429005" y="218351"/>
                  </a:lnTo>
                  <a:lnTo>
                    <a:pt x="581532" y="218351"/>
                  </a:lnTo>
                  <a:lnTo>
                    <a:pt x="581532" y="207848"/>
                  </a:lnTo>
                  <a:lnTo>
                    <a:pt x="429005" y="207848"/>
                  </a:lnTo>
                  <a:lnTo>
                    <a:pt x="429005" y="150634"/>
                  </a:lnTo>
                  <a:lnTo>
                    <a:pt x="581532" y="150634"/>
                  </a:lnTo>
                  <a:lnTo>
                    <a:pt x="581532" y="141287"/>
                  </a:lnTo>
                  <a:lnTo>
                    <a:pt x="429005" y="141287"/>
                  </a:lnTo>
                  <a:lnTo>
                    <a:pt x="429005" y="85242"/>
                  </a:lnTo>
                  <a:lnTo>
                    <a:pt x="581532" y="85242"/>
                  </a:lnTo>
                  <a:lnTo>
                    <a:pt x="581532" y="74726"/>
                  </a:lnTo>
                  <a:lnTo>
                    <a:pt x="429005" y="74726"/>
                  </a:lnTo>
                  <a:lnTo>
                    <a:pt x="429005" y="9347"/>
                  </a:lnTo>
                  <a:lnTo>
                    <a:pt x="659383" y="9347"/>
                  </a:lnTo>
                  <a:lnTo>
                    <a:pt x="659383" y="338632"/>
                  </a:lnTo>
                  <a:lnTo>
                    <a:pt x="313054" y="338632"/>
                  </a:lnTo>
                  <a:lnTo>
                    <a:pt x="313054" y="404012"/>
                  </a:lnTo>
                  <a:lnTo>
                    <a:pt x="1650" y="404012"/>
                  </a:lnTo>
                  <a:lnTo>
                    <a:pt x="1650" y="414528"/>
                  </a:lnTo>
                  <a:lnTo>
                    <a:pt x="327278" y="414528"/>
                  </a:lnTo>
                  <a:lnTo>
                    <a:pt x="327278" y="347967"/>
                  </a:lnTo>
                  <a:lnTo>
                    <a:pt x="672083" y="347967"/>
                  </a:lnTo>
                  <a:lnTo>
                    <a:pt x="672083" y="0"/>
                  </a:lnTo>
                  <a:lnTo>
                    <a:pt x="414654" y="0"/>
                  </a:lnTo>
                  <a:lnTo>
                    <a:pt x="414654" y="3505"/>
                  </a:lnTo>
                  <a:lnTo>
                    <a:pt x="414654" y="9347"/>
                  </a:lnTo>
                  <a:lnTo>
                    <a:pt x="414654" y="274408"/>
                  </a:lnTo>
                  <a:lnTo>
                    <a:pt x="320928" y="274408"/>
                  </a:lnTo>
                  <a:lnTo>
                    <a:pt x="227202" y="16464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3" name="object 101"/>
            <p:cNvSpPr/>
            <p:nvPr/>
          </p:nvSpPr>
          <p:spPr bwMode="auto">
            <a:xfrm>
              <a:off x="1772793" y="4477702"/>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4" name="object 102"/>
            <p:cNvSpPr/>
            <p:nvPr/>
          </p:nvSpPr>
          <p:spPr bwMode="auto">
            <a:xfrm>
              <a:off x="1769363" y="4477702"/>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5" name="object 103"/>
            <p:cNvSpPr/>
            <p:nvPr/>
          </p:nvSpPr>
          <p:spPr bwMode="auto">
            <a:xfrm>
              <a:off x="1772793" y="4527423"/>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6" name="object 104"/>
            <p:cNvSpPr/>
            <p:nvPr/>
          </p:nvSpPr>
          <p:spPr bwMode="auto">
            <a:xfrm>
              <a:off x="1769363" y="4527423"/>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828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7" name="object 105"/>
            <p:cNvSpPr/>
            <p:nvPr/>
          </p:nvSpPr>
          <p:spPr bwMode="auto">
            <a:xfrm>
              <a:off x="1772793" y="4427982"/>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8" name="object 106"/>
            <p:cNvSpPr/>
            <p:nvPr/>
          </p:nvSpPr>
          <p:spPr bwMode="auto">
            <a:xfrm>
              <a:off x="1769363" y="4427982"/>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828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89" name="object 107"/>
            <p:cNvSpPr/>
            <p:nvPr/>
          </p:nvSpPr>
          <p:spPr bwMode="auto">
            <a:xfrm>
              <a:off x="1772793" y="4578286"/>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0" name="object 108"/>
            <p:cNvSpPr/>
            <p:nvPr/>
          </p:nvSpPr>
          <p:spPr bwMode="auto">
            <a:xfrm>
              <a:off x="1769363" y="4578286"/>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1" name="object 109"/>
            <p:cNvSpPr/>
            <p:nvPr/>
          </p:nvSpPr>
          <p:spPr bwMode="auto">
            <a:xfrm>
              <a:off x="1772793" y="4628007"/>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2" name="object 110"/>
            <p:cNvSpPr/>
            <p:nvPr/>
          </p:nvSpPr>
          <p:spPr bwMode="auto">
            <a:xfrm>
              <a:off x="1769363" y="4628007"/>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828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3" name="object 111"/>
            <p:cNvSpPr/>
            <p:nvPr/>
          </p:nvSpPr>
          <p:spPr bwMode="auto">
            <a:xfrm>
              <a:off x="1772793" y="4677727"/>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4" name="object 112"/>
            <p:cNvSpPr/>
            <p:nvPr/>
          </p:nvSpPr>
          <p:spPr bwMode="auto">
            <a:xfrm>
              <a:off x="1769363" y="4677727"/>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5" name="object 113"/>
            <p:cNvSpPr/>
            <p:nvPr/>
          </p:nvSpPr>
          <p:spPr bwMode="auto">
            <a:xfrm>
              <a:off x="1772793" y="4728019"/>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6" name="object 114"/>
            <p:cNvSpPr/>
            <p:nvPr/>
          </p:nvSpPr>
          <p:spPr bwMode="auto">
            <a:xfrm>
              <a:off x="1769363" y="4728019"/>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7" name="object 115"/>
            <p:cNvSpPr/>
            <p:nvPr/>
          </p:nvSpPr>
          <p:spPr bwMode="auto">
            <a:xfrm>
              <a:off x="1772793" y="4778311"/>
              <a:ext cx="100965" cy="0"/>
            </a:xfrm>
            <a:custGeom>
              <a:avLst/>
              <a:gdLst>
                <a:gd name="T0" fmla="*/ 0 w 134619"/>
                <a:gd name="T1" fmla="*/ 13427 w 134619"/>
                <a:gd name="T2" fmla="*/ 0 60000 65536"/>
                <a:gd name="T3" fmla="*/ 0 60000 65536"/>
              </a:gdLst>
              <a:ahLst/>
              <a:cxnLst>
                <a:cxn ang="T2">
                  <a:pos x="T0" y="0"/>
                </a:cxn>
                <a:cxn ang="T3">
                  <a:pos x="T1" y="0"/>
                </a:cxn>
              </a:cxnLst>
              <a:rect l="0" t="0" r="r" b="b"/>
              <a:pathLst>
                <a:path w="134619">
                  <a:moveTo>
                    <a:pt x="0" y="0"/>
                  </a:moveTo>
                  <a:lnTo>
                    <a:pt x="134112" y="0"/>
                  </a:lnTo>
                </a:path>
              </a:pathLst>
            </a:custGeom>
            <a:noFill/>
            <a:ln w="1066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8" name="object 116"/>
            <p:cNvSpPr/>
            <p:nvPr/>
          </p:nvSpPr>
          <p:spPr bwMode="auto">
            <a:xfrm>
              <a:off x="1769363" y="4778311"/>
              <a:ext cx="107633" cy="0"/>
            </a:xfrm>
            <a:custGeom>
              <a:avLst/>
              <a:gdLst>
                <a:gd name="T0" fmla="*/ 0 w 143510"/>
                <a:gd name="T1" fmla="*/ 14342 w 143510"/>
                <a:gd name="T2" fmla="*/ 0 60000 65536"/>
                <a:gd name="T3" fmla="*/ 0 60000 65536"/>
              </a:gdLst>
              <a:ahLst/>
              <a:cxnLst>
                <a:cxn ang="T2">
                  <a:pos x="T0" y="0"/>
                </a:cxn>
                <a:cxn ang="T3">
                  <a:pos x="T1" y="0"/>
                </a:cxn>
              </a:cxnLst>
              <a:rect l="0" t="0" r="r" b="b"/>
              <a:pathLst>
                <a:path w="143510">
                  <a:moveTo>
                    <a:pt x="0" y="0"/>
                  </a:moveTo>
                  <a:lnTo>
                    <a:pt x="143256"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5999" name="object 117"/>
            <p:cNvSpPr/>
            <p:nvPr/>
          </p:nvSpPr>
          <p:spPr bwMode="auto">
            <a:xfrm>
              <a:off x="1673351" y="4870324"/>
              <a:ext cx="276702" cy="76676"/>
            </a:xfrm>
            <a:custGeom>
              <a:avLst/>
              <a:gdLst>
                <a:gd name="T0" fmla="*/ 36923 w 368935"/>
                <a:gd name="T1" fmla="*/ 0 h 102235"/>
                <a:gd name="T2" fmla="*/ 0 w 368935"/>
                <a:gd name="T3" fmla="*/ 0 h 102235"/>
                <a:gd name="T4" fmla="*/ 0 w 368935"/>
                <a:gd name="T5" fmla="*/ 10222 h 102235"/>
                <a:gd name="T6" fmla="*/ 36923 w 368935"/>
                <a:gd name="T7" fmla="*/ 10222 h 102235"/>
                <a:gd name="T8" fmla="*/ 36923 w 368935"/>
                <a:gd name="T9" fmla="*/ 9167 h 102235"/>
                <a:gd name="T10" fmla="*/ 2060 w 368935"/>
                <a:gd name="T11" fmla="*/ 9167 h 102235"/>
                <a:gd name="T12" fmla="*/ 3174 w 368935"/>
                <a:gd name="T13" fmla="*/ 8340 h 102235"/>
                <a:gd name="T14" fmla="*/ 1272 w 368935"/>
                <a:gd name="T15" fmla="*/ 8340 h 102235"/>
                <a:gd name="T16" fmla="*/ 1272 w 368935"/>
                <a:gd name="T17" fmla="*/ 940 h 102235"/>
                <a:gd name="T18" fmla="*/ 36923 w 368935"/>
                <a:gd name="T19" fmla="*/ 940 h 102235"/>
                <a:gd name="T20" fmla="*/ 36923 w 368935"/>
                <a:gd name="T21" fmla="*/ 0 h 102235"/>
                <a:gd name="T22" fmla="*/ 21386 w 368935"/>
                <a:gd name="T23" fmla="*/ 940 h 102235"/>
                <a:gd name="T24" fmla="*/ 19492 w 368935"/>
                <a:gd name="T25" fmla="*/ 940 h 102235"/>
                <a:gd name="T26" fmla="*/ 8239 w 368935"/>
                <a:gd name="T27" fmla="*/ 9167 h 102235"/>
                <a:gd name="T28" fmla="*/ 10147 w 368935"/>
                <a:gd name="T29" fmla="*/ 9167 h 102235"/>
                <a:gd name="T30" fmla="*/ 21386 w 368935"/>
                <a:gd name="T31" fmla="*/ 940 h 102235"/>
                <a:gd name="T32" fmla="*/ 29625 w 368935"/>
                <a:gd name="T33" fmla="*/ 940 h 102235"/>
                <a:gd name="T34" fmla="*/ 27565 w 368935"/>
                <a:gd name="T35" fmla="*/ 940 h 102235"/>
                <a:gd name="T36" fmla="*/ 16631 w 368935"/>
                <a:gd name="T37" fmla="*/ 9167 h 102235"/>
                <a:gd name="T38" fmla="*/ 18538 w 368935"/>
                <a:gd name="T39" fmla="*/ 9167 h 102235"/>
                <a:gd name="T40" fmla="*/ 29625 w 368935"/>
                <a:gd name="T41" fmla="*/ 940 h 102235"/>
                <a:gd name="T42" fmla="*/ 36923 w 368935"/>
                <a:gd name="T43" fmla="*/ 940 h 102235"/>
                <a:gd name="T44" fmla="*/ 35168 w 368935"/>
                <a:gd name="T45" fmla="*/ 940 h 102235"/>
                <a:gd name="T46" fmla="*/ 23929 w 368935"/>
                <a:gd name="T47" fmla="*/ 9167 h 102235"/>
                <a:gd name="T48" fmla="*/ 25823 w 368935"/>
                <a:gd name="T49" fmla="*/ 9167 h 102235"/>
                <a:gd name="T50" fmla="*/ 35651 w 368935"/>
                <a:gd name="T51" fmla="*/ 1996 h 102235"/>
                <a:gd name="T52" fmla="*/ 36923 w 368935"/>
                <a:gd name="T53" fmla="*/ 1996 h 102235"/>
                <a:gd name="T54" fmla="*/ 36923 w 368935"/>
                <a:gd name="T55" fmla="*/ 940 h 102235"/>
                <a:gd name="T56" fmla="*/ 36923 w 368935"/>
                <a:gd name="T57" fmla="*/ 1996 h 102235"/>
                <a:gd name="T58" fmla="*/ 35651 w 368935"/>
                <a:gd name="T59" fmla="*/ 1996 h 102235"/>
                <a:gd name="T60" fmla="*/ 35651 w 368935"/>
                <a:gd name="T61" fmla="*/ 9167 h 102235"/>
                <a:gd name="T62" fmla="*/ 36923 w 368935"/>
                <a:gd name="T63" fmla="*/ 9167 h 102235"/>
                <a:gd name="T64" fmla="*/ 36923 w 368935"/>
                <a:gd name="T65" fmla="*/ 1996 h 102235"/>
                <a:gd name="T66" fmla="*/ 13147 w 368935"/>
                <a:gd name="T67" fmla="*/ 940 h 102235"/>
                <a:gd name="T68" fmla="*/ 11252 w 368935"/>
                <a:gd name="T69" fmla="*/ 940 h 102235"/>
                <a:gd name="T70" fmla="*/ 1272 w 368935"/>
                <a:gd name="T71" fmla="*/ 8340 h 102235"/>
                <a:gd name="T72" fmla="*/ 3174 w 368935"/>
                <a:gd name="T73" fmla="*/ 8340 h 102235"/>
                <a:gd name="T74" fmla="*/ 13147 w 368935"/>
                <a:gd name="T75" fmla="*/ 940 h 1022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68935" h="102235">
                  <a:moveTo>
                    <a:pt x="368807" y="0"/>
                  </a:moveTo>
                  <a:lnTo>
                    <a:pt x="0" y="0"/>
                  </a:lnTo>
                  <a:lnTo>
                    <a:pt x="0" y="102108"/>
                  </a:lnTo>
                  <a:lnTo>
                    <a:pt x="368807" y="102108"/>
                  </a:lnTo>
                  <a:lnTo>
                    <a:pt x="368807" y="91567"/>
                  </a:lnTo>
                  <a:lnTo>
                    <a:pt x="20574" y="91567"/>
                  </a:lnTo>
                  <a:lnTo>
                    <a:pt x="31699" y="83312"/>
                  </a:lnTo>
                  <a:lnTo>
                    <a:pt x="12700" y="83312"/>
                  </a:lnTo>
                  <a:lnTo>
                    <a:pt x="12700" y="9398"/>
                  </a:lnTo>
                  <a:lnTo>
                    <a:pt x="368807" y="9398"/>
                  </a:lnTo>
                  <a:lnTo>
                    <a:pt x="368807" y="0"/>
                  </a:lnTo>
                  <a:close/>
                </a:path>
                <a:path w="368935" h="102235">
                  <a:moveTo>
                    <a:pt x="213613" y="9398"/>
                  </a:moveTo>
                  <a:lnTo>
                    <a:pt x="194690" y="9398"/>
                  </a:lnTo>
                  <a:lnTo>
                    <a:pt x="82295" y="91567"/>
                  </a:lnTo>
                  <a:lnTo>
                    <a:pt x="101345" y="91567"/>
                  </a:lnTo>
                  <a:lnTo>
                    <a:pt x="213613" y="9398"/>
                  </a:lnTo>
                  <a:close/>
                </a:path>
                <a:path w="368935" h="102235">
                  <a:moveTo>
                    <a:pt x="295909" y="9398"/>
                  </a:moveTo>
                  <a:lnTo>
                    <a:pt x="275336" y="9398"/>
                  </a:lnTo>
                  <a:lnTo>
                    <a:pt x="166115" y="91567"/>
                  </a:lnTo>
                  <a:lnTo>
                    <a:pt x="185165" y="91567"/>
                  </a:lnTo>
                  <a:lnTo>
                    <a:pt x="295909" y="9398"/>
                  </a:lnTo>
                  <a:close/>
                </a:path>
                <a:path w="368935" h="102235">
                  <a:moveTo>
                    <a:pt x="368807" y="9398"/>
                  </a:moveTo>
                  <a:lnTo>
                    <a:pt x="351281" y="9398"/>
                  </a:lnTo>
                  <a:lnTo>
                    <a:pt x="239013" y="91567"/>
                  </a:lnTo>
                  <a:lnTo>
                    <a:pt x="257937" y="91567"/>
                  </a:lnTo>
                  <a:lnTo>
                    <a:pt x="356107" y="19939"/>
                  </a:lnTo>
                  <a:lnTo>
                    <a:pt x="368807" y="19939"/>
                  </a:lnTo>
                  <a:lnTo>
                    <a:pt x="368807" y="9398"/>
                  </a:lnTo>
                  <a:close/>
                </a:path>
                <a:path w="368935" h="102235">
                  <a:moveTo>
                    <a:pt x="368807" y="19939"/>
                  </a:moveTo>
                  <a:lnTo>
                    <a:pt x="356107" y="19939"/>
                  </a:lnTo>
                  <a:lnTo>
                    <a:pt x="356107" y="91567"/>
                  </a:lnTo>
                  <a:lnTo>
                    <a:pt x="368807" y="91567"/>
                  </a:lnTo>
                  <a:lnTo>
                    <a:pt x="368807" y="19939"/>
                  </a:lnTo>
                  <a:close/>
                </a:path>
                <a:path w="368935" h="102235">
                  <a:moveTo>
                    <a:pt x="131318" y="9398"/>
                  </a:moveTo>
                  <a:lnTo>
                    <a:pt x="112394" y="9398"/>
                  </a:lnTo>
                  <a:lnTo>
                    <a:pt x="12700" y="83312"/>
                  </a:lnTo>
                  <a:lnTo>
                    <a:pt x="31699" y="83312"/>
                  </a:lnTo>
                  <a:lnTo>
                    <a:pt x="131318" y="939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00" name="object 118"/>
            <p:cNvSpPr/>
            <p:nvPr/>
          </p:nvSpPr>
          <p:spPr bwMode="auto">
            <a:xfrm>
              <a:off x="1673351" y="4870324"/>
              <a:ext cx="278130" cy="76676"/>
            </a:xfrm>
            <a:custGeom>
              <a:avLst/>
              <a:gdLst>
                <a:gd name="T0" fmla="*/ 153 w 370839"/>
                <a:gd name="T1" fmla="*/ 10222 h 102235"/>
                <a:gd name="T2" fmla="*/ 1272 w 370839"/>
                <a:gd name="T3" fmla="*/ 10222 h 102235"/>
                <a:gd name="T4" fmla="*/ 13630 w 370839"/>
                <a:gd name="T5" fmla="*/ 10222 h 102235"/>
                <a:gd name="T6" fmla="*/ 35651 w 370839"/>
                <a:gd name="T7" fmla="*/ 10222 h 102235"/>
                <a:gd name="T8" fmla="*/ 36923 w 370839"/>
                <a:gd name="T9" fmla="*/ 10222 h 102235"/>
                <a:gd name="T10" fmla="*/ 36923 w 370839"/>
                <a:gd name="T11" fmla="*/ 9167 h 102235"/>
                <a:gd name="T12" fmla="*/ 36923 w 370839"/>
                <a:gd name="T13" fmla="*/ 940 h 102235"/>
                <a:gd name="T14" fmla="*/ 37076 w 370839"/>
                <a:gd name="T15" fmla="*/ 940 h 102235"/>
                <a:gd name="T16" fmla="*/ 36923 w 370839"/>
                <a:gd name="T17" fmla="*/ 940 h 102235"/>
                <a:gd name="T18" fmla="*/ 36923 w 370839"/>
                <a:gd name="T19" fmla="*/ 114 h 102235"/>
                <a:gd name="T20" fmla="*/ 36923 w 370839"/>
                <a:gd name="T21" fmla="*/ 0 h 102235"/>
                <a:gd name="T22" fmla="*/ 13630 w 370839"/>
                <a:gd name="T23" fmla="*/ 0 h 102235"/>
                <a:gd name="T24" fmla="*/ 153 w 370839"/>
                <a:gd name="T25" fmla="*/ 0 h 102235"/>
                <a:gd name="T26" fmla="*/ 0 w 370839"/>
                <a:gd name="T27" fmla="*/ 0 h 102235"/>
                <a:gd name="T28" fmla="*/ 0 w 370839"/>
                <a:gd name="T29" fmla="*/ 114 h 102235"/>
                <a:gd name="T30" fmla="*/ 0 w 370839"/>
                <a:gd name="T31" fmla="*/ 9395 h 102235"/>
                <a:gd name="T32" fmla="*/ 0 w 370839"/>
                <a:gd name="T33" fmla="*/ 10222 h 102235"/>
                <a:gd name="T34" fmla="*/ 153 w 370839"/>
                <a:gd name="T35" fmla="*/ 10222 h 1022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70839" h="102235">
                  <a:moveTo>
                    <a:pt x="1524" y="102108"/>
                  </a:moveTo>
                  <a:lnTo>
                    <a:pt x="12700" y="102108"/>
                  </a:lnTo>
                  <a:lnTo>
                    <a:pt x="136144" y="102108"/>
                  </a:lnTo>
                  <a:lnTo>
                    <a:pt x="356107" y="102108"/>
                  </a:lnTo>
                  <a:lnTo>
                    <a:pt x="368807" y="102108"/>
                  </a:lnTo>
                  <a:lnTo>
                    <a:pt x="368807" y="91567"/>
                  </a:lnTo>
                  <a:lnTo>
                    <a:pt x="368807" y="9398"/>
                  </a:lnTo>
                  <a:lnTo>
                    <a:pt x="370331" y="9398"/>
                  </a:lnTo>
                  <a:lnTo>
                    <a:pt x="368807" y="9398"/>
                  </a:lnTo>
                  <a:lnTo>
                    <a:pt x="368807" y="1143"/>
                  </a:lnTo>
                  <a:lnTo>
                    <a:pt x="368807" y="0"/>
                  </a:lnTo>
                  <a:lnTo>
                    <a:pt x="136144" y="0"/>
                  </a:lnTo>
                  <a:lnTo>
                    <a:pt x="1524" y="0"/>
                  </a:lnTo>
                  <a:lnTo>
                    <a:pt x="0" y="0"/>
                  </a:lnTo>
                  <a:lnTo>
                    <a:pt x="0" y="1143"/>
                  </a:lnTo>
                  <a:lnTo>
                    <a:pt x="0" y="93853"/>
                  </a:lnTo>
                  <a:lnTo>
                    <a:pt x="0" y="102108"/>
                  </a:lnTo>
                  <a:lnTo>
                    <a:pt x="1524" y="102108"/>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01" name="object 119"/>
            <p:cNvSpPr/>
            <p:nvPr/>
          </p:nvSpPr>
          <p:spPr bwMode="auto">
            <a:xfrm>
              <a:off x="1866805" y="4885278"/>
              <a:ext cx="73818" cy="53816"/>
            </a:xfrm>
            <a:custGeom>
              <a:avLst/>
              <a:gdLst>
                <a:gd name="T0" fmla="*/ 9828 w 98425"/>
                <a:gd name="T1" fmla="*/ 7172 h 71754"/>
                <a:gd name="T2" fmla="*/ 0 w 98425"/>
                <a:gd name="T3" fmla="*/ 7172 h 71754"/>
                <a:gd name="T4" fmla="*/ 9828 w 98425"/>
                <a:gd name="T5" fmla="*/ 0 h 71754"/>
                <a:gd name="T6" fmla="*/ 9828 w 98425"/>
                <a:gd name="T7" fmla="*/ 7172 h 717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425" h="71754">
                  <a:moveTo>
                    <a:pt x="98170" y="71628"/>
                  </a:moveTo>
                  <a:lnTo>
                    <a:pt x="0" y="71628"/>
                  </a:lnTo>
                  <a:lnTo>
                    <a:pt x="98170" y="0"/>
                  </a:lnTo>
                  <a:lnTo>
                    <a:pt x="98170" y="71628"/>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02" name="object 120"/>
            <p:cNvSpPr/>
            <p:nvPr/>
          </p:nvSpPr>
          <p:spPr bwMode="auto">
            <a:xfrm>
              <a:off x="1812225" y="4877370"/>
              <a:ext cx="124778" cy="61913"/>
            </a:xfrm>
            <a:custGeom>
              <a:avLst/>
              <a:gdLst>
                <a:gd name="T0" fmla="*/ 16631 w 166369"/>
                <a:gd name="T1" fmla="*/ 0 h 82550"/>
                <a:gd name="T2" fmla="*/ 5391 w 166369"/>
                <a:gd name="T3" fmla="*/ 8226 h 82550"/>
                <a:gd name="T4" fmla="*/ 0 w 166369"/>
                <a:gd name="T5" fmla="*/ 8226 h 82550"/>
                <a:gd name="T6" fmla="*/ 11087 w 166369"/>
                <a:gd name="T7" fmla="*/ 0 h 82550"/>
                <a:gd name="T8" fmla="*/ 16631 w 166369"/>
                <a:gd name="T9" fmla="*/ 0 h 82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6369" h="82550">
                  <a:moveTo>
                    <a:pt x="166116" y="0"/>
                  </a:moveTo>
                  <a:lnTo>
                    <a:pt x="53848" y="82168"/>
                  </a:lnTo>
                  <a:lnTo>
                    <a:pt x="0" y="82168"/>
                  </a:lnTo>
                  <a:lnTo>
                    <a:pt x="110743" y="0"/>
                  </a:lnTo>
                  <a:lnTo>
                    <a:pt x="166116"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03" name="object 121"/>
            <p:cNvSpPr/>
            <p:nvPr/>
          </p:nvSpPr>
          <p:spPr bwMode="auto">
            <a:xfrm>
              <a:off x="1749362" y="4877370"/>
              <a:ext cx="130493" cy="61913"/>
            </a:xfrm>
            <a:custGeom>
              <a:avLst/>
              <a:gdLst>
                <a:gd name="T0" fmla="*/ 17420 w 173989"/>
                <a:gd name="T1" fmla="*/ 0 h 82550"/>
                <a:gd name="T2" fmla="*/ 6485 w 173989"/>
                <a:gd name="T3" fmla="*/ 8226 h 82550"/>
                <a:gd name="T4" fmla="*/ 3485 w 173989"/>
                <a:gd name="T5" fmla="*/ 8226 h 82550"/>
                <a:gd name="T6" fmla="*/ 0 w 173989"/>
                <a:gd name="T7" fmla="*/ 8226 h 82550"/>
                <a:gd name="T8" fmla="*/ 11240 w 173989"/>
                <a:gd name="T9" fmla="*/ 0 h 82550"/>
                <a:gd name="T10" fmla="*/ 17420 w 173989"/>
                <a:gd name="T11" fmla="*/ 0 h 825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3989" h="82550">
                  <a:moveTo>
                    <a:pt x="173990" y="0"/>
                  </a:moveTo>
                  <a:lnTo>
                    <a:pt x="64769" y="82168"/>
                  </a:lnTo>
                  <a:lnTo>
                    <a:pt x="34798" y="82168"/>
                  </a:lnTo>
                  <a:lnTo>
                    <a:pt x="0" y="82168"/>
                  </a:lnTo>
                  <a:lnTo>
                    <a:pt x="112268" y="0"/>
                  </a:lnTo>
                  <a:lnTo>
                    <a:pt x="17399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04" name="object 122"/>
            <p:cNvSpPr/>
            <p:nvPr/>
          </p:nvSpPr>
          <p:spPr bwMode="auto">
            <a:xfrm>
              <a:off x="1688784" y="4877370"/>
              <a:ext cx="130969" cy="61913"/>
            </a:xfrm>
            <a:custGeom>
              <a:avLst/>
              <a:gdLst>
                <a:gd name="T0" fmla="*/ 11570 w 174625"/>
                <a:gd name="T1" fmla="*/ 0 h 82550"/>
                <a:gd name="T2" fmla="*/ 17432 w 174625"/>
                <a:gd name="T3" fmla="*/ 0 h 82550"/>
                <a:gd name="T4" fmla="*/ 6179 w 174625"/>
                <a:gd name="T5" fmla="*/ 8226 h 82550"/>
                <a:gd name="T6" fmla="*/ 0 w 174625"/>
                <a:gd name="T7" fmla="*/ 8226 h 82550"/>
                <a:gd name="T8" fmla="*/ 11087 w 174625"/>
                <a:gd name="T9" fmla="*/ 0 h 82550"/>
                <a:gd name="T10" fmla="*/ 11570 w 174625"/>
                <a:gd name="T11" fmla="*/ 0 h 825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4625" h="82550">
                  <a:moveTo>
                    <a:pt x="115569" y="0"/>
                  </a:moveTo>
                  <a:lnTo>
                    <a:pt x="174116" y="0"/>
                  </a:lnTo>
                  <a:lnTo>
                    <a:pt x="61721" y="82168"/>
                  </a:lnTo>
                  <a:lnTo>
                    <a:pt x="0" y="82168"/>
                  </a:lnTo>
                  <a:lnTo>
                    <a:pt x="110743" y="0"/>
                  </a:lnTo>
                  <a:lnTo>
                    <a:pt x="115569"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05" name="object 123"/>
            <p:cNvSpPr/>
            <p:nvPr/>
          </p:nvSpPr>
          <p:spPr bwMode="auto">
            <a:xfrm>
              <a:off x="1682876" y="4877372"/>
              <a:ext cx="74771" cy="55722"/>
            </a:xfrm>
            <a:custGeom>
              <a:avLst/>
              <a:gdLst>
                <a:gd name="T0" fmla="*/ 0 w 99694"/>
                <a:gd name="T1" fmla="*/ 0 h 74295"/>
                <a:gd name="T2" fmla="*/ 9981 w 99694"/>
                <a:gd name="T3" fmla="*/ 0 h 74295"/>
                <a:gd name="T4" fmla="*/ 0 w 99694"/>
                <a:gd name="T5" fmla="*/ 7400 h 74295"/>
                <a:gd name="T6" fmla="*/ 0 w 99694"/>
                <a:gd name="T7" fmla="*/ 0 h 742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694" h="74295">
                  <a:moveTo>
                    <a:pt x="0" y="0"/>
                  </a:moveTo>
                  <a:lnTo>
                    <a:pt x="99694" y="0"/>
                  </a:lnTo>
                  <a:lnTo>
                    <a:pt x="0" y="73913"/>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06" name="object 124"/>
            <p:cNvSpPr/>
            <p:nvPr/>
          </p:nvSpPr>
          <p:spPr bwMode="auto">
            <a:xfrm>
              <a:off x="1603630" y="4473702"/>
              <a:ext cx="554355" cy="762476"/>
            </a:xfrm>
            <a:custGeom>
              <a:avLst/>
              <a:gdLst>
                <a:gd name="T0" fmla="*/ 56338 w 739139"/>
                <a:gd name="T1" fmla="*/ 13350 h 1016635"/>
                <a:gd name="T2" fmla="*/ 54749 w 739139"/>
                <a:gd name="T3" fmla="*/ 13350 h 1016635"/>
                <a:gd name="T4" fmla="*/ 54749 w 739139"/>
                <a:gd name="T5" fmla="*/ 46140 h 1016635"/>
                <a:gd name="T6" fmla="*/ 0 w 739139"/>
                <a:gd name="T7" fmla="*/ 46140 h 1016635"/>
                <a:gd name="T8" fmla="*/ 0 w 739139"/>
                <a:gd name="T9" fmla="*/ 69801 h 1016635"/>
                <a:gd name="T10" fmla="*/ 49968 w 739139"/>
                <a:gd name="T11" fmla="*/ 69801 h 1016635"/>
                <a:gd name="T12" fmla="*/ 72562 w 739139"/>
                <a:gd name="T13" fmla="*/ 82560 h 1016635"/>
                <a:gd name="T14" fmla="*/ 72562 w 739139"/>
                <a:gd name="T15" fmla="*/ 101765 h 1016635"/>
                <a:gd name="T16" fmla="*/ 73998 w 739139"/>
                <a:gd name="T17" fmla="*/ 101765 h 1016635"/>
                <a:gd name="T18" fmla="*/ 73998 w 739139"/>
                <a:gd name="T19" fmla="*/ 82091 h 1016635"/>
                <a:gd name="T20" fmla="*/ 50451 w 739139"/>
                <a:gd name="T21" fmla="*/ 68746 h 1016635"/>
                <a:gd name="T22" fmla="*/ 1437 w 739139"/>
                <a:gd name="T23" fmla="*/ 68746 h 1016635"/>
                <a:gd name="T24" fmla="*/ 1437 w 739139"/>
                <a:gd name="T25" fmla="*/ 47309 h 1016635"/>
                <a:gd name="T26" fmla="*/ 56338 w 739139"/>
                <a:gd name="T27" fmla="*/ 47309 h 1016635"/>
                <a:gd name="T28" fmla="*/ 56338 w 739139"/>
                <a:gd name="T29" fmla="*/ 13350 h 1016635"/>
                <a:gd name="T30" fmla="*/ 47260 w 739139"/>
                <a:gd name="T31" fmla="*/ 0 h 1016635"/>
                <a:gd name="T32" fmla="*/ 45836 w 739139"/>
                <a:gd name="T33" fmla="*/ 0 h 1016635"/>
                <a:gd name="T34" fmla="*/ 45836 w 739139"/>
                <a:gd name="T35" fmla="*/ 46140 h 1016635"/>
                <a:gd name="T36" fmla="*/ 47260 w 739139"/>
                <a:gd name="T37" fmla="*/ 46140 h 1016635"/>
                <a:gd name="T38" fmla="*/ 47260 w 739139"/>
                <a:gd name="T39" fmla="*/ 0 h 101663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39139" h="1016635">
                  <a:moveTo>
                    <a:pt x="562736" y="133350"/>
                  </a:moveTo>
                  <a:lnTo>
                    <a:pt x="546861" y="133350"/>
                  </a:lnTo>
                  <a:lnTo>
                    <a:pt x="546861" y="460882"/>
                  </a:lnTo>
                  <a:lnTo>
                    <a:pt x="0" y="460882"/>
                  </a:lnTo>
                  <a:lnTo>
                    <a:pt x="0" y="697229"/>
                  </a:lnTo>
                  <a:lnTo>
                    <a:pt x="499109" y="697229"/>
                  </a:lnTo>
                  <a:lnTo>
                    <a:pt x="724788" y="824674"/>
                  </a:lnTo>
                  <a:lnTo>
                    <a:pt x="724788" y="1016507"/>
                  </a:lnTo>
                  <a:lnTo>
                    <a:pt x="739139" y="1016507"/>
                  </a:lnTo>
                  <a:lnTo>
                    <a:pt x="739139" y="819988"/>
                  </a:lnTo>
                  <a:lnTo>
                    <a:pt x="503935" y="686688"/>
                  </a:lnTo>
                  <a:lnTo>
                    <a:pt x="14350" y="686688"/>
                  </a:lnTo>
                  <a:lnTo>
                    <a:pt x="14350" y="472566"/>
                  </a:lnTo>
                  <a:lnTo>
                    <a:pt x="562736" y="472566"/>
                  </a:lnTo>
                  <a:lnTo>
                    <a:pt x="562736" y="133350"/>
                  </a:lnTo>
                  <a:close/>
                </a:path>
                <a:path w="739139" h="1016635">
                  <a:moveTo>
                    <a:pt x="472058" y="0"/>
                  </a:moveTo>
                  <a:lnTo>
                    <a:pt x="457834" y="0"/>
                  </a:lnTo>
                  <a:lnTo>
                    <a:pt x="457834" y="460882"/>
                  </a:lnTo>
                  <a:lnTo>
                    <a:pt x="472058" y="460882"/>
                  </a:lnTo>
                  <a:lnTo>
                    <a:pt x="472058"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07" name="object 125"/>
            <p:cNvSpPr/>
            <p:nvPr/>
          </p:nvSpPr>
          <p:spPr bwMode="auto">
            <a:xfrm>
              <a:off x="1603630" y="4473702"/>
              <a:ext cx="554355" cy="762476"/>
            </a:xfrm>
            <a:custGeom>
              <a:avLst/>
              <a:gdLst>
                <a:gd name="T0" fmla="*/ 72562 w 739139"/>
                <a:gd name="T1" fmla="*/ 82560 h 1016635"/>
                <a:gd name="T2" fmla="*/ 72562 w 739139"/>
                <a:gd name="T3" fmla="*/ 101765 h 1016635"/>
                <a:gd name="T4" fmla="*/ 73998 w 739139"/>
                <a:gd name="T5" fmla="*/ 101765 h 1016635"/>
                <a:gd name="T6" fmla="*/ 73998 w 739139"/>
                <a:gd name="T7" fmla="*/ 82091 h 1016635"/>
                <a:gd name="T8" fmla="*/ 50451 w 739139"/>
                <a:gd name="T9" fmla="*/ 68746 h 1016635"/>
                <a:gd name="T10" fmla="*/ 1437 w 739139"/>
                <a:gd name="T11" fmla="*/ 68746 h 1016635"/>
                <a:gd name="T12" fmla="*/ 1437 w 739139"/>
                <a:gd name="T13" fmla="*/ 47309 h 1016635"/>
                <a:gd name="T14" fmla="*/ 40738 w 739139"/>
                <a:gd name="T15" fmla="*/ 47309 h 1016635"/>
                <a:gd name="T16" fmla="*/ 47260 w 739139"/>
                <a:gd name="T17" fmla="*/ 47309 h 1016635"/>
                <a:gd name="T18" fmla="*/ 56338 w 739139"/>
                <a:gd name="T19" fmla="*/ 47309 h 1016635"/>
                <a:gd name="T20" fmla="*/ 56338 w 739139"/>
                <a:gd name="T21" fmla="*/ 13350 h 1016635"/>
                <a:gd name="T22" fmla="*/ 54749 w 739139"/>
                <a:gd name="T23" fmla="*/ 13350 h 1016635"/>
                <a:gd name="T24" fmla="*/ 54749 w 739139"/>
                <a:gd name="T25" fmla="*/ 46140 h 1016635"/>
                <a:gd name="T26" fmla="*/ 47260 w 739139"/>
                <a:gd name="T27" fmla="*/ 46140 h 1016635"/>
                <a:gd name="T28" fmla="*/ 47260 w 739139"/>
                <a:gd name="T29" fmla="*/ 0 h 1016635"/>
                <a:gd name="T30" fmla="*/ 45836 w 739139"/>
                <a:gd name="T31" fmla="*/ 0 h 1016635"/>
                <a:gd name="T32" fmla="*/ 45836 w 739139"/>
                <a:gd name="T33" fmla="*/ 46140 h 1016635"/>
                <a:gd name="T34" fmla="*/ 40738 w 739139"/>
                <a:gd name="T35" fmla="*/ 46140 h 1016635"/>
                <a:gd name="T36" fmla="*/ 0 w 739139"/>
                <a:gd name="T37" fmla="*/ 46140 h 1016635"/>
                <a:gd name="T38" fmla="*/ 0 w 739139"/>
                <a:gd name="T39" fmla="*/ 69801 h 1016635"/>
                <a:gd name="T40" fmla="*/ 49968 w 739139"/>
                <a:gd name="T41" fmla="*/ 69801 h 1016635"/>
                <a:gd name="T42" fmla="*/ 72562 w 739139"/>
                <a:gd name="T43" fmla="*/ 82560 h 101663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39139" h="1016635">
                  <a:moveTo>
                    <a:pt x="724788" y="824674"/>
                  </a:moveTo>
                  <a:lnTo>
                    <a:pt x="724788" y="1016507"/>
                  </a:lnTo>
                  <a:lnTo>
                    <a:pt x="739139" y="1016507"/>
                  </a:lnTo>
                  <a:lnTo>
                    <a:pt x="739139" y="819988"/>
                  </a:lnTo>
                  <a:lnTo>
                    <a:pt x="503935" y="686688"/>
                  </a:lnTo>
                  <a:lnTo>
                    <a:pt x="14350" y="686688"/>
                  </a:lnTo>
                  <a:lnTo>
                    <a:pt x="14350" y="472566"/>
                  </a:lnTo>
                  <a:lnTo>
                    <a:pt x="406907" y="472566"/>
                  </a:lnTo>
                  <a:lnTo>
                    <a:pt x="472058" y="472566"/>
                  </a:lnTo>
                  <a:lnTo>
                    <a:pt x="562736" y="472566"/>
                  </a:lnTo>
                  <a:lnTo>
                    <a:pt x="562736" y="133350"/>
                  </a:lnTo>
                  <a:lnTo>
                    <a:pt x="546861" y="133350"/>
                  </a:lnTo>
                  <a:lnTo>
                    <a:pt x="546861" y="460882"/>
                  </a:lnTo>
                  <a:lnTo>
                    <a:pt x="472058" y="460882"/>
                  </a:lnTo>
                  <a:lnTo>
                    <a:pt x="472058" y="0"/>
                  </a:lnTo>
                  <a:lnTo>
                    <a:pt x="457834" y="0"/>
                  </a:lnTo>
                  <a:lnTo>
                    <a:pt x="457834" y="460882"/>
                  </a:lnTo>
                  <a:lnTo>
                    <a:pt x="406907" y="460882"/>
                  </a:lnTo>
                  <a:lnTo>
                    <a:pt x="0" y="460882"/>
                  </a:lnTo>
                  <a:lnTo>
                    <a:pt x="0" y="697229"/>
                  </a:lnTo>
                  <a:lnTo>
                    <a:pt x="499109" y="697229"/>
                  </a:lnTo>
                  <a:lnTo>
                    <a:pt x="724788" y="824674"/>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08" name="object 126"/>
            <p:cNvSpPr/>
            <p:nvPr/>
          </p:nvSpPr>
          <p:spPr bwMode="auto">
            <a:xfrm>
              <a:off x="1807084" y="5028057"/>
              <a:ext cx="282416" cy="368142"/>
            </a:xfrm>
            <a:custGeom>
              <a:avLst/>
              <a:gdLst>
                <a:gd name="T0" fmla="*/ 18448 w 376555"/>
                <a:gd name="T1" fmla="*/ 0 h 490854"/>
                <a:gd name="T2" fmla="*/ 0 w 376555"/>
                <a:gd name="T3" fmla="*/ 0 h 490854"/>
                <a:gd name="T4" fmla="*/ 0 w 376555"/>
                <a:gd name="T5" fmla="*/ 29360 h 490854"/>
                <a:gd name="T6" fmla="*/ 37685 w 376555"/>
                <a:gd name="T7" fmla="*/ 49130 h 490854"/>
                <a:gd name="T8" fmla="*/ 37685 w 376555"/>
                <a:gd name="T9" fmla="*/ 47258 h 490854"/>
                <a:gd name="T10" fmla="*/ 36248 w 376555"/>
                <a:gd name="T11" fmla="*/ 47258 h 490854"/>
                <a:gd name="T12" fmla="*/ 1271 w 376555"/>
                <a:gd name="T13" fmla="*/ 28893 h 490854"/>
                <a:gd name="T14" fmla="*/ 1271 w 376555"/>
                <a:gd name="T15" fmla="*/ 1055 h 490854"/>
                <a:gd name="T16" fmla="*/ 20219 w 376555"/>
                <a:gd name="T17" fmla="*/ 1055 h 490854"/>
                <a:gd name="T18" fmla="*/ 18448 w 376555"/>
                <a:gd name="T19" fmla="*/ 0 h 490854"/>
                <a:gd name="T20" fmla="*/ 20219 w 376555"/>
                <a:gd name="T21" fmla="*/ 1055 h 490854"/>
                <a:gd name="T22" fmla="*/ 17812 w 376555"/>
                <a:gd name="T23" fmla="*/ 1055 h 490854"/>
                <a:gd name="T24" fmla="*/ 36248 w 376555"/>
                <a:gd name="T25" fmla="*/ 11932 h 490854"/>
                <a:gd name="T26" fmla="*/ 36248 w 376555"/>
                <a:gd name="T27" fmla="*/ 47258 h 490854"/>
                <a:gd name="T28" fmla="*/ 37685 w 376555"/>
                <a:gd name="T29" fmla="*/ 47258 h 490854"/>
                <a:gd name="T30" fmla="*/ 37685 w 376555"/>
                <a:gd name="T31" fmla="*/ 11464 h 490854"/>
                <a:gd name="T32" fmla="*/ 20219 w 376555"/>
                <a:gd name="T33" fmla="*/ 1055 h 4908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76555" h="490854">
                  <a:moveTo>
                    <a:pt x="184276" y="0"/>
                  </a:moveTo>
                  <a:lnTo>
                    <a:pt x="0" y="0"/>
                  </a:lnTo>
                  <a:lnTo>
                    <a:pt x="0" y="293268"/>
                  </a:lnTo>
                  <a:lnTo>
                    <a:pt x="376428" y="490728"/>
                  </a:lnTo>
                  <a:lnTo>
                    <a:pt x="376428" y="472033"/>
                  </a:lnTo>
                  <a:lnTo>
                    <a:pt x="362076" y="472033"/>
                  </a:lnTo>
                  <a:lnTo>
                    <a:pt x="12700" y="288594"/>
                  </a:lnTo>
                  <a:lnTo>
                    <a:pt x="12700" y="10540"/>
                  </a:lnTo>
                  <a:lnTo>
                    <a:pt x="201966" y="10540"/>
                  </a:lnTo>
                  <a:lnTo>
                    <a:pt x="184276" y="0"/>
                  </a:lnTo>
                  <a:close/>
                </a:path>
                <a:path w="376555" h="490854">
                  <a:moveTo>
                    <a:pt x="201966" y="10540"/>
                  </a:moveTo>
                  <a:lnTo>
                    <a:pt x="177926" y="10540"/>
                  </a:lnTo>
                  <a:lnTo>
                    <a:pt x="362076" y="119176"/>
                  </a:lnTo>
                  <a:lnTo>
                    <a:pt x="362076" y="472033"/>
                  </a:lnTo>
                  <a:lnTo>
                    <a:pt x="376428" y="472033"/>
                  </a:lnTo>
                  <a:lnTo>
                    <a:pt x="376428" y="114503"/>
                  </a:lnTo>
                  <a:lnTo>
                    <a:pt x="201966" y="1054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09" name="object 127"/>
            <p:cNvSpPr/>
            <p:nvPr/>
          </p:nvSpPr>
          <p:spPr bwMode="auto">
            <a:xfrm>
              <a:off x="1807084" y="5028057"/>
              <a:ext cx="282416" cy="368142"/>
            </a:xfrm>
            <a:custGeom>
              <a:avLst/>
              <a:gdLst>
                <a:gd name="T0" fmla="*/ 37685 w 376555"/>
                <a:gd name="T1" fmla="*/ 11464 h 490854"/>
                <a:gd name="T2" fmla="*/ 18448 w 376555"/>
                <a:gd name="T3" fmla="*/ 0 h 490854"/>
                <a:gd name="T4" fmla="*/ 0 w 376555"/>
                <a:gd name="T5" fmla="*/ 0 h 490854"/>
                <a:gd name="T6" fmla="*/ 0 w 376555"/>
                <a:gd name="T7" fmla="*/ 29360 h 490854"/>
                <a:gd name="T8" fmla="*/ 37685 w 376555"/>
                <a:gd name="T9" fmla="*/ 49130 h 490854"/>
                <a:gd name="T10" fmla="*/ 37685 w 376555"/>
                <a:gd name="T11" fmla="*/ 11464 h 4908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6555" h="490854">
                  <a:moveTo>
                    <a:pt x="376428" y="114503"/>
                  </a:moveTo>
                  <a:lnTo>
                    <a:pt x="184276" y="0"/>
                  </a:lnTo>
                  <a:lnTo>
                    <a:pt x="0" y="0"/>
                  </a:lnTo>
                  <a:lnTo>
                    <a:pt x="0" y="293268"/>
                  </a:lnTo>
                  <a:lnTo>
                    <a:pt x="376428" y="490728"/>
                  </a:lnTo>
                  <a:lnTo>
                    <a:pt x="376428" y="114503"/>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10" name="object 128"/>
            <p:cNvSpPr/>
            <p:nvPr/>
          </p:nvSpPr>
          <p:spPr bwMode="auto">
            <a:xfrm>
              <a:off x="1816608" y="5035963"/>
              <a:ext cx="262414" cy="346234"/>
            </a:xfrm>
            <a:custGeom>
              <a:avLst/>
              <a:gdLst>
                <a:gd name="T0" fmla="*/ 34978 w 349885"/>
                <a:gd name="T1" fmla="*/ 46202 h 461645"/>
                <a:gd name="T2" fmla="*/ 0 w 349885"/>
                <a:gd name="T3" fmla="*/ 27837 h 461645"/>
                <a:gd name="T4" fmla="*/ 0 w 349885"/>
                <a:gd name="T5" fmla="*/ 0 h 461645"/>
                <a:gd name="T6" fmla="*/ 16541 w 349885"/>
                <a:gd name="T7" fmla="*/ 0 h 461645"/>
                <a:gd name="T8" fmla="*/ 34978 w 349885"/>
                <a:gd name="T9" fmla="*/ 10876 h 461645"/>
                <a:gd name="T10" fmla="*/ 34978 w 349885"/>
                <a:gd name="T11" fmla="*/ 46202 h 4616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9885" h="461645">
                  <a:moveTo>
                    <a:pt x="349376" y="461492"/>
                  </a:moveTo>
                  <a:lnTo>
                    <a:pt x="0" y="278053"/>
                  </a:lnTo>
                  <a:lnTo>
                    <a:pt x="0" y="0"/>
                  </a:lnTo>
                  <a:lnTo>
                    <a:pt x="165226" y="0"/>
                  </a:lnTo>
                  <a:lnTo>
                    <a:pt x="349376" y="108635"/>
                  </a:lnTo>
                  <a:lnTo>
                    <a:pt x="349376" y="46149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11" name="object 129"/>
            <p:cNvSpPr/>
            <p:nvPr/>
          </p:nvSpPr>
          <p:spPr bwMode="auto">
            <a:xfrm>
              <a:off x="1603630" y="5028058"/>
              <a:ext cx="146685" cy="190976"/>
            </a:xfrm>
            <a:custGeom>
              <a:avLst/>
              <a:gdLst>
                <a:gd name="T0" fmla="*/ 19529 w 195580"/>
                <a:gd name="T1" fmla="*/ 0 h 254635"/>
                <a:gd name="T2" fmla="*/ 0 w 195580"/>
                <a:gd name="T3" fmla="*/ 0 h 254635"/>
                <a:gd name="T4" fmla="*/ 0 w 195580"/>
                <a:gd name="T5" fmla="*/ 15145 h 254635"/>
                <a:gd name="T6" fmla="*/ 19529 w 195580"/>
                <a:gd name="T7" fmla="*/ 25480 h 254635"/>
                <a:gd name="T8" fmla="*/ 19529 w 195580"/>
                <a:gd name="T9" fmla="*/ 23600 h 254635"/>
                <a:gd name="T10" fmla="*/ 18105 w 195580"/>
                <a:gd name="T11" fmla="*/ 23600 h 254635"/>
                <a:gd name="T12" fmla="*/ 1424 w 195580"/>
                <a:gd name="T13" fmla="*/ 14677 h 254635"/>
                <a:gd name="T14" fmla="*/ 1424 w 195580"/>
                <a:gd name="T15" fmla="*/ 1055 h 254635"/>
                <a:gd name="T16" fmla="*/ 19529 w 195580"/>
                <a:gd name="T17" fmla="*/ 1055 h 254635"/>
                <a:gd name="T18" fmla="*/ 19529 w 195580"/>
                <a:gd name="T19" fmla="*/ 0 h 254635"/>
                <a:gd name="T20" fmla="*/ 19529 w 195580"/>
                <a:gd name="T21" fmla="*/ 1055 h 254635"/>
                <a:gd name="T22" fmla="*/ 18105 w 195580"/>
                <a:gd name="T23" fmla="*/ 1055 h 254635"/>
                <a:gd name="T24" fmla="*/ 18105 w 195580"/>
                <a:gd name="T25" fmla="*/ 23600 h 254635"/>
                <a:gd name="T26" fmla="*/ 19529 w 195580"/>
                <a:gd name="T27" fmla="*/ 23600 h 254635"/>
                <a:gd name="T28" fmla="*/ 19529 w 195580"/>
                <a:gd name="T29" fmla="*/ 1055 h 254635"/>
                <a:gd name="T30" fmla="*/ 10477 w 195580"/>
                <a:gd name="T31" fmla="*/ 1055 h 254635"/>
                <a:gd name="T32" fmla="*/ 9206 w 195580"/>
                <a:gd name="T33" fmla="*/ 1055 h 254635"/>
                <a:gd name="T34" fmla="*/ 9206 w 195580"/>
                <a:gd name="T35" fmla="*/ 13386 h 254635"/>
                <a:gd name="T36" fmla="*/ 10477 w 195580"/>
                <a:gd name="T37" fmla="*/ 13386 h 254635"/>
                <a:gd name="T38" fmla="*/ 10477 w 195580"/>
                <a:gd name="T39" fmla="*/ 1055 h 25463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95580" h="254635">
                  <a:moveTo>
                    <a:pt x="195071" y="0"/>
                  </a:moveTo>
                  <a:lnTo>
                    <a:pt x="0" y="0"/>
                  </a:lnTo>
                  <a:lnTo>
                    <a:pt x="0" y="151295"/>
                  </a:lnTo>
                  <a:lnTo>
                    <a:pt x="195071" y="254508"/>
                  </a:lnTo>
                  <a:lnTo>
                    <a:pt x="195071" y="235737"/>
                  </a:lnTo>
                  <a:lnTo>
                    <a:pt x="180847" y="235737"/>
                  </a:lnTo>
                  <a:lnTo>
                    <a:pt x="14223" y="146608"/>
                  </a:lnTo>
                  <a:lnTo>
                    <a:pt x="14223" y="10540"/>
                  </a:lnTo>
                  <a:lnTo>
                    <a:pt x="195071" y="10540"/>
                  </a:lnTo>
                  <a:lnTo>
                    <a:pt x="195071" y="0"/>
                  </a:lnTo>
                  <a:close/>
                </a:path>
                <a:path w="195580" h="254635">
                  <a:moveTo>
                    <a:pt x="195071" y="10540"/>
                  </a:moveTo>
                  <a:lnTo>
                    <a:pt x="180847" y="10540"/>
                  </a:lnTo>
                  <a:lnTo>
                    <a:pt x="180847" y="235737"/>
                  </a:lnTo>
                  <a:lnTo>
                    <a:pt x="195071" y="235737"/>
                  </a:lnTo>
                  <a:lnTo>
                    <a:pt x="195071" y="10540"/>
                  </a:lnTo>
                  <a:close/>
                </a:path>
                <a:path w="195580" h="254635">
                  <a:moveTo>
                    <a:pt x="104647" y="10540"/>
                  </a:moveTo>
                  <a:lnTo>
                    <a:pt x="91947" y="10540"/>
                  </a:lnTo>
                  <a:lnTo>
                    <a:pt x="91947" y="133705"/>
                  </a:lnTo>
                  <a:lnTo>
                    <a:pt x="104647" y="133705"/>
                  </a:lnTo>
                  <a:lnTo>
                    <a:pt x="104647" y="1054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12" name="object 130"/>
            <p:cNvSpPr/>
            <p:nvPr/>
          </p:nvSpPr>
          <p:spPr bwMode="auto">
            <a:xfrm>
              <a:off x="1603630" y="5028058"/>
              <a:ext cx="146685" cy="190976"/>
            </a:xfrm>
            <a:custGeom>
              <a:avLst/>
              <a:gdLst>
                <a:gd name="T0" fmla="*/ 19529 w 195580"/>
                <a:gd name="T1" fmla="*/ 0 h 254635"/>
                <a:gd name="T2" fmla="*/ 0 w 195580"/>
                <a:gd name="T3" fmla="*/ 0 h 254635"/>
                <a:gd name="T4" fmla="*/ 0 w 195580"/>
                <a:gd name="T5" fmla="*/ 15145 h 254635"/>
                <a:gd name="T6" fmla="*/ 19529 w 195580"/>
                <a:gd name="T7" fmla="*/ 25480 h 254635"/>
                <a:gd name="T8" fmla="*/ 19529 w 195580"/>
                <a:gd name="T9" fmla="*/ 0 h 254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580" h="254635">
                  <a:moveTo>
                    <a:pt x="195071" y="0"/>
                  </a:moveTo>
                  <a:lnTo>
                    <a:pt x="0" y="0"/>
                  </a:lnTo>
                  <a:lnTo>
                    <a:pt x="0" y="151295"/>
                  </a:lnTo>
                  <a:lnTo>
                    <a:pt x="195071" y="254508"/>
                  </a:lnTo>
                  <a:lnTo>
                    <a:pt x="195071"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13" name="object 131"/>
            <p:cNvSpPr/>
            <p:nvPr/>
          </p:nvSpPr>
          <p:spPr bwMode="auto">
            <a:xfrm>
              <a:off x="1614296" y="5035962"/>
              <a:ext cx="125254" cy="169069"/>
            </a:xfrm>
            <a:custGeom>
              <a:avLst/>
              <a:gdLst>
                <a:gd name="T0" fmla="*/ 16682 w 167005"/>
                <a:gd name="T1" fmla="*/ 22546 h 225425"/>
                <a:gd name="T2" fmla="*/ 0 w 167005"/>
                <a:gd name="T3" fmla="*/ 13623 h 225425"/>
                <a:gd name="T4" fmla="*/ 0 w 167005"/>
                <a:gd name="T5" fmla="*/ 0 h 225425"/>
                <a:gd name="T6" fmla="*/ 7782 w 167005"/>
                <a:gd name="T7" fmla="*/ 0 h 225425"/>
                <a:gd name="T8" fmla="*/ 7782 w 167005"/>
                <a:gd name="T9" fmla="*/ 12331 h 225425"/>
                <a:gd name="T10" fmla="*/ 9053 w 167005"/>
                <a:gd name="T11" fmla="*/ 12331 h 225425"/>
                <a:gd name="T12" fmla="*/ 9053 w 167005"/>
                <a:gd name="T13" fmla="*/ 0 h 225425"/>
                <a:gd name="T14" fmla="*/ 16682 w 167005"/>
                <a:gd name="T15" fmla="*/ 0 h 225425"/>
                <a:gd name="T16" fmla="*/ 16682 w 167005"/>
                <a:gd name="T17" fmla="*/ 22546 h 2254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7005" h="225425">
                  <a:moveTo>
                    <a:pt x="166624" y="225196"/>
                  </a:moveTo>
                  <a:lnTo>
                    <a:pt x="0" y="136067"/>
                  </a:lnTo>
                  <a:lnTo>
                    <a:pt x="0" y="0"/>
                  </a:lnTo>
                  <a:lnTo>
                    <a:pt x="77724" y="0"/>
                  </a:lnTo>
                  <a:lnTo>
                    <a:pt x="77724" y="123164"/>
                  </a:lnTo>
                  <a:lnTo>
                    <a:pt x="90424" y="123164"/>
                  </a:lnTo>
                  <a:lnTo>
                    <a:pt x="90424" y="0"/>
                  </a:lnTo>
                  <a:lnTo>
                    <a:pt x="166624" y="0"/>
                  </a:lnTo>
                  <a:lnTo>
                    <a:pt x="166624" y="225196"/>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14" name="object 132"/>
            <p:cNvSpPr/>
            <p:nvPr/>
          </p:nvSpPr>
          <p:spPr bwMode="auto">
            <a:xfrm>
              <a:off x="1603630" y="5178934"/>
              <a:ext cx="266700" cy="468630"/>
            </a:xfrm>
            <a:custGeom>
              <a:avLst/>
              <a:gdLst>
                <a:gd name="T0" fmla="*/ 0 w 355600"/>
                <a:gd name="T1" fmla="*/ 0 h 624839"/>
                <a:gd name="T2" fmla="*/ 0 w 355600"/>
                <a:gd name="T3" fmla="*/ 62555 h 624839"/>
                <a:gd name="T4" fmla="*/ 35549 w 355600"/>
                <a:gd name="T5" fmla="*/ 62555 h 624839"/>
                <a:gd name="T6" fmla="*/ 35549 w 355600"/>
                <a:gd name="T7" fmla="*/ 61618 h 624839"/>
                <a:gd name="T8" fmla="*/ 1424 w 355600"/>
                <a:gd name="T9" fmla="*/ 61618 h 624839"/>
                <a:gd name="T10" fmla="*/ 1424 w 355600"/>
                <a:gd name="T11" fmla="*/ 1991 h 624839"/>
                <a:gd name="T12" fmla="*/ 3777 w 355600"/>
                <a:gd name="T13" fmla="*/ 1991 h 624839"/>
                <a:gd name="T14" fmla="*/ 0 w 355600"/>
                <a:gd name="T15" fmla="*/ 0 h 624839"/>
                <a:gd name="T16" fmla="*/ 3777 w 355600"/>
                <a:gd name="T17" fmla="*/ 1991 h 624839"/>
                <a:gd name="T18" fmla="*/ 1424 w 355600"/>
                <a:gd name="T19" fmla="*/ 1991 h 624839"/>
                <a:gd name="T20" fmla="*/ 34278 w 355600"/>
                <a:gd name="T21" fmla="*/ 19212 h 624839"/>
                <a:gd name="T22" fmla="*/ 34278 w 355600"/>
                <a:gd name="T23" fmla="*/ 61618 h 624839"/>
                <a:gd name="T24" fmla="*/ 35549 w 355600"/>
                <a:gd name="T25" fmla="*/ 61618 h 624839"/>
                <a:gd name="T26" fmla="*/ 35549 w 355600"/>
                <a:gd name="T27" fmla="*/ 18744 h 624839"/>
                <a:gd name="T28" fmla="*/ 3777 w 355600"/>
                <a:gd name="T29" fmla="*/ 1991 h 6248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5600" h="624839">
                  <a:moveTo>
                    <a:pt x="0" y="0"/>
                  </a:moveTo>
                  <a:lnTo>
                    <a:pt x="0" y="624839"/>
                  </a:lnTo>
                  <a:lnTo>
                    <a:pt x="355091" y="624839"/>
                  </a:lnTo>
                  <a:lnTo>
                    <a:pt x="355091" y="615480"/>
                  </a:lnTo>
                  <a:lnTo>
                    <a:pt x="14223" y="615480"/>
                  </a:lnTo>
                  <a:lnTo>
                    <a:pt x="14223" y="19888"/>
                  </a:lnTo>
                  <a:lnTo>
                    <a:pt x="37720" y="19888"/>
                  </a:lnTo>
                  <a:lnTo>
                    <a:pt x="0" y="0"/>
                  </a:lnTo>
                  <a:close/>
                </a:path>
                <a:path w="355600" h="624839">
                  <a:moveTo>
                    <a:pt x="37720" y="19888"/>
                  </a:moveTo>
                  <a:lnTo>
                    <a:pt x="14223" y="19888"/>
                  </a:lnTo>
                  <a:lnTo>
                    <a:pt x="342391" y="191896"/>
                  </a:lnTo>
                  <a:lnTo>
                    <a:pt x="342391" y="615480"/>
                  </a:lnTo>
                  <a:lnTo>
                    <a:pt x="355091" y="615480"/>
                  </a:lnTo>
                  <a:lnTo>
                    <a:pt x="355091" y="187223"/>
                  </a:lnTo>
                  <a:lnTo>
                    <a:pt x="37720" y="1988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15" name="object 133"/>
            <p:cNvSpPr/>
            <p:nvPr/>
          </p:nvSpPr>
          <p:spPr bwMode="auto">
            <a:xfrm>
              <a:off x="1603630" y="5178934"/>
              <a:ext cx="266700" cy="468630"/>
            </a:xfrm>
            <a:custGeom>
              <a:avLst/>
              <a:gdLst>
                <a:gd name="T0" fmla="*/ 35549 w 355600"/>
                <a:gd name="T1" fmla="*/ 18744 h 624839"/>
                <a:gd name="T2" fmla="*/ 0 w 355600"/>
                <a:gd name="T3" fmla="*/ 0 h 624839"/>
                <a:gd name="T4" fmla="*/ 0 w 355600"/>
                <a:gd name="T5" fmla="*/ 62555 h 624839"/>
                <a:gd name="T6" fmla="*/ 35549 w 355600"/>
                <a:gd name="T7" fmla="*/ 62555 h 624839"/>
                <a:gd name="T8" fmla="*/ 35549 w 355600"/>
                <a:gd name="T9" fmla="*/ 18744 h 624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5600" h="624839">
                  <a:moveTo>
                    <a:pt x="355091" y="187223"/>
                  </a:moveTo>
                  <a:lnTo>
                    <a:pt x="0" y="0"/>
                  </a:lnTo>
                  <a:lnTo>
                    <a:pt x="0" y="624839"/>
                  </a:lnTo>
                  <a:lnTo>
                    <a:pt x="355091" y="624839"/>
                  </a:lnTo>
                  <a:lnTo>
                    <a:pt x="355091" y="187223"/>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16" name="object 134"/>
            <p:cNvSpPr/>
            <p:nvPr/>
          </p:nvSpPr>
          <p:spPr bwMode="auto">
            <a:xfrm>
              <a:off x="1614296" y="5193850"/>
              <a:ext cx="246222" cy="446722"/>
            </a:xfrm>
            <a:custGeom>
              <a:avLst/>
              <a:gdLst>
                <a:gd name="T0" fmla="*/ 32855 w 328294"/>
                <a:gd name="T1" fmla="*/ 59627 h 595629"/>
                <a:gd name="T2" fmla="*/ 0 w 328294"/>
                <a:gd name="T3" fmla="*/ 59627 h 595629"/>
                <a:gd name="T4" fmla="*/ 0 w 328294"/>
                <a:gd name="T5" fmla="*/ 0 h 595629"/>
                <a:gd name="T6" fmla="*/ 32855 w 328294"/>
                <a:gd name="T7" fmla="*/ 17221 h 595629"/>
                <a:gd name="T8" fmla="*/ 32855 w 328294"/>
                <a:gd name="T9" fmla="*/ 59627 h 5956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294" h="595629">
                  <a:moveTo>
                    <a:pt x="328168" y="595591"/>
                  </a:moveTo>
                  <a:lnTo>
                    <a:pt x="0" y="595591"/>
                  </a:lnTo>
                  <a:lnTo>
                    <a:pt x="0" y="0"/>
                  </a:lnTo>
                  <a:lnTo>
                    <a:pt x="328168" y="172008"/>
                  </a:lnTo>
                  <a:lnTo>
                    <a:pt x="328168" y="59559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17" name="object 135"/>
            <p:cNvSpPr/>
            <p:nvPr/>
          </p:nvSpPr>
          <p:spPr bwMode="auto">
            <a:xfrm>
              <a:off x="1673353" y="5268087"/>
              <a:ext cx="145256" cy="339566"/>
            </a:xfrm>
            <a:custGeom>
              <a:avLst/>
              <a:gdLst>
                <a:gd name="T0" fmla="*/ 0 w 193675"/>
                <a:gd name="T1" fmla="*/ 0 h 452754"/>
                <a:gd name="T2" fmla="*/ 0 w 193675"/>
                <a:gd name="T3" fmla="*/ 45314 h 452754"/>
                <a:gd name="T4" fmla="*/ 19376 w 193675"/>
                <a:gd name="T5" fmla="*/ 45314 h 452754"/>
                <a:gd name="T6" fmla="*/ 19376 w 193675"/>
                <a:gd name="T7" fmla="*/ 44261 h 452754"/>
                <a:gd name="T8" fmla="*/ 1271 w 193675"/>
                <a:gd name="T9" fmla="*/ 44261 h 452754"/>
                <a:gd name="T10" fmla="*/ 1271 w 193675"/>
                <a:gd name="T11" fmla="*/ 1873 h 452754"/>
                <a:gd name="T12" fmla="*/ 3522 w 193675"/>
                <a:gd name="T13" fmla="*/ 1873 h 452754"/>
                <a:gd name="T14" fmla="*/ 0 w 193675"/>
                <a:gd name="T15" fmla="*/ 0 h 452754"/>
                <a:gd name="T16" fmla="*/ 3522 w 193675"/>
                <a:gd name="T17" fmla="*/ 1873 h 452754"/>
                <a:gd name="T18" fmla="*/ 1271 w 193675"/>
                <a:gd name="T19" fmla="*/ 1873 h 452754"/>
                <a:gd name="T20" fmla="*/ 8899 w 193675"/>
                <a:gd name="T21" fmla="*/ 5972 h 452754"/>
                <a:gd name="T22" fmla="*/ 8899 w 193675"/>
                <a:gd name="T23" fmla="*/ 44261 h 452754"/>
                <a:gd name="T24" fmla="*/ 10324 w 193675"/>
                <a:gd name="T25" fmla="*/ 44261 h 452754"/>
                <a:gd name="T26" fmla="*/ 10324 w 193675"/>
                <a:gd name="T27" fmla="*/ 6674 h 452754"/>
                <a:gd name="T28" fmla="*/ 12550 w 193675"/>
                <a:gd name="T29" fmla="*/ 6674 h 452754"/>
                <a:gd name="T30" fmla="*/ 3522 w 193675"/>
                <a:gd name="T31" fmla="*/ 1873 h 452754"/>
                <a:gd name="T32" fmla="*/ 12550 w 193675"/>
                <a:gd name="T33" fmla="*/ 6674 h 452754"/>
                <a:gd name="T34" fmla="*/ 10324 w 193675"/>
                <a:gd name="T35" fmla="*/ 6674 h 452754"/>
                <a:gd name="T36" fmla="*/ 18104 w 193675"/>
                <a:gd name="T37" fmla="*/ 10655 h 452754"/>
                <a:gd name="T38" fmla="*/ 18104 w 193675"/>
                <a:gd name="T39" fmla="*/ 44261 h 452754"/>
                <a:gd name="T40" fmla="*/ 19376 w 193675"/>
                <a:gd name="T41" fmla="*/ 44261 h 452754"/>
                <a:gd name="T42" fmla="*/ 19376 w 193675"/>
                <a:gd name="T43" fmla="*/ 10304 h 452754"/>
                <a:gd name="T44" fmla="*/ 12550 w 193675"/>
                <a:gd name="T45" fmla="*/ 6674 h 4527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93675" h="452754">
                  <a:moveTo>
                    <a:pt x="0" y="0"/>
                  </a:moveTo>
                  <a:lnTo>
                    <a:pt x="0" y="452628"/>
                  </a:lnTo>
                  <a:lnTo>
                    <a:pt x="193547" y="452628"/>
                  </a:lnTo>
                  <a:lnTo>
                    <a:pt x="193547" y="442099"/>
                  </a:lnTo>
                  <a:lnTo>
                    <a:pt x="12700" y="442099"/>
                  </a:lnTo>
                  <a:lnTo>
                    <a:pt x="12700" y="18707"/>
                  </a:lnTo>
                  <a:lnTo>
                    <a:pt x="35179" y="18707"/>
                  </a:lnTo>
                  <a:lnTo>
                    <a:pt x="0" y="0"/>
                  </a:lnTo>
                  <a:close/>
                </a:path>
                <a:path w="193675" h="452754">
                  <a:moveTo>
                    <a:pt x="35179" y="18707"/>
                  </a:moveTo>
                  <a:lnTo>
                    <a:pt x="12700" y="18707"/>
                  </a:lnTo>
                  <a:lnTo>
                    <a:pt x="88900" y="59651"/>
                  </a:lnTo>
                  <a:lnTo>
                    <a:pt x="88900" y="442099"/>
                  </a:lnTo>
                  <a:lnTo>
                    <a:pt x="103124" y="442099"/>
                  </a:lnTo>
                  <a:lnTo>
                    <a:pt x="103124" y="66662"/>
                  </a:lnTo>
                  <a:lnTo>
                    <a:pt x="125361" y="66662"/>
                  </a:lnTo>
                  <a:lnTo>
                    <a:pt x="35179" y="18707"/>
                  </a:lnTo>
                  <a:close/>
                </a:path>
                <a:path w="193675" h="452754">
                  <a:moveTo>
                    <a:pt x="125361" y="66662"/>
                  </a:moveTo>
                  <a:lnTo>
                    <a:pt x="103124" y="66662"/>
                  </a:lnTo>
                  <a:lnTo>
                    <a:pt x="180847" y="106426"/>
                  </a:lnTo>
                  <a:lnTo>
                    <a:pt x="180847" y="442099"/>
                  </a:lnTo>
                  <a:lnTo>
                    <a:pt x="193547" y="442099"/>
                  </a:lnTo>
                  <a:lnTo>
                    <a:pt x="193547" y="102920"/>
                  </a:lnTo>
                  <a:lnTo>
                    <a:pt x="125361" y="6666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18" name="object 136"/>
            <p:cNvSpPr/>
            <p:nvPr/>
          </p:nvSpPr>
          <p:spPr bwMode="auto">
            <a:xfrm>
              <a:off x="1673353" y="5268087"/>
              <a:ext cx="145256" cy="339566"/>
            </a:xfrm>
            <a:custGeom>
              <a:avLst/>
              <a:gdLst>
                <a:gd name="T0" fmla="*/ 19376 w 193675"/>
                <a:gd name="T1" fmla="*/ 10304 h 452754"/>
                <a:gd name="T2" fmla="*/ 0 w 193675"/>
                <a:gd name="T3" fmla="*/ 0 h 452754"/>
                <a:gd name="T4" fmla="*/ 0 w 193675"/>
                <a:gd name="T5" fmla="*/ 45314 h 452754"/>
                <a:gd name="T6" fmla="*/ 19376 w 193675"/>
                <a:gd name="T7" fmla="*/ 45314 h 452754"/>
                <a:gd name="T8" fmla="*/ 19376 w 193675"/>
                <a:gd name="T9" fmla="*/ 10304 h 4527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675" h="452754">
                  <a:moveTo>
                    <a:pt x="193547" y="102920"/>
                  </a:moveTo>
                  <a:lnTo>
                    <a:pt x="0" y="0"/>
                  </a:lnTo>
                  <a:lnTo>
                    <a:pt x="0" y="452628"/>
                  </a:lnTo>
                  <a:lnTo>
                    <a:pt x="193547" y="452628"/>
                  </a:lnTo>
                  <a:lnTo>
                    <a:pt x="193547" y="10292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19" name="object 137"/>
            <p:cNvSpPr/>
            <p:nvPr/>
          </p:nvSpPr>
          <p:spPr bwMode="auto">
            <a:xfrm>
              <a:off x="1682877" y="5282118"/>
              <a:ext cx="57150" cy="317658"/>
            </a:xfrm>
            <a:custGeom>
              <a:avLst/>
              <a:gdLst>
                <a:gd name="T0" fmla="*/ 7629 w 76200"/>
                <a:gd name="T1" fmla="*/ 42386 h 423545"/>
                <a:gd name="T2" fmla="*/ 0 w 76200"/>
                <a:gd name="T3" fmla="*/ 42386 h 423545"/>
                <a:gd name="T4" fmla="*/ 0 w 76200"/>
                <a:gd name="T5" fmla="*/ 0 h 423545"/>
                <a:gd name="T6" fmla="*/ 7629 w 76200"/>
                <a:gd name="T7" fmla="*/ 4099 h 423545"/>
                <a:gd name="T8" fmla="*/ 7629 w 76200"/>
                <a:gd name="T9" fmla="*/ 42386 h 4235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423545">
                  <a:moveTo>
                    <a:pt x="76200" y="423392"/>
                  </a:moveTo>
                  <a:lnTo>
                    <a:pt x="0" y="423392"/>
                  </a:lnTo>
                  <a:lnTo>
                    <a:pt x="0" y="0"/>
                  </a:lnTo>
                  <a:lnTo>
                    <a:pt x="76200" y="40944"/>
                  </a:lnTo>
                  <a:lnTo>
                    <a:pt x="76200" y="42339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0" name="object 138"/>
            <p:cNvSpPr/>
            <p:nvPr/>
          </p:nvSpPr>
          <p:spPr bwMode="auto">
            <a:xfrm>
              <a:off x="1750696" y="5318084"/>
              <a:ext cx="58578" cy="281940"/>
            </a:xfrm>
            <a:custGeom>
              <a:avLst/>
              <a:gdLst>
                <a:gd name="T0" fmla="*/ 7780 w 78105"/>
                <a:gd name="T1" fmla="*/ 37586 h 375920"/>
                <a:gd name="T2" fmla="*/ 0 w 78105"/>
                <a:gd name="T3" fmla="*/ 37586 h 375920"/>
                <a:gd name="T4" fmla="*/ 0 w 78105"/>
                <a:gd name="T5" fmla="*/ 0 h 375920"/>
                <a:gd name="T6" fmla="*/ 7780 w 78105"/>
                <a:gd name="T7" fmla="*/ 3981 h 375920"/>
                <a:gd name="T8" fmla="*/ 7780 w 78105"/>
                <a:gd name="T9" fmla="*/ 37586 h 3759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105" h="375920">
                  <a:moveTo>
                    <a:pt x="77723" y="375437"/>
                  </a:moveTo>
                  <a:lnTo>
                    <a:pt x="0" y="375437"/>
                  </a:lnTo>
                  <a:lnTo>
                    <a:pt x="0" y="0"/>
                  </a:lnTo>
                  <a:lnTo>
                    <a:pt x="77723" y="39763"/>
                  </a:lnTo>
                  <a:lnTo>
                    <a:pt x="77723" y="375437"/>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1" name="object 139"/>
            <p:cNvSpPr/>
            <p:nvPr/>
          </p:nvSpPr>
          <p:spPr bwMode="auto">
            <a:xfrm>
              <a:off x="1943101" y="5357241"/>
              <a:ext cx="146685" cy="291465"/>
            </a:xfrm>
            <a:custGeom>
              <a:avLst/>
              <a:gdLst>
                <a:gd name="T0" fmla="*/ 0 w 195580"/>
                <a:gd name="T1" fmla="*/ 0 h 388620"/>
                <a:gd name="T2" fmla="*/ 0 w 195580"/>
                <a:gd name="T3" fmla="*/ 38906 h 388620"/>
                <a:gd name="T4" fmla="*/ 19529 w 195580"/>
                <a:gd name="T5" fmla="*/ 38906 h 388620"/>
                <a:gd name="T6" fmla="*/ 19529 w 195580"/>
                <a:gd name="T7" fmla="*/ 37972 h 388620"/>
                <a:gd name="T8" fmla="*/ 1272 w 195580"/>
                <a:gd name="T9" fmla="*/ 37972 h 388620"/>
                <a:gd name="T10" fmla="*/ 1272 w 195580"/>
                <a:gd name="T11" fmla="*/ 1986 h 388620"/>
                <a:gd name="T12" fmla="*/ 3773 w 195580"/>
                <a:gd name="T13" fmla="*/ 1986 h 388620"/>
                <a:gd name="T14" fmla="*/ 0 w 195580"/>
                <a:gd name="T15" fmla="*/ 0 h 388620"/>
                <a:gd name="T16" fmla="*/ 3773 w 195580"/>
                <a:gd name="T17" fmla="*/ 1986 h 388620"/>
                <a:gd name="T18" fmla="*/ 1272 w 195580"/>
                <a:gd name="T19" fmla="*/ 1986 h 388620"/>
                <a:gd name="T20" fmla="*/ 8888 w 195580"/>
                <a:gd name="T21" fmla="*/ 5958 h 388620"/>
                <a:gd name="T22" fmla="*/ 8888 w 195580"/>
                <a:gd name="T23" fmla="*/ 37972 h 388620"/>
                <a:gd name="T24" fmla="*/ 10478 w 195580"/>
                <a:gd name="T25" fmla="*/ 37972 h 388620"/>
                <a:gd name="T26" fmla="*/ 10478 w 195580"/>
                <a:gd name="T27" fmla="*/ 6660 h 388620"/>
                <a:gd name="T28" fmla="*/ 12651 w 195580"/>
                <a:gd name="T29" fmla="*/ 6660 h 388620"/>
                <a:gd name="T30" fmla="*/ 3773 w 195580"/>
                <a:gd name="T31" fmla="*/ 1986 h 388620"/>
                <a:gd name="T32" fmla="*/ 12651 w 195580"/>
                <a:gd name="T33" fmla="*/ 6660 h 388620"/>
                <a:gd name="T34" fmla="*/ 10478 w 195580"/>
                <a:gd name="T35" fmla="*/ 6660 h 388620"/>
                <a:gd name="T36" fmla="*/ 18105 w 195580"/>
                <a:gd name="T37" fmla="*/ 10749 h 388620"/>
                <a:gd name="T38" fmla="*/ 18105 w 195580"/>
                <a:gd name="T39" fmla="*/ 37972 h 388620"/>
                <a:gd name="T40" fmla="*/ 19529 w 195580"/>
                <a:gd name="T41" fmla="*/ 37972 h 388620"/>
                <a:gd name="T42" fmla="*/ 19529 w 195580"/>
                <a:gd name="T43" fmla="*/ 10281 h 388620"/>
                <a:gd name="T44" fmla="*/ 12651 w 195580"/>
                <a:gd name="T45" fmla="*/ 6660 h 3886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95580" h="388620">
                  <a:moveTo>
                    <a:pt x="0" y="0"/>
                  </a:moveTo>
                  <a:lnTo>
                    <a:pt x="0" y="388620"/>
                  </a:lnTo>
                  <a:lnTo>
                    <a:pt x="195072" y="388620"/>
                  </a:lnTo>
                  <a:lnTo>
                    <a:pt x="195072" y="379285"/>
                  </a:lnTo>
                  <a:lnTo>
                    <a:pt x="12700" y="379285"/>
                  </a:lnTo>
                  <a:lnTo>
                    <a:pt x="12700" y="19837"/>
                  </a:lnTo>
                  <a:lnTo>
                    <a:pt x="37682" y="19837"/>
                  </a:lnTo>
                  <a:lnTo>
                    <a:pt x="0" y="0"/>
                  </a:lnTo>
                  <a:close/>
                </a:path>
                <a:path w="195580" h="388620">
                  <a:moveTo>
                    <a:pt x="37682" y="19837"/>
                  </a:moveTo>
                  <a:lnTo>
                    <a:pt x="12700" y="19837"/>
                  </a:lnTo>
                  <a:lnTo>
                    <a:pt x="88773" y="59512"/>
                  </a:lnTo>
                  <a:lnTo>
                    <a:pt x="88773" y="379285"/>
                  </a:lnTo>
                  <a:lnTo>
                    <a:pt x="104648" y="379285"/>
                  </a:lnTo>
                  <a:lnTo>
                    <a:pt x="104648" y="66522"/>
                  </a:lnTo>
                  <a:lnTo>
                    <a:pt x="126364" y="66522"/>
                  </a:lnTo>
                  <a:lnTo>
                    <a:pt x="37682" y="19837"/>
                  </a:lnTo>
                  <a:close/>
                </a:path>
                <a:path w="195580" h="388620">
                  <a:moveTo>
                    <a:pt x="126364" y="66522"/>
                  </a:moveTo>
                  <a:lnTo>
                    <a:pt x="104648" y="66522"/>
                  </a:lnTo>
                  <a:lnTo>
                    <a:pt x="180848" y="107365"/>
                  </a:lnTo>
                  <a:lnTo>
                    <a:pt x="180848" y="379285"/>
                  </a:lnTo>
                  <a:lnTo>
                    <a:pt x="195072" y="379285"/>
                  </a:lnTo>
                  <a:lnTo>
                    <a:pt x="195072" y="102692"/>
                  </a:lnTo>
                  <a:lnTo>
                    <a:pt x="126364" y="6652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22" name="object 140"/>
            <p:cNvSpPr/>
            <p:nvPr/>
          </p:nvSpPr>
          <p:spPr bwMode="auto">
            <a:xfrm>
              <a:off x="1943101" y="5357241"/>
              <a:ext cx="146685" cy="291465"/>
            </a:xfrm>
            <a:custGeom>
              <a:avLst/>
              <a:gdLst>
                <a:gd name="T0" fmla="*/ 19529 w 195580"/>
                <a:gd name="T1" fmla="*/ 38906 h 388620"/>
                <a:gd name="T2" fmla="*/ 19529 w 195580"/>
                <a:gd name="T3" fmla="*/ 10281 h 388620"/>
                <a:gd name="T4" fmla="*/ 0 w 195580"/>
                <a:gd name="T5" fmla="*/ 0 h 388620"/>
                <a:gd name="T6" fmla="*/ 0 w 195580"/>
                <a:gd name="T7" fmla="*/ 38906 h 388620"/>
                <a:gd name="T8" fmla="*/ 19529 w 195580"/>
                <a:gd name="T9" fmla="*/ 38906 h 3886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580" h="388620">
                  <a:moveTo>
                    <a:pt x="195072" y="388620"/>
                  </a:moveTo>
                  <a:lnTo>
                    <a:pt x="195072" y="102692"/>
                  </a:lnTo>
                  <a:lnTo>
                    <a:pt x="0" y="0"/>
                  </a:lnTo>
                  <a:lnTo>
                    <a:pt x="0" y="388620"/>
                  </a:lnTo>
                  <a:lnTo>
                    <a:pt x="195072" y="38862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3" name="object 141"/>
            <p:cNvSpPr/>
            <p:nvPr/>
          </p:nvSpPr>
          <p:spPr bwMode="auto">
            <a:xfrm>
              <a:off x="2021586" y="5407133"/>
              <a:ext cx="57150" cy="234791"/>
            </a:xfrm>
            <a:custGeom>
              <a:avLst/>
              <a:gdLst>
                <a:gd name="T0" fmla="*/ 0 w 76200"/>
                <a:gd name="T1" fmla="*/ 0 h 313054"/>
                <a:gd name="T2" fmla="*/ 7629 w 76200"/>
                <a:gd name="T3" fmla="*/ 4089 h 313054"/>
                <a:gd name="T4" fmla="*/ 7629 w 76200"/>
                <a:gd name="T5" fmla="*/ 31312 h 313054"/>
                <a:gd name="T6" fmla="*/ 0 w 76200"/>
                <a:gd name="T7" fmla="*/ 31312 h 313054"/>
                <a:gd name="T8" fmla="*/ 0 w 76200"/>
                <a:gd name="T9" fmla="*/ 0 h 3130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313054">
                  <a:moveTo>
                    <a:pt x="0" y="0"/>
                  </a:moveTo>
                  <a:lnTo>
                    <a:pt x="76200" y="40843"/>
                  </a:lnTo>
                  <a:lnTo>
                    <a:pt x="76200" y="312762"/>
                  </a:lnTo>
                  <a:lnTo>
                    <a:pt x="0" y="312762"/>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4" name="object 142"/>
            <p:cNvSpPr/>
            <p:nvPr/>
          </p:nvSpPr>
          <p:spPr bwMode="auto">
            <a:xfrm>
              <a:off x="1952626" y="5372120"/>
              <a:ext cx="57150" cy="270034"/>
            </a:xfrm>
            <a:custGeom>
              <a:avLst/>
              <a:gdLst>
                <a:gd name="T0" fmla="*/ 0 w 76200"/>
                <a:gd name="T1" fmla="*/ 0 h 360045"/>
                <a:gd name="T2" fmla="*/ 7616 w 76200"/>
                <a:gd name="T3" fmla="*/ 3973 h 360045"/>
                <a:gd name="T4" fmla="*/ 7616 w 76200"/>
                <a:gd name="T5" fmla="*/ 35986 h 360045"/>
                <a:gd name="T6" fmla="*/ 0 w 76200"/>
                <a:gd name="T7" fmla="*/ 35986 h 360045"/>
                <a:gd name="T8" fmla="*/ 0 w 76200"/>
                <a:gd name="T9" fmla="*/ 0 h 3600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360045">
                  <a:moveTo>
                    <a:pt x="0" y="0"/>
                  </a:moveTo>
                  <a:lnTo>
                    <a:pt x="76073" y="39674"/>
                  </a:lnTo>
                  <a:lnTo>
                    <a:pt x="76073" y="359448"/>
                  </a:lnTo>
                  <a:lnTo>
                    <a:pt x="0" y="359448"/>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5" name="object 143"/>
            <p:cNvSpPr/>
            <p:nvPr/>
          </p:nvSpPr>
          <p:spPr bwMode="auto">
            <a:xfrm>
              <a:off x="1874520" y="5078350"/>
              <a:ext cx="147638" cy="234315"/>
            </a:xfrm>
            <a:custGeom>
              <a:avLst/>
              <a:gdLst>
                <a:gd name="T0" fmla="*/ 6828 w 196850"/>
                <a:gd name="T1" fmla="*/ 0 h 312420"/>
                <a:gd name="T2" fmla="*/ 0 w 196850"/>
                <a:gd name="T3" fmla="*/ 0 h 312420"/>
                <a:gd name="T4" fmla="*/ 0 w 196850"/>
                <a:gd name="T5" fmla="*/ 21086 h 312420"/>
                <a:gd name="T6" fmla="*/ 19682 w 196850"/>
                <a:gd name="T7" fmla="*/ 31277 h 312420"/>
                <a:gd name="T8" fmla="*/ 19682 w 196850"/>
                <a:gd name="T9" fmla="*/ 29404 h 312420"/>
                <a:gd name="T10" fmla="*/ 18258 w 196850"/>
                <a:gd name="T11" fmla="*/ 29404 h 312420"/>
                <a:gd name="T12" fmla="*/ 10630 w 196850"/>
                <a:gd name="T13" fmla="*/ 25304 h 312420"/>
                <a:gd name="T14" fmla="*/ 10630 w 196850"/>
                <a:gd name="T15" fmla="*/ 24600 h 312420"/>
                <a:gd name="T16" fmla="*/ 9206 w 196850"/>
                <a:gd name="T17" fmla="*/ 24600 h 312420"/>
                <a:gd name="T18" fmla="*/ 1424 w 196850"/>
                <a:gd name="T19" fmla="*/ 20618 h 312420"/>
                <a:gd name="T20" fmla="*/ 1424 w 196850"/>
                <a:gd name="T21" fmla="*/ 1055 h 312420"/>
                <a:gd name="T22" fmla="*/ 8457 w 196850"/>
                <a:gd name="T23" fmla="*/ 1055 h 312420"/>
                <a:gd name="T24" fmla="*/ 6828 w 196850"/>
                <a:gd name="T25" fmla="*/ 0 h 312420"/>
                <a:gd name="T26" fmla="*/ 8457 w 196850"/>
                <a:gd name="T27" fmla="*/ 1055 h 312420"/>
                <a:gd name="T28" fmla="*/ 6344 w 196850"/>
                <a:gd name="T29" fmla="*/ 1055 h 312420"/>
                <a:gd name="T30" fmla="*/ 18258 w 196850"/>
                <a:gd name="T31" fmla="*/ 8786 h 312420"/>
                <a:gd name="T32" fmla="*/ 18258 w 196850"/>
                <a:gd name="T33" fmla="*/ 29404 h 312420"/>
                <a:gd name="T34" fmla="*/ 19682 w 196850"/>
                <a:gd name="T35" fmla="*/ 29404 h 312420"/>
                <a:gd name="T36" fmla="*/ 19682 w 196850"/>
                <a:gd name="T37" fmla="*/ 8318 h 312420"/>
                <a:gd name="T38" fmla="*/ 8457 w 196850"/>
                <a:gd name="T39" fmla="*/ 1055 h 312420"/>
                <a:gd name="T40" fmla="*/ 10630 w 196850"/>
                <a:gd name="T41" fmla="*/ 12183 h 312420"/>
                <a:gd name="T42" fmla="*/ 9206 w 196850"/>
                <a:gd name="T43" fmla="*/ 12183 h 312420"/>
                <a:gd name="T44" fmla="*/ 9206 w 196850"/>
                <a:gd name="T45" fmla="*/ 24600 h 312420"/>
                <a:gd name="T46" fmla="*/ 10630 w 196850"/>
                <a:gd name="T47" fmla="*/ 24600 h 312420"/>
                <a:gd name="T48" fmla="*/ 10630 w 196850"/>
                <a:gd name="T49" fmla="*/ 12183 h 3124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96850" h="312420">
                  <a:moveTo>
                    <a:pt x="68198" y="0"/>
                  </a:moveTo>
                  <a:lnTo>
                    <a:pt x="0" y="0"/>
                  </a:lnTo>
                  <a:lnTo>
                    <a:pt x="0" y="210616"/>
                  </a:lnTo>
                  <a:lnTo>
                    <a:pt x="196595" y="312420"/>
                  </a:lnTo>
                  <a:lnTo>
                    <a:pt x="196595" y="293700"/>
                  </a:lnTo>
                  <a:lnTo>
                    <a:pt x="182371" y="293700"/>
                  </a:lnTo>
                  <a:lnTo>
                    <a:pt x="106171" y="252742"/>
                  </a:lnTo>
                  <a:lnTo>
                    <a:pt x="106171" y="245719"/>
                  </a:lnTo>
                  <a:lnTo>
                    <a:pt x="91947" y="245719"/>
                  </a:lnTo>
                  <a:lnTo>
                    <a:pt x="14223" y="205943"/>
                  </a:lnTo>
                  <a:lnTo>
                    <a:pt x="14223" y="10528"/>
                  </a:lnTo>
                  <a:lnTo>
                    <a:pt x="84469" y="10528"/>
                  </a:lnTo>
                  <a:lnTo>
                    <a:pt x="68198" y="0"/>
                  </a:lnTo>
                  <a:close/>
                </a:path>
                <a:path w="196850" h="312420">
                  <a:moveTo>
                    <a:pt x="84469" y="10528"/>
                  </a:moveTo>
                  <a:lnTo>
                    <a:pt x="63372" y="10528"/>
                  </a:lnTo>
                  <a:lnTo>
                    <a:pt x="182371" y="87757"/>
                  </a:lnTo>
                  <a:lnTo>
                    <a:pt x="182371" y="293700"/>
                  </a:lnTo>
                  <a:lnTo>
                    <a:pt x="196595" y="293700"/>
                  </a:lnTo>
                  <a:lnTo>
                    <a:pt x="196595" y="83083"/>
                  </a:lnTo>
                  <a:lnTo>
                    <a:pt x="84469" y="10528"/>
                  </a:lnTo>
                  <a:close/>
                </a:path>
                <a:path w="196850" h="312420">
                  <a:moveTo>
                    <a:pt x="106171" y="121691"/>
                  </a:moveTo>
                  <a:lnTo>
                    <a:pt x="91947" y="121691"/>
                  </a:lnTo>
                  <a:lnTo>
                    <a:pt x="91947" y="245719"/>
                  </a:lnTo>
                  <a:lnTo>
                    <a:pt x="106171" y="245719"/>
                  </a:lnTo>
                  <a:lnTo>
                    <a:pt x="106171" y="12169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26" name="object 144"/>
            <p:cNvSpPr/>
            <p:nvPr/>
          </p:nvSpPr>
          <p:spPr bwMode="auto">
            <a:xfrm>
              <a:off x="1874520" y="5078350"/>
              <a:ext cx="147638" cy="234315"/>
            </a:xfrm>
            <a:custGeom>
              <a:avLst/>
              <a:gdLst>
                <a:gd name="T0" fmla="*/ 0 w 196850"/>
                <a:gd name="T1" fmla="*/ 0 h 312420"/>
                <a:gd name="T2" fmla="*/ 0 w 196850"/>
                <a:gd name="T3" fmla="*/ 21086 h 312420"/>
                <a:gd name="T4" fmla="*/ 19682 w 196850"/>
                <a:gd name="T5" fmla="*/ 31277 h 312420"/>
                <a:gd name="T6" fmla="*/ 19682 w 196850"/>
                <a:gd name="T7" fmla="*/ 8318 h 312420"/>
                <a:gd name="T8" fmla="*/ 6828 w 196850"/>
                <a:gd name="T9" fmla="*/ 0 h 312420"/>
                <a:gd name="T10" fmla="*/ 0 w 196850"/>
                <a:gd name="T11" fmla="*/ 0 h 3124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850" h="312420">
                  <a:moveTo>
                    <a:pt x="0" y="0"/>
                  </a:moveTo>
                  <a:lnTo>
                    <a:pt x="0" y="210616"/>
                  </a:lnTo>
                  <a:lnTo>
                    <a:pt x="196595" y="312420"/>
                  </a:lnTo>
                  <a:lnTo>
                    <a:pt x="196595" y="83083"/>
                  </a:lnTo>
                  <a:lnTo>
                    <a:pt x="68198" y="0"/>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7" name="object 145"/>
            <p:cNvSpPr/>
            <p:nvPr/>
          </p:nvSpPr>
          <p:spPr bwMode="auto">
            <a:xfrm>
              <a:off x="1885188" y="5086245"/>
              <a:ext cx="126206" cy="212407"/>
            </a:xfrm>
            <a:custGeom>
              <a:avLst/>
              <a:gdLst>
                <a:gd name="T0" fmla="*/ 16833 w 168275"/>
                <a:gd name="T1" fmla="*/ 28348 h 283210"/>
                <a:gd name="T2" fmla="*/ 9205 w 168275"/>
                <a:gd name="T3" fmla="*/ 24248 h 283210"/>
                <a:gd name="T4" fmla="*/ 9205 w 168275"/>
                <a:gd name="T5" fmla="*/ 11129 h 283210"/>
                <a:gd name="T6" fmla="*/ 7781 w 168275"/>
                <a:gd name="T7" fmla="*/ 11129 h 283210"/>
                <a:gd name="T8" fmla="*/ 7781 w 168275"/>
                <a:gd name="T9" fmla="*/ 23545 h 283210"/>
                <a:gd name="T10" fmla="*/ 0 w 168275"/>
                <a:gd name="T11" fmla="*/ 19563 h 283210"/>
                <a:gd name="T12" fmla="*/ 0 w 168275"/>
                <a:gd name="T13" fmla="*/ 0 h 283210"/>
                <a:gd name="T14" fmla="*/ 4919 w 168275"/>
                <a:gd name="T15" fmla="*/ 0 h 283210"/>
                <a:gd name="T16" fmla="*/ 16833 w 168275"/>
                <a:gd name="T17" fmla="*/ 7732 h 283210"/>
                <a:gd name="T18" fmla="*/ 16833 w 168275"/>
                <a:gd name="T19" fmla="*/ 28348 h 2832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8275" h="283210">
                  <a:moveTo>
                    <a:pt x="168148" y="283171"/>
                  </a:moveTo>
                  <a:lnTo>
                    <a:pt x="91948" y="242214"/>
                  </a:lnTo>
                  <a:lnTo>
                    <a:pt x="91948" y="111163"/>
                  </a:lnTo>
                  <a:lnTo>
                    <a:pt x="77724" y="111163"/>
                  </a:lnTo>
                  <a:lnTo>
                    <a:pt x="77724" y="235191"/>
                  </a:lnTo>
                  <a:lnTo>
                    <a:pt x="0" y="195414"/>
                  </a:lnTo>
                  <a:lnTo>
                    <a:pt x="0" y="0"/>
                  </a:lnTo>
                  <a:lnTo>
                    <a:pt x="49149" y="0"/>
                  </a:lnTo>
                  <a:lnTo>
                    <a:pt x="168148" y="77228"/>
                  </a:lnTo>
                  <a:lnTo>
                    <a:pt x="168148" y="28317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8" name="object 146"/>
            <p:cNvSpPr/>
            <p:nvPr/>
          </p:nvSpPr>
          <p:spPr bwMode="auto">
            <a:xfrm>
              <a:off x="2146553" y="5294946"/>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29" name="object 147"/>
            <p:cNvSpPr/>
            <p:nvPr/>
          </p:nvSpPr>
          <p:spPr bwMode="auto">
            <a:xfrm>
              <a:off x="2143126" y="5294946"/>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0" name="object 148"/>
            <p:cNvSpPr/>
            <p:nvPr/>
          </p:nvSpPr>
          <p:spPr bwMode="auto">
            <a:xfrm>
              <a:off x="2146553" y="5344667"/>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1" name="object 149"/>
            <p:cNvSpPr/>
            <p:nvPr/>
          </p:nvSpPr>
          <p:spPr bwMode="auto">
            <a:xfrm>
              <a:off x="2143126" y="5344667"/>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2" name="object 150"/>
            <p:cNvSpPr/>
            <p:nvPr/>
          </p:nvSpPr>
          <p:spPr bwMode="auto">
            <a:xfrm>
              <a:off x="2146553" y="5395530"/>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3" name="object 151"/>
            <p:cNvSpPr/>
            <p:nvPr/>
          </p:nvSpPr>
          <p:spPr bwMode="auto">
            <a:xfrm>
              <a:off x="2143126" y="5395530"/>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4" name="object 152"/>
            <p:cNvSpPr/>
            <p:nvPr/>
          </p:nvSpPr>
          <p:spPr bwMode="auto">
            <a:xfrm>
              <a:off x="2146553" y="5445251"/>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5" name="object 153"/>
            <p:cNvSpPr/>
            <p:nvPr/>
          </p:nvSpPr>
          <p:spPr bwMode="auto">
            <a:xfrm>
              <a:off x="2143126" y="5445251"/>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6" name="object 154"/>
            <p:cNvSpPr/>
            <p:nvPr/>
          </p:nvSpPr>
          <p:spPr bwMode="auto">
            <a:xfrm>
              <a:off x="2146553" y="5494972"/>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7" name="object 155"/>
            <p:cNvSpPr/>
            <p:nvPr/>
          </p:nvSpPr>
          <p:spPr bwMode="auto">
            <a:xfrm>
              <a:off x="2143126" y="5494972"/>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8" name="object 156"/>
            <p:cNvSpPr/>
            <p:nvPr/>
          </p:nvSpPr>
          <p:spPr bwMode="auto">
            <a:xfrm>
              <a:off x="2146553" y="5545264"/>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39" name="object 157"/>
            <p:cNvSpPr/>
            <p:nvPr/>
          </p:nvSpPr>
          <p:spPr bwMode="auto">
            <a:xfrm>
              <a:off x="2143126" y="5545264"/>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0" name="object 158"/>
            <p:cNvSpPr/>
            <p:nvPr/>
          </p:nvSpPr>
          <p:spPr bwMode="auto">
            <a:xfrm>
              <a:off x="2146553" y="5595556"/>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1" name="object 159"/>
            <p:cNvSpPr/>
            <p:nvPr/>
          </p:nvSpPr>
          <p:spPr bwMode="auto">
            <a:xfrm>
              <a:off x="2143126" y="5595556"/>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2" name="object 160"/>
            <p:cNvSpPr/>
            <p:nvPr/>
          </p:nvSpPr>
          <p:spPr bwMode="auto">
            <a:xfrm>
              <a:off x="2146553" y="5645276"/>
              <a:ext cx="79058" cy="0"/>
            </a:xfrm>
            <a:custGeom>
              <a:avLst/>
              <a:gdLst>
                <a:gd name="T0" fmla="*/ 0 w 105410"/>
                <a:gd name="T1" fmla="*/ 10528 w 105410"/>
                <a:gd name="T2" fmla="*/ 0 60000 65536"/>
                <a:gd name="T3" fmla="*/ 0 60000 65536"/>
              </a:gdLst>
              <a:ahLst/>
              <a:cxnLst>
                <a:cxn ang="T2">
                  <a:pos x="T0" y="0"/>
                </a:cxn>
                <a:cxn ang="T3">
                  <a:pos x="T1" y="0"/>
                </a:cxn>
              </a:cxnLst>
              <a:rect l="0" t="0" r="r" b="b"/>
              <a:pathLst>
                <a:path w="105410">
                  <a:moveTo>
                    <a:pt x="0" y="0"/>
                  </a:moveTo>
                  <a:lnTo>
                    <a:pt x="105156"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3" name="object 161"/>
            <p:cNvSpPr/>
            <p:nvPr/>
          </p:nvSpPr>
          <p:spPr bwMode="auto">
            <a:xfrm>
              <a:off x="2143126" y="5645276"/>
              <a:ext cx="85725" cy="0"/>
            </a:xfrm>
            <a:custGeom>
              <a:avLst/>
              <a:gdLst>
                <a:gd name="T0" fmla="*/ 0 w 114300"/>
                <a:gd name="T1" fmla="*/ 11444 w 114300"/>
                <a:gd name="T2" fmla="*/ 0 60000 65536"/>
                <a:gd name="T3" fmla="*/ 0 60000 65536"/>
              </a:gdLst>
              <a:ahLst/>
              <a:cxnLst>
                <a:cxn ang="T2">
                  <a:pos x="T0" y="0"/>
                </a:cxn>
                <a:cxn ang="T3">
                  <a:pos x="T1" y="0"/>
                </a:cxn>
              </a:cxnLst>
              <a:rect l="0" t="0" r="r" b="b"/>
              <a:pathLst>
                <a:path w="114300">
                  <a:moveTo>
                    <a:pt x="0" y="0"/>
                  </a:moveTo>
                  <a:lnTo>
                    <a:pt x="11430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4" name="object 162"/>
            <p:cNvSpPr/>
            <p:nvPr/>
          </p:nvSpPr>
          <p:spPr bwMode="auto">
            <a:xfrm>
              <a:off x="2282571" y="5290947"/>
              <a:ext cx="430054" cy="358140"/>
            </a:xfrm>
            <a:custGeom>
              <a:avLst/>
              <a:gdLst>
                <a:gd name="T0" fmla="*/ 57368 w 573404"/>
                <a:gd name="T1" fmla="*/ 0 h 477520"/>
                <a:gd name="T2" fmla="*/ 9218 w 573404"/>
                <a:gd name="T3" fmla="*/ 0 h 477520"/>
                <a:gd name="T4" fmla="*/ 9218 w 573404"/>
                <a:gd name="T5" fmla="*/ 29497 h 477520"/>
                <a:gd name="T6" fmla="*/ 0 w 573404"/>
                <a:gd name="T7" fmla="*/ 34763 h 477520"/>
                <a:gd name="T8" fmla="*/ 0 w 573404"/>
                <a:gd name="T9" fmla="*/ 47756 h 477520"/>
                <a:gd name="T10" fmla="*/ 21297 w 573404"/>
                <a:gd name="T11" fmla="*/ 47756 h 477520"/>
                <a:gd name="T12" fmla="*/ 22824 w 573404"/>
                <a:gd name="T13" fmla="*/ 46818 h 477520"/>
                <a:gd name="T14" fmla="*/ 1590 w 573404"/>
                <a:gd name="T15" fmla="*/ 46818 h 477520"/>
                <a:gd name="T16" fmla="*/ 1590 w 573404"/>
                <a:gd name="T17" fmla="*/ 35349 h 477520"/>
                <a:gd name="T18" fmla="*/ 10490 w 573404"/>
                <a:gd name="T19" fmla="*/ 30081 h 477520"/>
                <a:gd name="T20" fmla="*/ 10490 w 573404"/>
                <a:gd name="T21" fmla="*/ 1052 h 477520"/>
                <a:gd name="T22" fmla="*/ 57368 w 573404"/>
                <a:gd name="T23" fmla="*/ 1052 h 477520"/>
                <a:gd name="T24" fmla="*/ 57368 w 573404"/>
                <a:gd name="T25" fmla="*/ 0 h 477520"/>
                <a:gd name="T26" fmla="*/ 57368 w 573404"/>
                <a:gd name="T27" fmla="*/ 42605 h 477520"/>
                <a:gd name="T28" fmla="*/ 27337 w 573404"/>
                <a:gd name="T29" fmla="*/ 42605 h 477520"/>
                <a:gd name="T30" fmla="*/ 20661 w 573404"/>
                <a:gd name="T31" fmla="*/ 46818 h 477520"/>
                <a:gd name="T32" fmla="*/ 22824 w 573404"/>
                <a:gd name="T33" fmla="*/ 46818 h 477520"/>
                <a:gd name="T34" fmla="*/ 27972 w 573404"/>
                <a:gd name="T35" fmla="*/ 43658 h 477520"/>
                <a:gd name="T36" fmla="*/ 57368 w 573404"/>
                <a:gd name="T37" fmla="*/ 43658 h 477520"/>
                <a:gd name="T38" fmla="*/ 57368 w 573404"/>
                <a:gd name="T39" fmla="*/ 42605 h 4775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73404" h="477520">
                  <a:moveTo>
                    <a:pt x="573024" y="0"/>
                  </a:moveTo>
                  <a:lnTo>
                    <a:pt x="92075" y="0"/>
                  </a:lnTo>
                  <a:lnTo>
                    <a:pt x="92075" y="294627"/>
                  </a:lnTo>
                  <a:lnTo>
                    <a:pt x="0" y="347230"/>
                  </a:lnTo>
                  <a:lnTo>
                    <a:pt x="0" y="477011"/>
                  </a:lnTo>
                  <a:lnTo>
                    <a:pt x="212725" y="477011"/>
                  </a:lnTo>
                  <a:lnTo>
                    <a:pt x="227976" y="467652"/>
                  </a:lnTo>
                  <a:lnTo>
                    <a:pt x="15875" y="467652"/>
                  </a:lnTo>
                  <a:lnTo>
                    <a:pt x="15875" y="353085"/>
                  </a:lnTo>
                  <a:lnTo>
                    <a:pt x="104775" y="300469"/>
                  </a:lnTo>
                  <a:lnTo>
                    <a:pt x="104775" y="10515"/>
                  </a:lnTo>
                  <a:lnTo>
                    <a:pt x="573024" y="10515"/>
                  </a:lnTo>
                  <a:lnTo>
                    <a:pt x="573024" y="0"/>
                  </a:lnTo>
                  <a:close/>
                </a:path>
                <a:path w="573404" h="477520">
                  <a:moveTo>
                    <a:pt x="573024" y="425564"/>
                  </a:moveTo>
                  <a:lnTo>
                    <a:pt x="273050" y="425564"/>
                  </a:lnTo>
                  <a:lnTo>
                    <a:pt x="206375" y="467652"/>
                  </a:lnTo>
                  <a:lnTo>
                    <a:pt x="227976" y="467652"/>
                  </a:lnTo>
                  <a:lnTo>
                    <a:pt x="279400" y="436092"/>
                  </a:lnTo>
                  <a:lnTo>
                    <a:pt x="573024" y="436092"/>
                  </a:lnTo>
                  <a:lnTo>
                    <a:pt x="573024" y="425564"/>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45" name="object 163"/>
            <p:cNvSpPr/>
            <p:nvPr/>
          </p:nvSpPr>
          <p:spPr bwMode="auto">
            <a:xfrm>
              <a:off x="2282571" y="5290947"/>
              <a:ext cx="430054" cy="358140"/>
            </a:xfrm>
            <a:custGeom>
              <a:avLst/>
              <a:gdLst>
                <a:gd name="T0" fmla="*/ 57368 w 573404"/>
                <a:gd name="T1" fmla="*/ 0 h 477520"/>
                <a:gd name="T2" fmla="*/ 9218 w 573404"/>
                <a:gd name="T3" fmla="*/ 0 h 477520"/>
                <a:gd name="T4" fmla="*/ 9218 w 573404"/>
                <a:gd name="T5" fmla="*/ 29497 h 477520"/>
                <a:gd name="T6" fmla="*/ 0 w 573404"/>
                <a:gd name="T7" fmla="*/ 34763 h 477520"/>
                <a:gd name="T8" fmla="*/ 0 w 573404"/>
                <a:gd name="T9" fmla="*/ 47756 h 477520"/>
                <a:gd name="T10" fmla="*/ 21297 w 573404"/>
                <a:gd name="T11" fmla="*/ 47756 h 477520"/>
                <a:gd name="T12" fmla="*/ 27972 w 573404"/>
                <a:gd name="T13" fmla="*/ 43658 h 477520"/>
                <a:gd name="T14" fmla="*/ 57368 w 573404"/>
                <a:gd name="T15" fmla="*/ 43658 h 477520"/>
                <a:gd name="T16" fmla="*/ 57368 w 573404"/>
                <a:gd name="T17" fmla="*/ 42605 h 477520"/>
                <a:gd name="T18" fmla="*/ 27337 w 573404"/>
                <a:gd name="T19" fmla="*/ 42605 h 477520"/>
                <a:gd name="T20" fmla="*/ 20661 w 573404"/>
                <a:gd name="T21" fmla="*/ 46818 h 477520"/>
                <a:gd name="T22" fmla="*/ 1590 w 573404"/>
                <a:gd name="T23" fmla="*/ 46818 h 477520"/>
                <a:gd name="T24" fmla="*/ 1590 w 573404"/>
                <a:gd name="T25" fmla="*/ 35349 h 477520"/>
                <a:gd name="T26" fmla="*/ 10490 w 573404"/>
                <a:gd name="T27" fmla="*/ 30081 h 477520"/>
                <a:gd name="T28" fmla="*/ 10490 w 573404"/>
                <a:gd name="T29" fmla="*/ 1052 h 477520"/>
                <a:gd name="T30" fmla="*/ 57368 w 573404"/>
                <a:gd name="T31" fmla="*/ 1052 h 477520"/>
                <a:gd name="T32" fmla="*/ 57368 w 573404"/>
                <a:gd name="T33" fmla="*/ 0 h 4775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73404" h="477520">
                  <a:moveTo>
                    <a:pt x="573024" y="0"/>
                  </a:moveTo>
                  <a:lnTo>
                    <a:pt x="92075" y="0"/>
                  </a:lnTo>
                  <a:lnTo>
                    <a:pt x="92075" y="294627"/>
                  </a:lnTo>
                  <a:lnTo>
                    <a:pt x="0" y="347230"/>
                  </a:lnTo>
                  <a:lnTo>
                    <a:pt x="0" y="477011"/>
                  </a:lnTo>
                  <a:lnTo>
                    <a:pt x="212725" y="477011"/>
                  </a:lnTo>
                  <a:lnTo>
                    <a:pt x="279400" y="436092"/>
                  </a:lnTo>
                  <a:lnTo>
                    <a:pt x="573024" y="436092"/>
                  </a:lnTo>
                  <a:lnTo>
                    <a:pt x="573024" y="425564"/>
                  </a:lnTo>
                  <a:lnTo>
                    <a:pt x="273050" y="425564"/>
                  </a:lnTo>
                  <a:lnTo>
                    <a:pt x="206375" y="467652"/>
                  </a:lnTo>
                  <a:lnTo>
                    <a:pt x="15875" y="467652"/>
                  </a:lnTo>
                  <a:lnTo>
                    <a:pt x="15875" y="353085"/>
                  </a:lnTo>
                  <a:lnTo>
                    <a:pt x="104775" y="300469"/>
                  </a:lnTo>
                  <a:lnTo>
                    <a:pt x="104775" y="10515"/>
                  </a:lnTo>
                  <a:lnTo>
                    <a:pt x="573024" y="10515"/>
                  </a:lnTo>
                  <a:lnTo>
                    <a:pt x="573024" y="0"/>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6" name="object 164"/>
            <p:cNvSpPr/>
            <p:nvPr/>
          </p:nvSpPr>
          <p:spPr bwMode="auto">
            <a:xfrm>
              <a:off x="2384299" y="5341240"/>
              <a:ext cx="328136" cy="252889"/>
            </a:xfrm>
            <a:custGeom>
              <a:avLst/>
              <a:gdLst>
                <a:gd name="T0" fmla="*/ 43789 w 437514"/>
                <a:gd name="T1" fmla="*/ 0 h 337185"/>
                <a:gd name="T2" fmla="*/ 4514 w 437514"/>
                <a:gd name="T3" fmla="*/ 0 h 337185"/>
                <a:gd name="T4" fmla="*/ 4514 w 437514"/>
                <a:gd name="T5" fmla="*/ 26030 h 337185"/>
                <a:gd name="T6" fmla="*/ 2720 w 437514"/>
                <a:gd name="T7" fmla="*/ 26454 h 337185"/>
                <a:gd name="T8" fmla="*/ 1289 w 437514"/>
                <a:gd name="T9" fmla="*/ 27301 h 337185"/>
                <a:gd name="T10" fmla="*/ 343 w 437514"/>
                <a:gd name="T11" fmla="*/ 28457 h 337185"/>
                <a:gd name="T12" fmla="*/ 0 w 437514"/>
                <a:gd name="T13" fmla="*/ 29814 h 337185"/>
                <a:gd name="T14" fmla="*/ 423 w 437514"/>
                <a:gd name="T15" fmla="*/ 31323 h 337185"/>
                <a:gd name="T16" fmla="*/ 1571 w 437514"/>
                <a:gd name="T17" fmla="*/ 32565 h 337185"/>
                <a:gd name="T18" fmla="*/ 3262 w 437514"/>
                <a:gd name="T19" fmla="*/ 33408 h 337185"/>
                <a:gd name="T20" fmla="*/ 5315 w 437514"/>
                <a:gd name="T21" fmla="*/ 33719 h 337185"/>
                <a:gd name="T22" fmla="*/ 7158 w 437514"/>
                <a:gd name="T23" fmla="*/ 33449 h 337185"/>
                <a:gd name="T24" fmla="*/ 8734 w 437514"/>
                <a:gd name="T25" fmla="*/ 32713 h 337185"/>
                <a:gd name="T26" fmla="*/ 8795 w 437514"/>
                <a:gd name="T27" fmla="*/ 32654 h 337185"/>
                <a:gd name="T28" fmla="*/ 5315 w 437514"/>
                <a:gd name="T29" fmla="*/ 32654 h 337185"/>
                <a:gd name="T30" fmla="*/ 3761 w 437514"/>
                <a:gd name="T31" fmla="*/ 32427 h 337185"/>
                <a:gd name="T32" fmla="*/ 2539 w 437514"/>
                <a:gd name="T33" fmla="*/ 31811 h 337185"/>
                <a:gd name="T34" fmla="*/ 1737 w 437514"/>
                <a:gd name="T35" fmla="*/ 30908 h 337185"/>
                <a:gd name="T36" fmla="*/ 1450 w 437514"/>
                <a:gd name="T37" fmla="*/ 29814 h 337185"/>
                <a:gd name="T38" fmla="*/ 1680 w 437514"/>
                <a:gd name="T39" fmla="*/ 28805 h 337185"/>
                <a:gd name="T40" fmla="*/ 2333 w 437514"/>
                <a:gd name="T41" fmla="*/ 27951 h 337185"/>
                <a:gd name="T42" fmla="*/ 3349 w 437514"/>
                <a:gd name="T43" fmla="*/ 27319 h 337185"/>
                <a:gd name="T44" fmla="*/ 4667 w 437514"/>
                <a:gd name="T45" fmla="*/ 26975 h 337185"/>
                <a:gd name="T46" fmla="*/ 8681 w 437514"/>
                <a:gd name="T47" fmla="*/ 26975 h 337185"/>
                <a:gd name="T48" fmla="*/ 7566 w 437514"/>
                <a:gd name="T49" fmla="*/ 26397 h 337185"/>
                <a:gd name="T50" fmla="*/ 5951 w 437514"/>
                <a:gd name="T51" fmla="*/ 26030 h 337185"/>
                <a:gd name="T52" fmla="*/ 5951 w 437514"/>
                <a:gd name="T53" fmla="*/ 947 h 337185"/>
                <a:gd name="T54" fmla="*/ 43789 w 437514"/>
                <a:gd name="T55" fmla="*/ 947 h 337185"/>
                <a:gd name="T56" fmla="*/ 43789 w 437514"/>
                <a:gd name="T57" fmla="*/ 0 h 337185"/>
                <a:gd name="T58" fmla="*/ 8681 w 437514"/>
                <a:gd name="T59" fmla="*/ 26975 h 337185"/>
                <a:gd name="T60" fmla="*/ 5798 w 437514"/>
                <a:gd name="T61" fmla="*/ 26975 h 337185"/>
                <a:gd name="T62" fmla="*/ 7142 w 437514"/>
                <a:gd name="T63" fmla="*/ 27319 h 337185"/>
                <a:gd name="T64" fmla="*/ 8214 w 437514"/>
                <a:gd name="T65" fmla="*/ 27951 h 337185"/>
                <a:gd name="T66" fmla="*/ 8924 w 437514"/>
                <a:gd name="T67" fmla="*/ 28805 h 337185"/>
                <a:gd name="T68" fmla="*/ 9180 w 437514"/>
                <a:gd name="T69" fmla="*/ 29814 h 337185"/>
                <a:gd name="T70" fmla="*/ 8869 w 437514"/>
                <a:gd name="T71" fmla="*/ 30908 h 337185"/>
                <a:gd name="T72" fmla="*/ 8030 w 437514"/>
                <a:gd name="T73" fmla="*/ 31811 h 337185"/>
                <a:gd name="T74" fmla="*/ 6799 w 437514"/>
                <a:gd name="T75" fmla="*/ 32427 h 337185"/>
                <a:gd name="T76" fmla="*/ 5315 w 437514"/>
                <a:gd name="T77" fmla="*/ 32654 h 337185"/>
                <a:gd name="T78" fmla="*/ 8795 w 437514"/>
                <a:gd name="T79" fmla="*/ 32654 h 337185"/>
                <a:gd name="T80" fmla="*/ 9887 w 437514"/>
                <a:gd name="T81" fmla="*/ 31622 h 337185"/>
                <a:gd name="T82" fmla="*/ 10464 w 437514"/>
                <a:gd name="T83" fmla="*/ 30287 h 337185"/>
                <a:gd name="T84" fmla="*/ 20280 w 437514"/>
                <a:gd name="T85" fmla="*/ 30287 h 337185"/>
                <a:gd name="T86" fmla="*/ 21176 w 437514"/>
                <a:gd name="T87" fmla="*/ 29342 h 337185"/>
                <a:gd name="T88" fmla="*/ 10464 w 437514"/>
                <a:gd name="T89" fmla="*/ 29342 h 337185"/>
                <a:gd name="T90" fmla="*/ 9943 w 437514"/>
                <a:gd name="T91" fmla="*/ 28109 h 337185"/>
                <a:gd name="T92" fmla="*/ 8936 w 437514"/>
                <a:gd name="T93" fmla="*/ 27108 h 337185"/>
                <a:gd name="T94" fmla="*/ 8681 w 437514"/>
                <a:gd name="T95" fmla="*/ 26975 h 337185"/>
                <a:gd name="T96" fmla="*/ 43789 w 437514"/>
                <a:gd name="T97" fmla="*/ 22598 h 337185"/>
                <a:gd name="T98" fmla="*/ 25760 w 437514"/>
                <a:gd name="T99" fmla="*/ 22598 h 337185"/>
                <a:gd name="T100" fmla="*/ 19644 w 437514"/>
                <a:gd name="T101" fmla="*/ 29342 h 337185"/>
                <a:gd name="T102" fmla="*/ 21176 w 437514"/>
                <a:gd name="T103" fmla="*/ 29342 h 337185"/>
                <a:gd name="T104" fmla="*/ 26561 w 437514"/>
                <a:gd name="T105" fmla="*/ 23663 h 337185"/>
                <a:gd name="T106" fmla="*/ 43789 w 437514"/>
                <a:gd name="T107" fmla="*/ 23663 h 337185"/>
                <a:gd name="T108" fmla="*/ 43789 w 437514"/>
                <a:gd name="T109" fmla="*/ 22598 h 337185"/>
                <a:gd name="T110" fmla="*/ 43789 w 437514"/>
                <a:gd name="T111" fmla="*/ 947 h 337185"/>
                <a:gd name="T112" fmla="*/ 42504 w 437514"/>
                <a:gd name="T113" fmla="*/ 947 h 337185"/>
                <a:gd name="T114" fmla="*/ 42504 w 437514"/>
                <a:gd name="T115" fmla="*/ 5678 h 337185"/>
                <a:gd name="T116" fmla="*/ 43789 w 437514"/>
                <a:gd name="T117" fmla="*/ 5678 h 337185"/>
                <a:gd name="T118" fmla="*/ 43789 w 437514"/>
                <a:gd name="T119" fmla="*/ 947 h 33718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37514" h="337185">
                  <a:moveTo>
                    <a:pt x="437388" y="0"/>
                  </a:moveTo>
                  <a:lnTo>
                    <a:pt x="45085" y="0"/>
                  </a:lnTo>
                  <a:lnTo>
                    <a:pt x="45085" y="259994"/>
                  </a:lnTo>
                  <a:lnTo>
                    <a:pt x="27164" y="264239"/>
                  </a:lnTo>
                  <a:lnTo>
                    <a:pt x="12874" y="272692"/>
                  </a:lnTo>
                  <a:lnTo>
                    <a:pt x="3419" y="284249"/>
                  </a:lnTo>
                  <a:lnTo>
                    <a:pt x="0" y="297802"/>
                  </a:lnTo>
                  <a:lnTo>
                    <a:pt x="4222" y="312870"/>
                  </a:lnTo>
                  <a:lnTo>
                    <a:pt x="15684" y="325280"/>
                  </a:lnTo>
                  <a:lnTo>
                    <a:pt x="32575" y="333701"/>
                  </a:lnTo>
                  <a:lnTo>
                    <a:pt x="53086" y="336804"/>
                  </a:lnTo>
                  <a:lnTo>
                    <a:pt x="71499" y="334107"/>
                  </a:lnTo>
                  <a:lnTo>
                    <a:pt x="87233" y="326756"/>
                  </a:lnTo>
                  <a:lnTo>
                    <a:pt x="87849" y="326174"/>
                  </a:lnTo>
                  <a:lnTo>
                    <a:pt x="53086" y="326174"/>
                  </a:lnTo>
                  <a:lnTo>
                    <a:pt x="37570" y="323901"/>
                  </a:lnTo>
                  <a:lnTo>
                    <a:pt x="25352" y="317750"/>
                  </a:lnTo>
                  <a:lnTo>
                    <a:pt x="17349" y="308718"/>
                  </a:lnTo>
                  <a:lnTo>
                    <a:pt x="14478" y="297802"/>
                  </a:lnTo>
                  <a:lnTo>
                    <a:pt x="16783" y="287724"/>
                  </a:lnTo>
                  <a:lnTo>
                    <a:pt x="23304" y="279193"/>
                  </a:lnTo>
                  <a:lnTo>
                    <a:pt x="33444" y="272877"/>
                  </a:lnTo>
                  <a:lnTo>
                    <a:pt x="46609" y="269443"/>
                  </a:lnTo>
                  <a:lnTo>
                    <a:pt x="86701" y="269443"/>
                  </a:lnTo>
                  <a:lnTo>
                    <a:pt x="75570" y="263667"/>
                  </a:lnTo>
                  <a:lnTo>
                    <a:pt x="59436" y="259994"/>
                  </a:lnTo>
                  <a:lnTo>
                    <a:pt x="59436" y="9448"/>
                  </a:lnTo>
                  <a:lnTo>
                    <a:pt x="437388" y="9448"/>
                  </a:lnTo>
                  <a:lnTo>
                    <a:pt x="437388" y="0"/>
                  </a:lnTo>
                  <a:close/>
                </a:path>
                <a:path w="437514" h="337185">
                  <a:moveTo>
                    <a:pt x="86701" y="269443"/>
                  </a:moveTo>
                  <a:lnTo>
                    <a:pt x="57912" y="269443"/>
                  </a:lnTo>
                  <a:lnTo>
                    <a:pt x="71334" y="272877"/>
                  </a:lnTo>
                  <a:lnTo>
                    <a:pt x="82041" y="279193"/>
                  </a:lnTo>
                  <a:lnTo>
                    <a:pt x="89130" y="287724"/>
                  </a:lnTo>
                  <a:lnTo>
                    <a:pt x="91694" y="297802"/>
                  </a:lnTo>
                  <a:lnTo>
                    <a:pt x="88590" y="308718"/>
                  </a:lnTo>
                  <a:lnTo>
                    <a:pt x="80200" y="317750"/>
                  </a:lnTo>
                  <a:lnTo>
                    <a:pt x="67905" y="323901"/>
                  </a:lnTo>
                  <a:lnTo>
                    <a:pt x="53086" y="326174"/>
                  </a:lnTo>
                  <a:lnTo>
                    <a:pt x="87849" y="326174"/>
                  </a:lnTo>
                  <a:lnTo>
                    <a:pt x="98752" y="315860"/>
                  </a:lnTo>
                  <a:lnTo>
                    <a:pt x="104521" y="302526"/>
                  </a:lnTo>
                  <a:lnTo>
                    <a:pt x="202564" y="302526"/>
                  </a:lnTo>
                  <a:lnTo>
                    <a:pt x="211524" y="293077"/>
                  </a:lnTo>
                  <a:lnTo>
                    <a:pt x="104521" y="293077"/>
                  </a:lnTo>
                  <a:lnTo>
                    <a:pt x="99315" y="280761"/>
                  </a:lnTo>
                  <a:lnTo>
                    <a:pt x="89265" y="270773"/>
                  </a:lnTo>
                  <a:lnTo>
                    <a:pt x="86701" y="269443"/>
                  </a:lnTo>
                  <a:close/>
                </a:path>
                <a:path w="437514" h="337185">
                  <a:moveTo>
                    <a:pt x="437388" y="225717"/>
                  </a:moveTo>
                  <a:lnTo>
                    <a:pt x="257301" y="225717"/>
                  </a:lnTo>
                  <a:lnTo>
                    <a:pt x="196214" y="293077"/>
                  </a:lnTo>
                  <a:lnTo>
                    <a:pt x="211524" y="293077"/>
                  </a:lnTo>
                  <a:lnTo>
                    <a:pt x="265302" y="236359"/>
                  </a:lnTo>
                  <a:lnTo>
                    <a:pt x="437388" y="236359"/>
                  </a:lnTo>
                  <a:lnTo>
                    <a:pt x="437388" y="225717"/>
                  </a:lnTo>
                  <a:close/>
                </a:path>
                <a:path w="437514" h="337185">
                  <a:moveTo>
                    <a:pt x="437388" y="9448"/>
                  </a:moveTo>
                  <a:lnTo>
                    <a:pt x="424561" y="9448"/>
                  </a:lnTo>
                  <a:lnTo>
                    <a:pt x="424561" y="56718"/>
                  </a:lnTo>
                  <a:lnTo>
                    <a:pt x="437388" y="56718"/>
                  </a:lnTo>
                  <a:lnTo>
                    <a:pt x="437388" y="944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47" name="object 165"/>
            <p:cNvSpPr/>
            <p:nvPr/>
          </p:nvSpPr>
          <p:spPr bwMode="auto">
            <a:xfrm>
              <a:off x="2384299" y="5341240"/>
              <a:ext cx="328136" cy="252889"/>
            </a:xfrm>
            <a:custGeom>
              <a:avLst/>
              <a:gdLst>
                <a:gd name="T0" fmla="*/ 43789 w 437514"/>
                <a:gd name="T1" fmla="*/ 2396 h 337185"/>
                <a:gd name="T2" fmla="*/ 43789 w 437514"/>
                <a:gd name="T3" fmla="*/ 89 h 337185"/>
                <a:gd name="T4" fmla="*/ 21083 w 437514"/>
                <a:gd name="T5" fmla="*/ 0 h 337185"/>
                <a:gd name="T6" fmla="*/ 5128 w 437514"/>
                <a:gd name="T7" fmla="*/ 0 h 337185"/>
                <a:gd name="T8" fmla="*/ 4514 w 437514"/>
                <a:gd name="T9" fmla="*/ 15048 h 337185"/>
                <a:gd name="T10" fmla="*/ 4514 w 437514"/>
                <a:gd name="T11" fmla="*/ 25622 h 337185"/>
                <a:gd name="T12" fmla="*/ 2720 w 437514"/>
                <a:gd name="T13" fmla="*/ 26454 h 337185"/>
                <a:gd name="T14" fmla="*/ 343 w 437514"/>
                <a:gd name="T15" fmla="*/ 28457 h 337185"/>
                <a:gd name="T16" fmla="*/ 423 w 437514"/>
                <a:gd name="T17" fmla="*/ 31323 h 337185"/>
                <a:gd name="T18" fmla="*/ 3262 w 437514"/>
                <a:gd name="T19" fmla="*/ 33408 h 337185"/>
                <a:gd name="T20" fmla="*/ 7158 w 437514"/>
                <a:gd name="T21" fmla="*/ 33449 h 337185"/>
                <a:gd name="T22" fmla="*/ 9887 w 437514"/>
                <a:gd name="T23" fmla="*/ 31622 h 337185"/>
                <a:gd name="T24" fmla="*/ 16139 w 437514"/>
                <a:gd name="T25" fmla="*/ 30287 h 337185"/>
                <a:gd name="T26" fmla="*/ 20126 w 437514"/>
                <a:gd name="T27" fmla="*/ 30287 h 337185"/>
                <a:gd name="T28" fmla="*/ 23911 w 437514"/>
                <a:gd name="T29" fmla="*/ 26458 h 337185"/>
                <a:gd name="T30" fmla="*/ 26463 w 437514"/>
                <a:gd name="T31" fmla="*/ 23766 h 337185"/>
                <a:gd name="T32" fmla="*/ 36521 w 437514"/>
                <a:gd name="T33" fmla="*/ 23663 h 337185"/>
                <a:gd name="T34" fmla="*/ 43520 w 437514"/>
                <a:gd name="T35" fmla="*/ 23663 h 337185"/>
                <a:gd name="T36" fmla="*/ 43789 w 437514"/>
                <a:gd name="T37" fmla="*/ 22598 h 337185"/>
                <a:gd name="T38" fmla="*/ 28013 w 437514"/>
                <a:gd name="T39" fmla="*/ 22598 h 337185"/>
                <a:gd name="T40" fmla="*/ 25760 w 437514"/>
                <a:gd name="T41" fmla="*/ 22598 h 337185"/>
                <a:gd name="T42" fmla="*/ 20408 w 437514"/>
                <a:gd name="T43" fmla="*/ 28498 h 337185"/>
                <a:gd name="T44" fmla="*/ 19644 w 437514"/>
                <a:gd name="T45" fmla="*/ 29342 h 337185"/>
                <a:gd name="T46" fmla="*/ 11612 w 437514"/>
                <a:gd name="T47" fmla="*/ 29342 h 337185"/>
                <a:gd name="T48" fmla="*/ 10464 w 437514"/>
                <a:gd name="T49" fmla="*/ 29342 h 337185"/>
                <a:gd name="T50" fmla="*/ 8936 w 437514"/>
                <a:gd name="T51" fmla="*/ 27108 h 337185"/>
                <a:gd name="T52" fmla="*/ 5951 w 437514"/>
                <a:gd name="T53" fmla="*/ 26030 h 337185"/>
                <a:gd name="T54" fmla="*/ 5951 w 437514"/>
                <a:gd name="T55" fmla="*/ 4082 h 337185"/>
                <a:gd name="T56" fmla="*/ 5951 w 437514"/>
                <a:gd name="T57" fmla="*/ 947 h 337185"/>
                <a:gd name="T58" fmla="*/ 37935 w 437514"/>
                <a:gd name="T59" fmla="*/ 947 h 337185"/>
                <a:gd name="T60" fmla="*/ 42504 w 437514"/>
                <a:gd name="T61" fmla="*/ 947 h 337185"/>
                <a:gd name="T62" fmla="*/ 42504 w 437514"/>
                <a:gd name="T63" fmla="*/ 5087 h 337185"/>
                <a:gd name="T64" fmla="*/ 42504 w 437514"/>
                <a:gd name="T65" fmla="*/ 5678 h 3371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37514" h="337185">
                  <a:moveTo>
                    <a:pt x="437388" y="56718"/>
                  </a:moveTo>
                  <a:lnTo>
                    <a:pt x="437388" y="23927"/>
                  </a:lnTo>
                  <a:lnTo>
                    <a:pt x="437388" y="7089"/>
                  </a:lnTo>
                  <a:lnTo>
                    <a:pt x="437388" y="886"/>
                  </a:lnTo>
                  <a:lnTo>
                    <a:pt x="437388" y="0"/>
                  </a:lnTo>
                  <a:lnTo>
                    <a:pt x="210587" y="0"/>
                  </a:lnTo>
                  <a:lnTo>
                    <a:pt x="94122" y="0"/>
                  </a:lnTo>
                  <a:lnTo>
                    <a:pt x="51214" y="0"/>
                  </a:lnTo>
                  <a:lnTo>
                    <a:pt x="45085" y="0"/>
                  </a:lnTo>
                  <a:lnTo>
                    <a:pt x="45085" y="150309"/>
                  </a:lnTo>
                  <a:lnTo>
                    <a:pt x="45085" y="227495"/>
                  </a:lnTo>
                  <a:lnTo>
                    <a:pt x="45085" y="255931"/>
                  </a:lnTo>
                  <a:lnTo>
                    <a:pt x="45085" y="259994"/>
                  </a:lnTo>
                  <a:lnTo>
                    <a:pt x="27164" y="264239"/>
                  </a:lnTo>
                  <a:lnTo>
                    <a:pt x="12874" y="272692"/>
                  </a:lnTo>
                  <a:lnTo>
                    <a:pt x="3419" y="284249"/>
                  </a:lnTo>
                  <a:lnTo>
                    <a:pt x="0" y="297802"/>
                  </a:lnTo>
                  <a:lnTo>
                    <a:pt x="4222" y="312870"/>
                  </a:lnTo>
                  <a:lnTo>
                    <a:pt x="15684" y="325280"/>
                  </a:lnTo>
                  <a:lnTo>
                    <a:pt x="32575" y="333701"/>
                  </a:lnTo>
                  <a:lnTo>
                    <a:pt x="53086" y="336804"/>
                  </a:lnTo>
                  <a:lnTo>
                    <a:pt x="71499" y="334107"/>
                  </a:lnTo>
                  <a:lnTo>
                    <a:pt x="87233" y="326756"/>
                  </a:lnTo>
                  <a:lnTo>
                    <a:pt x="98752" y="315860"/>
                  </a:lnTo>
                  <a:lnTo>
                    <a:pt x="104521" y="302526"/>
                  </a:lnTo>
                  <a:lnTo>
                    <a:pt x="161202" y="302526"/>
                  </a:lnTo>
                  <a:lnTo>
                    <a:pt x="190309" y="302526"/>
                  </a:lnTo>
                  <a:lnTo>
                    <a:pt x="201033" y="302526"/>
                  </a:lnTo>
                  <a:lnTo>
                    <a:pt x="202564" y="302526"/>
                  </a:lnTo>
                  <a:lnTo>
                    <a:pt x="238835" y="264273"/>
                  </a:lnTo>
                  <a:lnTo>
                    <a:pt x="257460" y="244630"/>
                  </a:lnTo>
                  <a:lnTo>
                    <a:pt x="264322" y="237393"/>
                  </a:lnTo>
                  <a:lnTo>
                    <a:pt x="265302" y="236359"/>
                  </a:lnTo>
                  <a:lnTo>
                    <a:pt x="364789" y="236359"/>
                  </a:lnTo>
                  <a:lnTo>
                    <a:pt x="415877" y="236359"/>
                  </a:lnTo>
                  <a:lnTo>
                    <a:pt x="434699" y="236359"/>
                  </a:lnTo>
                  <a:lnTo>
                    <a:pt x="437388" y="236359"/>
                  </a:lnTo>
                  <a:lnTo>
                    <a:pt x="437388" y="225717"/>
                  </a:lnTo>
                  <a:lnTo>
                    <a:pt x="333275" y="225717"/>
                  </a:lnTo>
                  <a:lnTo>
                    <a:pt x="279812" y="225717"/>
                  </a:lnTo>
                  <a:lnTo>
                    <a:pt x="260115" y="225717"/>
                  </a:lnTo>
                  <a:lnTo>
                    <a:pt x="257301" y="225717"/>
                  </a:lnTo>
                  <a:lnTo>
                    <a:pt x="221986" y="264660"/>
                  </a:lnTo>
                  <a:lnTo>
                    <a:pt x="203850" y="284657"/>
                  </a:lnTo>
                  <a:lnTo>
                    <a:pt x="197169" y="292025"/>
                  </a:lnTo>
                  <a:lnTo>
                    <a:pt x="196214" y="293077"/>
                  </a:lnTo>
                  <a:lnTo>
                    <a:pt x="143204" y="293077"/>
                  </a:lnTo>
                  <a:lnTo>
                    <a:pt x="115982" y="293077"/>
                  </a:lnTo>
                  <a:lnTo>
                    <a:pt x="105953" y="293077"/>
                  </a:lnTo>
                  <a:lnTo>
                    <a:pt x="104521" y="293077"/>
                  </a:lnTo>
                  <a:lnTo>
                    <a:pt x="99315" y="280761"/>
                  </a:lnTo>
                  <a:lnTo>
                    <a:pt x="89265" y="270773"/>
                  </a:lnTo>
                  <a:lnTo>
                    <a:pt x="75570" y="263667"/>
                  </a:lnTo>
                  <a:lnTo>
                    <a:pt x="59436" y="259994"/>
                  </a:lnTo>
                  <a:lnTo>
                    <a:pt x="59436" y="115147"/>
                  </a:lnTo>
                  <a:lnTo>
                    <a:pt x="59436" y="40767"/>
                  </a:lnTo>
                  <a:lnTo>
                    <a:pt x="59436" y="13363"/>
                  </a:lnTo>
                  <a:lnTo>
                    <a:pt x="59436" y="9448"/>
                  </a:lnTo>
                  <a:lnTo>
                    <a:pt x="270523" y="9448"/>
                  </a:lnTo>
                  <a:lnTo>
                    <a:pt x="378920" y="9448"/>
                  </a:lnTo>
                  <a:lnTo>
                    <a:pt x="418855" y="9448"/>
                  </a:lnTo>
                  <a:lnTo>
                    <a:pt x="424561" y="9448"/>
                  </a:lnTo>
                  <a:lnTo>
                    <a:pt x="424561" y="36776"/>
                  </a:lnTo>
                  <a:lnTo>
                    <a:pt x="424561" y="50809"/>
                  </a:lnTo>
                  <a:lnTo>
                    <a:pt x="424561" y="55979"/>
                  </a:lnTo>
                  <a:lnTo>
                    <a:pt x="424561" y="56718"/>
                  </a:lnTo>
                  <a:lnTo>
                    <a:pt x="437388" y="56718"/>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8" name="object 166"/>
            <p:cNvSpPr/>
            <p:nvPr/>
          </p:nvSpPr>
          <p:spPr bwMode="auto">
            <a:xfrm>
              <a:off x="2395157" y="5543322"/>
              <a:ext cx="58102" cy="42862"/>
            </a:xfrm>
            <a:custGeom>
              <a:avLst/>
              <a:gdLst>
                <a:gd name="T0" fmla="*/ 7729 w 77470"/>
                <a:gd name="T1" fmla="*/ 2839 h 57150"/>
                <a:gd name="T2" fmla="*/ 7419 w 77470"/>
                <a:gd name="T3" fmla="*/ 3931 h 57150"/>
                <a:gd name="T4" fmla="*/ 6579 w 77470"/>
                <a:gd name="T5" fmla="*/ 4836 h 57150"/>
                <a:gd name="T6" fmla="*/ 5348 w 77470"/>
                <a:gd name="T7" fmla="*/ 5451 h 57150"/>
                <a:gd name="T8" fmla="*/ 3865 w 77470"/>
                <a:gd name="T9" fmla="*/ 5679 h 57150"/>
                <a:gd name="T10" fmla="*/ 2311 w 77470"/>
                <a:gd name="T11" fmla="*/ 5451 h 57150"/>
                <a:gd name="T12" fmla="*/ 1088 w 77470"/>
                <a:gd name="T13" fmla="*/ 4836 h 57150"/>
                <a:gd name="T14" fmla="*/ 287 w 77470"/>
                <a:gd name="T15" fmla="*/ 3931 h 57150"/>
                <a:gd name="T16" fmla="*/ 0 w 77470"/>
                <a:gd name="T17" fmla="*/ 2839 h 57150"/>
                <a:gd name="T18" fmla="*/ 230 w 77470"/>
                <a:gd name="T19" fmla="*/ 1830 h 57150"/>
                <a:gd name="T20" fmla="*/ 883 w 77470"/>
                <a:gd name="T21" fmla="*/ 976 h 57150"/>
                <a:gd name="T22" fmla="*/ 1899 w 77470"/>
                <a:gd name="T23" fmla="*/ 343 h 57150"/>
                <a:gd name="T24" fmla="*/ 3216 w 77470"/>
                <a:gd name="T25" fmla="*/ 0 h 57150"/>
                <a:gd name="T26" fmla="*/ 4348 w 77470"/>
                <a:gd name="T27" fmla="*/ 0 h 57150"/>
                <a:gd name="T28" fmla="*/ 5692 w 77470"/>
                <a:gd name="T29" fmla="*/ 343 h 57150"/>
                <a:gd name="T30" fmla="*/ 6764 w 77470"/>
                <a:gd name="T31" fmla="*/ 976 h 57150"/>
                <a:gd name="T32" fmla="*/ 7473 w 77470"/>
                <a:gd name="T33" fmla="*/ 1830 h 57150"/>
                <a:gd name="T34" fmla="*/ 7729 w 77470"/>
                <a:gd name="T35" fmla="*/ 2839 h 571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7470" h="57150">
                  <a:moveTo>
                    <a:pt x="77216" y="28359"/>
                  </a:moveTo>
                  <a:lnTo>
                    <a:pt x="74112" y="39275"/>
                  </a:lnTo>
                  <a:lnTo>
                    <a:pt x="65722" y="48307"/>
                  </a:lnTo>
                  <a:lnTo>
                    <a:pt x="53427" y="54458"/>
                  </a:lnTo>
                  <a:lnTo>
                    <a:pt x="38607" y="56730"/>
                  </a:lnTo>
                  <a:lnTo>
                    <a:pt x="23092" y="54458"/>
                  </a:lnTo>
                  <a:lnTo>
                    <a:pt x="10874" y="48307"/>
                  </a:lnTo>
                  <a:lnTo>
                    <a:pt x="2871" y="39275"/>
                  </a:lnTo>
                  <a:lnTo>
                    <a:pt x="0" y="28359"/>
                  </a:lnTo>
                  <a:lnTo>
                    <a:pt x="2305" y="18280"/>
                  </a:lnTo>
                  <a:lnTo>
                    <a:pt x="8826" y="9750"/>
                  </a:lnTo>
                  <a:lnTo>
                    <a:pt x="18966" y="3434"/>
                  </a:lnTo>
                  <a:lnTo>
                    <a:pt x="32131" y="0"/>
                  </a:lnTo>
                  <a:lnTo>
                    <a:pt x="43433" y="0"/>
                  </a:lnTo>
                  <a:lnTo>
                    <a:pt x="56856" y="3434"/>
                  </a:lnTo>
                  <a:lnTo>
                    <a:pt x="67563" y="9750"/>
                  </a:lnTo>
                  <a:lnTo>
                    <a:pt x="74652" y="18280"/>
                  </a:lnTo>
                  <a:lnTo>
                    <a:pt x="77216" y="28359"/>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49" name="object 167"/>
            <p:cNvSpPr/>
            <p:nvPr/>
          </p:nvSpPr>
          <p:spPr bwMode="auto">
            <a:xfrm>
              <a:off x="0" y="5087492"/>
              <a:ext cx="1191102" cy="501015"/>
            </a:xfrm>
            <a:custGeom>
              <a:avLst/>
              <a:gdLst>
                <a:gd name="T0" fmla="*/ 43859 w 1588135"/>
                <a:gd name="T1" fmla="*/ 46803 h 668020"/>
                <a:gd name="T2" fmla="*/ 0 w 1588135"/>
                <a:gd name="T3" fmla="*/ 65879 h 668020"/>
                <a:gd name="T4" fmla="*/ 45143 w 1588135"/>
                <a:gd name="T5" fmla="*/ 66827 h 668020"/>
                <a:gd name="T6" fmla="*/ 77692 w 1588135"/>
                <a:gd name="T7" fmla="*/ 47868 h 668020"/>
                <a:gd name="T8" fmla="*/ 77692 w 1588135"/>
                <a:gd name="T9" fmla="*/ 47868 h 668020"/>
                <a:gd name="T10" fmla="*/ 76249 w 1588135"/>
                <a:gd name="T11" fmla="*/ 66827 h 668020"/>
                <a:gd name="T12" fmla="*/ 104947 w 1588135"/>
                <a:gd name="T13" fmla="*/ 65879 h 668020"/>
                <a:gd name="T14" fmla="*/ 77692 w 1588135"/>
                <a:gd name="T15" fmla="*/ 47868 h 668020"/>
                <a:gd name="T16" fmla="*/ 114953 w 1588135"/>
                <a:gd name="T17" fmla="*/ 311 h 668020"/>
                <a:gd name="T18" fmla="*/ 112238 w 1588135"/>
                <a:gd name="T19" fmla="*/ 2399 h 668020"/>
                <a:gd name="T20" fmla="*/ 112183 w 1588135"/>
                <a:gd name="T21" fmla="*/ 5269 h 668020"/>
                <a:gd name="T22" fmla="*/ 114548 w 1588135"/>
                <a:gd name="T23" fmla="*/ 7276 h 668020"/>
                <a:gd name="T24" fmla="*/ 116331 w 1588135"/>
                <a:gd name="T25" fmla="*/ 18959 h 668020"/>
                <a:gd name="T26" fmla="*/ 94364 w 1588135"/>
                <a:gd name="T27" fmla="*/ 65879 h 668020"/>
                <a:gd name="T28" fmla="*/ 95809 w 1588135"/>
                <a:gd name="T29" fmla="*/ 20024 h 668020"/>
                <a:gd name="T30" fmla="*/ 117775 w 1588135"/>
                <a:gd name="T31" fmla="*/ 7701 h 668020"/>
                <a:gd name="T32" fmla="*/ 120371 w 1588135"/>
                <a:gd name="T33" fmla="*/ 6755 h 668020"/>
                <a:gd name="T34" fmla="*/ 115492 w 1588135"/>
                <a:gd name="T35" fmla="*/ 6527 h 668020"/>
                <a:gd name="T36" fmla="*/ 113433 w 1588135"/>
                <a:gd name="T37" fmla="*/ 5005 h 668020"/>
                <a:gd name="T38" fmla="*/ 113433 w 1588135"/>
                <a:gd name="T39" fmla="*/ 2748 h 668020"/>
                <a:gd name="T40" fmla="*/ 115492 w 1588135"/>
                <a:gd name="T41" fmla="*/ 1178 h 668020"/>
                <a:gd name="T42" fmla="*/ 120288 w 1588135"/>
                <a:gd name="T43" fmla="*/ 949 h 668020"/>
                <a:gd name="T44" fmla="*/ 116972 w 1588135"/>
                <a:gd name="T45" fmla="*/ 0 h 668020"/>
                <a:gd name="T46" fmla="*/ 103506 w 1588135"/>
                <a:gd name="T47" fmla="*/ 29266 h 668020"/>
                <a:gd name="T48" fmla="*/ 104947 w 1588135"/>
                <a:gd name="T49" fmla="*/ 65879 h 668020"/>
                <a:gd name="T50" fmla="*/ 158981 w 1588135"/>
                <a:gd name="T51" fmla="*/ 30333 h 668020"/>
                <a:gd name="T52" fmla="*/ 120288 w 1588135"/>
                <a:gd name="T53" fmla="*/ 949 h 668020"/>
                <a:gd name="T54" fmla="*/ 118521 w 1588135"/>
                <a:gd name="T55" fmla="*/ 1178 h 668020"/>
                <a:gd name="T56" fmla="*/ 120536 w 1588135"/>
                <a:gd name="T57" fmla="*/ 2748 h 668020"/>
                <a:gd name="T58" fmla="*/ 120536 w 1588135"/>
                <a:gd name="T59" fmla="*/ 5005 h 668020"/>
                <a:gd name="T60" fmla="*/ 118521 w 1588135"/>
                <a:gd name="T61" fmla="*/ 6527 h 668020"/>
                <a:gd name="T62" fmla="*/ 120371 w 1588135"/>
                <a:gd name="T63" fmla="*/ 6755 h 668020"/>
                <a:gd name="T64" fmla="*/ 121901 w 1588135"/>
                <a:gd name="T65" fmla="*/ 5269 h 668020"/>
                <a:gd name="T66" fmla="*/ 121844 w 1588135"/>
                <a:gd name="T67" fmla="*/ 2399 h 668020"/>
                <a:gd name="T68" fmla="*/ 120288 w 1588135"/>
                <a:gd name="T69" fmla="*/ 949 h 6680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88135" h="668020">
                  <a:moveTo>
                    <a:pt x="776033" y="467499"/>
                  </a:moveTo>
                  <a:lnTo>
                    <a:pt x="438099" y="467499"/>
                  </a:lnTo>
                  <a:lnTo>
                    <a:pt x="438099" y="658037"/>
                  </a:lnTo>
                  <a:lnTo>
                    <a:pt x="0" y="658037"/>
                  </a:lnTo>
                  <a:lnTo>
                    <a:pt x="0" y="667511"/>
                  </a:lnTo>
                  <a:lnTo>
                    <a:pt x="450913" y="667511"/>
                  </a:lnTo>
                  <a:lnTo>
                    <a:pt x="450913" y="478142"/>
                  </a:lnTo>
                  <a:lnTo>
                    <a:pt x="776033" y="478142"/>
                  </a:lnTo>
                  <a:lnTo>
                    <a:pt x="776033" y="467499"/>
                  </a:lnTo>
                  <a:close/>
                </a:path>
                <a:path w="1588135" h="668020">
                  <a:moveTo>
                    <a:pt x="776033" y="478142"/>
                  </a:moveTo>
                  <a:lnTo>
                    <a:pt x="761619" y="478142"/>
                  </a:lnTo>
                  <a:lnTo>
                    <a:pt x="761619" y="667511"/>
                  </a:lnTo>
                  <a:lnTo>
                    <a:pt x="1048283" y="667511"/>
                  </a:lnTo>
                  <a:lnTo>
                    <a:pt x="1048283" y="658037"/>
                  </a:lnTo>
                  <a:lnTo>
                    <a:pt x="776033" y="658037"/>
                  </a:lnTo>
                  <a:lnTo>
                    <a:pt x="776033" y="478142"/>
                  </a:lnTo>
                  <a:close/>
                </a:path>
                <a:path w="1588135" h="668020">
                  <a:moveTo>
                    <a:pt x="1168400" y="0"/>
                  </a:moveTo>
                  <a:lnTo>
                    <a:pt x="1148230" y="3106"/>
                  </a:lnTo>
                  <a:lnTo>
                    <a:pt x="1131966" y="11539"/>
                  </a:lnTo>
                  <a:lnTo>
                    <a:pt x="1121108" y="23965"/>
                  </a:lnTo>
                  <a:lnTo>
                    <a:pt x="1117155" y="39052"/>
                  </a:lnTo>
                  <a:lnTo>
                    <a:pt x="1120558" y="52626"/>
                  </a:lnTo>
                  <a:lnTo>
                    <a:pt x="1129966" y="64203"/>
                  </a:lnTo>
                  <a:lnTo>
                    <a:pt x="1144180" y="72672"/>
                  </a:lnTo>
                  <a:lnTo>
                    <a:pt x="1161999" y="76923"/>
                  </a:lnTo>
                  <a:lnTo>
                    <a:pt x="1161999" y="189369"/>
                  </a:lnTo>
                  <a:lnTo>
                    <a:pt x="942581" y="189369"/>
                  </a:lnTo>
                  <a:lnTo>
                    <a:pt x="942581" y="658037"/>
                  </a:lnTo>
                  <a:lnTo>
                    <a:pt x="956995" y="658037"/>
                  </a:lnTo>
                  <a:lnTo>
                    <a:pt x="956995" y="200012"/>
                  </a:lnTo>
                  <a:lnTo>
                    <a:pt x="1176413" y="200012"/>
                  </a:lnTo>
                  <a:lnTo>
                    <a:pt x="1176413" y="76923"/>
                  </a:lnTo>
                  <a:lnTo>
                    <a:pt x="1193552" y="72672"/>
                  </a:lnTo>
                  <a:lnTo>
                    <a:pt x="1202342" y="67462"/>
                  </a:lnTo>
                  <a:lnTo>
                    <a:pt x="1168400" y="67462"/>
                  </a:lnTo>
                  <a:lnTo>
                    <a:pt x="1153613" y="65187"/>
                  </a:lnTo>
                  <a:lnTo>
                    <a:pt x="1141379" y="59029"/>
                  </a:lnTo>
                  <a:lnTo>
                    <a:pt x="1133047" y="49985"/>
                  </a:lnTo>
                  <a:lnTo>
                    <a:pt x="1129969" y="39052"/>
                  </a:lnTo>
                  <a:lnTo>
                    <a:pt x="1133047" y="27444"/>
                  </a:lnTo>
                  <a:lnTo>
                    <a:pt x="1141379" y="18053"/>
                  </a:lnTo>
                  <a:lnTo>
                    <a:pt x="1153613" y="11766"/>
                  </a:lnTo>
                  <a:lnTo>
                    <a:pt x="1168400" y="9474"/>
                  </a:lnTo>
                  <a:lnTo>
                    <a:pt x="1201520" y="9474"/>
                  </a:lnTo>
                  <a:lnTo>
                    <a:pt x="1188821" y="3106"/>
                  </a:lnTo>
                  <a:lnTo>
                    <a:pt x="1168400" y="0"/>
                  </a:lnTo>
                  <a:close/>
                </a:path>
                <a:path w="1588135" h="668020">
                  <a:moveTo>
                    <a:pt x="1588008" y="292328"/>
                  </a:moveTo>
                  <a:lnTo>
                    <a:pt x="1033881" y="292328"/>
                  </a:lnTo>
                  <a:lnTo>
                    <a:pt x="1033881" y="658037"/>
                  </a:lnTo>
                  <a:lnTo>
                    <a:pt x="1048283" y="658037"/>
                  </a:lnTo>
                  <a:lnTo>
                    <a:pt x="1048283" y="302983"/>
                  </a:lnTo>
                  <a:lnTo>
                    <a:pt x="1588008" y="302983"/>
                  </a:lnTo>
                  <a:lnTo>
                    <a:pt x="1588008" y="292328"/>
                  </a:lnTo>
                  <a:close/>
                </a:path>
                <a:path w="1588135" h="668020">
                  <a:moveTo>
                    <a:pt x="1201520" y="9474"/>
                  </a:moveTo>
                  <a:lnTo>
                    <a:pt x="1168400" y="9474"/>
                  </a:lnTo>
                  <a:lnTo>
                    <a:pt x="1183868" y="11766"/>
                  </a:lnTo>
                  <a:lnTo>
                    <a:pt x="1196032" y="18053"/>
                  </a:lnTo>
                  <a:lnTo>
                    <a:pt x="1203990" y="27444"/>
                  </a:lnTo>
                  <a:lnTo>
                    <a:pt x="1206842" y="39052"/>
                  </a:lnTo>
                  <a:lnTo>
                    <a:pt x="1203990" y="49985"/>
                  </a:lnTo>
                  <a:lnTo>
                    <a:pt x="1196032" y="59029"/>
                  </a:lnTo>
                  <a:lnTo>
                    <a:pt x="1183868" y="65187"/>
                  </a:lnTo>
                  <a:lnTo>
                    <a:pt x="1168400" y="67462"/>
                  </a:lnTo>
                  <a:lnTo>
                    <a:pt x="1202342" y="67462"/>
                  </a:lnTo>
                  <a:lnTo>
                    <a:pt x="1207841" y="64203"/>
                  </a:lnTo>
                  <a:lnTo>
                    <a:pt x="1217627" y="52626"/>
                  </a:lnTo>
                  <a:lnTo>
                    <a:pt x="1221257" y="39052"/>
                  </a:lnTo>
                  <a:lnTo>
                    <a:pt x="1217052" y="23965"/>
                  </a:lnTo>
                  <a:lnTo>
                    <a:pt x="1205639" y="11539"/>
                  </a:lnTo>
                  <a:lnTo>
                    <a:pt x="1201520" y="9474"/>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50" name="object 168"/>
            <p:cNvSpPr/>
            <p:nvPr/>
          </p:nvSpPr>
          <p:spPr bwMode="auto">
            <a:xfrm>
              <a:off x="0" y="5087492"/>
              <a:ext cx="1191102" cy="501015"/>
            </a:xfrm>
            <a:custGeom>
              <a:avLst/>
              <a:gdLst>
                <a:gd name="T0" fmla="*/ 63125 w 1588135"/>
                <a:gd name="T1" fmla="*/ 47868 h 668020"/>
                <a:gd name="T2" fmla="*/ 75762 w 1588135"/>
                <a:gd name="T3" fmla="*/ 47868 h 668020"/>
                <a:gd name="T4" fmla="*/ 76249 w 1588135"/>
                <a:gd name="T5" fmla="*/ 58829 h 668020"/>
                <a:gd name="T6" fmla="*/ 76249 w 1588135"/>
                <a:gd name="T7" fmla="*/ 66531 h 668020"/>
                <a:gd name="T8" fmla="*/ 92840 w 1588135"/>
                <a:gd name="T9" fmla="*/ 66827 h 668020"/>
                <a:gd name="T10" fmla="*/ 104498 w 1588135"/>
                <a:gd name="T11" fmla="*/ 66827 h 668020"/>
                <a:gd name="T12" fmla="*/ 104947 w 1588135"/>
                <a:gd name="T13" fmla="*/ 45729 h 668020"/>
                <a:gd name="T14" fmla="*/ 104947 w 1588135"/>
                <a:gd name="T15" fmla="*/ 30903 h 668020"/>
                <a:gd name="T16" fmla="*/ 136185 w 1588135"/>
                <a:gd name="T17" fmla="*/ 30333 h 668020"/>
                <a:gd name="T18" fmla="*/ 158136 w 1588135"/>
                <a:gd name="T19" fmla="*/ 30333 h 668020"/>
                <a:gd name="T20" fmla="*/ 158981 w 1588135"/>
                <a:gd name="T21" fmla="*/ 29266 h 668020"/>
                <a:gd name="T22" fmla="*/ 110440 w 1588135"/>
                <a:gd name="T23" fmla="*/ 29266 h 668020"/>
                <a:gd name="T24" fmla="*/ 103506 w 1588135"/>
                <a:gd name="T25" fmla="*/ 29266 h 668020"/>
                <a:gd name="T26" fmla="*/ 103506 w 1588135"/>
                <a:gd name="T27" fmla="*/ 61301 h 668020"/>
                <a:gd name="T28" fmla="*/ 103506 w 1588135"/>
                <a:gd name="T29" fmla="*/ 65879 h 668020"/>
                <a:gd name="T30" fmla="*/ 96770 w 1588135"/>
                <a:gd name="T31" fmla="*/ 65879 h 668020"/>
                <a:gd name="T32" fmla="*/ 95809 w 1588135"/>
                <a:gd name="T33" fmla="*/ 65879 h 668020"/>
                <a:gd name="T34" fmla="*/ 95809 w 1588135"/>
                <a:gd name="T35" fmla="*/ 25756 h 668020"/>
                <a:gd name="T36" fmla="*/ 95809 w 1588135"/>
                <a:gd name="T37" fmla="*/ 20024 h 668020"/>
                <a:gd name="T38" fmla="*/ 115028 w 1588135"/>
                <a:gd name="T39" fmla="*/ 20024 h 668020"/>
                <a:gd name="T40" fmla="*/ 117775 w 1588135"/>
                <a:gd name="T41" fmla="*/ 20024 h 668020"/>
                <a:gd name="T42" fmla="*/ 117775 w 1588135"/>
                <a:gd name="T43" fmla="*/ 9242 h 668020"/>
                <a:gd name="T44" fmla="*/ 117775 w 1588135"/>
                <a:gd name="T45" fmla="*/ 7701 h 668020"/>
                <a:gd name="T46" fmla="*/ 120921 w 1588135"/>
                <a:gd name="T47" fmla="*/ 6428 h 668020"/>
                <a:gd name="T48" fmla="*/ 122264 w 1588135"/>
                <a:gd name="T49" fmla="*/ 3910 h 668020"/>
                <a:gd name="T50" fmla="*/ 120701 w 1588135"/>
                <a:gd name="T51" fmla="*/ 1156 h 668020"/>
                <a:gd name="T52" fmla="*/ 116972 w 1588135"/>
                <a:gd name="T53" fmla="*/ 0 h 668020"/>
                <a:gd name="T54" fmla="*/ 113325 w 1588135"/>
                <a:gd name="T55" fmla="*/ 1156 h 668020"/>
                <a:gd name="T56" fmla="*/ 111842 w 1588135"/>
                <a:gd name="T57" fmla="*/ 3910 h 668020"/>
                <a:gd name="T58" fmla="*/ 113125 w 1588135"/>
                <a:gd name="T59" fmla="*/ 6428 h 668020"/>
                <a:gd name="T60" fmla="*/ 116331 w 1588135"/>
                <a:gd name="T61" fmla="*/ 7701 h 668020"/>
                <a:gd name="T62" fmla="*/ 116331 w 1588135"/>
                <a:gd name="T63" fmla="*/ 17552 h 668020"/>
                <a:gd name="T64" fmla="*/ 116331 w 1588135"/>
                <a:gd name="T65" fmla="*/ 18959 h 668020"/>
                <a:gd name="T66" fmla="*/ 97111 w 1588135"/>
                <a:gd name="T67" fmla="*/ 18959 h 668020"/>
                <a:gd name="T68" fmla="*/ 94364 w 1588135"/>
                <a:gd name="T69" fmla="*/ 18959 h 668020"/>
                <a:gd name="T70" fmla="*/ 94364 w 1588135"/>
                <a:gd name="T71" fmla="*/ 60014 h 668020"/>
                <a:gd name="T72" fmla="*/ 94364 w 1588135"/>
                <a:gd name="T73" fmla="*/ 65879 h 668020"/>
                <a:gd name="T74" fmla="*/ 79776 w 1588135"/>
                <a:gd name="T75" fmla="*/ 65879 h 668020"/>
                <a:gd name="T76" fmla="*/ 77692 w 1588135"/>
                <a:gd name="T77" fmla="*/ 65879 h 668020"/>
                <a:gd name="T78" fmla="*/ 77692 w 1588135"/>
                <a:gd name="T79" fmla="*/ 49187 h 668020"/>
                <a:gd name="T80" fmla="*/ 77692 w 1588135"/>
                <a:gd name="T81" fmla="*/ 46803 h 668020"/>
                <a:gd name="T82" fmla="*/ 48089 w 1588135"/>
                <a:gd name="T83" fmla="*/ 46803 h 668020"/>
                <a:gd name="T84" fmla="*/ 43859 w 1588135"/>
                <a:gd name="T85" fmla="*/ 46803 h 668020"/>
                <a:gd name="T86" fmla="*/ 43859 w 1588135"/>
                <a:gd name="T87" fmla="*/ 63494 h 668020"/>
                <a:gd name="T88" fmla="*/ 43859 w 1588135"/>
                <a:gd name="T89" fmla="*/ 65879 h 668020"/>
                <a:gd name="T90" fmla="*/ 0 w 1588135"/>
                <a:gd name="T91" fmla="*/ 65879 h 66802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588135" h="668020">
                  <a:moveTo>
                    <a:pt x="450913" y="478142"/>
                  </a:moveTo>
                  <a:lnTo>
                    <a:pt x="630540" y="478142"/>
                  </a:lnTo>
                  <a:lnTo>
                    <a:pt x="722780" y="478142"/>
                  </a:lnTo>
                  <a:lnTo>
                    <a:pt x="756764" y="478142"/>
                  </a:lnTo>
                  <a:lnTo>
                    <a:pt x="761619" y="478142"/>
                  </a:lnTo>
                  <a:lnTo>
                    <a:pt x="761619" y="587621"/>
                  </a:lnTo>
                  <a:lnTo>
                    <a:pt x="761619" y="643840"/>
                  </a:lnTo>
                  <a:lnTo>
                    <a:pt x="761619" y="664553"/>
                  </a:lnTo>
                  <a:lnTo>
                    <a:pt x="761619" y="667511"/>
                  </a:lnTo>
                  <a:lnTo>
                    <a:pt x="927346" y="667511"/>
                  </a:lnTo>
                  <a:lnTo>
                    <a:pt x="1012450" y="667511"/>
                  </a:lnTo>
                  <a:lnTo>
                    <a:pt x="1043804" y="667511"/>
                  </a:lnTo>
                  <a:lnTo>
                    <a:pt x="1048283" y="667511"/>
                  </a:lnTo>
                  <a:lnTo>
                    <a:pt x="1048283" y="456769"/>
                  </a:lnTo>
                  <a:lnTo>
                    <a:pt x="1048283" y="348549"/>
                  </a:lnTo>
                  <a:lnTo>
                    <a:pt x="1048283" y="308679"/>
                  </a:lnTo>
                  <a:lnTo>
                    <a:pt x="1048283" y="302983"/>
                  </a:lnTo>
                  <a:lnTo>
                    <a:pt x="1360311" y="302983"/>
                  </a:lnTo>
                  <a:lnTo>
                    <a:pt x="1520542" y="302983"/>
                  </a:lnTo>
                  <a:lnTo>
                    <a:pt x="1579574" y="302983"/>
                  </a:lnTo>
                  <a:lnTo>
                    <a:pt x="1588008" y="302983"/>
                  </a:lnTo>
                  <a:lnTo>
                    <a:pt x="1588008" y="292328"/>
                  </a:lnTo>
                  <a:lnTo>
                    <a:pt x="1267653" y="292328"/>
                  </a:lnTo>
                  <a:lnTo>
                    <a:pt x="1103147" y="292328"/>
                  </a:lnTo>
                  <a:lnTo>
                    <a:pt x="1042539" y="292328"/>
                  </a:lnTo>
                  <a:lnTo>
                    <a:pt x="1033881" y="292328"/>
                  </a:lnTo>
                  <a:lnTo>
                    <a:pt x="1033881" y="503754"/>
                  </a:lnTo>
                  <a:lnTo>
                    <a:pt x="1033881" y="612324"/>
                  </a:lnTo>
                  <a:lnTo>
                    <a:pt x="1033881" y="652323"/>
                  </a:lnTo>
                  <a:lnTo>
                    <a:pt x="1033881" y="658037"/>
                  </a:lnTo>
                  <a:lnTo>
                    <a:pt x="989431" y="658037"/>
                  </a:lnTo>
                  <a:lnTo>
                    <a:pt x="966606" y="658037"/>
                  </a:lnTo>
                  <a:lnTo>
                    <a:pt x="958197" y="658037"/>
                  </a:lnTo>
                  <a:lnTo>
                    <a:pt x="956995" y="658037"/>
                  </a:lnTo>
                  <a:lnTo>
                    <a:pt x="956995" y="393241"/>
                  </a:lnTo>
                  <a:lnTo>
                    <a:pt x="956995" y="257265"/>
                  </a:lnTo>
                  <a:lnTo>
                    <a:pt x="956995" y="207168"/>
                  </a:lnTo>
                  <a:lnTo>
                    <a:pt x="956995" y="200012"/>
                  </a:lnTo>
                  <a:lnTo>
                    <a:pt x="1083846" y="200012"/>
                  </a:lnTo>
                  <a:lnTo>
                    <a:pt x="1148986" y="200012"/>
                  </a:lnTo>
                  <a:lnTo>
                    <a:pt x="1172985" y="200012"/>
                  </a:lnTo>
                  <a:lnTo>
                    <a:pt x="1176413" y="200012"/>
                  </a:lnTo>
                  <a:lnTo>
                    <a:pt x="1176413" y="128851"/>
                  </a:lnTo>
                  <a:lnTo>
                    <a:pt x="1176413" y="92309"/>
                  </a:lnTo>
                  <a:lnTo>
                    <a:pt x="1176413" y="78847"/>
                  </a:lnTo>
                  <a:lnTo>
                    <a:pt x="1176413" y="76923"/>
                  </a:lnTo>
                  <a:lnTo>
                    <a:pt x="1193552" y="72672"/>
                  </a:lnTo>
                  <a:lnTo>
                    <a:pt x="1207841" y="64203"/>
                  </a:lnTo>
                  <a:lnTo>
                    <a:pt x="1217627" y="52626"/>
                  </a:lnTo>
                  <a:lnTo>
                    <a:pt x="1221257" y="39052"/>
                  </a:lnTo>
                  <a:lnTo>
                    <a:pt x="1217052" y="23965"/>
                  </a:lnTo>
                  <a:lnTo>
                    <a:pt x="1205639" y="11539"/>
                  </a:lnTo>
                  <a:lnTo>
                    <a:pt x="1188821" y="3106"/>
                  </a:lnTo>
                  <a:lnTo>
                    <a:pt x="1168400" y="0"/>
                  </a:lnTo>
                  <a:lnTo>
                    <a:pt x="1148230" y="3106"/>
                  </a:lnTo>
                  <a:lnTo>
                    <a:pt x="1131966" y="11539"/>
                  </a:lnTo>
                  <a:lnTo>
                    <a:pt x="1121108" y="23965"/>
                  </a:lnTo>
                  <a:lnTo>
                    <a:pt x="1117155" y="39052"/>
                  </a:lnTo>
                  <a:lnTo>
                    <a:pt x="1120558" y="52626"/>
                  </a:lnTo>
                  <a:lnTo>
                    <a:pt x="1129966" y="64203"/>
                  </a:lnTo>
                  <a:lnTo>
                    <a:pt x="1144180" y="72672"/>
                  </a:lnTo>
                  <a:lnTo>
                    <a:pt x="1161999" y="76923"/>
                  </a:lnTo>
                  <a:lnTo>
                    <a:pt x="1161999" y="141931"/>
                  </a:lnTo>
                  <a:lnTo>
                    <a:pt x="1161999" y="175313"/>
                  </a:lnTo>
                  <a:lnTo>
                    <a:pt x="1161999" y="187612"/>
                  </a:lnTo>
                  <a:lnTo>
                    <a:pt x="1161999" y="189369"/>
                  </a:lnTo>
                  <a:lnTo>
                    <a:pt x="1035148" y="189369"/>
                  </a:lnTo>
                  <a:lnTo>
                    <a:pt x="970008" y="189369"/>
                  </a:lnTo>
                  <a:lnTo>
                    <a:pt x="946009" y="189369"/>
                  </a:lnTo>
                  <a:lnTo>
                    <a:pt x="942581" y="189369"/>
                  </a:lnTo>
                  <a:lnTo>
                    <a:pt x="942581" y="460318"/>
                  </a:lnTo>
                  <a:lnTo>
                    <a:pt x="942581" y="599454"/>
                  </a:lnTo>
                  <a:lnTo>
                    <a:pt x="942581" y="650714"/>
                  </a:lnTo>
                  <a:lnTo>
                    <a:pt x="942581" y="658037"/>
                  </a:lnTo>
                  <a:lnTo>
                    <a:pt x="846295" y="658037"/>
                  </a:lnTo>
                  <a:lnTo>
                    <a:pt x="796851" y="658037"/>
                  </a:lnTo>
                  <a:lnTo>
                    <a:pt x="778635" y="658037"/>
                  </a:lnTo>
                  <a:lnTo>
                    <a:pt x="776033" y="658037"/>
                  </a:lnTo>
                  <a:lnTo>
                    <a:pt x="776033" y="547882"/>
                  </a:lnTo>
                  <a:lnTo>
                    <a:pt x="776033" y="491316"/>
                  </a:lnTo>
                  <a:lnTo>
                    <a:pt x="776033" y="470476"/>
                  </a:lnTo>
                  <a:lnTo>
                    <a:pt x="776033" y="467499"/>
                  </a:lnTo>
                  <a:lnTo>
                    <a:pt x="580665" y="467499"/>
                  </a:lnTo>
                  <a:lnTo>
                    <a:pt x="480340" y="467499"/>
                  </a:lnTo>
                  <a:lnTo>
                    <a:pt x="443379" y="467499"/>
                  </a:lnTo>
                  <a:lnTo>
                    <a:pt x="438099" y="467499"/>
                  </a:lnTo>
                  <a:lnTo>
                    <a:pt x="438099" y="577654"/>
                  </a:lnTo>
                  <a:lnTo>
                    <a:pt x="438099" y="634220"/>
                  </a:lnTo>
                  <a:lnTo>
                    <a:pt x="438099" y="655060"/>
                  </a:lnTo>
                  <a:lnTo>
                    <a:pt x="438099" y="658037"/>
                  </a:lnTo>
                  <a:lnTo>
                    <a:pt x="102003" y="658037"/>
                  </a:lnTo>
                  <a:lnTo>
                    <a:pt x="0" y="658037"/>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1" name="object 169"/>
            <p:cNvSpPr/>
            <p:nvPr/>
          </p:nvSpPr>
          <p:spPr bwMode="auto">
            <a:xfrm>
              <a:off x="1" y="5446101"/>
              <a:ext cx="338613" cy="142398"/>
            </a:xfrm>
            <a:custGeom>
              <a:avLst/>
              <a:gdLst>
                <a:gd name="T0" fmla="*/ 0 w 451484"/>
                <a:gd name="T1" fmla="*/ 18959 h 189864"/>
                <a:gd name="T2" fmla="*/ 20048 w 451484"/>
                <a:gd name="T3" fmla="*/ 18959 h 189864"/>
                <a:gd name="T4" fmla="*/ 37707 w 451484"/>
                <a:gd name="T5" fmla="*/ 18959 h 189864"/>
                <a:gd name="T6" fmla="*/ 44213 w 451484"/>
                <a:gd name="T7" fmla="*/ 18959 h 189864"/>
                <a:gd name="T8" fmla="*/ 45143 w 451484"/>
                <a:gd name="T9" fmla="*/ 18959 h 189864"/>
                <a:gd name="T10" fmla="*/ 45143 w 451484"/>
                <a:gd name="T11" fmla="*/ 0 h 1898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1484" h="189864">
                  <a:moveTo>
                    <a:pt x="0" y="189369"/>
                  </a:moveTo>
                  <a:lnTo>
                    <a:pt x="200248" y="189369"/>
                  </a:lnTo>
                  <a:lnTo>
                    <a:pt x="376642" y="189369"/>
                  </a:lnTo>
                  <a:lnTo>
                    <a:pt x="441629" y="189369"/>
                  </a:lnTo>
                  <a:lnTo>
                    <a:pt x="450913" y="189369"/>
                  </a:lnTo>
                  <a:lnTo>
                    <a:pt x="450913"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2" name="object 170"/>
            <p:cNvSpPr/>
            <p:nvPr/>
          </p:nvSpPr>
          <p:spPr bwMode="auto">
            <a:xfrm>
              <a:off x="847477" y="5094599"/>
              <a:ext cx="58102" cy="43814"/>
            </a:xfrm>
            <a:custGeom>
              <a:avLst/>
              <a:gdLst>
                <a:gd name="T0" fmla="*/ 0 w 77469"/>
                <a:gd name="T1" fmla="*/ 2960 h 58420"/>
                <a:gd name="T2" fmla="*/ 308 w 77469"/>
                <a:gd name="T3" fmla="*/ 1798 h 58420"/>
                <a:gd name="T4" fmla="*/ 1142 w 77469"/>
                <a:gd name="T5" fmla="*/ 858 h 58420"/>
                <a:gd name="T6" fmla="*/ 2367 w 77469"/>
                <a:gd name="T7" fmla="*/ 229 h 58420"/>
                <a:gd name="T8" fmla="*/ 3848 w 77469"/>
                <a:gd name="T9" fmla="*/ 0 h 58420"/>
                <a:gd name="T10" fmla="*/ 5396 w 77469"/>
                <a:gd name="T11" fmla="*/ 229 h 58420"/>
                <a:gd name="T12" fmla="*/ 6614 w 77469"/>
                <a:gd name="T13" fmla="*/ 858 h 58420"/>
                <a:gd name="T14" fmla="*/ 7411 w 77469"/>
                <a:gd name="T15" fmla="*/ 1798 h 58420"/>
                <a:gd name="T16" fmla="*/ 7697 w 77469"/>
                <a:gd name="T17" fmla="*/ 2960 h 58420"/>
                <a:gd name="T18" fmla="*/ 7411 w 77469"/>
                <a:gd name="T19" fmla="*/ 4055 h 58420"/>
                <a:gd name="T20" fmla="*/ 6614 w 77469"/>
                <a:gd name="T21" fmla="*/ 4960 h 58420"/>
                <a:gd name="T22" fmla="*/ 5396 w 77469"/>
                <a:gd name="T23" fmla="*/ 5576 h 58420"/>
                <a:gd name="T24" fmla="*/ 3848 w 77469"/>
                <a:gd name="T25" fmla="*/ 5804 h 58420"/>
                <a:gd name="T26" fmla="*/ 2367 w 77469"/>
                <a:gd name="T27" fmla="*/ 5576 h 58420"/>
                <a:gd name="T28" fmla="*/ 1142 w 77469"/>
                <a:gd name="T29" fmla="*/ 4960 h 58420"/>
                <a:gd name="T30" fmla="*/ 308 w 77469"/>
                <a:gd name="T31" fmla="*/ 4055 h 58420"/>
                <a:gd name="T32" fmla="*/ 0 w 77469"/>
                <a:gd name="T33" fmla="*/ 2960 h 584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69" h="58420">
                  <a:moveTo>
                    <a:pt x="0" y="29578"/>
                  </a:moveTo>
                  <a:lnTo>
                    <a:pt x="3077" y="17970"/>
                  </a:lnTo>
                  <a:lnTo>
                    <a:pt x="11409" y="8578"/>
                  </a:lnTo>
                  <a:lnTo>
                    <a:pt x="23644" y="2292"/>
                  </a:lnTo>
                  <a:lnTo>
                    <a:pt x="38430" y="0"/>
                  </a:lnTo>
                  <a:lnTo>
                    <a:pt x="53898" y="2292"/>
                  </a:lnTo>
                  <a:lnTo>
                    <a:pt x="66062" y="8578"/>
                  </a:lnTo>
                  <a:lnTo>
                    <a:pt x="74020" y="17970"/>
                  </a:lnTo>
                  <a:lnTo>
                    <a:pt x="76873" y="29578"/>
                  </a:lnTo>
                  <a:lnTo>
                    <a:pt x="74020" y="40511"/>
                  </a:lnTo>
                  <a:lnTo>
                    <a:pt x="66062" y="49555"/>
                  </a:lnTo>
                  <a:lnTo>
                    <a:pt x="53898" y="55713"/>
                  </a:lnTo>
                  <a:lnTo>
                    <a:pt x="38430" y="57988"/>
                  </a:lnTo>
                  <a:lnTo>
                    <a:pt x="23644" y="55713"/>
                  </a:lnTo>
                  <a:lnTo>
                    <a:pt x="11409" y="49555"/>
                  </a:lnTo>
                  <a:lnTo>
                    <a:pt x="3077" y="40511"/>
                  </a:lnTo>
                  <a:lnTo>
                    <a:pt x="0" y="29578"/>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3" name="object 171"/>
            <p:cNvSpPr/>
            <p:nvPr/>
          </p:nvSpPr>
          <p:spPr bwMode="auto">
            <a:xfrm>
              <a:off x="939546" y="5234463"/>
              <a:ext cx="287178" cy="0"/>
            </a:xfrm>
            <a:custGeom>
              <a:avLst/>
              <a:gdLst>
                <a:gd name="T0" fmla="*/ 0 w 382905"/>
                <a:gd name="T1" fmla="*/ 38333 w 382905"/>
                <a:gd name="T2" fmla="*/ 0 60000 65536"/>
                <a:gd name="T3" fmla="*/ 0 60000 65536"/>
              </a:gdLst>
              <a:ahLst/>
              <a:cxnLst>
                <a:cxn ang="T2">
                  <a:pos x="T0" y="0"/>
                </a:cxn>
                <a:cxn ang="T3">
                  <a:pos x="T1" y="0"/>
                </a:cxn>
              </a:cxnLst>
              <a:rect l="0" t="0" r="r" b="b"/>
              <a:pathLst>
                <a:path w="382905">
                  <a:moveTo>
                    <a:pt x="0" y="0"/>
                  </a:moveTo>
                  <a:lnTo>
                    <a:pt x="382904" y="0"/>
                  </a:lnTo>
                </a:path>
              </a:pathLst>
            </a:custGeom>
            <a:noFill/>
            <a:ln w="1143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4" name="object 172"/>
            <p:cNvSpPr/>
            <p:nvPr/>
          </p:nvSpPr>
          <p:spPr bwMode="auto">
            <a:xfrm>
              <a:off x="1221342" y="4910138"/>
              <a:ext cx="0" cy="320040"/>
            </a:xfrm>
            <a:custGeom>
              <a:avLst/>
              <a:gdLst>
                <a:gd name="T0" fmla="*/ 0 h 426720"/>
                <a:gd name="T1" fmla="*/ 42720 h 426720"/>
                <a:gd name="T2" fmla="*/ 0 60000 65536"/>
                <a:gd name="T3" fmla="*/ 0 60000 65536"/>
              </a:gdLst>
              <a:ahLst/>
              <a:cxnLst>
                <a:cxn ang="T2">
                  <a:pos x="0" y="T0"/>
                </a:cxn>
                <a:cxn ang="T3">
                  <a:pos x="0" y="T1"/>
                </a:cxn>
              </a:cxnLst>
              <a:rect l="0" t="0" r="r" b="b"/>
              <a:pathLst>
                <a:path h="426720">
                  <a:moveTo>
                    <a:pt x="0" y="0"/>
                  </a:moveTo>
                  <a:lnTo>
                    <a:pt x="0" y="426719"/>
                  </a:lnTo>
                </a:path>
              </a:pathLst>
            </a:custGeom>
            <a:noFill/>
            <a:ln w="1435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5" name="object 173"/>
            <p:cNvSpPr/>
            <p:nvPr/>
          </p:nvSpPr>
          <p:spPr bwMode="auto">
            <a:xfrm>
              <a:off x="1215962" y="4906327"/>
              <a:ext cx="131445" cy="0"/>
            </a:xfrm>
            <a:custGeom>
              <a:avLst/>
              <a:gdLst>
                <a:gd name="T0" fmla="*/ 0 w 175260"/>
                <a:gd name="T1" fmla="*/ 17508 w 175260"/>
                <a:gd name="T2" fmla="*/ 0 60000 65536"/>
                <a:gd name="T3" fmla="*/ 0 60000 65536"/>
              </a:gdLst>
              <a:ahLst/>
              <a:cxnLst>
                <a:cxn ang="T2">
                  <a:pos x="T0" y="0"/>
                </a:cxn>
                <a:cxn ang="T3">
                  <a:pos x="T1" y="0"/>
                </a:cxn>
              </a:cxnLst>
              <a:rect l="0" t="0" r="r" b="b"/>
              <a:pathLst>
                <a:path w="175260">
                  <a:moveTo>
                    <a:pt x="0" y="0"/>
                  </a:moveTo>
                  <a:lnTo>
                    <a:pt x="174879" y="0"/>
                  </a:lnTo>
                </a:path>
              </a:pathLst>
            </a:custGeom>
            <a:noFill/>
            <a:ln w="1016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6" name="object 174"/>
            <p:cNvSpPr/>
            <p:nvPr/>
          </p:nvSpPr>
          <p:spPr bwMode="auto">
            <a:xfrm>
              <a:off x="1342358" y="4840605"/>
              <a:ext cx="0" cy="61913"/>
            </a:xfrm>
            <a:custGeom>
              <a:avLst/>
              <a:gdLst>
                <a:gd name="T0" fmla="*/ 0 h 82550"/>
                <a:gd name="T1" fmla="*/ 8265 h 82550"/>
                <a:gd name="T2" fmla="*/ 0 60000 65536"/>
                <a:gd name="T3" fmla="*/ 0 60000 65536"/>
              </a:gdLst>
              <a:ahLst/>
              <a:cxnLst>
                <a:cxn ang="T2">
                  <a:pos x="0" y="T0"/>
                </a:cxn>
                <a:cxn ang="T3">
                  <a:pos x="0" y="T1"/>
                </a:cxn>
              </a:cxnLst>
              <a:rect l="0" t="0" r="r" b="b"/>
              <a:pathLst>
                <a:path h="82550">
                  <a:moveTo>
                    <a:pt x="0" y="0"/>
                  </a:moveTo>
                  <a:lnTo>
                    <a:pt x="0" y="82550"/>
                  </a:lnTo>
                </a:path>
              </a:pathLst>
            </a:custGeom>
            <a:noFill/>
            <a:ln w="1270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7" name="object 175"/>
            <p:cNvSpPr/>
            <p:nvPr/>
          </p:nvSpPr>
          <p:spPr bwMode="auto">
            <a:xfrm>
              <a:off x="1337595" y="4836794"/>
              <a:ext cx="78582" cy="0"/>
            </a:xfrm>
            <a:custGeom>
              <a:avLst/>
              <a:gdLst>
                <a:gd name="T0" fmla="*/ 0 w 104775"/>
                <a:gd name="T1" fmla="*/ 10490 w 104775"/>
                <a:gd name="T2" fmla="*/ 0 60000 65536"/>
                <a:gd name="T3" fmla="*/ 0 60000 65536"/>
              </a:gdLst>
              <a:ahLst/>
              <a:cxnLst>
                <a:cxn ang="T2">
                  <a:pos x="T0" y="0"/>
                </a:cxn>
                <a:cxn ang="T3">
                  <a:pos x="T1" y="0"/>
                </a:cxn>
              </a:cxnLst>
              <a:rect l="0" t="0" r="r" b="b"/>
              <a:pathLst>
                <a:path w="104775">
                  <a:moveTo>
                    <a:pt x="0" y="0"/>
                  </a:moveTo>
                  <a:lnTo>
                    <a:pt x="104775" y="0"/>
                  </a:lnTo>
                </a:path>
              </a:pathLst>
            </a:custGeom>
            <a:noFill/>
            <a:ln w="1015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8" name="object 176"/>
            <p:cNvSpPr/>
            <p:nvPr/>
          </p:nvSpPr>
          <p:spPr bwMode="auto">
            <a:xfrm>
              <a:off x="1405509" y="4906327"/>
              <a:ext cx="38100" cy="0"/>
            </a:xfrm>
            <a:custGeom>
              <a:avLst/>
              <a:gdLst>
                <a:gd name="T0" fmla="*/ 0 w 50800"/>
                <a:gd name="T1" fmla="*/ 5086 w 50800"/>
                <a:gd name="T2" fmla="*/ 0 60000 65536"/>
                <a:gd name="T3" fmla="*/ 0 60000 65536"/>
              </a:gdLst>
              <a:ahLst/>
              <a:cxnLst>
                <a:cxn ang="T2">
                  <a:pos x="T0" y="0"/>
                </a:cxn>
                <a:cxn ang="T3">
                  <a:pos x="T1" y="0"/>
                </a:cxn>
              </a:cxnLst>
              <a:rect l="0" t="0" r="r" b="b"/>
              <a:pathLst>
                <a:path w="50800">
                  <a:moveTo>
                    <a:pt x="0" y="0"/>
                  </a:moveTo>
                  <a:lnTo>
                    <a:pt x="50800" y="0"/>
                  </a:lnTo>
                </a:path>
              </a:pathLst>
            </a:custGeom>
            <a:noFill/>
            <a:ln w="1016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59" name="object 177"/>
            <p:cNvSpPr/>
            <p:nvPr/>
          </p:nvSpPr>
          <p:spPr bwMode="auto">
            <a:xfrm>
              <a:off x="1410842" y="4840605"/>
              <a:ext cx="0" cy="61913"/>
            </a:xfrm>
            <a:custGeom>
              <a:avLst/>
              <a:gdLst>
                <a:gd name="T0" fmla="*/ 0 h 82550"/>
                <a:gd name="T1" fmla="*/ 8265 h 82550"/>
                <a:gd name="T2" fmla="*/ 0 60000 65536"/>
                <a:gd name="T3" fmla="*/ 0 60000 65536"/>
              </a:gdLst>
              <a:ahLst/>
              <a:cxnLst>
                <a:cxn ang="T2">
                  <a:pos x="0" y="T0"/>
                </a:cxn>
                <a:cxn ang="T3">
                  <a:pos x="0" y="T1"/>
                </a:cxn>
              </a:cxnLst>
              <a:rect l="0" t="0" r="r" b="b"/>
              <a:pathLst>
                <a:path h="82550">
                  <a:moveTo>
                    <a:pt x="0" y="0"/>
                  </a:moveTo>
                  <a:lnTo>
                    <a:pt x="0" y="82550"/>
                  </a:lnTo>
                </a:path>
              </a:pathLst>
            </a:custGeom>
            <a:noFill/>
            <a:ln w="1422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0" name="object 178"/>
            <p:cNvSpPr/>
            <p:nvPr/>
          </p:nvSpPr>
          <p:spPr bwMode="auto">
            <a:xfrm>
              <a:off x="939546" y="4832604"/>
              <a:ext cx="504349" cy="405765"/>
            </a:xfrm>
            <a:custGeom>
              <a:avLst/>
              <a:gdLst>
                <a:gd name="T0" fmla="*/ 38335 w 672464"/>
                <a:gd name="T1" fmla="*/ 10311 h 541020"/>
                <a:gd name="T2" fmla="*/ 54406 w 672464"/>
                <a:gd name="T3" fmla="*/ 10311 h 541020"/>
                <a:gd name="T4" fmla="*/ 54406 w 672464"/>
                <a:gd name="T5" fmla="*/ 1055 h 541020"/>
                <a:gd name="T6" fmla="*/ 62199 w 672464"/>
                <a:gd name="T7" fmla="*/ 1055 h 541020"/>
                <a:gd name="T8" fmla="*/ 62199 w 672464"/>
                <a:gd name="T9" fmla="*/ 9384 h 541020"/>
                <a:gd name="T10" fmla="*/ 62199 w 672464"/>
                <a:gd name="T11" fmla="*/ 10311 h 541020"/>
                <a:gd name="T12" fmla="*/ 67286 w 672464"/>
                <a:gd name="T13" fmla="*/ 10311 h 541020"/>
                <a:gd name="T14" fmla="*/ 67286 w 672464"/>
                <a:gd name="T15" fmla="*/ 9384 h 541020"/>
                <a:gd name="T16" fmla="*/ 63623 w 672464"/>
                <a:gd name="T17" fmla="*/ 9384 h 541020"/>
                <a:gd name="T18" fmla="*/ 63623 w 672464"/>
                <a:gd name="T19" fmla="*/ 0 h 541020"/>
                <a:gd name="T20" fmla="*/ 53134 w 672464"/>
                <a:gd name="T21" fmla="*/ 0 h 541020"/>
                <a:gd name="T22" fmla="*/ 53134 w 672464"/>
                <a:gd name="T23" fmla="*/ 9384 h 541020"/>
                <a:gd name="T24" fmla="*/ 36897 w 672464"/>
                <a:gd name="T25" fmla="*/ 9384 h 541020"/>
                <a:gd name="T26" fmla="*/ 36897 w 672464"/>
                <a:gd name="T27" fmla="*/ 53108 h 541020"/>
                <a:gd name="T28" fmla="*/ 0 w 672464"/>
                <a:gd name="T29" fmla="*/ 53108 h 541020"/>
                <a:gd name="T30" fmla="*/ 0 w 672464"/>
                <a:gd name="T31" fmla="*/ 54164 h 541020"/>
                <a:gd name="T32" fmla="*/ 38335 w 672464"/>
                <a:gd name="T33" fmla="*/ 54164 h 541020"/>
                <a:gd name="T34" fmla="*/ 38335 w 672464"/>
                <a:gd name="T35" fmla="*/ 10311 h 5410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72464" h="541020">
                  <a:moveTo>
                    <a:pt x="382904" y="102996"/>
                  </a:moveTo>
                  <a:lnTo>
                    <a:pt x="543433" y="102996"/>
                  </a:lnTo>
                  <a:lnTo>
                    <a:pt x="543433" y="10540"/>
                  </a:lnTo>
                  <a:lnTo>
                    <a:pt x="621284" y="10540"/>
                  </a:lnTo>
                  <a:lnTo>
                    <a:pt x="621284" y="93725"/>
                  </a:lnTo>
                  <a:lnTo>
                    <a:pt x="621284" y="102996"/>
                  </a:lnTo>
                  <a:lnTo>
                    <a:pt x="672084" y="102996"/>
                  </a:lnTo>
                  <a:lnTo>
                    <a:pt x="672084" y="93725"/>
                  </a:lnTo>
                  <a:lnTo>
                    <a:pt x="635508" y="93725"/>
                  </a:lnTo>
                  <a:lnTo>
                    <a:pt x="635508" y="0"/>
                  </a:lnTo>
                  <a:lnTo>
                    <a:pt x="530733" y="0"/>
                  </a:lnTo>
                  <a:lnTo>
                    <a:pt x="530733" y="93725"/>
                  </a:lnTo>
                  <a:lnTo>
                    <a:pt x="368553" y="93725"/>
                  </a:lnTo>
                  <a:lnTo>
                    <a:pt x="368553" y="530478"/>
                  </a:lnTo>
                  <a:lnTo>
                    <a:pt x="0" y="530478"/>
                  </a:lnTo>
                  <a:lnTo>
                    <a:pt x="0" y="541019"/>
                  </a:lnTo>
                  <a:lnTo>
                    <a:pt x="382904" y="541019"/>
                  </a:lnTo>
                  <a:lnTo>
                    <a:pt x="382904" y="102996"/>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1" name="object 179"/>
            <p:cNvSpPr/>
            <p:nvPr/>
          </p:nvSpPr>
          <p:spPr bwMode="auto">
            <a:xfrm>
              <a:off x="1" y="5533072"/>
              <a:ext cx="270510" cy="0"/>
            </a:xfrm>
            <a:custGeom>
              <a:avLst/>
              <a:gdLst>
                <a:gd name="T0" fmla="*/ 0 w 360680"/>
                <a:gd name="T1" fmla="*/ 36080 w 360680"/>
                <a:gd name="T2" fmla="*/ 0 60000 65536"/>
                <a:gd name="T3" fmla="*/ 0 60000 65536"/>
              </a:gdLst>
              <a:ahLst/>
              <a:cxnLst>
                <a:cxn ang="T2">
                  <a:pos x="T0" y="0"/>
                </a:cxn>
                <a:cxn ang="T3">
                  <a:pos x="T1" y="0"/>
                </a:cxn>
              </a:cxnLst>
              <a:rect l="0" t="0" r="r" b="b"/>
              <a:pathLst>
                <a:path w="360680">
                  <a:moveTo>
                    <a:pt x="0" y="0"/>
                  </a:moveTo>
                  <a:lnTo>
                    <a:pt x="360387" y="0"/>
                  </a:lnTo>
                </a:path>
              </a:pathLst>
            </a:custGeom>
            <a:noFill/>
            <a:ln w="1015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2" name="object 180"/>
            <p:cNvSpPr/>
            <p:nvPr/>
          </p:nvSpPr>
          <p:spPr bwMode="auto">
            <a:xfrm>
              <a:off x="264933" y="5395913"/>
              <a:ext cx="0" cy="133350"/>
            </a:xfrm>
            <a:custGeom>
              <a:avLst/>
              <a:gdLst>
                <a:gd name="T0" fmla="*/ 0 h 177800"/>
                <a:gd name="T1" fmla="*/ 17801 h 177800"/>
                <a:gd name="T2" fmla="*/ 0 60000 65536"/>
                <a:gd name="T3" fmla="*/ 0 60000 65536"/>
              </a:gdLst>
              <a:ahLst/>
              <a:cxnLst>
                <a:cxn ang="T2">
                  <a:pos x="0" y="T0"/>
                </a:cxn>
                <a:cxn ang="T3">
                  <a:pos x="0" y="T1"/>
                </a:cxn>
              </a:cxnLst>
              <a:rect l="0" t="0" r="r" b="b"/>
              <a:pathLst>
                <a:path h="177800">
                  <a:moveTo>
                    <a:pt x="0" y="0"/>
                  </a:moveTo>
                  <a:lnTo>
                    <a:pt x="0" y="177800"/>
                  </a:lnTo>
                </a:path>
              </a:pathLst>
            </a:custGeom>
            <a:noFill/>
            <a:ln w="14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3" name="object 181"/>
            <p:cNvSpPr/>
            <p:nvPr/>
          </p:nvSpPr>
          <p:spPr bwMode="auto">
            <a:xfrm>
              <a:off x="259576" y="5392102"/>
              <a:ext cx="390049" cy="0"/>
            </a:xfrm>
            <a:custGeom>
              <a:avLst/>
              <a:gdLst>
                <a:gd name="T0" fmla="*/ 0 w 520065"/>
                <a:gd name="T1" fmla="*/ 52012 w 520065"/>
                <a:gd name="T2" fmla="*/ 0 60000 65536"/>
                <a:gd name="T3" fmla="*/ 0 60000 65536"/>
              </a:gdLst>
              <a:ahLst/>
              <a:cxnLst>
                <a:cxn ang="T2">
                  <a:pos x="T0" y="0"/>
                </a:cxn>
                <a:cxn ang="T3">
                  <a:pos x="T1" y="0"/>
                </a:cxn>
              </a:cxnLst>
              <a:rect l="0" t="0" r="r" b="b"/>
              <a:pathLst>
                <a:path w="520065">
                  <a:moveTo>
                    <a:pt x="0" y="0"/>
                  </a:moveTo>
                  <a:lnTo>
                    <a:pt x="519531" y="0"/>
                  </a:lnTo>
                </a:path>
              </a:pathLst>
            </a:custGeom>
            <a:noFill/>
            <a:ln w="1015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4" name="object 182"/>
            <p:cNvSpPr/>
            <p:nvPr/>
          </p:nvSpPr>
          <p:spPr bwMode="auto">
            <a:xfrm>
              <a:off x="644456" y="5395969"/>
              <a:ext cx="0" cy="140970"/>
            </a:xfrm>
            <a:custGeom>
              <a:avLst/>
              <a:gdLst>
                <a:gd name="T0" fmla="*/ 0 h 187960"/>
                <a:gd name="T1" fmla="*/ 18785 h 187960"/>
                <a:gd name="T2" fmla="*/ 0 60000 65536"/>
                <a:gd name="T3" fmla="*/ 0 60000 65536"/>
              </a:gdLst>
              <a:ahLst/>
              <a:cxnLst>
                <a:cxn ang="T2">
                  <a:pos x="0" y="T0"/>
                </a:cxn>
                <a:cxn ang="T3">
                  <a:pos x="0" y="T1"/>
                </a:cxn>
              </a:cxnLst>
              <a:rect l="0" t="0" r="r" b="b"/>
              <a:pathLst>
                <a:path h="187960">
                  <a:moveTo>
                    <a:pt x="0" y="0"/>
                  </a:moveTo>
                  <a:lnTo>
                    <a:pt x="0" y="187629"/>
                  </a:lnTo>
                </a:path>
              </a:pathLst>
            </a:custGeom>
            <a:noFill/>
            <a:ln w="127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5" name="object 183"/>
            <p:cNvSpPr/>
            <p:nvPr/>
          </p:nvSpPr>
          <p:spPr bwMode="auto">
            <a:xfrm>
              <a:off x="1" y="5388101"/>
              <a:ext cx="649605" cy="148590"/>
            </a:xfrm>
            <a:custGeom>
              <a:avLst/>
              <a:gdLst>
                <a:gd name="T0" fmla="*/ 36080 w 866140"/>
                <a:gd name="T1" fmla="*/ 19835 h 198120"/>
                <a:gd name="T2" fmla="*/ 36080 w 866140"/>
                <a:gd name="T3" fmla="*/ 1051 h 198120"/>
                <a:gd name="T4" fmla="*/ 85389 w 866140"/>
                <a:gd name="T5" fmla="*/ 1051 h 198120"/>
                <a:gd name="T6" fmla="*/ 85389 w 866140"/>
                <a:gd name="T7" fmla="*/ 19835 h 198120"/>
                <a:gd name="T8" fmla="*/ 86661 w 866140"/>
                <a:gd name="T9" fmla="*/ 19835 h 198120"/>
                <a:gd name="T10" fmla="*/ 86661 w 866140"/>
                <a:gd name="T11" fmla="*/ 0 h 198120"/>
                <a:gd name="T12" fmla="*/ 34649 w 866140"/>
                <a:gd name="T13" fmla="*/ 0 h 198120"/>
                <a:gd name="T14" fmla="*/ 34649 w 866140"/>
                <a:gd name="T15" fmla="*/ 18902 h 198120"/>
                <a:gd name="T16" fmla="*/ 0 w 866140"/>
                <a:gd name="T17" fmla="*/ 18902 h 1981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6140" h="198120">
                  <a:moveTo>
                    <a:pt x="360387" y="198119"/>
                  </a:moveTo>
                  <a:lnTo>
                    <a:pt x="360387" y="10490"/>
                  </a:lnTo>
                  <a:lnTo>
                    <a:pt x="852919" y="10490"/>
                  </a:lnTo>
                  <a:lnTo>
                    <a:pt x="852919" y="198119"/>
                  </a:lnTo>
                  <a:lnTo>
                    <a:pt x="865632" y="198119"/>
                  </a:lnTo>
                  <a:lnTo>
                    <a:pt x="865632" y="0"/>
                  </a:lnTo>
                  <a:lnTo>
                    <a:pt x="346100" y="0"/>
                  </a:lnTo>
                  <a:lnTo>
                    <a:pt x="346100" y="188798"/>
                  </a:lnTo>
                  <a:lnTo>
                    <a:pt x="0" y="188798"/>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6" name="object 184"/>
            <p:cNvSpPr/>
            <p:nvPr/>
          </p:nvSpPr>
          <p:spPr bwMode="auto">
            <a:xfrm>
              <a:off x="1" y="5536691"/>
              <a:ext cx="270510" cy="0"/>
            </a:xfrm>
            <a:custGeom>
              <a:avLst/>
              <a:gdLst>
                <a:gd name="T0" fmla="*/ 0 w 360680"/>
                <a:gd name="T1" fmla="*/ 36080 w 360680"/>
                <a:gd name="T2" fmla="*/ 0 60000 65536"/>
                <a:gd name="T3" fmla="*/ 0 60000 65536"/>
              </a:gdLst>
              <a:ahLst/>
              <a:cxnLst>
                <a:cxn ang="T2">
                  <a:pos x="T0" y="0"/>
                </a:cxn>
                <a:cxn ang="T3">
                  <a:pos x="T1" y="0"/>
                </a:cxn>
              </a:cxnLst>
              <a:rect l="0" t="0" r="r" b="b"/>
              <a:pathLst>
                <a:path w="360680">
                  <a:moveTo>
                    <a:pt x="0" y="0"/>
                  </a:moveTo>
                  <a:lnTo>
                    <a:pt x="360387"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7" name="object 185"/>
            <p:cNvSpPr/>
            <p:nvPr/>
          </p:nvSpPr>
          <p:spPr bwMode="auto">
            <a:xfrm>
              <a:off x="845821" y="5388102"/>
              <a:ext cx="379571" cy="287178"/>
            </a:xfrm>
            <a:custGeom>
              <a:avLst/>
              <a:gdLst>
                <a:gd name="T0" fmla="*/ 33185 w 506094"/>
                <a:gd name="T1" fmla="*/ 0 h 382904"/>
                <a:gd name="T2" fmla="*/ 0 w 506094"/>
                <a:gd name="T3" fmla="*/ 0 h 382904"/>
                <a:gd name="T4" fmla="*/ 0 w 506094"/>
                <a:gd name="T5" fmla="*/ 28722 h 382904"/>
                <a:gd name="T6" fmla="*/ 8657 w 506094"/>
                <a:gd name="T7" fmla="*/ 34868 h 382904"/>
                <a:gd name="T8" fmla="*/ 40394 w 506094"/>
                <a:gd name="T9" fmla="*/ 34868 h 382904"/>
                <a:gd name="T10" fmla="*/ 40947 w 506094"/>
                <a:gd name="T11" fmla="*/ 36202 h 382904"/>
                <a:gd name="T12" fmla="*/ 42056 w 506094"/>
                <a:gd name="T13" fmla="*/ 37291 h 382904"/>
                <a:gd name="T14" fmla="*/ 43620 w 506094"/>
                <a:gd name="T15" fmla="*/ 38027 h 382904"/>
                <a:gd name="T16" fmla="*/ 45530 w 506094"/>
                <a:gd name="T17" fmla="*/ 38296 h 382904"/>
                <a:gd name="T18" fmla="*/ 47543 w 506094"/>
                <a:gd name="T19" fmla="*/ 37986 h 382904"/>
                <a:gd name="T20" fmla="*/ 49000 w 506094"/>
                <a:gd name="T21" fmla="*/ 37232 h 382904"/>
                <a:gd name="T22" fmla="*/ 45530 w 506094"/>
                <a:gd name="T23" fmla="*/ 37232 h 382904"/>
                <a:gd name="T24" fmla="*/ 44049 w 506094"/>
                <a:gd name="T25" fmla="*/ 37005 h 382904"/>
                <a:gd name="T26" fmla="*/ 42822 w 506094"/>
                <a:gd name="T27" fmla="*/ 36391 h 382904"/>
                <a:gd name="T28" fmla="*/ 41987 w 506094"/>
                <a:gd name="T29" fmla="*/ 35486 h 382904"/>
                <a:gd name="T30" fmla="*/ 41678 w 506094"/>
                <a:gd name="T31" fmla="*/ 34395 h 382904"/>
                <a:gd name="T32" fmla="*/ 41812 w 506094"/>
                <a:gd name="T33" fmla="*/ 33923 h 382904"/>
                <a:gd name="T34" fmla="*/ 8977 w 506094"/>
                <a:gd name="T35" fmla="*/ 33923 h 382904"/>
                <a:gd name="T36" fmla="*/ 1283 w 506094"/>
                <a:gd name="T37" fmla="*/ 28249 h 382904"/>
                <a:gd name="T38" fmla="*/ 1283 w 506094"/>
                <a:gd name="T39" fmla="*/ 947 h 382904"/>
                <a:gd name="T40" fmla="*/ 33185 w 506094"/>
                <a:gd name="T41" fmla="*/ 947 h 382904"/>
                <a:gd name="T42" fmla="*/ 33185 w 506094"/>
                <a:gd name="T43" fmla="*/ 0 h 382904"/>
                <a:gd name="T44" fmla="*/ 48871 w 506094"/>
                <a:gd name="T45" fmla="*/ 31559 h 382904"/>
                <a:gd name="T46" fmla="*/ 45530 w 506094"/>
                <a:gd name="T47" fmla="*/ 31559 h 382904"/>
                <a:gd name="T48" fmla="*/ 47005 w 506094"/>
                <a:gd name="T49" fmla="*/ 31786 h 382904"/>
                <a:gd name="T50" fmla="*/ 48228 w 506094"/>
                <a:gd name="T51" fmla="*/ 32402 h 382904"/>
                <a:gd name="T52" fmla="*/ 49062 w 506094"/>
                <a:gd name="T53" fmla="*/ 33304 h 382904"/>
                <a:gd name="T54" fmla="*/ 49370 w 506094"/>
                <a:gd name="T55" fmla="*/ 34395 h 382904"/>
                <a:gd name="T56" fmla="*/ 49062 w 506094"/>
                <a:gd name="T57" fmla="*/ 35486 h 382904"/>
                <a:gd name="T58" fmla="*/ 48228 w 506094"/>
                <a:gd name="T59" fmla="*/ 36391 h 382904"/>
                <a:gd name="T60" fmla="*/ 47005 w 506094"/>
                <a:gd name="T61" fmla="*/ 37005 h 382904"/>
                <a:gd name="T62" fmla="*/ 45530 w 506094"/>
                <a:gd name="T63" fmla="*/ 37232 h 382904"/>
                <a:gd name="T64" fmla="*/ 49000 w 506094"/>
                <a:gd name="T65" fmla="*/ 37232 h 382904"/>
                <a:gd name="T66" fmla="*/ 49170 w 506094"/>
                <a:gd name="T67" fmla="*/ 37144 h 382904"/>
                <a:gd name="T68" fmla="*/ 50258 w 506094"/>
                <a:gd name="T69" fmla="*/ 35903 h 382904"/>
                <a:gd name="T70" fmla="*/ 50654 w 506094"/>
                <a:gd name="T71" fmla="*/ 34395 h 382904"/>
                <a:gd name="T72" fmla="*/ 50258 w 506094"/>
                <a:gd name="T73" fmla="*/ 32907 h 382904"/>
                <a:gd name="T74" fmla="*/ 49170 w 506094"/>
                <a:gd name="T75" fmla="*/ 31706 h 382904"/>
                <a:gd name="T76" fmla="*/ 48871 w 506094"/>
                <a:gd name="T77" fmla="*/ 31559 h 382904"/>
                <a:gd name="T78" fmla="*/ 45530 w 506094"/>
                <a:gd name="T79" fmla="*/ 30613 h 382904"/>
                <a:gd name="T80" fmla="*/ 43620 w 506094"/>
                <a:gd name="T81" fmla="*/ 30864 h 382904"/>
                <a:gd name="T82" fmla="*/ 42056 w 506094"/>
                <a:gd name="T83" fmla="*/ 31559 h 382904"/>
                <a:gd name="T84" fmla="*/ 40947 w 506094"/>
                <a:gd name="T85" fmla="*/ 32607 h 382904"/>
                <a:gd name="T86" fmla="*/ 40394 w 506094"/>
                <a:gd name="T87" fmla="*/ 33923 h 382904"/>
                <a:gd name="T88" fmla="*/ 41812 w 506094"/>
                <a:gd name="T89" fmla="*/ 33923 h 382904"/>
                <a:gd name="T90" fmla="*/ 41987 w 506094"/>
                <a:gd name="T91" fmla="*/ 33304 h 382904"/>
                <a:gd name="T92" fmla="*/ 42822 w 506094"/>
                <a:gd name="T93" fmla="*/ 32402 h 382904"/>
                <a:gd name="T94" fmla="*/ 44049 w 506094"/>
                <a:gd name="T95" fmla="*/ 31786 h 382904"/>
                <a:gd name="T96" fmla="*/ 45530 w 506094"/>
                <a:gd name="T97" fmla="*/ 31559 h 382904"/>
                <a:gd name="T98" fmla="*/ 48871 w 506094"/>
                <a:gd name="T99" fmla="*/ 31559 h 382904"/>
                <a:gd name="T100" fmla="*/ 47543 w 506094"/>
                <a:gd name="T101" fmla="*/ 30905 h 382904"/>
                <a:gd name="T102" fmla="*/ 45530 w 506094"/>
                <a:gd name="T103" fmla="*/ 30613 h 3829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06094" h="382904">
                  <a:moveTo>
                    <a:pt x="331470" y="0"/>
                  </a:moveTo>
                  <a:lnTo>
                    <a:pt x="0" y="0"/>
                  </a:lnTo>
                  <a:lnTo>
                    <a:pt x="0" y="286892"/>
                  </a:lnTo>
                  <a:lnTo>
                    <a:pt x="86461" y="348284"/>
                  </a:lnTo>
                  <a:lnTo>
                    <a:pt x="403478" y="348284"/>
                  </a:lnTo>
                  <a:lnTo>
                    <a:pt x="408995" y="361601"/>
                  </a:lnTo>
                  <a:lnTo>
                    <a:pt x="420084" y="372486"/>
                  </a:lnTo>
                  <a:lnTo>
                    <a:pt x="435697" y="379829"/>
                  </a:lnTo>
                  <a:lnTo>
                    <a:pt x="454787" y="382523"/>
                  </a:lnTo>
                  <a:lnTo>
                    <a:pt x="474892" y="379425"/>
                  </a:lnTo>
                  <a:lnTo>
                    <a:pt x="489441" y="371894"/>
                  </a:lnTo>
                  <a:lnTo>
                    <a:pt x="454787" y="371894"/>
                  </a:lnTo>
                  <a:lnTo>
                    <a:pt x="439987" y="369626"/>
                  </a:lnTo>
                  <a:lnTo>
                    <a:pt x="427736" y="363485"/>
                  </a:lnTo>
                  <a:lnTo>
                    <a:pt x="419389" y="354465"/>
                  </a:lnTo>
                  <a:lnTo>
                    <a:pt x="416306" y="343560"/>
                  </a:lnTo>
                  <a:lnTo>
                    <a:pt x="417642" y="338835"/>
                  </a:lnTo>
                  <a:lnTo>
                    <a:pt x="89662" y="338835"/>
                  </a:lnTo>
                  <a:lnTo>
                    <a:pt x="12814" y="282168"/>
                  </a:lnTo>
                  <a:lnTo>
                    <a:pt x="12814" y="9448"/>
                  </a:lnTo>
                  <a:lnTo>
                    <a:pt x="331470" y="9448"/>
                  </a:lnTo>
                  <a:lnTo>
                    <a:pt x="331470" y="0"/>
                  </a:lnTo>
                  <a:close/>
                </a:path>
                <a:path w="506094" h="382904">
                  <a:moveTo>
                    <a:pt x="488148" y="315226"/>
                  </a:moveTo>
                  <a:lnTo>
                    <a:pt x="454787" y="315226"/>
                  </a:lnTo>
                  <a:lnTo>
                    <a:pt x="469513" y="317496"/>
                  </a:lnTo>
                  <a:lnTo>
                    <a:pt x="481726" y="323640"/>
                  </a:lnTo>
                  <a:lnTo>
                    <a:pt x="490059" y="332661"/>
                  </a:lnTo>
                  <a:lnTo>
                    <a:pt x="493141" y="343560"/>
                  </a:lnTo>
                  <a:lnTo>
                    <a:pt x="490059" y="354465"/>
                  </a:lnTo>
                  <a:lnTo>
                    <a:pt x="481726" y="363485"/>
                  </a:lnTo>
                  <a:lnTo>
                    <a:pt x="469513" y="369626"/>
                  </a:lnTo>
                  <a:lnTo>
                    <a:pt x="454787" y="371894"/>
                  </a:lnTo>
                  <a:lnTo>
                    <a:pt x="489441" y="371894"/>
                  </a:lnTo>
                  <a:lnTo>
                    <a:pt x="491140" y="371014"/>
                  </a:lnTo>
                  <a:lnTo>
                    <a:pt x="502007" y="358617"/>
                  </a:lnTo>
                  <a:lnTo>
                    <a:pt x="505967" y="343560"/>
                  </a:lnTo>
                  <a:lnTo>
                    <a:pt x="502007" y="328693"/>
                  </a:lnTo>
                  <a:lnTo>
                    <a:pt x="491140" y="316701"/>
                  </a:lnTo>
                  <a:lnTo>
                    <a:pt x="488148" y="315226"/>
                  </a:lnTo>
                  <a:close/>
                </a:path>
                <a:path w="506094" h="382904">
                  <a:moveTo>
                    <a:pt x="454787" y="305777"/>
                  </a:moveTo>
                  <a:lnTo>
                    <a:pt x="435697" y="308287"/>
                  </a:lnTo>
                  <a:lnTo>
                    <a:pt x="420082" y="315226"/>
                  </a:lnTo>
                  <a:lnTo>
                    <a:pt x="408995" y="325703"/>
                  </a:lnTo>
                  <a:lnTo>
                    <a:pt x="403478" y="338835"/>
                  </a:lnTo>
                  <a:lnTo>
                    <a:pt x="417642" y="338835"/>
                  </a:lnTo>
                  <a:lnTo>
                    <a:pt x="419389" y="332661"/>
                  </a:lnTo>
                  <a:lnTo>
                    <a:pt x="427736" y="323640"/>
                  </a:lnTo>
                  <a:lnTo>
                    <a:pt x="439987" y="317496"/>
                  </a:lnTo>
                  <a:lnTo>
                    <a:pt x="454787" y="315226"/>
                  </a:lnTo>
                  <a:lnTo>
                    <a:pt x="488148" y="315226"/>
                  </a:lnTo>
                  <a:lnTo>
                    <a:pt x="474892" y="308693"/>
                  </a:lnTo>
                  <a:lnTo>
                    <a:pt x="454787" y="305777"/>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68" name="object 186"/>
            <p:cNvSpPr/>
            <p:nvPr/>
          </p:nvSpPr>
          <p:spPr bwMode="auto">
            <a:xfrm>
              <a:off x="845821" y="5388102"/>
              <a:ext cx="379571" cy="287178"/>
            </a:xfrm>
            <a:custGeom>
              <a:avLst/>
              <a:gdLst>
                <a:gd name="T0" fmla="*/ 0 w 506094"/>
                <a:gd name="T1" fmla="*/ 28722 h 382904"/>
                <a:gd name="T2" fmla="*/ 5005 w 506094"/>
                <a:gd name="T3" fmla="*/ 32276 h 382904"/>
                <a:gd name="T4" fmla="*/ 7574 w 506094"/>
                <a:gd name="T5" fmla="*/ 34100 h 382904"/>
                <a:gd name="T6" fmla="*/ 8522 w 506094"/>
                <a:gd name="T7" fmla="*/ 34772 h 382904"/>
                <a:gd name="T8" fmla="*/ 8657 w 506094"/>
                <a:gd name="T9" fmla="*/ 34868 h 382904"/>
                <a:gd name="T10" fmla="*/ 27005 w 506094"/>
                <a:gd name="T11" fmla="*/ 34868 h 382904"/>
                <a:gd name="T12" fmla="*/ 36427 w 506094"/>
                <a:gd name="T13" fmla="*/ 34868 h 382904"/>
                <a:gd name="T14" fmla="*/ 39898 w 506094"/>
                <a:gd name="T15" fmla="*/ 34868 h 382904"/>
                <a:gd name="T16" fmla="*/ 40394 w 506094"/>
                <a:gd name="T17" fmla="*/ 34868 h 382904"/>
                <a:gd name="T18" fmla="*/ 40947 w 506094"/>
                <a:gd name="T19" fmla="*/ 36202 h 382904"/>
                <a:gd name="T20" fmla="*/ 42056 w 506094"/>
                <a:gd name="T21" fmla="*/ 37291 h 382904"/>
                <a:gd name="T22" fmla="*/ 43620 w 506094"/>
                <a:gd name="T23" fmla="*/ 38027 h 382904"/>
                <a:gd name="T24" fmla="*/ 45530 w 506094"/>
                <a:gd name="T25" fmla="*/ 38296 h 382904"/>
                <a:gd name="T26" fmla="*/ 47543 w 506094"/>
                <a:gd name="T27" fmla="*/ 37986 h 382904"/>
                <a:gd name="T28" fmla="*/ 49170 w 506094"/>
                <a:gd name="T29" fmla="*/ 37144 h 382904"/>
                <a:gd name="T30" fmla="*/ 50258 w 506094"/>
                <a:gd name="T31" fmla="*/ 35903 h 382904"/>
                <a:gd name="T32" fmla="*/ 50654 w 506094"/>
                <a:gd name="T33" fmla="*/ 34395 h 382904"/>
                <a:gd name="T34" fmla="*/ 50258 w 506094"/>
                <a:gd name="T35" fmla="*/ 32907 h 382904"/>
                <a:gd name="T36" fmla="*/ 49170 w 506094"/>
                <a:gd name="T37" fmla="*/ 31706 h 382904"/>
                <a:gd name="T38" fmla="*/ 47543 w 506094"/>
                <a:gd name="T39" fmla="*/ 30905 h 382904"/>
                <a:gd name="T40" fmla="*/ 45530 w 506094"/>
                <a:gd name="T41" fmla="*/ 30613 h 382904"/>
                <a:gd name="T42" fmla="*/ 43620 w 506094"/>
                <a:gd name="T43" fmla="*/ 30864 h 382904"/>
                <a:gd name="T44" fmla="*/ 42056 w 506094"/>
                <a:gd name="T45" fmla="*/ 31559 h 382904"/>
                <a:gd name="T46" fmla="*/ 40947 w 506094"/>
                <a:gd name="T47" fmla="*/ 32607 h 382904"/>
                <a:gd name="T48" fmla="*/ 40394 w 506094"/>
                <a:gd name="T49" fmla="*/ 33923 h 382904"/>
                <a:gd name="T50" fmla="*/ 22231 w 506094"/>
                <a:gd name="T51" fmla="*/ 33923 h 382904"/>
                <a:gd name="T52" fmla="*/ 12904 w 506094"/>
                <a:gd name="T53" fmla="*/ 33923 h 382904"/>
                <a:gd name="T54" fmla="*/ 9467 w 506094"/>
                <a:gd name="T55" fmla="*/ 33923 h 382904"/>
                <a:gd name="T56" fmla="*/ 8977 w 506094"/>
                <a:gd name="T57" fmla="*/ 33923 h 382904"/>
                <a:gd name="T58" fmla="*/ 4529 w 506094"/>
                <a:gd name="T59" fmla="*/ 30642 h 382904"/>
                <a:gd name="T60" fmla="*/ 2245 w 506094"/>
                <a:gd name="T61" fmla="*/ 28958 h 382904"/>
                <a:gd name="T62" fmla="*/ 1403 w 506094"/>
                <a:gd name="T63" fmla="*/ 28338 h 382904"/>
                <a:gd name="T64" fmla="*/ 1283 w 506094"/>
                <a:gd name="T65" fmla="*/ 28249 h 382904"/>
                <a:gd name="T66" fmla="*/ 1283 w 506094"/>
                <a:gd name="T67" fmla="*/ 12465 h 382904"/>
                <a:gd name="T68" fmla="*/ 1283 w 506094"/>
                <a:gd name="T69" fmla="*/ 4359 h 382904"/>
                <a:gd name="T70" fmla="*/ 1283 w 506094"/>
                <a:gd name="T71" fmla="*/ 1373 h 382904"/>
                <a:gd name="T72" fmla="*/ 1283 w 506094"/>
                <a:gd name="T73" fmla="*/ 947 h 382904"/>
                <a:gd name="T74" fmla="*/ 19727 w 506094"/>
                <a:gd name="T75" fmla="*/ 947 h 382904"/>
                <a:gd name="T76" fmla="*/ 29197 w 506094"/>
                <a:gd name="T77" fmla="*/ 947 h 382904"/>
                <a:gd name="T78" fmla="*/ 32687 w 506094"/>
                <a:gd name="T79" fmla="*/ 947 h 382904"/>
                <a:gd name="T80" fmla="*/ 33185 w 506094"/>
                <a:gd name="T81" fmla="*/ 947 h 382904"/>
                <a:gd name="T82" fmla="*/ 33185 w 506094"/>
                <a:gd name="T83" fmla="*/ 0 h 382904"/>
                <a:gd name="T84" fmla="*/ 14000 w 506094"/>
                <a:gd name="T85" fmla="*/ 0 h 382904"/>
                <a:gd name="T86" fmla="*/ 4148 w 506094"/>
                <a:gd name="T87" fmla="*/ 0 h 382904"/>
                <a:gd name="T88" fmla="*/ 519 w 506094"/>
                <a:gd name="T89" fmla="*/ 0 h 382904"/>
                <a:gd name="T90" fmla="*/ 0 w 506094"/>
                <a:gd name="T91" fmla="*/ 0 h 382904"/>
                <a:gd name="T92" fmla="*/ 0 w 506094"/>
                <a:gd name="T93" fmla="*/ 28722 h 38290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06094" h="382904">
                  <a:moveTo>
                    <a:pt x="0" y="286892"/>
                  </a:moveTo>
                  <a:lnTo>
                    <a:pt x="49985" y="322385"/>
                  </a:lnTo>
                  <a:lnTo>
                    <a:pt x="75653" y="340610"/>
                  </a:lnTo>
                  <a:lnTo>
                    <a:pt x="85110" y="347325"/>
                  </a:lnTo>
                  <a:lnTo>
                    <a:pt x="86461" y="348284"/>
                  </a:lnTo>
                  <a:lnTo>
                    <a:pt x="269737" y="348284"/>
                  </a:lnTo>
                  <a:lnTo>
                    <a:pt x="363851" y="348284"/>
                  </a:lnTo>
                  <a:lnTo>
                    <a:pt x="398525" y="348284"/>
                  </a:lnTo>
                  <a:lnTo>
                    <a:pt x="403478" y="348284"/>
                  </a:lnTo>
                  <a:lnTo>
                    <a:pt x="408995" y="361601"/>
                  </a:lnTo>
                  <a:lnTo>
                    <a:pt x="420084" y="372486"/>
                  </a:lnTo>
                  <a:lnTo>
                    <a:pt x="435697" y="379829"/>
                  </a:lnTo>
                  <a:lnTo>
                    <a:pt x="454787" y="382523"/>
                  </a:lnTo>
                  <a:lnTo>
                    <a:pt x="474892" y="379425"/>
                  </a:lnTo>
                  <a:lnTo>
                    <a:pt x="491140" y="371014"/>
                  </a:lnTo>
                  <a:lnTo>
                    <a:pt x="502007" y="358617"/>
                  </a:lnTo>
                  <a:lnTo>
                    <a:pt x="505967" y="343560"/>
                  </a:lnTo>
                  <a:lnTo>
                    <a:pt x="502007" y="328693"/>
                  </a:lnTo>
                  <a:lnTo>
                    <a:pt x="491140" y="316701"/>
                  </a:lnTo>
                  <a:lnTo>
                    <a:pt x="474892" y="308693"/>
                  </a:lnTo>
                  <a:lnTo>
                    <a:pt x="454787" y="305777"/>
                  </a:lnTo>
                  <a:lnTo>
                    <a:pt x="435697" y="308287"/>
                  </a:lnTo>
                  <a:lnTo>
                    <a:pt x="420084" y="315225"/>
                  </a:lnTo>
                  <a:lnTo>
                    <a:pt x="408995" y="325703"/>
                  </a:lnTo>
                  <a:lnTo>
                    <a:pt x="403478" y="338835"/>
                  </a:lnTo>
                  <a:lnTo>
                    <a:pt x="222053" y="338835"/>
                  </a:lnTo>
                  <a:lnTo>
                    <a:pt x="128889" y="338835"/>
                  </a:lnTo>
                  <a:lnTo>
                    <a:pt x="94565" y="338835"/>
                  </a:lnTo>
                  <a:lnTo>
                    <a:pt x="89662" y="338835"/>
                  </a:lnTo>
                  <a:lnTo>
                    <a:pt x="45234" y="306075"/>
                  </a:lnTo>
                  <a:lnTo>
                    <a:pt x="22420" y="289252"/>
                  </a:lnTo>
                  <a:lnTo>
                    <a:pt x="14015" y="283054"/>
                  </a:lnTo>
                  <a:lnTo>
                    <a:pt x="12814" y="282168"/>
                  </a:lnTo>
                  <a:lnTo>
                    <a:pt x="12814" y="124502"/>
                  </a:lnTo>
                  <a:lnTo>
                    <a:pt x="12814" y="43538"/>
                  </a:lnTo>
                  <a:lnTo>
                    <a:pt x="12814" y="13710"/>
                  </a:lnTo>
                  <a:lnTo>
                    <a:pt x="12814" y="9448"/>
                  </a:lnTo>
                  <a:lnTo>
                    <a:pt x="197037" y="9448"/>
                  </a:lnTo>
                  <a:lnTo>
                    <a:pt x="291638" y="9448"/>
                  </a:lnTo>
                  <a:lnTo>
                    <a:pt x="326491" y="9448"/>
                  </a:lnTo>
                  <a:lnTo>
                    <a:pt x="331470" y="9448"/>
                  </a:lnTo>
                  <a:lnTo>
                    <a:pt x="331470" y="0"/>
                  </a:lnTo>
                  <a:lnTo>
                    <a:pt x="139838" y="0"/>
                  </a:lnTo>
                  <a:lnTo>
                    <a:pt x="41433" y="0"/>
                  </a:lnTo>
                  <a:lnTo>
                    <a:pt x="5179" y="0"/>
                  </a:lnTo>
                  <a:lnTo>
                    <a:pt x="0" y="0"/>
                  </a:lnTo>
                  <a:lnTo>
                    <a:pt x="0" y="286892"/>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69" name="object 187"/>
            <p:cNvSpPr/>
            <p:nvPr/>
          </p:nvSpPr>
          <p:spPr bwMode="auto">
            <a:xfrm>
              <a:off x="1158050" y="5624522"/>
              <a:ext cx="57626" cy="42862"/>
            </a:xfrm>
            <a:custGeom>
              <a:avLst/>
              <a:gdLst>
                <a:gd name="T0" fmla="*/ 3853 w 76834"/>
                <a:gd name="T1" fmla="*/ 0 h 57150"/>
                <a:gd name="T2" fmla="*/ 5327 w 76834"/>
                <a:gd name="T3" fmla="*/ 226 h 57150"/>
                <a:gd name="T4" fmla="*/ 6549 w 76834"/>
                <a:gd name="T5" fmla="*/ 842 h 57150"/>
                <a:gd name="T6" fmla="*/ 7384 w 76834"/>
                <a:gd name="T7" fmla="*/ 1744 h 57150"/>
                <a:gd name="T8" fmla="*/ 7692 w 76834"/>
                <a:gd name="T9" fmla="*/ 2836 h 57150"/>
                <a:gd name="T10" fmla="*/ 7384 w 76834"/>
                <a:gd name="T11" fmla="*/ 3928 h 57150"/>
                <a:gd name="T12" fmla="*/ 6549 w 76834"/>
                <a:gd name="T13" fmla="*/ 4831 h 57150"/>
                <a:gd name="T14" fmla="*/ 5327 w 76834"/>
                <a:gd name="T15" fmla="*/ 5446 h 57150"/>
                <a:gd name="T16" fmla="*/ 3853 w 76834"/>
                <a:gd name="T17" fmla="*/ 5673 h 57150"/>
                <a:gd name="T18" fmla="*/ 2371 w 76834"/>
                <a:gd name="T19" fmla="*/ 5446 h 57150"/>
                <a:gd name="T20" fmla="*/ 1145 w 76834"/>
                <a:gd name="T21" fmla="*/ 4831 h 57150"/>
                <a:gd name="T22" fmla="*/ 309 w 76834"/>
                <a:gd name="T23" fmla="*/ 3928 h 57150"/>
                <a:gd name="T24" fmla="*/ 0 w 76834"/>
                <a:gd name="T25" fmla="*/ 2836 h 57150"/>
                <a:gd name="T26" fmla="*/ 309 w 76834"/>
                <a:gd name="T27" fmla="*/ 1744 h 57150"/>
                <a:gd name="T28" fmla="*/ 1145 w 76834"/>
                <a:gd name="T29" fmla="*/ 842 h 57150"/>
                <a:gd name="T30" fmla="*/ 2371 w 76834"/>
                <a:gd name="T31" fmla="*/ 226 h 57150"/>
                <a:gd name="T32" fmla="*/ 3853 w 76834"/>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481" y="0"/>
                  </a:moveTo>
                  <a:lnTo>
                    <a:pt x="53207" y="2269"/>
                  </a:lnTo>
                  <a:lnTo>
                    <a:pt x="65420" y="8413"/>
                  </a:lnTo>
                  <a:lnTo>
                    <a:pt x="73753" y="17434"/>
                  </a:lnTo>
                  <a:lnTo>
                    <a:pt x="76834" y="28333"/>
                  </a:lnTo>
                  <a:lnTo>
                    <a:pt x="73753" y="39238"/>
                  </a:lnTo>
                  <a:lnTo>
                    <a:pt x="65420" y="48258"/>
                  </a:lnTo>
                  <a:lnTo>
                    <a:pt x="53207" y="54399"/>
                  </a:lnTo>
                  <a:lnTo>
                    <a:pt x="38481" y="56667"/>
                  </a:lnTo>
                  <a:lnTo>
                    <a:pt x="23681" y="54399"/>
                  </a:lnTo>
                  <a:lnTo>
                    <a:pt x="11430" y="48258"/>
                  </a:lnTo>
                  <a:lnTo>
                    <a:pt x="3083" y="39238"/>
                  </a:lnTo>
                  <a:lnTo>
                    <a:pt x="0" y="28333"/>
                  </a:lnTo>
                  <a:lnTo>
                    <a:pt x="3083" y="17434"/>
                  </a:lnTo>
                  <a:lnTo>
                    <a:pt x="11430" y="8413"/>
                  </a:lnTo>
                  <a:lnTo>
                    <a:pt x="23681" y="2269"/>
                  </a:lnTo>
                  <a:lnTo>
                    <a:pt x="38481"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0" name="object 188"/>
            <p:cNvSpPr/>
            <p:nvPr/>
          </p:nvSpPr>
          <p:spPr bwMode="auto">
            <a:xfrm>
              <a:off x="912115" y="5595462"/>
              <a:ext cx="279082" cy="0"/>
            </a:xfrm>
            <a:custGeom>
              <a:avLst/>
              <a:gdLst>
                <a:gd name="T0" fmla="*/ 0 w 372109"/>
                <a:gd name="T1" fmla="*/ 37228 w 372109"/>
                <a:gd name="T2" fmla="*/ 0 60000 65536"/>
                <a:gd name="T3" fmla="*/ 0 60000 65536"/>
              </a:gdLst>
              <a:ahLst/>
              <a:cxnLst>
                <a:cxn ang="T2">
                  <a:pos x="T0" y="0"/>
                </a:cxn>
                <a:cxn ang="T3">
                  <a:pos x="T1" y="0"/>
                </a:cxn>
              </a:cxnLst>
              <a:rect l="0" t="0" r="r" b="b"/>
              <a:pathLst>
                <a:path w="372109">
                  <a:moveTo>
                    <a:pt x="0" y="0"/>
                  </a:moveTo>
                  <a:lnTo>
                    <a:pt x="371856" y="0"/>
                  </a:lnTo>
                </a:path>
              </a:pathLst>
            </a:custGeom>
            <a:noFill/>
            <a:ln w="1142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1" name="object 189"/>
            <p:cNvSpPr/>
            <p:nvPr/>
          </p:nvSpPr>
          <p:spPr bwMode="auto">
            <a:xfrm>
              <a:off x="917477" y="5444490"/>
              <a:ext cx="0" cy="146685"/>
            </a:xfrm>
            <a:custGeom>
              <a:avLst/>
              <a:gdLst>
                <a:gd name="T0" fmla="*/ 0 h 195579"/>
                <a:gd name="T1" fmla="*/ 19581 h 195579"/>
                <a:gd name="T2" fmla="*/ 0 60000 65536"/>
                <a:gd name="T3" fmla="*/ 0 60000 65536"/>
              </a:gdLst>
              <a:ahLst/>
              <a:cxnLst>
                <a:cxn ang="T2">
                  <a:pos x="0" y="T0"/>
                </a:cxn>
                <a:cxn ang="T3">
                  <a:pos x="0" y="T1"/>
                </a:cxn>
              </a:cxnLst>
              <a:rect l="0" t="0" r="r" b="b"/>
              <a:pathLst>
                <a:path h="195579">
                  <a:moveTo>
                    <a:pt x="0" y="0"/>
                  </a:moveTo>
                  <a:lnTo>
                    <a:pt x="0" y="195579"/>
                  </a:lnTo>
                </a:path>
              </a:pathLst>
            </a:custGeom>
            <a:noFill/>
            <a:ln w="1430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2" name="object 190"/>
            <p:cNvSpPr/>
            <p:nvPr/>
          </p:nvSpPr>
          <p:spPr bwMode="auto">
            <a:xfrm>
              <a:off x="912115" y="5441156"/>
              <a:ext cx="182403" cy="0"/>
            </a:xfrm>
            <a:custGeom>
              <a:avLst/>
              <a:gdLst>
                <a:gd name="T0" fmla="*/ 0 w 243205"/>
                <a:gd name="T1" fmla="*/ 24334 w 243205"/>
                <a:gd name="T2" fmla="*/ 0 60000 65536"/>
                <a:gd name="T3" fmla="*/ 0 60000 65536"/>
              </a:gdLst>
              <a:ahLst/>
              <a:cxnLst>
                <a:cxn ang="T2">
                  <a:pos x="T0" y="0"/>
                </a:cxn>
                <a:cxn ang="T3">
                  <a:pos x="T1" y="0"/>
                </a:cxn>
              </a:cxnLst>
              <a:rect l="0" t="0" r="r" b="b"/>
              <a:pathLst>
                <a:path w="243205">
                  <a:moveTo>
                    <a:pt x="0" y="0"/>
                  </a:moveTo>
                  <a:lnTo>
                    <a:pt x="243078" y="0"/>
                  </a:lnTo>
                </a:path>
              </a:pathLst>
            </a:custGeom>
            <a:noFill/>
            <a:ln w="888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3" name="object 191"/>
            <p:cNvSpPr/>
            <p:nvPr/>
          </p:nvSpPr>
          <p:spPr bwMode="auto">
            <a:xfrm>
              <a:off x="1186243" y="5354955"/>
              <a:ext cx="0" cy="236220"/>
            </a:xfrm>
            <a:custGeom>
              <a:avLst/>
              <a:gdLst>
                <a:gd name="T0" fmla="*/ 0 h 314960"/>
                <a:gd name="T1" fmla="*/ 31532 h 314960"/>
                <a:gd name="T2" fmla="*/ 0 60000 65536"/>
                <a:gd name="T3" fmla="*/ 0 60000 65536"/>
              </a:gdLst>
              <a:ahLst/>
              <a:cxnLst>
                <a:cxn ang="T2">
                  <a:pos x="0" y="T0"/>
                </a:cxn>
                <a:cxn ang="T3">
                  <a:pos x="0" y="T1"/>
                </a:cxn>
              </a:cxnLst>
              <a:rect l="0" t="0" r="r" b="b"/>
              <a:pathLst>
                <a:path h="314960">
                  <a:moveTo>
                    <a:pt x="0" y="0"/>
                  </a:moveTo>
                  <a:lnTo>
                    <a:pt x="0" y="314960"/>
                  </a:lnTo>
                </a:path>
              </a:pathLst>
            </a:custGeom>
            <a:noFill/>
            <a:ln w="1270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4" name="object 192"/>
            <p:cNvSpPr/>
            <p:nvPr/>
          </p:nvSpPr>
          <p:spPr bwMode="auto">
            <a:xfrm>
              <a:off x="1094424" y="5351144"/>
              <a:ext cx="96678" cy="0"/>
            </a:xfrm>
            <a:custGeom>
              <a:avLst/>
              <a:gdLst>
                <a:gd name="T0" fmla="*/ 0 w 128905"/>
                <a:gd name="T1" fmla="*/ 12892 w 128905"/>
                <a:gd name="T2" fmla="*/ 0 60000 65536"/>
                <a:gd name="T3" fmla="*/ 0 60000 65536"/>
              </a:gdLst>
              <a:ahLst/>
              <a:cxnLst>
                <a:cxn ang="T2">
                  <a:pos x="T0" y="0"/>
                </a:cxn>
                <a:cxn ang="T3">
                  <a:pos x="T1" y="0"/>
                </a:cxn>
              </a:cxnLst>
              <a:rect l="0" t="0" r="r" b="b"/>
              <a:pathLst>
                <a:path w="128905">
                  <a:moveTo>
                    <a:pt x="0" y="0"/>
                  </a:moveTo>
                  <a:lnTo>
                    <a:pt x="128778" y="0"/>
                  </a:lnTo>
                </a:path>
              </a:pathLst>
            </a:custGeom>
            <a:noFill/>
            <a:ln w="1016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5" name="object 193"/>
            <p:cNvSpPr/>
            <p:nvPr/>
          </p:nvSpPr>
          <p:spPr bwMode="auto">
            <a:xfrm>
              <a:off x="912115" y="5346954"/>
              <a:ext cx="279082" cy="252889"/>
            </a:xfrm>
            <a:custGeom>
              <a:avLst/>
              <a:gdLst>
                <a:gd name="T0" fmla="*/ 1433 w 372109"/>
                <a:gd name="T1" fmla="*/ 32661 h 337185"/>
                <a:gd name="T2" fmla="*/ 1433 w 372109"/>
                <a:gd name="T3" fmla="*/ 13041 h 337185"/>
                <a:gd name="T4" fmla="*/ 24335 w 372109"/>
                <a:gd name="T5" fmla="*/ 13041 h 337185"/>
                <a:gd name="T6" fmla="*/ 24335 w 372109"/>
                <a:gd name="T7" fmla="*/ 12102 h 337185"/>
                <a:gd name="T8" fmla="*/ 0 w 372109"/>
                <a:gd name="T9" fmla="*/ 12102 h 337185"/>
                <a:gd name="T10" fmla="*/ 0 w 372109"/>
                <a:gd name="T11" fmla="*/ 33719 h 337185"/>
                <a:gd name="T12" fmla="*/ 37228 w 372109"/>
                <a:gd name="T13" fmla="*/ 33719 h 337185"/>
                <a:gd name="T14" fmla="*/ 37228 w 372109"/>
                <a:gd name="T15" fmla="*/ 0 h 337185"/>
                <a:gd name="T16" fmla="*/ 24335 w 372109"/>
                <a:gd name="T17" fmla="*/ 0 h 337185"/>
                <a:gd name="T18" fmla="*/ 24335 w 372109"/>
                <a:gd name="T19" fmla="*/ 1058 h 337185"/>
                <a:gd name="T20" fmla="*/ 35957 w 372109"/>
                <a:gd name="T21" fmla="*/ 1058 h 337185"/>
                <a:gd name="T22" fmla="*/ 35957 w 372109"/>
                <a:gd name="T23" fmla="*/ 32661 h 337185"/>
                <a:gd name="T24" fmla="*/ 1433 w 372109"/>
                <a:gd name="T25" fmla="*/ 32661 h 3371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72109" h="337185">
                  <a:moveTo>
                    <a:pt x="14300" y="326237"/>
                  </a:moveTo>
                  <a:lnTo>
                    <a:pt x="14300" y="130263"/>
                  </a:lnTo>
                  <a:lnTo>
                    <a:pt x="243078" y="130263"/>
                  </a:lnTo>
                  <a:lnTo>
                    <a:pt x="243078" y="120878"/>
                  </a:lnTo>
                  <a:lnTo>
                    <a:pt x="0" y="120878"/>
                  </a:lnTo>
                  <a:lnTo>
                    <a:pt x="0" y="336803"/>
                  </a:lnTo>
                  <a:lnTo>
                    <a:pt x="371856" y="336803"/>
                  </a:lnTo>
                  <a:lnTo>
                    <a:pt x="371856" y="0"/>
                  </a:lnTo>
                  <a:lnTo>
                    <a:pt x="243078" y="0"/>
                  </a:lnTo>
                  <a:lnTo>
                    <a:pt x="243078" y="10566"/>
                  </a:lnTo>
                  <a:lnTo>
                    <a:pt x="359156" y="10566"/>
                  </a:lnTo>
                  <a:lnTo>
                    <a:pt x="359156" y="326237"/>
                  </a:lnTo>
                  <a:lnTo>
                    <a:pt x="14300" y="326237"/>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6" name="object 194"/>
            <p:cNvSpPr/>
            <p:nvPr/>
          </p:nvSpPr>
          <p:spPr bwMode="auto">
            <a:xfrm>
              <a:off x="1249299" y="4952619"/>
              <a:ext cx="194310" cy="413862"/>
            </a:xfrm>
            <a:custGeom>
              <a:avLst/>
              <a:gdLst>
                <a:gd name="T0" fmla="*/ 25937 w 259080"/>
                <a:gd name="T1" fmla="*/ 0 h 551814"/>
                <a:gd name="T2" fmla="*/ 11685 w 259080"/>
                <a:gd name="T3" fmla="*/ 0 h 551814"/>
                <a:gd name="T4" fmla="*/ 11685 w 259080"/>
                <a:gd name="T5" fmla="*/ 22046 h 551814"/>
                <a:gd name="T6" fmla="*/ 4488 w 259080"/>
                <a:gd name="T7" fmla="*/ 27380 h 551814"/>
                <a:gd name="T8" fmla="*/ 4488 w 259080"/>
                <a:gd name="T9" fmla="*/ 47528 h 551814"/>
                <a:gd name="T10" fmla="*/ 2774 w 259080"/>
                <a:gd name="T11" fmla="*/ 47954 h 551814"/>
                <a:gd name="T12" fmla="*/ 1343 w 259080"/>
                <a:gd name="T13" fmla="*/ 48802 h 551814"/>
                <a:gd name="T14" fmla="*/ 364 w 259080"/>
                <a:gd name="T15" fmla="*/ 49962 h 551814"/>
                <a:gd name="T16" fmla="*/ 0 w 259080"/>
                <a:gd name="T17" fmla="*/ 51322 h 551814"/>
                <a:gd name="T18" fmla="*/ 421 w 259080"/>
                <a:gd name="T19" fmla="*/ 52832 h 551814"/>
                <a:gd name="T20" fmla="*/ 1563 w 259080"/>
                <a:gd name="T21" fmla="*/ 54077 h 551814"/>
                <a:gd name="T22" fmla="*/ 3245 w 259080"/>
                <a:gd name="T23" fmla="*/ 54921 h 551814"/>
                <a:gd name="T24" fmla="*/ 5289 w 259080"/>
                <a:gd name="T25" fmla="*/ 55232 h 551814"/>
                <a:gd name="T26" fmla="*/ 7303 w 259080"/>
                <a:gd name="T27" fmla="*/ 54921 h 551814"/>
                <a:gd name="T28" fmla="*/ 8758 w 259080"/>
                <a:gd name="T29" fmla="*/ 54166 h 551814"/>
                <a:gd name="T30" fmla="*/ 5289 w 259080"/>
                <a:gd name="T31" fmla="*/ 54166 h 551814"/>
                <a:gd name="T32" fmla="*/ 3809 w 259080"/>
                <a:gd name="T33" fmla="*/ 53955 h 551814"/>
                <a:gd name="T34" fmla="*/ 2582 w 259080"/>
                <a:gd name="T35" fmla="*/ 53366 h 551814"/>
                <a:gd name="T36" fmla="*/ 1745 w 259080"/>
                <a:gd name="T37" fmla="*/ 52466 h 551814"/>
                <a:gd name="T38" fmla="*/ 1437 w 259080"/>
                <a:gd name="T39" fmla="*/ 51322 h 551814"/>
                <a:gd name="T40" fmla="*/ 1745 w 259080"/>
                <a:gd name="T41" fmla="*/ 50227 h 551814"/>
                <a:gd name="T42" fmla="*/ 2582 w 259080"/>
                <a:gd name="T43" fmla="*/ 49321 h 551814"/>
                <a:gd name="T44" fmla="*/ 3809 w 259080"/>
                <a:gd name="T45" fmla="*/ 48704 h 551814"/>
                <a:gd name="T46" fmla="*/ 5289 w 259080"/>
                <a:gd name="T47" fmla="*/ 48476 h 551814"/>
                <a:gd name="T48" fmla="*/ 8580 w 259080"/>
                <a:gd name="T49" fmla="*/ 48476 h 551814"/>
                <a:gd name="T50" fmla="*/ 7705 w 259080"/>
                <a:gd name="T51" fmla="*/ 47954 h 551814"/>
                <a:gd name="T52" fmla="*/ 5926 w 259080"/>
                <a:gd name="T53" fmla="*/ 47528 h 551814"/>
                <a:gd name="T54" fmla="*/ 5926 w 259080"/>
                <a:gd name="T55" fmla="*/ 27852 h 551814"/>
                <a:gd name="T56" fmla="*/ 12969 w 259080"/>
                <a:gd name="T57" fmla="*/ 22520 h 551814"/>
                <a:gd name="T58" fmla="*/ 12969 w 259080"/>
                <a:gd name="T59" fmla="*/ 954 h 551814"/>
                <a:gd name="T60" fmla="*/ 25937 w 259080"/>
                <a:gd name="T61" fmla="*/ 954 h 551814"/>
                <a:gd name="T62" fmla="*/ 25937 w 259080"/>
                <a:gd name="T63" fmla="*/ 0 h 551814"/>
                <a:gd name="T64" fmla="*/ 8580 w 259080"/>
                <a:gd name="T65" fmla="*/ 48476 h 551814"/>
                <a:gd name="T66" fmla="*/ 5289 w 259080"/>
                <a:gd name="T67" fmla="*/ 48476 h 551814"/>
                <a:gd name="T68" fmla="*/ 6764 w 259080"/>
                <a:gd name="T69" fmla="*/ 48704 h 551814"/>
                <a:gd name="T70" fmla="*/ 7987 w 259080"/>
                <a:gd name="T71" fmla="*/ 49321 h 551814"/>
                <a:gd name="T72" fmla="*/ 8821 w 259080"/>
                <a:gd name="T73" fmla="*/ 50227 h 551814"/>
                <a:gd name="T74" fmla="*/ 9130 w 259080"/>
                <a:gd name="T75" fmla="*/ 51322 h 551814"/>
                <a:gd name="T76" fmla="*/ 8821 w 259080"/>
                <a:gd name="T77" fmla="*/ 52466 h 551814"/>
                <a:gd name="T78" fmla="*/ 7987 w 259080"/>
                <a:gd name="T79" fmla="*/ 53366 h 551814"/>
                <a:gd name="T80" fmla="*/ 6764 w 259080"/>
                <a:gd name="T81" fmla="*/ 53955 h 551814"/>
                <a:gd name="T82" fmla="*/ 5289 w 259080"/>
                <a:gd name="T83" fmla="*/ 54166 h 551814"/>
                <a:gd name="T84" fmla="*/ 8758 w 259080"/>
                <a:gd name="T85" fmla="*/ 54166 h 551814"/>
                <a:gd name="T86" fmla="*/ 8929 w 259080"/>
                <a:gd name="T87" fmla="*/ 54077 h 551814"/>
                <a:gd name="T88" fmla="*/ 10016 w 259080"/>
                <a:gd name="T89" fmla="*/ 52832 h 551814"/>
                <a:gd name="T90" fmla="*/ 10413 w 259080"/>
                <a:gd name="T91" fmla="*/ 51322 h 551814"/>
                <a:gd name="T92" fmla="*/ 10072 w 259080"/>
                <a:gd name="T93" fmla="*/ 49962 h 551814"/>
                <a:gd name="T94" fmla="*/ 9128 w 259080"/>
                <a:gd name="T95" fmla="*/ 48802 h 551814"/>
                <a:gd name="T96" fmla="*/ 8580 w 259080"/>
                <a:gd name="T97" fmla="*/ 48476 h 551814"/>
                <a:gd name="T98" fmla="*/ 25937 w 259080"/>
                <a:gd name="T99" fmla="*/ 954 h 551814"/>
                <a:gd name="T100" fmla="*/ 24654 w 259080"/>
                <a:gd name="T101" fmla="*/ 954 h 551814"/>
                <a:gd name="T102" fmla="*/ 24654 w 259080"/>
                <a:gd name="T103" fmla="*/ 24180 h 551814"/>
                <a:gd name="T104" fmla="*/ 16173 w 259080"/>
                <a:gd name="T105" fmla="*/ 30343 h 551814"/>
                <a:gd name="T106" fmla="*/ 18258 w 259080"/>
                <a:gd name="T107" fmla="*/ 30343 h 551814"/>
                <a:gd name="T108" fmla="*/ 25937 w 259080"/>
                <a:gd name="T109" fmla="*/ 24653 h 551814"/>
                <a:gd name="T110" fmla="*/ 25937 w 259080"/>
                <a:gd name="T111" fmla="*/ 954 h 5518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9080" h="551814">
                  <a:moveTo>
                    <a:pt x="259080" y="0"/>
                  </a:moveTo>
                  <a:lnTo>
                    <a:pt x="116712" y="0"/>
                  </a:lnTo>
                  <a:lnTo>
                    <a:pt x="116712" y="220205"/>
                  </a:lnTo>
                  <a:lnTo>
                    <a:pt x="44831" y="273481"/>
                  </a:lnTo>
                  <a:lnTo>
                    <a:pt x="44831" y="474738"/>
                  </a:lnTo>
                  <a:lnTo>
                    <a:pt x="27699" y="478990"/>
                  </a:lnTo>
                  <a:lnTo>
                    <a:pt x="13414" y="487460"/>
                  </a:lnTo>
                  <a:lnTo>
                    <a:pt x="3629" y="499041"/>
                  </a:lnTo>
                  <a:lnTo>
                    <a:pt x="0" y="512622"/>
                  </a:lnTo>
                  <a:lnTo>
                    <a:pt x="4200" y="527717"/>
                  </a:lnTo>
                  <a:lnTo>
                    <a:pt x="15605" y="540146"/>
                  </a:lnTo>
                  <a:lnTo>
                    <a:pt x="32414" y="548580"/>
                  </a:lnTo>
                  <a:lnTo>
                    <a:pt x="52831" y="551688"/>
                  </a:lnTo>
                  <a:lnTo>
                    <a:pt x="72937" y="548580"/>
                  </a:lnTo>
                  <a:lnTo>
                    <a:pt x="87479" y="541032"/>
                  </a:lnTo>
                  <a:lnTo>
                    <a:pt x="52831" y="541032"/>
                  </a:lnTo>
                  <a:lnTo>
                    <a:pt x="38032" y="538924"/>
                  </a:lnTo>
                  <a:lnTo>
                    <a:pt x="25781" y="533042"/>
                  </a:lnTo>
                  <a:lnTo>
                    <a:pt x="17434" y="524053"/>
                  </a:lnTo>
                  <a:lnTo>
                    <a:pt x="14350" y="512622"/>
                  </a:lnTo>
                  <a:lnTo>
                    <a:pt x="17434" y="501688"/>
                  </a:lnTo>
                  <a:lnTo>
                    <a:pt x="25781" y="492639"/>
                  </a:lnTo>
                  <a:lnTo>
                    <a:pt x="38032" y="486476"/>
                  </a:lnTo>
                  <a:lnTo>
                    <a:pt x="52831" y="484200"/>
                  </a:lnTo>
                  <a:lnTo>
                    <a:pt x="85698" y="484200"/>
                  </a:lnTo>
                  <a:lnTo>
                    <a:pt x="76956" y="478990"/>
                  </a:lnTo>
                  <a:lnTo>
                    <a:pt x="59181" y="474738"/>
                  </a:lnTo>
                  <a:lnTo>
                    <a:pt x="59181" y="278206"/>
                  </a:lnTo>
                  <a:lnTo>
                    <a:pt x="129540" y="224942"/>
                  </a:lnTo>
                  <a:lnTo>
                    <a:pt x="129540" y="9525"/>
                  </a:lnTo>
                  <a:lnTo>
                    <a:pt x="259080" y="9525"/>
                  </a:lnTo>
                  <a:lnTo>
                    <a:pt x="259080" y="0"/>
                  </a:lnTo>
                  <a:close/>
                </a:path>
                <a:path w="259080" h="551814">
                  <a:moveTo>
                    <a:pt x="85698" y="484200"/>
                  </a:moveTo>
                  <a:lnTo>
                    <a:pt x="52831" y="484200"/>
                  </a:lnTo>
                  <a:lnTo>
                    <a:pt x="67558" y="486476"/>
                  </a:lnTo>
                  <a:lnTo>
                    <a:pt x="79771" y="492639"/>
                  </a:lnTo>
                  <a:lnTo>
                    <a:pt x="88104" y="501688"/>
                  </a:lnTo>
                  <a:lnTo>
                    <a:pt x="91186" y="512622"/>
                  </a:lnTo>
                  <a:lnTo>
                    <a:pt x="88104" y="524053"/>
                  </a:lnTo>
                  <a:lnTo>
                    <a:pt x="79771" y="533042"/>
                  </a:lnTo>
                  <a:lnTo>
                    <a:pt x="67558" y="538924"/>
                  </a:lnTo>
                  <a:lnTo>
                    <a:pt x="52831" y="541032"/>
                  </a:lnTo>
                  <a:lnTo>
                    <a:pt x="87479" y="541032"/>
                  </a:lnTo>
                  <a:lnTo>
                    <a:pt x="89185" y="540146"/>
                  </a:lnTo>
                  <a:lnTo>
                    <a:pt x="100052" y="527717"/>
                  </a:lnTo>
                  <a:lnTo>
                    <a:pt x="104012" y="512622"/>
                  </a:lnTo>
                  <a:lnTo>
                    <a:pt x="100597" y="499041"/>
                  </a:lnTo>
                  <a:lnTo>
                    <a:pt x="91170" y="487460"/>
                  </a:lnTo>
                  <a:lnTo>
                    <a:pt x="85698" y="484200"/>
                  </a:lnTo>
                  <a:close/>
                </a:path>
                <a:path w="259080" h="551814">
                  <a:moveTo>
                    <a:pt x="259080" y="9525"/>
                  </a:moveTo>
                  <a:lnTo>
                    <a:pt x="246253" y="9525"/>
                  </a:lnTo>
                  <a:lnTo>
                    <a:pt x="246253" y="241515"/>
                  </a:lnTo>
                  <a:lnTo>
                    <a:pt x="161544" y="303072"/>
                  </a:lnTo>
                  <a:lnTo>
                    <a:pt x="182372" y="303072"/>
                  </a:lnTo>
                  <a:lnTo>
                    <a:pt x="259080" y="246240"/>
                  </a:lnTo>
                  <a:lnTo>
                    <a:pt x="259080" y="952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77" name="object 195"/>
            <p:cNvSpPr/>
            <p:nvPr/>
          </p:nvSpPr>
          <p:spPr bwMode="auto">
            <a:xfrm>
              <a:off x="1249299" y="4952619"/>
              <a:ext cx="194310" cy="413862"/>
            </a:xfrm>
            <a:custGeom>
              <a:avLst/>
              <a:gdLst>
                <a:gd name="T0" fmla="*/ 16173 w 259080"/>
                <a:gd name="T1" fmla="*/ 30343 h 551814"/>
                <a:gd name="T2" fmla="*/ 18258 w 259080"/>
                <a:gd name="T3" fmla="*/ 30343 h 551814"/>
                <a:gd name="T4" fmla="*/ 22697 w 259080"/>
                <a:gd name="T5" fmla="*/ 27053 h 551814"/>
                <a:gd name="T6" fmla="*/ 24978 w 259080"/>
                <a:gd name="T7" fmla="*/ 25364 h 551814"/>
                <a:gd name="T8" fmla="*/ 25818 w 259080"/>
                <a:gd name="T9" fmla="*/ 24742 h 551814"/>
                <a:gd name="T10" fmla="*/ 25937 w 259080"/>
                <a:gd name="T11" fmla="*/ 24653 h 551814"/>
                <a:gd name="T12" fmla="*/ 25937 w 259080"/>
                <a:gd name="T13" fmla="*/ 10401 h 551814"/>
                <a:gd name="T14" fmla="*/ 25937 w 259080"/>
                <a:gd name="T15" fmla="*/ 3082 h 551814"/>
                <a:gd name="T16" fmla="*/ 25937 w 259080"/>
                <a:gd name="T17" fmla="*/ 386 h 551814"/>
                <a:gd name="T18" fmla="*/ 25937 w 259080"/>
                <a:gd name="T19" fmla="*/ 0 h 551814"/>
                <a:gd name="T20" fmla="*/ 17698 w 259080"/>
                <a:gd name="T21" fmla="*/ 0 h 551814"/>
                <a:gd name="T22" fmla="*/ 13466 w 259080"/>
                <a:gd name="T23" fmla="*/ 0 h 551814"/>
                <a:gd name="T24" fmla="*/ 11908 w 259080"/>
                <a:gd name="T25" fmla="*/ 0 h 551814"/>
                <a:gd name="T26" fmla="*/ 11685 w 259080"/>
                <a:gd name="T27" fmla="*/ 0 h 551814"/>
                <a:gd name="T28" fmla="*/ 11685 w 259080"/>
                <a:gd name="T29" fmla="*/ 12746 h 551814"/>
                <a:gd name="T30" fmla="*/ 11685 w 259080"/>
                <a:gd name="T31" fmla="*/ 19291 h 551814"/>
                <a:gd name="T32" fmla="*/ 11685 w 259080"/>
                <a:gd name="T33" fmla="*/ 21701 h 551814"/>
                <a:gd name="T34" fmla="*/ 11685 w 259080"/>
                <a:gd name="T35" fmla="*/ 22046 h 551814"/>
                <a:gd name="T36" fmla="*/ 7524 w 259080"/>
                <a:gd name="T37" fmla="*/ 25130 h 551814"/>
                <a:gd name="T38" fmla="*/ 5388 w 259080"/>
                <a:gd name="T39" fmla="*/ 26713 h 551814"/>
                <a:gd name="T40" fmla="*/ 4601 w 259080"/>
                <a:gd name="T41" fmla="*/ 27296 h 551814"/>
                <a:gd name="T42" fmla="*/ 4488 w 259080"/>
                <a:gd name="T43" fmla="*/ 27380 h 551814"/>
                <a:gd name="T44" fmla="*/ 4488 w 259080"/>
                <a:gd name="T45" fmla="*/ 39029 h 551814"/>
                <a:gd name="T46" fmla="*/ 4488 w 259080"/>
                <a:gd name="T47" fmla="*/ 45010 h 551814"/>
                <a:gd name="T48" fmla="*/ 4488 w 259080"/>
                <a:gd name="T49" fmla="*/ 47214 h 551814"/>
                <a:gd name="T50" fmla="*/ 4488 w 259080"/>
                <a:gd name="T51" fmla="*/ 47528 h 551814"/>
                <a:gd name="T52" fmla="*/ 2774 w 259080"/>
                <a:gd name="T53" fmla="*/ 47954 h 551814"/>
                <a:gd name="T54" fmla="*/ 1343 w 259080"/>
                <a:gd name="T55" fmla="*/ 48802 h 551814"/>
                <a:gd name="T56" fmla="*/ 364 w 259080"/>
                <a:gd name="T57" fmla="*/ 49962 h 551814"/>
                <a:gd name="T58" fmla="*/ 0 w 259080"/>
                <a:gd name="T59" fmla="*/ 51322 h 551814"/>
                <a:gd name="T60" fmla="*/ 421 w 259080"/>
                <a:gd name="T61" fmla="*/ 52832 h 551814"/>
                <a:gd name="T62" fmla="*/ 1563 w 259080"/>
                <a:gd name="T63" fmla="*/ 54077 h 551814"/>
                <a:gd name="T64" fmla="*/ 3245 w 259080"/>
                <a:gd name="T65" fmla="*/ 54921 h 551814"/>
                <a:gd name="T66" fmla="*/ 5289 w 259080"/>
                <a:gd name="T67" fmla="*/ 55232 h 551814"/>
                <a:gd name="T68" fmla="*/ 7303 w 259080"/>
                <a:gd name="T69" fmla="*/ 54921 h 551814"/>
                <a:gd name="T70" fmla="*/ 8929 w 259080"/>
                <a:gd name="T71" fmla="*/ 54077 h 551814"/>
                <a:gd name="T72" fmla="*/ 10016 w 259080"/>
                <a:gd name="T73" fmla="*/ 52832 h 551814"/>
                <a:gd name="T74" fmla="*/ 10413 w 259080"/>
                <a:gd name="T75" fmla="*/ 51322 h 551814"/>
                <a:gd name="T76" fmla="*/ 10072 w 259080"/>
                <a:gd name="T77" fmla="*/ 49962 h 551814"/>
                <a:gd name="T78" fmla="*/ 9128 w 259080"/>
                <a:gd name="T79" fmla="*/ 48802 h 551814"/>
                <a:gd name="T80" fmla="*/ 7705 w 259080"/>
                <a:gd name="T81" fmla="*/ 47954 h 551814"/>
                <a:gd name="T82" fmla="*/ 5926 w 259080"/>
                <a:gd name="T83" fmla="*/ 47528 h 551814"/>
                <a:gd name="T84" fmla="*/ 5926 w 259080"/>
                <a:gd name="T85" fmla="*/ 36153 h 551814"/>
                <a:gd name="T86" fmla="*/ 5926 w 259080"/>
                <a:gd name="T87" fmla="*/ 30312 h 551814"/>
                <a:gd name="T88" fmla="*/ 5926 w 259080"/>
                <a:gd name="T89" fmla="*/ 28160 h 551814"/>
                <a:gd name="T90" fmla="*/ 5926 w 259080"/>
                <a:gd name="T91" fmla="*/ 27852 h 551814"/>
                <a:gd name="T92" fmla="*/ 9998 w 259080"/>
                <a:gd name="T93" fmla="*/ 24770 h 551814"/>
                <a:gd name="T94" fmla="*/ 12089 w 259080"/>
                <a:gd name="T95" fmla="*/ 23187 h 551814"/>
                <a:gd name="T96" fmla="*/ 12859 w 259080"/>
                <a:gd name="T97" fmla="*/ 22604 h 551814"/>
                <a:gd name="T98" fmla="*/ 12969 w 259080"/>
                <a:gd name="T99" fmla="*/ 22520 h 551814"/>
                <a:gd name="T100" fmla="*/ 12969 w 259080"/>
                <a:gd name="T101" fmla="*/ 10052 h 551814"/>
                <a:gd name="T102" fmla="*/ 12969 w 259080"/>
                <a:gd name="T103" fmla="*/ 3650 h 551814"/>
                <a:gd name="T104" fmla="*/ 12969 w 259080"/>
                <a:gd name="T105" fmla="*/ 1291 h 551814"/>
                <a:gd name="T106" fmla="*/ 12969 w 259080"/>
                <a:gd name="T107" fmla="*/ 954 h 551814"/>
                <a:gd name="T108" fmla="*/ 19724 w 259080"/>
                <a:gd name="T109" fmla="*/ 954 h 551814"/>
                <a:gd name="T110" fmla="*/ 23192 w 259080"/>
                <a:gd name="T111" fmla="*/ 954 h 551814"/>
                <a:gd name="T112" fmla="*/ 24470 w 259080"/>
                <a:gd name="T113" fmla="*/ 954 h 551814"/>
                <a:gd name="T114" fmla="*/ 24654 w 259080"/>
                <a:gd name="T115" fmla="*/ 954 h 551814"/>
                <a:gd name="T116" fmla="*/ 24654 w 259080"/>
                <a:gd name="T117" fmla="*/ 14381 h 551814"/>
                <a:gd name="T118" fmla="*/ 24654 w 259080"/>
                <a:gd name="T119" fmla="*/ 21276 h 551814"/>
                <a:gd name="T120" fmla="*/ 24654 w 259080"/>
                <a:gd name="T121" fmla="*/ 23817 h 551814"/>
                <a:gd name="T122" fmla="*/ 24654 w 259080"/>
                <a:gd name="T123" fmla="*/ 24180 h 551814"/>
                <a:gd name="T124" fmla="*/ 16173 w 259080"/>
                <a:gd name="T125" fmla="*/ 30343 h 55181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59080" h="551814">
                  <a:moveTo>
                    <a:pt x="161544" y="303072"/>
                  </a:moveTo>
                  <a:lnTo>
                    <a:pt x="182372" y="303072"/>
                  </a:lnTo>
                  <a:lnTo>
                    <a:pt x="226718" y="270216"/>
                  </a:lnTo>
                  <a:lnTo>
                    <a:pt x="249491" y="253344"/>
                  </a:lnTo>
                  <a:lnTo>
                    <a:pt x="257881" y="247128"/>
                  </a:lnTo>
                  <a:lnTo>
                    <a:pt x="259080" y="246240"/>
                  </a:lnTo>
                  <a:lnTo>
                    <a:pt x="259080" y="103882"/>
                  </a:lnTo>
                  <a:lnTo>
                    <a:pt x="259080" y="30780"/>
                  </a:lnTo>
                  <a:lnTo>
                    <a:pt x="259080" y="3847"/>
                  </a:lnTo>
                  <a:lnTo>
                    <a:pt x="259080" y="0"/>
                  </a:lnTo>
                  <a:lnTo>
                    <a:pt x="176774" y="0"/>
                  </a:lnTo>
                  <a:lnTo>
                    <a:pt x="134508" y="0"/>
                  </a:lnTo>
                  <a:lnTo>
                    <a:pt x="118937" y="0"/>
                  </a:lnTo>
                  <a:lnTo>
                    <a:pt x="116712" y="0"/>
                  </a:lnTo>
                  <a:lnTo>
                    <a:pt x="116712" y="127306"/>
                  </a:lnTo>
                  <a:lnTo>
                    <a:pt x="116712" y="192679"/>
                  </a:lnTo>
                  <a:lnTo>
                    <a:pt x="116712" y="216764"/>
                  </a:lnTo>
                  <a:lnTo>
                    <a:pt x="116712" y="220205"/>
                  </a:lnTo>
                  <a:lnTo>
                    <a:pt x="75156" y="251005"/>
                  </a:lnTo>
                  <a:lnTo>
                    <a:pt x="53816" y="266822"/>
                  </a:lnTo>
                  <a:lnTo>
                    <a:pt x="45954" y="272649"/>
                  </a:lnTo>
                  <a:lnTo>
                    <a:pt x="44831" y="273481"/>
                  </a:lnTo>
                  <a:lnTo>
                    <a:pt x="44831" y="389833"/>
                  </a:lnTo>
                  <a:lnTo>
                    <a:pt x="44831" y="449581"/>
                  </a:lnTo>
                  <a:lnTo>
                    <a:pt x="44831" y="471594"/>
                  </a:lnTo>
                  <a:lnTo>
                    <a:pt x="44831" y="474738"/>
                  </a:lnTo>
                  <a:lnTo>
                    <a:pt x="27699" y="478990"/>
                  </a:lnTo>
                  <a:lnTo>
                    <a:pt x="13414" y="487460"/>
                  </a:lnTo>
                  <a:lnTo>
                    <a:pt x="3629" y="499041"/>
                  </a:lnTo>
                  <a:lnTo>
                    <a:pt x="0" y="512622"/>
                  </a:lnTo>
                  <a:lnTo>
                    <a:pt x="4200" y="527717"/>
                  </a:lnTo>
                  <a:lnTo>
                    <a:pt x="15605" y="540146"/>
                  </a:lnTo>
                  <a:lnTo>
                    <a:pt x="32414" y="548580"/>
                  </a:lnTo>
                  <a:lnTo>
                    <a:pt x="52831" y="551688"/>
                  </a:lnTo>
                  <a:lnTo>
                    <a:pt x="72937" y="548580"/>
                  </a:lnTo>
                  <a:lnTo>
                    <a:pt x="89185" y="540146"/>
                  </a:lnTo>
                  <a:lnTo>
                    <a:pt x="100052" y="527717"/>
                  </a:lnTo>
                  <a:lnTo>
                    <a:pt x="104012" y="512622"/>
                  </a:lnTo>
                  <a:lnTo>
                    <a:pt x="100597" y="499041"/>
                  </a:lnTo>
                  <a:lnTo>
                    <a:pt x="91170" y="487460"/>
                  </a:lnTo>
                  <a:lnTo>
                    <a:pt x="76956" y="478990"/>
                  </a:lnTo>
                  <a:lnTo>
                    <a:pt x="59181" y="474738"/>
                  </a:lnTo>
                  <a:lnTo>
                    <a:pt x="59181" y="361118"/>
                  </a:lnTo>
                  <a:lnTo>
                    <a:pt x="59181" y="302772"/>
                  </a:lnTo>
                  <a:lnTo>
                    <a:pt x="59181" y="281277"/>
                  </a:lnTo>
                  <a:lnTo>
                    <a:pt x="59181" y="278206"/>
                  </a:lnTo>
                  <a:lnTo>
                    <a:pt x="99857" y="247413"/>
                  </a:lnTo>
                  <a:lnTo>
                    <a:pt x="120745" y="231600"/>
                  </a:lnTo>
                  <a:lnTo>
                    <a:pt x="128440" y="225774"/>
                  </a:lnTo>
                  <a:lnTo>
                    <a:pt x="129540" y="224942"/>
                  </a:lnTo>
                  <a:lnTo>
                    <a:pt x="129540" y="100404"/>
                  </a:lnTo>
                  <a:lnTo>
                    <a:pt x="129540" y="36452"/>
                  </a:lnTo>
                  <a:lnTo>
                    <a:pt x="129540" y="12890"/>
                  </a:lnTo>
                  <a:lnTo>
                    <a:pt x="129540" y="9525"/>
                  </a:lnTo>
                  <a:lnTo>
                    <a:pt x="197014" y="9525"/>
                  </a:lnTo>
                  <a:lnTo>
                    <a:pt x="231663" y="9525"/>
                  </a:lnTo>
                  <a:lnTo>
                    <a:pt x="244429" y="9525"/>
                  </a:lnTo>
                  <a:lnTo>
                    <a:pt x="246253" y="9525"/>
                  </a:lnTo>
                  <a:lnTo>
                    <a:pt x="246253" y="143644"/>
                  </a:lnTo>
                  <a:lnTo>
                    <a:pt x="246253" y="212517"/>
                  </a:lnTo>
                  <a:lnTo>
                    <a:pt x="246253" y="237891"/>
                  </a:lnTo>
                  <a:lnTo>
                    <a:pt x="246253" y="241515"/>
                  </a:lnTo>
                  <a:lnTo>
                    <a:pt x="161544" y="30307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8" name="object 196"/>
            <p:cNvSpPr/>
            <p:nvPr/>
          </p:nvSpPr>
          <p:spPr bwMode="auto">
            <a:xfrm>
              <a:off x="1260062" y="5315769"/>
              <a:ext cx="57626" cy="42862"/>
            </a:xfrm>
            <a:custGeom>
              <a:avLst/>
              <a:gdLst>
                <a:gd name="T0" fmla="*/ 7691 w 76835"/>
                <a:gd name="T1" fmla="*/ 2845 h 57150"/>
                <a:gd name="T2" fmla="*/ 7383 w 76835"/>
                <a:gd name="T3" fmla="*/ 3990 h 57150"/>
                <a:gd name="T4" fmla="*/ 6549 w 76835"/>
                <a:gd name="T5" fmla="*/ 4889 h 57150"/>
                <a:gd name="T6" fmla="*/ 5326 w 76835"/>
                <a:gd name="T7" fmla="*/ 5478 h 57150"/>
                <a:gd name="T8" fmla="*/ 3852 w 76835"/>
                <a:gd name="T9" fmla="*/ 5689 h 57150"/>
                <a:gd name="T10" fmla="*/ 2371 w 76835"/>
                <a:gd name="T11" fmla="*/ 5478 h 57150"/>
                <a:gd name="T12" fmla="*/ 1144 w 76835"/>
                <a:gd name="T13" fmla="*/ 4889 h 57150"/>
                <a:gd name="T14" fmla="*/ 308 w 76835"/>
                <a:gd name="T15" fmla="*/ 3990 h 57150"/>
                <a:gd name="T16" fmla="*/ 0 w 76835"/>
                <a:gd name="T17" fmla="*/ 2845 h 57150"/>
                <a:gd name="T18" fmla="*/ 308 w 76835"/>
                <a:gd name="T19" fmla="*/ 1750 h 57150"/>
                <a:gd name="T20" fmla="*/ 1144 w 76835"/>
                <a:gd name="T21" fmla="*/ 844 h 57150"/>
                <a:gd name="T22" fmla="*/ 2371 w 76835"/>
                <a:gd name="T23" fmla="*/ 228 h 57150"/>
                <a:gd name="T24" fmla="*/ 3852 w 76835"/>
                <a:gd name="T25" fmla="*/ 0 h 57150"/>
                <a:gd name="T26" fmla="*/ 5326 w 76835"/>
                <a:gd name="T27" fmla="*/ 228 h 57150"/>
                <a:gd name="T28" fmla="*/ 6549 w 76835"/>
                <a:gd name="T29" fmla="*/ 844 h 57150"/>
                <a:gd name="T30" fmla="*/ 7383 w 76835"/>
                <a:gd name="T31" fmla="*/ 1750 h 57150"/>
                <a:gd name="T32" fmla="*/ 7691 w 76835"/>
                <a:gd name="T33" fmla="*/ 2845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7150">
                  <a:moveTo>
                    <a:pt x="76835" y="28422"/>
                  </a:moveTo>
                  <a:lnTo>
                    <a:pt x="73753" y="39853"/>
                  </a:lnTo>
                  <a:lnTo>
                    <a:pt x="65420" y="48842"/>
                  </a:lnTo>
                  <a:lnTo>
                    <a:pt x="53207" y="54724"/>
                  </a:lnTo>
                  <a:lnTo>
                    <a:pt x="38481" y="56832"/>
                  </a:lnTo>
                  <a:lnTo>
                    <a:pt x="23681" y="54724"/>
                  </a:lnTo>
                  <a:lnTo>
                    <a:pt x="11430" y="48842"/>
                  </a:lnTo>
                  <a:lnTo>
                    <a:pt x="3083" y="39853"/>
                  </a:lnTo>
                  <a:lnTo>
                    <a:pt x="0" y="28422"/>
                  </a:lnTo>
                  <a:lnTo>
                    <a:pt x="3083" y="17487"/>
                  </a:lnTo>
                  <a:lnTo>
                    <a:pt x="11430" y="8439"/>
                  </a:lnTo>
                  <a:lnTo>
                    <a:pt x="23681" y="2276"/>
                  </a:lnTo>
                  <a:lnTo>
                    <a:pt x="38481" y="0"/>
                  </a:lnTo>
                  <a:lnTo>
                    <a:pt x="53207" y="2276"/>
                  </a:lnTo>
                  <a:lnTo>
                    <a:pt x="65420" y="8439"/>
                  </a:lnTo>
                  <a:lnTo>
                    <a:pt x="73753" y="17487"/>
                  </a:lnTo>
                  <a:lnTo>
                    <a:pt x="76835" y="28422"/>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79" name="object 197"/>
            <p:cNvSpPr/>
            <p:nvPr/>
          </p:nvSpPr>
          <p:spPr bwMode="auto">
            <a:xfrm>
              <a:off x="2670048" y="5711571"/>
              <a:ext cx="916782" cy="57150"/>
            </a:xfrm>
            <a:custGeom>
              <a:avLst/>
              <a:gdLst>
                <a:gd name="T0" fmla="*/ 3117 w 1222375"/>
                <a:gd name="T1" fmla="*/ 308 h 76200"/>
                <a:gd name="T2" fmla="*/ 398 w 1222375"/>
                <a:gd name="T3" fmla="*/ 2378 h 76200"/>
                <a:gd name="T4" fmla="*/ 398 w 1222375"/>
                <a:gd name="T5" fmla="*/ 5302 h 76200"/>
                <a:gd name="T6" fmla="*/ 3117 w 1222375"/>
                <a:gd name="T7" fmla="*/ 7323 h 76200"/>
                <a:gd name="T8" fmla="*/ 7049 w 1222375"/>
                <a:gd name="T9" fmla="*/ 7379 h 76200"/>
                <a:gd name="T10" fmla="*/ 5132 w 1222375"/>
                <a:gd name="T11" fmla="*/ 6690 h 76200"/>
                <a:gd name="T12" fmla="*/ 2429 w 1222375"/>
                <a:gd name="T13" fmla="*/ 5854 h 76200"/>
                <a:gd name="T14" fmla="*/ 1284 w 1222375"/>
                <a:gd name="T15" fmla="*/ 3873 h 76200"/>
                <a:gd name="T16" fmla="*/ 2429 w 1222375"/>
                <a:gd name="T17" fmla="*/ 1790 h 76200"/>
                <a:gd name="T18" fmla="*/ 5137 w 1222375"/>
                <a:gd name="T19" fmla="*/ 939 h 76200"/>
                <a:gd name="T20" fmla="*/ 7049 w 1222375"/>
                <a:gd name="T21" fmla="*/ 249 h 76200"/>
                <a:gd name="T22" fmla="*/ 113498 w 1222375"/>
                <a:gd name="T23" fmla="*/ 4342 h 76200"/>
                <a:gd name="T24" fmla="*/ 112503 w 1222375"/>
                <a:gd name="T25" fmla="*/ 5648 h 76200"/>
                <a:gd name="T26" fmla="*/ 115289 w 1222375"/>
                <a:gd name="T27" fmla="*/ 7379 h 76200"/>
                <a:gd name="T28" fmla="*/ 119247 w 1222375"/>
                <a:gd name="T29" fmla="*/ 7323 h 76200"/>
                <a:gd name="T30" fmla="*/ 117221 w 1222375"/>
                <a:gd name="T31" fmla="*/ 6690 h 76200"/>
                <a:gd name="T32" fmla="*/ 114457 w 1222375"/>
                <a:gd name="T33" fmla="*/ 5854 h 76200"/>
                <a:gd name="T34" fmla="*/ 113498 w 1222375"/>
                <a:gd name="T35" fmla="*/ 4342 h 76200"/>
                <a:gd name="T36" fmla="*/ 5137 w 1222375"/>
                <a:gd name="T37" fmla="*/ 939 h 76200"/>
                <a:gd name="T38" fmla="*/ 7845 w 1222375"/>
                <a:gd name="T39" fmla="*/ 1790 h 76200"/>
                <a:gd name="T40" fmla="*/ 8990 w 1222375"/>
                <a:gd name="T41" fmla="*/ 3873 h 76200"/>
                <a:gd name="T42" fmla="*/ 7845 w 1222375"/>
                <a:gd name="T43" fmla="*/ 5854 h 76200"/>
                <a:gd name="T44" fmla="*/ 5137 w 1222375"/>
                <a:gd name="T45" fmla="*/ 6691 h 76200"/>
                <a:gd name="T46" fmla="*/ 9722 w 1222375"/>
                <a:gd name="T47" fmla="*/ 5648 h 76200"/>
                <a:gd name="T48" fmla="*/ 113498 w 1222375"/>
                <a:gd name="T49" fmla="*/ 4342 h 76200"/>
                <a:gd name="T50" fmla="*/ 113519 w 1222375"/>
                <a:gd name="T51" fmla="*/ 3287 h 76200"/>
                <a:gd name="T52" fmla="*/ 9722 w 1222375"/>
                <a:gd name="T53" fmla="*/ 1982 h 76200"/>
                <a:gd name="T54" fmla="*/ 120476 w 1222375"/>
                <a:gd name="T55" fmla="*/ 939 h 76200"/>
                <a:gd name="T56" fmla="*/ 118709 w 1222375"/>
                <a:gd name="T57" fmla="*/ 1166 h 76200"/>
                <a:gd name="T58" fmla="*/ 120770 w 1222375"/>
                <a:gd name="T59" fmla="*/ 2722 h 76200"/>
                <a:gd name="T60" fmla="*/ 120770 w 1222375"/>
                <a:gd name="T61" fmla="*/ 4958 h 76200"/>
                <a:gd name="T62" fmla="*/ 118709 w 1222375"/>
                <a:gd name="T63" fmla="*/ 6465 h 76200"/>
                <a:gd name="T64" fmla="*/ 120500 w 1222375"/>
                <a:gd name="T65" fmla="*/ 6690 h 76200"/>
                <a:gd name="T66" fmla="*/ 121967 w 1222375"/>
                <a:gd name="T67" fmla="*/ 5302 h 76200"/>
                <a:gd name="T68" fmla="*/ 121967 w 1222375"/>
                <a:gd name="T69" fmla="*/ 2378 h 76200"/>
                <a:gd name="T70" fmla="*/ 120476 w 1222375"/>
                <a:gd name="T71" fmla="*/ 939 h 76200"/>
                <a:gd name="T72" fmla="*/ 115289 w 1222375"/>
                <a:gd name="T73" fmla="*/ 249 h 76200"/>
                <a:gd name="T74" fmla="*/ 112503 w 1222375"/>
                <a:gd name="T75" fmla="*/ 1982 h 76200"/>
                <a:gd name="T76" fmla="*/ 113519 w 1222375"/>
                <a:gd name="T77" fmla="*/ 3287 h 76200"/>
                <a:gd name="T78" fmla="*/ 114457 w 1222375"/>
                <a:gd name="T79" fmla="*/ 1790 h 76200"/>
                <a:gd name="T80" fmla="*/ 117227 w 1222375"/>
                <a:gd name="T81" fmla="*/ 939 h 76200"/>
                <a:gd name="T82" fmla="*/ 119247 w 1222375"/>
                <a:gd name="T83" fmla="*/ 308 h 762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22375" h="76200">
                  <a:moveTo>
                    <a:pt x="51308" y="0"/>
                  </a:moveTo>
                  <a:lnTo>
                    <a:pt x="31128" y="3077"/>
                  </a:lnTo>
                  <a:lnTo>
                    <a:pt x="14843" y="11431"/>
                  </a:lnTo>
                  <a:lnTo>
                    <a:pt x="3962" y="23740"/>
                  </a:lnTo>
                  <a:lnTo>
                    <a:pt x="0" y="38684"/>
                  </a:lnTo>
                  <a:lnTo>
                    <a:pt x="3962" y="52952"/>
                  </a:lnTo>
                  <a:lnTo>
                    <a:pt x="14843" y="64914"/>
                  </a:lnTo>
                  <a:lnTo>
                    <a:pt x="31128" y="73140"/>
                  </a:lnTo>
                  <a:lnTo>
                    <a:pt x="51308" y="76200"/>
                  </a:lnTo>
                  <a:lnTo>
                    <a:pt x="70397" y="73708"/>
                  </a:lnTo>
                  <a:lnTo>
                    <a:pt x="85992" y="66827"/>
                  </a:lnTo>
                  <a:lnTo>
                    <a:pt x="51255" y="66819"/>
                  </a:lnTo>
                  <a:lnTo>
                    <a:pt x="36508" y="64573"/>
                  </a:lnTo>
                  <a:lnTo>
                    <a:pt x="24256" y="58470"/>
                  </a:lnTo>
                  <a:lnTo>
                    <a:pt x="15910" y="49510"/>
                  </a:lnTo>
                  <a:lnTo>
                    <a:pt x="12826" y="38684"/>
                  </a:lnTo>
                  <a:lnTo>
                    <a:pt x="15910" y="27181"/>
                  </a:lnTo>
                  <a:lnTo>
                    <a:pt x="24257" y="17875"/>
                  </a:lnTo>
                  <a:lnTo>
                    <a:pt x="36508" y="11645"/>
                  </a:lnTo>
                  <a:lnTo>
                    <a:pt x="51308" y="9372"/>
                  </a:lnTo>
                  <a:lnTo>
                    <a:pt x="85992" y="9372"/>
                  </a:lnTo>
                  <a:lnTo>
                    <a:pt x="70397" y="2491"/>
                  </a:lnTo>
                  <a:lnTo>
                    <a:pt x="51308" y="0"/>
                  </a:lnTo>
                  <a:close/>
                </a:path>
                <a:path w="1222375" h="76200">
                  <a:moveTo>
                    <a:pt x="1133693" y="43370"/>
                  </a:moveTo>
                  <a:lnTo>
                    <a:pt x="1117981" y="43370"/>
                  </a:lnTo>
                  <a:lnTo>
                    <a:pt x="1123755" y="56413"/>
                  </a:lnTo>
                  <a:lnTo>
                    <a:pt x="1135430" y="66827"/>
                  </a:lnTo>
                  <a:lnTo>
                    <a:pt x="1151592" y="73708"/>
                  </a:lnTo>
                  <a:lnTo>
                    <a:pt x="1170939" y="76200"/>
                  </a:lnTo>
                  <a:lnTo>
                    <a:pt x="1191119" y="73140"/>
                  </a:lnTo>
                  <a:lnTo>
                    <a:pt x="1203617" y="66827"/>
                  </a:lnTo>
                  <a:lnTo>
                    <a:pt x="1170885" y="66819"/>
                  </a:lnTo>
                  <a:lnTo>
                    <a:pt x="1155444" y="64573"/>
                  </a:lnTo>
                  <a:lnTo>
                    <a:pt x="1143269" y="58470"/>
                  </a:lnTo>
                  <a:lnTo>
                    <a:pt x="1135310" y="49510"/>
                  </a:lnTo>
                  <a:lnTo>
                    <a:pt x="1133693" y="43370"/>
                  </a:lnTo>
                  <a:close/>
                </a:path>
                <a:path w="1222375" h="76200">
                  <a:moveTo>
                    <a:pt x="85992" y="9372"/>
                  </a:moveTo>
                  <a:lnTo>
                    <a:pt x="51308" y="9372"/>
                  </a:lnTo>
                  <a:lnTo>
                    <a:pt x="66107" y="11645"/>
                  </a:lnTo>
                  <a:lnTo>
                    <a:pt x="78358" y="17875"/>
                  </a:lnTo>
                  <a:lnTo>
                    <a:pt x="86705" y="27181"/>
                  </a:lnTo>
                  <a:lnTo>
                    <a:pt x="89788" y="38684"/>
                  </a:lnTo>
                  <a:lnTo>
                    <a:pt x="86705" y="49510"/>
                  </a:lnTo>
                  <a:lnTo>
                    <a:pt x="78358" y="58470"/>
                  </a:lnTo>
                  <a:lnTo>
                    <a:pt x="66107" y="64573"/>
                  </a:lnTo>
                  <a:lnTo>
                    <a:pt x="51308" y="66827"/>
                  </a:lnTo>
                  <a:lnTo>
                    <a:pt x="86010" y="66819"/>
                  </a:lnTo>
                  <a:lnTo>
                    <a:pt x="97099" y="56413"/>
                  </a:lnTo>
                  <a:lnTo>
                    <a:pt x="102615" y="43370"/>
                  </a:lnTo>
                  <a:lnTo>
                    <a:pt x="1133693" y="43370"/>
                  </a:lnTo>
                  <a:lnTo>
                    <a:pt x="1132459" y="38684"/>
                  </a:lnTo>
                  <a:lnTo>
                    <a:pt x="1133910" y="32829"/>
                  </a:lnTo>
                  <a:lnTo>
                    <a:pt x="102615" y="32829"/>
                  </a:lnTo>
                  <a:lnTo>
                    <a:pt x="97099" y="19786"/>
                  </a:lnTo>
                  <a:lnTo>
                    <a:pt x="85992" y="9372"/>
                  </a:lnTo>
                  <a:close/>
                </a:path>
                <a:path w="1222375" h="76200">
                  <a:moveTo>
                    <a:pt x="1203390" y="9372"/>
                  </a:moveTo>
                  <a:lnTo>
                    <a:pt x="1170939" y="9372"/>
                  </a:lnTo>
                  <a:lnTo>
                    <a:pt x="1185739" y="11645"/>
                  </a:lnTo>
                  <a:lnTo>
                    <a:pt x="1197991" y="17875"/>
                  </a:lnTo>
                  <a:lnTo>
                    <a:pt x="1206337" y="27181"/>
                  </a:lnTo>
                  <a:lnTo>
                    <a:pt x="1209421" y="38684"/>
                  </a:lnTo>
                  <a:lnTo>
                    <a:pt x="1206337" y="49510"/>
                  </a:lnTo>
                  <a:lnTo>
                    <a:pt x="1197990" y="58470"/>
                  </a:lnTo>
                  <a:lnTo>
                    <a:pt x="1185739" y="64573"/>
                  </a:lnTo>
                  <a:lnTo>
                    <a:pt x="1170939" y="66827"/>
                  </a:lnTo>
                  <a:lnTo>
                    <a:pt x="1203633" y="66819"/>
                  </a:lnTo>
                  <a:lnTo>
                    <a:pt x="1207404" y="64914"/>
                  </a:lnTo>
                  <a:lnTo>
                    <a:pt x="1218285" y="52952"/>
                  </a:lnTo>
                  <a:lnTo>
                    <a:pt x="1222248" y="38684"/>
                  </a:lnTo>
                  <a:lnTo>
                    <a:pt x="1218285" y="23740"/>
                  </a:lnTo>
                  <a:lnTo>
                    <a:pt x="1207404" y="11431"/>
                  </a:lnTo>
                  <a:lnTo>
                    <a:pt x="1203390" y="9372"/>
                  </a:lnTo>
                  <a:close/>
                </a:path>
                <a:path w="1222375" h="76200">
                  <a:moveTo>
                    <a:pt x="1170939" y="0"/>
                  </a:moveTo>
                  <a:lnTo>
                    <a:pt x="1151592" y="2491"/>
                  </a:lnTo>
                  <a:lnTo>
                    <a:pt x="1135411" y="9380"/>
                  </a:lnTo>
                  <a:lnTo>
                    <a:pt x="1123755" y="19786"/>
                  </a:lnTo>
                  <a:lnTo>
                    <a:pt x="1117981" y="32829"/>
                  </a:lnTo>
                  <a:lnTo>
                    <a:pt x="1133910" y="32829"/>
                  </a:lnTo>
                  <a:lnTo>
                    <a:pt x="1135310" y="27181"/>
                  </a:lnTo>
                  <a:lnTo>
                    <a:pt x="1143269" y="17875"/>
                  </a:lnTo>
                  <a:lnTo>
                    <a:pt x="1155444" y="11645"/>
                  </a:lnTo>
                  <a:lnTo>
                    <a:pt x="1170939" y="9372"/>
                  </a:lnTo>
                  <a:lnTo>
                    <a:pt x="1203390" y="9372"/>
                  </a:lnTo>
                  <a:lnTo>
                    <a:pt x="1191119" y="3077"/>
                  </a:lnTo>
                  <a:lnTo>
                    <a:pt x="1170939"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80" name="object 198"/>
            <p:cNvSpPr/>
            <p:nvPr/>
          </p:nvSpPr>
          <p:spPr bwMode="auto">
            <a:xfrm>
              <a:off x="2670048" y="5711571"/>
              <a:ext cx="916782" cy="57150"/>
            </a:xfrm>
            <a:custGeom>
              <a:avLst/>
              <a:gdLst>
                <a:gd name="T0" fmla="*/ 10273 w 1222375"/>
                <a:gd name="T1" fmla="*/ 4342 h 76200"/>
                <a:gd name="T2" fmla="*/ 69041 w 1222375"/>
                <a:gd name="T3" fmla="*/ 4342 h 76200"/>
                <a:gd name="T4" fmla="*/ 99218 w 1222375"/>
                <a:gd name="T5" fmla="*/ 4342 h 76200"/>
                <a:gd name="T6" fmla="*/ 110337 w 1222375"/>
                <a:gd name="T7" fmla="*/ 4342 h 76200"/>
                <a:gd name="T8" fmla="*/ 111925 w 1222375"/>
                <a:gd name="T9" fmla="*/ 4342 h 76200"/>
                <a:gd name="T10" fmla="*/ 112503 w 1222375"/>
                <a:gd name="T11" fmla="*/ 5648 h 76200"/>
                <a:gd name="T12" fmla="*/ 113670 w 1222375"/>
                <a:gd name="T13" fmla="*/ 6690 h 76200"/>
                <a:gd name="T14" fmla="*/ 115289 w 1222375"/>
                <a:gd name="T15" fmla="*/ 7379 h 76200"/>
                <a:gd name="T16" fmla="*/ 117227 w 1222375"/>
                <a:gd name="T17" fmla="*/ 7629 h 76200"/>
                <a:gd name="T18" fmla="*/ 119247 w 1222375"/>
                <a:gd name="T19" fmla="*/ 7323 h 76200"/>
                <a:gd name="T20" fmla="*/ 120878 w 1222375"/>
                <a:gd name="T21" fmla="*/ 6500 h 76200"/>
                <a:gd name="T22" fmla="*/ 121967 w 1222375"/>
                <a:gd name="T23" fmla="*/ 5302 h 76200"/>
                <a:gd name="T24" fmla="*/ 122363 w 1222375"/>
                <a:gd name="T25" fmla="*/ 3873 h 76200"/>
                <a:gd name="T26" fmla="*/ 121967 w 1222375"/>
                <a:gd name="T27" fmla="*/ 2378 h 76200"/>
                <a:gd name="T28" fmla="*/ 120878 w 1222375"/>
                <a:gd name="T29" fmla="*/ 1145 h 76200"/>
                <a:gd name="T30" fmla="*/ 119247 w 1222375"/>
                <a:gd name="T31" fmla="*/ 308 h 76200"/>
                <a:gd name="T32" fmla="*/ 117227 w 1222375"/>
                <a:gd name="T33" fmla="*/ 0 h 76200"/>
                <a:gd name="T34" fmla="*/ 115289 w 1222375"/>
                <a:gd name="T35" fmla="*/ 249 h 76200"/>
                <a:gd name="T36" fmla="*/ 113670 w 1222375"/>
                <a:gd name="T37" fmla="*/ 940 h 76200"/>
                <a:gd name="T38" fmla="*/ 112503 w 1222375"/>
                <a:gd name="T39" fmla="*/ 1982 h 76200"/>
                <a:gd name="T40" fmla="*/ 111925 w 1222375"/>
                <a:gd name="T41" fmla="*/ 3287 h 76200"/>
                <a:gd name="T42" fmla="*/ 53158 w 1222375"/>
                <a:gd name="T43" fmla="*/ 3287 h 76200"/>
                <a:gd name="T44" fmla="*/ 22980 w 1222375"/>
                <a:gd name="T45" fmla="*/ 3287 h 76200"/>
                <a:gd name="T46" fmla="*/ 11862 w 1222375"/>
                <a:gd name="T47" fmla="*/ 3287 h 76200"/>
                <a:gd name="T48" fmla="*/ 10273 w 1222375"/>
                <a:gd name="T49" fmla="*/ 3287 h 76200"/>
                <a:gd name="T50" fmla="*/ 9722 w 1222375"/>
                <a:gd name="T51" fmla="*/ 1982 h 76200"/>
                <a:gd name="T52" fmla="*/ 8611 w 1222375"/>
                <a:gd name="T53" fmla="*/ 940 h 76200"/>
                <a:gd name="T54" fmla="*/ 7049 w 1222375"/>
                <a:gd name="T55" fmla="*/ 249 h 76200"/>
                <a:gd name="T56" fmla="*/ 5137 w 1222375"/>
                <a:gd name="T57" fmla="*/ 0 h 76200"/>
                <a:gd name="T58" fmla="*/ 3117 w 1222375"/>
                <a:gd name="T59" fmla="*/ 308 h 76200"/>
                <a:gd name="T60" fmla="*/ 1487 w 1222375"/>
                <a:gd name="T61" fmla="*/ 1145 h 76200"/>
                <a:gd name="T62" fmla="*/ 398 w 1222375"/>
                <a:gd name="T63" fmla="*/ 2378 h 76200"/>
                <a:gd name="T64" fmla="*/ 0 w 1222375"/>
                <a:gd name="T65" fmla="*/ 3873 h 76200"/>
                <a:gd name="T66" fmla="*/ 398 w 1222375"/>
                <a:gd name="T67" fmla="*/ 5302 h 76200"/>
                <a:gd name="T68" fmla="*/ 1487 w 1222375"/>
                <a:gd name="T69" fmla="*/ 6500 h 76200"/>
                <a:gd name="T70" fmla="*/ 3117 w 1222375"/>
                <a:gd name="T71" fmla="*/ 7323 h 76200"/>
                <a:gd name="T72" fmla="*/ 5137 w 1222375"/>
                <a:gd name="T73" fmla="*/ 7629 h 76200"/>
                <a:gd name="T74" fmla="*/ 7049 w 1222375"/>
                <a:gd name="T75" fmla="*/ 7379 h 76200"/>
                <a:gd name="T76" fmla="*/ 8611 w 1222375"/>
                <a:gd name="T77" fmla="*/ 6690 h 76200"/>
                <a:gd name="T78" fmla="*/ 9722 w 1222375"/>
                <a:gd name="T79" fmla="*/ 5648 h 76200"/>
                <a:gd name="T80" fmla="*/ 10273 w 1222375"/>
                <a:gd name="T81" fmla="*/ 4342 h 7620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22375" h="76200">
                  <a:moveTo>
                    <a:pt x="102615" y="43370"/>
                  </a:moveTo>
                  <a:lnTo>
                    <a:pt x="689623" y="43370"/>
                  </a:lnTo>
                  <a:lnTo>
                    <a:pt x="991060" y="43370"/>
                  </a:lnTo>
                  <a:lnTo>
                    <a:pt x="1102115" y="43370"/>
                  </a:lnTo>
                  <a:lnTo>
                    <a:pt x="1117981" y="43370"/>
                  </a:lnTo>
                  <a:lnTo>
                    <a:pt x="1123755" y="56413"/>
                  </a:lnTo>
                  <a:lnTo>
                    <a:pt x="1135411" y="66819"/>
                  </a:lnTo>
                  <a:lnTo>
                    <a:pt x="1151592" y="73708"/>
                  </a:lnTo>
                  <a:lnTo>
                    <a:pt x="1170939" y="76200"/>
                  </a:lnTo>
                  <a:lnTo>
                    <a:pt x="1191119" y="73140"/>
                  </a:lnTo>
                  <a:lnTo>
                    <a:pt x="1207404" y="64914"/>
                  </a:lnTo>
                  <a:lnTo>
                    <a:pt x="1218285" y="52952"/>
                  </a:lnTo>
                  <a:lnTo>
                    <a:pt x="1222248" y="38684"/>
                  </a:lnTo>
                  <a:lnTo>
                    <a:pt x="1218285" y="23740"/>
                  </a:lnTo>
                  <a:lnTo>
                    <a:pt x="1207404" y="11431"/>
                  </a:lnTo>
                  <a:lnTo>
                    <a:pt x="1191119" y="3077"/>
                  </a:lnTo>
                  <a:lnTo>
                    <a:pt x="1170939" y="0"/>
                  </a:lnTo>
                  <a:lnTo>
                    <a:pt x="1151592" y="2491"/>
                  </a:lnTo>
                  <a:lnTo>
                    <a:pt x="1135411" y="9380"/>
                  </a:lnTo>
                  <a:lnTo>
                    <a:pt x="1123755" y="19786"/>
                  </a:lnTo>
                  <a:lnTo>
                    <a:pt x="1117981" y="32829"/>
                  </a:lnTo>
                  <a:lnTo>
                    <a:pt x="530973" y="32829"/>
                  </a:lnTo>
                  <a:lnTo>
                    <a:pt x="229536" y="32829"/>
                  </a:lnTo>
                  <a:lnTo>
                    <a:pt x="118481" y="32829"/>
                  </a:lnTo>
                  <a:lnTo>
                    <a:pt x="102615" y="32829"/>
                  </a:lnTo>
                  <a:lnTo>
                    <a:pt x="97099" y="19786"/>
                  </a:lnTo>
                  <a:lnTo>
                    <a:pt x="86010" y="9380"/>
                  </a:lnTo>
                  <a:lnTo>
                    <a:pt x="70397" y="2491"/>
                  </a:lnTo>
                  <a:lnTo>
                    <a:pt x="51308" y="0"/>
                  </a:lnTo>
                  <a:lnTo>
                    <a:pt x="31128" y="3077"/>
                  </a:lnTo>
                  <a:lnTo>
                    <a:pt x="14843" y="11431"/>
                  </a:lnTo>
                  <a:lnTo>
                    <a:pt x="3962" y="23740"/>
                  </a:lnTo>
                  <a:lnTo>
                    <a:pt x="0" y="38684"/>
                  </a:lnTo>
                  <a:lnTo>
                    <a:pt x="3962" y="52952"/>
                  </a:lnTo>
                  <a:lnTo>
                    <a:pt x="14843" y="64914"/>
                  </a:lnTo>
                  <a:lnTo>
                    <a:pt x="31128" y="73140"/>
                  </a:lnTo>
                  <a:lnTo>
                    <a:pt x="51308" y="76200"/>
                  </a:lnTo>
                  <a:lnTo>
                    <a:pt x="70397" y="73708"/>
                  </a:lnTo>
                  <a:lnTo>
                    <a:pt x="86010" y="66819"/>
                  </a:lnTo>
                  <a:lnTo>
                    <a:pt x="97099" y="56413"/>
                  </a:lnTo>
                  <a:lnTo>
                    <a:pt x="102615" y="4337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81" name="object 199"/>
            <p:cNvSpPr/>
            <p:nvPr/>
          </p:nvSpPr>
          <p:spPr bwMode="auto">
            <a:xfrm>
              <a:off x="3519391" y="5718601"/>
              <a:ext cx="58102" cy="43338"/>
            </a:xfrm>
            <a:custGeom>
              <a:avLst/>
              <a:gdLst>
                <a:gd name="T0" fmla="*/ 3852 w 77470"/>
                <a:gd name="T1" fmla="*/ 0 h 57784"/>
                <a:gd name="T2" fmla="*/ 5333 w 77470"/>
                <a:gd name="T3" fmla="*/ 227 h 57784"/>
                <a:gd name="T4" fmla="*/ 6559 w 77470"/>
                <a:gd name="T5" fmla="*/ 852 h 57784"/>
                <a:gd name="T6" fmla="*/ 7396 w 77470"/>
                <a:gd name="T7" fmla="*/ 1784 h 57784"/>
                <a:gd name="T8" fmla="*/ 7704 w 77470"/>
                <a:gd name="T9" fmla="*/ 2935 h 57784"/>
                <a:gd name="T10" fmla="*/ 7396 w 77470"/>
                <a:gd name="T11" fmla="*/ 4019 h 57784"/>
                <a:gd name="T12" fmla="*/ 6559 w 77470"/>
                <a:gd name="T13" fmla="*/ 4916 h 57784"/>
                <a:gd name="T14" fmla="*/ 5333 w 77470"/>
                <a:gd name="T15" fmla="*/ 5527 h 57784"/>
                <a:gd name="T16" fmla="*/ 3852 w 77470"/>
                <a:gd name="T17" fmla="*/ 5753 h 57784"/>
                <a:gd name="T18" fmla="*/ 2301 w 77470"/>
                <a:gd name="T19" fmla="*/ 5527 h 57784"/>
                <a:gd name="T20" fmla="*/ 1082 w 77470"/>
                <a:gd name="T21" fmla="*/ 4916 h 57784"/>
                <a:gd name="T22" fmla="*/ 285 w 77470"/>
                <a:gd name="T23" fmla="*/ 4019 h 57784"/>
                <a:gd name="T24" fmla="*/ 0 w 77470"/>
                <a:gd name="T25" fmla="*/ 2935 h 57784"/>
                <a:gd name="T26" fmla="*/ 285 w 77470"/>
                <a:gd name="T27" fmla="*/ 1784 h 57784"/>
                <a:gd name="T28" fmla="*/ 1082 w 77470"/>
                <a:gd name="T29" fmla="*/ 852 h 57784"/>
                <a:gd name="T30" fmla="*/ 2301 w 77470"/>
                <a:gd name="T31" fmla="*/ 227 h 57784"/>
                <a:gd name="T32" fmla="*/ 3852 w 77470"/>
                <a:gd name="T33" fmla="*/ 0 h 577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7784">
                  <a:moveTo>
                    <a:pt x="38480" y="0"/>
                  </a:moveTo>
                  <a:lnTo>
                    <a:pt x="53280" y="2272"/>
                  </a:lnTo>
                  <a:lnTo>
                    <a:pt x="65532" y="8502"/>
                  </a:lnTo>
                  <a:lnTo>
                    <a:pt x="73878" y="17809"/>
                  </a:lnTo>
                  <a:lnTo>
                    <a:pt x="76962" y="29311"/>
                  </a:lnTo>
                  <a:lnTo>
                    <a:pt x="73878" y="40138"/>
                  </a:lnTo>
                  <a:lnTo>
                    <a:pt x="65531" y="49098"/>
                  </a:lnTo>
                  <a:lnTo>
                    <a:pt x="53280" y="55200"/>
                  </a:lnTo>
                  <a:lnTo>
                    <a:pt x="38480" y="57454"/>
                  </a:lnTo>
                  <a:lnTo>
                    <a:pt x="22985" y="55200"/>
                  </a:lnTo>
                  <a:lnTo>
                    <a:pt x="10810" y="49098"/>
                  </a:lnTo>
                  <a:lnTo>
                    <a:pt x="2851" y="40138"/>
                  </a:lnTo>
                  <a:lnTo>
                    <a:pt x="0" y="29311"/>
                  </a:lnTo>
                  <a:lnTo>
                    <a:pt x="2851" y="17809"/>
                  </a:lnTo>
                  <a:lnTo>
                    <a:pt x="10810" y="8502"/>
                  </a:lnTo>
                  <a:lnTo>
                    <a:pt x="22985" y="2272"/>
                  </a:lnTo>
                  <a:lnTo>
                    <a:pt x="3848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82" name="object 200"/>
            <p:cNvSpPr/>
            <p:nvPr/>
          </p:nvSpPr>
          <p:spPr bwMode="auto">
            <a:xfrm>
              <a:off x="2679667" y="5718601"/>
              <a:ext cx="58102" cy="43338"/>
            </a:xfrm>
            <a:custGeom>
              <a:avLst/>
              <a:gdLst>
                <a:gd name="T0" fmla="*/ 0 w 77470"/>
                <a:gd name="T1" fmla="*/ 2935 h 57784"/>
                <a:gd name="T2" fmla="*/ 308 w 77470"/>
                <a:gd name="T3" fmla="*/ 1784 h 57784"/>
                <a:gd name="T4" fmla="*/ 1144 w 77470"/>
                <a:gd name="T5" fmla="*/ 852 h 57784"/>
                <a:gd name="T6" fmla="*/ 2371 w 77470"/>
                <a:gd name="T7" fmla="*/ 227 h 57784"/>
                <a:gd name="T8" fmla="*/ 3852 w 77470"/>
                <a:gd name="T9" fmla="*/ 0 h 57784"/>
                <a:gd name="T10" fmla="*/ 5333 w 77470"/>
                <a:gd name="T11" fmla="*/ 227 h 57784"/>
                <a:gd name="T12" fmla="*/ 6559 w 77470"/>
                <a:gd name="T13" fmla="*/ 852 h 57784"/>
                <a:gd name="T14" fmla="*/ 7396 w 77470"/>
                <a:gd name="T15" fmla="*/ 1784 h 57784"/>
                <a:gd name="T16" fmla="*/ 7704 w 77470"/>
                <a:gd name="T17" fmla="*/ 2935 h 57784"/>
                <a:gd name="T18" fmla="*/ 7396 w 77470"/>
                <a:gd name="T19" fmla="*/ 4019 h 57784"/>
                <a:gd name="T20" fmla="*/ 6559 w 77470"/>
                <a:gd name="T21" fmla="*/ 4916 h 57784"/>
                <a:gd name="T22" fmla="*/ 5333 w 77470"/>
                <a:gd name="T23" fmla="*/ 5527 h 57784"/>
                <a:gd name="T24" fmla="*/ 3852 w 77470"/>
                <a:gd name="T25" fmla="*/ 5753 h 57784"/>
                <a:gd name="T26" fmla="*/ 2371 w 77470"/>
                <a:gd name="T27" fmla="*/ 5527 h 57784"/>
                <a:gd name="T28" fmla="*/ 1144 w 77470"/>
                <a:gd name="T29" fmla="*/ 4916 h 57784"/>
                <a:gd name="T30" fmla="*/ 308 w 77470"/>
                <a:gd name="T31" fmla="*/ 4019 h 57784"/>
                <a:gd name="T32" fmla="*/ 0 w 77470"/>
                <a:gd name="T33" fmla="*/ 2935 h 577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7784">
                  <a:moveTo>
                    <a:pt x="0" y="29311"/>
                  </a:moveTo>
                  <a:lnTo>
                    <a:pt x="3083" y="17809"/>
                  </a:lnTo>
                  <a:lnTo>
                    <a:pt x="11430" y="8502"/>
                  </a:lnTo>
                  <a:lnTo>
                    <a:pt x="23681" y="2272"/>
                  </a:lnTo>
                  <a:lnTo>
                    <a:pt x="38481" y="0"/>
                  </a:lnTo>
                  <a:lnTo>
                    <a:pt x="53280" y="2272"/>
                  </a:lnTo>
                  <a:lnTo>
                    <a:pt x="65531" y="8502"/>
                  </a:lnTo>
                  <a:lnTo>
                    <a:pt x="73878" y="17809"/>
                  </a:lnTo>
                  <a:lnTo>
                    <a:pt x="76962" y="29311"/>
                  </a:lnTo>
                  <a:lnTo>
                    <a:pt x="73878" y="40138"/>
                  </a:lnTo>
                  <a:lnTo>
                    <a:pt x="65531" y="49098"/>
                  </a:lnTo>
                  <a:lnTo>
                    <a:pt x="53280" y="55200"/>
                  </a:lnTo>
                  <a:lnTo>
                    <a:pt x="38481" y="57454"/>
                  </a:lnTo>
                  <a:lnTo>
                    <a:pt x="23681" y="55200"/>
                  </a:lnTo>
                  <a:lnTo>
                    <a:pt x="11429" y="49098"/>
                  </a:lnTo>
                  <a:lnTo>
                    <a:pt x="3083" y="40138"/>
                  </a:lnTo>
                  <a:lnTo>
                    <a:pt x="0" y="2931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83" name="object 201"/>
            <p:cNvSpPr/>
            <p:nvPr/>
          </p:nvSpPr>
          <p:spPr bwMode="auto">
            <a:xfrm>
              <a:off x="7492365" y="5711571"/>
              <a:ext cx="1651635" cy="57150"/>
            </a:xfrm>
            <a:custGeom>
              <a:avLst/>
              <a:gdLst>
                <a:gd name="T0" fmla="*/ 5289 w 2202179"/>
                <a:gd name="T1" fmla="*/ 0 h 76200"/>
                <a:gd name="T2" fmla="*/ 3245 w 2202179"/>
                <a:gd name="T3" fmla="*/ 290 h 76200"/>
                <a:gd name="T4" fmla="*/ 1563 w 2202179"/>
                <a:gd name="T5" fmla="*/ 1086 h 76200"/>
                <a:gd name="T6" fmla="*/ 421 w 2202179"/>
                <a:gd name="T7" fmla="*/ 2278 h 76200"/>
                <a:gd name="T8" fmla="*/ 0 w 2202179"/>
                <a:gd name="T9" fmla="*/ 3756 h 76200"/>
                <a:gd name="T10" fmla="*/ 421 w 2202179"/>
                <a:gd name="T11" fmla="*/ 5252 h 76200"/>
                <a:gd name="T12" fmla="*/ 1563 w 2202179"/>
                <a:gd name="T13" fmla="*/ 6485 h 76200"/>
                <a:gd name="T14" fmla="*/ 3245 w 2202179"/>
                <a:gd name="T15" fmla="*/ 7321 h 76200"/>
                <a:gd name="T16" fmla="*/ 5289 w 2202179"/>
                <a:gd name="T17" fmla="*/ 7629 h 76200"/>
                <a:gd name="T18" fmla="*/ 7130 w 2202179"/>
                <a:gd name="T19" fmla="*/ 7361 h 76200"/>
                <a:gd name="T20" fmla="*/ 8697 w 2202179"/>
                <a:gd name="T21" fmla="*/ 6632 h 76200"/>
                <a:gd name="T22" fmla="*/ 8759 w 2202179"/>
                <a:gd name="T23" fmla="*/ 6572 h 76200"/>
                <a:gd name="T24" fmla="*/ 5289 w 2202179"/>
                <a:gd name="T25" fmla="*/ 6572 h 76200"/>
                <a:gd name="T26" fmla="*/ 3743 w 2202179"/>
                <a:gd name="T27" fmla="*/ 6363 h 76200"/>
                <a:gd name="T28" fmla="*/ 2524 w 2202179"/>
                <a:gd name="T29" fmla="*/ 5780 h 76200"/>
                <a:gd name="T30" fmla="*/ 1724 w 2202179"/>
                <a:gd name="T31" fmla="*/ 4889 h 76200"/>
                <a:gd name="T32" fmla="*/ 1437 w 2202179"/>
                <a:gd name="T33" fmla="*/ 3756 h 76200"/>
                <a:gd name="T34" fmla="*/ 1724 w 2202179"/>
                <a:gd name="T35" fmla="*/ 2672 h 76200"/>
                <a:gd name="T36" fmla="*/ 2524 w 2202179"/>
                <a:gd name="T37" fmla="*/ 1775 h 76200"/>
                <a:gd name="T38" fmla="*/ 3743 w 2202179"/>
                <a:gd name="T39" fmla="*/ 1164 h 76200"/>
                <a:gd name="T40" fmla="*/ 5289 w 2202179"/>
                <a:gd name="T41" fmla="*/ 939 h 76200"/>
                <a:gd name="T42" fmla="*/ 8696 w 2202179"/>
                <a:gd name="T43" fmla="*/ 939 h 76200"/>
                <a:gd name="T44" fmla="*/ 7130 w 2202179"/>
                <a:gd name="T45" fmla="*/ 249 h 76200"/>
                <a:gd name="T46" fmla="*/ 5289 w 2202179"/>
                <a:gd name="T47" fmla="*/ 0 h 76200"/>
                <a:gd name="T48" fmla="*/ 8696 w 2202179"/>
                <a:gd name="T49" fmla="*/ 939 h 76200"/>
                <a:gd name="T50" fmla="*/ 5289 w 2202179"/>
                <a:gd name="T51" fmla="*/ 939 h 76200"/>
                <a:gd name="T52" fmla="*/ 6771 w 2202179"/>
                <a:gd name="T53" fmla="*/ 1164 h 76200"/>
                <a:gd name="T54" fmla="*/ 7998 w 2202179"/>
                <a:gd name="T55" fmla="*/ 1775 h 76200"/>
                <a:gd name="T56" fmla="*/ 8834 w 2202179"/>
                <a:gd name="T57" fmla="*/ 2672 h 76200"/>
                <a:gd name="T58" fmla="*/ 9142 w 2202179"/>
                <a:gd name="T59" fmla="*/ 3756 h 76200"/>
                <a:gd name="T60" fmla="*/ 8834 w 2202179"/>
                <a:gd name="T61" fmla="*/ 4889 h 76200"/>
                <a:gd name="T62" fmla="*/ 7998 w 2202179"/>
                <a:gd name="T63" fmla="*/ 5780 h 76200"/>
                <a:gd name="T64" fmla="*/ 6771 w 2202179"/>
                <a:gd name="T65" fmla="*/ 6363 h 76200"/>
                <a:gd name="T66" fmla="*/ 5289 w 2202179"/>
                <a:gd name="T67" fmla="*/ 6572 h 76200"/>
                <a:gd name="T68" fmla="*/ 8759 w 2202179"/>
                <a:gd name="T69" fmla="*/ 6572 h 76200"/>
                <a:gd name="T70" fmla="*/ 9845 w 2202179"/>
                <a:gd name="T71" fmla="*/ 5550 h 76200"/>
                <a:gd name="T72" fmla="*/ 10426 w 2202179"/>
                <a:gd name="T73" fmla="*/ 4225 h 76200"/>
                <a:gd name="T74" fmla="*/ 220468 w 2202179"/>
                <a:gd name="T75" fmla="*/ 4225 h 76200"/>
                <a:gd name="T76" fmla="*/ 220468 w 2202179"/>
                <a:gd name="T77" fmla="*/ 3287 h 76200"/>
                <a:gd name="T78" fmla="*/ 10426 w 2202179"/>
                <a:gd name="T79" fmla="*/ 3287 h 76200"/>
                <a:gd name="T80" fmla="*/ 9845 w 2202179"/>
                <a:gd name="T81" fmla="*/ 1982 h 76200"/>
                <a:gd name="T82" fmla="*/ 8696 w 2202179"/>
                <a:gd name="T83" fmla="*/ 939 h 762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202179" h="76200">
                  <a:moveTo>
                    <a:pt x="52831" y="0"/>
                  </a:moveTo>
                  <a:lnTo>
                    <a:pt x="32414" y="2893"/>
                  </a:lnTo>
                  <a:lnTo>
                    <a:pt x="15605" y="10842"/>
                  </a:lnTo>
                  <a:lnTo>
                    <a:pt x="4200" y="22749"/>
                  </a:lnTo>
                  <a:lnTo>
                    <a:pt x="0" y="37515"/>
                  </a:lnTo>
                  <a:lnTo>
                    <a:pt x="4200" y="52459"/>
                  </a:lnTo>
                  <a:lnTo>
                    <a:pt x="15605" y="64768"/>
                  </a:lnTo>
                  <a:lnTo>
                    <a:pt x="32414" y="73122"/>
                  </a:lnTo>
                  <a:lnTo>
                    <a:pt x="52831" y="76200"/>
                  </a:lnTo>
                  <a:lnTo>
                    <a:pt x="71207" y="73525"/>
                  </a:lnTo>
                  <a:lnTo>
                    <a:pt x="86867" y="66235"/>
                  </a:lnTo>
                  <a:lnTo>
                    <a:pt x="87493" y="65646"/>
                  </a:lnTo>
                  <a:lnTo>
                    <a:pt x="52831" y="65646"/>
                  </a:lnTo>
                  <a:lnTo>
                    <a:pt x="37389" y="63558"/>
                  </a:lnTo>
                  <a:lnTo>
                    <a:pt x="25209" y="57734"/>
                  </a:lnTo>
                  <a:lnTo>
                    <a:pt x="17220" y="48833"/>
                  </a:lnTo>
                  <a:lnTo>
                    <a:pt x="14350" y="37515"/>
                  </a:lnTo>
                  <a:lnTo>
                    <a:pt x="17220" y="26689"/>
                  </a:lnTo>
                  <a:lnTo>
                    <a:pt x="25209" y="17729"/>
                  </a:lnTo>
                  <a:lnTo>
                    <a:pt x="37389" y="11626"/>
                  </a:lnTo>
                  <a:lnTo>
                    <a:pt x="52831" y="9372"/>
                  </a:lnTo>
                  <a:lnTo>
                    <a:pt x="86849" y="9372"/>
                  </a:lnTo>
                  <a:lnTo>
                    <a:pt x="71207" y="2491"/>
                  </a:lnTo>
                  <a:lnTo>
                    <a:pt x="52831" y="0"/>
                  </a:lnTo>
                  <a:close/>
                </a:path>
                <a:path w="2202179" h="76200">
                  <a:moveTo>
                    <a:pt x="86849" y="9372"/>
                  </a:moveTo>
                  <a:lnTo>
                    <a:pt x="52831" y="9372"/>
                  </a:lnTo>
                  <a:lnTo>
                    <a:pt x="67631" y="11626"/>
                  </a:lnTo>
                  <a:lnTo>
                    <a:pt x="79882" y="17729"/>
                  </a:lnTo>
                  <a:lnTo>
                    <a:pt x="88229" y="26689"/>
                  </a:lnTo>
                  <a:lnTo>
                    <a:pt x="91312" y="37515"/>
                  </a:lnTo>
                  <a:lnTo>
                    <a:pt x="88229" y="48833"/>
                  </a:lnTo>
                  <a:lnTo>
                    <a:pt x="79882" y="57734"/>
                  </a:lnTo>
                  <a:lnTo>
                    <a:pt x="67631" y="63558"/>
                  </a:lnTo>
                  <a:lnTo>
                    <a:pt x="52831" y="65646"/>
                  </a:lnTo>
                  <a:lnTo>
                    <a:pt x="87493" y="65646"/>
                  </a:lnTo>
                  <a:lnTo>
                    <a:pt x="98337" y="55427"/>
                  </a:lnTo>
                  <a:lnTo>
                    <a:pt x="104139" y="42202"/>
                  </a:lnTo>
                  <a:lnTo>
                    <a:pt x="2202179" y="42202"/>
                  </a:lnTo>
                  <a:lnTo>
                    <a:pt x="2202179" y="32829"/>
                  </a:lnTo>
                  <a:lnTo>
                    <a:pt x="104139" y="32829"/>
                  </a:lnTo>
                  <a:lnTo>
                    <a:pt x="98337" y="19786"/>
                  </a:lnTo>
                  <a:lnTo>
                    <a:pt x="86849" y="937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84" name="object 202"/>
            <p:cNvSpPr/>
            <p:nvPr/>
          </p:nvSpPr>
          <p:spPr bwMode="auto">
            <a:xfrm>
              <a:off x="7492365" y="5711571"/>
              <a:ext cx="1651635" cy="57150"/>
            </a:xfrm>
            <a:custGeom>
              <a:avLst/>
              <a:gdLst>
                <a:gd name="T0" fmla="*/ 220468 w 2202179"/>
                <a:gd name="T1" fmla="*/ 3287 h 76200"/>
                <a:gd name="T2" fmla="*/ 133586 w 2202179"/>
                <a:gd name="T3" fmla="*/ 3287 h 76200"/>
                <a:gd name="T4" fmla="*/ 46918 w 2202179"/>
                <a:gd name="T5" fmla="*/ 3287 h 76200"/>
                <a:gd name="T6" fmla="*/ 14987 w 2202179"/>
                <a:gd name="T7" fmla="*/ 3287 h 76200"/>
                <a:gd name="T8" fmla="*/ 10426 w 2202179"/>
                <a:gd name="T9" fmla="*/ 3287 h 76200"/>
                <a:gd name="T10" fmla="*/ 9845 w 2202179"/>
                <a:gd name="T11" fmla="*/ 1982 h 76200"/>
                <a:gd name="T12" fmla="*/ 8697 w 2202179"/>
                <a:gd name="T13" fmla="*/ 940 h 76200"/>
                <a:gd name="T14" fmla="*/ 7130 w 2202179"/>
                <a:gd name="T15" fmla="*/ 249 h 76200"/>
                <a:gd name="T16" fmla="*/ 5289 w 2202179"/>
                <a:gd name="T17" fmla="*/ 0 h 76200"/>
                <a:gd name="T18" fmla="*/ 3245 w 2202179"/>
                <a:gd name="T19" fmla="*/ 290 h 76200"/>
                <a:gd name="T20" fmla="*/ 1563 w 2202179"/>
                <a:gd name="T21" fmla="*/ 1086 h 76200"/>
                <a:gd name="T22" fmla="*/ 421 w 2202179"/>
                <a:gd name="T23" fmla="*/ 2278 h 76200"/>
                <a:gd name="T24" fmla="*/ 0 w 2202179"/>
                <a:gd name="T25" fmla="*/ 3756 h 76200"/>
                <a:gd name="T26" fmla="*/ 421 w 2202179"/>
                <a:gd name="T27" fmla="*/ 5252 h 76200"/>
                <a:gd name="T28" fmla="*/ 1563 w 2202179"/>
                <a:gd name="T29" fmla="*/ 6485 h 76200"/>
                <a:gd name="T30" fmla="*/ 3245 w 2202179"/>
                <a:gd name="T31" fmla="*/ 7321 h 76200"/>
                <a:gd name="T32" fmla="*/ 5289 w 2202179"/>
                <a:gd name="T33" fmla="*/ 7629 h 76200"/>
                <a:gd name="T34" fmla="*/ 7130 w 2202179"/>
                <a:gd name="T35" fmla="*/ 7361 h 76200"/>
                <a:gd name="T36" fmla="*/ 8697 w 2202179"/>
                <a:gd name="T37" fmla="*/ 6632 h 76200"/>
                <a:gd name="T38" fmla="*/ 9845 w 2202179"/>
                <a:gd name="T39" fmla="*/ 5550 h 76200"/>
                <a:gd name="T40" fmla="*/ 10426 w 2202179"/>
                <a:gd name="T41" fmla="*/ 4225 h 76200"/>
                <a:gd name="T42" fmla="*/ 179201 w 2202179"/>
                <a:gd name="T43" fmla="*/ 4225 h 76200"/>
                <a:gd name="T44" fmla="*/ 220468 w 2202179"/>
                <a:gd name="T45" fmla="*/ 4225 h 762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202179" h="76200">
                  <a:moveTo>
                    <a:pt x="2202179" y="32829"/>
                  </a:moveTo>
                  <a:lnTo>
                    <a:pt x="1334347" y="32829"/>
                  </a:lnTo>
                  <a:lnTo>
                    <a:pt x="468645" y="32829"/>
                  </a:lnTo>
                  <a:lnTo>
                    <a:pt x="149703" y="32829"/>
                  </a:lnTo>
                  <a:lnTo>
                    <a:pt x="104139" y="32829"/>
                  </a:lnTo>
                  <a:lnTo>
                    <a:pt x="98337" y="19786"/>
                  </a:lnTo>
                  <a:lnTo>
                    <a:pt x="86867" y="9380"/>
                  </a:lnTo>
                  <a:lnTo>
                    <a:pt x="71207" y="2491"/>
                  </a:lnTo>
                  <a:lnTo>
                    <a:pt x="52831" y="0"/>
                  </a:lnTo>
                  <a:lnTo>
                    <a:pt x="32414" y="2893"/>
                  </a:lnTo>
                  <a:lnTo>
                    <a:pt x="15605" y="10842"/>
                  </a:lnTo>
                  <a:lnTo>
                    <a:pt x="4200" y="22749"/>
                  </a:lnTo>
                  <a:lnTo>
                    <a:pt x="0" y="37515"/>
                  </a:lnTo>
                  <a:lnTo>
                    <a:pt x="4200" y="52459"/>
                  </a:lnTo>
                  <a:lnTo>
                    <a:pt x="15605" y="64768"/>
                  </a:lnTo>
                  <a:lnTo>
                    <a:pt x="32414" y="73122"/>
                  </a:lnTo>
                  <a:lnTo>
                    <a:pt x="52831" y="76200"/>
                  </a:lnTo>
                  <a:lnTo>
                    <a:pt x="71207" y="73525"/>
                  </a:lnTo>
                  <a:lnTo>
                    <a:pt x="86867" y="66235"/>
                  </a:lnTo>
                  <a:lnTo>
                    <a:pt x="98337" y="55427"/>
                  </a:lnTo>
                  <a:lnTo>
                    <a:pt x="104139" y="42202"/>
                  </a:lnTo>
                  <a:lnTo>
                    <a:pt x="1789979" y="42202"/>
                  </a:lnTo>
                  <a:lnTo>
                    <a:pt x="2202179" y="42202"/>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85" name="object 203"/>
            <p:cNvSpPr/>
            <p:nvPr/>
          </p:nvSpPr>
          <p:spPr bwMode="auto">
            <a:xfrm>
              <a:off x="7503127" y="5718601"/>
              <a:ext cx="58102" cy="42386"/>
            </a:xfrm>
            <a:custGeom>
              <a:avLst/>
              <a:gdLst>
                <a:gd name="T0" fmla="*/ 3852 w 77470"/>
                <a:gd name="T1" fmla="*/ 5633 h 56515"/>
                <a:gd name="T2" fmla="*/ 2305 w 77470"/>
                <a:gd name="T3" fmla="*/ 5424 h 56515"/>
                <a:gd name="T4" fmla="*/ 1087 w 77470"/>
                <a:gd name="T5" fmla="*/ 4841 h 56515"/>
                <a:gd name="T6" fmla="*/ 286 w 77470"/>
                <a:gd name="T7" fmla="*/ 3950 h 56515"/>
                <a:gd name="T8" fmla="*/ 0 w 77470"/>
                <a:gd name="T9" fmla="*/ 2817 h 56515"/>
                <a:gd name="T10" fmla="*/ 286 w 77470"/>
                <a:gd name="T11" fmla="*/ 1733 h 56515"/>
                <a:gd name="T12" fmla="*/ 1087 w 77470"/>
                <a:gd name="T13" fmla="*/ 836 h 56515"/>
                <a:gd name="T14" fmla="*/ 2305 w 77470"/>
                <a:gd name="T15" fmla="*/ 225 h 56515"/>
                <a:gd name="T16" fmla="*/ 3852 w 77470"/>
                <a:gd name="T17" fmla="*/ 0 h 56515"/>
                <a:gd name="T18" fmla="*/ 5333 w 77470"/>
                <a:gd name="T19" fmla="*/ 225 h 56515"/>
                <a:gd name="T20" fmla="*/ 6559 w 77470"/>
                <a:gd name="T21" fmla="*/ 836 h 56515"/>
                <a:gd name="T22" fmla="*/ 7396 w 77470"/>
                <a:gd name="T23" fmla="*/ 1733 h 56515"/>
                <a:gd name="T24" fmla="*/ 7704 w 77470"/>
                <a:gd name="T25" fmla="*/ 2817 h 56515"/>
                <a:gd name="T26" fmla="*/ 7396 w 77470"/>
                <a:gd name="T27" fmla="*/ 3950 h 56515"/>
                <a:gd name="T28" fmla="*/ 6559 w 77470"/>
                <a:gd name="T29" fmla="*/ 4841 h 56515"/>
                <a:gd name="T30" fmla="*/ 5333 w 77470"/>
                <a:gd name="T31" fmla="*/ 5424 h 56515"/>
                <a:gd name="T32" fmla="*/ 3852 w 77470"/>
                <a:gd name="T33" fmla="*/ 5633 h 5651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470" h="56515">
                  <a:moveTo>
                    <a:pt x="38480" y="56273"/>
                  </a:moveTo>
                  <a:lnTo>
                    <a:pt x="23038" y="54185"/>
                  </a:lnTo>
                  <a:lnTo>
                    <a:pt x="10858" y="48361"/>
                  </a:lnTo>
                  <a:lnTo>
                    <a:pt x="2869" y="39460"/>
                  </a:lnTo>
                  <a:lnTo>
                    <a:pt x="0" y="28143"/>
                  </a:lnTo>
                  <a:lnTo>
                    <a:pt x="2869" y="17316"/>
                  </a:lnTo>
                  <a:lnTo>
                    <a:pt x="10858" y="8356"/>
                  </a:lnTo>
                  <a:lnTo>
                    <a:pt x="23038" y="2254"/>
                  </a:lnTo>
                  <a:lnTo>
                    <a:pt x="38480" y="0"/>
                  </a:lnTo>
                  <a:lnTo>
                    <a:pt x="53280" y="2254"/>
                  </a:lnTo>
                  <a:lnTo>
                    <a:pt x="65531" y="8356"/>
                  </a:lnTo>
                  <a:lnTo>
                    <a:pt x="73878" y="17316"/>
                  </a:lnTo>
                  <a:lnTo>
                    <a:pt x="76961" y="28143"/>
                  </a:lnTo>
                  <a:lnTo>
                    <a:pt x="73878" y="39460"/>
                  </a:lnTo>
                  <a:lnTo>
                    <a:pt x="65531" y="48361"/>
                  </a:lnTo>
                  <a:lnTo>
                    <a:pt x="53280" y="54185"/>
                  </a:lnTo>
                  <a:lnTo>
                    <a:pt x="38480" y="56273"/>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86" name="object 204"/>
            <p:cNvSpPr/>
            <p:nvPr/>
          </p:nvSpPr>
          <p:spPr bwMode="auto">
            <a:xfrm>
              <a:off x="4389120" y="5311521"/>
              <a:ext cx="324802" cy="0"/>
            </a:xfrm>
            <a:custGeom>
              <a:avLst/>
              <a:gdLst>
                <a:gd name="T0" fmla="*/ 0 w 433070"/>
                <a:gd name="T1" fmla="*/ 43330 w 433070"/>
                <a:gd name="T2" fmla="*/ 0 60000 65536"/>
                <a:gd name="T3" fmla="*/ 0 60000 65536"/>
              </a:gdLst>
              <a:ahLst/>
              <a:cxnLst>
                <a:cxn ang="T2">
                  <a:pos x="T0" y="0"/>
                </a:cxn>
                <a:cxn ang="T3">
                  <a:pos x="T1" y="0"/>
                </a:cxn>
              </a:cxnLst>
              <a:rect l="0" t="0" r="r" b="b"/>
              <a:pathLst>
                <a:path w="433070">
                  <a:moveTo>
                    <a:pt x="0" y="0"/>
                  </a:moveTo>
                  <a:lnTo>
                    <a:pt x="432815" y="0"/>
                  </a:lnTo>
                </a:path>
              </a:pathLst>
            </a:custGeom>
            <a:noFill/>
            <a:ln w="5486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87" name="object 205"/>
            <p:cNvSpPr/>
            <p:nvPr/>
          </p:nvSpPr>
          <p:spPr bwMode="auto">
            <a:xfrm>
              <a:off x="4389120" y="5290947"/>
              <a:ext cx="324802" cy="41433"/>
            </a:xfrm>
            <a:custGeom>
              <a:avLst/>
              <a:gdLst>
                <a:gd name="T0" fmla="*/ 0 w 433070"/>
                <a:gd name="T1" fmla="*/ 5491 h 55245"/>
                <a:gd name="T2" fmla="*/ 43330 w 433070"/>
                <a:gd name="T3" fmla="*/ 5491 h 55245"/>
                <a:gd name="T4" fmla="*/ 43330 w 433070"/>
                <a:gd name="T5" fmla="*/ 0 h 55245"/>
                <a:gd name="T6" fmla="*/ 0 w 433070"/>
                <a:gd name="T7" fmla="*/ 0 h 55245"/>
                <a:gd name="T8" fmla="*/ 0 w 433070"/>
                <a:gd name="T9" fmla="*/ 5491 h 552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3070" h="55245">
                  <a:moveTo>
                    <a:pt x="0" y="54863"/>
                  </a:moveTo>
                  <a:lnTo>
                    <a:pt x="432815" y="54863"/>
                  </a:lnTo>
                  <a:lnTo>
                    <a:pt x="432815" y="0"/>
                  </a:lnTo>
                  <a:lnTo>
                    <a:pt x="0" y="0"/>
                  </a:lnTo>
                  <a:lnTo>
                    <a:pt x="0" y="54863"/>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88" name="object 206"/>
            <p:cNvSpPr/>
            <p:nvPr/>
          </p:nvSpPr>
          <p:spPr bwMode="auto">
            <a:xfrm>
              <a:off x="7194043" y="5311522"/>
              <a:ext cx="144304" cy="234315"/>
            </a:xfrm>
            <a:custGeom>
              <a:avLst/>
              <a:gdLst>
                <a:gd name="T0" fmla="*/ 0 w 192404"/>
                <a:gd name="T1" fmla="*/ 31277 h 312420"/>
                <a:gd name="T2" fmla="*/ 19226 w 192404"/>
                <a:gd name="T3" fmla="*/ 31277 h 312420"/>
                <a:gd name="T4" fmla="*/ 19226 w 192404"/>
                <a:gd name="T5" fmla="*/ 0 h 312420"/>
                <a:gd name="T6" fmla="*/ 0 w 192404"/>
                <a:gd name="T7" fmla="*/ 0 h 312420"/>
                <a:gd name="T8" fmla="*/ 0 w 192404"/>
                <a:gd name="T9" fmla="*/ 31277 h 3124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2404" h="312420">
                  <a:moveTo>
                    <a:pt x="0" y="312420"/>
                  </a:moveTo>
                  <a:lnTo>
                    <a:pt x="192024" y="312420"/>
                  </a:lnTo>
                  <a:lnTo>
                    <a:pt x="192024" y="0"/>
                  </a:lnTo>
                  <a:lnTo>
                    <a:pt x="0" y="0"/>
                  </a:lnTo>
                  <a:lnTo>
                    <a:pt x="0" y="31242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89" name="object 207"/>
            <p:cNvSpPr/>
            <p:nvPr/>
          </p:nvSpPr>
          <p:spPr bwMode="auto">
            <a:xfrm>
              <a:off x="7194043" y="5311522"/>
              <a:ext cx="144304" cy="234315"/>
            </a:xfrm>
            <a:custGeom>
              <a:avLst/>
              <a:gdLst>
                <a:gd name="T0" fmla="*/ 0 w 192404"/>
                <a:gd name="T1" fmla="*/ 31277 h 312420"/>
                <a:gd name="T2" fmla="*/ 19226 w 192404"/>
                <a:gd name="T3" fmla="*/ 31277 h 312420"/>
                <a:gd name="T4" fmla="*/ 19226 w 192404"/>
                <a:gd name="T5" fmla="*/ 0 h 312420"/>
                <a:gd name="T6" fmla="*/ 0 w 192404"/>
                <a:gd name="T7" fmla="*/ 0 h 312420"/>
                <a:gd name="T8" fmla="*/ 0 w 192404"/>
                <a:gd name="T9" fmla="*/ 31277 h 3124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2404" h="312420">
                  <a:moveTo>
                    <a:pt x="0" y="312420"/>
                  </a:moveTo>
                  <a:lnTo>
                    <a:pt x="192024" y="312420"/>
                  </a:lnTo>
                  <a:lnTo>
                    <a:pt x="192024" y="0"/>
                  </a:lnTo>
                  <a:lnTo>
                    <a:pt x="0" y="0"/>
                  </a:lnTo>
                  <a:lnTo>
                    <a:pt x="0" y="31242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0" name="object 208"/>
            <p:cNvSpPr/>
            <p:nvPr/>
          </p:nvSpPr>
          <p:spPr bwMode="auto">
            <a:xfrm>
              <a:off x="7231761" y="5593270"/>
              <a:ext cx="70962" cy="0"/>
            </a:xfrm>
            <a:custGeom>
              <a:avLst/>
              <a:gdLst>
                <a:gd name="T0" fmla="*/ 0 w 94615"/>
                <a:gd name="T1" fmla="*/ 9461 w 94615"/>
                <a:gd name="T2" fmla="*/ 0 60000 65536"/>
                <a:gd name="T3" fmla="*/ 0 60000 65536"/>
              </a:gdLst>
              <a:ahLst/>
              <a:cxnLst>
                <a:cxn ang="T2">
                  <a:pos x="T0" y="0"/>
                </a:cxn>
                <a:cxn ang="T3">
                  <a:pos x="T1" y="0"/>
                </a:cxn>
              </a:cxnLst>
              <a:rect l="0" t="0" r="r" b="b"/>
              <a:pathLst>
                <a:path w="94615">
                  <a:moveTo>
                    <a:pt x="0" y="0"/>
                  </a:moveTo>
                  <a:lnTo>
                    <a:pt x="94488"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1" name="object 209"/>
            <p:cNvSpPr/>
            <p:nvPr/>
          </p:nvSpPr>
          <p:spPr bwMode="auto">
            <a:xfrm>
              <a:off x="7228333" y="5593270"/>
              <a:ext cx="78104" cy="0"/>
            </a:xfrm>
            <a:custGeom>
              <a:avLst/>
              <a:gdLst>
                <a:gd name="T0" fmla="*/ 0 w 104140"/>
                <a:gd name="T1" fmla="*/ 10374 w 104140"/>
                <a:gd name="T2" fmla="*/ 0 60000 65536"/>
                <a:gd name="T3" fmla="*/ 0 60000 65536"/>
              </a:gdLst>
              <a:ahLst/>
              <a:cxnLst>
                <a:cxn ang="T2">
                  <a:pos x="T0" y="0"/>
                </a:cxn>
                <a:cxn ang="T3">
                  <a:pos x="T1" y="0"/>
                </a:cxn>
              </a:cxnLst>
              <a:rect l="0" t="0" r="r" b="b"/>
              <a:pathLst>
                <a:path w="104140">
                  <a:moveTo>
                    <a:pt x="0" y="0"/>
                  </a:moveTo>
                  <a:lnTo>
                    <a:pt x="103632"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2" name="object 210"/>
            <p:cNvSpPr/>
            <p:nvPr/>
          </p:nvSpPr>
          <p:spPr bwMode="auto">
            <a:xfrm>
              <a:off x="7231761" y="5246422"/>
              <a:ext cx="70962" cy="0"/>
            </a:xfrm>
            <a:custGeom>
              <a:avLst/>
              <a:gdLst>
                <a:gd name="T0" fmla="*/ 0 w 94615"/>
                <a:gd name="T1" fmla="*/ 9461 w 94615"/>
                <a:gd name="T2" fmla="*/ 0 60000 65536"/>
                <a:gd name="T3" fmla="*/ 0 60000 65536"/>
              </a:gdLst>
              <a:ahLst/>
              <a:cxnLst>
                <a:cxn ang="T2">
                  <a:pos x="T0" y="0"/>
                </a:cxn>
                <a:cxn ang="T3">
                  <a:pos x="T1" y="0"/>
                </a:cxn>
              </a:cxnLst>
              <a:rect l="0" t="0" r="r" b="b"/>
              <a:pathLst>
                <a:path w="94615">
                  <a:moveTo>
                    <a:pt x="0" y="0"/>
                  </a:moveTo>
                  <a:lnTo>
                    <a:pt x="94487" y="0"/>
                  </a:lnTo>
                </a:path>
              </a:pathLst>
            </a:custGeom>
            <a:noFill/>
            <a:ln w="941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3" name="object 211"/>
            <p:cNvSpPr/>
            <p:nvPr/>
          </p:nvSpPr>
          <p:spPr bwMode="auto">
            <a:xfrm>
              <a:off x="7266574" y="5215509"/>
              <a:ext cx="0" cy="58578"/>
            </a:xfrm>
            <a:custGeom>
              <a:avLst/>
              <a:gdLst>
                <a:gd name="T0" fmla="*/ 0 h 78104"/>
                <a:gd name="T1" fmla="*/ 7782 h 78104"/>
                <a:gd name="T2" fmla="*/ 0 60000 65536"/>
                <a:gd name="T3" fmla="*/ 0 60000 65536"/>
              </a:gdLst>
              <a:ahLst/>
              <a:cxnLst>
                <a:cxn ang="T2">
                  <a:pos x="0" y="T0"/>
                </a:cxn>
                <a:cxn ang="T3">
                  <a:pos x="0" y="T1"/>
                </a:cxn>
              </a:cxnLst>
              <a:rect l="0" t="0" r="r" b="b"/>
              <a:pathLst>
                <a:path h="78104">
                  <a:moveTo>
                    <a:pt x="0" y="0"/>
                  </a:moveTo>
                  <a:lnTo>
                    <a:pt x="0" y="77724"/>
                  </a:lnTo>
                </a:path>
              </a:pathLst>
            </a:custGeom>
            <a:noFill/>
            <a:ln w="12826">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4" name="object 212"/>
            <p:cNvSpPr/>
            <p:nvPr/>
          </p:nvSpPr>
          <p:spPr bwMode="auto">
            <a:xfrm>
              <a:off x="7231761" y="5215509"/>
              <a:ext cx="70962" cy="58578"/>
            </a:xfrm>
            <a:custGeom>
              <a:avLst/>
              <a:gdLst>
                <a:gd name="T0" fmla="*/ 4006 w 94615"/>
                <a:gd name="T1" fmla="*/ 0 h 78104"/>
                <a:gd name="T2" fmla="*/ 4006 w 94615"/>
                <a:gd name="T3" fmla="*/ 3656 h 78104"/>
                <a:gd name="T4" fmla="*/ 0 w 94615"/>
                <a:gd name="T5" fmla="*/ 3656 h 78104"/>
                <a:gd name="T6" fmla="*/ 0 w 94615"/>
                <a:gd name="T7" fmla="*/ 4598 h 78104"/>
                <a:gd name="T8" fmla="*/ 4006 w 94615"/>
                <a:gd name="T9" fmla="*/ 4598 h 78104"/>
                <a:gd name="T10" fmla="*/ 4006 w 94615"/>
                <a:gd name="T11" fmla="*/ 7782 h 78104"/>
                <a:gd name="T12" fmla="*/ 5290 w 94615"/>
                <a:gd name="T13" fmla="*/ 7782 h 78104"/>
                <a:gd name="T14" fmla="*/ 5290 w 94615"/>
                <a:gd name="T15" fmla="*/ 4598 h 78104"/>
                <a:gd name="T16" fmla="*/ 9461 w 94615"/>
                <a:gd name="T17" fmla="*/ 4598 h 78104"/>
                <a:gd name="T18" fmla="*/ 9461 w 94615"/>
                <a:gd name="T19" fmla="*/ 3656 h 78104"/>
                <a:gd name="T20" fmla="*/ 5290 w 94615"/>
                <a:gd name="T21" fmla="*/ 3656 h 78104"/>
                <a:gd name="T22" fmla="*/ 5290 w 94615"/>
                <a:gd name="T23" fmla="*/ 0 h 78104"/>
                <a:gd name="T24" fmla="*/ 4006 w 94615"/>
                <a:gd name="T25" fmla="*/ 0 h 7810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615" h="78104">
                  <a:moveTo>
                    <a:pt x="40004" y="0"/>
                  </a:moveTo>
                  <a:lnTo>
                    <a:pt x="40004" y="36512"/>
                  </a:lnTo>
                  <a:lnTo>
                    <a:pt x="0" y="36512"/>
                  </a:lnTo>
                  <a:lnTo>
                    <a:pt x="0" y="45923"/>
                  </a:lnTo>
                  <a:lnTo>
                    <a:pt x="40004" y="45923"/>
                  </a:lnTo>
                  <a:lnTo>
                    <a:pt x="40004" y="77724"/>
                  </a:lnTo>
                  <a:lnTo>
                    <a:pt x="52831" y="77724"/>
                  </a:lnTo>
                  <a:lnTo>
                    <a:pt x="52831" y="45923"/>
                  </a:lnTo>
                  <a:lnTo>
                    <a:pt x="94487" y="45923"/>
                  </a:lnTo>
                  <a:lnTo>
                    <a:pt x="94487" y="36512"/>
                  </a:lnTo>
                  <a:lnTo>
                    <a:pt x="52831" y="36512"/>
                  </a:lnTo>
                  <a:lnTo>
                    <a:pt x="52831" y="0"/>
                  </a:lnTo>
                  <a:lnTo>
                    <a:pt x="40004"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5" name="object 213"/>
            <p:cNvSpPr/>
            <p:nvPr/>
          </p:nvSpPr>
          <p:spPr bwMode="auto">
            <a:xfrm>
              <a:off x="5522977" y="5258943"/>
              <a:ext cx="43814" cy="190976"/>
            </a:xfrm>
            <a:custGeom>
              <a:avLst/>
              <a:gdLst>
                <a:gd name="T0" fmla="*/ 5797 w 58420"/>
                <a:gd name="T1" fmla="*/ 0 h 254635"/>
                <a:gd name="T2" fmla="*/ 0 w 58420"/>
                <a:gd name="T3" fmla="*/ 6544 h 254635"/>
                <a:gd name="T4" fmla="*/ 0 w 58420"/>
                <a:gd name="T5" fmla="*/ 19753 h 254635"/>
                <a:gd name="T6" fmla="*/ 5797 w 58420"/>
                <a:gd name="T7" fmla="*/ 25479 h 254635"/>
                <a:gd name="T8" fmla="*/ 5797 w 58420"/>
                <a:gd name="T9" fmla="*/ 0 h 254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 h="254635">
                  <a:moveTo>
                    <a:pt x="57911" y="0"/>
                  </a:moveTo>
                  <a:lnTo>
                    <a:pt x="0" y="65379"/>
                  </a:lnTo>
                  <a:lnTo>
                    <a:pt x="0" y="197307"/>
                  </a:lnTo>
                  <a:lnTo>
                    <a:pt x="57911" y="254507"/>
                  </a:lnTo>
                  <a:lnTo>
                    <a:pt x="57911"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96" name="object 214"/>
            <p:cNvSpPr/>
            <p:nvPr/>
          </p:nvSpPr>
          <p:spPr bwMode="auto">
            <a:xfrm>
              <a:off x="5522977" y="5258943"/>
              <a:ext cx="43814" cy="190976"/>
            </a:xfrm>
            <a:custGeom>
              <a:avLst/>
              <a:gdLst>
                <a:gd name="T0" fmla="*/ 0 w 58420"/>
                <a:gd name="T1" fmla="*/ 19753 h 254635"/>
                <a:gd name="T2" fmla="*/ 5797 w 58420"/>
                <a:gd name="T3" fmla="*/ 25479 h 254635"/>
                <a:gd name="T4" fmla="*/ 5797 w 58420"/>
                <a:gd name="T5" fmla="*/ 0 h 254635"/>
                <a:gd name="T6" fmla="*/ 0 w 58420"/>
                <a:gd name="T7" fmla="*/ 6544 h 254635"/>
                <a:gd name="T8" fmla="*/ 0 w 58420"/>
                <a:gd name="T9" fmla="*/ 19753 h 254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 h="254635">
                  <a:moveTo>
                    <a:pt x="0" y="197307"/>
                  </a:moveTo>
                  <a:lnTo>
                    <a:pt x="57911" y="254507"/>
                  </a:lnTo>
                  <a:lnTo>
                    <a:pt x="57911" y="0"/>
                  </a:lnTo>
                  <a:lnTo>
                    <a:pt x="0" y="65379"/>
                  </a:lnTo>
                  <a:lnTo>
                    <a:pt x="0" y="197307"/>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7" name="object 215"/>
            <p:cNvSpPr/>
            <p:nvPr/>
          </p:nvSpPr>
          <p:spPr bwMode="auto">
            <a:xfrm>
              <a:off x="6336793" y="5090923"/>
              <a:ext cx="2451734" cy="748664"/>
            </a:xfrm>
            <a:custGeom>
              <a:avLst/>
              <a:gdLst>
                <a:gd name="T0" fmla="*/ 1486 w 3268979"/>
                <a:gd name="T1" fmla="*/ 93392 h 998220"/>
                <a:gd name="T2" fmla="*/ 397 w 3268979"/>
                <a:gd name="T3" fmla="*/ 97636 h 998220"/>
                <a:gd name="T4" fmla="*/ 5136 w 3268979"/>
                <a:gd name="T5" fmla="*/ 99934 h 998220"/>
                <a:gd name="T6" fmla="*/ 5134 w 3268979"/>
                <a:gd name="T7" fmla="*/ 98986 h 998220"/>
                <a:gd name="T8" fmla="*/ 1592 w 3268979"/>
                <a:gd name="T9" fmla="*/ 97239 h 998220"/>
                <a:gd name="T10" fmla="*/ 2428 w 3268979"/>
                <a:gd name="T11" fmla="*/ 94102 h 998220"/>
                <a:gd name="T12" fmla="*/ 8814 w 3268979"/>
                <a:gd name="T13" fmla="*/ 93304 h 998220"/>
                <a:gd name="T14" fmla="*/ 5136 w 3268979"/>
                <a:gd name="T15" fmla="*/ 92237 h 998220"/>
                <a:gd name="T16" fmla="*/ 6680 w 3268979"/>
                <a:gd name="T17" fmla="*/ 93514 h 998220"/>
                <a:gd name="T18" fmla="*/ 8976 w 3268979"/>
                <a:gd name="T19" fmla="*/ 96145 h 998220"/>
                <a:gd name="T20" fmla="*/ 6680 w 3268979"/>
                <a:gd name="T21" fmla="*/ 98759 h 998220"/>
                <a:gd name="T22" fmla="*/ 9847 w 3268979"/>
                <a:gd name="T23" fmla="*/ 97935 h 998220"/>
                <a:gd name="T24" fmla="*/ 118272 w 3268979"/>
                <a:gd name="T25" fmla="*/ 95552 h 998220"/>
                <a:gd name="T26" fmla="*/ 8814 w 3268979"/>
                <a:gd name="T27" fmla="*/ 93304 h 998220"/>
                <a:gd name="T28" fmla="*/ 116413 w 3268979"/>
                <a:gd name="T29" fmla="*/ 95552 h 998220"/>
                <a:gd name="T30" fmla="*/ 327267 w 3268979"/>
                <a:gd name="T31" fmla="*/ 77910 h 998220"/>
                <a:gd name="T32" fmla="*/ 93005 w 3268979"/>
                <a:gd name="T33" fmla="*/ 77320 h 998220"/>
                <a:gd name="T34" fmla="*/ 109992 w 3268979"/>
                <a:gd name="T35" fmla="*/ 77320 h 998220"/>
                <a:gd name="T36" fmla="*/ 101663 w 3268979"/>
                <a:gd name="T37" fmla="*/ 77320 h 998220"/>
                <a:gd name="T38" fmla="*/ 146710 w 3268979"/>
                <a:gd name="T39" fmla="*/ 9354 h 998220"/>
                <a:gd name="T40" fmla="*/ 145274 w 3268979"/>
                <a:gd name="T41" fmla="*/ 9354 h 998220"/>
                <a:gd name="T42" fmla="*/ 146710 w 3268979"/>
                <a:gd name="T43" fmla="*/ 9354 h 998220"/>
                <a:gd name="T44" fmla="*/ 206366 w 3268979"/>
                <a:gd name="T45" fmla="*/ 74003 h 998220"/>
                <a:gd name="T46" fmla="*/ 224319 w 3268979"/>
                <a:gd name="T47" fmla="*/ 76845 h 998220"/>
                <a:gd name="T48" fmla="*/ 207802 w 3268979"/>
                <a:gd name="T49" fmla="*/ 64885 h 998220"/>
                <a:gd name="T50" fmla="*/ 233308 w 3268979"/>
                <a:gd name="T51" fmla="*/ 70569 h 998220"/>
                <a:gd name="T52" fmla="*/ 233308 w 3268979"/>
                <a:gd name="T53" fmla="*/ 76845 h 998220"/>
                <a:gd name="T54" fmla="*/ 241000 w 3268979"/>
                <a:gd name="T55" fmla="*/ 70569 h 998220"/>
                <a:gd name="T56" fmla="*/ 242449 w 3268979"/>
                <a:gd name="T57" fmla="*/ 70569 h 998220"/>
                <a:gd name="T58" fmla="*/ 250142 w 3268979"/>
                <a:gd name="T59" fmla="*/ 76845 h 998220"/>
                <a:gd name="T60" fmla="*/ 260567 w 3268979"/>
                <a:gd name="T61" fmla="*/ 70569 h 998220"/>
                <a:gd name="T62" fmla="*/ 260567 w 3268979"/>
                <a:gd name="T63" fmla="*/ 76845 h 998220"/>
                <a:gd name="T64" fmla="*/ 268259 w 3268979"/>
                <a:gd name="T65" fmla="*/ 70569 h 998220"/>
                <a:gd name="T66" fmla="*/ 269696 w 3268979"/>
                <a:gd name="T67" fmla="*/ 70569 h 998220"/>
                <a:gd name="T68" fmla="*/ 277401 w 3268979"/>
                <a:gd name="T69" fmla="*/ 76845 h 998220"/>
                <a:gd name="T70" fmla="*/ 287827 w 3268979"/>
                <a:gd name="T71" fmla="*/ 70569 h 998220"/>
                <a:gd name="T72" fmla="*/ 287827 w 3268979"/>
                <a:gd name="T73" fmla="*/ 76845 h 998220"/>
                <a:gd name="T74" fmla="*/ 295519 w 3268979"/>
                <a:gd name="T75" fmla="*/ 64885 h 998220"/>
                <a:gd name="T76" fmla="*/ 296803 w 3268979"/>
                <a:gd name="T77" fmla="*/ 64885 h 998220"/>
                <a:gd name="T78" fmla="*/ 222882 w 3268979"/>
                <a:gd name="T79" fmla="*/ 73056 h 998220"/>
                <a:gd name="T80" fmla="*/ 134530 w 3268979"/>
                <a:gd name="T81" fmla="*/ 0 h 998220"/>
                <a:gd name="T82" fmla="*/ 115128 w 3268979"/>
                <a:gd name="T83" fmla="*/ 8407 h 998220"/>
                <a:gd name="T84" fmla="*/ 134530 w 3268979"/>
                <a:gd name="T85" fmla="*/ 0 h 998220"/>
                <a:gd name="T86" fmla="*/ 133246 w 3268979"/>
                <a:gd name="T87" fmla="*/ 8407 h 99822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68979" h="998220">
                  <a:moveTo>
                    <a:pt x="51308" y="921346"/>
                  </a:moveTo>
                  <a:lnTo>
                    <a:pt x="31128" y="924451"/>
                  </a:lnTo>
                  <a:lnTo>
                    <a:pt x="14843" y="932878"/>
                  </a:lnTo>
                  <a:lnTo>
                    <a:pt x="3962" y="945296"/>
                  </a:lnTo>
                  <a:lnTo>
                    <a:pt x="0" y="960373"/>
                  </a:lnTo>
                  <a:lnTo>
                    <a:pt x="3962" y="975267"/>
                  </a:lnTo>
                  <a:lnTo>
                    <a:pt x="14843" y="987278"/>
                  </a:lnTo>
                  <a:lnTo>
                    <a:pt x="31128" y="995299"/>
                  </a:lnTo>
                  <a:lnTo>
                    <a:pt x="51308" y="998219"/>
                  </a:lnTo>
                  <a:lnTo>
                    <a:pt x="70582" y="995705"/>
                  </a:lnTo>
                  <a:lnTo>
                    <a:pt x="86717" y="988758"/>
                  </a:lnTo>
                  <a:lnTo>
                    <a:pt x="51287" y="988755"/>
                  </a:lnTo>
                  <a:lnTo>
                    <a:pt x="36508" y="986486"/>
                  </a:lnTo>
                  <a:lnTo>
                    <a:pt x="24257" y="980333"/>
                  </a:lnTo>
                  <a:lnTo>
                    <a:pt x="15910" y="971297"/>
                  </a:lnTo>
                  <a:lnTo>
                    <a:pt x="12826" y="960373"/>
                  </a:lnTo>
                  <a:lnTo>
                    <a:pt x="15910" y="948952"/>
                  </a:lnTo>
                  <a:lnTo>
                    <a:pt x="24256" y="939971"/>
                  </a:lnTo>
                  <a:lnTo>
                    <a:pt x="36508" y="934095"/>
                  </a:lnTo>
                  <a:lnTo>
                    <a:pt x="51308" y="931989"/>
                  </a:lnTo>
                  <a:lnTo>
                    <a:pt x="88038" y="931989"/>
                  </a:lnTo>
                  <a:lnTo>
                    <a:pt x="86725" y="930805"/>
                  </a:lnTo>
                  <a:lnTo>
                    <a:pt x="70582" y="923859"/>
                  </a:lnTo>
                  <a:lnTo>
                    <a:pt x="51308" y="921346"/>
                  </a:lnTo>
                  <a:close/>
                </a:path>
                <a:path w="3268979" h="998220">
                  <a:moveTo>
                    <a:pt x="88038" y="931989"/>
                  </a:moveTo>
                  <a:lnTo>
                    <a:pt x="51308" y="931989"/>
                  </a:lnTo>
                  <a:lnTo>
                    <a:pt x="66730" y="934095"/>
                  </a:lnTo>
                  <a:lnTo>
                    <a:pt x="78867" y="939971"/>
                  </a:lnTo>
                  <a:lnTo>
                    <a:pt x="86812" y="948952"/>
                  </a:lnTo>
                  <a:lnTo>
                    <a:pt x="89662" y="960373"/>
                  </a:lnTo>
                  <a:lnTo>
                    <a:pt x="86812" y="971297"/>
                  </a:lnTo>
                  <a:lnTo>
                    <a:pt x="78867" y="980333"/>
                  </a:lnTo>
                  <a:lnTo>
                    <a:pt x="66730" y="986486"/>
                  </a:lnTo>
                  <a:lnTo>
                    <a:pt x="51308" y="988758"/>
                  </a:lnTo>
                  <a:lnTo>
                    <a:pt x="86725" y="988755"/>
                  </a:lnTo>
                  <a:lnTo>
                    <a:pt x="98367" y="978256"/>
                  </a:lnTo>
                  <a:lnTo>
                    <a:pt x="104140" y="965098"/>
                  </a:lnTo>
                  <a:lnTo>
                    <a:pt x="1169162" y="965098"/>
                  </a:lnTo>
                  <a:lnTo>
                    <a:pt x="1181385" y="954455"/>
                  </a:lnTo>
                  <a:lnTo>
                    <a:pt x="104140" y="954455"/>
                  </a:lnTo>
                  <a:lnTo>
                    <a:pt x="98367" y="941299"/>
                  </a:lnTo>
                  <a:lnTo>
                    <a:pt x="88038" y="931989"/>
                  </a:lnTo>
                  <a:close/>
                </a:path>
                <a:path w="3268979" h="998220">
                  <a:moveTo>
                    <a:pt x="3268979" y="767587"/>
                  </a:moveTo>
                  <a:lnTo>
                    <a:pt x="1377442" y="767587"/>
                  </a:lnTo>
                  <a:lnTo>
                    <a:pt x="1162812" y="954455"/>
                  </a:lnTo>
                  <a:lnTo>
                    <a:pt x="1181385" y="954455"/>
                  </a:lnTo>
                  <a:lnTo>
                    <a:pt x="1383792" y="778230"/>
                  </a:lnTo>
                  <a:lnTo>
                    <a:pt x="3268979" y="778230"/>
                  </a:lnTo>
                  <a:lnTo>
                    <a:pt x="3268979" y="767587"/>
                  </a:lnTo>
                  <a:close/>
                </a:path>
                <a:path w="3268979" h="998220">
                  <a:moveTo>
                    <a:pt x="1098677" y="772325"/>
                  </a:moveTo>
                  <a:lnTo>
                    <a:pt x="929004" y="772325"/>
                  </a:lnTo>
                  <a:lnTo>
                    <a:pt x="929004" y="781786"/>
                  </a:lnTo>
                  <a:lnTo>
                    <a:pt x="1098677" y="781786"/>
                  </a:lnTo>
                  <a:lnTo>
                    <a:pt x="1098677" y="772325"/>
                  </a:lnTo>
                  <a:close/>
                </a:path>
                <a:path w="3268979" h="998220">
                  <a:moveTo>
                    <a:pt x="1465452" y="83972"/>
                  </a:moveTo>
                  <a:lnTo>
                    <a:pt x="1015492" y="83972"/>
                  </a:lnTo>
                  <a:lnTo>
                    <a:pt x="1015492" y="772325"/>
                  </a:lnTo>
                  <a:lnTo>
                    <a:pt x="1028319" y="772325"/>
                  </a:lnTo>
                  <a:lnTo>
                    <a:pt x="1028319" y="93433"/>
                  </a:lnTo>
                  <a:lnTo>
                    <a:pt x="1465452" y="93433"/>
                  </a:lnTo>
                  <a:lnTo>
                    <a:pt x="1465452" y="83972"/>
                  </a:lnTo>
                  <a:close/>
                </a:path>
                <a:path w="3268979" h="998220">
                  <a:moveTo>
                    <a:pt x="1465452" y="93433"/>
                  </a:moveTo>
                  <a:lnTo>
                    <a:pt x="1451102" y="93433"/>
                  </a:lnTo>
                  <a:lnTo>
                    <a:pt x="1451102" y="767587"/>
                  </a:lnTo>
                  <a:lnTo>
                    <a:pt x="1465452" y="767587"/>
                  </a:lnTo>
                  <a:lnTo>
                    <a:pt x="1465452" y="93433"/>
                  </a:lnTo>
                  <a:close/>
                </a:path>
                <a:path w="3268979" h="998220">
                  <a:moveTo>
                    <a:pt x="2964688" y="638670"/>
                  </a:moveTo>
                  <a:lnTo>
                    <a:pt x="2061337" y="638670"/>
                  </a:lnTo>
                  <a:lnTo>
                    <a:pt x="2061337" y="739203"/>
                  </a:lnTo>
                  <a:lnTo>
                    <a:pt x="2226310" y="739203"/>
                  </a:lnTo>
                  <a:lnTo>
                    <a:pt x="2226310" y="767587"/>
                  </a:lnTo>
                  <a:lnTo>
                    <a:pt x="2240661" y="767587"/>
                  </a:lnTo>
                  <a:lnTo>
                    <a:pt x="2240661" y="729741"/>
                  </a:lnTo>
                  <a:lnTo>
                    <a:pt x="2075688" y="729741"/>
                  </a:lnTo>
                  <a:lnTo>
                    <a:pt x="2075688" y="648131"/>
                  </a:lnTo>
                  <a:lnTo>
                    <a:pt x="2964688" y="648131"/>
                  </a:lnTo>
                  <a:lnTo>
                    <a:pt x="2964688" y="638670"/>
                  </a:lnTo>
                  <a:close/>
                </a:path>
                <a:path w="3268979" h="998220">
                  <a:moveTo>
                    <a:pt x="2330450" y="704900"/>
                  </a:moveTo>
                  <a:lnTo>
                    <a:pt x="2317623" y="704900"/>
                  </a:lnTo>
                  <a:lnTo>
                    <a:pt x="2317623" y="767587"/>
                  </a:lnTo>
                  <a:lnTo>
                    <a:pt x="2330450" y="767587"/>
                  </a:lnTo>
                  <a:lnTo>
                    <a:pt x="2330450" y="704900"/>
                  </a:lnTo>
                  <a:close/>
                </a:path>
                <a:path w="3268979" h="998220">
                  <a:moveTo>
                    <a:pt x="2421763" y="704900"/>
                  </a:moveTo>
                  <a:lnTo>
                    <a:pt x="2407285" y="704900"/>
                  </a:lnTo>
                  <a:lnTo>
                    <a:pt x="2407285" y="767587"/>
                  </a:lnTo>
                  <a:lnTo>
                    <a:pt x="2421763" y="767587"/>
                  </a:lnTo>
                  <a:lnTo>
                    <a:pt x="2421763" y="704900"/>
                  </a:lnTo>
                  <a:close/>
                </a:path>
                <a:path w="3268979" h="998220">
                  <a:moveTo>
                    <a:pt x="2511425" y="704900"/>
                  </a:moveTo>
                  <a:lnTo>
                    <a:pt x="2498598" y="704900"/>
                  </a:lnTo>
                  <a:lnTo>
                    <a:pt x="2498598" y="767587"/>
                  </a:lnTo>
                  <a:lnTo>
                    <a:pt x="2511425" y="767587"/>
                  </a:lnTo>
                  <a:lnTo>
                    <a:pt x="2511425" y="704900"/>
                  </a:lnTo>
                  <a:close/>
                </a:path>
                <a:path w="3268979" h="998220">
                  <a:moveTo>
                    <a:pt x="2602738" y="704900"/>
                  </a:moveTo>
                  <a:lnTo>
                    <a:pt x="2589911" y="704900"/>
                  </a:lnTo>
                  <a:lnTo>
                    <a:pt x="2589911" y="767587"/>
                  </a:lnTo>
                  <a:lnTo>
                    <a:pt x="2602738" y="767587"/>
                  </a:lnTo>
                  <a:lnTo>
                    <a:pt x="2602738" y="704900"/>
                  </a:lnTo>
                  <a:close/>
                </a:path>
                <a:path w="3268979" h="998220">
                  <a:moveTo>
                    <a:pt x="2693924" y="704900"/>
                  </a:moveTo>
                  <a:lnTo>
                    <a:pt x="2679573" y="704900"/>
                  </a:lnTo>
                  <a:lnTo>
                    <a:pt x="2679573" y="767587"/>
                  </a:lnTo>
                  <a:lnTo>
                    <a:pt x="2693924" y="767587"/>
                  </a:lnTo>
                  <a:lnTo>
                    <a:pt x="2693924" y="704900"/>
                  </a:lnTo>
                  <a:close/>
                </a:path>
                <a:path w="3268979" h="998220">
                  <a:moveTo>
                    <a:pt x="2783713" y="704900"/>
                  </a:moveTo>
                  <a:lnTo>
                    <a:pt x="2770886" y="704900"/>
                  </a:lnTo>
                  <a:lnTo>
                    <a:pt x="2770886" y="767587"/>
                  </a:lnTo>
                  <a:lnTo>
                    <a:pt x="2783713" y="767587"/>
                  </a:lnTo>
                  <a:lnTo>
                    <a:pt x="2783713" y="704900"/>
                  </a:lnTo>
                  <a:close/>
                </a:path>
                <a:path w="3268979" h="998220">
                  <a:moveTo>
                    <a:pt x="2875026" y="704900"/>
                  </a:moveTo>
                  <a:lnTo>
                    <a:pt x="2860548" y="704900"/>
                  </a:lnTo>
                  <a:lnTo>
                    <a:pt x="2860548" y="767587"/>
                  </a:lnTo>
                  <a:lnTo>
                    <a:pt x="2875026" y="767587"/>
                  </a:lnTo>
                  <a:lnTo>
                    <a:pt x="2875026" y="704900"/>
                  </a:lnTo>
                  <a:close/>
                </a:path>
                <a:path w="3268979" h="998220">
                  <a:moveTo>
                    <a:pt x="2964688" y="648131"/>
                  </a:moveTo>
                  <a:lnTo>
                    <a:pt x="2951861" y="648131"/>
                  </a:lnTo>
                  <a:lnTo>
                    <a:pt x="2951861" y="767587"/>
                  </a:lnTo>
                  <a:lnTo>
                    <a:pt x="2964688" y="767587"/>
                  </a:lnTo>
                  <a:lnTo>
                    <a:pt x="2964688" y="648131"/>
                  </a:lnTo>
                  <a:close/>
                </a:path>
                <a:path w="3268979" h="998220">
                  <a:moveTo>
                    <a:pt x="2240661" y="704900"/>
                  </a:moveTo>
                  <a:lnTo>
                    <a:pt x="2226310" y="704900"/>
                  </a:lnTo>
                  <a:lnTo>
                    <a:pt x="2226310" y="729741"/>
                  </a:lnTo>
                  <a:lnTo>
                    <a:pt x="2240661" y="729741"/>
                  </a:lnTo>
                  <a:lnTo>
                    <a:pt x="2240661" y="704900"/>
                  </a:lnTo>
                  <a:close/>
                </a:path>
                <a:path w="3268979" h="998220">
                  <a:moveTo>
                    <a:pt x="1343787" y="0"/>
                  </a:moveTo>
                  <a:lnTo>
                    <a:pt x="1135634" y="0"/>
                  </a:lnTo>
                  <a:lnTo>
                    <a:pt x="1135634" y="83972"/>
                  </a:lnTo>
                  <a:lnTo>
                    <a:pt x="1149985" y="83972"/>
                  </a:lnTo>
                  <a:lnTo>
                    <a:pt x="1149985" y="10642"/>
                  </a:lnTo>
                  <a:lnTo>
                    <a:pt x="1343787" y="10642"/>
                  </a:lnTo>
                  <a:lnTo>
                    <a:pt x="1343787" y="0"/>
                  </a:lnTo>
                  <a:close/>
                </a:path>
                <a:path w="3268979" h="998220">
                  <a:moveTo>
                    <a:pt x="1343787" y="10642"/>
                  </a:moveTo>
                  <a:lnTo>
                    <a:pt x="1330960" y="10642"/>
                  </a:lnTo>
                  <a:lnTo>
                    <a:pt x="1330960" y="83972"/>
                  </a:lnTo>
                  <a:lnTo>
                    <a:pt x="1343787" y="83972"/>
                  </a:lnTo>
                  <a:lnTo>
                    <a:pt x="1343787" y="1064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098" name="object 216"/>
            <p:cNvSpPr/>
            <p:nvPr/>
          </p:nvSpPr>
          <p:spPr bwMode="auto">
            <a:xfrm>
              <a:off x="6336793" y="5090923"/>
              <a:ext cx="2451734" cy="748664"/>
            </a:xfrm>
            <a:custGeom>
              <a:avLst/>
              <a:gdLst>
                <a:gd name="T0" fmla="*/ 105919 w 3268979"/>
                <a:gd name="T1" fmla="*/ 77320 h 998220"/>
                <a:gd name="T2" fmla="*/ 103057 w 3268979"/>
                <a:gd name="T3" fmla="*/ 77320 h 998220"/>
                <a:gd name="T4" fmla="*/ 102947 w 3268979"/>
                <a:gd name="T5" fmla="*/ 38026 h 998220"/>
                <a:gd name="T6" fmla="*/ 102947 w 3268979"/>
                <a:gd name="T7" fmla="*/ 10416 h 998220"/>
                <a:gd name="T8" fmla="*/ 127417 w 3268979"/>
                <a:gd name="T9" fmla="*/ 9354 h 998220"/>
                <a:gd name="T10" fmla="*/ 144613 w 3268979"/>
                <a:gd name="T11" fmla="*/ 9354 h 998220"/>
                <a:gd name="T12" fmla="*/ 145274 w 3268979"/>
                <a:gd name="T13" fmla="*/ 48373 h 998220"/>
                <a:gd name="T14" fmla="*/ 145274 w 3268979"/>
                <a:gd name="T15" fmla="*/ 75790 h 998220"/>
                <a:gd name="T16" fmla="*/ 141010 w 3268979"/>
                <a:gd name="T17" fmla="*/ 76845 h 998220"/>
                <a:gd name="T18" fmla="*/ 138014 w 3268979"/>
                <a:gd name="T19" fmla="*/ 76845 h 998220"/>
                <a:gd name="T20" fmla="*/ 125476 w 3268979"/>
                <a:gd name="T21" fmla="*/ 87660 h 998220"/>
                <a:gd name="T22" fmla="*/ 116748 w 3268979"/>
                <a:gd name="T23" fmla="*/ 95260 h 998220"/>
                <a:gd name="T24" fmla="*/ 55138 w 3268979"/>
                <a:gd name="T25" fmla="*/ 95552 h 998220"/>
                <a:gd name="T26" fmla="*/ 12081 w 3268979"/>
                <a:gd name="T27" fmla="*/ 95552 h 998220"/>
                <a:gd name="T28" fmla="*/ 9847 w 3268979"/>
                <a:gd name="T29" fmla="*/ 94235 h 998220"/>
                <a:gd name="T30" fmla="*/ 7066 w 3268979"/>
                <a:gd name="T31" fmla="*/ 92489 h 998220"/>
                <a:gd name="T32" fmla="*/ 3116 w 3268979"/>
                <a:gd name="T33" fmla="*/ 92548 h 998220"/>
                <a:gd name="T34" fmla="*/ 397 w 3268979"/>
                <a:gd name="T35" fmla="*/ 94636 h 998220"/>
                <a:gd name="T36" fmla="*/ 397 w 3268979"/>
                <a:gd name="T37" fmla="*/ 97636 h 998220"/>
                <a:gd name="T38" fmla="*/ 3116 w 3268979"/>
                <a:gd name="T39" fmla="*/ 99641 h 998220"/>
                <a:gd name="T40" fmla="*/ 7066 w 3268979"/>
                <a:gd name="T41" fmla="*/ 99682 h 998220"/>
                <a:gd name="T42" fmla="*/ 9847 w 3268979"/>
                <a:gd name="T43" fmla="*/ 97935 h 998220"/>
                <a:gd name="T44" fmla="*/ 72066 w 3268979"/>
                <a:gd name="T45" fmla="*/ 96618 h 998220"/>
                <a:gd name="T46" fmla="*/ 115382 w 3268979"/>
                <a:gd name="T47" fmla="*/ 96618 h 998220"/>
                <a:gd name="T48" fmla="*/ 129470 w 3268979"/>
                <a:gd name="T49" fmla="*/ 85802 h 998220"/>
                <a:gd name="T50" fmla="*/ 138199 w 3268979"/>
                <a:gd name="T51" fmla="*/ 78202 h 998220"/>
                <a:gd name="T52" fmla="*/ 247645 w 3268979"/>
                <a:gd name="T53" fmla="*/ 77910 h 998220"/>
                <a:gd name="T54" fmla="*/ 324318 w 3268979"/>
                <a:gd name="T55" fmla="*/ 77910 h 998220"/>
                <a:gd name="T56" fmla="*/ 327267 w 3268979"/>
                <a:gd name="T57" fmla="*/ 76845 h 998220"/>
                <a:gd name="T58" fmla="*/ 300611 w 3268979"/>
                <a:gd name="T59" fmla="*/ 76845 h 998220"/>
                <a:gd name="T60" fmla="*/ 296803 w 3268979"/>
                <a:gd name="T61" fmla="*/ 76845 h 998220"/>
                <a:gd name="T62" fmla="*/ 296803 w 3268979"/>
                <a:gd name="T63" fmla="*/ 65552 h 998220"/>
                <a:gd name="T64" fmla="*/ 296803 w 3268979"/>
                <a:gd name="T65" fmla="*/ 63938 h 998220"/>
                <a:gd name="T66" fmla="*/ 217670 w 3268979"/>
                <a:gd name="T67" fmla="*/ 63938 h 998220"/>
                <a:gd name="T68" fmla="*/ 206366 w 3268979"/>
                <a:gd name="T69" fmla="*/ 63938 h 998220"/>
                <a:gd name="T70" fmla="*/ 206366 w 3268979"/>
                <a:gd name="T71" fmla="*/ 72745 h 998220"/>
                <a:gd name="T72" fmla="*/ 206366 w 3268979"/>
                <a:gd name="T73" fmla="*/ 74003 h 998220"/>
                <a:gd name="T74" fmla="*/ 220818 w 3268979"/>
                <a:gd name="T75" fmla="*/ 74003 h 998220"/>
                <a:gd name="T76" fmla="*/ 222882 w 3268979"/>
                <a:gd name="T77" fmla="*/ 74003 h 998220"/>
                <a:gd name="T78" fmla="*/ 222882 w 3268979"/>
                <a:gd name="T79" fmla="*/ 76489 h 998220"/>
                <a:gd name="T80" fmla="*/ 222882 w 3268979"/>
                <a:gd name="T81" fmla="*/ 76845 h 998220"/>
                <a:gd name="T82" fmla="*/ 156232 w 3268979"/>
                <a:gd name="T83" fmla="*/ 76845 h 998220"/>
                <a:gd name="T84" fmla="*/ 146710 w 3268979"/>
                <a:gd name="T85" fmla="*/ 76845 h 998220"/>
                <a:gd name="T86" fmla="*/ 146710 w 3268979"/>
                <a:gd name="T87" fmla="*/ 16961 h 998220"/>
                <a:gd name="T88" fmla="*/ 146710 w 3268979"/>
                <a:gd name="T89" fmla="*/ 8407 h 998220"/>
                <a:gd name="T90" fmla="*/ 136052 w 3268979"/>
                <a:gd name="T91" fmla="*/ 8407 h 998220"/>
                <a:gd name="T92" fmla="*/ 134530 w 3268979"/>
                <a:gd name="T93" fmla="*/ 8407 h 998220"/>
                <a:gd name="T94" fmla="*/ 134530 w 3268979"/>
                <a:gd name="T95" fmla="*/ 1051 h 998220"/>
                <a:gd name="T96" fmla="*/ 134530 w 3268979"/>
                <a:gd name="T97" fmla="*/ 0 h 998220"/>
                <a:gd name="T98" fmla="*/ 116296 w 3268979"/>
                <a:gd name="T99" fmla="*/ 0 h 998220"/>
                <a:gd name="T100" fmla="*/ 113691 w 3268979"/>
                <a:gd name="T101" fmla="*/ 0 h 998220"/>
                <a:gd name="T102" fmla="*/ 113691 w 3268979"/>
                <a:gd name="T103" fmla="*/ 7356 h 998220"/>
                <a:gd name="T104" fmla="*/ 113691 w 3268979"/>
                <a:gd name="T105" fmla="*/ 8407 h 998220"/>
                <a:gd name="T106" fmla="*/ 103167 w 3268979"/>
                <a:gd name="T107" fmla="*/ 8407 h 998220"/>
                <a:gd name="T108" fmla="*/ 101663 w 3268979"/>
                <a:gd name="T109" fmla="*/ 8407 h 998220"/>
                <a:gd name="T110" fmla="*/ 101663 w 3268979"/>
                <a:gd name="T111" fmla="*/ 68705 h 998220"/>
                <a:gd name="T112" fmla="*/ 101663 w 3268979"/>
                <a:gd name="T113" fmla="*/ 77320 h 998220"/>
                <a:gd name="T114" fmla="*/ 94087 w 3268979"/>
                <a:gd name="T115" fmla="*/ 77320 h 998220"/>
                <a:gd name="T116" fmla="*/ 93005 w 3268979"/>
                <a:gd name="T117" fmla="*/ 77320 h 998220"/>
                <a:gd name="T118" fmla="*/ 102825 w 3268979"/>
                <a:gd name="T119" fmla="*/ 78267 h 998220"/>
                <a:gd name="T120" fmla="*/ 109726 w 3268979"/>
                <a:gd name="T121" fmla="*/ 78267 h 998220"/>
                <a:gd name="T122" fmla="*/ 109992 w 3268979"/>
                <a:gd name="T123" fmla="*/ 77320 h 99822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268979" h="998220">
                  <a:moveTo>
                    <a:pt x="1098677" y="772325"/>
                  </a:moveTo>
                  <a:lnTo>
                    <a:pt x="1058001" y="772325"/>
                  </a:lnTo>
                  <a:lnTo>
                    <a:pt x="1037113" y="772325"/>
                  </a:lnTo>
                  <a:lnTo>
                    <a:pt x="1029418" y="772325"/>
                  </a:lnTo>
                  <a:lnTo>
                    <a:pt x="1028319" y="772325"/>
                  </a:lnTo>
                  <a:lnTo>
                    <a:pt x="1028319" y="379841"/>
                  </a:lnTo>
                  <a:lnTo>
                    <a:pt x="1028319" y="178295"/>
                  </a:lnTo>
                  <a:lnTo>
                    <a:pt x="1028319" y="104041"/>
                  </a:lnTo>
                  <a:lnTo>
                    <a:pt x="1028319" y="93433"/>
                  </a:lnTo>
                  <a:lnTo>
                    <a:pt x="1272740" y="93433"/>
                  </a:lnTo>
                  <a:lnTo>
                    <a:pt x="1398254" y="93433"/>
                  </a:lnTo>
                  <a:lnTo>
                    <a:pt x="1444496" y="93433"/>
                  </a:lnTo>
                  <a:lnTo>
                    <a:pt x="1451102" y="93433"/>
                  </a:lnTo>
                  <a:lnTo>
                    <a:pt x="1451102" y="483179"/>
                  </a:lnTo>
                  <a:lnTo>
                    <a:pt x="1451102" y="683318"/>
                  </a:lnTo>
                  <a:lnTo>
                    <a:pt x="1451102" y="757054"/>
                  </a:lnTo>
                  <a:lnTo>
                    <a:pt x="1451102" y="767587"/>
                  </a:lnTo>
                  <a:lnTo>
                    <a:pt x="1408517" y="767587"/>
                  </a:lnTo>
                  <a:lnTo>
                    <a:pt x="1386649" y="767587"/>
                  </a:lnTo>
                  <a:lnTo>
                    <a:pt x="1378592" y="767587"/>
                  </a:lnTo>
                  <a:lnTo>
                    <a:pt x="1377442" y="767587"/>
                  </a:lnTo>
                  <a:lnTo>
                    <a:pt x="1253359" y="875620"/>
                  </a:lnTo>
                  <a:lnTo>
                    <a:pt x="1189640" y="931097"/>
                  </a:lnTo>
                  <a:lnTo>
                    <a:pt x="1166165" y="951535"/>
                  </a:lnTo>
                  <a:lnTo>
                    <a:pt x="1162812" y="954455"/>
                  </a:lnTo>
                  <a:lnTo>
                    <a:pt x="550767" y="954455"/>
                  </a:lnTo>
                  <a:lnTo>
                    <a:pt x="236474" y="954455"/>
                  </a:lnTo>
                  <a:lnTo>
                    <a:pt x="120681" y="954455"/>
                  </a:lnTo>
                  <a:lnTo>
                    <a:pt x="104140" y="954455"/>
                  </a:lnTo>
                  <a:lnTo>
                    <a:pt x="98367" y="941299"/>
                  </a:lnTo>
                  <a:lnTo>
                    <a:pt x="86725" y="930805"/>
                  </a:lnTo>
                  <a:lnTo>
                    <a:pt x="70582" y="923859"/>
                  </a:lnTo>
                  <a:lnTo>
                    <a:pt x="51308" y="921346"/>
                  </a:lnTo>
                  <a:lnTo>
                    <a:pt x="31128" y="924451"/>
                  </a:lnTo>
                  <a:lnTo>
                    <a:pt x="14843" y="932878"/>
                  </a:lnTo>
                  <a:lnTo>
                    <a:pt x="3962" y="945296"/>
                  </a:lnTo>
                  <a:lnTo>
                    <a:pt x="0" y="960373"/>
                  </a:lnTo>
                  <a:lnTo>
                    <a:pt x="3962" y="975267"/>
                  </a:lnTo>
                  <a:lnTo>
                    <a:pt x="14843" y="987278"/>
                  </a:lnTo>
                  <a:lnTo>
                    <a:pt x="31128" y="995299"/>
                  </a:lnTo>
                  <a:lnTo>
                    <a:pt x="51308" y="998219"/>
                  </a:lnTo>
                  <a:lnTo>
                    <a:pt x="70582" y="995705"/>
                  </a:lnTo>
                  <a:lnTo>
                    <a:pt x="86725" y="988755"/>
                  </a:lnTo>
                  <a:lnTo>
                    <a:pt x="98367" y="978256"/>
                  </a:lnTo>
                  <a:lnTo>
                    <a:pt x="104140" y="965098"/>
                  </a:lnTo>
                  <a:lnTo>
                    <a:pt x="719855" y="965098"/>
                  </a:lnTo>
                  <a:lnTo>
                    <a:pt x="1036034" y="965098"/>
                  </a:lnTo>
                  <a:lnTo>
                    <a:pt x="1152521" y="965098"/>
                  </a:lnTo>
                  <a:lnTo>
                    <a:pt x="1169162" y="965098"/>
                  </a:lnTo>
                  <a:lnTo>
                    <a:pt x="1293244" y="857065"/>
                  </a:lnTo>
                  <a:lnTo>
                    <a:pt x="1356963" y="801589"/>
                  </a:lnTo>
                  <a:lnTo>
                    <a:pt x="1380438" y="781150"/>
                  </a:lnTo>
                  <a:lnTo>
                    <a:pt x="1383792" y="778230"/>
                  </a:lnTo>
                  <a:lnTo>
                    <a:pt x="2473666" y="778230"/>
                  </a:lnTo>
                  <a:lnTo>
                    <a:pt x="3033331" y="778230"/>
                  </a:lnTo>
                  <a:lnTo>
                    <a:pt x="3239523" y="778230"/>
                  </a:lnTo>
                  <a:lnTo>
                    <a:pt x="3268979" y="778230"/>
                  </a:lnTo>
                  <a:lnTo>
                    <a:pt x="3268979" y="767587"/>
                  </a:lnTo>
                  <a:lnTo>
                    <a:pt x="3093061" y="767587"/>
                  </a:lnTo>
                  <a:lnTo>
                    <a:pt x="3002724" y="767587"/>
                  </a:lnTo>
                  <a:lnTo>
                    <a:pt x="2969442" y="767587"/>
                  </a:lnTo>
                  <a:lnTo>
                    <a:pt x="2964688" y="767587"/>
                  </a:lnTo>
                  <a:lnTo>
                    <a:pt x="2964688" y="693057"/>
                  </a:lnTo>
                  <a:lnTo>
                    <a:pt x="2964688" y="654785"/>
                  </a:lnTo>
                  <a:lnTo>
                    <a:pt x="2964688" y="640684"/>
                  </a:lnTo>
                  <a:lnTo>
                    <a:pt x="2964688" y="638670"/>
                  </a:lnTo>
                  <a:lnTo>
                    <a:pt x="2442438" y="638670"/>
                  </a:lnTo>
                  <a:lnTo>
                    <a:pt x="2174255" y="638670"/>
                  </a:lnTo>
                  <a:lnTo>
                    <a:pt x="2075451" y="638670"/>
                  </a:lnTo>
                  <a:lnTo>
                    <a:pt x="2061337" y="638670"/>
                  </a:lnTo>
                  <a:lnTo>
                    <a:pt x="2061337" y="696791"/>
                  </a:lnTo>
                  <a:lnTo>
                    <a:pt x="2061337" y="726636"/>
                  </a:lnTo>
                  <a:lnTo>
                    <a:pt x="2061337" y="737632"/>
                  </a:lnTo>
                  <a:lnTo>
                    <a:pt x="2061337" y="739203"/>
                  </a:lnTo>
                  <a:lnTo>
                    <a:pt x="2156712" y="739203"/>
                  </a:lnTo>
                  <a:lnTo>
                    <a:pt x="2205688" y="739203"/>
                  </a:lnTo>
                  <a:lnTo>
                    <a:pt x="2223732" y="739203"/>
                  </a:lnTo>
                  <a:lnTo>
                    <a:pt x="2226310" y="739203"/>
                  </a:lnTo>
                  <a:lnTo>
                    <a:pt x="2226310" y="755613"/>
                  </a:lnTo>
                  <a:lnTo>
                    <a:pt x="2226310" y="764039"/>
                  </a:lnTo>
                  <a:lnTo>
                    <a:pt x="2226310" y="767144"/>
                  </a:lnTo>
                  <a:lnTo>
                    <a:pt x="2226310" y="767587"/>
                  </a:lnTo>
                  <a:lnTo>
                    <a:pt x="1786439" y="767587"/>
                  </a:lnTo>
                  <a:lnTo>
                    <a:pt x="1560560" y="767587"/>
                  </a:lnTo>
                  <a:lnTo>
                    <a:pt x="1477341" y="767587"/>
                  </a:lnTo>
                  <a:lnTo>
                    <a:pt x="1465452" y="767587"/>
                  </a:lnTo>
                  <a:lnTo>
                    <a:pt x="1465452" y="372372"/>
                  </a:lnTo>
                  <a:lnTo>
                    <a:pt x="1465452" y="169424"/>
                  </a:lnTo>
                  <a:lnTo>
                    <a:pt x="1465452" y="94653"/>
                  </a:lnTo>
                  <a:lnTo>
                    <a:pt x="1465452" y="83972"/>
                  </a:lnTo>
                  <a:lnTo>
                    <a:pt x="1395114" y="83972"/>
                  </a:lnTo>
                  <a:lnTo>
                    <a:pt x="1358995" y="83972"/>
                  </a:lnTo>
                  <a:lnTo>
                    <a:pt x="1345688" y="83972"/>
                  </a:lnTo>
                  <a:lnTo>
                    <a:pt x="1343787" y="83972"/>
                  </a:lnTo>
                  <a:lnTo>
                    <a:pt x="1343787" y="35425"/>
                  </a:lnTo>
                  <a:lnTo>
                    <a:pt x="1343787" y="10496"/>
                  </a:lnTo>
                  <a:lnTo>
                    <a:pt x="1343787" y="1312"/>
                  </a:lnTo>
                  <a:lnTo>
                    <a:pt x="1343787" y="0"/>
                  </a:lnTo>
                  <a:lnTo>
                    <a:pt x="1223448" y="0"/>
                  </a:lnTo>
                  <a:lnTo>
                    <a:pt x="1161653" y="0"/>
                  </a:lnTo>
                  <a:lnTo>
                    <a:pt x="1138886" y="0"/>
                  </a:lnTo>
                  <a:lnTo>
                    <a:pt x="1135634" y="0"/>
                  </a:lnTo>
                  <a:lnTo>
                    <a:pt x="1135634" y="48546"/>
                  </a:lnTo>
                  <a:lnTo>
                    <a:pt x="1135634" y="73475"/>
                  </a:lnTo>
                  <a:lnTo>
                    <a:pt x="1135634" y="82660"/>
                  </a:lnTo>
                  <a:lnTo>
                    <a:pt x="1135634" y="83972"/>
                  </a:lnTo>
                  <a:lnTo>
                    <a:pt x="1066176" y="83972"/>
                  </a:lnTo>
                  <a:lnTo>
                    <a:pt x="1030509" y="83972"/>
                  </a:lnTo>
                  <a:lnTo>
                    <a:pt x="1017369" y="83972"/>
                  </a:lnTo>
                  <a:lnTo>
                    <a:pt x="1015492" y="83972"/>
                  </a:lnTo>
                  <a:lnTo>
                    <a:pt x="1015492" y="481926"/>
                  </a:lnTo>
                  <a:lnTo>
                    <a:pt x="1015492" y="686281"/>
                  </a:lnTo>
                  <a:lnTo>
                    <a:pt x="1015492" y="761569"/>
                  </a:lnTo>
                  <a:lnTo>
                    <a:pt x="1015492" y="772325"/>
                  </a:lnTo>
                  <a:lnTo>
                    <a:pt x="965491" y="772325"/>
                  </a:lnTo>
                  <a:lnTo>
                    <a:pt x="939815" y="772325"/>
                  </a:lnTo>
                  <a:lnTo>
                    <a:pt x="930356" y="772325"/>
                  </a:lnTo>
                  <a:lnTo>
                    <a:pt x="929004" y="772325"/>
                  </a:lnTo>
                  <a:lnTo>
                    <a:pt x="929004" y="781786"/>
                  </a:lnTo>
                  <a:lnTo>
                    <a:pt x="1027096" y="781786"/>
                  </a:lnTo>
                  <a:lnTo>
                    <a:pt x="1077468" y="781786"/>
                  </a:lnTo>
                  <a:lnTo>
                    <a:pt x="1096025" y="781786"/>
                  </a:lnTo>
                  <a:lnTo>
                    <a:pt x="1098677" y="781786"/>
                  </a:lnTo>
                  <a:lnTo>
                    <a:pt x="1098677" y="772325"/>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099" name="object 217"/>
            <p:cNvSpPr/>
            <p:nvPr/>
          </p:nvSpPr>
          <p:spPr bwMode="auto">
            <a:xfrm>
              <a:off x="6346412" y="5789914"/>
              <a:ext cx="57626" cy="42862"/>
            </a:xfrm>
            <a:custGeom>
              <a:avLst/>
              <a:gdLst>
                <a:gd name="T0" fmla="*/ 3853 w 76834"/>
                <a:gd name="T1" fmla="*/ 5683 h 57150"/>
                <a:gd name="T2" fmla="*/ 2371 w 76834"/>
                <a:gd name="T3" fmla="*/ 5455 h 57150"/>
                <a:gd name="T4" fmla="*/ 1145 w 76834"/>
                <a:gd name="T5" fmla="*/ 4840 h 57150"/>
                <a:gd name="T6" fmla="*/ 309 w 76834"/>
                <a:gd name="T7" fmla="*/ 3934 h 57150"/>
                <a:gd name="T8" fmla="*/ 0 w 76834"/>
                <a:gd name="T9" fmla="*/ 2841 h 57150"/>
                <a:gd name="T10" fmla="*/ 309 w 76834"/>
                <a:gd name="T11" fmla="*/ 1698 h 57150"/>
                <a:gd name="T12" fmla="*/ 1145 w 76834"/>
                <a:gd name="T13" fmla="*/ 799 h 57150"/>
                <a:gd name="T14" fmla="*/ 2371 w 76834"/>
                <a:gd name="T15" fmla="*/ 210 h 57150"/>
                <a:gd name="T16" fmla="*/ 3853 w 76834"/>
                <a:gd name="T17" fmla="*/ 0 h 57150"/>
                <a:gd name="T18" fmla="*/ 5397 w 76834"/>
                <a:gd name="T19" fmla="*/ 210 h 57150"/>
                <a:gd name="T20" fmla="*/ 6612 w 76834"/>
                <a:gd name="T21" fmla="*/ 799 h 57150"/>
                <a:gd name="T22" fmla="*/ 7408 w 76834"/>
                <a:gd name="T23" fmla="*/ 1698 h 57150"/>
                <a:gd name="T24" fmla="*/ 7693 w 76834"/>
                <a:gd name="T25" fmla="*/ 2841 h 57150"/>
                <a:gd name="T26" fmla="*/ 7408 w 76834"/>
                <a:gd name="T27" fmla="*/ 3934 h 57150"/>
                <a:gd name="T28" fmla="*/ 6612 w 76834"/>
                <a:gd name="T29" fmla="*/ 4840 h 57150"/>
                <a:gd name="T30" fmla="*/ 5397 w 76834"/>
                <a:gd name="T31" fmla="*/ 5455 h 57150"/>
                <a:gd name="T32" fmla="*/ 3853 w 76834"/>
                <a:gd name="T33" fmla="*/ 5683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150">
                  <a:moveTo>
                    <a:pt x="38481" y="56768"/>
                  </a:moveTo>
                  <a:lnTo>
                    <a:pt x="23681" y="54496"/>
                  </a:lnTo>
                  <a:lnTo>
                    <a:pt x="11430" y="48344"/>
                  </a:lnTo>
                  <a:lnTo>
                    <a:pt x="3083" y="39307"/>
                  </a:lnTo>
                  <a:lnTo>
                    <a:pt x="0" y="28384"/>
                  </a:lnTo>
                  <a:lnTo>
                    <a:pt x="3083" y="16962"/>
                  </a:lnTo>
                  <a:lnTo>
                    <a:pt x="11429" y="7981"/>
                  </a:lnTo>
                  <a:lnTo>
                    <a:pt x="23681" y="2106"/>
                  </a:lnTo>
                  <a:lnTo>
                    <a:pt x="38481" y="0"/>
                  </a:lnTo>
                  <a:lnTo>
                    <a:pt x="53903" y="2106"/>
                  </a:lnTo>
                  <a:lnTo>
                    <a:pt x="66040" y="7981"/>
                  </a:lnTo>
                  <a:lnTo>
                    <a:pt x="73985" y="16962"/>
                  </a:lnTo>
                  <a:lnTo>
                    <a:pt x="76835" y="28384"/>
                  </a:lnTo>
                  <a:lnTo>
                    <a:pt x="73985" y="39307"/>
                  </a:lnTo>
                  <a:lnTo>
                    <a:pt x="66040" y="48344"/>
                  </a:lnTo>
                  <a:lnTo>
                    <a:pt x="53903" y="54496"/>
                  </a:lnTo>
                  <a:lnTo>
                    <a:pt x="38481" y="56768"/>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0" name="object 218"/>
            <p:cNvSpPr/>
            <p:nvPr/>
          </p:nvSpPr>
          <p:spPr bwMode="auto">
            <a:xfrm>
              <a:off x="7893558" y="5577021"/>
              <a:ext cx="657225" cy="90010"/>
            </a:xfrm>
            <a:custGeom>
              <a:avLst/>
              <a:gdLst>
                <a:gd name="T0" fmla="*/ 0 w 876300"/>
                <a:gd name="T1" fmla="*/ 3446 h 120014"/>
                <a:gd name="T2" fmla="*/ 0 w 876300"/>
                <a:gd name="T3" fmla="*/ 127 h 120014"/>
                <a:gd name="T4" fmla="*/ 50711 w 876300"/>
                <a:gd name="T5" fmla="*/ 0 h 120014"/>
                <a:gd name="T6" fmla="*/ 86345 w 876300"/>
                <a:gd name="T7" fmla="*/ 0 h 120014"/>
                <a:gd name="T8" fmla="*/ 87716 w 876300"/>
                <a:gd name="T9" fmla="*/ 6913 h 120014"/>
                <a:gd name="T10" fmla="*/ 87716 w 876300"/>
                <a:gd name="T11" fmla="*/ 11772 h 120014"/>
                <a:gd name="T12" fmla="*/ 83270 w 876300"/>
                <a:gd name="T13" fmla="*/ 11959 h 120014"/>
                <a:gd name="T14" fmla="*/ 80144 w 876300"/>
                <a:gd name="T15" fmla="*/ 11959 h 120014"/>
                <a:gd name="T16" fmla="*/ 80024 w 876300"/>
                <a:gd name="T17" fmla="*/ 8330 h 120014"/>
                <a:gd name="T18" fmla="*/ 80024 w 876300"/>
                <a:gd name="T19" fmla="*/ 5781 h 120014"/>
                <a:gd name="T20" fmla="*/ 78575 w 876300"/>
                <a:gd name="T21" fmla="*/ 5683 h 120014"/>
                <a:gd name="T22" fmla="*/ 78575 w 876300"/>
                <a:gd name="T23" fmla="*/ 11174 h 120014"/>
                <a:gd name="T24" fmla="*/ 78575 w 876300"/>
                <a:gd name="T25" fmla="*/ 11959 h 120014"/>
                <a:gd name="T26" fmla="*/ 71844 w 876300"/>
                <a:gd name="T27" fmla="*/ 11959 h 120014"/>
                <a:gd name="T28" fmla="*/ 70883 w 876300"/>
                <a:gd name="T29" fmla="*/ 11959 h 120014"/>
                <a:gd name="T30" fmla="*/ 70883 w 876300"/>
                <a:gd name="T31" fmla="*/ 6467 h 120014"/>
                <a:gd name="T32" fmla="*/ 70883 w 876300"/>
                <a:gd name="T33" fmla="*/ 5683 h 120014"/>
                <a:gd name="T34" fmla="*/ 69599 w 876300"/>
                <a:gd name="T35" fmla="*/ 9311 h 120014"/>
                <a:gd name="T36" fmla="*/ 69599 w 876300"/>
                <a:gd name="T37" fmla="*/ 11860 h 120014"/>
                <a:gd name="T38" fmla="*/ 65144 w 876300"/>
                <a:gd name="T39" fmla="*/ 11959 h 120014"/>
                <a:gd name="T40" fmla="*/ 62014 w 876300"/>
                <a:gd name="T41" fmla="*/ 11959 h 120014"/>
                <a:gd name="T42" fmla="*/ 61894 w 876300"/>
                <a:gd name="T43" fmla="*/ 8330 h 120014"/>
                <a:gd name="T44" fmla="*/ 61894 w 876300"/>
                <a:gd name="T45" fmla="*/ 5781 h 120014"/>
                <a:gd name="T46" fmla="*/ 60457 w 876300"/>
                <a:gd name="T47" fmla="*/ 5683 h 120014"/>
                <a:gd name="T48" fmla="*/ 60457 w 876300"/>
                <a:gd name="T49" fmla="*/ 11174 h 120014"/>
                <a:gd name="T50" fmla="*/ 60457 w 876300"/>
                <a:gd name="T51" fmla="*/ 11959 h 120014"/>
                <a:gd name="T52" fmla="*/ 53726 w 876300"/>
                <a:gd name="T53" fmla="*/ 11959 h 120014"/>
                <a:gd name="T54" fmla="*/ 52765 w 876300"/>
                <a:gd name="T55" fmla="*/ 11959 h 120014"/>
                <a:gd name="T56" fmla="*/ 52765 w 876300"/>
                <a:gd name="T57" fmla="*/ 6467 h 120014"/>
                <a:gd name="T58" fmla="*/ 52765 w 876300"/>
                <a:gd name="T59" fmla="*/ 5683 h 120014"/>
                <a:gd name="T60" fmla="*/ 51481 w 876300"/>
                <a:gd name="T61" fmla="*/ 9311 h 120014"/>
                <a:gd name="T62" fmla="*/ 51481 w 876300"/>
                <a:gd name="T63" fmla="*/ 11860 h 120014"/>
                <a:gd name="T64" fmla="*/ 46938 w 876300"/>
                <a:gd name="T65" fmla="*/ 11959 h 120014"/>
                <a:gd name="T66" fmla="*/ 43746 w 876300"/>
                <a:gd name="T67" fmla="*/ 11959 h 120014"/>
                <a:gd name="T68" fmla="*/ 43623 w 876300"/>
                <a:gd name="T69" fmla="*/ 8330 h 120014"/>
                <a:gd name="T70" fmla="*/ 43623 w 876300"/>
                <a:gd name="T71" fmla="*/ 5781 h 120014"/>
                <a:gd name="T72" fmla="*/ 42339 w 876300"/>
                <a:gd name="T73" fmla="*/ 5683 h 120014"/>
                <a:gd name="T74" fmla="*/ 42339 w 876300"/>
                <a:gd name="T75" fmla="*/ 11174 h 120014"/>
                <a:gd name="T76" fmla="*/ 42339 w 876300"/>
                <a:gd name="T77" fmla="*/ 11959 h 120014"/>
                <a:gd name="T78" fmla="*/ 35608 w 876300"/>
                <a:gd name="T79" fmla="*/ 11959 h 120014"/>
                <a:gd name="T80" fmla="*/ 34647 w 876300"/>
                <a:gd name="T81" fmla="*/ 11959 h 120014"/>
                <a:gd name="T82" fmla="*/ 34647 w 876300"/>
                <a:gd name="T83" fmla="*/ 6467 h 120014"/>
                <a:gd name="T84" fmla="*/ 34647 w 876300"/>
                <a:gd name="T85" fmla="*/ 5683 h 120014"/>
                <a:gd name="T86" fmla="*/ 33198 w 876300"/>
                <a:gd name="T87" fmla="*/ 9311 h 120014"/>
                <a:gd name="T88" fmla="*/ 33198 w 876300"/>
                <a:gd name="T89" fmla="*/ 11860 h 120014"/>
                <a:gd name="T90" fmla="*/ 28751 w 876300"/>
                <a:gd name="T91" fmla="*/ 11959 h 120014"/>
                <a:gd name="T92" fmla="*/ 25625 w 876300"/>
                <a:gd name="T93" fmla="*/ 11959 h 120014"/>
                <a:gd name="T94" fmla="*/ 25505 w 876300"/>
                <a:gd name="T95" fmla="*/ 8330 h 120014"/>
                <a:gd name="T96" fmla="*/ 25505 w 876300"/>
                <a:gd name="T97" fmla="*/ 5781 h 120014"/>
                <a:gd name="T98" fmla="*/ 24221 w 876300"/>
                <a:gd name="T99" fmla="*/ 5683 h 120014"/>
                <a:gd name="T100" fmla="*/ 24221 w 876300"/>
                <a:gd name="T101" fmla="*/ 11174 h 120014"/>
                <a:gd name="T102" fmla="*/ 24221 w 876300"/>
                <a:gd name="T103" fmla="*/ 11959 h 120014"/>
                <a:gd name="T104" fmla="*/ 17480 w 876300"/>
                <a:gd name="T105" fmla="*/ 11959 h 120014"/>
                <a:gd name="T106" fmla="*/ 16517 w 876300"/>
                <a:gd name="T107" fmla="*/ 11959 h 120014"/>
                <a:gd name="T108" fmla="*/ 16517 w 876300"/>
                <a:gd name="T109" fmla="*/ 6467 h 120014"/>
                <a:gd name="T110" fmla="*/ 16517 w 876300"/>
                <a:gd name="T111" fmla="*/ 5683 h 120014"/>
                <a:gd name="T112" fmla="*/ 15080 w 876300"/>
                <a:gd name="T113" fmla="*/ 8170 h 12001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76300" h="120014">
                  <a:moveTo>
                    <a:pt x="0" y="81610"/>
                  </a:moveTo>
                  <a:lnTo>
                    <a:pt x="0" y="34429"/>
                  </a:lnTo>
                  <a:lnTo>
                    <a:pt x="0" y="10201"/>
                  </a:lnTo>
                  <a:lnTo>
                    <a:pt x="0" y="1275"/>
                  </a:lnTo>
                  <a:lnTo>
                    <a:pt x="0" y="0"/>
                  </a:lnTo>
                  <a:lnTo>
                    <a:pt x="506537" y="0"/>
                  </a:lnTo>
                  <a:lnTo>
                    <a:pt x="766651" y="0"/>
                  </a:lnTo>
                  <a:lnTo>
                    <a:pt x="862482" y="0"/>
                  </a:lnTo>
                  <a:lnTo>
                    <a:pt x="876173" y="0"/>
                  </a:lnTo>
                  <a:lnTo>
                    <a:pt x="876173" y="69060"/>
                  </a:lnTo>
                  <a:lnTo>
                    <a:pt x="876173" y="104524"/>
                  </a:lnTo>
                  <a:lnTo>
                    <a:pt x="876173" y="117589"/>
                  </a:lnTo>
                  <a:lnTo>
                    <a:pt x="876173" y="119456"/>
                  </a:lnTo>
                  <a:lnTo>
                    <a:pt x="831752" y="119456"/>
                  </a:lnTo>
                  <a:lnTo>
                    <a:pt x="808942" y="119456"/>
                  </a:lnTo>
                  <a:lnTo>
                    <a:pt x="800538" y="119456"/>
                  </a:lnTo>
                  <a:lnTo>
                    <a:pt x="799337" y="119456"/>
                  </a:lnTo>
                  <a:lnTo>
                    <a:pt x="799337" y="83215"/>
                  </a:lnTo>
                  <a:lnTo>
                    <a:pt x="799337" y="64604"/>
                  </a:lnTo>
                  <a:lnTo>
                    <a:pt x="799337" y="57748"/>
                  </a:lnTo>
                  <a:lnTo>
                    <a:pt x="799337" y="56768"/>
                  </a:lnTo>
                  <a:lnTo>
                    <a:pt x="784859" y="56768"/>
                  </a:lnTo>
                  <a:lnTo>
                    <a:pt x="784859" y="93010"/>
                  </a:lnTo>
                  <a:lnTo>
                    <a:pt x="784859" y="111620"/>
                  </a:lnTo>
                  <a:lnTo>
                    <a:pt x="784859" y="118476"/>
                  </a:lnTo>
                  <a:lnTo>
                    <a:pt x="784859" y="119456"/>
                  </a:lnTo>
                  <a:lnTo>
                    <a:pt x="740439" y="119456"/>
                  </a:lnTo>
                  <a:lnTo>
                    <a:pt x="717629" y="119456"/>
                  </a:lnTo>
                  <a:lnTo>
                    <a:pt x="709225" y="119456"/>
                  </a:lnTo>
                  <a:lnTo>
                    <a:pt x="708025" y="119456"/>
                  </a:lnTo>
                  <a:lnTo>
                    <a:pt x="708025" y="83215"/>
                  </a:lnTo>
                  <a:lnTo>
                    <a:pt x="708025" y="64604"/>
                  </a:lnTo>
                  <a:lnTo>
                    <a:pt x="708025" y="57748"/>
                  </a:lnTo>
                  <a:lnTo>
                    <a:pt x="708025" y="56768"/>
                  </a:lnTo>
                  <a:lnTo>
                    <a:pt x="695198" y="56768"/>
                  </a:lnTo>
                  <a:lnTo>
                    <a:pt x="695198" y="93010"/>
                  </a:lnTo>
                  <a:lnTo>
                    <a:pt x="695198" y="111620"/>
                  </a:lnTo>
                  <a:lnTo>
                    <a:pt x="695198" y="118476"/>
                  </a:lnTo>
                  <a:lnTo>
                    <a:pt x="695198" y="119456"/>
                  </a:lnTo>
                  <a:lnTo>
                    <a:pt x="650704" y="119456"/>
                  </a:lnTo>
                  <a:lnTo>
                    <a:pt x="627856" y="119456"/>
                  </a:lnTo>
                  <a:lnTo>
                    <a:pt x="619438" y="119456"/>
                  </a:lnTo>
                  <a:lnTo>
                    <a:pt x="618235" y="119456"/>
                  </a:lnTo>
                  <a:lnTo>
                    <a:pt x="618235" y="83215"/>
                  </a:lnTo>
                  <a:lnTo>
                    <a:pt x="618235" y="64604"/>
                  </a:lnTo>
                  <a:lnTo>
                    <a:pt x="618235" y="57748"/>
                  </a:lnTo>
                  <a:lnTo>
                    <a:pt x="618235" y="56768"/>
                  </a:lnTo>
                  <a:lnTo>
                    <a:pt x="603884" y="56768"/>
                  </a:lnTo>
                  <a:lnTo>
                    <a:pt x="603884" y="93010"/>
                  </a:lnTo>
                  <a:lnTo>
                    <a:pt x="603884" y="111620"/>
                  </a:lnTo>
                  <a:lnTo>
                    <a:pt x="603884" y="118476"/>
                  </a:lnTo>
                  <a:lnTo>
                    <a:pt x="603884" y="119456"/>
                  </a:lnTo>
                  <a:lnTo>
                    <a:pt x="559464" y="119456"/>
                  </a:lnTo>
                  <a:lnTo>
                    <a:pt x="536654" y="119456"/>
                  </a:lnTo>
                  <a:lnTo>
                    <a:pt x="528250" y="119456"/>
                  </a:lnTo>
                  <a:lnTo>
                    <a:pt x="527050" y="119456"/>
                  </a:lnTo>
                  <a:lnTo>
                    <a:pt x="527050" y="83215"/>
                  </a:lnTo>
                  <a:lnTo>
                    <a:pt x="527050" y="64604"/>
                  </a:lnTo>
                  <a:lnTo>
                    <a:pt x="527050" y="57748"/>
                  </a:lnTo>
                  <a:lnTo>
                    <a:pt x="527050" y="56768"/>
                  </a:lnTo>
                  <a:lnTo>
                    <a:pt x="514223" y="56768"/>
                  </a:lnTo>
                  <a:lnTo>
                    <a:pt x="514223" y="93010"/>
                  </a:lnTo>
                  <a:lnTo>
                    <a:pt x="514223" y="111620"/>
                  </a:lnTo>
                  <a:lnTo>
                    <a:pt x="514223" y="118476"/>
                  </a:lnTo>
                  <a:lnTo>
                    <a:pt x="514223" y="119456"/>
                  </a:lnTo>
                  <a:lnTo>
                    <a:pt x="468848" y="119456"/>
                  </a:lnTo>
                  <a:lnTo>
                    <a:pt x="445547" y="119456"/>
                  </a:lnTo>
                  <a:lnTo>
                    <a:pt x="436963" y="119456"/>
                  </a:lnTo>
                  <a:lnTo>
                    <a:pt x="435736" y="119456"/>
                  </a:lnTo>
                  <a:lnTo>
                    <a:pt x="435736" y="83215"/>
                  </a:lnTo>
                  <a:lnTo>
                    <a:pt x="435736" y="64604"/>
                  </a:lnTo>
                  <a:lnTo>
                    <a:pt x="435736" y="57748"/>
                  </a:lnTo>
                  <a:lnTo>
                    <a:pt x="435736" y="56768"/>
                  </a:lnTo>
                  <a:lnTo>
                    <a:pt x="422909" y="56768"/>
                  </a:lnTo>
                  <a:lnTo>
                    <a:pt x="422909" y="93010"/>
                  </a:lnTo>
                  <a:lnTo>
                    <a:pt x="422909" y="111620"/>
                  </a:lnTo>
                  <a:lnTo>
                    <a:pt x="422909" y="118476"/>
                  </a:lnTo>
                  <a:lnTo>
                    <a:pt x="422909" y="119456"/>
                  </a:lnTo>
                  <a:lnTo>
                    <a:pt x="378489" y="119456"/>
                  </a:lnTo>
                  <a:lnTo>
                    <a:pt x="355679" y="119456"/>
                  </a:lnTo>
                  <a:lnTo>
                    <a:pt x="347275" y="119456"/>
                  </a:lnTo>
                  <a:lnTo>
                    <a:pt x="346075" y="119456"/>
                  </a:lnTo>
                  <a:lnTo>
                    <a:pt x="346075" y="83215"/>
                  </a:lnTo>
                  <a:lnTo>
                    <a:pt x="346075" y="64604"/>
                  </a:lnTo>
                  <a:lnTo>
                    <a:pt x="346075" y="57748"/>
                  </a:lnTo>
                  <a:lnTo>
                    <a:pt x="346075" y="56768"/>
                  </a:lnTo>
                  <a:lnTo>
                    <a:pt x="331597" y="56768"/>
                  </a:lnTo>
                  <a:lnTo>
                    <a:pt x="331597" y="93010"/>
                  </a:lnTo>
                  <a:lnTo>
                    <a:pt x="331597" y="111620"/>
                  </a:lnTo>
                  <a:lnTo>
                    <a:pt x="331597" y="118476"/>
                  </a:lnTo>
                  <a:lnTo>
                    <a:pt x="331597" y="119456"/>
                  </a:lnTo>
                  <a:lnTo>
                    <a:pt x="287176" y="119456"/>
                  </a:lnTo>
                  <a:lnTo>
                    <a:pt x="264366" y="119456"/>
                  </a:lnTo>
                  <a:lnTo>
                    <a:pt x="255962" y="119456"/>
                  </a:lnTo>
                  <a:lnTo>
                    <a:pt x="254761" y="119456"/>
                  </a:lnTo>
                  <a:lnTo>
                    <a:pt x="254761" y="83215"/>
                  </a:lnTo>
                  <a:lnTo>
                    <a:pt x="254761" y="64604"/>
                  </a:lnTo>
                  <a:lnTo>
                    <a:pt x="254761" y="57748"/>
                  </a:lnTo>
                  <a:lnTo>
                    <a:pt x="254761" y="56768"/>
                  </a:lnTo>
                  <a:lnTo>
                    <a:pt x="241934" y="56768"/>
                  </a:lnTo>
                  <a:lnTo>
                    <a:pt x="241934" y="93010"/>
                  </a:lnTo>
                  <a:lnTo>
                    <a:pt x="241934" y="111620"/>
                  </a:lnTo>
                  <a:lnTo>
                    <a:pt x="241934" y="118476"/>
                  </a:lnTo>
                  <a:lnTo>
                    <a:pt x="241934" y="119456"/>
                  </a:lnTo>
                  <a:lnTo>
                    <a:pt x="197441" y="119456"/>
                  </a:lnTo>
                  <a:lnTo>
                    <a:pt x="174593" y="119456"/>
                  </a:lnTo>
                  <a:lnTo>
                    <a:pt x="166175" y="119456"/>
                  </a:lnTo>
                  <a:lnTo>
                    <a:pt x="164973" y="119456"/>
                  </a:lnTo>
                  <a:lnTo>
                    <a:pt x="164973" y="83215"/>
                  </a:lnTo>
                  <a:lnTo>
                    <a:pt x="164973" y="64604"/>
                  </a:lnTo>
                  <a:lnTo>
                    <a:pt x="164973" y="57748"/>
                  </a:lnTo>
                  <a:lnTo>
                    <a:pt x="164973" y="56768"/>
                  </a:lnTo>
                  <a:lnTo>
                    <a:pt x="150622" y="56768"/>
                  </a:lnTo>
                  <a:lnTo>
                    <a:pt x="150622" y="81610"/>
                  </a:lnTo>
                  <a:lnTo>
                    <a:pt x="0" y="8161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1" name="object 219"/>
            <p:cNvSpPr/>
            <p:nvPr/>
          </p:nvSpPr>
          <p:spPr bwMode="auto">
            <a:xfrm>
              <a:off x="7199281" y="5098904"/>
              <a:ext cx="135731" cy="55245"/>
            </a:xfrm>
            <a:custGeom>
              <a:avLst/>
              <a:gdLst>
                <a:gd name="T0" fmla="*/ 0 w 180975"/>
                <a:gd name="T1" fmla="*/ 0 h 73660"/>
                <a:gd name="T2" fmla="*/ 10474 w 180975"/>
                <a:gd name="T3" fmla="*/ 0 h 73660"/>
                <a:gd name="T4" fmla="*/ 15853 w 180975"/>
                <a:gd name="T5" fmla="*/ 0 h 73660"/>
                <a:gd name="T6" fmla="*/ 17834 w 180975"/>
                <a:gd name="T7" fmla="*/ 0 h 73660"/>
                <a:gd name="T8" fmla="*/ 18118 w 180975"/>
                <a:gd name="T9" fmla="*/ 0 h 73660"/>
                <a:gd name="T10" fmla="*/ 18118 w 180975"/>
                <a:gd name="T11" fmla="*/ 4245 h 73660"/>
                <a:gd name="T12" fmla="*/ 18118 w 180975"/>
                <a:gd name="T13" fmla="*/ 6424 h 73660"/>
                <a:gd name="T14" fmla="*/ 18118 w 180975"/>
                <a:gd name="T15" fmla="*/ 7227 h 73660"/>
                <a:gd name="T16" fmla="*/ 18118 w 180975"/>
                <a:gd name="T17" fmla="*/ 7342 h 73660"/>
                <a:gd name="T18" fmla="*/ 7643 w 180975"/>
                <a:gd name="T19" fmla="*/ 7342 h 73660"/>
                <a:gd name="T20" fmla="*/ 2264 w 180975"/>
                <a:gd name="T21" fmla="*/ 7342 h 73660"/>
                <a:gd name="T22" fmla="*/ 282 w 180975"/>
                <a:gd name="T23" fmla="*/ 7342 h 73660"/>
                <a:gd name="T24" fmla="*/ 0 w 180975"/>
                <a:gd name="T25" fmla="*/ 7342 h 73660"/>
                <a:gd name="T26" fmla="*/ 0 w 180975"/>
                <a:gd name="T27" fmla="*/ 0 h 736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80975" h="73660">
                  <a:moveTo>
                    <a:pt x="0" y="0"/>
                  </a:moveTo>
                  <a:lnTo>
                    <a:pt x="104626" y="0"/>
                  </a:lnTo>
                  <a:lnTo>
                    <a:pt x="158353" y="0"/>
                  </a:lnTo>
                  <a:lnTo>
                    <a:pt x="178147" y="0"/>
                  </a:lnTo>
                  <a:lnTo>
                    <a:pt x="180975" y="0"/>
                  </a:lnTo>
                  <a:lnTo>
                    <a:pt x="180975" y="42393"/>
                  </a:lnTo>
                  <a:lnTo>
                    <a:pt x="180975" y="64163"/>
                  </a:lnTo>
                  <a:lnTo>
                    <a:pt x="180975" y="72184"/>
                  </a:lnTo>
                  <a:lnTo>
                    <a:pt x="180975" y="73329"/>
                  </a:lnTo>
                  <a:lnTo>
                    <a:pt x="76348" y="73329"/>
                  </a:lnTo>
                  <a:lnTo>
                    <a:pt x="22621" y="73329"/>
                  </a:lnTo>
                  <a:lnTo>
                    <a:pt x="2827" y="73329"/>
                  </a:lnTo>
                  <a:lnTo>
                    <a:pt x="0" y="73329"/>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2" name="object 220"/>
            <p:cNvSpPr/>
            <p:nvPr/>
          </p:nvSpPr>
          <p:spPr bwMode="auto">
            <a:xfrm>
              <a:off x="7056883" y="5701283"/>
              <a:ext cx="81438" cy="0"/>
            </a:xfrm>
            <a:custGeom>
              <a:avLst/>
              <a:gdLst>
                <a:gd name="T0" fmla="*/ 0 w 108584"/>
                <a:gd name="T1" fmla="*/ 10833 w 108584"/>
                <a:gd name="T2" fmla="*/ 0 60000 65536"/>
                <a:gd name="T3" fmla="*/ 0 60000 65536"/>
              </a:gdLst>
              <a:ahLst/>
              <a:cxnLst>
                <a:cxn ang="T2">
                  <a:pos x="T0" y="0"/>
                </a:cxn>
                <a:cxn ang="T3">
                  <a:pos x="T1" y="0"/>
                </a:cxn>
              </a:cxnLst>
              <a:rect l="0" t="0" r="r" b="b"/>
              <a:pathLst>
                <a:path w="108584">
                  <a:moveTo>
                    <a:pt x="0" y="0"/>
                  </a:moveTo>
                  <a:lnTo>
                    <a:pt x="108203"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3" name="object 221"/>
            <p:cNvSpPr/>
            <p:nvPr/>
          </p:nvSpPr>
          <p:spPr bwMode="auto">
            <a:xfrm>
              <a:off x="7053453" y="5701283"/>
              <a:ext cx="88106" cy="0"/>
            </a:xfrm>
            <a:custGeom>
              <a:avLst/>
              <a:gdLst>
                <a:gd name="T0" fmla="*/ 0 w 117475"/>
                <a:gd name="T1" fmla="*/ 11748 w 117475"/>
                <a:gd name="T2" fmla="*/ 0 60000 65536"/>
                <a:gd name="T3" fmla="*/ 0 60000 65536"/>
              </a:gdLst>
              <a:ahLst/>
              <a:cxnLst>
                <a:cxn ang="T2">
                  <a:pos x="T0" y="0"/>
                </a:cxn>
                <a:cxn ang="T3">
                  <a:pos x="T1" y="0"/>
                </a:cxn>
              </a:cxnLst>
              <a:rect l="0" t="0" r="r" b="b"/>
              <a:pathLst>
                <a:path w="117475">
                  <a:moveTo>
                    <a:pt x="0" y="0"/>
                  </a:moveTo>
                  <a:lnTo>
                    <a:pt x="117348"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4" name="object 222"/>
            <p:cNvSpPr/>
            <p:nvPr/>
          </p:nvSpPr>
          <p:spPr bwMode="auto">
            <a:xfrm>
              <a:off x="7076312" y="5726430"/>
              <a:ext cx="41433" cy="9525"/>
            </a:xfrm>
            <a:custGeom>
              <a:avLst/>
              <a:gdLst>
                <a:gd name="T0" fmla="*/ 0 w 55245"/>
                <a:gd name="T1" fmla="*/ 1221 h 12700"/>
                <a:gd name="T2" fmla="*/ 5491 w 55245"/>
                <a:gd name="T3" fmla="*/ 1221 h 12700"/>
                <a:gd name="T4" fmla="*/ 5491 w 55245"/>
                <a:gd name="T5" fmla="*/ 0 h 12700"/>
                <a:gd name="T6" fmla="*/ 0 w 55245"/>
                <a:gd name="T7" fmla="*/ 0 h 12700"/>
                <a:gd name="T8" fmla="*/ 0 w 55245"/>
                <a:gd name="T9" fmla="*/ 1221 h 12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45" h="12700">
                  <a:moveTo>
                    <a:pt x="0" y="12191"/>
                  </a:moveTo>
                  <a:lnTo>
                    <a:pt x="54864" y="12191"/>
                  </a:lnTo>
                  <a:lnTo>
                    <a:pt x="54864" y="0"/>
                  </a:lnTo>
                  <a:lnTo>
                    <a:pt x="0" y="0"/>
                  </a:lnTo>
                  <a:lnTo>
                    <a:pt x="0" y="1219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05" name="object 223"/>
            <p:cNvSpPr/>
            <p:nvPr/>
          </p:nvSpPr>
          <p:spPr bwMode="auto">
            <a:xfrm>
              <a:off x="7072883" y="5723000"/>
              <a:ext cx="48102" cy="16193"/>
            </a:xfrm>
            <a:custGeom>
              <a:avLst/>
              <a:gdLst>
                <a:gd name="T0" fmla="*/ 0 w 64134"/>
                <a:gd name="T1" fmla="*/ 2137 h 21590"/>
                <a:gd name="T2" fmla="*/ 6410 w 64134"/>
                <a:gd name="T3" fmla="*/ 2137 h 21590"/>
                <a:gd name="T4" fmla="*/ 6410 w 64134"/>
                <a:gd name="T5" fmla="*/ 0 h 21590"/>
                <a:gd name="T6" fmla="*/ 0 w 64134"/>
                <a:gd name="T7" fmla="*/ 0 h 21590"/>
                <a:gd name="T8" fmla="*/ 0 w 64134"/>
                <a:gd name="T9" fmla="*/ 2137 h 215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134" h="21590">
                  <a:moveTo>
                    <a:pt x="0" y="21335"/>
                  </a:moveTo>
                  <a:lnTo>
                    <a:pt x="64008" y="21335"/>
                  </a:lnTo>
                  <a:lnTo>
                    <a:pt x="64008" y="0"/>
                  </a:lnTo>
                  <a:lnTo>
                    <a:pt x="0" y="0"/>
                  </a:lnTo>
                  <a:lnTo>
                    <a:pt x="0" y="2133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06" name="object 224"/>
            <p:cNvSpPr/>
            <p:nvPr/>
          </p:nvSpPr>
          <p:spPr bwMode="auto">
            <a:xfrm>
              <a:off x="1" y="5462111"/>
              <a:ext cx="173831" cy="0"/>
            </a:xfrm>
            <a:custGeom>
              <a:avLst/>
              <a:gdLst>
                <a:gd name="T0" fmla="*/ 0 w 231775"/>
                <a:gd name="T1" fmla="*/ 23190 w 231775"/>
                <a:gd name="T2" fmla="*/ 0 60000 65536"/>
                <a:gd name="T3" fmla="*/ 0 60000 65536"/>
              </a:gdLst>
              <a:ahLst/>
              <a:cxnLst>
                <a:cxn ang="T2">
                  <a:pos x="T0" y="0"/>
                </a:cxn>
                <a:cxn ang="T3">
                  <a:pos x="T1" y="0"/>
                </a:cxn>
              </a:cxnLst>
              <a:rect l="0" t="0" r="r" b="b"/>
              <a:pathLst>
                <a:path w="231775">
                  <a:moveTo>
                    <a:pt x="0" y="0"/>
                  </a:moveTo>
                  <a:lnTo>
                    <a:pt x="231647" y="0"/>
                  </a:lnTo>
                </a:path>
              </a:pathLst>
            </a:custGeom>
            <a:noFill/>
            <a:ln w="889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7" name="object 225"/>
            <p:cNvSpPr/>
            <p:nvPr/>
          </p:nvSpPr>
          <p:spPr bwMode="auto">
            <a:xfrm>
              <a:off x="168968" y="5312093"/>
              <a:ext cx="0" cy="146685"/>
            </a:xfrm>
            <a:custGeom>
              <a:avLst/>
              <a:gdLst>
                <a:gd name="T0" fmla="*/ 0 h 195579"/>
                <a:gd name="T1" fmla="*/ 19581 h 195579"/>
                <a:gd name="T2" fmla="*/ 0 60000 65536"/>
                <a:gd name="T3" fmla="*/ 0 60000 65536"/>
              </a:gdLst>
              <a:ahLst/>
              <a:cxnLst>
                <a:cxn ang="T2">
                  <a:pos x="0" y="T0"/>
                </a:cxn>
                <a:cxn ang="T3">
                  <a:pos x="0" y="T1"/>
                </a:cxn>
              </a:cxnLst>
              <a:rect l="0" t="0" r="r" b="b"/>
              <a:pathLst>
                <a:path h="195579">
                  <a:moveTo>
                    <a:pt x="0" y="0"/>
                  </a:moveTo>
                  <a:lnTo>
                    <a:pt x="0" y="195580"/>
                  </a:lnTo>
                </a:path>
              </a:pathLst>
            </a:custGeom>
            <a:noFill/>
            <a:ln w="127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8" name="object 226"/>
            <p:cNvSpPr/>
            <p:nvPr/>
          </p:nvSpPr>
          <p:spPr bwMode="auto">
            <a:xfrm>
              <a:off x="1" y="5308282"/>
              <a:ext cx="173831" cy="0"/>
            </a:xfrm>
            <a:custGeom>
              <a:avLst/>
              <a:gdLst>
                <a:gd name="T0" fmla="*/ 0 w 231775"/>
                <a:gd name="T1" fmla="*/ 23190 w 231775"/>
                <a:gd name="T2" fmla="*/ 0 60000 65536"/>
                <a:gd name="T3" fmla="*/ 0 60000 65536"/>
              </a:gdLst>
              <a:ahLst/>
              <a:cxnLst>
                <a:cxn ang="T2">
                  <a:pos x="T0" y="0"/>
                </a:cxn>
                <a:cxn ang="T3">
                  <a:pos x="T1" y="0"/>
                </a:cxn>
              </a:cxnLst>
              <a:rect l="0" t="0" r="r" b="b"/>
              <a:pathLst>
                <a:path w="231775">
                  <a:moveTo>
                    <a:pt x="0" y="0"/>
                  </a:moveTo>
                  <a:lnTo>
                    <a:pt x="231647" y="0"/>
                  </a:lnTo>
                </a:path>
              </a:pathLst>
            </a:custGeom>
            <a:noFill/>
            <a:ln w="1016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09" name="object 227"/>
            <p:cNvSpPr/>
            <p:nvPr/>
          </p:nvSpPr>
          <p:spPr bwMode="auto">
            <a:xfrm>
              <a:off x="1" y="5304663"/>
              <a:ext cx="173831" cy="0"/>
            </a:xfrm>
            <a:custGeom>
              <a:avLst/>
              <a:gdLst>
                <a:gd name="T0" fmla="*/ 23190 w 231775"/>
                <a:gd name="T1" fmla="*/ 0 w 231775"/>
                <a:gd name="T2" fmla="*/ 0 60000 65536"/>
                <a:gd name="T3" fmla="*/ 0 60000 65536"/>
              </a:gdLst>
              <a:ahLst/>
              <a:cxnLst>
                <a:cxn ang="T2">
                  <a:pos x="T0" y="0"/>
                </a:cxn>
                <a:cxn ang="T3">
                  <a:pos x="T1" y="0"/>
                </a:cxn>
              </a:cxnLst>
              <a:rect l="0" t="0" r="r" b="b"/>
              <a:pathLst>
                <a:path w="231775">
                  <a:moveTo>
                    <a:pt x="231647" y="0"/>
                  </a:moveTo>
                  <a:lnTo>
                    <a:pt x="0"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0" name="object 228"/>
            <p:cNvSpPr/>
            <p:nvPr/>
          </p:nvSpPr>
          <p:spPr bwMode="auto">
            <a:xfrm>
              <a:off x="1" y="5304664"/>
              <a:ext cx="173831" cy="161449"/>
            </a:xfrm>
            <a:custGeom>
              <a:avLst/>
              <a:gdLst>
                <a:gd name="T0" fmla="*/ 0 w 231775"/>
                <a:gd name="T1" fmla="*/ 21514 h 215264"/>
                <a:gd name="T2" fmla="*/ 23190 w 231775"/>
                <a:gd name="T3" fmla="*/ 21514 h 215264"/>
                <a:gd name="T4" fmla="*/ 23190 w 231775"/>
                <a:gd name="T5" fmla="*/ 0 h 215264"/>
                <a:gd name="T6" fmla="*/ 0 60000 65536"/>
                <a:gd name="T7" fmla="*/ 0 60000 65536"/>
                <a:gd name="T8" fmla="*/ 0 60000 65536"/>
              </a:gdLst>
              <a:ahLst/>
              <a:cxnLst>
                <a:cxn ang="T6">
                  <a:pos x="T0" y="T1"/>
                </a:cxn>
                <a:cxn ang="T7">
                  <a:pos x="T2" y="T3"/>
                </a:cxn>
                <a:cxn ang="T8">
                  <a:pos x="T4" y="T5"/>
                </a:cxn>
              </a:cxnLst>
              <a:rect l="0" t="0" r="r" b="b"/>
              <a:pathLst>
                <a:path w="231775" h="215264">
                  <a:moveTo>
                    <a:pt x="0" y="214883"/>
                  </a:moveTo>
                  <a:lnTo>
                    <a:pt x="231647" y="214883"/>
                  </a:lnTo>
                  <a:lnTo>
                    <a:pt x="231647"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1" name="object 229"/>
            <p:cNvSpPr/>
            <p:nvPr/>
          </p:nvSpPr>
          <p:spPr bwMode="auto">
            <a:xfrm>
              <a:off x="1" y="5458815"/>
              <a:ext cx="164306" cy="0"/>
            </a:xfrm>
            <a:custGeom>
              <a:avLst/>
              <a:gdLst>
                <a:gd name="T0" fmla="*/ 21918 w 219075"/>
                <a:gd name="T1" fmla="*/ 0 w 219075"/>
                <a:gd name="T2" fmla="*/ 0 60000 65536"/>
                <a:gd name="T3" fmla="*/ 0 60000 65536"/>
              </a:gdLst>
              <a:ahLst/>
              <a:cxnLst>
                <a:cxn ang="T2">
                  <a:pos x="T0" y="0"/>
                </a:cxn>
                <a:cxn ang="T3">
                  <a:pos x="T1" y="0"/>
                </a:cxn>
              </a:cxnLst>
              <a:rect l="0" t="0" r="r" b="b"/>
              <a:pathLst>
                <a:path w="219075">
                  <a:moveTo>
                    <a:pt x="218935" y="0"/>
                  </a:moveTo>
                  <a:lnTo>
                    <a:pt x="0"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2" name="object 230"/>
            <p:cNvSpPr/>
            <p:nvPr/>
          </p:nvSpPr>
          <p:spPr bwMode="auto">
            <a:xfrm>
              <a:off x="1" y="5311674"/>
              <a:ext cx="164306" cy="147162"/>
            </a:xfrm>
            <a:custGeom>
              <a:avLst/>
              <a:gdLst>
                <a:gd name="T0" fmla="*/ 0 w 219075"/>
                <a:gd name="T1" fmla="*/ 0 h 196214"/>
                <a:gd name="T2" fmla="*/ 21918 w 219075"/>
                <a:gd name="T3" fmla="*/ 0 h 196214"/>
                <a:gd name="T4" fmla="*/ 21918 w 219075"/>
                <a:gd name="T5" fmla="*/ 19643 h 196214"/>
                <a:gd name="T6" fmla="*/ 0 60000 65536"/>
                <a:gd name="T7" fmla="*/ 0 60000 65536"/>
                <a:gd name="T8" fmla="*/ 0 60000 65536"/>
              </a:gdLst>
              <a:ahLst/>
              <a:cxnLst>
                <a:cxn ang="T6">
                  <a:pos x="T0" y="T1"/>
                </a:cxn>
                <a:cxn ang="T7">
                  <a:pos x="T2" y="T3"/>
                </a:cxn>
                <a:cxn ang="T8">
                  <a:pos x="T4" y="T5"/>
                </a:cxn>
              </a:cxnLst>
              <a:rect l="0" t="0" r="r" b="b"/>
              <a:pathLst>
                <a:path w="219075" h="196214">
                  <a:moveTo>
                    <a:pt x="0" y="0"/>
                  </a:moveTo>
                  <a:lnTo>
                    <a:pt x="218935" y="0"/>
                  </a:lnTo>
                  <a:lnTo>
                    <a:pt x="218935" y="196189"/>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3" name="object 231"/>
            <p:cNvSpPr/>
            <p:nvPr/>
          </p:nvSpPr>
          <p:spPr bwMode="auto">
            <a:xfrm>
              <a:off x="1" y="5354955"/>
              <a:ext cx="87154" cy="60960"/>
            </a:xfrm>
            <a:custGeom>
              <a:avLst/>
              <a:gdLst>
                <a:gd name="T0" fmla="*/ 0 w 116205"/>
                <a:gd name="T1" fmla="*/ 8087 h 81279"/>
                <a:gd name="T2" fmla="*/ 11596 w 116205"/>
                <a:gd name="T3" fmla="*/ 8087 h 81279"/>
                <a:gd name="T4" fmla="*/ 11596 w 116205"/>
                <a:gd name="T5" fmla="*/ 0 h 81279"/>
                <a:gd name="T6" fmla="*/ 0 w 116205"/>
                <a:gd name="T7" fmla="*/ 0 h 81279"/>
                <a:gd name="T8" fmla="*/ 0 w 116205"/>
                <a:gd name="T9" fmla="*/ 8087 h 812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6205" h="81279">
                  <a:moveTo>
                    <a:pt x="0" y="80772"/>
                  </a:moveTo>
                  <a:lnTo>
                    <a:pt x="115824" y="80772"/>
                  </a:lnTo>
                  <a:lnTo>
                    <a:pt x="115824" y="0"/>
                  </a:lnTo>
                  <a:lnTo>
                    <a:pt x="0" y="0"/>
                  </a:lnTo>
                  <a:lnTo>
                    <a:pt x="0" y="8077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14" name="object 232"/>
            <p:cNvSpPr/>
            <p:nvPr/>
          </p:nvSpPr>
          <p:spPr bwMode="auto">
            <a:xfrm>
              <a:off x="1" y="5354955"/>
              <a:ext cx="87154" cy="60960"/>
            </a:xfrm>
            <a:custGeom>
              <a:avLst/>
              <a:gdLst>
                <a:gd name="T0" fmla="*/ 0 w 116205"/>
                <a:gd name="T1" fmla="*/ 8087 h 81279"/>
                <a:gd name="T2" fmla="*/ 11596 w 116205"/>
                <a:gd name="T3" fmla="*/ 8087 h 81279"/>
                <a:gd name="T4" fmla="*/ 11596 w 116205"/>
                <a:gd name="T5" fmla="*/ 0 h 81279"/>
                <a:gd name="T6" fmla="*/ 0 w 116205"/>
                <a:gd name="T7" fmla="*/ 0 h 812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05" h="81279">
                  <a:moveTo>
                    <a:pt x="0" y="80772"/>
                  </a:moveTo>
                  <a:lnTo>
                    <a:pt x="115824" y="80772"/>
                  </a:lnTo>
                  <a:lnTo>
                    <a:pt x="115824" y="0"/>
                  </a:lnTo>
                  <a:lnTo>
                    <a:pt x="0"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5" name="object 233"/>
            <p:cNvSpPr/>
            <p:nvPr/>
          </p:nvSpPr>
          <p:spPr bwMode="auto">
            <a:xfrm>
              <a:off x="2282571" y="4904422"/>
              <a:ext cx="430054" cy="0"/>
            </a:xfrm>
            <a:custGeom>
              <a:avLst/>
              <a:gdLst>
                <a:gd name="T0" fmla="*/ 0 w 573404"/>
                <a:gd name="T1" fmla="*/ 57368 w 573404"/>
                <a:gd name="T2" fmla="*/ 0 60000 65536"/>
                <a:gd name="T3" fmla="*/ 0 60000 65536"/>
              </a:gdLst>
              <a:ahLst/>
              <a:cxnLst>
                <a:cxn ang="T2">
                  <a:pos x="T0" y="0"/>
                </a:cxn>
                <a:cxn ang="T3">
                  <a:pos x="T1" y="0"/>
                </a:cxn>
              </a:cxnLst>
              <a:rect l="0" t="0" r="r" b="b"/>
              <a:pathLst>
                <a:path w="573404">
                  <a:moveTo>
                    <a:pt x="0" y="0"/>
                  </a:moveTo>
                  <a:lnTo>
                    <a:pt x="573024" y="0"/>
                  </a:lnTo>
                </a:path>
              </a:pathLst>
            </a:custGeom>
            <a:noFill/>
            <a:ln w="1015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6" name="object 234"/>
            <p:cNvSpPr/>
            <p:nvPr/>
          </p:nvSpPr>
          <p:spPr bwMode="auto">
            <a:xfrm>
              <a:off x="2288524" y="4856797"/>
              <a:ext cx="0" cy="43814"/>
            </a:xfrm>
            <a:custGeom>
              <a:avLst/>
              <a:gdLst>
                <a:gd name="T0" fmla="*/ 0 h 58420"/>
                <a:gd name="T1" fmla="*/ 5848 h 58420"/>
                <a:gd name="T2" fmla="*/ 0 60000 65536"/>
                <a:gd name="T3" fmla="*/ 0 60000 65536"/>
              </a:gdLst>
              <a:ahLst/>
              <a:cxnLst>
                <a:cxn ang="T2">
                  <a:pos x="0" y="T0"/>
                </a:cxn>
                <a:cxn ang="T3">
                  <a:pos x="0" y="T1"/>
                </a:cxn>
              </a:cxnLst>
              <a:rect l="0" t="0" r="r" b="b"/>
              <a:pathLst>
                <a:path h="58420">
                  <a:moveTo>
                    <a:pt x="0" y="0"/>
                  </a:moveTo>
                  <a:lnTo>
                    <a:pt x="0" y="58420"/>
                  </a:lnTo>
                </a:path>
              </a:pathLst>
            </a:custGeom>
            <a:noFill/>
            <a:ln w="15875">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7" name="object 235"/>
            <p:cNvSpPr/>
            <p:nvPr/>
          </p:nvSpPr>
          <p:spPr bwMode="auto">
            <a:xfrm>
              <a:off x="2282571" y="4853463"/>
              <a:ext cx="430054" cy="0"/>
            </a:xfrm>
            <a:custGeom>
              <a:avLst/>
              <a:gdLst>
                <a:gd name="T0" fmla="*/ 0 w 573404"/>
                <a:gd name="T1" fmla="*/ 57368 w 573404"/>
                <a:gd name="T2" fmla="*/ 0 60000 65536"/>
                <a:gd name="T3" fmla="*/ 0 60000 65536"/>
              </a:gdLst>
              <a:ahLst/>
              <a:cxnLst>
                <a:cxn ang="T2">
                  <a:pos x="T0" y="0"/>
                </a:cxn>
                <a:cxn ang="T3">
                  <a:pos x="T1" y="0"/>
                </a:cxn>
              </a:cxnLst>
              <a:rect l="0" t="0" r="r" b="b"/>
              <a:pathLst>
                <a:path w="573404">
                  <a:moveTo>
                    <a:pt x="0" y="0"/>
                  </a:moveTo>
                  <a:lnTo>
                    <a:pt x="573024" y="0"/>
                  </a:lnTo>
                </a:path>
              </a:pathLst>
            </a:custGeom>
            <a:noFill/>
            <a:ln w="889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8" name="object 236"/>
            <p:cNvSpPr/>
            <p:nvPr/>
          </p:nvSpPr>
          <p:spPr bwMode="auto">
            <a:xfrm>
              <a:off x="2707577" y="4856703"/>
              <a:ext cx="0" cy="43814"/>
            </a:xfrm>
            <a:custGeom>
              <a:avLst/>
              <a:gdLst>
                <a:gd name="T0" fmla="*/ 0 h 58420"/>
                <a:gd name="T1" fmla="*/ 5809 h 58420"/>
                <a:gd name="T2" fmla="*/ 0 60000 65536"/>
                <a:gd name="T3" fmla="*/ 0 60000 65536"/>
              </a:gdLst>
              <a:ahLst/>
              <a:cxnLst>
                <a:cxn ang="T2">
                  <a:pos x="0" y="T0"/>
                </a:cxn>
                <a:cxn ang="T3">
                  <a:pos x="0" y="T1"/>
                </a:cxn>
              </a:cxnLst>
              <a:rect l="0" t="0" r="r" b="b"/>
              <a:pathLst>
                <a:path h="58420">
                  <a:moveTo>
                    <a:pt x="0" y="0"/>
                  </a:moveTo>
                  <a:lnTo>
                    <a:pt x="0" y="58039"/>
                  </a:lnTo>
                </a:path>
              </a:pathLst>
            </a:custGeom>
            <a:noFill/>
            <a:ln w="1270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19" name="object 237"/>
            <p:cNvSpPr/>
            <p:nvPr/>
          </p:nvSpPr>
          <p:spPr bwMode="auto">
            <a:xfrm>
              <a:off x="2282571" y="4849749"/>
              <a:ext cx="430054" cy="58578"/>
            </a:xfrm>
            <a:custGeom>
              <a:avLst/>
              <a:gdLst>
                <a:gd name="T0" fmla="*/ 57368 w 573404"/>
                <a:gd name="T1" fmla="*/ 0 h 78104"/>
                <a:gd name="T2" fmla="*/ 0 w 573404"/>
                <a:gd name="T3" fmla="*/ 0 h 78104"/>
                <a:gd name="T4" fmla="*/ 0 w 573404"/>
                <a:gd name="T5" fmla="*/ 7782 h 78104"/>
                <a:gd name="T6" fmla="*/ 57368 w 573404"/>
                <a:gd name="T7" fmla="*/ 7782 h 78104"/>
                <a:gd name="T8" fmla="*/ 57368 w 573404"/>
                <a:gd name="T9" fmla="*/ 0 h 78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3404" h="78104">
                  <a:moveTo>
                    <a:pt x="573024" y="0"/>
                  </a:moveTo>
                  <a:lnTo>
                    <a:pt x="0" y="0"/>
                  </a:lnTo>
                  <a:lnTo>
                    <a:pt x="0" y="77724"/>
                  </a:lnTo>
                  <a:lnTo>
                    <a:pt x="573024" y="77724"/>
                  </a:lnTo>
                  <a:lnTo>
                    <a:pt x="573024"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0" name="object 238"/>
            <p:cNvSpPr/>
            <p:nvPr/>
          </p:nvSpPr>
          <p:spPr bwMode="auto">
            <a:xfrm>
              <a:off x="2294477" y="4856703"/>
              <a:ext cx="408622" cy="43814"/>
            </a:xfrm>
            <a:custGeom>
              <a:avLst/>
              <a:gdLst>
                <a:gd name="T0" fmla="*/ 54507 w 544829"/>
                <a:gd name="T1" fmla="*/ 5809 h 58420"/>
                <a:gd name="T2" fmla="*/ 0 w 544829"/>
                <a:gd name="T3" fmla="*/ 5809 h 58420"/>
                <a:gd name="T4" fmla="*/ 0 w 544829"/>
                <a:gd name="T5" fmla="*/ 0 h 58420"/>
                <a:gd name="T6" fmla="*/ 54507 w 544829"/>
                <a:gd name="T7" fmla="*/ 0 h 58420"/>
                <a:gd name="T8" fmla="*/ 54507 w 544829"/>
                <a:gd name="T9" fmla="*/ 5809 h 584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4829" h="58420">
                  <a:moveTo>
                    <a:pt x="544449" y="58039"/>
                  </a:moveTo>
                  <a:lnTo>
                    <a:pt x="0" y="58039"/>
                  </a:lnTo>
                  <a:lnTo>
                    <a:pt x="0" y="0"/>
                  </a:lnTo>
                  <a:lnTo>
                    <a:pt x="544449" y="0"/>
                  </a:lnTo>
                  <a:lnTo>
                    <a:pt x="544449" y="58039"/>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1" name="object 239"/>
            <p:cNvSpPr/>
            <p:nvPr/>
          </p:nvSpPr>
          <p:spPr bwMode="auto">
            <a:xfrm>
              <a:off x="2220467" y="4958715"/>
              <a:ext cx="0" cy="277178"/>
            </a:xfrm>
            <a:custGeom>
              <a:avLst/>
              <a:gdLst>
                <a:gd name="T0" fmla="*/ 0 h 369570"/>
                <a:gd name="T1" fmla="*/ 36999 h 369570"/>
                <a:gd name="T2" fmla="*/ 0 60000 65536"/>
                <a:gd name="T3" fmla="*/ 0 60000 65536"/>
              </a:gdLst>
              <a:ahLst/>
              <a:cxnLst>
                <a:cxn ang="T2">
                  <a:pos x="0" y="T0"/>
                </a:cxn>
                <a:cxn ang="T3">
                  <a:pos x="0" y="T1"/>
                </a:cxn>
              </a:cxnLst>
              <a:rect l="0" t="0" r="r" b="b"/>
              <a:pathLst>
                <a:path h="369570">
                  <a:moveTo>
                    <a:pt x="0" y="0"/>
                  </a:moveTo>
                  <a:lnTo>
                    <a:pt x="0" y="369569"/>
                  </a:lnTo>
                </a:path>
              </a:pathLst>
            </a:custGeom>
            <a:noFill/>
            <a:ln w="1422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2" name="object 240"/>
            <p:cNvSpPr/>
            <p:nvPr/>
          </p:nvSpPr>
          <p:spPr bwMode="auto">
            <a:xfrm>
              <a:off x="2215134" y="4954905"/>
              <a:ext cx="497205" cy="0"/>
            </a:xfrm>
            <a:custGeom>
              <a:avLst/>
              <a:gdLst>
                <a:gd name="T0" fmla="*/ 0 w 662939"/>
                <a:gd name="T1" fmla="*/ 66369 w 662939"/>
                <a:gd name="T2" fmla="*/ 0 60000 65536"/>
                <a:gd name="T3" fmla="*/ 0 60000 65536"/>
              </a:gdLst>
              <a:ahLst/>
              <a:cxnLst>
                <a:cxn ang="T2">
                  <a:pos x="T0" y="0"/>
                </a:cxn>
                <a:cxn ang="T3">
                  <a:pos x="T1" y="0"/>
                </a:cxn>
              </a:cxnLst>
              <a:rect l="0" t="0" r="r" b="b"/>
              <a:pathLst>
                <a:path w="662939">
                  <a:moveTo>
                    <a:pt x="0" y="0"/>
                  </a:moveTo>
                  <a:lnTo>
                    <a:pt x="662939" y="0"/>
                  </a:lnTo>
                </a:path>
              </a:pathLst>
            </a:custGeom>
            <a:noFill/>
            <a:ln w="1015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3" name="object 241"/>
            <p:cNvSpPr/>
            <p:nvPr/>
          </p:nvSpPr>
          <p:spPr bwMode="auto">
            <a:xfrm>
              <a:off x="2215134" y="4951475"/>
              <a:ext cx="497205" cy="284798"/>
            </a:xfrm>
            <a:custGeom>
              <a:avLst/>
              <a:gdLst>
                <a:gd name="T0" fmla="*/ 1424 w 662939"/>
                <a:gd name="T1" fmla="*/ 941 h 379729"/>
                <a:gd name="T2" fmla="*/ 66369 w 662939"/>
                <a:gd name="T3" fmla="*/ 941 h 379729"/>
                <a:gd name="T4" fmla="*/ 66369 w 662939"/>
                <a:gd name="T5" fmla="*/ 0 h 379729"/>
                <a:gd name="T6" fmla="*/ 0 w 662939"/>
                <a:gd name="T7" fmla="*/ 0 h 379729"/>
                <a:gd name="T8" fmla="*/ 0 w 662939"/>
                <a:gd name="T9" fmla="*/ 37991 h 379729"/>
                <a:gd name="T10" fmla="*/ 1424 w 662939"/>
                <a:gd name="T11" fmla="*/ 37991 h 379729"/>
                <a:gd name="T12" fmla="*/ 1424 w 662939"/>
                <a:gd name="T13" fmla="*/ 941 h 3797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2939" h="379729">
                  <a:moveTo>
                    <a:pt x="14224" y="9397"/>
                  </a:moveTo>
                  <a:lnTo>
                    <a:pt x="662939" y="9397"/>
                  </a:lnTo>
                  <a:lnTo>
                    <a:pt x="662939" y="0"/>
                  </a:lnTo>
                  <a:lnTo>
                    <a:pt x="0" y="0"/>
                  </a:lnTo>
                  <a:lnTo>
                    <a:pt x="0" y="379475"/>
                  </a:lnTo>
                  <a:lnTo>
                    <a:pt x="14224" y="379475"/>
                  </a:lnTo>
                  <a:lnTo>
                    <a:pt x="14224" y="9397"/>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4" name="object 242"/>
            <p:cNvSpPr/>
            <p:nvPr/>
          </p:nvSpPr>
          <p:spPr bwMode="auto">
            <a:xfrm>
              <a:off x="2344292" y="4801742"/>
              <a:ext cx="306705" cy="0"/>
            </a:xfrm>
            <a:custGeom>
              <a:avLst/>
              <a:gdLst>
                <a:gd name="T0" fmla="*/ 0 w 408939"/>
                <a:gd name="T1" fmla="*/ 40889 w 408939"/>
                <a:gd name="T2" fmla="*/ 0 60000 65536"/>
                <a:gd name="T3" fmla="*/ 0 60000 65536"/>
              </a:gdLst>
              <a:ahLst/>
              <a:cxnLst>
                <a:cxn ang="T2">
                  <a:pos x="T0" y="0"/>
                </a:cxn>
                <a:cxn ang="T3">
                  <a:pos x="T1" y="0"/>
                </a:cxn>
              </a:cxnLst>
              <a:rect l="0" t="0" r="r" b="b"/>
              <a:pathLst>
                <a:path w="408939">
                  <a:moveTo>
                    <a:pt x="0" y="0"/>
                  </a:moveTo>
                  <a:lnTo>
                    <a:pt x="408431"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5" name="object 243"/>
            <p:cNvSpPr/>
            <p:nvPr/>
          </p:nvSpPr>
          <p:spPr bwMode="auto">
            <a:xfrm>
              <a:off x="2340863" y="4801742"/>
              <a:ext cx="313373" cy="0"/>
            </a:xfrm>
            <a:custGeom>
              <a:avLst/>
              <a:gdLst>
                <a:gd name="T0" fmla="*/ 0 w 417829"/>
                <a:gd name="T1" fmla="*/ 41806 w 417829"/>
                <a:gd name="T2" fmla="*/ 0 60000 65536"/>
                <a:gd name="T3" fmla="*/ 0 60000 65536"/>
              </a:gdLst>
              <a:ahLst/>
              <a:cxnLst>
                <a:cxn ang="T2">
                  <a:pos x="T0" y="0"/>
                </a:cxn>
                <a:cxn ang="T3">
                  <a:pos x="T1" y="0"/>
                </a:cxn>
              </a:cxnLst>
              <a:rect l="0" t="0" r="r" b="b"/>
              <a:pathLst>
                <a:path w="417829">
                  <a:moveTo>
                    <a:pt x="0" y="0"/>
                  </a:moveTo>
                  <a:lnTo>
                    <a:pt x="417575"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6" name="object 244"/>
            <p:cNvSpPr/>
            <p:nvPr/>
          </p:nvSpPr>
          <p:spPr bwMode="auto">
            <a:xfrm>
              <a:off x="6188202" y="5533834"/>
              <a:ext cx="119062" cy="0"/>
            </a:xfrm>
            <a:custGeom>
              <a:avLst/>
              <a:gdLst>
                <a:gd name="T0" fmla="*/ 0 w 158750"/>
                <a:gd name="T1" fmla="*/ 15868 w 158750"/>
                <a:gd name="T2" fmla="*/ 0 60000 65536"/>
                <a:gd name="T3" fmla="*/ 0 60000 65536"/>
              </a:gdLst>
              <a:ahLst/>
              <a:cxnLst>
                <a:cxn ang="T2">
                  <a:pos x="T0" y="0"/>
                </a:cxn>
                <a:cxn ang="T3">
                  <a:pos x="T1" y="0"/>
                </a:cxn>
              </a:cxnLst>
              <a:rect l="0" t="0" r="r" b="b"/>
              <a:pathLst>
                <a:path w="158750">
                  <a:moveTo>
                    <a:pt x="0" y="0"/>
                  </a:moveTo>
                  <a:lnTo>
                    <a:pt x="15849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7" name="object 245"/>
            <p:cNvSpPr/>
            <p:nvPr/>
          </p:nvSpPr>
          <p:spPr bwMode="auto">
            <a:xfrm>
              <a:off x="6184773" y="5533834"/>
              <a:ext cx="125730" cy="0"/>
            </a:xfrm>
            <a:custGeom>
              <a:avLst/>
              <a:gdLst>
                <a:gd name="T0" fmla="*/ 0 w 167640"/>
                <a:gd name="T1" fmla="*/ 16784 w 167640"/>
                <a:gd name="T2" fmla="*/ 0 60000 65536"/>
                <a:gd name="T3" fmla="*/ 0 60000 65536"/>
              </a:gdLst>
              <a:ahLst/>
              <a:cxnLst>
                <a:cxn ang="T2">
                  <a:pos x="T0" y="0"/>
                </a:cxn>
                <a:cxn ang="T3">
                  <a:pos x="T1" y="0"/>
                </a:cxn>
              </a:cxnLst>
              <a:rect l="0" t="0" r="r" b="b"/>
              <a:pathLst>
                <a:path w="167640">
                  <a:moveTo>
                    <a:pt x="0" y="0"/>
                  </a:moveTo>
                  <a:lnTo>
                    <a:pt x="16764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28" name="object 246"/>
            <p:cNvSpPr/>
            <p:nvPr/>
          </p:nvSpPr>
          <p:spPr bwMode="auto">
            <a:xfrm>
              <a:off x="419482" y="5535550"/>
              <a:ext cx="70009" cy="52864"/>
            </a:xfrm>
            <a:custGeom>
              <a:avLst/>
              <a:gdLst>
                <a:gd name="T0" fmla="*/ 0 w 93345"/>
                <a:gd name="T1" fmla="*/ 7019 h 70485"/>
                <a:gd name="T2" fmla="*/ 9308 w 93345"/>
                <a:gd name="T3" fmla="*/ 7019 h 70485"/>
                <a:gd name="T4" fmla="*/ 9308 w 93345"/>
                <a:gd name="T5" fmla="*/ 0 h 70485"/>
                <a:gd name="T6" fmla="*/ 0 w 93345"/>
                <a:gd name="T7" fmla="*/ 0 h 70485"/>
                <a:gd name="T8" fmla="*/ 0 w 93345"/>
                <a:gd name="T9" fmla="*/ 7019 h 704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5" h="70485">
                  <a:moveTo>
                    <a:pt x="0" y="70104"/>
                  </a:moveTo>
                  <a:lnTo>
                    <a:pt x="92964" y="70104"/>
                  </a:lnTo>
                  <a:lnTo>
                    <a:pt x="92964" y="0"/>
                  </a:lnTo>
                  <a:lnTo>
                    <a:pt x="0" y="0"/>
                  </a:lnTo>
                  <a:lnTo>
                    <a:pt x="0" y="70104"/>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29" name="object 247"/>
            <p:cNvSpPr/>
            <p:nvPr/>
          </p:nvSpPr>
          <p:spPr bwMode="auto">
            <a:xfrm>
              <a:off x="419482" y="5535550"/>
              <a:ext cx="70009" cy="52864"/>
            </a:xfrm>
            <a:custGeom>
              <a:avLst/>
              <a:gdLst>
                <a:gd name="T0" fmla="*/ 0 w 93345"/>
                <a:gd name="T1" fmla="*/ 7019 h 70485"/>
                <a:gd name="T2" fmla="*/ 9308 w 93345"/>
                <a:gd name="T3" fmla="*/ 7019 h 70485"/>
                <a:gd name="T4" fmla="*/ 9308 w 93345"/>
                <a:gd name="T5" fmla="*/ 0 h 70485"/>
                <a:gd name="T6" fmla="*/ 0 w 93345"/>
                <a:gd name="T7" fmla="*/ 0 h 70485"/>
                <a:gd name="T8" fmla="*/ 0 w 93345"/>
                <a:gd name="T9" fmla="*/ 7019 h 704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5" h="70485">
                  <a:moveTo>
                    <a:pt x="0" y="70104"/>
                  </a:moveTo>
                  <a:lnTo>
                    <a:pt x="92964" y="70104"/>
                  </a:lnTo>
                  <a:lnTo>
                    <a:pt x="92964" y="0"/>
                  </a:lnTo>
                  <a:lnTo>
                    <a:pt x="0" y="0"/>
                  </a:lnTo>
                  <a:lnTo>
                    <a:pt x="0" y="70104"/>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30" name="object 248"/>
            <p:cNvSpPr/>
            <p:nvPr/>
          </p:nvSpPr>
          <p:spPr bwMode="auto">
            <a:xfrm>
              <a:off x="1017271" y="5494401"/>
              <a:ext cx="68580" cy="50482"/>
            </a:xfrm>
            <a:custGeom>
              <a:avLst/>
              <a:gdLst>
                <a:gd name="T0" fmla="*/ 0 w 91440"/>
                <a:gd name="T1" fmla="*/ 6713 h 67310"/>
                <a:gd name="T2" fmla="*/ 9155 w 91440"/>
                <a:gd name="T3" fmla="*/ 6713 h 67310"/>
                <a:gd name="T4" fmla="*/ 9155 w 91440"/>
                <a:gd name="T5" fmla="*/ 0 h 67310"/>
                <a:gd name="T6" fmla="*/ 0 w 91440"/>
                <a:gd name="T7" fmla="*/ 0 h 67310"/>
                <a:gd name="T8" fmla="*/ 0 w 91440"/>
                <a:gd name="T9" fmla="*/ 6713 h 67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 h="67310">
                  <a:moveTo>
                    <a:pt x="0" y="67056"/>
                  </a:moveTo>
                  <a:lnTo>
                    <a:pt x="91440" y="67056"/>
                  </a:lnTo>
                  <a:lnTo>
                    <a:pt x="91440" y="0"/>
                  </a:lnTo>
                  <a:lnTo>
                    <a:pt x="0" y="0"/>
                  </a:lnTo>
                  <a:lnTo>
                    <a:pt x="0" y="67056"/>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31" name="object 249"/>
            <p:cNvSpPr/>
            <p:nvPr/>
          </p:nvSpPr>
          <p:spPr bwMode="auto">
            <a:xfrm>
              <a:off x="1017271" y="5494401"/>
              <a:ext cx="68580" cy="50482"/>
            </a:xfrm>
            <a:custGeom>
              <a:avLst/>
              <a:gdLst>
                <a:gd name="T0" fmla="*/ 0 w 91440"/>
                <a:gd name="T1" fmla="*/ 6713 h 67310"/>
                <a:gd name="T2" fmla="*/ 9155 w 91440"/>
                <a:gd name="T3" fmla="*/ 6713 h 67310"/>
                <a:gd name="T4" fmla="*/ 9155 w 91440"/>
                <a:gd name="T5" fmla="*/ 0 h 67310"/>
                <a:gd name="T6" fmla="*/ 0 w 91440"/>
                <a:gd name="T7" fmla="*/ 0 h 67310"/>
                <a:gd name="T8" fmla="*/ 0 w 91440"/>
                <a:gd name="T9" fmla="*/ 6713 h 67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 h="67310">
                  <a:moveTo>
                    <a:pt x="0" y="67056"/>
                  </a:moveTo>
                  <a:lnTo>
                    <a:pt x="91440" y="67056"/>
                  </a:lnTo>
                  <a:lnTo>
                    <a:pt x="91440" y="0"/>
                  </a:lnTo>
                  <a:lnTo>
                    <a:pt x="0" y="0"/>
                  </a:lnTo>
                  <a:lnTo>
                    <a:pt x="0" y="67056"/>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32" name="object 250"/>
            <p:cNvSpPr/>
            <p:nvPr/>
          </p:nvSpPr>
          <p:spPr bwMode="auto">
            <a:xfrm>
              <a:off x="1445896" y="5598415"/>
              <a:ext cx="70009" cy="50482"/>
            </a:xfrm>
            <a:custGeom>
              <a:avLst/>
              <a:gdLst>
                <a:gd name="T0" fmla="*/ 0 w 93344"/>
                <a:gd name="T1" fmla="*/ 6713 h 67310"/>
                <a:gd name="T2" fmla="*/ 9308 w 93344"/>
                <a:gd name="T3" fmla="*/ 6713 h 67310"/>
                <a:gd name="T4" fmla="*/ 9308 w 93344"/>
                <a:gd name="T5" fmla="*/ 0 h 67310"/>
                <a:gd name="T6" fmla="*/ 0 w 93344"/>
                <a:gd name="T7" fmla="*/ 0 h 67310"/>
                <a:gd name="T8" fmla="*/ 0 w 93344"/>
                <a:gd name="T9" fmla="*/ 6713 h 67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4" h="67310">
                  <a:moveTo>
                    <a:pt x="0" y="67056"/>
                  </a:moveTo>
                  <a:lnTo>
                    <a:pt x="92963" y="67056"/>
                  </a:lnTo>
                  <a:lnTo>
                    <a:pt x="92963" y="0"/>
                  </a:lnTo>
                  <a:lnTo>
                    <a:pt x="0" y="0"/>
                  </a:lnTo>
                  <a:lnTo>
                    <a:pt x="0" y="67056"/>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33" name="object 251"/>
            <p:cNvSpPr/>
            <p:nvPr/>
          </p:nvSpPr>
          <p:spPr bwMode="auto">
            <a:xfrm>
              <a:off x="1445896" y="5598415"/>
              <a:ext cx="70009" cy="50482"/>
            </a:xfrm>
            <a:custGeom>
              <a:avLst/>
              <a:gdLst>
                <a:gd name="T0" fmla="*/ 0 w 93344"/>
                <a:gd name="T1" fmla="*/ 6713 h 67310"/>
                <a:gd name="T2" fmla="*/ 9308 w 93344"/>
                <a:gd name="T3" fmla="*/ 6713 h 67310"/>
                <a:gd name="T4" fmla="*/ 9308 w 93344"/>
                <a:gd name="T5" fmla="*/ 0 h 67310"/>
                <a:gd name="T6" fmla="*/ 0 w 93344"/>
                <a:gd name="T7" fmla="*/ 0 h 67310"/>
                <a:gd name="T8" fmla="*/ 0 w 93344"/>
                <a:gd name="T9" fmla="*/ 6713 h 67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4" h="67310">
                  <a:moveTo>
                    <a:pt x="0" y="67056"/>
                  </a:moveTo>
                  <a:lnTo>
                    <a:pt x="92963" y="67056"/>
                  </a:lnTo>
                  <a:lnTo>
                    <a:pt x="92963" y="0"/>
                  </a:lnTo>
                  <a:lnTo>
                    <a:pt x="0" y="0"/>
                  </a:lnTo>
                  <a:lnTo>
                    <a:pt x="0" y="67056"/>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34" name="object 252"/>
            <p:cNvSpPr/>
            <p:nvPr/>
          </p:nvSpPr>
          <p:spPr bwMode="auto">
            <a:xfrm>
              <a:off x="2530602" y="5404103"/>
              <a:ext cx="70009" cy="51435"/>
            </a:xfrm>
            <a:custGeom>
              <a:avLst/>
              <a:gdLst>
                <a:gd name="T0" fmla="*/ 0 w 93345"/>
                <a:gd name="T1" fmla="*/ 6866 h 68579"/>
                <a:gd name="T2" fmla="*/ 9308 w 93345"/>
                <a:gd name="T3" fmla="*/ 6866 h 68579"/>
                <a:gd name="T4" fmla="*/ 9308 w 93345"/>
                <a:gd name="T5" fmla="*/ 0 h 68579"/>
                <a:gd name="T6" fmla="*/ 0 w 93345"/>
                <a:gd name="T7" fmla="*/ 0 h 68579"/>
                <a:gd name="T8" fmla="*/ 0 w 93345"/>
                <a:gd name="T9" fmla="*/ 6866 h 68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5" h="68579">
                  <a:moveTo>
                    <a:pt x="0" y="68579"/>
                  </a:moveTo>
                  <a:lnTo>
                    <a:pt x="92963" y="68579"/>
                  </a:lnTo>
                  <a:lnTo>
                    <a:pt x="92963" y="0"/>
                  </a:lnTo>
                  <a:lnTo>
                    <a:pt x="0" y="0"/>
                  </a:lnTo>
                  <a:lnTo>
                    <a:pt x="0" y="68579"/>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35" name="object 253"/>
            <p:cNvSpPr/>
            <p:nvPr/>
          </p:nvSpPr>
          <p:spPr bwMode="auto">
            <a:xfrm>
              <a:off x="2530602" y="5404103"/>
              <a:ext cx="70009" cy="51435"/>
            </a:xfrm>
            <a:custGeom>
              <a:avLst/>
              <a:gdLst>
                <a:gd name="T0" fmla="*/ 0 w 93345"/>
                <a:gd name="T1" fmla="*/ 6866 h 68579"/>
                <a:gd name="T2" fmla="*/ 9308 w 93345"/>
                <a:gd name="T3" fmla="*/ 6866 h 68579"/>
                <a:gd name="T4" fmla="*/ 9308 w 93345"/>
                <a:gd name="T5" fmla="*/ 0 h 68579"/>
                <a:gd name="T6" fmla="*/ 0 w 93345"/>
                <a:gd name="T7" fmla="*/ 0 h 68579"/>
                <a:gd name="T8" fmla="*/ 0 w 93345"/>
                <a:gd name="T9" fmla="*/ 6866 h 68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5" h="68579">
                  <a:moveTo>
                    <a:pt x="0" y="68579"/>
                  </a:moveTo>
                  <a:lnTo>
                    <a:pt x="92963" y="68579"/>
                  </a:lnTo>
                  <a:lnTo>
                    <a:pt x="92963" y="0"/>
                  </a:lnTo>
                  <a:lnTo>
                    <a:pt x="0" y="0"/>
                  </a:lnTo>
                  <a:lnTo>
                    <a:pt x="0" y="68579"/>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36" name="object 254"/>
            <p:cNvSpPr/>
            <p:nvPr/>
          </p:nvSpPr>
          <p:spPr bwMode="auto">
            <a:xfrm>
              <a:off x="5959602" y="5420107"/>
              <a:ext cx="70009" cy="51435"/>
            </a:xfrm>
            <a:custGeom>
              <a:avLst/>
              <a:gdLst>
                <a:gd name="T0" fmla="*/ 0 w 93345"/>
                <a:gd name="T1" fmla="*/ 6866 h 68579"/>
                <a:gd name="T2" fmla="*/ 9308 w 93345"/>
                <a:gd name="T3" fmla="*/ 6866 h 68579"/>
                <a:gd name="T4" fmla="*/ 9308 w 93345"/>
                <a:gd name="T5" fmla="*/ 0 h 68579"/>
                <a:gd name="T6" fmla="*/ 0 w 93345"/>
                <a:gd name="T7" fmla="*/ 0 h 68579"/>
                <a:gd name="T8" fmla="*/ 0 w 93345"/>
                <a:gd name="T9" fmla="*/ 6866 h 68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5" h="68579">
                  <a:moveTo>
                    <a:pt x="0" y="68579"/>
                  </a:moveTo>
                  <a:lnTo>
                    <a:pt x="92964" y="68579"/>
                  </a:lnTo>
                  <a:lnTo>
                    <a:pt x="92964" y="0"/>
                  </a:lnTo>
                  <a:lnTo>
                    <a:pt x="0" y="0"/>
                  </a:lnTo>
                  <a:lnTo>
                    <a:pt x="0" y="68579"/>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37" name="object 255"/>
            <p:cNvSpPr/>
            <p:nvPr/>
          </p:nvSpPr>
          <p:spPr bwMode="auto">
            <a:xfrm>
              <a:off x="5959602" y="5420107"/>
              <a:ext cx="70009" cy="51435"/>
            </a:xfrm>
            <a:custGeom>
              <a:avLst/>
              <a:gdLst>
                <a:gd name="T0" fmla="*/ 0 w 93345"/>
                <a:gd name="T1" fmla="*/ 6866 h 68579"/>
                <a:gd name="T2" fmla="*/ 9308 w 93345"/>
                <a:gd name="T3" fmla="*/ 6866 h 68579"/>
                <a:gd name="T4" fmla="*/ 9308 w 93345"/>
                <a:gd name="T5" fmla="*/ 0 h 68579"/>
                <a:gd name="T6" fmla="*/ 0 w 93345"/>
                <a:gd name="T7" fmla="*/ 0 h 68579"/>
                <a:gd name="T8" fmla="*/ 0 w 93345"/>
                <a:gd name="T9" fmla="*/ 6866 h 68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45" h="68579">
                  <a:moveTo>
                    <a:pt x="0" y="68579"/>
                  </a:moveTo>
                  <a:lnTo>
                    <a:pt x="92964" y="68579"/>
                  </a:lnTo>
                  <a:lnTo>
                    <a:pt x="92964" y="0"/>
                  </a:lnTo>
                  <a:lnTo>
                    <a:pt x="0" y="0"/>
                  </a:lnTo>
                  <a:lnTo>
                    <a:pt x="0" y="68579"/>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38" name="object 256"/>
            <p:cNvSpPr/>
            <p:nvPr/>
          </p:nvSpPr>
          <p:spPr bwMode="auto">
            <a:xfrm>
              <a:off x="7522082" y="5616415"/>
              <a:ext cx="69533" cy="0"/>
            </a:xfrm>
            <a:custGeom>
              <a:avLst/>
              <a:gdLst>
                <a:gd name="T0" fmla="*/ 0 w 92709"/>
                <a:gd name="T1" fmla="*/ 9232 w 92709"/>
                <a:gd name="T2" fmla="*/ 0 60000 65536"/>
                <a:gd name="T3" fmla="*/ 0 60000 65536"/>
              </a:gdLst>
              <a:ahLst/>
              <a:cxnLst>
                <a:cxn ang="T2">
                  <a:pos x="T0" y="0"/>
                </a:cxn>
                <a:cxn ang="T3">
                  <a:pos x="T1" y="0"/>
                </a:cxn>
              </a:cxnLst>
              <a:rect l="0" t="0" r="r" b="b"/>
              <a:pathLst>
                <a:path w="92709">
                  <a:moveTo>
                    <a:pt x="0" y="0"/>
                  </a:moveTo>
                  <a:lnTo>
                    <a:pt x="92201" y="0"/>
                  </a:lnTo>
                </a:path>
              </a:pathLst>
            </a:custGeom>
            <a:noFill/>
            <a:ln w="2920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39" name="object 257"/>
            <p:cNvSpPr/>
            <p:nvPr/>
          </p:nvSpPr>
          <p:spPr bwMode="auto">
            <a:xfrm>
              <a:off x="7522082" y="5602128"/>
              <a:ext cx="274320" cy="0"/>
            </a:xfrm>
            <a:custGeom>
              <a:avLst/>
              <a:gdLst>
                <a:gd name="T0" fmla="*/ 0 w 365759"/>
                <a:gd name="T1" fmla="*/ 36618 w 365759"/>
                <a:gd name="T2" fmla="*/ 0 60000 65536"/>
                <a:gd name="T3" fmla="*/ 0 60000 65536"/>
              </a:gdLst>
              <a:ahLst/>
              <a:cxnLst>
                <a:cxn ang="T2">
                  <a:pos x="T0" y="0"/>
                </a:cxn>
                <a:cxn ang="T3">
                  <a:pos x="T1" y="0"/>
                </a:cxn>
              </a:cxnLst>
              <a:rect l="0" t="0" r="r" b="b"/>
              <a:pathLst>
                <a:path w="365759">
                  <a:moveTo>
                    <a:pt x="0" y="0"/>
                  </a:moveTo>
                  <a:lnTo>
                    <a:pt x="365759" y="0"/>
                  </a:lnTo>
                </a:path>
              </a:pathLst>
            </a:custGeom>
            <a:noFill/>
            <a:ln w="889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40" name="object 258"/>
            <p:cNvSpPr/>
            <p:nvPr/>
          </p:nvSpPr>
          <p:spPr bwMode="auto">
            <a:xfrm>
              <a:off x="7522082" y="5587841"/>
              <a:ext cx="69533" cy="0"/>
            </a:xfrm>
            <a:custGeom>
              <a:avLst/>
              <a:gdLst>
                <a:gd name="T0" fmla="*/ 0 w 92709"/>
                <a:gd name="T1" fmla="*/ 9232 w 92709"/>
                <a:gd name="T2" fmla="*/ 0 60000 65536"/>
                <a:gd name="T3" fmla="*/ 0 60000 65536"/>
              </a:gdLst>
              <a:ahLst/>
              <a:cxnLst>
                <a:cxn ang="T2">
                  <a:pos x="T0" y="0"/>
                </a:cxn>
                <a:cxn ang="T3">
                  <a:pos x="T1" y="0"/>
                </a:cxn>
              </a:cxnLst>
              <a:rect l="0" t="0" r="r" b="b"/>
              <a:pathLst>
                <a:path w="92709">
                  <a:moveTo>
                    <a:pt x="0" y="0"/>
                  </a:moveTo>
                  <a:lnTo>
                    <a:pt x="92201" y="0"/>
                  </a:lnTo>
                </a:path>
              </a:pathLst>
            </a:custGeom>
            <a:noFill/>
            <a:ln w="2920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41" name="object 259"/>
            <p:cNvSpPr/>
            <p:nvPr/>
          </p:nvSpPr>
          <p:spPr bwMode="auto">
            <a:xfrm>
              <a:off x="7726014" y="5616150"/>
              <a:ext cx="70485" cy="0"/>
            </a:xfrm>
            <a:custGeom>
              <a:avLst/>
              <a:gdLst>
                <a:gd name="T0" fmla="*/ 0 w 93979"/>
                <a:gd name="T1" fmla="*/ 9397 w 93979"/>
                <a:gd name="T2" fmla="*/ 0 60000 65536"/>
                <a:gd name="T3" fmla="*/ 0 60000 65536"/>
              </a:gdLst>
              <a:ahLst/>
              <a:cxnLst>
                <a:cxn ang="T2">
                  <a:pos x="T0" y="0"/>
                </a:cxn>
                <a:cxn ang="T3">
                  <a:pos x="T1" y="0"/>
                </a:cxn>
              </a:cxnLst>
              <a:rect l="0" t="0" r="r" b="b"/>
              <a:pathLst>
                <a:path w="93979">
                  <a:moveTo>
                    <a:pt x="0" y="0"/>
                  </a:moveTo>
                  <a:lnTo>
                    <a:pt x="93852" y="0"/>
                  </a:lnTo>
                </a:path>
              </a:pathLst>
            </a:custGeom>
            <a:noFill/>
            <a:ln w="28905">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42" name="object 260"/>
            <p:cNvSpPr/>
            <p:nvPr/>
          </p:nvSpPr>
          <p:spPr bwMode="auto">
            <a:xfrm>
              <a:off x="7726014" y="5587536"/>
              <a:ext cx="70485" cy="0"/>
            </a:xfrm>
            <a:custGeom>
              <a:avLst/>
              <a:gdLst>
                <a:gd name="T0" fmla="*/ 0 w 93979"/>
                <a:gd name="T1" fmla="*/ 9397 w 93979"/>
                <a:gd name="T2" fmla="*/ 0 60000 65536"/>
                <a:gd name="T3" fmla="*/ 0 60000 65536"/>
              </a:gdLst>
              <a:ahLst/>
              <a:cxnLst>
                <a:cxn ang="T2">
                  <a:pos x="T0" y="0"/>
                </a:cxn>
                <a:cxn ang="T3">
                  <a:pos x="T1" y="0"/>
                </a:cxn>
              </a:cxnLst>
              <a:rect l="0" t="0" r="r" b="b"/>
              <a:pathLst>
                <a:path w="93979">
                  <a:moveTo>
                    <a:pt x="0" y="0"/>
                  </a:moveTo>
                  <a:lnTo>
                    <a:pt x="93852" y="0"/>
                  </a:lnTo>
                </a:path>
              </a:pathLst>
            </a:custGeom>
            <a:noFill/>
            <a:ln w="28905">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43" name="object 261"/>
            <p:cNvSpPr/>
            <p:nvPr/>
          </p:nvSpPr>
          <p:spPr bwMode="auto">
            <a:xfrm>
              <a:off x="7522082" y="5576698"/>
              <a:ext cx="274320" cy="50482"/>
            </a:xfrm>
            <a:custGeom>
              <a:avLst/>
              <a:gdLst>
                <a:gd name="T0" fmla="*/ 36618 w 365759"/>
                <a:gd name="T1" fmla="*/ 6712 h 67310"/>
                <a:gd name="T2" fmla="*/ 36618 w 365759"/>
                <a:gd name="T3" fmla="*/ 0 h 67310"/>
                <a:gd name="T4" fmla="*/ 27222 w 365759"/>
                <a:gd name="T5" fmla="*/ 0 h 67310"/>
                <a:gd name="T6" fmla="*/ 27222 w 365759"/>
                <a:gd name="T7" fmla="*/ 2893 h 67310"/>
                <a:gd name="T8" fmla="*/ 9231 w 365759"/>
                <a:gd name="T9" fmla="*/ 2893 h 67310"/>
                <a:gd name="T10" fmla="*/ 9231 w 365759"/>
                <a:gd name="T11" fmla="*/ 0 h 67310"/>
                <a:gd name="T12" fmla="*/ 0 w 365759"/>
                <a:gd name="T13" fmla="*/ 0 h 67310"/>
                <a:gd name="T14" fmla="*/ 0 w 365759"/>
                <a:gd name="T15" fmla="*/ 6712 h 67310"/>
                <a:gd name="T16" fmla="*/ 9231 w 365759"/>
                <a:gd name="T17" fmla="*/ 6712 h 67310"/>
                <a:gd name="T18" fmla="*/ 9231 w 365759"/>
                <a:gd name="T19" fmla="*/ 3819 h 67310"/>
                <a:gd name="T20" fmla="*/ 27222 w 365759"/>
                <a:gd name="T21" fmla="*/ 3819 h 67310"/>
                <a:gd name="T22" fmla="*/ 27222 w 365759"/>
                <a:gd name="T23" fmla="*/ 6712 h 67310"/>
                <a:gd name="T24" fmla="*/ 36618 w 365759"/>
                <a:gd name="T25" fmla="*/ 6712 h 673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5759" h="67310">
                  <a:moveTo>
                    <a:pt x="365759" y="67055"/>
                  </a:moveTo>
                  <a:lnTo>
                    <a:pt x="365759" y="0"/>
                  </a:lnTo>
                  <a:lnTo>
                    <a:pt x="271906" y="0"/>
                  </a:lnTo>
                  <a:lnTo>
                    <a:pt x="271906" y="28905"/>
                  </a:lnTo>
                  <a:lnTo>
                    <a:pt x="92201" y="28905"/>
                  </a:lnTo>
                  <a:lnTo>
                    <a:pt x="92201" y="0"/>
                  </a:lnTo>
                  <a:lnTo>
                    <a:pt x="0" y="0"/>
                  </a:lnTo>
                  <a:lnTo>
                    <a:pt x="0" y="67055"/>
                  </a:lnTo>
                  <a:lnTo>
                    <a:pt x="92201" y="67055"/>
                  </a:lnTo>
                  <a:lnTo>
                    <a:pt x="92201" y="38150"/>
                  </a:lnTo>
                  <a:lnTo>
                    <a:pt x="271906" y="38150"/>
                  </a:lnTo>
                  <a:lnTo>
                    <a:pt x="271906" y="67055"/>
                  </a:lnTo>
                  <a:lnTo>
                    <a:pt x="365759" y="67055"/>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44" name="object 262"/>
            <p:cNvSpPr/>
            <p:nvPr/>
          </p:nvSpPr>
          <p:spPr bwMode="auto">
            <a:xfrm>
              <a:off x="6407658" y="5648136"/>
              <a:ext cx="70962" cy="50958"/>
            </a:xfrm>
            <a:custGeom>
              <a:avLst/>
              <a:gdLst>
                <a:gd name="T0" fmla="*/ 9461 w 94615"/>
                <a:gd name="T1" fmla="*/ 0 h 67945"/>
                <a:gd name="T2" fmla="*/ 0 w 94615"/>
                <a:gd name="T3" fmla="*/ 0 h 67945"/>
                <a:gd name="T4" fmla="*/ 0 w 94615"/>
                <a:gd name="T5" fmla="*/ 6789 h 67945"/>
                <a:gd name="T6" fmla="*/ 9461 w 94615"/>
                <a:gd name="T7" fmla="*/ 6789 h 67945"/>
                <a:gd name="T8" fmla="*/ 9461 w 94615"/>
                <a:gd name="T9" fmla="*/ 0 h 67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615" h="67945">
                  <a:moveTo>
                    <a:pt x="94487" y="0"/>
                  </a:moveTo>
                  <a:lnTo>
                    <a:pt x="0" y="0"/>
                  </a:lnTo>
                  <a:lnTo>
                    <a:pt x="0" y="67817"/>
                  </a:lnTo>
                  <a:lnTo>
                    <a:pt x="94487" y="67817"/>
                  </a:lnTo>
                  <a:lnTo>
                    <a:pt x="94487"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45" name="object 263"/>
            <p:cNvSpPr/>
            <p:nvPr/>
          </p:nvSpPr>
          <p:spPr bwMode="auto">
            <a:xfrm>
              <a:off x="6443710" y="5177219"/>
              <a:ext cx="0" cy="471011"/>
            </a:xfrm>
            <a:custGeom>
              <a:avLst/>
              <a:gdLst>
                <a:gd name="T0" fmla="*/ 0 h 628014"/>
                <a:gd name="T1" fmla="*/ 62860 h 628014"/>
                <a:gd name="T2" fmla="*/ 0 60000 65536"/>
                <a:gd name="T3" fmla="*/ 0 60000 65536"/>
              </a:gdLst>
              <a:ahLst/>
              <a:cxnLst>
                <a:cxn ang="T2">
                  <a:pos x="0" y="T0"/>
                </a:cxn>
                <a:cxn ang="T3">
                  <a:pos x="0" y="T1"/>
                </a:cxn>
              </a:cxnLst>
              <a:rect l="0" t="0" r="r" b="b"/>
              <a:pathLst>
                <a:path h="628014">
                  <a:moveTo>
                    <a:pt x="0" y="0"/>
                  </a:moveTo>
                  <a:lnTo>
                    <a:pt x="0" y="627887"/>
                  </a:lnTo>
                </a:path>
              </a:pathLst>
            </a:custGeom>
            <a:noFill/>
            <a:ln w="12826">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46" name="object 264"/>
            <p:cNvSpPr/>
            <p:nvPr/>
          </p:nvSpPr>
          <p:spPr bwMode="auto">
            <a:xfrm>
              <a:off x="6407658" y="5126356"/>
              <a:ext cx="70962" cy="50958"/>
            </a:xfrm>
            <a:custGeom>
              <a:avLst/>
              <a:gdLst>
                <a:gd name="T0" fmla="*/ 9461 w 94615"/>
                <a:gd name="T1" fmla="*/ 0 h 67945"/>
                <a:gd name="T2" fmla="*/ 0 w 94615"/>
                <a:gd name="T3" fmla="*/ 0 h 67945"/>
                <a:gd name="T4" fmla="*/ 0 w 94615"/>
                <a:gd name="T5" fmla="*/ 6789 h 67945"/>
                <a:gd name="T6" fmla="*/ 9461 w 94615"/>
                <a:gd name="T7" fmla="*/ 6789 h 67945"/>
                <a:gd name="T8" fmla="*/ 9461 w 94615"/>
                <a:gd name="T9" fmla="*/ 0 h 67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615" h="67945">
                  <a:moveTo>
                    <a:pt x="94487" y="0"/>
                  </a:moveTo>
                  <a:lnTo>
                    <a:pt x="0" y="0"/>
                  </a:lnTo>
                  <a:lnTo>
                    <a:pt x="0" y="67818"/>
                  </a:lnTo>
                  <a:lnTo>
                    <a:pt x="94487" y="67818"/>
                  </a:lnTo>
                  <a:lnTo>
                    <a:pt x="94487"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47" name="object 265"/>
            <p:cNvSpPr/>
            <p:nvPr/>
          </p:nvSpPr>
          <p:spPr bwMode="auto">
            <a:xfrm>
              <a:off x="6407658" y="5126356"/>
              <a:ext cx="70962" cy="572929"/>
            </a:xfrm>
            <a:custGeom>
              <a:avLst/>
              <a:gdLst>
                <a:gd name="T0" fmla="*/ 9461 w 94615"/>
                <a:gd name="T1" fmla="*/ 69650 h 763904"/>
                <a:gd name="T2" fmla="*/ 5455 w 94615"/>
                <a:gd name="T3" fmla="*/ 69650 h 763904"/>
                <a:gd name="T4" fmla="*/ 5455 w 94615"/>
                <a:gd name="T5" fmla="*/ 6790 h 763904"/>
                <a:gd name="T6" fmla="*/ 9461 w 94615"/>
                <a:gd name="T7" fmla="*/ 6790 h 763904"/>
                <a:gd name="T8" fmla="*/ 9461 w 94615"/>
                <a:gd name="T9" fmla="*/ 0 h 763904"/>
                <a:gd name="T10" fmla="*/ 0 w 94615"/>
                <a:gd name="T11" fmla="*/ 0 h 763904"/>
                <a:gd name="T12" fmla="*/ 0 w 94615"/>
                <a:gd name="T13" fmla="*/ 6790 h 763904"/>
                <a:gd name="T14" fmla="*/ 4171 w 94615"/>
                <a:gd name="T15" fmla="*/ 6790 h 763904"/>
                <a:gd name="T16" fmla="*/ 4171 w 94615"/>
                <a:gd name="T17" fmla="*/ 69650 h 763904"/>
                <a:gd name="T18" fmla="*/ 0 w 94615"/>
                <a:gd name="T19" fmla="*/ 69650 h 763904"/>
                <a:gd name="T20" fmla="*/ 0 w 94615"/>
                <a:gd name="T21" fmla="*/ 76440 h 763904"/>
                <a:gd name="T22" fmla="*/ 9461 w 94615"/>
                <a:gd name="T23" fmla="*/ 76440 h 763904"/>
                <a:gd name="T24" fmla="*/ 9461 w 94615"/>
                <a:gd name="T25" fmla="*/ 69650 h 76390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615" h="763904">
                  <a:moveTo>
                    <a:pt x="94487" y="695706"/>
                  </a:moveTo>
                  <a:lnTo>
                    <a:pt x="54482" y="695706"/>
                  </a:lnTo>
                  <a:lnTo>
                    <a:pt x="54482" y="67818"/>
                  </a:lnTo>
                  <a:lnTo>
                    <a:pt x="94487" y="67818"/>
                  </a:lnTo>
                  <a:lnTo>
                    <a:pt x="94487" y="0"/>
                  </a:lnTo>
                  <a:lnTo>
                    <a:pt x="0" y="0"/>
                  </a:lnTo>
                  <a:lnTo>
                    <a:pt x="0" y="67818"/>
                  </a:lnTo>
                  <a:lnTo>
                    <a:pt x="41655" y="67818"/>
                  </a:lnTo>
                  <a:lnTo>
                    <a:pt x="41655" y="695706"/>
                  </a:lnTo>
                  <a:lnTo>
                    <a:pt x="0" y="695706"/>
                  </a:lnTo>
                  <a:lnTo>
                    <a:pt x="0" y="763524"/>
                  </a:lnTo>
                  <a:lnTo>
                    <a:pt x="94487" y="763524"/>
                  </a:lnTo>
                  <a:lnTo>
                    <a:pt x="94487" y="695706"/>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48" name="object 266"/>
            <p:cNvSpPr/>
            <p:nvPr/>
          </p:nvSpPr>
          <p:spPr bwMode="auto">
            <a:xfrm>
              <a:off x="6535674" y="4786883"/>
              <a:ext cx="207169" cy="912495"/>
            </a:xfrm>
            <a:custGeom>
              <a:avLst/>
              <a:gdLst>
                <a:gd name="T0" fmla="*/ 9359 w 276225"/>
                <a:gd name="T1" fmla="*/ 114962 h 1216660"/>
                <a:gd name="T2" fmla="*/ 0 w 276225"/>
                <a:gd name="T3" fmla="*/ 114962 h 1216660"/>
                <a:gd name="T4" fmla="*/ 0 w 276225"/>
                <a:gd name="T5" fmla="*/ 121753 h 1216660"/>
                <a:gd name="T6" fmla="*/ 9359 w 276225"/>
                <a:gd name="T7" fmla="*/ 121753 h 1216660"/>
                <a:gd name="T8" fmla="*/ 9359 w 276225"/>
                <a:gd name="T9" fmla="*/ 114962 h 1216660"/>
                <a:gd name="T10" fmla="*/ 23802 w 276225"/>
                <a:gd name="T11" fmla="*/ 6790 h 1216660"/>
                <a:gd name="T12" fmla="*/ 22378 w 276225"/>
                <a:gd name="T13" fmla="*/ 6790 h 1216660"/>
                <a:gd name="T14" fmla="*/ 22378 w 276225"/>
                <a:gd name="T15" fmla="*/ 18143 h 1216660"/>
                <a:gd name="T16" fmla="*/ 3968 w 276225"/>
                <a:gd name="T17" fmla="*/ 31723 h 1216660"/>
                <a:gd name="T18" fmla="*/ 3968 w 276225"/>
                <a:gd name="T19" fmla="*/ 114962 h 1216660"/>
                <a:gd name="T20" fmla="*/ 5391 w 276225"/>
                <a:gd name="T21" fmla="*/ 114962 h 1216660"/>
                <a:gd name="T22" fmla="*/ 5391 w 276225"/>
                <a:gd name="T23" fmla="*/ 32079 h 1216660"/>
                <a:gd name="T24" fmla="*/ 23802 w 276225"/>
                <a:gd name="T25" fmla="*/ 18500 h 1216660"/>
                <a:gd name="T26" fmla="*/ 23802 w 276225"/>
                <a:gd name="T27" fmla="*/ 6790 h 1216660"/>
                <a:gd name="T28" fmla="*/ 27616 w 276225"/>
                <a:gd name="T29" fmla="*/ 0 h 1216660"/>
                <a:gd name="T30" fmla="*/ 18093 w 276225"/>
                <a:gd name="T31" fmla="*/ 0 h 1216660"/>
                <a:gd name="T32" fmla="*/ 18093 w 276225"/>
                <a:gd name="T33" fmla="*/ 6790 h 1216660"/>
                <a:gd name="T34" fmla="*/ 27616 w 276225"/>
                <a:gd name="T35" fmla="*/ 6790 h 1216660"/>
                <a:gd name="T36" fmla="*/ 27616 w 276225"/>
                <a:gd name="T37" fmla="*/ 0 h 121666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76225" h="1216660">
                  <a:moveTo>
                    <a:pt x="93472" y="1148321"/>
                  </a:moveTo>
                  <a:lnTo>
                    <a:pt x="0" y="1148321"/>
                  </a:lnTo>
                  <a:lnTo>
                    <a:pt x="0" y="1216152"/>
                  </a:lnTo>
                  <a:lnTo>
                    <a:pt x="93472" y="1216152"/>
                  </a:lnTo>
                  <a:lnTo>
                    <a:pt x="93472" y="1148321"/>
                  </a:lnTo>
                  <a:close/>
                </a:path>
                <a:path w="276225" h="1216660">
                  <a:moveTo>
                    <a:pt x="237744" y="67818"/>
                  </a:moveTo>
                  <a:lnTo>
                    <a:pt x="223520" y="67818"/>
                  </a:lnTo>
                  <a:lnTo>
                    <a:pt x="223520" y="181228"/>
                  </a:lnTo>
                  <a:lnTo>
                    <a:pt x="39624" y="316865"/>
                  </a:lnTo>
                  <a:lnTo>
                    <a:pt x="39624" y="1148321"/>
                  </a:lnTo>
                  <a:lnTo>
                    <a:pt x="53848" y="1148321"/>
                  </a:lnTo>
                  <a:lnTo>
                    <a:pt x="53848" y="320421"/>
                  </a:lnTo>
                  <a:lnTo>
                    <a:pt x="237744" y="184784"/>
                  </a:lnTo>
                  <a:lnTo>
                    <a:pt x="237744" y="67818"/>
                  </a:lnTo>
                  <a:close/>
                </a:path>
                <a:path w="276225" h="1216660">
                  <a:moveTo>
                    <a:pt x="275844" y="0"/>
                  </a:moveTo>
                  <a:lnTo>
                    <a:pt x="180721" y="0"/>
                  </a:lnTo>
                  <a:lnTo>
                    <a:pt x="180721" y="67818"/>
                  </a:lnTo>
                  <a:lnTo>
                    <a:pt x="275844" y="67818"/>
                  </a:lnTo>
                  <a:lnTo>
                    <a:pt x="275844"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49" name="object 267"/>
            <p:cNvSpPr/>
            <p:nvPr/>
          </p:nvSpPr>
          <p:spPr bwMode="auto">
            <a:xfrm>
              <a:off x="6535674" y="4786883"/>
              <a:ext cx="207169" cy="912495"/>
            </a:xfrm>
            <a:custGeom>
              <a:avLst/>
              <a:gdLst>
                <a:gd name="T0" fmla="*/ 9359 w 276225"/>
                <a:gd name="T1" fmla="*/ 114962 h 1216660"/>
                <a:gd name="T2" fmla="*/ 5391 w 276225"/>
                <a:gd name="T3" fmla="*/ 114962 h 1216660"/>
                <a:gd name="T4" fmla="*/ 5391 w 276225"/>
                <a:gd name="T5" fmla="*/ 32079 h 1216660"/>
                <a:gd name="T6" fmla="*/ 23802 w 276225"/>
                <a:gd name="T7" fmla="*/ 18500 h 1216660"/>
                <a:gd name="T8" fmla="*/ 23802 w 276225"/>
                <a:gd name="T9" fmla="*/ 6790 h 1216660"/>
                <a:gd name="T10" fmla="*/ 27616 w 276225"/>
                <a:gd name="T11" fmla="*/ 6790 h 1216660"/>
                <a:gd name="T12" fmla="*/ 27616 w 276225"/>
                <a:gd name="T13" fmla="*/ 0 h 1216660"/>
                <a:gd name="T14" fmla="*/ 18093 w 276225"/>
                <a:gd name="T15" fmla="*/ 0 h 1216660"/>
                <a:gd name="T16" fmla="*/ 18093 w 276225"/>
                <a:gd name="T17" fmla="*/ 6790 h 1216660"/>
                <a:gd name="T18" fmla="*/ 22378 w 276225"/>
                <a:gd name="T19" fmla="*/ 6790 h 1216660"/>
                <a:gd name="T20" fmla="*/ 22378 w 276225"/>
                <a:gd name="T21" fmla="*/ 18143 h 1216660"/>
                <a:gd name="T22" fmla="*/ 3968 w 276225"/>
                <a:gd name="T23" fmla="*/ 31723 h 1216660"/>
                <a:gd name="T24" fmla="*/ 3968 w 276225"/>
                <a:gd name="T25" fmla="*/ 114962 h 1216660"/>
                <a:gd name="T26" fmla="*/ 0 w 276225"/>
                <a:gd name="T27" fmla="*/ 114962 h 1216660"/>
                <a:gd name="T28" fmla="*/ 0 w 276225"/>
                <a:gd name="T29" fmla="*/ 121753 h 1216660"/>
                <a:gd name="T30" fmla="*/ 9359 w 276225"/>
                <a:gd name="T31" fmla="*/ 121753 h 1216660"/>
                <a:gd name="T32" fmla="*/ 9359 w 276225"/>
                <a:gd name="T33" fmla="*/ 114962 h 12166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6225" h="1216660">
                  <a:moveTo>
                    <a:pt x="93472" y="1148321"/>
                  </a:moveTo>
                  <a:lnTo>
                    <a:pt x="53848" y="1148321"/>
                  </a:lnTo>
                  <a:lnTo>
                    <a:pt x="53848" y="320421"/>
                  </a:lnTo>
                  <a:lnTo>
                    <a:pt x="237744" y="184784"/>
                  </a:lnTo>
                  <a:lnTo>
                    <a:pt x="237744" y="67818"/>
                  </a:lnTo>
                  <a:lnTo>
                    <a:pt x="275844" y="67818"/>
                  </a:lnTo>
                  <a:lnTo>
                    <a:pt x="275844" y="0"/>
                  </a:lnTo>
                  <a:lnTo>
                    <a:pt x="180721" y="0"/>
                  </a:lnTo>
                  <a:lnTo>
                    <a:pt x="180721" y="67818"/>
                  </a:lnTo>
                  <a:lnTo>
                    <a:pt x="223520" y="67818"/>
                  </a:lnTo>
                  <a:lnTo>
                    <a:pt x="223520" y="181228"/>
                  </a:lnTo>
                  <a:lnTo>
                    <a:pt x="39624" y="316865"/>
                  </a:lnTo>
                  <a:lnTo>
                    <a:pt x="39624" y="1148321"/>
                  </a:lnTo>
                  <a:lnTo>
                    <a:pt x="0" y="1148321"/>
                  </a:lnTo>
                  <a:lnTo>
                    <a:pt x="0" y="1216152"/>
                  </a:lnTo>
                  <a:lnTo>
                    <a:pt x="93472" y="1216152"/>
                  </a:lnTo>
                  <a:lnTo>
                    <a:pt x="93472" y="114832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0" name="object 268"/>
            <p:cNvSpPr/>
            <p:nvPr/>
          </p:nvSpPr>
          <p:spPr bwMode="auto">
            <a:xfrm>
              <a:off x="6575678" y="4786883"/>
              <a:ext cx="421958" cy="912495"/>
            </a:xfrm>
            <a:custGeom>
              <a:avLst/>
              <a:gdLst>
                <a:gd name="T0" fmla="*/ 46917 w 562609"/>
                <a:gd name="T1" fmla="*/ 114962 h 1216660"/>
                <a:gd name="T2" fmla="*/ 56300 w 562609"/>
                <a:gd name="T3" fmla="*/ 121753 h 1216660"/>
                <a:gd name="T4" fmla="*/ 35309 w 562609"/>
                <a:gd name="T5" fmla="*/ 6790 h 1216660"/>
                <a:gd name="T6" fmla="*/ 33872 w 562609"/>
                <a:gd name="T7" fmla="*/ 17444 h 1216660"/>
                <a:gd name="T8" fmla="*/ 51050 w 562609"/>
                <a:gd name="T9" fmla="*/ 35706 h 1216660"/>
                <a:gd name="T10" fmla="*/ 0 w 562609"/>
                <a:gd name="T11" fmla="*/ 36643 h 1216660"/>
                <a:gd name="T12" fmla="*/ 51050 w 562609"/>
                <a:gd name="T13" fmla="*/ 48116 h 1216660"/>
                <a:gd name="T14" fmla="*/ 0 w 562609"/>
                <a:gd name="T15" fmla="*/ 49169 h 1216660"/>
                <a:gd name="T16" fmla="*/ 51050 w 562609"/>
                <a:gd name="T17" fmla="*/ 60643 h 1216660"/>
                <a:gd name="T18" fmla="*/ 0 w 562609"/>
                <a:gd name="T19" fmla="*/ 61695 h 1216660"/>
                <a:gd name="T20" fmla="*/ 51050 w 562609"/>
                <a:gd name="T21" fmla="*/ 73169 h 1216660"/>
                <a:gd name="T22" fmla="*/ 0 w 562609"/>
                <a:gd name="T23" fmla="*/ 74106 h 1216660"/>
                <a:gd name="T24" fmla="*/ 51050 w 562609"/>
                <a:gd name="T25" fmla="*/ 85695 h 1216660"/>
                <a:gd name="T26" fmla="*/ 0 w 562609"/>
                <a:gd name="T27" fmla="*/ 86632 h 1216660"/>
                <a:gd name="T28" fmla="*/ 51050 w 562609"/>
                <a:gd name="T29" fmla="*/ 98104 h 1216660"/>
                <a:gd name="T30" fmla="*/ 0 w 562609"/>
                <a:gd name="T31" fmla="*/ 99158 h 1216660"/>
                <a:gd name="T32" fmla="*/ 51050 w 562609"/>
                <a:gd name="T33" fmla="*/ 110632 h 1216660"/>
                <a:gd name="T34" fmla="*/ 0 w 562609"/>
                <a:gd name="T35" fmla="*/ 111685 h 1216660"/>
                <a:gd name="T36" fmla="*/ 51050 w 562609"/>
                <a:gd name="T37" fmla="*/ 114962 h 1216660"/>
                <a:gd name="T38" fmla="*/ 52486 w 562609"/>
                <a:gd name="T39" fmla="*/ 31723 h 1216660"/>
                <a:gd name="T40" fmla="*/ 35309 w 562609"/>
                <a:gd name="T41" fmla="*/ 6790 h 1216660"/>
                <a:gd name="T42" fmla="*/ 14469 w 562609"/>
                <a:gd name="T43" fmla="*/ 111685 h 1216660"/>
                <a:gd name="T44" fmla="*/ 37698 w 562609"/>
                <a:gd name="T45" fmla="*/ 113909 h 1216660"/>
                <a:gd name="T46" fmla="*/ 37698 w 562609"/>
                <a:gd name="T47" fmla="*/ 108407 h 1216660"/>
                <a:gd name="T48" fmla="*/ 14469 w 562609"/>
                <a:gd name="T49" fmla="*/ 110632 h 1216660"/>
                <a:gd name="T50" fmla="*/ 37698 w 562609"/>
                <a:gd name="T51" fmla="*/ 108407 h 1216660"/>
                <a:gd name="T52" fmla="*/ 14152 w 562609"/>
                <a:gd name="T53" fmla="*/ 99158 h 1216660"/>
                <a:gd name="T54" fmla="*/ 37368 w 562609"/>
                <a:gd name="T55" fmla="*/ 101267 h 1216660"/>
                <a:gd name="T56" fmla="*/ 37368 w 562609"/>
                <a:gd name="T57" fmla="*/ 95998 h 1216660"/>
                <a:gd name="T58" fmla="*/ 14152 w 562609"/>
                <a:gd name="T59" fmla="*/ 98104 h 1216660"/>
                <a:gd name="T60" fmla="*/ 37368 w 562609"/>
                <a:gd name="T61" fmla="*/ 95998 h 1216660"/>
                <a:gd name="T62" fmla="*/ 14152 w 562609"/>
                <a:gd name="T63" fmla="*/ 86632 h 1216660"/>
                <a:gd name="T64" fmla="*/ 37368 w 562609"/>
                <a:gd name="T65" fmla="*/ 88856 h 1216660"/>
                <a:gd name="T66" fmla="*/ 37368 w 562609"/>
                <a:gd name="T67" fmla="*/ 83472 h 1216660"/>
                <a:gd name="T68" fmla="*/ 14152 w 562609"/>
                <a:gd name="T69" fmla="*/ 85695 h 1216660"/>
                <a:gd name="T70" fmla="*/ 37368 w 562609"/>
                <a:gd name="T71" fmla="*/ 83472 h 1216660"/>
                <a:gd name="T72" fmla="*/ 14152 w 562609"/>
                <a:gd name="T73" fmla="*/ 74106 h 1216660"/>
                <a:gd name="T74" fmla="*/ 37368 w 562609"/>
                <a:gd name="T75" fmla="*/ 76447 h 1216660"/>
                <a:gd name="T76" fmla="*/ 37368 w 562609"/>
                <a:gd name="T77" fmla="*/ 71062 h 1216660"/>
                <a:gd name="T78" fmla="*/ 14152 w 562609"/>
                <a:gd name="T79" fmla="*/ 73169 h 1216660"/>
                <a:gd name="T80" fmla="*/ 37368 w 562609"/>
                <a:gd name="T81" fmla="*/ 71062 h 1216660"/>
                <a:gd name="T82" fmla="*/ 14152 w 562609"/>
                <a:gd name="T83" fmla="*/ 61695 h 1216660"/>
                <a:gd name="T84" fmla="*/ 37368 w 562609"/>
                <a:gd name="T85" fmla="*/ 63803 h 1216660"/>
                <a:gd name="T86" fmla="*/ 37368 w 562609"/>
                <a:gd name="T87" fmla="*/ 58418 h 1216660"/>
                <a:gd name="T88" fmla="*/ 14152 w 562609"/>
                <a:gd name="T89" fmla="*/ 60643 h 1216660"/>
                <a:gd name="T90" fmla="*/ 37368 w 562609"/>
                <a:gd name="T91" fmla="*/ 58418 h 1216660"/>
                <a:gd name="T92" fmla="*/ 14152 w 562609"/>
                <a:gd name="T93" fmla="*/ 49169 h 1216660"/>
                <a:gd name="T94" fmla="*/ 37368 w 562609"/>
                <a:gd name="T95" fmla="*/ 51394 h 1216660"/>
                <a:gd name="T96" fmla="*/ 37368 w 562609"/>
                <a:gd name="T97" fmla="*/ 46009 h 1216660"/>
                <a:gd name="T98" fmla="*/ 14152 w 562609"/>
                <a:gd name="T99" fmla="*/ 48116 h 1216660"/>
                <a:gd name="T100" fmla="*/ 37368 w 562609"/>
                <a:gd name="T101" fmla="*/ 46009 h 1216660"/>
                <a:gd name="T102" fmla="*/ 14152 w 562609"/>
                <a:gd name="T103" fmla="*/ 36643 h 1216660"/>
                <a:gd name="T104" fmla="*/ 37368 w 562609"/>
                <a:gd name="T105" fmla="*/ 38868 h 1216660"/>
                <a:gd name="T106" fmla="*/ 37368 w 562609"/>
                <a:gd name="T107" fmla="*/ 33477 h 1216660"/>
                <a:gd name="T108" fmla="*/ 14152 w 562609"/>
                <a:gd name="T109" fmla="*/ 35706 h 1216660"/>
                <a:gd name="T110" fmla="*/ 37368 w 562609"/>
                <a:gd name="T111" fmla="*/ 33477 h 1216660"/>
                <a:gd name="T112" fmla="*/ 29904 w 562609"/>
                <a:gd name="T113" fmla="*/ 0 h 1216660"/>
                <a:gd name="T114" fmla="*/ 39440 w 562609"/>
                <a:gd name="T115" fmla="*/ 6790 h 12166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62609" h="1216660">
                  <a:moveTo>
                    <a:pt x="562355" y="1148321"/>
                  </a:moveTo>
                  <a:lnTo>
                    <a:pt x="468629" y="1148321"/>
                  </a:lnTo>
                  <a:lnTo>
                    <a:pt x="468629" y="1216152"/>
                  </a:lnTo>
                  <a:lnTo>
                    <a:pt x="562355" y="1216152"/>
                  </a:lnTo>
                  <a:lnTo>
                    <a:pt x="562355" y="1148321"/>
                  </a:lnTo>
                  <a:close/>
                </a:path>
                <a:path w="562609" h="1216660">
                  <a:moveTo>
                    <a:pt x="352678" y="67818"/>
                  </a:moveTo>
                  <a:lnTo>
                    <a:pt x="338327" y="67818"/>
                  </a:lnTo>
                  <a:lnTo>
                    <a:pt x="338327" y="174244"/>
                  </a:lnTo>
                  <a:lnTo>
                    <a:pt x="509904" y="320421"/>
                  </a:lnTo>
                  <a:lnTo>
                    <a:pt x="509904" y="356654"/>
                  </a:lnTo>
                  <a:lnTo>
                    <a:pt x="0" y="356654"/>
                  </a:lnTo>
                  <a:lnTo>
                    <a:pt x="0" y="366013"/>
                  </a:lnTo>
                  <a:lnTo>
                    <a:pt x="509904" y="366013"/>
                  </a:lnTo>
                  <a:lnTo>
                    <a:pt x="509904" y="480618"/>
                  </a:lnTo>
                  <a:lnTo>
                    <a:pt x="0" y="480618"/>
                  </a:lnTo>
                  <a:lnTo>
                    <a:pt x="0" y="491134"/>
                  </a:lnTo>
                  <a:lnTo>
                    <a:pt x="509904" y="491134"/>
                  </a:lnTo>
                  <a:lnTo>
                    <a:pt x="509904" y="605739"/>
                  </a:lnTo>
                  <a:lnTo>
                    <a:pt x="0" y="605739"/>
                  </a:lnTo>
                  <a:lnTo>
                    <a:pt x="0" y="616254"/>
                  </a:lnTo>
                  <a:lnTo>
                    <a:pt x="509904" y="616254"/>
                  </a:lnTo>
                  <a:lnTo>
                    <a:pt x="509904" y="730859"/>
                  </a:lnTo>
                  <a:lnTo>
                    <a:pt x="0" y="730859"/>
                  </a:lnTo>
                  <a:lnTo>
                    <a:pt x="0" y="740219"/>
                  </a:lnTo>
                  <a:lnTo>
                    <a:pt x="509904" y="740219"/>
                  </a:lnTo>
                  <a:lnTo>
                    <a:pt x="509904" y="855980"/>
                  </a:lnTo>
                  <a:lnTo>
                    <a:pt x="0" y="855980"/>
                  </a:lnTo>
                  <a:lnTo>
                    <a:pt x="0" y="865339"/>
                  </a:lnTo>
                  <a:lnTo>
                    <a:pt x="509904" y="865339"/>
                  </a:lnTo>
                  <a:lnTo>
                    <a:pt x="509904" y="979932"/>
                  </a:lnTo>
                  <a:lnTo>
                    <a:pt x="0" y="979932"/>
                  </a:lnTo>
                  <a:lnTo>
                    <a:pt x="0" y="990460"/>
                  </a:lnTo>
                  <a:lnTo>
                    <a:pt x="509904" y="990460"/>
                  </a:lnTo>
                  <a:lnTo>
                    <a:pt x="509904" y="1105065"/>
                  </a:lnTo>
                  <a:lnTo>
                    <a:pt x="0" y="1105065"/>
                  </a:lnTo>
                  <a:lnTo>
                    <a:pt x="0" y="1115580"/>
                  </a:lnTo>
                  <a:lnTo>
                    <a:pt x="509904" y="1115580"/>
                  </a:lnTo>
                  <a:lnTo>
                    <a:pt x="509904" y="1148321"/>
                  </a:lnTo>
                  <a:lnTo>
                    <a:pt x="524255" y="1148321"/>
                  </a:lnTo>
                  <a:lnTo>
                    <a:pt x="524255" y="316865"/>
                  </a:lnTo>
                  <a:lnTo>
                    <a:pt x="352678" y="170687"/>
                  </a:lnTo>
                  <a:lnTo>
                    <a:pt x="352678" y="67818"/>
                  </a:lnTo>
                  <a:close/>
                </a:path>
                <a:path w="562609" h="1216660">
                  <a:moveTo>
                    <a:pt x="376554" y="1115580"/>
                  </a:moveTo>
                  <a:lnTo>
                    <a:pt x="144525" y="1115580"/>
                  </a:lnTo>
                  <a:lnTo>
                    <a:pt x="144525" y="1137805"/>
                  </a:lnTo>
                  <a:lnTo>
                    <a:pt x="376554" y="1137805"/>
                  </a:lnTo>
                  <a:lnTo>
                    <a:pt x="376554" y="1115580"/>
                  </a:lnTo>
                  <a:close/>
                </a:path>
                <a:path w="562609" h="1216660">
                  <a:moveTo>
                    <a:pt x="376554" y="1082840"/>
                  </a:moveTo>
                  <a:lnTo>
                    <a:pt x="144525" y="1082840"/>
                  </a:lnTo>
                  <a:lnTo>
                    <a:pt x="144525" y="1105065"/>
                  </a:lnTo>
                  <a:lnTo>
                    <a:pt x="376554" y="1105065"/>
                  </a:lnTo>
                  <a:lnTo>
                    <a:pt x="376554" y="1082840"/>
                  </a:lnTo>
                  <a:close/>
                </a:path>
                <a:path w="562609" h="1216660">
                  <a:moveTo>
                    <a:pt x="373252" y="990460"/>
                  </a:moveTo>
                  <a:lnTo>
                    <a:pt x="141350" y="990460"/>
                  </a:lnTo>
                  <a:lnTo>
                    <a:pt x="141350" y="1011516"/>
                  </a:lnTo>
                  <a:lnTo>
                    <a:pt x="373252" y="1011516"/>
                  </a:lnTo>
                  <a:lnTo>
                    <a:pt x="373252" y="990460"/>
                  </a:lnTo>
                  <a:close/>
                </a:path>
                <a:path w="562609" h="1216660">
                  <a:moveTo>
                    <a:pt x="373252" y="958888"/>
                  </a:moveTo>
                  <a:lnTo>
                    <a:pt x="141350" y="958888"/>
                  </a:lnTo>
                  <a:lnTo>
                    <a:pt x="141350" y="979932"/>
                  </a:lnTo>
                  <a:lnTo>
                    <a:pt x="373252" y="979932"/>
                  </a:lnTo>
                  <a:lnTo>
                    <a:pt x="373252" y="958888"/>
                  </a:lnTo>
                  <a:close/>
                </a:path>
                <a:path w="562609" h="1216660">
                  <a:moveTo>
                    <a:pt x="373252" y="865339"/>
                  </a:moveTo>
                  <a:lnTo>
                    <a:pt x="141350" y="865339"/>
                  </a:lnTo>
                  <a:lnTo>
                    <a:pt x="141350" y="887552"/>
                  </a:lnTo>
                  <a:lnTo>
                    <a:pt x="373252" y="887552"/>
                  </a:lnTo>
                  <a:lnTo>
                    <a:pt x="373252" y="865339"/>
                  </a:lnTo>
                  <a:close/>
                </a:path>
                <a:path w="562609" h="1216660">
                  <a:moveTo>
                    <a:pt x="373252" y="833767"/>
                  </a:moveTo>
                  <a:lnTo>
                    <a:pt x="141350" y="833767"/>
                  </a:lnTo>
                  <a:lnTo>
                    <a:pt x="141350" y="855980"/>
                  </a:lnTo>
                  <a:lnTo>
                    <a:pt x="373252" y="855980"/>
                  </a:lnTo>
                  <a:lnTo>
                    <a:pt x="373252" y="833767"/>
                  </a:lnTo>
                  <a:close/>
                </a:path>
                <a:path w="562609" h="1216660">
                  <a:moveTo>
                    <a:pt x="373252" y="740219"/>
                  </a:moveTo>
                  <a:lnTo>
                    <a:pt x="141350" y="740219"/>
                  </a:lnTo>
                  <a:lnTo>
                    <a:pt x="141350" y="763600"/>
                  </a:lnTo>
                  <a:lnTo>
                    <a:pt x="373252" y="763600"/>
                  </a:lnTo>
                  <a:lnTo>
                    <a:pt x="373252" y="740219"/>
                  </a:lnTo>
                  <a:close/>
                </a:path>
                <a:path w="562609" h="1216660">
                  <a:moveTo>
                    <a:pt x="373252" y="709815"/>
                  </a:moveTo>
                  <a:lnTo>
                    <a:pt x="141350" y="709815"/>
                  </a:lnTo>
                  <a:lnTo>
                    <a:pt x="141350" y="730859"/>
                  </a:lnTo>
                  <a:lnTo>
                    <a:pt x="373252" y="730859"/>
                  </a:lnTo>
                  <a:lnTo>
                    <a:pt x="373252" y="709815"/>
                  </a:lnTo>
                  <a:close/>
                </a:path>
                <a:path w="562609" h="1216660">
                  <a:moveTo>
                    <a:pt x="373252" y="616254"/>
                  </a:moveTo>
                  <a:lnTo>
                    <a:pt x="141350" y="616254"/>
                  </a:lnTo>
                  <a:lnTo>
                    <a:pt x="141350" y="637311"/>
                  </a:lnTo>
                  <a:lnTo>
                    <a:pt x="373252" y="637311"/>
                  </a:lnTo>
                  <a:lnTo>
                    <a:pt x="373252" y="616254"/>
                  </a:lnTo>
                  <a:close/>
                </a:path>
                <a:path w="562609" h="1216660">
                  <a:moveTo>
                    <a:pt x="373252" y="583514"/>
                  </a:moveTo>
                  <a:lnTo>
                    <a:pt x="141350" y="583514"/>
                  </a:lnTo>
                  <a:lnTo>
                    <a:pt x="141350" y="605739"/>
                  </a:lnTo>
                  <a:lnTo>
                    <a:pt x="373252" y="605739"/>
                  </a:lnTo>
                  <a:lnTo>
                    <a:pt x="373252" y="583514"/>
                  </a:lnTo>
                  <a:close/>
                </a:path>
                <a:path w="562609" h="1216660">
                  <a:moveTo>
                    <a:pt x="373252" y="491134"/>
                  </a:moveTo>
                  <a:lnTo>
                    <a:pt x="141350" y="491134"/>
                  </a:lnTo>
                  <a:lnTo>
                    <a:pt x="141350" y="513359"/>
                  </a:lnTo>
                  <a:lnTo>
                    <a:pt x="373252" y="513359"/>
                  </a:lnTo>
                  <a:lnTo>
                    <a:pt x="373252" y="491134"/>
                  </a:lnTo>
                  <a:close/>
                </a:path>
                <a:path w="562609" h="1216660">
                  <a:moveTo>
                    <a:pt x="373252" y="459562"/>
                  </a:moveTo>
                  <a:lnTo>
                    <a:pt x="141350" y="459562"/>
                  </a:lnTo>
                  <a:lnTo>
                    <a:pt x="141350" y="480618"/>
                  </a:lnTo>
                  <a:lnTo>
                    <a:pt x="373252" y="480618"/>
                  </a:lnTo>
                  <a:lnTo>
                    <a:pt x="373252" y="459562"/>
                  </a:lnTo>
                  <a:close/>
                </a:path>
                <a:path w="562609" h="1216660">
                  <a:moveTo>
                    <a:pt x="373252" y="366013"/>
                  </a:moveTo>
                  <a:lnTo>
                    <a:pt x="141350" y="366013"/>
                  </a:lnTo>
                  <a:lnTo>
                    <a:pt x="141350" y="388238"/>
                  </a:lnTo>
                  <a:lnTo>
                    <a:pt x="373252" y="388238"/>
                  </a:lnTo>
                  <a:lnTo>
                    <a:pt x="373252" y="366013"/>
                  </a:lnTo>
                  <a:close/>
                </a:path>
                <a:path w="562609" h="1216660">
                  <a:moveTo>
                    <a:pt x="373252" y="334391"/>
                  </a:moveTo>
                  <a:lnTo>
                    <a:pt x="141350" y="334391"/>
                  </a:lnTo>
                  <a:lnTo>
                    <a:pt x="141350" y="356654"/>
                  </a:lnTo>
                  <a:lnTo>
                    <a:pt x="373252" y="356654"/>
                  </a:lnTo>
                  <a:lnTo>
                    <a:pt x="373252" y="334391"/>
                  </a:lnTo>
                  <a:close/>
                </a:path>
                <a:path w="562609" h="1216660">
                  <a:moveTo>
                    <a:pt x="393953" y="0"/>
                  </a:moveTo>
                  <a:lnTo>
                    <a:pt x="298703" y="0"/>
                  </a:lnTo>
                  <a:lnTo>
                    <a:pt x="298703" y="67818"/>
                  </a:lnTo>
                  <a:lnTo>
                    <a:pt x="393953" y="67818"/>
                  </a:lnTo>
                  <a:lnTo>
                    <a:pt x="393953"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51" name="object 269"/>
            <p:cNvSpPr/>
            <p:nvPr/>
          </p:nvSpPr>
          <p:spPr bwMode="auto">
            <a:xfrm>
              <a:off x="6575678" y="4786883"/>
              <a:ext cx="421958" cy="912495"/>
            </a:xfrm>
            <a:custGeom>
              <a:avLst/>
              <a:gdLst>
                <a:gd name="T0" fmla="*/ 51050 w 562609"/>
                <a:gd name="T1" fmla="*/ 32079 h 1216660"/>
                <a:gd name="T2" fmla="*/ 37368 w 562609"/>
                <a:gd name="T3" fmla="*/ 35706 h 1216660"/>
                <a:gd name="T4" fmla="*/ 14152 w 562609"/>
                <a:gd name="T5" fmla="*/ 33477 h 1216660"/>
                <a:gd name="T6" fmla="*/ 0 w 562609"/>
                <a:gd name="T7" fmla="*/ 35706 h 1216660"/>
                <a:gd name="T8" fmla="*/ 14152 w 562609"/>
                <a:gd name="T9" fmla="*/ 36643 h 1216660"/>
                <a:gd name="T10" fmla="*/ 37368 w 562609"/>
                <a:gd name="T11" fmla="*/ 38868 h 1216660"/>
                <a:gd name="T12" fmla="*/ 51050 w 562609"/>
                <a:gd name="T13" fmla="*/ 36643 h 1216660"/>
                <a:gd name="T14" fmla="*/ 37368 w 562609"/>
                <a:gd name="T15" fmla="*/ 48116 h 1216660"/>
                <a:gd name="T16" fmla="*/ 14152 w 562609"/>
                <a:gd name="T17" fmla="*/ 46009 h 1216660"/>
                <a:gd name="T18" fmla="*/ 0 w 562609"/>
                <a:gd name="T19" fmla="*/ 48116 h 1216660"/>
                <a:gd name="T20" fmla="*/ 14152 w 562609"/>
                <a:gd name="T21" fmla="*/ 49169 h 1216660"/>
                <a:gd name="T22" fmla="*/ 37368 w 562609"/>
                <a:gd name="T23" fmla="*/ 51394 h 1216660"/>
                <a:gd name="T24" fmla="*/ 51050 w 562609"/>
                <a:gd name="T25" fmla="*/ 49169 h 1216660"/>
                <a:gd name="T26" fmla="*/ 37368 w 562609"/>
                <a:gd name="T27" fmla="*/ 60643 h 1216660"/>
                <a:gd name="T28" fmla="*/ 14152 w 562609"/>
                <a:gd name="T29" fmla="*/ 58418 h 1216660"/>
                <a:gd name="T30" fmla="*/ 0 w 562609"/>
                <a:gd name="T31" fmla="*/ 60643 h 1216660"/>
                <a:gd name="T32" fmla="*/ 14152 w 562609"/>
                <a:gd name="T33" fmla="*/ 61695 h 1216660"/>
                <a:gd name="T34" fmla="*/ 37368 w 562609"/>
                <a:gd name="T35" fmla="*/ 63803 h 1216660"/>
                <a:gd name="T36" fmla="*/ 51050 w 562609"/>
                <a:gd name="T37" fmla="*/ 61695 h 1216660"/>
                <a:gd name="T38" fmla="*/ 37368 w 562609"/>
                <a:gd name="T39" fmla="*/ 73169 h 1216660"/>
                <a:gd name="T40" fmla="*/ 14152 w 562609"/>
                <a:gd name="T41" fmla="*/ 71062 h 1216660"/>
                <a:gd name="T42" fmla="*/ 0 w 562609"/>
                <a:gd name="T43" fmla="*/ 73169 h 1216660"/>
                <a:gd name="T44" fmla="*/ 14152 w 562609"/>
                <a:gd name="T45" fmla="*/ 74106 h 1216660"/>
                <a:gd name="T46" fmla="*/ 37368 w 562609"/>
                <a:gd name="T47" fmla="*/ 76447 h 1216660"/>
                <a:gd name="T48" fmla="*/ 51050 w 562609"/>
                <a:gd name="T49" fmla="*/ 74106 h 1216660"/>
                <a:gd name="T50" fmla="*/ 37368 w 562609"/>
                <a:gd name="T51" fmla="*/ 85695 h 1216660"/>
                <a:gd name="T52" fmla="*/ 14152 w 562609"/>
                <a:gd name="T53" fmla="*/ 83472 h 1216660"/>
                <a:gd name="T54" fmla="*/ 0 w 562609"/>
                <a:gd name="T55" fmla="*/ 85695 h 1216660"/>
                <a:gd name="T56" fmla="*/ 14152 w 562609"/>
                <a:gd name="T57" fmla="*/ 86632 h 1216660"/>
                <a:gd name="T58" fmla="*/ 37368 w 562609"/>
                <a:gd name="T59" fmla="*/ 88856 h 1216660"/>
                <a:gd name="T60" fmla="*/ 51050 w 562609"/>
                <a:gd name="T61" fmla="*/ 86632 h 1216660"/>
                <a:gd name="T62" fmla="*/ 37368 w 562609"/>
                <a:gd name="T63" fmla="*/ 98104 h 1216660"/>
                <a:gd name="T64" fmla="*/ 14152 w 562609"/>
                <a:gd name="T65" fmla="*/ 95998 h 1216660"/>
                <a:gd name="T66" fmla="*/ 0 w 562609"/>
                <a:gd name="T67" fmla="*/ 98104 h 1216660"/>
                <a:gd name="T68" fmla="*/ 14152 w 562609"/>
                <a:gd name="T69" fmla="*/ 99158 h 1216660"/>
                <a:gd name="T70" fmla="*/ 37368 w 562609"/>
                <a:gd name="T71" fmla="*/ 101267 h 1216660"/>
                <a:gd name="T72" fmla="*/ 51050 w 562609"/>
                <a:gd name="T73" fmla="*/ 99158 h 1216660"/>
                <a:gd name="T74" fmla="*/ 37698 w 562609"/>
                <a:gd name="T75" fmla="*/ 110632 h 1216660"/>
                <a:gd name="T76" fmla="*/ 14469 w 562609"/>
                <a:gd name="T77" fmla="*/ 108407 h 1216660"/>
                <a:gd name="T78" fmla="*/ 0 w 562609"/>
                <a:gd name="T79" fmla="*/ 110632 h 1216660"/>
                <a:gd name="T80" fmla="*/ 14469 w 562609"/>
                <a:gd name="T81" fmla="*/ 111685 h 1216660"/>
                <a:gd name="T82" fmla="*/ 37698 w 562609"/>
                <a:gd name="T83" fmla="*/ 113909 h 1216660"/>
                <a:gd name="T84" fmla="*/ 51050 w 562609"/>
                <a:gd name="T85" fmla="*/ 111685 h 1216660"/>
                <a:gd name="T86" fmla="*/ 46917 w 562609"/>
                <a:gd name="T87" fmla="*/ 114962 h 1216660"/>
                <a:gd name="T88" fmla="*/ 56300 w 562609"/>
                <a:gd name="T89" fmla="*/ 121753 h 1216660"/>
                <a:gd name="T90" fmla="*/ 52486 w 562609"/>
                <a:gd name="T91" fmla="*/ 114962 h 1216660"/>
                <a:gd name="T92" fmla="*/ 35309 w 562609"/>
                <a:gd name="T93" fmla="*/ 17088 h 1216660"/>
                <a:gd name="T94" fmla="*/ 39440 w 562609"/>
                <a:gd name="T95" fmla="*/ 6790 h 1216660"/>
                <a:gd name="T96" fmla="*/ 29904 w 562609"/>
                <a:gd name="T97" fmla="*/ 0 h 1216660"/>
                <a:gd name="T98" fmla="*/ 33872 w 562609"/>
                <a:gd name="T99" fmla="*/ 6790 h 12166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62609" h="1216660">
                  <a:moveTo>
                    <a:pt x="338327" y="174244"/>
                  </a:moveTo>
                  <a:lnTo>
                    <a:pt x="509904" y="320421"/>
                  </a:lnTo>
                  <a:lnTo>
                    <a:pt x="509904" y="356654"/>
                  </a:lnTo>
                  <a:lnTo>
                    <a:pt x="373252" y="356654"/>
                  </a:lnTo>
                  <a:lnTo>
                    <a:pt x="373252" y="334391"/>
                  </a:lnTo>
                  <a:lnTo>
                    <a:pt x="141350" y="334391"/>
                  </a:lnTo>
                  <a:lnTo>
                    <a:pt x="141350" y="356654"/>
                  </a:lnTo>
                  <a:lnTo>
                    <a:pt x="0" y="356654"/>
                  </a:lnTo>
                  <a:lnTo>
                    <a:pt x="0" y="366013"/>
                  </a:lnTo>
                  <a:lnTo>
                    <a:pt x="141350" y="366013"/>
                  </a:lnTo>
                  <a:lnTo>
                    <a:pt x="141350" y="388238"/>
                  </a:lnTo>
                  <a:lnTo>
                    <a:pt x="373252" y="388238"/>
                  </a:lnTo>
                  <a:lnTo>
                    <a:pt x="373252" y="366013"/>
                  </a:lnTo>
                  <a:lnTo>
                    <a:pt x="509904" y="366013"/>
                  </a:lnTo>
                  <a:lnTo>
                    <a:pt x="509904" y="480618"/>
                  </a:lnTo>
                  <a:lnTo>
                    <a:pt x="373252" y="480618"/>
                  </a:lnTo>
                  <a:lnTo>
                    <a:pt x="373252" y="459562"/>
                  </a:lnTo>
                  <a:lnTo>
                    <a:pt x="141350" y="459562"/>
                  </a:lnTo>
                  <a:lnTo>
                    <a:pt x="141350" y="480618"/>
                  </a:lnTo>
                  <a:lnTo>
                    <a:pt x="0" y="480618"/>
                  </a:lnTo>
                  <a:lnTo>
                    <a:pt x="0" y="491134"/>
                  </a:lnTo>
                  <a:lnTo>
                    <a:pt x="141350" y="491134"/>
                  </a:lnTo>
                  <a:lnTo>
                    <a:pt x="141350" y="513359"/>
                  </a:lnTo>
                  <a:lnTo>
                    <a:pt x="373252" y="513359"/>
                  </a:lnTo>
                  <a:lnTo>
                    <a:pt x="373252" y="491134"/>
                  </a:lnTo>
                  <a:lnTo>
                    <a:pt x="509904" y="491134"/>
                  </a:lnTo>
                  <a:lnTo>
                    <a:pt x="509904" y="605739"/>
                  </a:lnTo>
                  <a:lnTo>
                    <a:pt x="373252" y="605739"/>
                  </a:lnTo>
                  <a:lnTo>
                    <a:pt x="373252" y="583514"/>
                  </a:lnTo>
                  <a:lnTo>
                    <a:pt x="141350" y="583514"/>
                  </a:lnTo>
                  <a:lnTo>
                    <a:pt x="141350" y="605739"/>
                  </a:lnTo>
                  <a:lnTo>
                    <a:pt x="0" y="605739"/>
                  </a:lnTo>
                  <a:lnTo>
                    <a:pt x="0" y="616254"/>
                  </a:lnTo>
                  <a:lnTo>
                    <a:pt x="141350" y="616254"/>
                  </a:lnTo>
                  <a:lnTo>
                    <a:pt x="141350" y="637311"/>
                  </a:lnTo>
                  <a:lnTo>
                    <a:pt x="373252" y="637311"/>
                  </a:lnTo>
                  <a:lnTo>
                    <a:pt x="373252" y="616254"/>
                  </a:lnTo>
                  <a:lnTo>
                    <a:pt x="509904" y="616254"/>
                  </a:lnTo>
                  <a:lnTo>
                    <a:pt x="509904" y="730859"/>
                  </a:lnTo>
                  <a:lnTo>
                    <a:pt x="373252" y="730859"/>
                  </a:lnTo>
                  <a:lnTo>
                    <a:pt x="373252" y="709815"/>
                  </a:lnTo>
                  <a:lnTo>
                    <a:pt x="141350" y="709815"/>
                  </a:lnTo>
                  <a:lnTo>
                    <a:pt x="141350" y="730859"/>
                  </a:lnTo>
                  <a:lnTo>
                    <a:pt x="0" y="730859"/>
                  </a:lnTo>
                  <a:lnTo>
                    <a:pt x="0" y="740219"/>
                  </a:lnTo>
                  <a:lnTo>
                    <a:pt x="141350" y="740219"/>
                  </a:lnTo>
                  <a:lnTo>
                    <a:pt x="141350" y="763600"/>
                  </a:lnTo>
                  <a:lnTo>
                    <a:pt x="373252" y="763600"/>
                  </a:lnTo>
                  <a:lnTo>
                    <a:pt x="373252" y="740219"/>
                  </a:lnTo>
                  <a:lnTo>
                    <a:pt x="509904" y="740219"/>
                  </a:lnTo>
                  <a:lnTo>
                    <a:pt x="509904" y="855980"/>
                  </a:lnTo>
                  <a:lnTo>
                    <a:pt x="373252" y="855980"/>
                  </a:lnTo>
                  <a:lnTo>
                    <a:pt x="373252" y="833767"/>
                  </a:lnTo>
                  <a:lnTo>
                    <a:pt x="141350" y="833767"/>
                  </a:lnTo>
                  <a:lnTo>
                    <a:pt x="141350" y="855980"/>
                  </a:lnTo>
                  <a:lnTo>
                    <a:pt x="0" y="855980"/>
                  </a:lnTo>
                  <a:lnTo>
                    <a:pt x="0" y="865339"/>
                  </a:lnTo>
                  <a:lnTo>
                    <a:pt x="141350" y="865339"/>
                  </a:lnTo>
                  <a:lnTo>
                    <a:pt x="141350" y="887552"/>
                  </a:lnTo>
                  <a:lnTo>
                    <a:pt x="373252" y="887552"/>
                  </a:lnTo>
                  <a:lnTo>
                    <a:pt x="373252" y="865339"/>
                  </a:lnTo>
                  <a:lnTo>
                    <a:pt x="509904" y="865339"/>
                  </a:lnTo>
                  <a:lnTo>
                    <a:pt x="509904" y="979932"/>
                  </a:lnTo>
                  <a:lnTo>
                    <a:pt x="373252" y="979932"/>
                  </a:lnTo>
                  <a:lnTo>
                    <a:pt x="373252" y="958888"/>
                  </a:lnTo>
                  <a:lnTo>
                    <a:pt x="141350" y="958888"/>
                  </a:lnTo>
                  <a:lnTo>
                    <a:pt x="141350" y="979932"/>
                  </a:lnTo>
                  <a:lnTo>
                    <a:pt x="0" y="979932"/>
                  </a:lnTo>
                  <a:lnTo>
                    <a:pt x="0" y="990460"/>
                  </a:lnTo>
                  <a:lnTo>
                    <a:pt x="141350" y="990460"/>
                  </a:lnTo>
                  <a:lnTo>
                    <a:pt x="141350" y="1011516"/>
                  </a:lnTo>
                  <a:lnTo>
                    <a:pt x="373252" y="1011516"/>
                  </a:lnTo>
                  <a:lnTo>
                    <a:pt x="373252" y="990460"/>
                  </a:lnTo>
                  <a:lnTo>
                    <a:pt x="509904" y="990460"/>
                  </a:lnTo>
                  <a:lnTo>
                    <a:pt x="509904" y="1105065"/>
                  </a:lnTo>
                  <a:lnTo>
                    <a:pt x="376554" y="1105065"/>
                  </a:lnTo>
                  <a:lnTo>
                    <a:pt x="376554" y="1082840"/>
                  </a:lnTo>
                  <a:lnTo>
                    <a:pt x="144525" y="1082840"/>
                  </a:lnTo>
                  <a:lnTo>
                    <a:pt x="144525" y="1105065"/>
                  </a:lnTo>
                  <a:lnTo>
                    <a:pt x="0" y="1105065"/>
                  </a:lnTo>
                  <a:lnTo>
                    <a:pt x="0" y="1115580"/>
                  </a:lnTo>
                  <a:lnTo>
                    <a:pt x="144525" y="1115580"/>
                  </a:lnTo>
                  <a:lnTo>
                    <a:pt x="144525" y="1137805"/>
                  </a:lnTo>
                  <a:lnTo>
                    <a:pt x="376554" y="1137805"/>
                  </a:lnTo>
                  <a:lnTo>
                    <a:pt x="376554" y="1115580"/>
                  </a:lnTo>
                  <a:lnTo>
                    <a:pt x="509904" y="1115580"/>
                  </a:lnTo>
                  <a:lnTo>
                    <a:pt x="509904" y="1148321"/>
                  </a:lnTo>
                  <a:lnTo>
                    <a:pt x="468629" y="1148321"/>
                  </a:lnTo>
                  <a:lnTo>
                    <a:pt x="468629" y="1216152"/>
                  </a:lnTo>
                  <a:lnTo>
                    <a:pt x="562355" y="1216152"/>
                  </a:lnTo>
                  <a:lnTo>
                    <a:pt x="562355" y="1148321"/>
                  </a:lnTo>
                  <a:lnTo>
                    <a:pt x="524255" y="1148321"/>
                  </a:lnTo>
                  <a:lnTo>
                    <a:pt x="524255" y="316865"/>
                  </a:lnTo>
                  <a:lnTo>
                    <a:pt x="352678" y="170687"/>
                  </a:lnTo>
                  <a:lnTo>
                    <a:pt x="352678" y="67818"/>
                  </a:lnTo>
                  <a:lnTo>
                    <a:pt x="393953" y="67818"/>
                  </a:lnTo>
                  <a:lnTo>
                    <a:pt x="393953" y="0"/>
                  </a:lnTo>
                  <a:lnTo>
                    <a:pt x="298703" y="0"/>
                  </a:lnTo>
                  <a:lnTo>
                    <a:pt x="298703" y="67818"/>
                  </a:lnTo>
                  <a:lnTo>
                    <a:pt x="338327" y="67818"/>
                  </a:lnTo>
                  <a:lnTo>
                    <a:pt x="338327" y="174244"/>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2" name="object 270"/>
            <p:cNvSpPr/>
            <p:nvPr/>
          </p:nvSpPr>
          <p:spPr bwMode="auto">
            <a:xfrm>
              <a:off x="8179307" y="5523071"/>
              <a:ext cx="381953" cy="0"/>
            </a:xfrm>
            <a:custGeom>
              <a:avLst/>
              <a:gdLst>
                <a:gd name="T0" fmla="*/ 0 w 509270"/>
                <a:gd name="T1" fmla="*/ 50960 w 509270"/>
                <a:gd name="T2" fmla="*/ 0 60000 65536"/>
                <a:gd name="T3" fmla="*/ 0 60000 65536"/>
              </a:gdLst>
              <a:ahLst/>
              <a:cxnLst>
                <a:cxn ang="T2">
                  <a:pos x="T0" y="0"/>
                </a:cxn>
                <a:cxn ang="T3">
                  <a:pos x="T1" y="0"/>
                </a:cxn>
              </a:cxnLst>
              <a:rect l="0" t="0" r="r" b="b"/>
              <a:pathLst>
                <a:path w="509270">
                  <a:moveTo>
                    <a:pt x="0" y="0"/>
                  </a:moveTo>
                  <a:lnTo>
                    <a:pt x="509015" y="0"/>
                  </a:lnTo>
                </a:path>
              </a:pathLst>
            </a:custGeom>
            <a:noFill/>
            <a:ln w="888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3" name="object 271"/>
            <p:cNvSpPr/>
            <p:nvPr/>
          </p:nvSpPr>
          <p:spPr bwMode="auto">
            <a:xfrm>
              <a:off x="8184690" y="5454968"/>
              <a:ext cx="0" cy="64770"/>
            </a:xfrm>
            <a:custGeom>
              <a:avLst/>
              <a:gdLst>
                <a:gd name="T0" fmla="*/ 0 h 86360"/>
                <a:gd name="T1" fmla="*/ 8646 h 86360"/>
                <a:gd name="T2" fmla="*/ 0 60000 65536"/>
                <a:gd name="T3" fmla="*/ 0 60000 65536"/>
              </a:gdLst>
              <a:ahLst/>
              <a:cxnLst>
                <a:cxn ang="T2">
                  <a:pos x="0" y="T0"/>
                </a:cxn>
                <a:cxn ang="T3">
                  <a:pos x="0" y="T1"/>
                </a:cxn>
              </a:cxnLst>
              <a:rect l="0" t="0" r="r" b="b"/>
              <a:pathLst>
                <a:path h="86360">
                  <a:moveTo>
                    <a:pt x="0" y="0"/>
                  </a:moveTo>
                  <a:lnTo>
                    <a:pt x="0" y="86360"/>
                  </a:lnTo>
                </a:path>
              </a:pathLst>
            </a:custGeom>
            <a:noFill/>
            <a:ln w="1435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4" name="object 272"/>
            <p:cNvSpPr/>
            <p:nvPr/>
          </p:nvSpPr>
          <p:spPr bwMode="auto">
            <a:xfrm>
              <a:off x="8179307" y="5451157"/>
              <a:ext cx="381953" cy="0"/>
            </a:xfrm>
            <a:custGeom>
              <a:avLst/>
              <a:gdLst>
                <a:gd name="T0" fmla="*/ 0 w 509270"/>
                <a:gd name="T1" fmla="*/ 50960 w 509270"/>
                <a:gd name="T2" fmla="*/ 0 60000 65536"/>
                <a:gd name="T3" fmla="*/ 0 60000 65536"/>
              </a:gdLst>
              <a:ahLst/>
              <a:cxnLst>
                <a:cxn ang="T2">
                  <a:pos x="T0" y="0"/>
                </a:cxn>
                <a:cxn ang="T3">
                  <a:pos x="T1" y="0"/>
                </a:cxn>
              </a:cxnLst>
              <a:rect l="0" t="0" r="r" b="b"/>
              <a:pathLst>
                <a:path w="509270">
                  <a:moveTo>
                    <a:pt x="0" y="0"/>
                  </a:moveTo>
                  <a:lnTo>
                    <a:pt x="509015" y="0"/>
                  </a:lnTo>
                </a:path>
              </a:pathLst>
            </a:custGeom>
            <a:noFill/>
            <a:ln w="10159">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5" name="object 273"/>
            <p:cNvSpPr/>
            <p:nvPr/>
          </p:nvSpPr>
          <p:spPr bwMode="auto">
            <a:xfrm>
              <a:off x="8184690" y="5405438"/>
              <a:ext cx="0" cy="41910"/>
            </a:xfrm>
            <a:custGeom>
              <a:avLst/>
              <a:gdLst>
                <a:gd name="T0" fmla="*/ 0 h 55879"/>
                <a:gd name="T1" fmla="*/ 5595 h 55879"/>
                <a:gd name="T2" fmla="*/ 0 60000 65536"/>
                <a:gd name="T3" fmla="*/ 0 60000 65536"/>
              </a:gdLst>
              <a:ahLst/>
              <a:cxnLst>
                <a:cxn ang="T2">
                  <a:pos x="0" y="T0"/>
                </a:cxn>
                <a:cxn ang="T3">
                  <a:pos x="0" y="T1"/>
                </a:cxn>
              </a:cxnLst>
              <a:rect l="0" t="0" r="r" b="b"/>
              <a:pathLst>
                <a:path h="55879">
                  <a:moveTo>
                    <a:pt x="0" y="0"/>
                  </a:moveTo>
                  <a:lnTo>
                    <a:pt x="0" y="55879"/>
                  </a:lnTo>
                </a:path>
              </a:pathLst>
            </a:custGeom>
            <a:noFill/>
            <a:ln w="1435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6" name="object 274"/>
            <p:cNvSpPr/>
            <p:nvPr/>
          </p:nvSpPr>
          <p:spPr bwMode="auto">
            <a:xfrm>
              <a:off x="8179307" y="5402103"/>
              <a:ext cx="381953" cy="0"/>
            </a:xfrm>
            <a:custGeom>
              <a:avLst/>
              <a:gdLst>
                <a:gd name="T0" fmla="*/ 0 w 509270"/>
                <a:gd name="T1" fmla="*/ 50960 w 509270"/>
                <a:gd name="T2" fmla="*/ 0 60000 65536"/>
                <a:gd name="T3" fmla="*/ 0 60000 65536"/>
              </a:gdLst>
              <a:ahLst/>
              <a:cxnLst>
                <a:cxn ang="T2">
                  <a:pos x="T0" y="0"/>
                </a:cxn>
                <a:cxn ang="T3">
                  <a:pos x="T1" y="0"/>
                </a:cxn>
              </a:cxnLst>
              <a:rect l="0" t="0" r="r" b="b"/>
              <a:pathLst>
                <a:path w="509270">
                  <a:moveTo>
                    <a:pt x="0" y="0"/>
                  </a:moveTo>
                  <a:lnTo>
                    <a:pt x="509015" y="0"/>
                  </a:lnTo>
                </a:path>
              </a:pathLst>
            </a:custGeom>
            <a:noFill/>
            <a:ln w="889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7" name="object 275"/>
            <p:cNvSpPr/>
            <p:nvPr/>
          </p:nvSpPr>
          <p:spPr bwMode="auto">
            <a:xfrm>
              <a:off x="8556306" y="5455387"/>
              <a:ext cx="0" cy="64294"/>
            </a:xfrm>
            <a:custGeom>
              <a:avLst/>
              <a:gdLst>
                <a:gd name="T0" fmla="*/ 0 h 85725"/>
                <a:gd name="T1" fmla="*/ 8544 h 85725"/>
                <a:gd name="T2" fmla="*/ 0 60000 65536"/>
                <a:gd name="T3" fmla="*/ 0 60000 65536"/>
              </a:gdLst>
              <a:ahLst/>
              <a:cxnLst>
                <a:cxn ang="T2">
                  <a:pos x="0" y="T0"/>
                </a:cxn>
                <a:cxn ang="T3">
                  <a:pos x="0" y="T1"/>
                </a:cxn>
              </a:cxnLst>
              <a:rect l="0" t="0" r="r" b="b"/>
              <a:pathLst>
                <a:path h="85725">
                  <a:moveTo>
                    <a:pt x="0" y="0"/>
                  </a:moveTo>
                  <a:lnTo>
                    <a:pt x="0" y="85343"/>
                  </a:lnTo>
                </a:path>
              </a:pathLst>
            </a:custGeom>
            <a:noFill/>
            <a:ln w="1270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8" name="object 276"/>
            <p:cNvSpPr/>
            <p:nvPr/>
          </p:nvSpPr>
          <p:spPr bwMode="auto">
            <a:xfrm>
              <a:off x="8556306" y="5405400"/>
              <a:ext cx="0" cy="42386"/>
            </a:xfrm>
            <a:custGeom>
              <a:avLst/>
              <a:gdLst>
                <a:gd name="T0" fmla="*/ 0 h 56514"/>
                <a:gd name="T1" fmla="*/ 5619 h 56514"/>
                <a:gd name="T2" fmla="*/ 0 60000 65536"/>
                <a:gd name="T3" fmla="*/ 0 60000 65536"/>
              </a:gdLst>
              <a:ahLst/>
              <a:cxnLst>
                <a:cxn ang="T2">
                  <a:pos x="0" y="T0"/>
                </a:cxn>
                <a:cxn ang="T3">
                  <a:pos x="0" y="T1"/>
                </a:cxn>
              </a:cxnLst>
              <a:rect l="0" t="0" r="r" b="b"/>
              <a:pathLst>
                <a:path h="56514">
                  <a:moveTo>
                    <a:pt x="0" y="0"/>
                  </a:moveTo>
                  <a:lnTo>
                    <a:pt x="0" y="56121"/>
                  </a:lnTo>
                </a:path>
              </a:pathLst>
            </a:custGeom>
            <a:noFill/>
            <a:ln w="12700">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59" name="object 277"/>
            <p:cNvSpPr/>
            <p:nvPr/>
          </p:nvSpPr>
          <p:spPr bwMode="auto">
            <a:xfrm>
              <a:off x="8179307" y="5398390"/>
              <a:ext cx="381953" cy="128111"/>
            </a:xfrm>
            <a:custGeom>
              <a:avLst/>
              <a:gdLst>
                <a:gd name="T0" fmla="*/ 0 w 509270"/>
                <a:gd name="T1" fmla="*/ 6554 h 170814"/>
                <a:gd name="T2" fmla="*/ 0 w 509270"/>
                <a:gd name="T3" fmla="*/ 7609 h 170814"/>
                <a:gd name="T4" fmla="*/ 0 w 509270"/>
                <a:gd name="T5" fmla="*/ 17088 h 170814"/>
                <a:gd name="T6" fmla="*/ 50960 w 509270"/>
                <a:gd name="T7" fmla="*/ 17088 h 170814"/>
                <a:gd name="T8" fmla="*/ 50960 w 509270"/>
                <a:gd name="T9" fmla="*/ 0 h 170814"/>
                <a:gd name="T10" fmla="*/ 0 w 509270"/>
                <a:gd name="T11" fmla="*/ 0 h 170814"/>
                <a:gd name="T12" fmla="*/ 0 w 509270"/>
                <a:gd name="T13" fmla="*/ 6554 h 1708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9270" h="170814">
                  <a:moveTo>
                    <a:pt x="0" y="65468"/>
                  </a:moveTo>
                  <a:lnTo>
                    <a:pt x="0" y="75996"/>
                  </a:lnTo>
                  <a:lnTo>
                    <a:pt x="0" y="170688"/>
                  </a:lnTo>
                  <a:lnTo>
                    <a:pt x="509015" y="170688"/>
                  </a:lnTo>
                  <a:lnTo>
                    <a:pt x="509015" y="0"/>
                  </a:lnTo>
                  <a:lnTo>
                    <a:pt x="0" y="0"/>
                  </a:lnTo>
                  <a:lnTo>
                    <a:pt x="0" y="65468"/>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0" name="object 278"/>
            <p:cNvSpPr/>
            <p:nvPr/>
          </p:nvSpPr>
          <p:spPr bwMode="auto">
            <a:xfrm>
              <a:off x="8190072" y="5405400"/>
              <a:ext cx="361474" cy="42386"/>
            </a:xfrm>
            <a:custGeom>
              <a:avLst/>
              <a:gdLst>
                <a:gd name="T0" fmla="*/ 0 w 481965"/>
                <a:gd name="T1" fmla="*/ 0 h 56514"/>
                <a:gd name="T2" fmla="*/ 48251 w 481965"/>
                <a:gd name="T3" fmla="*/ 0 h 56514"/>
                <a:gd name="T4" fmla="*/ 48251 w 481965"/>
                <a:gd name="T5" fmla="*/ 5619 h 56514"/>
                <a:gd name="T6" fmla="*/ 0 w 481965"/>
                <a:gd name="T7" fmla="*/ 5619 h 56514"/>
                <a:gd name="T8" fmla="*/ 0 w 481965"/>
                <a:gd name="T9" fmla="*/ 0 h 565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1965" h="56514">
                  <a:moveTo>
                    <a:pt x="0" y="0"/>
                  </a:moveTo>
                  <a:lnTo>
                    <a:pt x="481964" y="0"/>
                  </a:lnTo>
                  <a:lnTo>
                    <a:pt x="481964" y="56121"/>
                  </a:lnTo>
                  <a:lnTo>
                    <a:pt x="0" y="56121"/>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1" name="object 279"/>
            <p:cNvSpPr/>
            <p:nvPr/>
          </p:nvSpPr>
          <p:spPr bwMode="auto">
            <a:xfrm>
              <a:off x="8190072" y="5455387"/>
              <a:ext cx="361474" cy="64294"/>
            </a:xfrm>
            <a:custGeom>
              <a:avLst/>
              <a:gdLst>
                <a:gd name="T0" fmla="*/ 0 w 481965"/>
                <a:gd name="T1" fmla="*/ 0 h 85725"/>
                <a:gd name="T2" fmla="*/ 48251 w 481965"/>
                <a:gd name="T3" fmla="*/ 0 h 85725"/>
                <a:gd name="T4" fmla="*/ 48251 w 481965"/>
                <a:gd name="T5" fmla="*/ 8544 h 85725"/>
                <a:gd name="T6" fmla="*/ 0 w 481965"/>
                <a:gd name="T7" fmla="*/ 8544 h 85725"/>
                <a:gd name="T8" fmla="*/ 0 w 481965"/>
                <a:gd name="T9" fmla="*/ 0 h 85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1965" h="85725">
                  <a:moveTo>
                    <a:pt x="0" y="0"/>
                  </a:moveTo>
                  <a:lnTo>
                    <a:pt x="481964" y="0"/>
                  </a:lnTo>
                  <a:lnTo>
                    <a:pt x="481964" y="85343"/>
                  </a:lnTo>
                  <a:lnTo>
                    <a:pt x="0" y="85343"/>
                  </a:lnTo>
                  <a:lnTo>
                    <a:pt x="0"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2" name="object 280"/>
            <p:cNvSpPr/>
            <p:nvPr/>
          </p:nvSpPr>
          <p:spPr bwMode="auto">
            <a:xfrm>
              <a:off x="3806191" y="5736718"/>
              <a:ext cx="301942" cy="78104"/>
            </a:xfrm>
            <a:custGeom>
              <a:avLst/>
              <a:gdLst>
                <a:gd name="T0" fmla="*/ 40279 w 402589"/>
                <a:gd name="T1" fmla="*/ 0 h 104140"/>
                <a:gd name="T2" fmla="*/ 11939 w 402589"/>
                <a:gd name="T3" fmla="*/ 0 h 104140"/>
                <a:gd name="T4" fmla="*/ 0 w 402589"/>
                <a:gd name="T5" fmla="*/ 10374 h 104140"/>
                <a:gd name="T6" fmla="*/ 28341 w 402589"/>
                <a:gd name="T7" fmla="*/ 10374 h 104140"/>
                <a:gd name="T8" fmla="*/ 29562 w 402589"/>
                <a:gd name="T9" fmla="*/ 9312 h 104140"/>
                <a:gd name="T10" fmla="*/ 2861 w 402589"/>
                <a:gd name="T11" fmla="*/ 9312 h 104140"/>
                <a:gd name="T12" fmla="*/ 12575 w 402589"/>
                <a:gd name="T13" fmla="*/ 1061 h 104140"/>
                <a:gd name="T14" fmla="*/ 39058 w 402589"/>
                <a:gd name="T15" fmla="*/ 1061 h 104140"/>
                <a:gd name="T16" fmla="*/ 40279 w 402589"/>
                <a:gd name="T17" fmla="*/ 0 h 104140"/>
                <a:gd name="T18" fmla="*/ 39058 w 402589"/>
                <a:gd name="T19" fmla="*/ 1061 h 104140"/>
                <a:gd name="T20" fmla="*/ 37253 w 402589"/>
                <a:gd name="T21" fmla="*/ 1061 h 104140"/>
                <a:gd name="T22" fmla="*/ 27705 w 402589"/>
                <a:gd name="T23" fmla="*/ 9312 h 104140"/>
                <a:gd name="T24" fmla="*/ 29562 w 402589"/>
                <a:gd name="T25" fmla="*/ 9312 h 104140"/>
                <a:gd name="T26" fmla="*/ 39058 w 402589"/>
                <a:gd name="T27" fmla="*/ 1061 h 1041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02589" h="104140">
                  <a:moveTo>
                    <a:pt x="402335" y="0"/>
                  </a:moveTo>
                  <a:lnTo>
                    <a:pt x="119252" y="0"/>
                  </a:lnTo>
                  <a:lnTo>
                    <a:pt x="0" y="103632"/>
                  </a:lnTo>
                  <a:lnTo>
                    <a:pt x="283082" y="103632"/>
                  </a:lnTo>
                  <a:lnTo>
                    <a:pt x="295285" y="93027"/>
                  </a:lnTo>
                  <a:lnTo>
                    <a:pt x="28575" y="93027"/>
                  </a:lnTo>
                  <a:lnTo>
                    <a:pt x="125602" y="10604"/>
                  </a:lnTo>
                  <a:lnTo>
                    <a:pt x="390133" y="10604"/>
                  </a:lnTo>
                  <a:lnTo>
                    <a:pt x="402335" y="0"/>
                  </a:lnTo>
                  <a:close/>
                </a:path>
                <a:path w="402589" h="104140">
                  <a:moveTo>
                    <a:pt x="390133" y="10604"/>
                  </a:moveTo>
                  <a:lnTo>
                    <a:pt x="372109" y="10604"/>
                  </a:lnTo>
                  <a:lnTo>
                    <a:pt x="276732" y="93027"/>
                  </a:lnTo>
                  <a:lnTo>
                    <a:pt x="295285" y="93027"/>
                  </a:lnTo>
                  <a:lnTo>
                    <a:pt x="390133" y="10604"/>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63" name="object 281"/>
            <p:cNvSpPr/>
            <p:nvPr/>
          </p:nvSpPr>
          <p:spPr bwMode="auto">
            <a:xfrm>
              <a:off x="3806191" y="5736718"/>
              <a:ext cx="301942" cy="78104"/>
            </a:xfrm>
            <a:custGeom>
              <a:avLst/>
              <a:gdLst>
                <a:gd name="T0" fmla="*/ 0 w 402589"/>
                <a:gd name="T1" fmla="*/ 10374 h 104140"/>
                <a:gd name="T2" fmla="*/ 28341 w 402589"/>
                <a:gd name="T3" fmla="*/ 10374 h 104140"/>
                <a:gd name="T4" fmla="*/ 40279 w 402589"/>
                <a:gd name="T5" fmla="*/ 0 h 104140"/>
                <a:gd name="T6" fmla="*/ 11939 w 402589"/>
                <a:gd name="T7" fmla="*/ 0 h 104140"/>
                <a:gd name="T8" fmla="*/ 0 w 402589"/>
                <a:gd name="T9" fmla="*/ 10374 h 104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2589" h="104140">
                  <a:moveTo>
                    <a:pt x="0" y="103632"/>
                  </a:moveTo>
                  <a:lnTo>
                    <a:pt x="283082" y="103632"/>
                  </a:lnTo>
                  <a:lnTo>
                    <a:pt x="402335" y="0"/>
                  </a:lnTo>
                  <a:lnTo>
                    <a:pt x="119252" y="0"/>
                  </a:lnTo>
                  <a:lnTo>
                    <a:pt x="0" y="103632"/>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4" name="object 282"/>
            <p:cNvSpPr/>
            <p:nvPr/>
          </p:nvSpPr>
          <p:spPr bwMode="auto">
            <a:xfrm>
              <a:off x="3827622" y="5744669"/>
              <a:ext cx="257651" cy="61913"/>
            </a:xfrm>
            <a:custGeom>
              <a:avLst/>
              <a:gdLst>
                <a:gd name="T0" fmla="*/ 34392 w 343535"/>
                <a:gd name="T1" fmla="*/ 0 h 82550"/>
                <a:gd name="T2" fmla="*/ 24843 w 343535"/>
                <a:gd name="T3" fmla="*/ 8252 h 82550"/>
                <a:gd name="T4" fmla="*/ 0 w 343535"/>
                <a:gd name="T5" fmla="*/ 8252 h 82550"/>
                <a:gd name="T6" fmla="*/ 9714 w 343535"/>
                <a:gd name="T7" fmla="*/ 0 h 82550"/>
                <a:gd name="T8" fmla="*/ 34392 w 343535"/>
                <a:gd name="T9" fmla="*/ 0 h 82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3535" h="82550">
                  <a:moveTo>
                    <a:pt x="343534" y="0"/>
                  </a:moveTo>
                  <a:lnTo>
                    <a:pt x="248157" y="82422"/>
                  </a:lnTo>
                  <a:lnTo>
                    <a:pt x="0" y="82422"/>
                  </a:lnTo>
                  <a:lnTo>
                    <a:pt x="97027" y="0"/>
                  </a:lnTo>
                  <a:lnTo>
                    <a:pt x="343534"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5" name="object 283"/>
            <p:cNvSpPr/>
            <p:nvPr/>
          </p:nvSpPr>
          <p:spPr bwMode="auto">
            <a:xfrm>
              <a:off x="8185023" y="5337810"/>
              <a:ext cx="375285" cy="0"/>
            </a:xfrm>
            <a:custGeom>
              <a:avLst/>
              <a:gdLst>
                <a:gd name="T0" fmla="*/ 0 w 500379"/>
                <a:gd name="T1" fmla="*/ 50044 w 500379"/>
                <a:gd name="T2" fmla="*/ 0 60000 65536"/>
                <a:gd name="T3" fmla="*/ 0 60000 65536"/>
              </a:gdLst>
              <a:ahLst/>
              <a:cxnLst>
                <a:cxn ang="T2">
                  <a:pos x="T0" y="0"/>
                </a:cxn>
                <a:cxn ang="T3">
                  <a:pos x="T1" y="0"/>
                </a:cxn>
              </a:cxnLst>
              <a:rect l="0" t="0" r="r" b="b"/>
              <a:pathLst>
                <a:path w="500379">
                  <a:moveTo>
                    <a:pt x="0" y="0"/>
                  </a:moveTo>
                  <a:lnTo>
                    <a:pt x="499872" y="0"/>
                  </a:lnTo>
                </a:path>
              </a:pathLst>
            </a:custGeom>
            <a:noFill/>
            <a:ln w="42671">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6" name="object 284"/>
            <p:cNvSpPr/>
            <p:nvPr/>
          </p:nvSpPr>
          <p:spPr bwMode="auto">
            <a:xfrm>
              <a:off x="8185023" y="5321808"/>
              <a:ext cx="375285" cy="32385"/>
            </a:xfrm>
            <a:custGeom>
              <a:avLst/>
              <a:gdLst>
                <a:gd name="T0" fmla="*/ 0 w 500379"/>
                <a:gd name="T1" fmla="*/ 4272 h 43179"/>
                <a:gd name="T2" fmla="*/ 50044 w 500379"/>
                <a:gd name="T3" fmla="*/ 4272 h 43179"/>
                <a:gd name="T4" fmla="*/ 50044 w 500379"/>
                <a:gd name="T5" fmla="*/ 0 h 43179"/>
                <a:gd name="T6" fmla="*/ 0 w 500379"/>
                <a:gd name="T7" fmla="*/ 0 h 43179"/>
                <a:gd name="T8" fmla="*/ 0 w 500379"/>
                <a:gd name="T9" fmla="*/ 4272 h 43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0379" h="43179">
                  <a:moveTo>
                    <a:pt x="0" y="42671"/>
                  </a:moveTo>
                  <a:lnTo>
                    <a:pt x="499872" y="42671"/>
                  </a:lnTo>
                  <a:lnTo>
                    <a:pt x="499872" y="0"/>
                  </a:lnTo>
                  <a:lnTo>
                    <a:pt x="0" y="0"/>
                  </a:lnTo>
                  <a:lnTo>
                    <a:pt x="0" y="4267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7" name="object 285"/>
            <p:cNvSpPr/>
            <p:nvPr/>
          </p:nvSpPr>
          <p:spPr bwMode="auto">
            <a:xfrm>
              <a:off x="2769490" y="4774310"/>
              <a:ext cx="144304" cy="685800"/>
            </a:xfrm>
            <a:custGeom>
              <a:avLst/>
              <a:gdLst>
                <a:gd name="T0" fmla="*/ 14101 w 192404"/>
                <a:gd name="T1" fmla="*/ 0 h 914400"/>
                <a:gd name="T2" fmla="*/ 12057 w 192404"/>
                <a:gd name="T3" fmla="*/ 310 h 914400"/>
                <a:gd name="T4" fmla="*/ 10374 w 192404"/>
                <a:gd name="T5" fmla="*/ 1151 h 914400"/>
                <a:gd name="T6" fmla="*/ 9232 w 192404"/>
                <a:gd name="T7" fmla="*/ 2393 h 914400"/>
                <a:gd name="T8" fmla="*/ 8812 w 192404"/>
                <a:gd name="T9" fmla="*/ 3903 h 914400"/>
                <a:gd name="T10" fmla="*/ 9175 w 192404"/>
                <a:gd name="T11" fmla="*/ 5253 h 914400"/>
                <a:gd name="T12" fmla="*/ 10154 w 192404"/>
                <a:gd name="T13" fmla="*/ 6407 h 914400"/>
                <a:gd name="T14" fmla="*/ 11585 w 192404"/>
                <a:gd name="T15" fmla="*/ 7253 h 914400"/>
                <a:gd name="T16" fmla="*/ 13300 w 192404"/>
                <a:gd name="T17" fmla="*/ 7679 h 914400"/>
                <a:gd name="T18" fmla="*/ 13300 w 192404"/>
                <a:gd name="T19" fmla="*/ 19606 h 914400"/>
                <a:gd name="T20" fmla="*/ 0 w 192404"/>
                <a:gd name="T21" fmla="*/ 32956 h 914400"/>
                <a:gd name="T22" fmla="*/ 0 w 192404"/>
                <a:gd name="T23" fmla="*/ 91544 h 914400"/>
                <a:gd name="T24" fmla="*/ 1437 w 192404"/>
                <a:gd name="T25" fmla="*/ 91544 h 914400"/>
                <a:gd name="T26" fmla="*/ 1437 w 192404"/>
                <a:gd name="T27" fmla="*/ 33312 h 914400"/>
                <a:gd name="T28" fmla="*/ 14737 w 192404"/>
                <a:gd name="T29" fmla="*/ 19847 h 914400"/>
                <a:gd name="T30" fmla="*/ 14737 w 192404"/>
                <a:gd name="T31" fmla="*/ 7679 h 914400"/>
                <a:gd name="T32" fmla="*/ 16522 w 192404"/>
                <a:gd name="T33" fmla="*/ 7253 h 914400"/>
                <a:gd name="T34" fmla="*/ 17385 w 192404"/>
                <a:gd name="T35" fmla="*/ 6740 h 914400"/>
                <a:gd name="T36" fmla="*/ 14101 w 192404"/>
                <a:gd name="T37" fmla="*/ 6740 h 914400"/>
                <a:gd name="T38" fmla="*/ 12550 w 192404"/>
                <a:gd name="T39" fmla="*/ 6511 h 914400"/>
                <a:gd name="T40" fmla="*/ 11330 w 192404"/>
                <a:gd name="T41" fmla="*/ 5894 h 914400"/>
                <a:gd name="T42" fmla="*/ 10534 w 192404"/>
                <a:gd name="T43" fmla="*/ 4990 h 914400"/>
                <a:gd name="T44" fmla="*/ 10248 w 192404"/>
                <a:gd name="T45" fmla="*/ 3903 h 914400"/>
                <a:gd name="T46" fmla="*/ 10534 w 192404"/>
                <a:gd name="T47" fmla="*/ 2812 h 914400"/>
                <a:gd name="T48" fmla="*/ 11330 w 192404"/>
                <a:gd name="T49" fmla="*/ 1909 h 914400"/>
                <a:gd name="T50" fmla="*/ 12550 w 192404"/>
                <a:gd name="T51" fmla="*/ 1295 h 914400"/>
                <a:gd name="T52" fmla="*/ 14101 w 192404"/>
                <a:gd name="T53" fmla="*/ 1068 h 914400"/>
                <a:gd name="T54" fmla="*/ 17585 w 192404"/>
                <a:gd name="T55" fmla="*/ 1068 h 914400"/>
                <a:gd name="T56" fmla="*/ 16119 w 192404"/>
                <a:gd name="T57" fmla="*/ 310 h 914400"/>
                <a:gd name="T58" fmla="*/ 14101 w 192404"/>
                <a:gd name="T59" fmla="*/ 0 h 914400"/>
                <a:gd name="T60" fmla="*/ 17585 w 192404"/>
                <a:gd name="T61" fmla="*/ 1068 h 914400"/>
                <a:gd name="T62" fmla="*/ 14101 w 192404"/>
                <a:gd name="T63" fmla="*/ 1068 h 914400"/>
                <a:gd name="T64" fmla="*/ 15581 w 192404"/>
                <a:gd name="T65" fmla="*/ 1295 h 914400"/>
                <a:gd name="T66" fmla="*/ 16802 w 192404"/>
                <a:gd name="T67" fmla="*/ 1909 h 914400"/>
                <a:gd name="T68" fmla="*/ 17634 w 192404"/>
                <a:gd name="T69" fmla="*/ 2812 h 914400"/>
                <a:gd name="T70" fmla="*/ 17941 w 192404"/>
                <a:gd name="T71" fmla="*/ 3903 h 914400"/>
                <a:gd name="T72" fmla="*/ 17634 w 192404"/>
                <a:gd name="T73" fmla="*/ 4990 h 914400"/>
                <a:gd name="T74" fmla="*/ 16802 w 192404"/>
                <a:gd name="T75" fmla="*/ 5894 h 914400"/>
                <a:gd name="T76" fmla="*/ 15581 w 192404"/>
                <a:gd name="T77" fmla="*/ 6511 h 914400"/>
                <a:gd name="T78" fmla="*/ 14101 w 192404"/>
                <a:gd name="T79" fmla="*/ 6740 h 914400"/>
                <a:gd name="T80" fmla="*/ 17385 w 192404"/>
                <a:gd name="T81" fmla="*/ 6740 h 914400"/>
                <a:gd name="T82" fmla="*/ 17944 w 192404"/>
                <a:gd name="T83" fmla="*/ 6407 h 914400"/>
                <a:gd name="T84" fmla="*/ 18884 w 192404"/>
                <a:gd name="T85" fmla="*/ 5253 h 914400"/>
                <a:gd name="T86" fmla="*/ 19226 w 192404"/>
                <a:gd name="T87" fmla="*/ 3903 h 914400"/>
                <a:gd name="T88" fmla="*/ 18830 w 192404"/>
                <a:gd name="T89" fmla="*/ 2393 h 914400"/>
                <a:gd name="T90" fmla="*/ 17745 w 192404"/>
                <a:gd name="T91" fmla="*/ 1151 h 914400"/>
                <a:gd name="T92" fmla="*/ 17585 w 192404"/>
                <a:gd name="T93" fmla="*/ 1068 h 91440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92404" h="914400">
                  <a:moveTo>
                    <a:pt x="140843" y="0"/>
                  </a:moveTo>
                  <a:lnTo>
                    <a:pt x="120425" y="3091"/>
                  </a:lnTo>
                  <a:lnTo>
                    <a:pt x="103616" y="11493"/>
                  </a:lnTo>
                  <a:lnTo>
                    <a:pt x="92211" y="23895"/>
                  </a:lnTo>
                  <a:lnTo>
                    <a:pt x="88011" y="38988"/>
                  </a:lnTo>
                  <a:lnTo>
                    <a:pt x="91640" y="52472"/>
                  </a:lnTo>
                  <a:lnTo>
                    <a:pt x="101425" y="63992"/>
                  </a:lnTo>
                  <a:lnTo>
                    <a:pt x="115710" y="72439"/>
                  </a:lnTo>
                  <a:lnTo>
                    <a:pt x="132842" y="76707"/>
                  </a:lnTo>
                  <a:lnTo>
                    <a:pt x="132842" y="195833"/>
                  </a:lnTo>
                  <a:lnTo>
                    <a:pt x="0" y="329183"/>
                  </a:lnTo>
                  <a:lnTo>
                    <a:pt x="0" y="914400"/>
                  </a:lnTo>
                  <a:lnTo>
                    <a:pt x="14350" y="914400"/>
                  </a:lnTo>
                  <a:lnTo>
                    <a:pt x="14350" y="332739"/>
                  </a:lnTo>
                  <a:lnTo>
                    <a:pt x="147193" y="198246"/>
                  </a:lnTo>
                  <a:lnTo>
                    <a:pt x="147193" y="76707"/>
                  </a:lnTo>
                  <a:lnTo>
                    <a:pt x="165020" y="72439"/>
                  </a:lnTo>
                  <a:lnTo>
                    <a:pt x="173648" y="67309"/>
                  </a:lnTo>
                  <a:lnTo>
                    <a:pt x="140843" y="67309"/>
                  </a:lnTo>
                  <a:lnTo>
                    <a:pt x="125347" y="65027"/>
                  </a:lnTo>
                  <a:lnTo>
                    <a:pt x="113172" y="58864"/>
                  </a:lnTo>
                  <a:lnTo>
                    <a:pt x="105213" y="49843"/>
                  </a:lnTo>
                  <a:lnTo>
                    <a:pt x="102362" y="38988"/>
                  </a:lnTo>
                  <a:lnTo>
                    <a:pt x="105213" y="28080"/>
                  </a:lnTo>
                  <a:lnTo>
                    <a:pt x="113172" y="19065"/>
                  </a:lnTo>
                  <a:lnTo>
                    <a:pt x="125347" y="12932"/>
                  </a:lnTo>
                  <a:lnTo>
                    <a:pt x="140843" y="10667"/>
                  </a:lnTo>
                  <a:lnTo>
                    <a:pt x="175648" y="10667"/>
                  </a:lnTo>
                  <a:lnTo>
                    <a:pt x="161002" y="3091"/>
                  </a:lnTo>
                  <a:lnTo>
                    <a:pt x="140843" y="0"/>
                  </a:lnTo>
                  <a:close/>
                </a:path>
                <a:path w="192404" h="914400">
                  <a:moveTo>
                    <a:pt x="175648" y="10667"/>
                  </a:moveTo>
                  <a:lnTo>
                    <a:pt x="140843" y="10667"/>
                  </a:lnTo>
                  <a:lnTo>
                    <a:pt x="155622" y="12932"/>
                  </a:lnTo>
                  <a:lnTo>
                    <a:pt x="167830" y="19065"/>
                  </a:lnTo>
                  <a:lnTo>
                    <a:pt x="176133" y="28080"/>
                  </a:lnTo>
                  <a:lnTo>
                    <a:pt x="179197" y="38988"/>
                  </a:lnTo>
                  <a:lnTo>
                    <a:pt x="176133" y="49843"/>
                  </a:lnTo>
                  <a:lnTo>
                    <a:pt x="167830" y="58864"/>
                  </a:lnTo>
                  <a:lnTo>
                    <a:pt x="155622" y="65027"/>
                  </a:lnTo>
                  <a:lnTo>
                    <a:pt x="140843" y="67309"/>
                  </a:lnTo>
                  <a:lnTo>
                    <a:pt x="173648" y="67309"/>
                  </a:lnTo>
                  <a:lnTo>
                    <a:pt x="179228" y="63992"/>
                  </a:lnTo>
                  <a:lnTo>
                    <a:pt x="188626" y="52472"/>
                  </a:lnTo>
                  <a:lnTo>
                    <a:pt x="192024" y="38988"/>
                  </a:lnTo>
                  <a:lnTo>
                    <a:pt x="188081" y="23895"/>
                  </a:lnTo>
                  <a:lnTo>
                    <a:pt x="177244" y="11493"/>
                  </a:lnTo>
                  <a:lnTo>
                    <a:pt x="175648" y="10667"/>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68" name="object 286"/>
            <p:cNvSpPr/>
            <p:nvPr/>
          </p:nvSpPr>
          <p:spPr bwMode="auto">
            <a:xfrm>
              <a:off x="2769490" y="4774310"/>
              <a:ext cx="144304" cy="685800"/>
            </a:xfrm>
            <a:custGeom>
              <a:avLst/>
              <a:gdLst>
                <a:gd name="T0" fmla="*/ 1437 w 192404"/>
                <a:gd name="T1" fmla="*/ 33312 h 914400"/>
                <a:gd name="T2" fmla="*/ 9125 w 192404"/>
                <a:gd name="T3" fmla="*/ 25528 h 914400"/>
                <a:gd name="T4" fmla="*/ 13074 w 192404"/>
                <a:gd name="T5" fmla="*/ 21530 h 914400"/>
                <a:gd name="T6" fmla="*/ 14529 w 192404"/>
                <a:gd name="T7" fmla="*/ 20058 h 914400"/>
                <a:gd name="T8" fmla="*/ 14737 w 192404"/>
                <a:gd name="T9" fmla="*/ 19847 h 914400"/>
                <a:gd name="T10" fmla="*/ 14737 w 192404"/>
                <a:gd name="T11" fmla="*/ 7679 h 914400"/>
                <a:gd name="T12" fmla="*/ 16522 w 192404"/>
                <a:gd name="T13" fmla="*/ 7253 h 914400"/>
                <a:gd name="T14" fmla="*/ 17944 w 192404"/>
                <a:gd name="T15" fmla="*/ 6407 h 914400"/>
                <a:gd name="T16" fmla="*/ 18884 w 192404"/>
                <a:gd name="T17" fmla="*/ 5253 h 914400"/>
                <a:gd name="T18" fmla="*/ 19226 w 192404"/>
                <a:gd name="T19" fmla="*/ 3903 h 914400"/>
                <a:gd name="T20" fmla="*/ 18830 w 192404"/>
                <a:gd name="T21" fmla="*/ 2393 h 914400"/>
                <a:gd name="T22" fmla="*/ 17745 w 192404"/>
                <a:gd name="T23" fmla="*/ 1151 h 914400"/>
                <a:gd name="T24" fmla="*/ 16119 w 192404"/>
                <a:gd name="T25" fmla="*/ 310 h 914400"/>
                <a:gd name="T26" fmla="*/ 14101 w 192404"/>
                <a:gd name="T27" fmla="*/ 0 h 914400"/>
                <a:gd name="T28" fmla="*/ 12057 w 192404"/>
                <a:gd name="T29" fmla="*/ 310 h 914400"/>
                <a:gd name="T30" fmla="*/ 10374 w 192404"/>
                <a:gd name="T31" fmla="*/ 1151 h 914400"/>
                <a:gd name="T32" fmla="*/ 9232 w 192404"/>
                <a:gd name="T33" fmla="*/ 2393 h 914400"/>
                <a:gd name="T34" fmla="*/ 8812 w 192404"/>
                <a:gd name="T35" fmla="*/ 3903 h 914400"/>
                <a:gd name="T36" fmla="*/ 9175 w 192404"/>
                <a:gd name="T37" fmla="*/ 5253 h 914400"/>
                <a:gd name="T38" fmla="*/ 10154 w 192404"/>
                <a:gd name="T39" fmla="*/ 6407 h 914400"/>
                <a:gd name="T40" fmla="*/ 11585 w 192404"/>
                <a:gd name="T41" fmla="*/ 7253 h 914400"/>
                <a:gd name="T42" fmla="*/ 13300 w 192404"/>
                <a:gd name="T43" fmla="*/ 7679 h 914400"/>
                <a:gd name="T44" fmla="*/ 13300 w 192404"/>
                <a:gd name="T45" fmla="*/ 14575 h 914400"/>
                <a:gd name="T46" fmla="*/ 13300 w 192404"/>
                <a:gd name="T47" fmla="*/ 18115 h 914400"/>
                <a:gd name="T48" fmla="*/ 13300 w 192404"/>
                <a:gd name="T49" fmla="*/ 19419 h 914400"/>
                <a:gd name="T50" fmla="*/ 13300 w 192404"/>
                <a:gd name="T51" fmla="*/ 19606 h 914400"/>
                <a:gd name="T52" fmla="*/ 5611 w 192404"/>
                <a:gd name="T53" fmla="*/ 27323 h 914400"/>
                <a:gd name="T54" fmla="*/ 1663 w 192404"/>
                <a:gd name="T55" fmla="*/ 31288 h 914400"/>
                <a:gd name="T56" fmla="*/ 208 w 192404"/>
                <a:gd name="T57" fmla="*/ 32747 h 914400"/>
                <a:gd name="T58" fmla="*/ 0 w 192404"/>
                <a:gd name="T59" fmla="*/ 32956 h 914400"/>
                <a:gd name="T60" fmla="*/ 0 w 192404"/>
                <a:gd name="T61" fmla="*/ 66827 h 914400"/>
                <a:gd name="T62" fmla="*/ 0 w 192404"/>
                <a:gd name="T63" fmla="*/ 84220 h 914400"/>
                <a:gd name="T64" fmla="*/ 0 w 192404"/>
                <a:gd name="T65" fmla="*/ 90629 h 914400"/>
                <a:gd name="T66" fmla="*/ 0 w 192404"/>
                <a:gd name="T67" fmla="*/ 91544 h 914400"/>
                <a:gd name="T68" fmla="*/ 1437 w 192404"/>
                <a:gd name="T69" fmla="*/ 91544 h 914400"/>
                <a:gd name="T70" fmla="*/ 1437 w 192404"/>
                <a:gd name="T71" fmla="*/ 33312 h 9144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92404" h="914400">
                  <a:moveTo>
                    <a:pt x="14350" y="332739"/>
                  </a:moveTo>
                  <a:lnTo>
                    <a:pt x="91150" y="254986"/>
                  </a:lnTo>
                  <a:lnTo>
                    <a:pt x="130587" y="215058"/>
                  </a:lnTo>
                  <a:lnTo>
                    <a:pt x="145117" y="200348"/>
                  </a:lnTo>
                  <a:lnTo>
                    <a:pt x="147193" y="198246"/>
                  </a:lnTo>
                  <a:lnTo>
                    <a:pt x="147193" y="76707"/>
                  </a:lnTo>
                  <a:lnTo>
                    <a:pt x="165020" y="72439"/>
                  </a:lnTo>
                  <a:lnTo>
                    <a:pt x="179228" y="63992"/>
                  </a:lnTo>
                  <a:lnTo>
                    <a:pt x="188626" y="52472"/>
                  </a:lnTo>
                  <a:lnTo>
                    <a:pt x="192024" y="38988"/>
                  </a:lnTo>
                  <a:lnTo>
                    <a:pt x="188081" y="23895"/>
                  </a:lnTo>
                  <a:lnTo>
                    <a:pt x="177244" y="11493"/>
                  </a:lnTo>
                  <a:lnTo>
                    <a:pt x="161002" y="3091"/>
                  </a:lnTo>
                  <a:lnTo>
                    <a:pt x="140843" y="0"/>
                  </a:lnTo>
                  <a:lnTo>
                    <a:pt x="120425" y="3091"/>
                  </a:lnTo>
                  <a:lnTo>
                    <a:pt x="103616" y="11493"/>
                  </a:lnTo>
                  <a:lnTo>
                    <a:pt x="92211" y="23895"/>
                  </a:lnTo>
                  <a:lnTo>
                    <a:pt x="88011" y="38988"/>
                  </a:lnTo>
                  <a:lnTo>
                    <a:pt x="91640" y="52472"/>
                  </a:lnTo>
                  <a:lnTo>
                    <a:pt x="101425" y="63992"/>
                  </a:lnTo>
                  <a:lnTo>
                    <a:pt x="115710" y="72439"/>
                  </a:lnTo>
                  <a:lnTo>
                    <a:pt x="132842" y="76707"/>
                  </a:lnTo>
                  <a:lnTo>
                    <a:pt x="132842" y="145577"/>
                  </a:lnTo>
                  <a:lnTo>
                    <a:pt x="132842" y="180943"/>
                  </a:lnTo>
                  <a:lnTo>
                    <a:pt x="132842" y="193972"/>
                  </a:lnTo>
                  <a:lnTo>
                    <a:pt x="132842" y="195833"/>
                  </a:lnTo>
                  <a:lnTo>
                    <a:pt x="56042" y="272926"/>
                  </a:lnTo>
                  <a:lnTo>
                    <a:pt x="16605" y="312515"/>
                  </a:lnTo>
                  <a:lnTo>
                    <a:pt x="2075" y="327100"/>
                  </a:lnTo>
                  <a:lnTo>
                    <a:pt x="0" y="329183"/>
                  </a:lnTo>
                  <a:lnTo>
                    <a:pt x="0" y="667511"/>
                  </a:lnTo>
                  <a:lnTo>
                    <a:pt x="0" y="841247"/>
                  </a:lnTo>
                  <a:lnTo>
                    <a:pt x="0" y="905255"/>
                  </a:lnTo>
                  <a:lnTo>
                    <a:pt x="0" y="914400"/>
                  </a:lnTo>
                  <a:lnTo>
                    <a:pt x="14350" y="914400"/>
                  </a:lnTo>
                  <a:lnTo>
                    <a:pt x="14350" y="332739"/>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69" name="object 287"/>
            <p:cNvSpPr/>
            <p:nvPr/>
          </p:nvSpPr>
          <p:spPr bwMode="auto">
            <a:xfrm>
              <a:off x="2846261" y="4782311"/>
              <a:ext cx="57626" cy="42862"/>
            </a:xfrm>
            <a:custGeom>
              <a:avLst/>
              <a:gdLst>
                <a:gd name="T0" fmla="*/ 0 w 76835"/>
                <a:gd name="T1" fmla="*/ 2836 h 57150"/>
                <a:gd name="T2" fmla="*/ 285 w 76835"/>
                <a:gd name="T3" fmla="*/ 1743 h 57150"/>
                <a:gd name="T4" fmla="*/ 1082 w 76835"/>
                <a:gd name="T5" fmla="*/ 840 h 57150"/>
                <a:gd name="T6" fmla="*/ 2301 w 76835"/>
                <a:gd name="T7" fmla="*/ 226 h 57150"/>
                <a:gd name="T8" fmla="*/ 3852 w 76835"/>
                <a:gd name="T9" fmla="*/ 0 h 57150"/>
                <a:gd name="T10" fmla="*/ 5332 w 76835"/>
                <a:gd name="T11" fmla="*/ 226 h 57150"/>
                <a:gd name="T12" fmla="*/ 6553 w 76835"/>
                <a:gd name="T13" fmla="*/ 840 h 57150"/>
                <a:gd name="T14" fmla="*/ 7385 w 76835"/>
                <a:gd name="T15" fmla="*/ 1743 h 57150"/>
                <a:gd name="T16" fmla="*/ 7691 w 76835"/>
                <a:gd name="T17" fmla="*/ 2836 h 57150"/>
                <a:gd name="T18" fmla="*/ 7385 w 76835"/>
                <a:gd name="T19" fmla="*/ 3921 h 57150"/>
                <a:gd name="T20" fmla="*/ 6553 w 76835"/>
                <a:gd name="T21" fmla="*/ 4825 h 57150"/>
                <a:gd name="T22" fmla="*/ 5332 w 76835"/>
                <a:gd name="T23" fmla="*/ 5441 h 57150"/>
                <a:gd name="T24" fmla="*/ 3852 w 76835"/>
                <a:gd name="T25" fmla="*/ 5671 h 57150"/>
                <a:gd name="T26" fmla="*/ 2301 w 76835"/>
                <a:gd name="T27" fmla="*/ 5441 h 57150"/>
                <a:gd name="T28" fmla="*/ 1082 w 76835"/>
                <a:gd name="T29" fmla="*/ 4825 h 57150"/>
                <a:gd name="T30" fmla="*/ 285 w 76835"/>
                <a:gd name="T31" fmla="*/ 3921 h 57150"/>
                <a:gd name="T32" fmla="*/ 0 w 76835"/>
                <a:gd name="T33" fmla="*/ 2836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7150">
                  <a:moveTo>
                    <a:pt x="0" y="28321"/>
                  </a:moveTo>
                  <a:lnTo>
                    <a:pt x="2851" y="17412"/>
                  </a:lnTo>
                  <a:lnTo>
                    <a:pt x="10810" y="8397"/>
                  </a:lnTo>
                  <a:lnTo>
                    <a:pt x="22985" y="2264"/>
                  </a:lnTo>
                  <a:lnTo>
                    <a:pt x="38481" y="0"/>
                  </a:lnTo>
                  <a:lnTo>
                    <a:pt x="53260" y="2264"/>
                  </a:lnTo>
                  <a:lnTo>
                    <a:pt x="65468" y="8397"/>
                  </a:lnTo>
                  <a:lnTo>
                    <a:pt x="73771" y="17412"/>
                  </a:lnTo>
                  <a:lnTo>
                    <a:pt x="76835" y="28321"/>
                  </a:lnTo>
                  <a:lnTo>
                    <a:pt x="73771" y="39175"/>
                  </a:lnTo>
                  <a:lnTo>
                    <a:pt x="65468" y="48196"/>
                  </a:lnTo>
                  <a:lnTo>
                    <a:pt x="53260" y="54359"/>
                  </a:lnTo>
                  <a:lnTo>
                    <a:pt x="38481" y="56642"/>
                  </a:lnTo>
                  <a:lnTo>
                    <a:pt x="22985" y="54359"/>
                  </a:lnTo>
                  <a:lnTo>
                    <a:pt x="10810" y="48196"/>
                  </a:lnTo>
                  <a:lnTo>
                    <a:pt x="2851" y="39175"/>
                  </a:lnTo>
                  <a:lnTo>
                    <a:pt x="0" y="2832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70" name="object 288"/>
            <p:cNvSpPr/>
            <p:nvPr/>
          </p:nvSpPr>
          <p:spPr bwMode="auto">
            <a:xfrm>
              <a:off x="2866644" y="4655439"/>
              <a:ext cx="144304" cy="701993"/>
            </a:xfrm>
            <a:custGeom>
              <a:avLst/>
              <a:gdLst>
                <a:gd name="T0" fmla="*/ 14101 w 192404"/>
                <a:gd name="T1" fmla="*/ 0 h 935989"/>
                <a:gd name="T2" fmla="*/ 12057 w 192404"/>
                <a:gd name="T3" fmla="*/ 292 h 935989"/>
                <a:gd name="T4" fmla="*/ 10374 w 192404"/>
                <a:gd name="T5" fmla="*/ 1092 h 935989"/>
                <a:gd name="T6" fmla="*/ 9232 w 192404"/>
                <a:gd name="T7" fmla="*/ 2291 h 935989"/>
                <a:gd name="T8" fmla="*/ 8812 w 192404"/>
                <a:gd name="T9" fmla="*/ 3776 h 935989"/>
                <a:gd name="T10" fmla="*/ 9177 w 192404"/>
                <a:gd name="T11" fmla="*/ 5183 h 935989"/>
                <a:gd name="T12" fmla="*/ 10174 w 192404"/>
                <a:gd name="T13" fmla="*/ 6348 h 935989"/>
                <a:gd name="T14" fmla="*/ 11649 w 192404"/>
                <a:gd name="T15" fmla="*/ 7202 h 935989"/>
                <a:gd name="T16" fmla="*/ 13452 w 192404"/>
                <a:gd name="T17" fmla="*/ 7679 h 935989"/>
                <a:gd name="T18" fmla="*/ 13452 w 192404"/>
                <a:gd name="T19" fmla="*/ 36618 h 935989"/>
                <a:gd name="T20" fmla="*/ 0 w 192404"/>
                <a:gd name="T21" fmla="*/ 49968 h 935989"/>
                <a:gd name="T22" fmla="*/ 0 w 192404"/>
                <a:gd name="T23" fmla="*/ 93680 h 935989"/>
                <a:gd name="T24" fmla="*/ 1437 w 192404"/>
                <a:gd name="T25" fmla="*/ 93680 h 935989"/>
                <a:gd name="T26" fmla="*/ 1437 w 192404"/>
                <a:gd name="T27" fmla="*/ 50324 h 935989"/>
                <a:gd name="T28" fmla="*/ 14737 w 192404"/>
                <a:gd name="T29" fmla="*/ 36974 h 935989"/>
                <a:gd name="T30" fmla="*/ 14737 w 192404"/>
                <a:gd name="T31" fmla="*/ 7679 h 935989"/>
                <a:gd name="T32" fmla="*/ 16522 w 192404"/>
                <a:gd name="T33" fmla="*/ 7202 h 935989"/>
                <a:gd name="T34" fmla="*/ 17504 w 192404"/>
                <a:gd name="T35" fmla="*/ 6612 h 935989"/>
                <a:gd name="T36" fmla="*/ 14101 w 192404"/>
                <a:gd name="T37" fmla="*/ 6612 h 935989"/>
                <a:gd name="T38" fmla="*/ 12550 w 192404"/>
                <a:gd name="T39" fmla="*/ 6401 h 935989"/>
                <a:gd name="T40" fmla="*/ 11330 w 192404"/>
                <a:gd name="T41" fmla="*/ 5814 h 935989"/>
                <a:gd name="T42" fmla="*/ 10534 w 192404"/>
                <a:gd name="T43" fmla="*/ 4917 h 935989"/>
                <a:gd name="T44" fmla="*/ 10248 w 192404"/>
                <a:gd name="T45" fmla="*/ 3776 h 935989"/>
                <a:gd name="T46" fmla="*/ 10534 w 192404"/>
                <a:gd name="T47" fmla="*/ 2690 h 935989"/>
                <a:gd name="T48" fmla="*/ 11330 w 192404"/>
                <a:gd name="T49" fmla="*/ 1787 h 935989"/>
                <a:gd name="T50" fmla="*/ 12550 w 192404"/>
                <a:gd name="T51" fmla="*/ 1169 h 935989"/>
                <a:gd name="T52" fmla="*/ 14101 w 192404"/>
                <a:gd name="T53" fmla="*/ 941 h 935989"/>
                <a:gd name="T54" fmla="*/ 17438 w 192404"/>
                <a:gd name="T55" fmla="*/ 941 h 935989"/>
                <a:gd name="T56" fmla="*/ 16119 w 192404"/>
                <a:gd name="T57" fmla="*/ 292 h 935989"/>
                <a:gd name="T58" fmla="*/ 14101 w 192404"/>
                <a:gd name="T59" fmla="*/ 0 h 935989"/>
                <a:gd name="T60" fmla="*/ 17438 w 192404"/>
                <a:gd name="T61" fmla="*/ 941 h 935989"/>
                <a:gd name="T62" fmla="*/ 14101 w 192404"/>
                <a:gd name="T63" fmla="*/ 941 h 935989"/>
                <a:gd name="T64" fmla="*/ 15581 w 192404"/>
                <a:gd name="T65" fmla="*/ 1169 h 935989"/>
                <a:gd name="T66" fmla="*/ 16802 w 192404"/>
                <a:gd name="T67" fmla="*/ 1787 h 935989"/>
                <a:gd name="T68" fmla="*/ 17634 w 192404"/>
                <a:gd name="T69" fmla="*/ 2690 h 935989"/>
                <a:gd name="T70" fmla="*/ 17941 w 192404"/>
                <a:gd name="T71" fmla="*/ 3776 h 935989"/>
                <a:gd name="T72" fmla="*/ 17634 w 192404"/>
                <a:gd name="T73" fmla="*/ 4917 h 935989"/>
                <a:gd name="T74" fmla="*/ 16802 w 192404"/>
                <a:gd name="T75" fmla="*/ 5814 h 935989"/>
                <a:gd name="T76" fmla="*/ 15581 w 192404"/>
                <a:gd name="T77" fmla="*/ 6401 h 935989"/>
                <a:gd name="T78" fmla="*/ 14101 w 192404"/>
                <a:gd name="T79" fmla="*/ 6612 h 935989"/>
                <a:gd name="T80" fmla="*/ 17504 w 192404"/>
                <a:gd name="T81" fmla="*/ 6612 h 935989"/>
                <a:gd name="T82" fmla="*/ 17944 w 192404"/>
                <a:gd name="T83" fmla="*/ 6348 h 935989"/>
                <a:gd name="T84" fmla="*/ 18884 w 192404"/>
                <a:gd name="T85" fmla="*/ 5183 h 935989"/>
                <a:gd name="T86" fmla="*/ 19226 w 192404"/>
                <a:gd name="T87" fmla="*/ 3776 h 935989"/>
                <a:gd name="T88" fmla="*/ 18830 w 192404"/>
                <a:gd name="T89" fmla="*/ 2291 h 935989"/>
                <a:gd name="T90" fmla="*/ 17745 w 192404"/>
                <a:gd name="T91" fmla="*/ 1092 h 935989"/>
                <a:gd name="T92" fmla="*/ 17438 w 192404"/>
                <a:gd name="T93" fmla="*/ 941 h 93598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92404" h="935989">
                  <a:moveTo>
                    <a:pt x="140843" y="0"/>
                  </a:moveTo>
                  <a:lnTo>
                    <a:pt x="120425" y="2911"/>
                  </a:lnTo>
                  <a:lnTo>
                    <a:pt x="103616" y="10906"/>
                  </a:lnTo>
                  <a:lnTo>
                    <a:pt x="92211" y="22877"/>
                  </a:lnTo>
                  <a:lnTo>
                    <a:pt x="88011" y="37718"/>
                  </a:lnTo>
                  <a:lnTo>
                    <a:pt x="91664" y="51776"/>
                  </a:lnTo>
                  <a:lnTo>
                    <a:pt x="101615" y="63404"/>
                  </a:lnTo>
                  <a:lnTo>
                    <a:pt x="116353" y="71937"/>
                  </a:lnTo>
                  <a:lnTo>
                    <a:pt x="134366" y="76708"/>
                  </a:lnTo>
                  <a:lnTo>
                    <a:pt x="134366" y="365760"/>
                  </a:lnTo>
                  <a:lnTo>
                    <a:pt x="0" y="499110"/>
                  </a:lnTo>
                  <a:lnTo>
                    <a:pt x="0" y="935736"/>
                  </a:lnTo>
                  <a:lnTo>
                    <a:pt x="14350" y="935736"/>
                  </a:lnTo>
                  <a:lnTo>
                    <a:pt x="14350" y="502666"/>
                  </a:lnTo>
                  <a:lnTo>
                    <a:pt x="147193" y="369316"/>
                  </a:lnTo>
                  <a:lnTo>
                    <a:pt x="147193" y="76708"/>
                  </a:lnTo>
                  <a:lnTo>
                    <a:pt x="165020" y="71937"/>
                  </a:lnTo>
                  <a:lnTo>
                    <a:pt x="174840" y="66040"/>
                  </a:lnTo>
                  <a:lnTo>
                    <a:pt x="140843" y="66040"/>
                  </a:lnTo>
                  <a:lnTo>
                    <a:pt x="125347" y="63936"/>
                  </a:lnTo>
                  <a:lnTo>
                    <a:pt x="113172" y="58070"/>
                  </a:lnTo>
                  <a:lnTo>
                    <a:pt x="105213" y="49109"/>
                  </a:lnTo>
                  <a:lnTo>
                    <a:pt x="102362" y="37718"/>
                  </a:lnTo>
                  <a:lnTo>
                    <a:pt x="105213" y="26864"/>
                  </a:lnTo>
                  <a:lnTo>
                    <a:pt x="113172" y="17843"/>
                  </a:lnTo>
                  <a:lnTo>
                    <a:pt x="125347" y="11680"/>
                  </a:lnTo>
                  <a:lnTo>
                    <a:pt x="140843" y="9398"/>
                  </a:lnTo>
                  <a:lnTo>
                    <a:pt x="174180" y="9398"/>
                  </a:lnTo>
                  <a:lnTo>
                    <a:pt x="161002" y="2911"/>
                  </a:lnTo>
                  <a:lnTo>
                    <a:pt x="140843" y="0"/>
                  </a:lnTo>
                  <a:close/>
                </a:path>
                <a:path w="192404" h="935989">
                  <a:moveTo>
                    <a:pt x="174180" y="9398"/>
                  </a:moveTo>
                  <a:lnTo>
                    <a:pt x="140843" y="9398"/>
                  </a:lnTo>
                  <a:lnTo>
                    <a:pt x="155622" y="11680"/>
                  </a:lnTo>
                  <a:lnTo>
                    <a:pt x="167830" y="17843"/>
                  </a:lnTo>
                  <a:lnTo>
                    <a:pt x="176133" y="26864"/>
                  </a:lnTo>
                  <a:lnTo>
                    <a:pt x="179197" y="37718"/>
                  </a:lnTo>
                  <a:lnTo>
                    <a:pt x="176133" y="49109"/>
                  </a:lnTo>
                  <a:lnTo>
                    <a:pt x="167830" y="58070"/>
                  </a:lnTo>
                  <a:lnTo>
                    <a:pt x="155622" y="63936"/>
                  </a:lnTo>
                  <a:lnTo>
                    <a:pt x="140843" y="66040"/>
                  </a:lnTo>
                  <a:lnTo>
                    <a:pt x="174840" y="66040"/>
                  </a:lnTo>
                  <a:lnTo>
                    <a:pt x="179228" y="63404"/>
                  </a:lnTo>
                  <a:lnTo>
                    <a:pt x="188626" y="51776"/>
                  </a:lnTo>
                  <a:lnTo>
                    <a:pt x="192024" y="37718"/>
                  </a:lnTo>
                  <a:lnTo>
                    <a:pt x="188081" y="22877"/>
                  </a:lnTo>
                  <a:lnTo>
                    <a:pt x="177244" y="10906"/>
                  </a:lnTo>
                  <a:lnTo>
                    <a:pt x="174180" y="939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71" name="object 289"/>
            <p:cNvSpPr/>
            <p:nvPr/>
          </p:nvSpPr>
          <p:spPr bwMode="auto">
            <a:xfrm>
              <a:off x="2866644" y="4655439"/>
              <a:ext cx="144304" cy="701993"/>
            </a:xfrm>
            <a:custGeom>
              <a:avLst/>
              <a:gdLst>
                <a:gd name="T0" fmla="*/ 13452 w 192404"/>
                <a:gd name="T1" fmla="*/ 7679 h 935989"/>
                <a:gd name="T2" fmla="*/ 13452 w 192404"/>
                <a:gd name="T3" fmla="*/ 7679 h 935989"/>
                <a:gd name="T4" fmla="*/ 13452 w 192404"/>
                <a:gd name="T5" fmla="*/ 30477 h 935989"/>
                <a:gd name="T6" fmla="*/ 13452 w 192404"/>
                <a:gd name="T7" fmla="*/ 36618 h 935989"/>
                <a:gd name="T8" fmla="*/ 5675 w 192404"/>
                <a:gd name="T9" fmla="*/ 44336 h 935989"/>
                <a:gd name="T10" fmla="*/ 1682 w 192404"/>
                <a:gd name="T11" fmla="*/ 48299 h 935989"/>
                <a:gd name="T12" fmla="*/ 211 w 192404"/>
                <a:gd name="T13" fmla="*/ 49759 h 935989"/>
                <a:gd name="T14" fmla="*/ 0 w 192404"/>
                <a:gd name="T15" fmla="*/ 49968 h 935989"/>
                <a:gd name="T16" fmla="*/ 0 w 192404"/>
                <a:gd name="T17" fmla="*/ 75239 h 935989"/>
                <a:gd name="T18" fmla="*/ 0 w 192404"/>
                <a:gd name="T19" fmla="*/ 88216 h 935989"/>
                <a:gd name="T20" fmla="*/ 0 w 192404"/>
                <a:gd name="T21" fmla="*/ 92997 h 935989"/>
                <a:gd name="T22" fmla="*/ 0 w 192404"/>
                <a:gd name="T23" fmla="*/ 93680 h 935989"/>
                <a:gd name="T24" fmla="*/ 1437 w 192404"/>
                <a:gd name="T25" fmla="*/ 93680 h 935989"/>
                <a:gd name="T26" fmla="*/ 1437 w 192404"/>
                <a:gd name="T27" fmla="*/ 68615 h 935989"/>
                <a:gd name="T28" fmla="*/ 1437 w 192404"/>
                <a:gd name="T29" fmla="*/ 55743 h 935989"/>
                <a:gd name="T30" fmla="*/ 1437 w 192404"/>
                <a:gd name="T31" fmla="*/ 51002 h 935989"/>
                <a:gd name="T32" fmla="*/ 1437 w 192404"/>
                <a:gd name="T33" fmla="*/ 50324 h 935989"/>
                <a:gd name="T34" fmla="*/ 9125 w 192404"/>
                <a:gd name="T35" fmla="*/ 42605 h 935989"/>
                <a:gd name="T36" fmla="*/ 13074 w 192404"/>
                <a:gd name="T37" fmla="*/ 38643 h 935989"/>
                <a:gd name="T38" fmla="*/ 14529 w 192404"/>
                <a:gd name="T39" fmla="*/ 37183 h 935989"/>
                <a:gd name="T40" fmla="*/ 14737 w 192404"/>
                <a:gd name="T41" fmla="*/ 36974 h 935989"/>
                <a:gd name="T42" fmla="*/ 14737 w 192404"/>
                <a:gd name="T43" fmla="*/ 7679 h 935989"/>
                <a:gd name="T44" fmla="*/ 16522 w 192404"/>
                <a:gd name="T45" fmla="*/ 7202 h 935989"/>
                <a:gd name="T46" fmla="*/ 17944 w 192404"/>
                <a:gd name="T47" fmla="*/ 6348 h 935989"/>
                <a:gd name="T48" fmla="*/ 18884 w 192404"/>
                <a:gd name="T49" fmla="*/ 5183 h 935989"/>
                <a:gd name="T50" fmla="*/ 19226 w 192404"/>
                <a:gd name="T51" fmla="*/ 3776 h 935989"/>
                <a:gd name="T52" fmla="*/ 18830 w 192404"/>
                <a:gd name="T53" fmla="*/ 2291 h 935989"/>
                <a:gd name="T54" fmla="*/ 17745 w 192404"/>
                <a:gd name="T55" fmla="*/ 1092 h 935989"/>
                <a:gd name="T56" fmla="*/ 16119 w 192404"/>
                <a:gd name="T57" fmla="*/ 292 h 935989"/>
                <a:gd name="T58" fmla="*/ 14101 w 192404"/>
                <a:gd name="T59" fmla="*/ 0 h 935989"/>
                <a:gd name="T60" fmla="*/ 12057 w 192404"/>
                <a:gd name="T61" fmla="*/ 292 h 935989"/>
                <a:gd name="T62" fmla="*/ 10374 w 192404"/>
                <a:gd name="T63" fmla="*/ 1092 h 935989"/>
                <a:gd name="T64" fmla="*/ 9232 w 192404"/>
                <a:gd name="T65" fmla="*/ 2291 h 935989"/>
                <a:gd name="T66" fmla="*/ 8812 w 192404"/>
                <a:gd name="T67" fmla="*/ 3776 h 935989"/>
                <a:gd name="T68" fmla="*/ 9177 w 192404"/>
                <a:gd name="T69" fmla="*/ 5183 h 935989"/>
                <a:gd name="T70" fmla="*/ 10174 w 192404"/>
                <a:gd name="T71" fmla="*/ 6348 h 935989"/>
                <a:gd name="T72" fmla="*/ 11649 w 192404"/>
                <a:gd name="T73" fmla="*/ 7202 h 935989"/>
                <a:gd name="T74" fmla="*/ 13452 w 192404"/>
                <a:gd name="T75" fmla="*/ 7679 h 9359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404" h="935989">
                  <a:moveTo>
                    <a:pt x="134366" y="76708"/>
                  </a:moveTo>
                  <a:lnTo>
                    <a:pt x="134366" y="76708"/>
                  </a:lnTo>
                  <a:lnTo>
                    <a:pt x="134366" y="304419"/>
                  </a:lnTo>
                  <a:lnTo>
                    <a:pt x="134366" y="365760"/>
                  </a:lnTo>
                  <a:lnTo>
                    <a:pt x="56685" y="442852"/>
                  </a:lnTo>
                  <a:lnTo>
                    <a:pt x="16795" y="482441"/>
                  </a:lnTo>
                  <a:lnTo>
                    <a:pt x="2099" y="497026"/>
                  </a:lnTo>
                  <a:lnTo>
                    <a:pt x="0" y="499110"/>
                  </a:lnTo>
                  <a:lnTo>
                    <a:pt x="0" y="751534"/>
                  </a:lnTo>
                  <a:lnTo>
                    <a:pt x="0" y="881157"/>
                  </a:lnTo>
                  <a:lnTo>
                    <a:pt x="0" y="928913"/>
                  </a:lnTo>
                  <a:lnTo>
                    <a:pt x="0" y="935736"/>
                  </a:lnTo>
                  <a:lnTo>
                    <a:pt x="14350" y="935736"/>
                  </a:lnTo>
                  <a:lnTo>
                    <a:pt x="14350" y="685367"/>
                  </a:lnTo>
                  <a:lnTo>
                    <a:pt x="14350" y="556799"/>
                  </a:lnTo>
                  <a:lnTo>
                    <a:pt x="14350" y="509432"/>
                  </a:lnTo>
                  <a:lnTo>
                    <a:pt x="14350" y="502666"/>
                  </a:lnTo>
                  <a:lnTo>
                    <a:pt x="91150" y="425573"/>
                  </a:lnTo>
                  <a:lnTo>
                    <a:pt x="130587" y="385984"/>
                  </a:lnTo>
                  <a:lnTo>
                    <a:pt x="145117" y="371399"/>
                  </a:lnTo>
                  <a:lnTo>
                    <a:pt x="147193" y="369316"/>
                  </a:lnTo>
                  <a:lnTo>
                    <a:pt x="147193" y="76708"/>
                  </a:lnTo>
                  <a:lnTo>
                    <a:pt x="165020" y="71937"/>
                  </a:lnTo>
                  <a:lnTo>
                    <a:pt x="179228" y="63404"/>
                  </a:lnTo>
                  <a:lnTo>
                    <a:pt x="188626" y="51776"/>
                  </a:lnTo>
                  <a:lnTo>
                    <a:pt x="192024" y="37718"/>
                  </a:lnTo>
                  <a:lnTo>
                    <a:pt x="188081" y="22877"/>
                  </a:lnTo>
                  <a:lnTo>
                    <a:pt x="177244" y="10906"/>
                  </a:lnTo>
                  <a:lnTo>
                    <a:pt x="161002" y="2911"/>
                  </a:lnTo>
                  <a:lnTo>
                    <a:pt x="140843" y="0"/>
                  </a:lnTo>
                  <a:lnTo>
                    <a:pt x="120425" y="2911"/>
                  </a:lnTo>
                  <a:lnTo>
                    <a:pt x="103616" y="10906"/>
                  </a:lnTo>
                  <a:lnTo>
                    <a:pt x="92211" y="22877"/>
                  </a:lnTo>
                  <a:lnTo>
                    <a:pt x="88011" y="37718"/>
                  </a:lnTo>
                  <a:lnTo>
                    <a:pt x="91664" y="51776"/>
                  </a:lnTo>
                  <a:lnTo>
                    <a:pt x="101615" y="63404"/>
                  </a:lnTo>
                  <a:lnTo>
                    <a:pt x="116353" y="71937"/>
                  </a:lnTo>
                  <a:lnTo>
                    <a:pt x="134366" y="76708"/>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72" name="object 290"/>
            <p:cNvSpPr/>
            <p:nvPr/>
          </p:nvSpPr>
          <p:spPr bwMode="auto">
            <a:xfrm>
              <a:off x="2943415" y="4662487"/>
              <a:ext cx="57626" cy="42862"/>
            </a:xfrm>
            <a:custGeom>
              <a:avLst/>
              <a:gdLst>
                <a:gd name="T0" fmla="*/ 3852 w 76835"/>
                <a:gd name="T1" fmla="*/ 0 h 57150"/>
                <a:gd name="T2" fmla="*/ 5332 w 76835"/>
                <a:gd name="T3" fmla="*/ 228 h 57150"/>
                <a:gd name="T4" fmla="*/ 6553 w 76835"/>
                <a:gd name="T5" fmla="*/ 844 h 57150"/>
                <a:gd name="T6" fmla="*/ 7385 w 76835"/>
                <a:gd name="T7" fmla="*/ 1748 h 57150"/>
                <a:gd name="T8" fmla="*/ 7691 w 76835"/>
                <a:gd name="T9" fmla="*/ 2835 h 57150"/>
                <a:gd name="T10" fmla="*/ 7385 w 76835"/>
                <a:gd name="T11" fmla="*/ 3976 h 57150"/>
                <a:gd name="T12" fmla="*/ 6553 w 76835"/>
                <a:gd name="T13" fmla="*/ 4872 h 57150"/>
                <a:gd name="T14" fmla="*/ 5332 w 76835"/>
                <a:gd name="T15" fmla="*/ 5459 h 57150"/>
                <a:gd name="T16" fmla="*/ 3852 w 76835"/>
                <a:gd name="T17" fmla="*/ 5671 h 57150"/>
                <a:gd name="T18" fmla="*/ 2301 w 76835"/>
                <a:gd name="T19" fmla="*/ 5459 h 57150"/>
                <a:gd name="T20" fmla="*/ 1082 w 76835"/>
                <a:gd name="T21" fmla="*/ 4872 h 57150"/>
                <a:gd name="T22" fmla="*/ 285 w 76835"/>
                <a:gd name="T23" fmla="*/ 3976 h 57150"/>
                <a:gd name="T24" fmla="*/ 0 w 76835"/>
                <a:gd name="T25" fmla="*/ 2835 h 57150"/>
                <a:gd name="T26" fmla="*/ 285 w 76835"/>
                <a:gd name="T27" fmla="*/ 1748 h 57150"/>
                <a:gd name="T28" fmla="*/ 1082 w 76835"/>
                <a:gd name="T29" fmla="*/ 844 h 57150"/>
                <a:gd name="T30" fmla="*/ 2301 w 76835"/>
                <a:gd name="T31" fmla="*/ 228 h 57150"/>
                <a:gd name="T32" fmla="*/ 3852 w 76835"/>
                <a:gd name="T33" fmla="*/ 0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5" h="57150">
                  <a:moveTo>
                    <a:pt x="38481" y="0"/>
                  </a:moveTo>
                  <a:lnTo>
                    <a:pt x="53260" y="2282"/>
                  </a:lnTo>
                  <a:lnTo>
                    <a:pt x="65468" y="8445"/>
                  </a:lnTo>
                  <a:lnTo>
                    <a:pt x="73771" y="17466"/>
                  </a:lnTo>
                  <a:lnTo>
                    <a:pt x="76835" y="28320"/>
                  </a:lnTo>
                  <a:lnTo>
                    <a:pt x="73771" y="39711"/>
                  </a:lnTo>
                  <a:lnTo>
                    <a:pt x="65468" y="48672"/>
                  </a:lnTo>
                  <a:lnTo>
                    <a:pt x="53260" y="54538"/>
                  </a:lnTo>
                  <a:lnTo>
                    <a:pt x="38481" y="56642"/>
                  </a:lnTo>
                  <a:lnTo>
                    <a:pt x="22985" y="54538"/>
                  </a:lnTo>
                  <a:lnTo>
                    <a:pt x="10810" y="48672"/>
                  </a:lnTo>
                  <a:lnTo>
                    <a:pt x="2851" y="39711"/>
                  </a:lnTo>
                  <a:lnTo>
                    <a:pt x="0" y="28320"/>
                  </a:lnTo>
                  <a:lnTo>
                    <a:pt x="2851" y="17466"/>
                  </a:lnTo>
                  <a:lnTo>
                    <a:pt x="10810" y="8445"/>
                  </a:lnTo>
                  <a:lnTo>
                    <a:pt x="22985" y="2282"/>
                  </a:lnTo>
                  <a:lnTo>
                    <a:pt x="38481"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73" name="object 291"/>
            <p:cNvSpPr/>
            <p:nvPr/>
          </p:nvSpPr>
          <p:spPr bwMode="auto">
            <a:xfrm>
              <a:off x="4192524" y="4910327"/>
              <a:ext cx="76676" cy="244793"/>
            </a:xfrm>
            <a:custGeom>
              <a:avLst/>
              <a:gdLst>
                <a:gd name="T0" fmla="*/ 5034 w 102235"/>
                <a:gd name="T1" fmla="*/ 0 h 326389"/>
                <a:gd name="T2" fmla="*/ 3052 w 102235"/>
                <a:gd name="T3" fmla="*/ 292 h 326389"/>
                <a:gd name="T4" fmla="*/ 1453 w 102235"/>
                <a:gd name="T5" fmla="*/ 1092 h 326389"/>
                <a:gd name="T6" fmla="*/ 388 w 102235"/>
                <a:gd name="T7" fmla="*/ 2291 h 326389"/>
                <a:gd name="T8" fmla="*/ 0 w 102235"/>
                <a:gd name="T9" fmla="*/ 3776 h 326389"/>
                <a:gd name="T10" fmla="*/ 333 w 102235"/>
                <a:gd name="T11" fmla="*/ 5174 h 326389"/>
                <a:gd name="T12" fmla="*/ 1255 w 102235"/>
                <a:gd name="T13" fmla="*/ 6321 h 326389"/>
                <a:gd name="T14" fmla="*/ 2649 w 102235"/>
                <a:gd name="T15" fmla="*/ 7136 h 326389"/>
                <a:gd name="T16" fmla="*/ 4399 w 102235"/>
                <a:gd name="T17" fmla="*/ 7540 h 326389"/>
                <a:gd name="T18" fmla="*/ 4399 w 102235"/>
                <a:gd name="T19" fmla="*/ 32651 h 326389"/>
                <a:gd name="T20" fmla="*/ 5657 w 102235"/>
                <a:gd name="T21" fmla="*/ 32651 h 326389"/>
                <a:gd name="T22" fmla="*/ 5657 w 102235"/>
                <a:gd name="T23" fmla="*/ 7540 h 326389"/>
                <a:gd name="T24" fmla="*/ 7432 w 102235"/>
                <a:gd name="T25" fmla="*/ 7136 h 326389"/>
                <a:gd name="T26" fmla="*/ 8389 w 102235"/>
                <a:gd name="T27" fmla="*/ 6599 h 326389"/>
                <a:gd name="T28" fmla="*/ 5034 w 102235"/>
                <a:gd name="T29" fmla="*/ 6599 h 326389"/>
                <a:gd name="T30" fmla="*/ 3580 w 102235"/>
                <a:gd name="T31" fmla="*/ 6373 h 326389"/>
                <a:gd name="T32" fmla="*/ 2379 w 102235"/>
                <a:gd name="T33" fmla="*/ 5759 h 326389"/>
                <a:gd name="T34" fmla="*/ 1561 w 102235"/>
                <a:gd name="T35" fmla="*/ 4862 h 326389"/>
                <a:gd name="T36" fmla="*/ 1258 w 102235"/>
                <a:gd name="T37" fmla="*/ 3776 h 326389"/>
                <a:gd name="T38" fmla="*/ 1561 w 102235"/>
                <a:gd name="T39" fmla="*/ 2684 h 326389"/>
                <a:gd name="T40" fmla="*/ 2379 w 102235"/>
                <a:gd name="T41" fmla="*/ 1781 h 326389"/>
                <a:gd name="T42" fmla="*/ 3580 w 102235"/>
                <a:gd name="T43" fmla="*/ 1168 h 326389"/>
                <a:gd name="T44" fmla="*/ 5034 w 102235"/>
                <a:gd name="T45" fmla="*/ 941 h 326389"/>
                <a:gd name="T46" fmla="*/ 8375 w 102235"/>
                <a:gd name="T47" fmla="*/ 941 h 326389"/>
                <a:gd name="T48" fmla="*/ 7036 w 102235"/>
                <a:gd name="T49" fmla="*/ 292 h 326389"/>
                <a:gd name="T50" fmla="*/ 5034 w 102235"/>
                <a:gd name="T51" fmla="*/ 0 h 326389"/>
                <a:gd name="T52" fmla="*/ 8375 w 102235"/>
                <a:gd name="T53" fmla="*/ 941 h 326389"/>
                <a:gd name="T54" fmla="*/ 5034 w 102235"/>
                <a:gd name="T55" fmla="*/ 941 h 326389"/>
                <a:gd name="T56" fmla="*/ 6487 w 102235"/>
                <a:gd name="T57" fmla="*/ 1168 h 326389"/>
                <a:gd name="T58" fmla="*/ 7690 w 102235"/>
                <a:gd name="T59" fmla="*/ 1781 h 326389"/>
                <a:gd name="T60" fmla="*/ 8509 w 102235"/>
                <a:gd name="T61" fmla="*/ 2684 h 326389"/>
                <a:gd name="T62" fmla="*/ 8811 w 102235"/>
                <a:gd name="T63" fmla="*/ 3776 h 326389"/>
                <a:gd name="T64" fmla="*/ 8509 w 102235"/>
                <a:gd name="T65" fmla="*/ 4862 h 326389"/>
                <a:gd name="T66" fmla="*/ 7690 w 102235"/>
                <a:gd name="T67" fmla="*/ 5759 h 326389"/>
                <a:gd name="T68" fmla="*/ 6487 w 102235"/>
                <a:gd name="T69" fmla="*/ 6373 h 326389"/>
                <a:gd name="T70" fmla="*/ 5034 w 102235"/>
                <a:gd name="T71" fmla="*/ 6599 h 326389"/>
                <a:gd name="T72" fmla="*/ 8389 w 102235"/>
                <a:gd name="T73" fmla="*/ 6599 h 326389"/>
                <a:gd name="T74" fmla="*/ 8884 w 102235"/>
                <a:gd name="T75" fmla="*/ 6321 h 326389"/>
                <a:gd name="T76" fmla="*/ 9862 w 102235"/>
                <a:gd name="T77" fmla="*/ 5174 h 326389"/>
                <a:gd name="T78" fmla="*/ 10222 w 102235"/>
                <a:gd name="T79" fmla="*/ 3776 h 326389"/>
                <a:gd name="T80" fmla="*/ 9808 w 102235"/>
                <a:gd name="T81" fmla="*/ 2291 h 326389"/>
                <a:gd name="T82" fmla="*/ 8686 w 102235"/>
                <a:gd name="T83" fmla="*/ 1092 h 326389"/>
                <a:gd name="T84" fmla="*/ 8375 w 102235"/>
                <a:gd name="T85" fmla="*/ 941 h 32638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2235" h="326389">
                  <a:moveTo>
                    <a:pt x="50291" y="0"/>
                  </a:moveTo>
                  <a:lnTo>
                    <a:pt x="30485" y="2911"/>
                  </a:lnTo>
                  <a:lnTo>
                    <a:pt x="14525" y="10906"/>
                  </a:lnTo>
                  <a:lnTo>
                    <a:pt x="3875" y="22877"/>
                  </a:lnTo>
                  <a:lnTo>
                    <a:pt x="0" y="37719"/>
                  </a:lnTo>
                  <a:lnTo>
                    <a:pt x="3329" y="51683"/>
                  </a:lnTo>
                  <a:lnTo>
                    <a:pt x="12541" y="63134"/>
                  </a:lnTo>
                  <a:lnTo>
                    <a:pt x="26467" y="71276"/>
                  </a:lnTo>
                  <a:lnTo>
                    <a:pt x="43941" y="75311"/>
                  </a:lnTo>
                  <a:lnTo>
                    <a:pt x="43941" y="326136"/>
                  </a:lnTo>
                  <a:lnTo>
                    <a:pt x="56514" y="326136"/>
                  </a:lnTo>
                  <a:lnTo>
                    <a:pt x="56514" y="75311"/>
                  </a:lnTo>
                  <a:lnTo>
                    <a:pt x="74247" y="71276"/>
                  </a:lnTo>
                  <a:lnTo>
                    <a:pt x="83795" y="65913"/>
                  </a:lnTo>
                  <a:lnTo>
                    <a:pt x="50291" y="65913"/>
                  </a:lnTo>
                  <a:lnTo>
                    <a:pt x="35772" y="63650"/>
                  </a:lnTo>
                  <a:lnTo>
                    <a:pt x="23764" y="57531"/>
                  </a:lnTo>
                  <a:lnTo>
                    <a:pt x="15591" y="48553"/>
                  </a:lnTo>
                  <a:lnTo>
                    <a:pt x="12572" y="37719"/>
                  </a:lnTo>
                  <a:lnTo>
                    <a:pt x="15591" y="26810"/>
                  </a:lnTo>
                  <a:lnTo>
                    <a:pt x="23764" y="17795"/>
                  </a:lnTo>
                  <a:lnTo>
                    <a:pt x="35772" y="11662"/>
                  </a:lnTo>
                  <a:lnTo>
                    <a:pt x="50291" y="9398"/>
                  </a:lnTo>
                  <a:lnTo>
                    <a:pt x="83662" y="9398"/>
                  </a:lnTo>
                  <a:lnTo>
                    <a:pt x="70282" y="2911"/>
                  </a:lnTo>
                  <a:lnTo>
                    <a:pt x="50291" y="0"/>
                  </a:lnTo>
                  <a:close/>
                </a:path>
                <a:path w="102235" h="326389">
                  <a:moveTo>
                    <a:pt x="83662" y="9398"/>
                  </a:moveTo>
                  <a:lnTo>
                    <a:pt x="50291" y="9398"/>
                  </a:lnTo>
                  <a:lnTo>
                    <a:pt x="64811" y="11662"/>
                  </a:lnTo>
                  <a:lnTo>
                    <a:pt x="76819" y="17795"/>
                  </a:lnTo>
                  <a:lnTo>
                    <a:pt x="84992" y="26810"/>
                  </a:lnTo>
                  <a:lnTo>
                    <a:pt x="88010" y="37719"/>
                  </a:lnTo>
                  <a:lnTo>
                    <a:pt x="84992" y="48553"/>
                  </a:lnTo>
                  <a:lnTo>
                    <a:pt x="76819" y="57531"/>
                  </a:lnTo>
                  <a:lnTo>
                    <a:pt x="64811" y="63650"/>
                  </a:lnTo>
                  <a:lnTo>
                    <a:pt x="50291" y="65913"/>
                  </a:lnTo>
                  <a:lnTo>
                    <a:pt x="83795" y="65913"/>
                  </a:lnTo>
                  <a:lnTo>
                    <a:pt x="88741" y="63134"/>
                  </a:lnTo>
                  <a:lnTo>
                    <a:pt x="98520" y="51683"/>
                  </a:lnTo>
                  <a:lnTo>
                    <a:pt x="102107" y="37719"/>
                  </a:lnTo>
                  <a:lnTo>
                    <a:pt x="97976" y="22877"/>
                  </a:lnTo>
                  <a:lnTo>
                    <a:pt x="86772" y="10906"/>
                  </a:lnTo>
                  <a:lnTo>
                    <a:pt x="83662" y="9398"/>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74" name="object 292"/>
            <p:cNvSpPr/>
            <p:nvPr/>
          </p:nvSpPr>
          <p:spPr bwMode="auto">
            <a:xfrm>
              <a:off x="4192524" y="4910327"/>
              <a:ext cx="76676" cy="244793"/>
            </a:xfrm>
            <a:custGeom>
              <a:avLst/>
              <a:gdLst>
                <a:gd name="T0" fmla="*/ 5657 w 102235"/>
                <a:gd name="T1" fmla="*/ 7540 h 326389"/>
                <a:gd name="T2" fmla="*/ 7432 w 102235"/>
                <a:gd name="T3" fmla="*/ 7136 h 326389"/>
                <a:gd name="T4" fmla="*/ 8884 w 102235"/>
                <a:gd name="T5" fmla="*/ 6321 h 326389"/>
                <a:gd name="T6" fmla="*/ 9862 w 102235"/>
                <a:gd name="T7" fmla="*/ 5174 h 326389"/>
                <a:gd name="T8" fmla="*/ 10222 w 102235"/>
                <a:gd name="T9" fmla="*/ 3776 h 326389"/>
                <a:gd name="T10" fmla="*/ 9808 w 102235"/>
                <a:gd name="T11" fmla="*/ 2291 h 326389"/>
                <a:gd name="T12" fmla="*/ 8686 w 102235"/>
                <a:gd name="T13" fmla="*/ 1092 h 326389"/>
                <a:gd name="T14" fmla="*/ 7036 w 102235"/>
                <a:gd name="T15" fmla="*/ 292 h 326389"/>
                <a:gd name="T16" fmla="*/ 5034 w 102235"/>
                <a:gd name="T17" fmla="*/ 0 h 326389"/>
                <a:gd name="T18" fmla="*/ 3052 w 102235"/>
                <a:gd name="T19" fmla="*/ 292 h 326389"/>
                <a:gd name="T20" fmla="*/ 1453 w 102235"/>
                <a:gd name="T21" fmla="*/ 1092 h 326389"/>
                <a:gd name="T22" fmla="*/ 388 w 102235"/>
                <a:gd name="T23" fmla="*/ 2291 h 326389"/>
                <a:gd name="T24" fmla="*/ 0 w 102235"/>
                <a:gd name="T25" fmla="*/ 3776 h 326389"/>
                <a:gd name="T26" fmla="*/ 333 w 102235"/>
                <a:gd name="T27" fmla="*/ 5174 h 326389"/>
                <a:gd name="T28" fmla="*/ 1255 w 102235"/>
                <a:gd name="T29" fmla="*/ 6321 h 326389"/>
                <a:gd name="T30" fmla="*/ 2649 w 102235"/>
                <a:gd name="T31" fmla="*/ 7136 h 326389"/>
                <a:gd name="T32" fmla="*/ 4399 w 102235"/>
                <a:gd name="T33" fmla="*/ 7540 h 326389"/>
                <a:gd name="T34" fmla="*/ 4399 w 102235"/>
                <a:gd name="T35" fmla="*/ 22058 h 326389"/>
                <a:gd name="T36" fmla="*/ 4399 w 102235"/>
                <a:gd name="T37" fmla="*/ 29513 h 326389"/>
                <a:gd name="T38" fmla="*/ 4399 w 102235"/>
                <a:gd name="T39" fmla="*/ 32259 h 326389"/>
                <a:gd name="T40" fmla="*/ 4399 w 102235"/>
                <a:gd name="T41" fmla="*/ 32651 h 326389"/>
                <a:gd name="T42" fmla="*/ 5657 w 102235"/>
                <a:gd name="T43" fmla="*/ 32651 h 326389"/>
                <a:gd name="T44" fmla="*/ 5657 w 102235"/>
                <a:gd name="T45" fmla="*/ 7540 h 3263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2235" h="326389">
                  <a:moveTo>
                    <a:pt x="56514" y="75311"/>
                  </a:moveTo>
                  <a:lnTo>
                    <a:pt x="74247" y="71276"/>
                  </a:lnTo>
                  <a:lnTo>
                    <a:pt x="88741" y="63134"/>
                  </a:lnTo>
                  <a:lnTo>
                    <a:pt x="98520" y="51683"/>
                  </a:lnTo>
                  <a:lnTo>
                    <a:pt x="102107" y="37719"/>
                  </a:lnTo>
                  <a:lnTo>
                    <a:pt x="97976" y="22877"/>
                  </a:lnTo>
                  <a:lnTo>
                    <a:pt x="86772" y="10906"/>
                  </a:lnTo>
                  <a:lnTo>
                    <a:pt x="70282" y="2911"/>
                  </a:lnTo>
                  <a:lnTo>
                    <a:pt x="50291" y="0"/>
                  </a:lnTo>
                  <a:lnTo>
                    <a:pt x="30485" y="2911"/>
                  </a:lnTo>
                  <a:lnTo>
                    <a:pt x="14525" y="10906"/>
                  </a:lnTo>
                  <a:lnTo>
                    <a:pt x="3875" y="22877"/>
                  </a:lnTo>
                  <a:lnTo>
                    <a:pt x="0" y="37719"/>
                  </a:lnTo>
                  <a:lnTo>
                    <a:pt x="3329" y="51683"/>
                  </a:lnTo>
                  <a:lnTo>
                    <a:pt x="12541" y="63134"/>
                  </a:lnTo>
                  <a:lnTo>
                    <a:pt x="26467" y="71276"/>
                  </a:lnTo>
                  <a:lnTo>
                    <a:pt x="43941" y="75311"/>
                  </a:lnTo>
                  <a:lnTo>
                    <a:pt x="43941" y="220319"/>
                  </a:lnTo>
                  <a:lnTo>
                    <a:pt x="43941" y="294782"/>
                  </a:lnTo>
                  <a:lnTo>
                    <a:pt x="43941" y="322216"/>
                  </a:lnTo>
                  <a:lnTo>
                    <a:pt x="43941" y="326136"/>
                  </a:lnTo>
                  <a:lnTo>
                    <a:pt x="56514" y="326136"/>
                  </a:lnTo>
                  <a:lnTo>
                    <a:pt x="56514" y="7531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75" name="object 293"/>
            <p:cNvSpPr/>
            <p:nvPr/>
          </p:nvSpPr>
          <p:spPr bwMode="auto">
            <a:xfrm>
              <a:off x="4201954" y="4917377"/>
              <a:ext cx="56674" cy="42386"/>
            </a:xfrm>
            <a:custGeom>
              <a:avLst/>
              <a:gdLst>
                <a:gd name="T0" fmla="*/ 0 w 75564"/>
                <a:gd name="T1" fmla="*/ 2836 h 56514"/>
                <a:gd name="T2" fmla="*/ 303 w 75564"/>
                <a:gd name="T3" fmla="*/ 1744 h 56514"/>
                <a:gd name="T4" fmla="*/ 1121 w 75564"/>
                <a:gd name="T5" fmla="*/ 841 h 56514"/>
                <a:gd name="T6" fmla="*/ 2324 w 75564"/>
                <a:gd name="T7" fmla="*/ 227 h 56514"/>
                <a:gd name="T8" fmla="*/ 3777 w 75564"/>
                <a:gd name="T9" fmla="*/ 0 h 56514"/>
                <a:gd name="T10" fmla="*/ 5231 w 75564"/>
                <a:gd name="T11" fmla="*/ 227 h 56514"/>
                <a:gd name="T12" fmla="*/ 6432 w 75564"/>
                <a:gd name="T13" fmla="*/ 841 h 56514"/>
                <a:gd name="T14" fmla="*/ 7251 w 75564"/>
                <a:gd name="T15" fmla="*/ 1744 h 56514"/>
                <a:gd name="T16" fmla="*/ 7553 w 75564"/>
                <a:gd name="T17" fmla="*/ 2836 h 56514"/>
                <a:gd name="T18" fmla="*/ 7251 w 75564"/>
                <a:gd name="T19" fmla="*/ 3921 h 56514"/>
                <a:gd name="T20" fmla="*/ 6432 w 75564"/>
                <a:gd name="T21" fmla="*/ 4819 h 56514"/>
                <a:gd name="T22" fmla="*/ 5231 w 75564"/>
                <a:gd name="T23" fmla="*/ 5432 h 56514"/>
                <a:gd name="T24" fmla="*/ 3777 w 75564"/>
                <a:gd name="T25" fmla="*/ 5658 h 56514"/>
                <a:gd name="T26" fmla="*/ 2324 w 75564"/>
                <a:gd name="T27" fmla="*/ 5432 h 56514"/>
                <a:gd name="T28" fmla="*/ 1121 w 75564"/>
                <a:gd name="T29" fmla="*/ 4819 h 56514"/>
                <a:gd name="T30" fmla="*/ 303 w 75564"/>
                <a:gd name="T31" fmla="*/ 3921 h 56514"/>
                <a:gd name="T32" fmla="*/ 0 w 75564"/>
                <a:gd name="T33" fmla="*/ 2836 h 565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5564" h="56514">
                  <a:moveTo>
                    <a:pt x="0" y="28321"/>
                  </a:moveTo>
                  <a:lnTo>
                    <a:pt x="3018" y="17412"/>
                  </a:lnTo>
                  <a:lnTo>
                    <a:pt x="11191" y="8397"/>
                  </a:lnTo>
                  <a:lnTo>
                    <a:pt x="23199" y="2264"/>
                  </a:lnTo>
                  <a:lnTo>
                    <a:pt x="37719" y="0"/>
                  </a:lnTo>
                  <a:lnTo>
                    <a:pt x="52238" y="2264"/>
                  </a:lnTo>
                  <a:lnTo>
                    <a:pt x="64246" y="8397"/>
                  </a:lnTo>
                  <a:lnTo>
                    <a:pt x="72419" y="17412"/>
                  </a:lnTo>
                  <a:lnTo>
                    <a:pt x="75437" y="28321"/>
                  </a:lnTo>
                  <a:lnTo>
                    <a:pt x="72419" y="39155"/>
                  </a:lnTo>
                  <a:lnTo>
                    <a:pt x="64246" y="48133"/>
                  </a:lnTo>
                  <a:lnTo>
                    <a:pt x="52238" y="54252"/>
                  </a:lnTo>
                  <a:lnTo>
                    <a:pt x="37719" y="56515"/>
                  </a:lnTo>
                  <a:lnTo>
                    <a:pt x="23199" y="54252"/>
                  </a:lnTo>
                  <a:lnTo>
                    <a:pt x="11191" y="48133"/>
                  </a:lnTo>
                  <a:lnTo>
                    <a:pt x="3018" y="39155"/>
                  </a:lnTo>
                  <a:lnTo>
                    <a:pt x="0" y="28321"/>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76" name="object 294"/>
            <p:cNvSpPr/>
            <p:nvPr/>
          </p:nvSpPr>
          <p:spPr bwMode="auto">
            <a:xfrm>
              <a:off x="4094225" y="5064634"/>
              <a:ext cx="79058" cy="163830"/>
            </a:xfrm>
            <a:custGeom>
              <a:avLst/>
              <a:gdLst>
                <a:gd name="T0" fmla="*/ 5188 w 105410"/>
                <a:gd name="T1" fmla="*/ 0 h 218439"/>
                <a:gd name="T2" fmla="*/ 3143 w 105410"/>
                <a:gd name="T3" fmla="*/ 312 h 218439"/>
                <a:gd name="T4" fmla="*/ 1498 w 105410"/>
                <a:gd name="T5" fmla="*/ 1157 h 218439"/>
                <a:gd name="T6" fmla="*/ 400 w 105410"/>
                <a:gd name="T7" fmla="*/ 2402 h 218439"/>
                <a:gd name="T8" fmla="*/ 0 w 105410"/>
                <a:gd name="T9" fmla="*/ 3914 h 218439"/>
                <a:gd name="T10" fmla="*/ 344 w 105410"/>
                <a:gd name="T11" fmla="*/ 5273 h 218439"/>
                <a:gd name="T12" fmla="*/ 1298 w 105410"/>
                <a:gd name="T13" fmla="*/ 6433 h 218439"/>
                <a:gd name="T14" fmla="*/ 2736 w 105410"/>
                <a:gd name="T15" fmla="*/ 7281 h 218439"/>
                <a:gd name="T16" fmla="*/ 4539 w 105410"/>
                <a:gd name="T17" fmla="*/ 7708 h 218439"/>
                <a:gd name="T18" fmla="*/ 4539 w 105410"/>
                <a:gd name="T19" fmla="*/ 21818 h 218439"/>
                <a:gd name="T20" fmla="*/ 5837 w 105410"/>
                <a:gd name="T21" fmla="*/ 21818 h 218439"/>
                <a:gd name="T22" fmla="*/ 5837 w 105410"/>
                <a:gd name="T23" fmla="*/ 7708 h 218439"/>
                <a:gd name="T24" fmla="*/ 7658 w 105410"/>
                <a:gd name="T25" fmla="*/ 7281 h 218439"/>
                <a:gd name="T26" fmla="*/ 8576 w 105410"/>
                <a:gd name="T27" fmla="*/ 6760 h 218439"/>
                <a:gd name="T28" fmla="*/ 5188 w 105410"/>
                <a:gd name="T29" fmla="*/ 6760 h 218439"/>
                <a:gd name="T30" fmla="*/ 3689 w 105410"/>
                <a:gd name="T31" fmla="*/ 6531 h 218439"/>
                <a:gd name="T32" fmla="*/ 2451 w 105410"/>
                <a:gd name="T33" fmla="*/ 5915 h 218439"/>
                <a:gd name="T34" fmla="*/ 1608 w 105410"/>
                <a:gd name="T35" fmla="*/ 5008 h 218439"/>
                <a:gd name="T36" fmla="*/ 1298 w 105410"/>
                <a:gd name="T37" fmla="*/ 3914 h 218439"/>
                <a:gd name="T38" fmla="*/ 1608 w 105410"/>
                <a:gd name="T39" fmla="*/ 2819 h 218439"/>
                <a:gd name="T40" fmla="*/ 2451 w 105410"/>
                <a:gd name="T41" fmla="*/ 1912 h 218439"/>
                <a:gd name="T42" fmla="*/ 3689 w 105410"/>
                <a:gd name="T43" fmla="*/ 1295 h 218439"/>
                <a:gd name="T44" fmla="*/ 5188 w 105410"/>
                <a:gd name="T45" fmla="*/ 1067 h 218439"/>
                <a:gd name="T46" fmla="*/ 8770 w 105410"/>
                <a:gd name="T47" fmla="*/ 1067 h 218439"/>
                <a:gd name="T48" fmla="*/ 7251 w 105410"/>
                <a:gd name="T49" fmla="*/ 312 h 218439"/>
                <a:gd name="T50" fmla="*/ 5188 w 105410"/>
                <a:gd name="T51" fmla="*/ 0 h 218439"/>
                <a:gd name="T52" fmla="*/ 8770 w 105410"/>
                <a:gd name="T53" fmla="*/ 1067 h 218439"/>
                <a:gd name="T54" fmla="*/ 5188 w 105410"/>
                <a:gd name="T55" fmla="*/ 1067 h 218439"/>
                <a:gd name="T56" fmla="*/ 6679 w 105410"/>
                <a:gd name="T57" fmla="*/ 1295 h 218439"/>
                <a:gd name="T58" fmla="*/ 7914 w 105410"/>
                <a:gd name="T59" fmla="*/ 1912 h 218439"/>
                <a:gd name="T60" fmla="*/ 8754 w 105410"/>
                <a:gd name="T61" fmla="*/ 2819 h 218439"/>
                <a:gd name="T62" fmla="*/ 9066 w 105410"/>
                <a:gd name="T63" fmla="*/ 3914 h 218439"/>
                <a:gd name="T64" fmla="*/ 8754 w 105410"/>
                <a:gd name="T65" fmla="*/ 5008 h 218439"/>
                <a:gd name="T66" fmla="*/ 7914 w 105410"/>
                <a:gd name="T67" fmla="*/ 5915 h 218439"/>
                <a:gd name="T68" fmla="*/ 6679 w 105410"/>
                <a:gd name="T69" fmla="*/ 6531 h 218439"/>
                <a:gd name="T70" fmla="*/ 5188 w 105410"/>
                <a:gd name="T71" fmla="*/ 6760 h 218439"/>
                <a:gd name="T72" fmla="*/ 8576 w 105410"/>
                <a:gd name="T73" fmla="*/ 6760 h 218439"/>
                <a:gd name="T74" fmla="*/ 9150 w 105410"/>
                <a:gd name="T75" fmla="*/ 6433 h 218439"/>
                <a:gd name="T76" fmla="*/ 10158 w 105410"/>
                <a:gd name="T77" fmla="*/ 5273 h 218439"/>
                <a:gd name="T78" fmla="*/ 10528 w 105410"/>
                <a:gd name="T79" fmla="*/ 3914 h 218439"/>
                <a:gd name="T80" fmla="*/ 10103 w 105410"/>
                <a:gd name="T81" fmla="*/ 2402 h 218439"/>
                <a:gd name="T82" fmla="*/ 8950 w 105410"/>
                <a:gd name="T83" fmla="*/ 1157 h 218439"/>
                <a:gd name="T84" fmla="*/ 8770 w 105410"/>
                <a:gd name="T85" fmla="*/ 1067 h 2184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5410" h="218439">
                  <a:moveTo>
                    <a:pt x="51816" y="0"/>
                  </a:moveTo>
                  <a:lnTo>
                    <a:pt x="31396" y="3109"/>
                  </a:lnTo>
                  <a:lnTo>
                    <a:pt x="14954" y="11549"/>
                  </a:lnTo>
                  <a:lnTo>
                    <a:pt x="3988" y="23986"/>
                  </a:lnTo>
                  <a:lnTo>
                    <a:pt x="0" y="39090"/>
                  </a:lnTo>
                  <a:lnTo>
                    <a:pt x="3440" y="52671"/>
                  </a:lnTo>
                  <a:lnTo>
                    <a:pt x="12954" y="64254"/>
                  </a:lnTo>
                  <a:lnTo>
                    <a:pt x="27324" y="72728"/>
                  </a:lnTo>
                  <a:lnTo>
                    <a:pt x="45339" y="76987"/>
                  </a:lnTo>
                  <a:lnTo>
                    <a:pt x="45339" y="217931"/>
                  </a:lnTo>
                  <a:lnTo>
                    <a:pt x="58293" y="217931"/>
                  </a:lnTo>
                  <a:lnTo>
                    <a:pt x="58293" y="76987"/>
                  </a:lnTo>
                  <a:lnTo>
                    <a:pt x="76491" y="72728"/>
                  </a:lnTo>
                  <a:lnTo>
                    <a:pt x="85661" y="67513"/>
                  </a:lnTo>
                  <a:lnTo>
                    <a:pt x="51816" y="67513"/>
                  </a:lnTo>
                  <a:lnTo>
                    <a:pt x="36849" y="65236"/>
                  </a:lnTo>
                  <a:lnTo>
                    <a:pt x="24479" y="59074"/>
                  </a:lnTo>
                  <a:lnTo>
                    <a:pt x="16061" y="50025"/>
                  </a:lnTo>
                  <a:lnTo>
                    <a:pt x="12954" y="39090"/>
                  </a:lnTo>
                  <a:lnTo>
                    <a:pt x="16061" y="28148"/>
                  </a:lnTo>
                  <a:lnTo>
                    <a:pt x="24479" y="19096"/>
                  </a:lnTo>
                  <a:lnTo>
                    <a:pt x="36849" y="12931"/>
                  </a:lnTo>
                  <a:lnTo>
                    <a:pt x="51816" y="10655"/>
                  </a:lnTo>
                  <a:lnTo>
                    <a:pt x="87594" y="10655"/>
                  </a:lnTo>
                  <a:lnTo>
                    <a:pt x="72419" y="3109"/>
                  </a:lnTo>
                  <a:lnTo>
                    <a:pt x="51816" y="0"/>
                  </a:lnTo>
                  <a:close/>
                </a:path>
                <a:path w="105410" h="218439">
                  <a:moveTo>
                    <a:pt x="87594" y="10655"/>
                  </a:moveTo>
                  <a:lnTo>
                    <a:pt x="51816" y="10655"/>
                  </a:lnTo>
                  <a:lnTo>
                    <a:pt x="66708" y="12931"/>
                  </a:lnTo>
                  <a:lnTo>
                    <a:pt x="79041" y="19096"/>
                  </a:lnTo>
                  <a:lnTo>
                    <a:pt x="87445" y="28148"/>
                  </a:lnTo>
                  <a:lnTo>
                    <a:pt x="90551" y="39090"/>
                  </a:lnTo>
                  <a:lnTo>
                    <a:pt x="87445" y="50025"/>
                  </a:lnTo>
                  <a:lnTo>
                    <a:pt x="79041" y="59074"/>
                  </a:lnTo>
                  <a:lnTo>
                    <a:pt x="66708" y="65236"/>
                  </a:lnTo>
                  <a:lnTo>
                    <a:pt x="51816" y="67513"/>
                  </a:lnTo>
                  <a:lnTo>
                    <a:pt x="85661" y="67513"/>
                  </a:lnTo>
                  <a:lnTo>
                    <a:pt x="91392" y="64254"/>
                  </a:lnTo>
                  <a:lnTo>
                    <a:pt x="101459" y="52671"/>
                  </a:lnTo>
                  <a:lnTo>
                    <a:pt x="105156" y="39090"/>
                  </a:lnTo>
                  <a:lnTo>
                    <a:pt x="100911" y="23986"/>
                  </a:lnTo>
                  <a:lnTo>
                    <a:pt x="89392" y="11549"/>
                  </a:lnTo>
                  <a:lnTo>
                    <a:pt x="87594" y="1065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77" name="object 295"/>
            <p:cNvSpPr/>
            <p:nvPr/>
          </p:nvSpPr>
          <p:spPr bwMode="auto">
            <a:xfrm>
              <a:off x="4094225" y="5064634"/>
              <a:ext cx="79058" cy="163830"/>
            </a:xfrm>
            <a:custGeom>
              <a:avLst/>
              <a:gdLst>
                <a:gd name="T0" fmla="*/ 5837 w 105410"/>
                <a:gd name="T1" fmla="*/ 7708 h 218439"/>
                <a:gd name="T2" fmla="*/ 7658 w 105410"/>
                <a:gd name="T3" fmla="*/ 7281 h 218439"/>
                <a:gd name="T4" fmla="*/ 9150 w 105410"/>
                <a:gd name="T5" fmla="*/ 6433 h 218439"/>
                <a:gd name="T6" fmla="*/ 10158 w 105410"/>
                <a:gd name="T7" fmla="*/ 5273 h 218439"/>
                <a:gd name="T8" fmla="*/ 10528 w 105410"/>
                <a:gd name="T9" fmla="*/ 3914 h 218439"/>
                <a:gd name="T10" fmla="*/ 10103 w 105410"/>
                <a:gd name="T11" fmla="*/ 2402 h 218439"/>
                <a:gd name="T12" fmla="*/ 8950 w 105410"/>
                <a:gd name="T13" fmla="*/ 1157 h 218439"/>
                <a:gd name="T14" fmla="*/ 7251 w 105410"/>
                <a:gd name="T15" fmla="*/ 312 h 218439"/>
                <a:gd name="T16" fmla="*/ 5188 w 105410"/>
                <a:gd name="T17" fmla="*/ 0 h 218439"/>
                <a:gd name="T18" fmla="*/ 3143 w 105410"/>
                <a:gd name="T19" fmla="*/ 312 h 218439"/>
                <a:gd name="T20" fmla="*/ 1498 w 105410"/>
                <a:gd name="T21" fmla="*/ 1157 h 218439"/>
                <a:gd name="T22" fmla="*/ 400 w 105410"/>
                <a:gd name="T23" fmla="*/ 2402 h 218439"/>
                <a:gd name="T24" fmla="*/ 0 w 105410"/>
                <a:gd name="T25" fmla="*/ 3914 h 218439"/>
                <a:gd name="T26" fmla="*/ 344 w 105410"/>
                <a:gd name="T27" fmla="*/ 5273 h 218439"/>
                <a:gd name="T28" fmla="*/ 1298 w 105410"/>
                <a:gd name="T29" fmla="*/ 6433 h 218439"/>
                <a:gd name="T30" fmla="*/ 2736 w 105410"/>
                <a:gd name="T31" fmla="*/ 7281 h 218439"/>
                <a:gd name="T32" fmla="*/ 4539 w 105410"/>
                <a:gd name="T33" fmla="*/ 7708 h 218439"/>
                <a:gd name="T34" fmla="*/ 4539 w 105410"/>
                <a:gd name="T35" fmla="*/ 15866 h 218439"/>
                <a:gd name="T36" fmla="*/ 4539 w 105410"/>
                <a:gd name="T37" fmla="*/ 20054 h 218439"/>
                <a:gd name="T38" fmla="*/ 4539 w 105410"/>
                <a:gd name="T39" fmla="*/ 21598 h 218439"/>
                <a:gd name="T40" fmla="*/ 4539 w 105410"/>
                <a:gd name="T41" fmla="*/ 21818 h 218439"/>
                <a:gd name="T42" fmla="*/ 5837 w 105410"/>
                <a:gd name="T43" fmla="*/ 21818 h 218439"/>
                <a:gd name="T44" fmla="*/ 5837 w 105410"/>
                <a:gd name="T45" fmla="*/ 7708 h 2184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5410" h="218439">
                  <a:moveTo>
                    <a:pt x="58293" y="76987"/>
                  </a:moveTo>
                  <a:lnTo>
                    <a:pt x="76491" y="72728"/>
                  </a:lnTo>
                  <a:lnTo>
                    <a:pt x="91392" y="64254"/>
                  </a:lnTo>
                  <a:lnTo>
                    <a:pt x="101459" y="52671"/>
                  </a:lnTo>
                  <a:lnTo>
                    <a:pt x="105156" y="39090"/>
                  </a:lnTo>
                  <a:lnTo>
                    <a:pt x="100911" y="23986"/>
                  </a:lnTo>
                  <a:lnTo>
                    <a:pt x="89392" y="11549"/>
                  </a:lnTo>
                  <a:lnTo>
                    <a:pt x="72419" y="3109"/>
                  </a:lnTo>
                  <a:lnTo>
                    <a:pt x="51816" y="0"/>
                  </a:lnTo>
                  <a:lnTo>
                    <a:pt x="31396" y="3109"/>
                  </a:lnTo>
                  <a:lnTo>
                    <a:pt x="14954" y="11549"/>
                  </a:lnTo>
                  <a:lnTo>
                    <a:pt x="3988" y="23986"/>
                  </a:lnTo>
                  <a:lnTo>
                    <a:pt x="0" y="39090"/>
                  </a:lnTo>
                  <a:lnTo>
                    <a:pt x="3440" y="52671"/>
                  </a:lnTo>
                  <a:lnTo>
                    <a:pt x="12954" y="64254"/>
                  </a:lnTo>
                  <a:lnTo>
                    <a:pt x="27324" y="72728"/>
                  </a:lnTo>
                  <a:lnTo>
                    <a:pt x="45339" y="76987"/>
                  </a:lnTo>
                  <a:lnTo>
                    <a:pt x="45339" y="158470"/>
                  </a:lnTo>
                  <a:lnTo>
                    <a:pt x="45339" y="200313"/>
                  </a:lnTo>
                  <a:lnTo>
                    <a:pt x="45339" y="215729"/>
                  </a:lnTo>
                  <a:lnTo>
                    <a:pt x="45339" y="217931"/>
                  </a:lnTo>
                  <a:lnTo>
                    <a:pt x="58293" y="217931"/>
                  </a:lnTo>
                  <a:lnTo>
                    <a:pt x="58293" y="76987"/>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78" name="object 296"/>
            <p:cNvSpPr/>
            <p:nvPr/>
          </p:nvSpPr>
          <p:spPr bwMode="auto">
            <a:xfrm>
              <a:off x="4103941" y="5072624"/>
              <a:ext cx="58578" cy="42862"/>
            </a:xfrm>
            <a:custGeom>
              <a:avLst/>
              <a:gdLst>
                <a:gd name="T0" fmla="*/ 0 w 78104"/>
                <a:gd name="T1" fmla="*/ 2846 h 57150"/>
                <a:gd name="T2" fmla="*/ 311 w 78104"/>
                <a:gd name="T3" fmla="*/ 1751 h 57150"/>
                <a:gd name="T4" fmla="*/ 1154 w 78104"/>
                <a:gd name="T5" fmla="*/ 844 h 57150"/>
                <a:gd name="T6" fmla="*/ 2393 w 78104"/>
                <a:gd name="T7" fmla="*/ 228 h 57150"/>
                <a:gd name="T8" fmla="*/ 3891 w 78104"/>
                <a:gd name="T9" fmla="*/ 0 h 57150"/>
                <a:gd name="T10" fmla="*/ 5382 w 78104"/>
                <a:gd name="T11" fmla="*/ 228 h 57150"/>
                <a:gd name="T12" fmla="*/ 6617 w 78104"/>
                <a:gd name="T13" fmla="*/ 844 h 57150"/>
                <a:gd name="T14" fmla="*/ 7458 w 78104"/>
                <a:gd name="T15" fmla="*/ 1751 h 57150"/>
                <a:gd name="T16" fmla="*/ 7769 w 78104"/>
                <a:gd name="T17" fmla="*/ 2846 h 57150"/>
                <a:gd name="T18" fmla="*/ 7458 w 78104"/>
                <a:gd name="T19" fmla="*/ 3941 h 57150"/>
                <a:gd name="T20" fmla="*/ 6617 w 78104"/>
                <a:gd name="T21" fmla="*/ 4847 h 57150"/>
                <a:gd name="T22" fmla="*/ 5382 w 78104"/>
                <a:gd name="T23" fmla="*/ 5464 h 57150"/>
                <a:gd name="T24" fmla="*/ 3891 w 78104"/>
                <a:gd name="T25" fmla="*/ 5692 h 57150"/>
                <a:gd name="T26" fmla="*/ 2393 w 78104"/>
                <a:gd name="T27" fmla="*/ 5464 h 57150"/>
                <a:gd name="T28" fmla="*/ 1154 w 78104"/>
                <a:gd name="T29" fmla="*/ 4847 h 57150"/>
                <a:gd name="T30" fmla="*/ 311 w 78104"/>
                <a:gd name="T31" fmla="*/ 3941 h 57150"/>
                <a:gd name="T32" fmla="*/ 0 w 78104"/>
                <a:gd name="T33" fmla="*/ 2846 h 57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8104" h="57150">
                  <a:moveTo>
                    <a:pt x="0" y="28435"/>
                  </a:moveTo>
                  <a:lnTo>
                    <a:pt x="3107" y="17493"/>
                  </a:lnTo>
                  <a:lnTo>
                    <a:pt x="11525" y="8440"/>
                  </a:lnTo>
                  <a:lnTo>
                    <a:pt x="23895" y="2276"/>
                  </a:lnTo>
                  <a:lnTo>
                    <a:pt x="38862" y="0"/>
                  </a:lnTo>
                  <a:lnTo>
                    <a:pt x="53754" y="2276"/>
                  </a:lnTo>
                  <a:lnTo>
                    <a:pt x="66087" y="8440"/>
                  </a:lnTo>
                  <a:lnTo>
                    <a:pt x="74491" y="17493"/>
                  </a:lnTo>
                  <a:lnTo>
                    <a:pt x="77597" y="28435"/>
                  </a:lnTo>
                  <a:lnTo>
                    <a:pt x="74491" y="39370"/>
                  </a:lnTo>
                  <a:lnTo>
                    <a:pt x="66087" y="48418"/>
                  </a:lnTo>
                  <a:lnTo>
                    <a:pt x="53754" y="54581"/>
                  </a:lnTo>
                  <a:lnTo>
                    <a:pt x="38862" y="56857"/>
                  </a:lnTo>
                  <a:lnTo>
                    <a:pt x="23895" y="54581"/>
                  </a:lnTo>
                  <a:lnTo>
                    <a:pt x="11525" y="48418"/>
                  </a:lnTo>
                  <a:lnTo>
                    <a:pt x="3107" y="39370"/>
                  </a:lnTo>
                  <a:lnTo>
                    <a:pt x="0" y="28435"/>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79" name="object 297"/>
            <p:cNvSpPr/>
            <p:nvPr/>
          </p:nvSpPr>
          <p:spPr bwMode="auto">
            <a:xfrm>
              <a:off x="4127373" y="5162931"/>
              <a:ext cx="79058" cy="302895"/>
            </a:xfrm>
            <a:custGeom>
              <a:avLst/>
              <a:gdLst>
                <a:gd name="T0" fmla="*/ 1272 w 105410"/>
                <a:gd name="T1" fmla="*/ 0 h 403860"/>
                <a:gd name="T2" fmla="*/ 0 w 105410"/>
                <a:gd name="T3" fmla="*/ 0 h 403860"/>
                <a:gd name="T4" fmla="*/ 0 w 105410"/>
                <a:gd name="T5" fmla="*/ 8881 h 403860"/>
                <a:gd name="T6" fmla="*/ 9092 w 105410"/>
                <a:gd name="T7" fmla="*/ 22202 h 403860"/>
                <a:gd name="T8" fmla="*/ 9092 w 105410"/>
                <a:gd name="T9" fmla="*/ 40432 h 403860"/>
                <a:gd name="T10" fmla="*/ 10528 w 105410"/>
                <a:gd name="T11" fmla="*/ 40432 h 403860"/>
                <a:gd name="T12" fmla="*/ 10528 w 105410"/>
                <a:gd name="T13" fmla="*/ 21970 h 403860"/>
                <a:gd name="T14" fmla="*/ 1272 w 105410"/>
                <a:gd name="T15" fmla="*/ 8530 h 403860"/>
                <a:gd name="T16" fmla="*/ 1272 w 105410"/>
                <a:gd name="T17" fmla="*/ 0 h 4038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410" h="403860">
                  <a:moveTo>
                    <a:pt x="12700" y="0"/>
                  </a:moveTo>
                  <a:lnTo>
                    <a:pt x="0" y="0"/>
                  </a:lnTo>
                  <a:lnTo>
                    <a:pt x="0" y="88709"/>
                  </a:lnTo>
                  <a:lnTo>
                    <a:pt x="90805" y="221767"/>
                  </a:lnTo>
                  <a:lnTo>
                    <a:pt x="90805" y="403859"/>
                  </a:lnTo>
                  <a:lnTo>
                    <a:pt x="105156" y="403859"/>
                  </a:lnTo>
                  <a:lnTo>
                    <a:pt x="105156" y="219443"/>
                  </a:lnTo>
                  <a:lnTo>
                    <a:pt x="12700" y="85204"/>
                  </a:lnTo>
                  <a:lnTo>
                    <a:pt x="12700" y="0"/>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80" name="object 298"/>
            <p:cNvSpPr/>
            <p:nvPr/>
          </p:nvSpPr>
          <p:spPr bwMode="auto">
            <a:xfrm>
              <a:off x="4127373" y="5162931"/>
              <a:ext cx="79058" cy="302895"/>
            </a:xfrm>
            <a:custGeom>
              <a:avLst/>
              <a:gdLst>
                <a:gd name="T0" fmla="*/ 1272 w 105410"/>
                <a:gd name="T1" fmla="*/ 8530 h 403860"/>
                <a:gd name="T2" fmla="*/ 1272 w 105410"/>
                <a:gd name="T3" fmla="*/ 0 h 403860"/>
                <a:gd name="T4" fmla="*/ 0 w 105410"/>
                <a:gd name="T5" fmla="*/ 0 h 403860"/>
                <a:gd name="T6" fmla="*/ 0 w 105410"/>
                <a:gd name="T7" fmla="*/ 8881 h 403860"/>
                <a:gd name="T8" fmla="*/ 9092 w 105410"/>
                <a:gd name="T9" fmla="*/ 22202 h 403860"/>
                <a:gd name="T10" fmla="*/ 9092 w 105410"/>
                <a:gd name="T11" fmla="*/ 40432 h 403860"/>
                <a:gd name="T12" fmla="*/ 10528 w 105410"/>
                <a:gd name="T13" fmla="*/ 40432 h 403860"/>
                <a:gd name="T14" fmla="*/ 10528 w 105410"/>
                <a:gd name="T15" fmla="*/ 21970 h 403860"/>
                <a:gd name="T16" fmla="*/ 1272 w 105410"/>
                <a:gd name="T17" fmla="*/ 8530 h 4038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410" h="403860">
                  <a:moveTo>
                    <a:pt x="12700" y="85204"/>
                  </a:moveTo>
                  <a:lnTo>
                    <a:pt x="12700" y="0"/>
                  </a:lnTo>
                  <a:lnTo>
                    <a:pt x="0" y="0"/>
                  </a:lnTo>
                  <a:lnTo>
                    <a:pt x="0" y="88709"/>
                  </a:lnTo>
                  <a:lnTo>
                    <a:pt x="90805" y="221767"/>
                  </a:lnTo>
                  <a:lnTo>
                    <a:pt x="90805" y="403859"/>
                  </a:lnTo>
                  <a:lnTo>
                    <a:pt x="105156" y="403859"/>
                  </a:lnTo>
                  <a:lnTo>
                    <a:pt x="105156" y="219443"/>
                  </a:lnTo>
                  <a:lnTo>
                    <a:pt x="12700" y="85204"/>
                  </a:lnTo>
                  <a:close/>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81" name="object 299"/>
            <p:cNvSpPr/>
            <p:nvPr/>
          </p:nvSpPr>
          <p:spPr bwMode="auto">
            <a:xfrm>
              <a:off x="7984997" y="5847588"/>
              <a:ext cx="1159193" cy="57150"/>
            </a:xfrm>
            <a:custGeom>
              <a:avLst/>
              <a:gdLst>
                <a:gd name="T0" fmla="*/ 5289 w 1545590"/>
                <a:gd name="T1" fmla="*/ 0 h 76200"/>
                <a:gd name="T2" fmla="*/ 3245 w 1545590"/>
                <a:gd name="T3" fmla="*/ 308 h 76200"/>
                <a:gd name="T4" fmla="*/ 1563 w 1545590"/>
                <a:gd name="T5" fmla="*/ 1145 h 76200"/>
                <a:gd name="T6" fmla="*/ 421 w 1545590"/>
                <a:gd name="T7" fmla="*/ 2378 h 76200"/>
                <a:gd name="T8" fmla="*/ 0 w 1545590"/>
                <a:gd name="T9" fmla="*/ 3873 h 76200"/>
                <a:gd name="T10" fmla="*/ 421 w 1545590"/>
                <a:gd name="T11" fmla="*/ 5352 h 76200"/>
                <a:gd name="T12" fmla="*/ 1563 w 1545590"/>
                <a:gd name="T13" fmla="*/ 6544 h 76200"/>
                <a:gd name="T14" fmla="*/ 3245 w 1545590"/>
                <a:gd name="T15" fmla="*/ 7339 h 76200"/>
                <a:gd name="T16" fmla="*/ 5289 w 1545590"/>
                <a:gd name="T17" fmla="*/ 7629 h 76200"/>
                <a:gd name="T18" fmla="*/ 7131 w 1545590"/>
                <a:gd name="T19" fmla="*/ 7379 h 76200"/>
                <a:gd name="T20" fmla="*/ 8700 w 1545590"/>
                <a:gd name="T21" fmla="*/ 6691 h 76200"/>
                <a:gd name="T22" fmla="*/ 5284 w 1545590"/>
                <a:gd name="T23" fmla="*/ 6690 h 76200"/>
                <a:gd name="T24" fmla="*/ 3746 w 1545590"/>
                <a:gd name="T25" fmla="*/ 6465 h 76200"/>
                <a:gd name="T26" fmla="*/ 2531 w 1545590"/>
                <a:gd name="T27" fmla="*/ 5854 h 76200"/>
                <a:gd name="T28" fmla="*/ 1735 w 1545590"/>
                <a:gd name="T29" fmla="*/ 4958 h 76200"/>
                <a:gd name="T30" fmla="*/ 1450 w 1545590"/>
                <a:gd name="T31" fmla="*/ 3873 h 76200"/>
                <a:gd name="T32" fmla="*/ 1735 w 1545590"/>
                <a:gd name="T33" fmla="*/ 2789 h 76200"/>
                <a:gd name="T34" fmla="*/ 2531 w 1545590"/>
                <a:gd name="T35" fmla="*/ 1893 h 76200"/>
                <a:gd name="T36" fmla="*/ 3746 w 1545590"/>
                <a:gd name="T37" fmla="*/ 1282 h 76200"/>
                <a:gd name="T38" fmla="*/ 5289 w 1545590"/>
                <a:gd name="T39" fmla="*/ 1057 h 76200"/>
                <a:gd name="T40" fmla="*/ 8765 w 1545590"/>
                <a:gd name="T41" fmla="*/ 1057 h 76200"/>
                <a:gd name="T42" fmla="*/ 8702 w 1545590"/>
                <a:gd name="T43" fmla="*/ 998 h 76200"/>
                <a:gd name="T44" fmla="*/ 7131 w 1545590"/>
                <a:gd name="T45" fmla="*/ 268 h 76200"/>
                <a:gd name="T46" fmla="*/ 5289 w 1545590"/>
                <a:gd name="T47" fmla="*/ 0 h 76200"/>
                <a:gd name="T48" fmla="*/ 8765 w 1545590"/>
                <a:gd name="T49" fmla="*/ 1057 h 76200"/>
                <a:gd name="T50" fmla="*/ 5289 w 1545590"/>
                <a:gd name="T51" fmla="*/ 1057 h 76200"/>
                <a:gd name="T52" fmla="*/ 6771 w 1545590"/>
                <a:gd name="T53" fmla="*/ 1282 h 76200"/>
                <a:gd name="T54" fmla="*/ 7998 w 1545590"/>
                <a:gd name="T55" fmla="*/ 1893 h 76200"/>
                <a:gd name="T56" fmla="*/ 8834 w 1545590"/>
                <a:gd name="T57" fmla="*/ 2789 h 76200"/>
                <a:gd name="T58" fmla="*/ 9142 w 1545590"/>
                <a:gd name="T59" fmla="*/ 3873 h 76200"/>
                <a:gd name="T60" fmla="*/ 8834 w 1545590"/>
                <a:gd name="T61" fmla="*/ 4958 h 76200"/>
                <a:gd name="T62" fmla="*/ 7998 w 1545590"/>
                <a:gd name="T63" fmla="*/ 5854 h 76200"/>
                <a:gd name="T64" fmla="*/ 6771 w 1545590"/>
                <a:gd name="T65" fmla="*/ 6465 h 76200"/>
                <a:gd name="T66" fmla="*/ 5289 w 1545590"/>
                <a:gd name="T67" fmla="*/ 6691 h 76200"/>
                <a:gd name="T68" fmla="*/ 8702 w 1545590"/>
                <a:gd name="T69" fmla="*/ 6690 h 76200"/>
                <a:gd name="T70" fmla="*/ 9851 w 1545590"/>
                <a:gd name="T71" fmla="*/ 5648 h 76200"/>
                <a:gd name="T72" fmla="*/ 10426 w 1545590"/>
                <a:gd name="T73" fmla="*/ 4342 h 76200"/>
                <a:gd name="T74" fmla="*/ 154709 w 1545590"/>
                <a:gd name="T75" fmla="*/ 4342 h 76200"/>
                <a:gd name="T76" fmla="*/ 154709 w 1545590"/>
                <a:gd name="T77" fmla="*/ 3404 h 76200"/>
                <a:gd name="T78" fmla="*/ 10426 w 1545590"/>
                <a:gd name="T79" fmla="*/ 3404 h 76200"/>
                <a:gd name="T80" fmla="*/ 9851 w 1545590"/>
                <a:gd name="T81" fmla="*/ 2080 h 76200"/>
                <a:gd name="T82" fmla="*/ 8765 w 1545590"/>
                <a:gd name="T83" fmla="*/ 1057 h 762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545590" h="76200">
                  <a:moveTo>
                    <a:pt x="52831" y="0"/>
                  </a:moveTo>
                  <a:lnTo>
                    <a:pt x="32414" y="3077"/>
                  </a:lnTo>
                  <a:lnTo>
                    <a:pt x="15605" y="11431"/>
                  </a:lnTo>
                  <a:lnTo>
                    <a:pt x="4200" y="23740"/>
                  </a:lnTo>
                  <a:lnTo>
                    <a:pt x="0" y="38684"/>
                  </a:lnTo>
                  <a:lnTo>
                    <a:pt x="4200" y="53450"/>
                  </a:lnTo>
                  <a:lnTo>
                    <a:pt x="15605" y="65357"/>
                  </a:lnTo>
                  <a:lnTo>
                    <a:pt x="32414" y="73306"/>
                  </a:lnTo>
                  <a:lnTo>
                    <a:pt x="52831" y="76200"/>
                  </a:lnTo>
                  <a:lnTo>
                    <a:pt x="71225" y="73708"/>
                  </a:lnTo>
                  <a:lnTo>
                    <a:pt x="86897" y="66827"/>
                  </a:lnTo>
                  <a:lnTo>
                    <a:pt x="52777" y="66819"/>
                  </a:lnTo>
                  <a:lnTo>
                    <a:pt x="37409" y="64573"/>
                  </a:lnTo>
                  <a:lnTo>
                    <a:pt x="25273" y="58470"/>
                  </a:lnTo>
                  <a:lnTo>
                    <a:pt x="17327" y="49510"/>
                  </a:lnTo>
                  <a:lnTo>
                    <a:pt x="14477" y="38684"/>
                  </a:lnTo>
                  <a:lnTo>
                    <a:pt x="17327" y="27859"/>
                  </a:lnTo>
                  <a:lnTo>
                    <a:pt x="25273" y="18903"/>
                  </a:lnTo>
                  <a:lnTo>
                    <a:pt x="37409" y="12805"/>
                  </a:lnTo>
                  <a:lnTo>
                    <a:pt x="52831" y="10553"/>
                  </a:lnTo>
                  <a:lnTo>
                    <a:pt x="87540" y="10553"/>
                  </a:lnTo>
                  <a:lnTo>
                    <a:pt x="86915" y="9964"/>
                  </a:lnTo>
                  <a:lnTo>
                    <a:pt x="71225" y="2674"/>
                  </a:lnTo>
                  <a:lnTo>
                    <a:pt x="52831" y="0"/>
                  </a:lnTo>
                  <a:close/>
                </a:path>
                <a:path w="1545590" h="76200">
                  <a:moveTo>
                    <a:pt x="87540" y="10553"/>
                  </a:moveTo>
                  <a:lnTo>
                    <a:pt x="52831" y="10553"/>
                  </a:lnTo>
                  <a:lnTo>
                    <a:pt x="67631" y="12805"/>
                  </a:lnTo>
                  <a:lnTo>
                    <a:pt x="79882" y="18903"/>
                  </a:lnTo>
                  <a:lnTo>
                    <a:pt x="88229" y="27859"/>
                  </a:lnTo>
                  <a:lnTo>
                    <a:pt x="91312" y="38684"/>
                  </a:lnTo>
                  <a:lnTo>
                    <a:pt x="88229" y="49510"/>
                  </a:lnTo>
                  <a:lnTo>
                    <a:pt x="79882" y="58470"/>
                  </a:lnTo>
                  <a:lnTo>
                    <a:pt x="67631" y="64573"/>
                  </a:lnTo>
                  <a:lnTo>
                    <a:pt x="52831" y="66827"/>
                  </a:lnTo>
                  <a:lnTo>
                    <a:pt x="86915" y="66819"/>
                  </a:lnTo>
                  <a:lnTo>
                    <a:pt x="98391" y="56413"/>
                  </a:lnTo>
                  <a:lnTo>
                    <a:pt x="104139" y="43370"/>
                  </a:lnTo>
                  <a:lnTo>
                    <a:pt x="1545335" y="43370"/>
                  </a:lnTo>
                  <a:lnTo>
                    <a:pt x="1545335" y="33997"/>
                  </a:lnTo>
                  <a:lnTo>
                    <a:pt x="104139" y="33997"/>
                  </a:lnTo>
                  <a:lnTo>
                    <a:pt x="98391" y="20772"/>
                  </a:lnTo>
                  <a:lnTo>
                    <a:pt x="87540" y="10553"/>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82" name="object 300"/>
            <p:cNvSpPr/>
            <p:nvPr/>
          </p:nvSpPr>
          <p:spPr bwMode="auto">
            <a:xfrm>
              <a:off x="8063103" y="5880115"/>
              <a:ext cx="1081087" cy="0"/>
            </a:xfrm>
            <a:custGeom>
              <a:avLst/>
              <a:gdLst>
                <a:gd name="T0" fmla="*/ 0 w 1441450"/>
                <a:gd name="T1" fmla="*/ 103230 w 1441450"/>
                <a:gd name="T2" fmla="*/ 144282 w 1441450"/>
                <a:gd name="T3" fmla="*/ 0 60000 65536"/>
                <a:gd name="T4" fmla="*/ 0 60000 65536"/>
                <a:gd name="T5" fmla="*/ 0 60000 65536"/>
              </a:gdLst>
              <a:ahLst/>
              <a:cxnLst>
                <a:cxn ang="T3">
                  <a:pos x="T0" y="0"/>
                </a:cxn>
                <a:cxn ang="T4">
                  <a:pos x="T1" y="0"/>
                </a:cxn>
                <a:cxn ang="T5">
                  <a:pos x="T2" y="0"/>
                </a:cxn>
              </a:cxnLst>
              <a:rect l="0" t="0" r="r" b="b"/>
              <a:pathLst>
                <a:path w="1441450">
                  <a:moveTo>
                    <a:pt x="0" y="0"/>
                  </a:moveTo>
                  <a:lnTo>
                    <a:pt x="1031136" y="0"/>
                  </a:lnTo>
                  <a:lnTo>
                    <a:pt x="1441196" y="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83" name="object 301"/>
            <p:cNvSpPr/>
            <p:nvPr/>
          </p:nvSpPr>
          <p:spPr bwMode="auto">
            <a:xfrm>
              <a:off x="7984997" y="5847588"/>
              <a:ext cx="1159193" cy="57150"/>
            </a:xfrm>
            <a:custGeom>
              <a:avLst/>
              <a:gdLst>
                <a:gd name="T0" fmla="*/ 154709 w 1545590"/>
                <a:gd name="T1" fmla="*/ 3404 h 76200"/>
                <a:gd name="T2" fmla="*/ 85756 w 1545590"/>
                <a:gd name="T3" fmla="*/ 3404 h 76200"/>
                <a:gd name="T4" fmla="*/ 32746 w 1545590"/>
                <a:gd name="T5" fmla="*/ 3404 h 76200"/>
                <a:gd name="T6" fmla="*/ 13216 w 1545590"/>
                <a:gd name="T7" fmla="*/ 3404 h 76200"/>
                <a:gd name="T8" fmla="*/ 10426 w 1545590"/>
                <a:gd name="T9" fmla="*/ 3404 h 76200"/>
                <a:gd name="T10" fmla="*/ 9851 w 1545590"/>
                <a:gd name="T11" fmla="*/ 2080 h 76200"/>
                <a:gd name="T12" fmla="*/ 8702 w 1545590"/>
                <a:gd name="T13" fmla="*/ 998 h 76200"/>
                <a:gd name="T14" fmla="*/ 7131 w 1545590"/>
                <a:gd name="T15" fmla="*/ 268 h 76200"/>
                <a:gd name="T16" fmla="*/ 5289 w 1545590"/>
                <a:gd name="T17" fmla="*/ 0 h 76200"/>
                <a:gd name="T18" fmla="*/ 3245 w 1545590"/>
                <a:gd name="T19" fmla="*/ 308 h 76200"/>
                <a:gd name="T20" fmla="*/ 1563 w 1545590"/>
                <a:gd name="T21" fmla="*/ 1145 h 76200"/>
                <a:gd name="T22" fmla="*/ 421 w 1545590"/>
                <a:gd name="T23" fmla="*/ 2378 h 76200"/>
                <a:gd name="T24" fmla="*/ 0 w 1545590"/>
                <a:gd name="T25" fmla="*/ 3873 h 76200"/>
                <a:gd name="T26" fmla="*/ 421 w 1545590"/>
                <a:gd name="T27" fmla="*/ 5352 h 76200"/>
                <a:gd name="T28" fmla="*/ 1563 w 1545590"/>
                <a:gd name="T29" fmla="*/ 6544 h 76200"/>
                <a:gd name="T30" fmla="*/ 3245 w 1545590"/>
                <a:gd name="T31" fmla="*/ 7339 h 76200"/>
                <a:gd name="T32" fmla="*/ 5289 w 1545590"/>
                <a:gd name="T33" fmla="*/ 7629 h 76200"/>
                <a:gd name="T34" fmla="*/ 7131 w 1545590"/>
                <a:gd name="T35" fmla="*/ 7379 h 76200"/>
                <a:gd name="T36" fmla="*/ 8702 w 1545590"/>
                <a:gd name="T37" fmla="*/ 6690 h 76200"/>
                <a:gd name="T38" fmla="*/ 9851 w 1545590"/>
                <a:gd name="T39" fmla="*/ 5648 h 76200"/>
                <a:gd name="T40" fmla="*/ 10426 w 1545590"/>
                <a:gd name="T41" fmla="*/ 4342 h 76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545590" h="76200">
                  <a:moveTo>
                    <a:pt x="1545335" y="33997"/>
                  </a:moveTo>
                  <a:lnTo>
                    <a:pt x="856591" y="33997"/>
                  </a:lnTo>
                  <a:lnTo>
                    <a:pt x="327088" y="33997"/>
                  </a:lnTo>
                  <a:lnTo>
                    <a:pt x="132008" y="33997"/>
                  </a:lnTo>
                  <a:lnTo>
                    <a:pt x="104139" y="33997"/>
                  </a:lnTo>
                  <a:lnTo>
                    <a:pt x="98391" y="20772"/>
                  </a:lnTo>
                  <a:lnTo>
                    <a:pt x="86915" y="9964"/>
                  </a:lnTo>
                  <a:lnTo>
                    <a:pt x="71225" y="2674"/>
                  </a:lnTo>
                  <a:lnTo>
                    <a:pt x="52831" y="0"/>
                  </a:lnTo>
                  <a:lnTo>
                    <a:pt x="32414" y="3077"/>
                  </a:lnTo>
                  <a:lnTo>
                    <a:pt x="15605" y="11431"/>
                  </a:lnTo>
                  <a:lnTo>
                    <a:pt x="4200" y="23740"/>
                  </a:lnTo>
                  <a:lnTo>
                    <a:pt x="0" y="38684"/>
                  </a:lnTo>
                  <a:lnTo>
                    <a:pt x="4200" y="53450"/>
                  </a:lnTo>
                  <a:lnTo>
                    <a:pt x="15605" y="65357"/>
                  </a:lnTo>
                  <a:lnTo>
                    <a:pt x="32414" y="73306"/>
                  </a:lnTo>
                  <a:lnTo>
                    <a:pt x="52831" y="76200"/>
                  </a:lnTo>
                  <a:lnTo>
                    <a:pt x="71225" y="73708"/>
                  </a:lnTo>
                  <a:lnTo>
                    <a:pt x="86915" y="66819"/>
                  </a:lnTo>
                  <a:lnTo>
                    <a:pt x="98391" y="56413"/>
                  </a:lnTo>
                  <a:lnTo>
                    <a:pt x="104139" y="4337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84" name="object 302"/>
            <p:cNvSpPr/>
            <p:nvPr/>
          </p:nvSpPr>
          <p:spPr bwMode="auto">
            <a:xfrm>
              <a:off x="7995857" y="5855503"/>
              <a:ext cx="57626" cy="42386"/>
            </a:xfrm>
            <a:custGeom>
              <a:avLst/>
              <a:gdLst>
                <a:gd name="T0" fmla="*/ 0 w 76834"/>
                <a:gd name="T1" fmla="*/ 2815 h 56515"/>
                <a:gd name="T2" fmla="*/ 286 w 76834"/>
                <a:gd name="T3" fmla="*/ 1732 h 56515"/>
                <a:gd name="T4" fmla="*/ 1082 w 76834"/>
                <a:gd name="T5" fmla="*/ 835 h 56515"/>
                <a:gd name="T6" fmla="*/ 2297 w 76834"/>
                <a:gd name="T7" fmla="*/ 225 h 56515"/>
                <a:gd name="T8" fmla="*/ 3840 w 76834"/>
                <a:gd name="T9" fmla="*/ 0 h 56515"/>
                <a:gd name="T10" fmla="*/ 5322 w 76834"/>
                <a:gd name="T11" fmla="*/ 225 h 56515"/>
                <a:gd name="T12" fmla="*/ 6548 w 76834"/>
                <a:gd name="T13" fmla="*/ 835 h 56515"/>
                <a:gd name="T14" fmla="*/ 7384 w 76834"/>
                <a:gd name="T15" fmla="*/ 1732 h 56515"/>
                <a:gd name="T16" fmla="*/ 7692 w 76834"/>
                <a:gd name="T17" fmla="*/ 2815 h 56515"/>
                <a:gd name="T18" fmla="*/ 7384 w 76834"/>
                <a:gd name="T19" fmla="*/ 3900 h 56515"/>
                <a:gd name="T20" fmla="*/ 6548 w 76834"/>
                <a:gd name="T21" fmla="*/ 4797 h 56515"/>
                <a:gd name="T22" fmla="*/ 5322 w 76834"/>
                <a:gd name="T23" fmla="*/ 5407 h 56515"/>
                <a:gd name="T24" fmla="*/ 3840 w 76834"/>
                <a:gd name="T25" fmla="*/ 5633 h 56515"/>
                <a:gd name="T26" fmla="*/ 2297 w 76834"/>
                <a:gd name="T27" fmla="*/ 5407 h 56515"/>
                <a:gd name="T28" fmla="*/ 1082 w 76834"/>
                <a:gd name="T29" fmla="*/ 4797 h 56515"/>
                <a:gd name="T30" fmla="*/ 286 w 76834"/>
                <a:gd name="T31" fmla="*/ 3900 h 56515"/>
                <a:gd name="T32" fmla="*/ 0 w 76834"/>
                <a:gd name="T33" fmla="*/ 2815 h 5651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6515">
                  <a:moveTo>
                    <a:pt x="0" y="28130"/>
                  </a:moveTo>
                  <a:lnTo>
                    <a:pt x="2849" y="17305"/>
                  </a:lnTo>
                  <a:lnTo>
                    <a:pt x="10795" y="8350"/>
                  </a:lnTo>
                  <a:lnTo>
                    <a:pt x="22931" y="2252"/>
                  </a:lnTo>
                  <a:lnTo>
                    <a:pt x="38353" y="0"/>
                  </a:lnTo>
                  <a:lnTo>
                    <a:pt x="53153" y="2252"/>
                  </a:lnTo>
                  <a:lnTo>
                    <a:pt x="65404" y="8350"/>
                  </a:lnTo>
                  <a:lnTo>
                    <a:pt x="73751" y="17305"/>
                  </a:lnTo>
                  <a:lnTo>
                    <a:pt x="76834" y="28130"/>
                  </a:lnTo>
                  <a:lnTo>
                    <a:pt x="73751" y="38957"/>
                  </a:lnTo>
                  <a:lnTo>
                    <a:pt x="65404" y="47917"/>
                  </a:lnTo>
                  <a:lnTo>
                    <a:pt x="53153" y="54019"/>
                  </a:lnTo>
                  <a:lnTo>
                    <a:pt x="38353" y="56273"/>
                  </a:lnTo>
                  <a:lnTo>
                    <a:pt x="22931" y="54019"/>
                  </a:lnTo>
                  <a:lnTo>
                    <a:pt x="10795" y="47917"/>
                  </a:lnTo>
                  <a:lnTo>
                    <a:pt x="2849" y="38957"/>
                  </a:lnTo>
                  <a:lnTo>
                    <a:pt x="0" y="28130"/>
                  </a:lnTo>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85" name="object 303"/>
            <p:cNvSpPr/>
            <p:nvPr/>
          </p:nvSpPr>
          <p:spPr bwMode="auto">
            <a:xfrm>
              <a:off x="8581645" y="5641849"/>
              <a:ext cx="333850" cy="57150"/>
            </a:xfrm>
            <a:custGeom>
              <a:avLst/>
              <a:gdLst>
                <a:gd name="T0" fmla="*/ 39261 w 445134"/>
                <a:gd name="T1" fmla="*/ 0 h 76200"/>
                <a:gd name="T2" fmla="*/ 37423 w 445134"/>
                <a:gd name="T3" fmla="*/ 249 h 76200"/>
                <a:gd name="T4" fmla="*/ 35855 w 445134"/>
                <a:gd name="T5" fmla="*/ 940 h 76200"/>
                <a:gd name="T6" fmla="*/ 34711 w 445134"/>
                <a:gd name="T7" fmla="*/ 1982 h 76200"/>
                <a:gd name="T8" fmla="*/ 34138 w 445134"/>
                <a:gd name="T9" fmla="*/ 3287 h 76200"/>
                <a:gd name="T10" fmla="*/ 0 w 445134"/>
                <a:gd name="T11" fmla="*/ 3287 h 76200"/>
                <a:gd name="T12" fmla="*/ 0 w 445134"/>
                <a:gd name="T13" fmla="*/ 4342 h 76200"/>
                <a:gd name="T14" fmla="*/ 34138 w 445134"/>
                <a:gd name="T15" fmla="*/ 4342 h 76200"/>
                <a:gd name="T16" fmla="*/ 34711 w 445134"/>
                <a:gd name="T17" fmla="*/ 5648 h 76200"/>
                <a:gd name="T18" fmla="*/ 35857 w 445134"/>
                <a:gd name="T19" fmla="*/ 6691 h 76200"/>
                <a:gd name="T20" fmla="*/ 37423 w 445134"/>
                <a:gd name="T21" fmla="*/ 7379 h 76200"/>
                <a:gd name="T22" fmla="*/ 39261 w 445134"/>
                <a:gd name="T23" fmla="*/ 7629 h 76200"/>
                <a:gd name="T24" fmla="*/ 41305 w 445134"/>
                <a:gd name="T25" fmla="*/ 7321 h 76200"/>
                <a:gd name="T26" fmla="*/ 42573 w 445134"/>
                <a:gd name="T27" fmla="*/ 6691 h 76200"/>
                <a:gd name="T28" fmla="*/ 39256 w 445134"/>
                <a:gd name="T29" fmla="*/ 6690 h 76200"/>
                <a:gd name="T30" fmla="*/ 37782 w 445134"/>
                <a:gd name="T31" fmla="*/ 6464 h 76200"/>
                <a:gd name="T32" fmla="*/ 36559 w 445134"/>
                <a:gd name="T33" fmla="*/ 5840 h 76200"/>
                <a:gd name="T34" fmla="*/ 35728 w 445134"/>
                <a:gd name="T35" fmla="*/ 4908 h 76200"/>
                <a:gd name="T36" fmla="*/ 35422 w 445134"/>
                <a:gd name="T37" fmla="*/ 3756 h 76200"/>
                <a:gd name="T38" fmla="*/ 35728 w 445134"/>
                <a:gd name="T39" fmla="*/ 2672 h 76200"/>
                <a:gd name="T40" fmla="*/ 36559 w 445134"/>
                <a:gd name="T41" fmla="*/ 1775 h 76200"/>
                <a:gd name="T42" fmla="*/ 37782 w 445134"/>
                <a:gd name="T43" fmla="*/ 1164 h 76200"/>
                <a:gd name="T44" fmla="*/ 39261 w 445134"/>
                <a:gd name="T45" fmla="*/ 939 h 76200"/>
                <a:gd name="T46" fmla="*/ 42597 w 445134"/>
                <a:gd name="T47" fmla="*/ 939 h 76200"/>
                <a:gd name="T48" fmla="*/ 41305 w 445134"/>
                <a:gd name="T49" fmla="*/ 307 h 76200"/>
                <a:gd name="T50" fmla="*/ 39261 w 445134"/>
                <a:gd name="T51" fmla="*/ 0 h 76200"/>
                <a:gd name="T52" fmla="*/ 42597 w 445134"/>
                <a:gd name="T53" fmla="*/ 939 h 76200"/>
                <a:gd name="T54" fmla="*/ 39261 w 445134"/>
                <a:gd name="T55" fmla="*/ 939 h 76200"/>
                <a:gd name="T56" fmla="*/ 40744 w 445134"/>
                <a:gd name="T57" fmla="*/ 1164 h 76200"/>
                <a:gd name="T58" fmla="*/ 41970 w 445134"/>
                <a:gd name="T59" fmla="*/ 1775 h 76200"/>
                <a:gd name="T60" fmla="*/ 42805 w 445134"/>
                <a:gd name="T61" fmla="*/ 2672 h 76200"/>
                <a:gd name="T62" fmla="*/ 43114 w 445134"/>
                <a:gd name="T63" fmla="*/ 3756 h 76200"/>
                <a:gd name="T64" fmla="*/ 42805 w 445134"/>
                <a:gd name="T65" fmla="*/ 4908 h 76200"/>
                <a:gd name="T66" fmla="*/ 41970 w 445134"/>
                <a:gd name="T67" fmla="*/ 5840 h 76200"/>
                <a:gd name="T68" fmla="*/ 40744 w 445134"/>
                <a:gd name="T69" fmla="*/ 6464 h 76200"/>
                <a:gd name="T70" fmla="*/ 39261 w 445134"/>
                <a:gd name="T71" fmla="*/ 6691 h 76200"/>
                <a:gd name="T72" fmla="*/ 42575 w 445134"/>
                <a:gd name="T73" fmla="*/ 6690 h 76200"/>
                <a:gd name="T74" fmla="*/ 42988 w 445134"/>
                <a:gd name="T75" fmla="*/ 6485 h 76200"/>
                <a:gd name="T76" fmla="*/ 44130 w 445134"/>
                <a:gd name="T77" fmla="*/ 5252 h 76200"/>
                <a:gd name="T78" fmla="*/ 44551 w 445134"/>
                <a:gd name="T79" fmla="*/ 3756 h 76200"/>
                <a:gd name="T80" fmla="*/ 44130 w 445134"/>
                <a:gd name="T81" fmla="*/ 2327 h 76200"/>
                <a:gd name="T82" fmla="*/ 42988 w 445134"/>
                <a:gd name="T83" fmla="*/ 1130 h 76200"/>
                <a:gd name="T84" fmla="*/ 42597 w 445134"/>
                <a:gd name="T85" fmla="*/ 939 h 7620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45134" h="76200">
                  <a:moveTo>
                    <a:pt x="392175" y="0"/>
                  </a:moveTo>
                  <a:lnTo>
                    <a:pt x="373802" y="2491"/>
                  </a:lnTo>
                  <a:lnTo>
                    <a:pt x="358155" y="9380"/>
                  </a:lnTo>
                  <a:lnTo>
                    <a:pt x="346723" y="19786"/>
                  </a:lnTo>
                  <a:lnTo>
                    <a:pt x="340994" y="32829"/>
                  </a:lnTo>
                  <a:lnTo>
                    <a:pt x="0" y="32829"/>
                  </a:lnTo>
                  <a:lnTo>
                    <a:pt x="0" y="43370"/>
                  </a:lnTo>
                  <a:lnTo>
                    <a:pt x="340994" y="43370"/>
                  </a:lnTo>
                  <a:lnTo>
                    <a:pt x="346723" y="56413"/>
                  </a:lnTo>
                  <a:lnTo>
                    <a:pt x="358173" y="66827"/>
                  </a:lnTo>
                  <a:lnTo>
                    <a:pt x="373802" y="73708"/>
                  </a:lnTo>
                  <a:lnTo>
                    <a:pt x="392175" y="76200"/>
                  </a:lnTo>
                  <a:lnTo>
                    <a:pt x="412593" y="73122"/>
                  </a:lnTo>
                  <a:lnTo>
                    <a:pt x="425259" y="66827"/>
                  </a:lnTo>
                  <a:lnTo>
                    <a:pt x="392124" y="66819"/>
                  </a:lnTo>
                  <a:lnTo>
                    <a:pt x="377396" y="64554"/>
                  </a:lnTo>
                  <a:lnTo>
                    <a:pt x="365188" y="58324"/>
                  </a:lnTo>
                  <a:lnTo>
                    <a:pt x="356885" y="49018"/>
                  </a:lnTo>
                  <a:lnTo>
                    <a:pt x="353822" y="37515"/>
                  </a:lnTo>
                  <a:lnTo>
                    <a:pt x="356885" y="26689"/>
                  </a:lnTo>
                  <a:lnTo>
                    <a:pt x="365188" y="17729"/>
                  </a:lnTo>
                  <a:lnTo>
                    <a:pt x="377396" y="11626"/>
                  </a:lnTo>
                  <a:lnTo>
                    <a:pt x="392175" y="9372"/>
                  </a:lnTo>
                  <a:lnTo>
                    <a:pt x="425493" y="9372"/>
                  </a:lnTo>
                  <a:lnTo>
                    <a:pt x="412593" y="3059"/>
                  </a:lnTo>
                  <a:lnTo>
                    <a:pt x="392175" y="0"/>
                  </a:lnTo>
                  <a:close/>
                </a:path>
                <a:path w="445134" h="76200">
                  <a:moveTo>
                    <a:pt x="425493" y="9372"/>
                  </a:moveTo>
                  <a:lnTo>
                    <a:pt x="392175" y="9372"/>
                  </a:lnTo>
                  <a:lnTo>
                    <a:pt x="406975" y="11626"/>
                  </a:lnTo>
                  <a:lnTo>
                    <a:pt x="419226" y="17729"/>
                  </a:lnTo>
                  <a:lnTo>
                    <a:pt x="427573" y="26689"/>
                  </a:lnTo>
                  <a:lnTo>
                    <a:pt x="430656" y="37515"/>
                  </a:lnTo>
                  <a:lnTo>
                    <a:pt x="427573" y="49018"/>
                  </a:lnTo>
                  <a:lnTo>
                    <a:pt x="419226" y="58324"/>
                  </a:lnTo>
                  <a:lnTo>
                    <a:pt x="406975" y="64554"/>
                  </a:lnTo>
                  <a:lnTo>
                    <a:pt x="392175" y="66827"/>
                  </a:lnTo>
                  <a:lnTo>
                    <a:pt x="425275" y="66819"/>
                  </a:lnTo>
                  <a:lnTo>
                    <a:pt x="429402" y="64768"/>
                  </a:lnTo>
                  <a:lnTo>
                    <a:pt x="440807" y="52459"/>
                  </a:lnTo>
                  <a:lnTo>
                    <a:pt x="445007" y="37515"/>
                  </a:lnTo>
                  <a:lnTo>
                    <a:pt x="440807" y="23247"/>
                  </a:lnTo>
                  <a:lnTo>
                    <a:pt x="429402" y="11285"/>
                  </a:lnTo>
                  <a:lnTo>
                    <a:pt x="425493" y="9372"/>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86" name="object 304"/>
            <p:cNvSpPr/>
            <p:nvPr/>
          </p:nvSpPr>
          <p:spPr bwMode="auto">
            <a:xfrm>
              <a:off x="8581645" y="5641849"/>
              <a:ext cx="333850" cy="57150"/>
            </a:xfrm>
            <a:custGeom>
              <a:avLst/>
              <a:gdLst>
                <a:gd name="T0" fmla="*/ 34138 w 445134"/>
                <a:gd name="T1" fmla="*/ 4342 h 76200"/>
                <a:gd name="T2" fmla="*/ 34711 w 445134"/>
                <a:gd name="T3" fmla="*/ 5648 h 76200"/>
                <a:gd name="T4" fmla="*/ 35855 w 445134"/>
                <a:gd name="T5" fmla="*/ 6690 h 76200"/>
                <a:gd name="T6" fmla="*/ 37423 w 445134"/>
                <a:gd name="T7" fmla="*/ 7379 h 76200"/>
                <a:gd name="T8" fmla="*/ 39261 w 445134"/>
                <a:gd name="T9" fmla="*/ 7629 h 76200"/>
                <a:gd name="T10" fmla="*/ 41305 w 445134"/>
                <a:gd name="T11" fmla="*/ 7321 h 76200"/>
                <a:gd name="T12" fmla="*/ 42988 w 445134"/>
                <a:gd name="T13" fmla="*/ 6485 h 76200"/>
                <a:gd name="T14" fmla="*/ 44130 w 445134"/>
                <a:gd name="T15" fmla="*/ 5252 h 76200"/>
                <a:gd name="T16" fmla="*/ 44551 w 445134"/>
                <a:gd name="T17" fmla="*/ 3756 h 76200"/>
                <a:gd name="T18" fmla="*/ 44130 w 445134"/>
                <a:gd name="T19" fmla="*/ 2327 h 76200"/>
                <a:gd name="T20" fmla="*/ 42988 w 445134"/>
                <a:gd name="T21" fmla="*/ 1130 h 76200"/>
                <a:gd name="T22" fmla="*/ 41305 w 445134"/>
                <a:gd name="T23" fmla="*/ 307 h 76200"/>
                <a:gd name="T24" fmla="*/ 39261 w 445134"/>
                <a:gd name="T25" fmla="*/ 0 h 76200"/>
                <a:gd name="T26" fmla="*/ 37423 w 445134"/>
                <a:gd name="T27" fmla="*/ 249 h 76200"/>
                <a:gd name="T28" fmla="*/ 35855 w 445134"/>
                <a:gd name="T29" fmla="*/ 940 h 76200"/>
                <a:gd name="T30" fmla="*/ 34711 w 445134"/>
                <a:gd name="T31" fmla="*/ 1982 h 76200"/>
                <a:gd name="T32" fmla="*/ 34138 w 445134"/>
                <a:gd name="T33" fmla="*/ 3287 h 76200"/>
                <a:gd name="T34" fmla="*/ 14401 w 445134"/>
                <a:gd name="T35" fmla="*/ 3287 h 76200"/>
                <a:gd name="T36" fmla="*/ 4267 w 445134"/>
                <a:gd name="T37" fmla="*/ 3287 h 76200"/>
                <a:gd name="T38" fmla="*/ 533 w 445134"/>
                <a:gd name="T39" fmla="*/ 3287 h 76200"/>
                <a:gd name="T40" fmla="*/ 0 w 445134"/>
                <a:gd name="T41" fmla="*/ 3287 h 76200"/>
                <a:gd name="T42" fmla="*/ 0 w 445134"/>
                <a:gd name="T43" fmla="*/ 4342 h 76200"/>
                <a:gd name="T44" fmla="*/ 34138 w 445134"/>
                <a:gd name="T45" fmla="*/ 4342 h 762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45134" h="76200">
                  <a:moveTo>
                    <a:pt x="340994" y="43370"/>
                  </a:moveTo>
                  <a:lnTo>
                    <a:pt x="346723" y="56413"/>
                  </a:lnTo>
                  <a:lnTo>
                    <a:pt x="358155" y="66819"/>
                  </a:lnTo>
                  <a:lnTo>
                    <a:pt x="373802" y="73708"/>
                  </a:lnTo>
                  <a:lnTo>
                    <a:pt x="392175" y="76200"/>
                  </a:lnTo>
                  <a:lnTo>
                    <a:pt x="412593" y="73122"/>
                  </a:lnTo>
                  <a:lnTo>
                    <a:pt x="429402" y="64768"/>
                  </a:lnTo>
                  <a:lnTo>
                    <a:pt x="440807" y="52459"/>
                  </a:lnTo>
                  <a:lnTo>
                    <a:pt x="445007" y="37515"/>
                  </a:lnTo>
                  <a:lnTo>
                    <a:pt x="440807" y="23247"/>
                  </a:lnTo>
                  <a:lnTo>
                    <a:pt x="429402" y="11285"/>
                  </a:lnTo>
                  <a:lnTo>
                    <a:pt x="412593" y="3059"/>
                  </a:lnTo>
                  <a:lnTo>
                    <a:pt x="392175" y="0"/>
                  </a:lnTo>
                  <a:lnTo>
                    <a:pt x="373802" y="2491"/>
                  </a:lnTo>
                  <a:lnTo>
                    <a:pt x="358155" y="9380"/>
                  </a:lnTo>
                  <a:lnTo>
                    <a:pt x="346723" y="19786"/>
                  </a:lnTo>
                  <a:lnTo>
                    <a:pt x="340994" y="32829"/>
                  </a:lnTo>
                  <a:lnTo>
                    <a:pt x="143857" y="32829"/>
                  </a:lnTo>
                  <a:lnTo>
                    <a:pt x="42624" y="32829"/>
                  </a:lnTo>
                  <a:lnTo>
                    <a:pt x="5328" y="32829"/>
                  </a:lnTo>
                  <a:lnTo>
                    <a:pt x="0" y="32829"/>
                  </a:lnTo>
                  <a:lnTo>
                    <a:pt x="0" y="43370"/>
                  </a:lnTo>
                  <a:lnTo>
                    <a:pt x="340994" y="4337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87" name="object 305"/>
            <p:cNvSpPr/>
            <p:nvPr/>
          </p:nvSpPr>
          <p:spPr bwMode="auto">
            <a:xfrm>
              <a:off x="8847011" y="5648877"/>
              <a:ext cx="57626" cy="43338"/>
            </a:xfrm>
            <a:custGeom>
              <a:avLst/>
              <a:gdLst>
                <a:gd name="T0" fmla="*/ 3840 w 76834"/>
                <a:gd name="T1" fmla="*/ 0 h 57785"/>
                <a:gd name="T2" fmla="*/ 5322 w 76834"/>
                <a:gd name="T3" fmla="*/ 225 h 57785"/>
                <a:gd name="T4" fmla="*/ 6548 w 76834"/>
                <a:gd name="T5" fmla="*/ 836 h 57785"/>
                <a:gd name="T6" fmla="*/ 7384 w 76834"/>
                <a:gd name="T7" fmla="*/ 1733 h 57785"/>
                <a:gd name="T8" fmla="*/ 7692 w 76834"/>
                <a:gd name="T9" fmla="*/ 2817 h 57785"/>
                <a:gd name="T10" fmla="*/ 7384 w 76834"/>
                <a:gd name="T11" fmla="*/ 3968 h 57785"/>
                <a:gd name="T12" fmla="*/ 6548 w 76834"/>
                <a:gd name="T13" fmla="*/ 4900 h 57785"/>
                <a:gd name="T14" fmla="*/ 5322 w 76834"/>
                <a:gd name="T15" fmla="*/ 5524 h 57785"/>
                <a:gd name="T16" fmla="*/ 3840 w 76834"/>
                <a:gd name="T17" fmla="*/ 5752 h 57785"/>
                <a:gd name="T18" fmla="*/ 2360 w 76834"/>
                <a:gd name="T19" fmla="*/ 5524 h 57785"/>
                <a:gd name="T20" fmla="*/ 1139 w 76834"/>
                <a:gd name="T21" fmla="*/ 4900 h 57785"/>
                <a:gd name="T22" fmla="*/ 307 w 76834"/>
                <a:gd name="T23" fmla="*/ 3968 h 57785"/>
                <a:gd name="T24" fmla="*/ 0 w 76834"/>
                <a:gd name="T25" fmla="*/ 2817 h 57785"/>
                <a:gd name="T26" fmla="*/ 307 w 76834"/>
                <a:gd name="T27" fmla="*/ 1733 h 57785"/>
                <a:gd name="T28" fmla="*/ 1139 w 76834"/>
                <a:gd name="T29" fmla="*/ 836 h 57785"/>
                <a:gd name="T30" fmla="*/ 2360 w 76834"/>
                <a:gd name="T31" fmla="*/ 225 h 57785"/>
                <a:gd name="T32" fmla="*/ 3840 w 76834"/>
                <a:gd name="T33" fmla="*/ 0 h 577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34" h="57785">
                  <a:moveTo>
                    <a:pt x="38353" y="0"/>
                  </a:moveTo>
                  <a:lnTo>
                    <a:pt x="53153" y="2254"/>
                  </a:lnTo>
                  <a:lnTo>
                    <a:pt x="65404" y="8356"/>
                  </a:lnTo>
                  <a:lnTo>
                    <a:pt x="73751" y="17316"/>
                  </a:lnTo>
                  <a:lnTo>
                    <a:pt x="76834" y="28143"/>
                  </a:lnTo>
                  <a:lnTo>
                    <a:pt x="73751" y="39645"/>
                  </a:lnTo>
                  <a:lnTo>
                    <a:pt x="65404" y="48952"/>
                  </a:lnTo>
                  <a:lnTo>
                    <a:pt x="53153" y="55182"/>
                  </a:lnTo>
                  <a:lnTo>
                    <a:pt x="38353" y="57454"/>
                  </a:lnTo>
                  <a:lnTo>
                    <a:pt x="23574" y="55182"/>
                  </a:lnTo>
                  <a:lnTo>
                    <a:pt x="11366" y="48952"/>
                  </a:lnTo>
                  <a:lnTo>
                    <a:pt x="3063" y="39645"/>
                  </a:lnTo>
                  <a:lnTo>
                    <a:pt x="0" y="28143"/>
                  </a:lnTo>
                  <a:lnTo>
                    <a:pt x="3063" y="17316"/>
                  </a:lnTo>
                  <a:lnTo>
                    <a:pt x="11366" y="8356"/>
                  </a:lnTo>
                  <a:lnTo>
                    <a:pt x="23574" y="2254"/>
                  </a:lnTo>
                  <a:lnTo>
                    <a:pt x="38353" y="0"/>
                  </a:lnTo>
                  <a:close/>
                </a:path>
              </a:pathLst>
            </a:custGeom>
            <a:noFill/>
            <a:ln w="9144">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188" name="object 306"/>
            <p:cNvSpPr/>
            <p:nvPr/>
          </p:nvSpPr>
          <p:spPr bwMode="auto">
            <a:xfrm>
              <a:off x="2441448" y="5004054"/>
              <a:ext cx="10478" cy="32385"/>
            </a:xfrm>
            <a:custGeom>
              <a:avLst/>
              <a:gdLst>
                <a:gd name="T0" fmla="*/ 0 w 13970"/>
                <a:gd name="T1" fmla="*/ 4272 h 43179"/>
                <a:gd name="T2" fmla="*/ 1373 w 13970"/>
                <a:gd name="T3" fmla="*/ 4272 h 43179"/>
                <a:gd name="T4" fmla="*/ 1373 w 13970"/>
                <a:gd name="T5" fmla="*/ 0 h 43179"/>
                <a:gd name="T6" fmla="*/ 0 w 13970"/>
                <a:gd name="T7" fmla="*/ 0 h 43179"/>
                <a:gd name="T8" fmla="*/ 0 w 13970"/>
                <a:gd name="T9" fmla="*/ 4272 h 43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70" h="43179">
                  <a:moveTo>
                    <a:pt x="0" y="42671"/>
                  </a:moveTo>
                  <a:lnTo>
                    <a:pt x="13715" y="42671"/>
                  </a:lnTo>
                  <a:lnTo>
                    <a:pt x="13715" y="0"/>
                  </a:lnTo>
                  <a:lnTo>
                    <a:pt x="0" y="0"/>
                  </a:lnTo>
                  <a:lnTo>
                    <a:pt x="0" y="4267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89" name="object 307"/>
            <p:cNvSpPr/>
            <p:nvPr/>
          </p:nvSpPr>
          <p:spPr bwMode="auto">
            <a:xfrm>
              <a:off x="2438019" y="5000625"/>
              <a:ext cx="17145" cy="39052"/>
            </a:xfrm>
            <a:custGeom>
              <a:avLst/>
              <a:gdLst>
                <a:gd name="T0" fmla="*/ 0 w 22860"/>
                <a:gd name="T1" fmla="*/ 5187 h 52070"/>
                <a:gd name="T2" fmla="*/ 2289 w 22860"/>
                <a:gd name="T3" fmla="*/ 5187 h 52070"/>
                <a:gd name="T4" fmla="*/ 2289 w 22860"/>
                <a:gd name="T5" fmla="*/ 0 h 52070"/>
                <a:gd name="T6" fmla="*/ 0 w 22860"/>
                <a:gd name="T7" fmla="*/ 0 h 52070"/>
                <a:gd name="T8" fmla="*/ 0 w 22860"/>
                <a:gd name="T9" fmla="*/ 5187 h 520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0" h="52070">
                  <a:moveTo>
                    <a:pt x="0" y="51815"/>
                  </a:moveTo>
                  <a:lnTo>
                    <a:pt x="22859" y="51815"/>
                  </a:lnTo>
                  <a:lnTo>
                    <a:pt x="22859" y="0"/>
                  </a:lnTo>
                  <a:lnTo>
                    <a:pt x="0" y="0"/>
                  </a:lnTo>
                  <a:lnTo>
                    <a:pt x="0" y="5181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0" name="object 308"/>
            <p:cNvSpPr/>
            <p:nvPr/>
          </p:nvSpPr>
          <p:spPr bwMode="auto">
            <a:xfrm>
              <a:off x="2504314" y="5004054"/>
              <a:ext cx="9525" cy="32385"/>
            </a:xfrm>
            <a:custGeom>
              <a:avLst/>
              <a:gdLst>
                <a:gd name="T0" fmla="*/ 0 w 12700"/>
                <a:gd name="T1" fmla="*/ 4272 h 43179"/>
                <a:gd name="T2" fmla="*/ 1221 w 12700"/>
                <a:gd name="T3" fmla="*/ 4272 h 43179"/>
                <a:gd name="T4" fmla="*/ 1221 w 12700"/>
                <a:gd name="T5" fmla="*/ 0 h 43179"/>
                <a:gd name="T6" fmla="*/ 0 w 12700"/>
                <a:gd name="T7" fmla="*/ 0 h 43179"/>
                <a:gd name="T8" fmla="*/ 0 w 12700"/>
                <a:gd name="T9" fmla="*/ 4272 h 43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00" h="43179">
                  <a:moveTo>
                    <a:pt x="0" y="42671"/>
                  </a:moveTo>
                  <a:lnTo>
                    <a:pt x="12191" y="42671"/>
                  </a:lnTo>
                  <a:lnTo>
                    <a:pt x="12191" y="0"/>
                  </a:lnTo>
                  <a:lnTo>
                    <a:pt x="0" y="0"/>
                  </a:lnTo>
                  <a:lnTo>
                    <a:pt x="0" y="4267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1" name="object 309"/>
            <p:cNvSpPr/>
            <p:nvPr/>
          </p:nvSpPr>
          <p:spPr bwMode="auto">
            <a:xfrm>
              <a:off x="2500883" y="5000625"/>
              <a:ext cx="16193" cy="39052"/>
            </a:xfrm>
            <a:custGeom>
              <a:avLst/>
              <a:gdLst>
                <a:gd name="T0" fmla="*/ 0 w 21589"/>
                <a:gd name="T1" fmla="*/ 5187 h 52070"/>
                <a:gd name="T2" fmla="*/ 2137 w 21589"/>
                <a:gd name="T3" fmla="*/ 5187 h 52070"/>
                <a:gd name="T4" fmla="*/ 2137 w 21589"/>
                <a:gd name="T5" fmla="*/ 0 h 52070"/>
                <a:gd name="T6" fmla="*/ 0 w 21589"/>
                <a:gd name="T7" fmla="*/ 0 h 52070"/>
                <a:gd name="T8" fmla="*/ 0 w 21589"/>
                <a:gd name="T9" fmla="*/ 5187 h 520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89" h="52070">
                  <a:moveTo>
                    <a:pt x="0" y="51815"/>
                  </a:moveTo>
                  <a:lnTo>
                    <a:pt x="21335" y="51815"/>
                  </a:lnTo>
                  <a:lnTo>
                    <a:pt x="21335" y="0"/>
                  </a:lnTo>
                  <a:lnTo>
                    <a:pt x="0" y="0"/>
                  </a:lnTo>
                  <a:lnTo>
                    <a:pt x="0" y="5181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2" name="object 310"/>
            <p:cNvSpPr/>
            <p:nvPr/>
          </p:nvSpPr>
          <p:spPr bwMode="auto">
            <a:xfrm>
              <a:off x="2566034" y="5004054"/>
              <a:ext cx="10478" cy="32385"/>
            </a:xfrm>
            <a:custGeom>
              <a:avLst/>
              <a:gdLst>
                <a:gd name="T0" fmla="*/ 0 w 13970"/>
                <a:gd name="T1" fmla="*/ 4272 h 43179"/>
                <a:gd name="T2" fmla="*/ 1373 w 13970"/>
                <a:gd name="T3" fmla="*/ 4272 h 43179"/>
                <a:gd name="T4" fmla="*/ 1373 w 13970"/>
                <a:gd name="T5" fmla="*/ 0 h 43179"/>
                <a:gd name="T6" fmla="*/ 0 w 13970"/>
                <a:gd name="T7" fmla="*/ 0 h 43179"/>
                <a:gd name="T8" fmla="*/ 0 w 13970"/>
                <a:gd name="T9" fmla="*/ 4272 h 43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70" h="43179">
                  <a:moveTo>
                    <a:pt x="0" y="42671"/>
                  </a:moveTo>
                  <a:lnTo>
                    <a:pt x="13715" y="42671"/>
                  </a:lnTo>
                  <a:lnTo>
                    <a:pt x="13715" y="0"/>
                  </a:lnTo>
                  <a:lnTo>
                    <a:pt x="0" y="0"/>
                  </a:lnTo>
                  <a:lnTo>
                    <a:pt x="0" y="4267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3" name="object 311"/>
            <p:cNvSpPr/>
            <p:nvPr/>
          </p:nvSpPr>
          <p:spPr bwMode="auto">
            <a:xfrm>
              <a:off x="2562606" y="5000625"/>
              <a:ext cx="17145" cy="39052"/>
            </a:xfrm>
            <a:custGeom>
              <a:avLst/>
              <a:gdLst>
                <a:gd name="T0" fmla="*/ 0 w 22860"/>
                <a:gd name="T1" fmla="*/ 5187 h 52070"/>
                <a:gd name="T2" fmla="*/ 2289 w 22860"/>
                <a:gd name="T3" fmla="*/ 5187 h 52070"/>
                <a:gd name="T4" fmla="*/ 2289 w 22860"/>
                <a:gd name="T5" fmla="*/ 0 h 52070"/>
                <a:gd name="T6" fmla="*/ 0 w 22860"/>
                <a:gd name="T7" fmla="*/ 0 h 52070"/>
                <a:gd name="T8" fmla="*/ 0 w 22860"/>
                <a:gd name="T9" fmla="*/ 5187 h 520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0" h="52070">
                  <a:moveTo>
                    <a:pt x="0" y="51815"/>
                  </a:moveTo>
                  <a:lnTo>
                    <a:pt x="22859" y="51815"/>
                  </a:lnTo>
                  <a:lnTo>
                    <a:pt x="22859" y="0"/>
                  </a:lnTo>
                  <a:lnTo>
                    <a:pt x="0" y="0"/>
                  </a:lnTo>
                  <a:lnTo>
                    <a:pt x="0" y="5181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4" name="object 312"/>
            <p:cNvSpPr/>
            <p:nvPr/>
          </p:nvSpPr>
          <p:spPr bwMode="auto">
            <a:xfrm>
              <a:off x="2441448" y="5202935"/>
              <a:ext cx="10478" cy="32385"/>
            </a:xfrm>
            <a:custGeom>
              <a:avLst/>
              <a:gdLst>
                <a:gd name="T0" fmla="*/ 0 w 13970"/>
                <a:gd name="T1" fmla="*/ 4272 h 43179"/>
                <a:gd name="T2" fmla="*/ 1373 w 13970"/>
                <a:gd name="T3" fmla="*/ 4272 h 43179"/>
                <a:gd name="T4" fmla="*/ 1373 w 13970"/>
                <a:gd name="T5" fmla="*/ 0 h 43179"/>
                <a:gd name="T6" fmla="*/ 0 w 13970"/>
                <a:gd name="T7" fmla="*/ 0 h 43179"/>
                <a:gd name="T8" fmla="*/ 0 w 13970"/>
                <a:gd name="T9" fmla="*/ 4272 h 43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70" h="43179">
                  <a:moveTo>
                    <a:pt x="0" y="42671"/>
                  </a:moveTo>
                  <a:lnTo>
                    <a:pt x="13715" y="42671"/>
                  </a:lnTo>
                  <a:lnTo>
                    <a:pt x="13715" y="0"/>
                  </a:lnTo>
                  <a:lnTo>
                    <a:pt x="0" y="0"/>
                  </a:lnTo>
                  <a:lnTo>
                    <a:pt x="0" y="4267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5" name="object 313"/>
            <p:cNvSpPr/>
            <p:nvPr/>
          </p:nvSpPr>
          <p:spPr bwMode="auto">
            <a:xfrm>
              <a:off x="2438019" y="5199508"/>
              <a:ext cx="17145" cy="39052"/>
            </a:xfrm>
            <a:custGeom>
              <a:avLst/>
              <a:gdLst>
                <a:gd name="T0" fmla="*/ 0 w 22860"/>
                <a:gd name="T1" fmla="*/ 5187 h 52070"/>
                <a:gd name="T2" fmla="*/ 2289 w 22860"/>
                <a:gd name="T3" fmla="*/ 5187 h 52070"/>
                <a:gd name="T4" fmla="*/ 2289 w 22860"/>
                <a:gd name="T5" fmla="*/ 0 h 52070"/>
                <a:gd name="T6" fmla="*/ 0 w 22860"/>
                <a:gd name="T7" fmla="*/ 0 h 52070"/>
                <a:gd name="T8" fmla="*/ 0 w 22860"/>
                <a:gd name="T9" fmla="*/ 5187 h 520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0" h="52070">
                  <a:moveTo>
                    <a:pt x="0" y="51815"/>
                  </a:moveTo>
                  <a:lnTo>
                    <a:pt x="22859" y="51815"/>
                  </a:lnTo>
                  <a:lnTo>
                    <a:pt x="22859" y="0"/>
                  </a:lnTo>
                  <a:lnTo>
                    <a:pt x="0" y="0"/>
                  </a:lnTo>
                  <a:lnTo>
                    <a:pt x="0" y="5181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6" name="object 314"/>
            <p:cNvSpPr/>
            <p:nvPr/>
          </p:nvSpPr>
          <p:spPr bwMode="auto">
            <a:xfrm>
              <a:off x="2504314" y="5202935"/>
              <a:ext cx="9525" cy="32385"/>
            </a:xfrm>
            <a:custGeom>
              <a:avLst/>
              <a:gdLst>
                <a:gd name="T0" fmla="*/ 0 w 12700"/>
                <a:gd name="T1" fmla="*/ 4272 h 43179"/>
                <a:gd name="T2" fmla="*/ 1221 w 12700"/>
                <a:gd name="T3" fmla="*/ 4272 h 43179"/>
                <a:gd name="T4" fmla="*/ 1221 w 12700"/>
                <a:gd name="T5" fmla="*/ 0 h 43179"/>
                <a:gd name="T6" fmla="*/ 0 w 12700"/>
                <a:gd name="T7" fmla="*/ 0 h 43179"/>
                <a:gd name="T8" fmla="*/ 0 w 12700"/>
                <a:gd name="T9" fmla="*/ 4272 h 43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00" h="43179">
                  <a:moveTo>
                    <a:pt x="0" y="42671"/>
                  </a:moveTo>
                  <a:lnTo>
                    <a:pt x="12191" y="42671"/>
                  </a:lnTo>
                  <a:lnTo>
                    <a:pt x="12191" y="0"/>
                  </a:lnTo>
                  <a:lnTo>
                    <a:pt x="0" y="0"/>
                  </a:lnTo>
                  <a:lnTo>
                    <a:pt x="0" y="4267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7" name="object 315"/>
            <p:cNvSpPr/>
            <p:nvPr/>
          </p:nvSpPr>
          <p:spPr bwMode="auto">
            <a:xfrm>
              <a:off x="2500883" y="5199508"/>
              <a:ext cx="16193" cy="39052"/>
            </a:xfrm>
            <a:custGeom>
              <a:avLst/>
              <a:gdLst>
                <a:gd name="T0" fmla="*/ 0 w 21589"/>
                <a:gd name="T1" fmla="*/ 5187 h 52070"/>
                <a:gd name="T2" fmla="*/ 2137 w 21589"/>
                <a:gd name="T3" fmla="*/ 5187 h 52070"/>
                <a:gd name="T4" fmla="*/ 2137 w 21589"/>
                <a:gd name="T5" fmla="*/ 0 h 52070"/>
                <a:gd name="T6" fmla="*/ 0 w 21589"/>
                <a:gd name="T7" fmla="*/ 0 h 52070"/>
                <a:gd name="T8" fmla="*/ 0 w 21589"/>
                <a:gd name="T9" fmla="*/ 5187 h 520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89" h="52070">
                  <a:moveTo>
                    <a:pt x="0" y="51815"/>
                  </a:moveTo>
                  <a:lnTo>
                    <a:pt x="21335" y="51815"/>
                  </a:lnTo>
                  <a:lnTo>
                    <a:pt x="21335" y="0"/>
                  </a:lnTo>
                  <a:lnTo>
                    <a:pt x="0" y="0"/>
                  </a:lnTo>
                  <a:lnTo>
                    <a:pt x="0" y="5181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8" name="object 316"/>
            <p:cNvSpPr/>
            <p:nvPr/>
          </p:nvSpPr>
          <p:spPr bwMode="auto">
            <a:xfrm>
              <a:off x="2566034" y="5202935"/>
              <a:ext cx="10478" cy="32385"/>
            </a:xfrm>
            <a:custGeom>
              <a:avLst/>
              <a:gdLst>
                <a:gd name="T0" fmla="*/ 0 w 13970"/>
                <a:gd name="T1" fmla="*/ 4272 h 43179"/>
                <a:gd name="T2" fmla="*/ 1373 w 13970"/>
                <a:gd name="T3" fmla="*/ 4272 h 43179"/>
                <a:gd name="T4" fmla="*/ 1373 w 13970"/>
                <a:gd name="T5" fmla="*/ 0 h 43179"/>
                <a:gd name="T6" fmla="*/ 0 w 13970"/>
                <a:gd name="T7" fmla="*/ 0 h 43179"/>
                <a:gd name="T8" fmla="*/ 0 w 13970"/>
                <a:gd name="T9" fmla="*/ 4272 h 43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70" h="43179">
                  <a:moveTo>
                    <a:pt x="0" y="42671"/>
                  </a:moveTo>
                  <a:lnTo>
                    <a:pt x="13715" y="42671"/>
                  </a:lnTo>
                  <a:lnTo>
                    <a:pt x="13715" y="0"/>
                  </a:lnTo>
                  <a:lnTo>
                    <a:pt x="0" y="0"/>
                  </a:lnTo>
                  <a:lnTo>
                    <a:pt x="0" y="42671"/>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199" name="object 317"/>
            <p:cNvSpPr/>
            <p:nvPr/>
          </p:nvSpPr>
          <p:spPr bwMode="auto">
            <a:xfrm>
              <a:off x="2562606" y="5199508"/>
              <a:ext cx="17145" cy="39052"/>
            </a:xfrm>
            <a:custGeom>
              <a:avLst/>
              <a:gdLst>
                <a:gd name="T0" fmla="*/ 0 w 22860"/>
                <a:gd name="T1" fmla="*/ 5187 h 52070"/>
                <a:gd name="T2" fmla="*/ 2289 w 22860"/>
                <a:gd name="T3" fmla="*/ 5187 h 52070"/>
                <a:gd name="T4" fmla="*/ 2289 w 22860"/>
                <a:gd name="T5" fmla="*/ 0 h 52070"/>
                <a:gd name="T6" fmla="*/ 0 w 22860"/>
                <a:gd name="T7" fmla="*/ 0 h 52070"/>
                <a:gd name="T8" fmla="*/ 0 w 22860"/>
                <a:gd name="T9" fmla="*/ 5187 h 520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0" h="52070">
                  <a:moveTo>
                    <a:pt x="0" y="51815"/>
                  </a:moveTo>
                  <a:lnTo>
                    <a:pt x="22859" y="51815"/>
                  </a:lnTo>
                  <a:lnTo>
                    <a:pt x="22859" y="0"/>
                  </a:lnTo>
                  <a:lnTo>
                    <a:pt x="0" y="0"/>
                  </a:lnTo>
                  <a:lnTo>
                    <a:pt x="0" y="5181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200" name="object 318"/>
            <p:cNvSpPr/>
            <p:nvPr/>
          </p:nvSpPr>
          <p:spPr bwMode="auto">
            <a:xfrm>
              <a:off x="2362581" y="5142357"/>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1" name="object 319"/>
            <p:cNvSpPr/>
            <p:nvPr/>
          </p:nvSpPr>
          <p:spPr bwMode="auto">
            <a:xfrm>
              <a:off x="2359151" y="5142357"/>
              <a:ext cx="51435" cy="0"/>
            </a:xfrm>
            <a:custGeom>
              <a:avLst/>
              <a:gdLst>
                <a:gd name="T0" fmla="*/ 0 w 68580"/>
                <a:gd name="T1" fmla="*/ 6866 w 68580"/>
                <a:gd name="T2" fmla="*/ 0 60000 65536"/>
                <a:gd name="T3" fmla="*/ 0 60000 65536"/>
              </a:gdLst>
              <a:ahLst/>
              <a:cxnLst>
                <a:cxn ang="T2">
                  <a:pos x="T0" y="0"/>
                </a:cxn>
                <a:cxn ang="T3">
                  <a:pos x="T1" y="0"/>
                </a:cxn>
              </a:cxnLst>
              <a:rect l="0" t="0" r="r" b="b"/>
              <a:pathLst>
                <a:path w="68580">
                  <a:moveTo>
                    <a:pt x="0" y="0"/>
                  </a:moveTo>
                  <a:lnTo>
                    <a:pt x="6858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2" name="object 320"/>
            <p:cNvSpPr/>
            <p:nvPr/>
          </p:nvSpPr>
          <p:spPr bwMode="auto">
            <a:xfrm>
              <a:off x="2362581" y="5096065"/>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3" name="object 321"/>
            <p:cNvSpPr/>
            <p:nvPr/>
          </p:nvSpPr>
          <p:spPr bwMode="auto">
            <a:xfrm>
              <a:off x="2359151" y="5096065"/>
              <a:ext cx="51435" cy="0"/>
            </a:xfrm>
            <a:custGeom>
              <a:avLst/>
              <a:gdLst>
                <a:gd name="T0" fmla="*/ 0 w 68580"/>
                <a:gd name="T1" fmla="*/ 6866 w 68580"/>
                <a:gd name="T2" fmla="*/ 0 60000 65536"/>
                <a:gd name="T3" fmla="*/ 0 60000 65536"/>
              </a:gdLst>
              <a:ahLst/>
              <a:cxnLst>
                <a:cxn ang="T2">
                  <a:pos x="T0" y="0"/>
                </a:cxn>
                <a:cxn ang="T3">
                  <a:pos x="T1" y="0"/>
                </a:cxn>
              </a:cxnLst>
              <a:rect l="0" t="0" r="r" b="b"/>
              <a:pathLst>
                <a:path w="68580">
                  <a:moveTo>
                    <a:pt x="0" y="0"/>
                  </a:moveTo>
                  <a:lnTo>
                    <a:pt x="6858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4" name="object 322"/>
            <p:cNvSpPr/>
            <p:nvPr/>
          </p:nvSpPr>
          <p:spPr bwMode="auto">
            <a:xfrm>
              <a:off x="2362581" y="5050346"/>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5" name="object 323"/>
            <p:cNvSpPr/>
            <p:nvPr/>
          </p:nvSpPr>
          <p:spPr bwMode="auto">
            <a:xfrm>
              <a:off x="2359151" y="5050346"/>
              <a:ext cx="51435" cy="0"/>
            </a:xfrm>
            <a:custGeom>
              <a:avLst/>
              <a:gdLst>
                <a:gd name="T0" fmla="*/ 0 w 68580"/>
                <a:gd name="T1" fmla="*/ 6866 w 68580"/>
                <a:gd name="T2" fmla="*/ 0 60000 65536"/>
                <a:gd name="T3" fmla="*/ 0 60000 65536"/>
              </a:gdLst>
              <a:ahLst/>
              <a:cxnLst>
                <a:cxn ang="T2">
                  <a:pos x="T0" y="0"/>
                </a:cxn>
                <a:cxn ang="T3">
                  <a:pos x="T1" y="0"/>
                </a:cxn>
              </a:cxnLst>
              <a:rect l="0" t="0" r="r" b="b"/>
              <a:pathLst>
                <a:path w="68580">
                  <a:moveTo>
                    <a:pt x="0" y="0"/>
                  </a:moveTo>
                  <a:lnTo>
                    <a:pt x="6858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6" name="object 324"/>
            <p:cNvSpPr/>
            <p:nvPr/>
          </p:nvSpPr>
          <p:spPr bwMode="auto">
            <a:xfrm>
              <a:off x="2362581" y="5189219"/>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7" name="object 325"/>
            <p:cNvSpPr/>
            <p:nvPr/>
          </p:nvSpPr>
          <p:spPr bwMode="auto">
            <a:xfrm>
              <a:off x="2359151" y="5189219"/>
              <a:ext cx="51435" cy="0"/>
            </a:xfrm>
            <a:custGeom>
              <a:avLst/>
              <a:gdLst>
                <a:gd name="T0" fmla="*/ 0 w 68580"/>
                <a:gd name="T1" fmla="*/ 6866 w 68580"/>
                <a:gd name="T2" fmla="*/ 0 60000 65536"/>
                <a:gd name="T3" fmla="*/ 0 60000 65536"/>
              </a:gdLst>
              <a:ahLst/>
              <a:cxnLst>
                <a:cxn ang="T2">
                  <a:pos x="T0" y="0"/>
                </a:cxn>
                <a:cxn ang="T3">
                  <a:pos x="T1" y="0"/>
                </a:cxn>
              </a:cxnLst>
              <a:rect l="0" t="0" r="r" b="b"/>
              <a:pathLst>
                <a:path w="68580">
                  <a:moveTo>
                    <a:pt x="0" y="0"/>
                  </a:moveTo>
                  <a:lnTo>
                    <a:pt x="6858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8" name="object 326"/>
            <p:cNvSpPr/>
            <p:nvPr/>
          </p:nvSpPr>
          <p:spPr bwMode="auto">
            <a:xfrm>
              <a:off x="2594610" y="5142357"/>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09" name="object 327"/>
            <p:cNvSpPr/>
            <p:nvPr/>
          </p:nvSpPr>
          <p:spPr bwMode="auto">
            <a:xfrm>
              <a:off x="2591182" y="5142357"/>
              <a:ext cx="51435" cy="0"/>
            </a:xfrm>
            <a:custGeom>
              <a:avLst/>
              <a:gdLst>
                <a:gd name="T0" fmla="*/ 0 w 68579"/>
                <a:gd name="T1" fmla="*/ 6866 w 68579"/>
                <a:gd name="T2" fmla="*/ 0 60000 65536"/>
                <a:gd name="T3" fmla="*/ 0 60000 65536"/>
              </a:gdLst>
              <a:ahLst/>
              <a:cxnLst>
                <a:cxn ang="T2">
                  <a:pos x="T0" y="0"/>
                </a:cxn>
                <a:cxn ang="T3">
                  <a:pos x="T1" y="0"/>
                </a:cxn>
              </a:cxnLst>
              <a:rect l="0" t="0" r="r" b="b"/>
              <a:pathLst>
                <a:path w="68579">
                  <a:moveTo>
                    <a:pt x="0" y="0"/>
                  </a:moveTo>
                  <a:lnTo>
                    <a:pt x="6858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10" name="object 328"/>
            <p:cNvSpPr/>
            <p:nvPr/>
          </p:nvSpPr>
          <p:spPr bwMode="auto">
            <a:xfrm>
              <a:off x="2594610" y="5096065"/>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11" name="object 329"/>
            <p:cNvSpPr/>
            <p:nvPr/>
          </p:nvSpPr>
          <p:spPr bwMode="auto">
            <a:xfrm>
              <a:off x="2591182" y="5096065"/>
              <a:ext cx="51435" cy="0"/>
            </a:xfrm>
            <a:custGeom>
              <a:avLst/>
              <a:gdLst>
                <a:gd name="T0" fmla="*/ 0 w 68579"/>
                <a:gd name="T1" fmla="*/ 6866 w 68579"/>
                <a:gd name="T2" fmla="*/ 0 60000 65536"/>
                <a:gd name="T3" fmla="*/ 0 60000 65536"/>
              </a:gdLst>
              <a:ahLst/>
              <a:cxnLst>
                <a:cxn ang="T2">
                  <a:pos x="T0" y="0"/>
                </a:cxn>
                <a:cxn ang="T3">
                  <a:pos x="T1" y="0"/>
                </a:cxn>
              </a:cxnLst>
              <a:rect l="0" t="0" r="r" b="b"/>
              <a:pathLst>
                <a:path w="68579">
                  <a:moveTo>
                    <a:pt x="0" y="0"/>
                  </a:moveTo>
                  <a:lnTo>
                    <a:pt x="6858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12" name="object 330"/>
            <p:cNvSpPr/>
            <p:nvPr/>
          </p:nvSpPr>
          <p:spPr bwMode="auto">
            <a:xfrm>
              <a:off x="2594610" y="5050346"/>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10668">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13" name="object 331"/>
            <p:cNvSpPr/>
            <p:nvPr/>
          </p:nvSpPr>
          <p:spPr bwMode="auto">
            <a:xfrm>
              <a:off x="2591182" y="5050346"/>
              <a:ext cx="51435" cy="0"/>
            </a:xfrm>
            <a:custGeom>
              <a:avLst/>
              <a:gdLst>
                <a:gd name="T0" fmla="*/ 0 w 68579"/>
                <a:gd name="T1" fmla="*/ 6866 w 68579"/>
                <a:gd name="T2" fmla="*/ 0 60000 65536"/>
                <a:gd name="T3" fmla="*/ 0 60000 65536"/>
              </a:gdLst>
              <a:ahLst/>
              <a:cxnLst>
                <a:cxn ang="T2">
                  <a:pos x="T0" y="0"/>
                </a:cxn>
                <a:cxn ang="T3">
                  <a:pos x="T1" y="0"/>
                </a:cxn>
              </a:cxnLst>
              <a:rect l="0" t="0" r="r" b="b"/>
              <a:pathLst>
                <a:path w="68579">
                  <a:moveTo>
                    <a:pt x="0" y="0"/>
                  </a:moveTo>
                  <a:lnTo>
                    <a:pt x="68580" y="0"/>
                  </a:lnTo>
                </a:path>
              </a:pathLst>
            </a:custGeom>
            <a:noFill/>
            <a:ln w="19812">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14" name="object 332"/>
            <p:cNvSpPr/>
            <p:nvPr/>
          </p:nvSpPr>
          <p:spPr bwMode="auto">
            <a:xfrm>
              <a:off x="2594610" y="5189219"/>
              <a:ext cx="44767" cy="0"/>
            </a:xfrm>
            <a:custGeom>
              <a:avLst/>
              <a:gdLst>
                <a:gd name="T0" fmla="*/ 0 w 59689"/>
                <a:gd name="T1" fmla="*/ 5951 w 59689"/>
                <a:gd name="T2" fmla="*/ 0 60000 65536"/>
                <a:gd name="T3" fmla="*/ 0 60000 65536"/>
              </a:gdLst>
              <a:ahLst/>
              <a:cxnLst>
                <a:cxn ang="T2">
                  <a:pos x="T0" y="0"/>
                </a:cxn>
                <a:cxn ang="T3">
                  <a:pos x="T1" y="0"/>
                </a:cxn>
              </a:cxnLst>
              <a:rect l="0" t="0" r="r" b="b"/>
              <a:pathLst>
                <a:path w="59689">
                  <a:moveTo>
                    <a:pt x="0" y="0"/>
                  </a:moveTo>
                  <a:lnTo>
                    <a:pt x="59436"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15" name="object 333"/>
            <p:cNvSpPr/>
            <p:nvPr/>
          </p:nvSpPr>
          <p:spPr bwMode="auto">
            <a:xfrm>
              <a:off x="2591182" y="5189219"/>
              <a:ext cx="51435" cy="0"/>
            </a:xfrm>
            <a:custGeom>
              <a:avLst/>
              <a:gdLst>
                <a:gd name="T0" fmla="*/ 0 w 68579"/>
                <a:gd name="T1" fmla="*/ 6866 w 68579"/>
                <a:gd name="T2" fmla="*/ 0 60000 65536"/>
                <a:gd name="T3" fmla="*/ 0 60000 65536"/>
              </a:gdLst>
              <a:ahLst/>
              <a:cxnLst>
                <a:cxn ang="T2">
                  <a:pos x="T0" y="0"/>
                </a:cxn>
                <a:cxn ang="T3">
                  <a:pos x="T1" y="0"/>
                </a:cxn>
              </a:cxnLst>
              <a:rect l="0" t="0" r="r" b="b"/>
              <a:pathLst>
                <a:path w="68579">
                  <a:moveTo>
                    <a:pt x="0" y="0"/>
                  </a:moveTo>
                  <a:lnTo>
                    <a:pt x="6858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16" name="object 334"/>
            <p:cNvSpPr/>
            <p:nvPr/>
          </p:nvSpPr>
          <p:spPr bwMode="auto">
            <a:xfrm>
              <a:off x="2403730" y="5033772"/>
              <a:ext cx="11430" cy="170497"/>
            </a:xfrm>
            <a:custGeom>
              <a:avLst/>
              <a:gdLst>
                <a:gd name="T0" fmla="*/ 0 w 15239"/>
                <a:gd name="T1" fmla="*/ 22733 h 227329"/>
                <a:gd name="T2" fmla="*/ 1526 w 15239"/>
                <a:gd name="T3" fmla="*/ 22733 h 227329"/>
                <a:gd name="T4" fmla="*/ 1526 w 15239"/>
                <a:gd name="T5" fmla="*/ 0 h 227329"/>
                <a:gd name="T6" fmla="*/ 0 w 15239"/>
                <a:gd name="T7" fmla="*/ 0 h 227329"/>
                <a:gd name="T8" fmla="*/ 0 w 15239"/>
                <a:gd name="T9" fmla="*/ 22733 h 227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39" h="227329">
                  <a:moveTo>
                    <a:pt x="0" y="227075"/>
                  </a:moveTo>
                  <a:lnTo>
                    <a:pt x="15239" y="227075"/>
                  </a:lnTo>
                  <a:lnTo>
                    <a:pt x="15239" y="0"/>
                  </a:lnTo>
                  <a:lnTo>
                    <a:pt x="0" y="0"/>
                  </a:lnTo>
                  <a:lnTo>
                    <a:pt x="0" y="22707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217" name="object 335"/>
            <p:cNvSpPr/>
            <p:nvPr/>
          </p:nvSpPr>
          <p:spPr bwMode="auto">
            <a:xfrm>
              <a:off x="2400300" y="5030342"/>
              <a:ext cx="18574" cy="177165"/>
            </a:xfrm>
            <a:custGeom>
              <a:avLst/>
              <a:gdLst>
                <a:gd name="T0" fmla="*/ 0 w 24764"/>
                <a:gd name="T1" fmla="*/ 23649 h 236220"/>
                <a:gd name="T2" fmla="*/ 2441 w 24764"/>
                <a:gd name="T3" fmla="*/ 23649 h 236220"/>
                <a:gd name="T4" fmla="*/ 2441 w 24764"/>
                <a:gd name="T5" fmla="*/ 0 h 236220"/>
                <a:gd name="T6" fmla="*/ 0 w 24764"/>
                <a:gd name="T7" fmla="*/ 0 h 236220"/>
                <a:gd name="T8" fmla="*/ 0 w 24764"/>
                <a:gd name="T9" fmla="*/ 23649 h 236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764" h="236220">
                  <a:moveTo>
                    <a:pt x="0" y="236219"/>
                  </a:moveTo>
                  <a:lnTo>
                    <a:pt x="24384" y="236219"/>
                  </a:lnTo>
                  <a:lnTo>
                    <a:pt x="24384" y="0"/>
                  </a:lnTo>
                  <a:lnTo>
                    <a:pt x="0" y="0"/>
                  </a:lnTo>
                  <a:lnTo>
                    <a:pt x="0" y="236219"/>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218" name="object 336"/>
            <p:cNvSpPr/>
            <p:nvPr/>
          </p:nvSpPr>
          <p:spPr bwMode="auto">
            <a:xfrm>
              <a:off x="2590038" y="5033772"/>
              <a:ext cx="9525" cy="170497"/>
            </a:xfrm>
            <a:custGeom>
              <a:avLst/>
              <a:gdLst>
                <a:gd name="T0" fmla="*/ 0 w 12700"/>
                <a:gd name="T1" fmla="*/ 22733 h 227329"/>
                <a:gd name="T2" fmla="*/ 1221 w 12700"/>
                <a:gd name="T3" fmla="*/ 22733 h 227329"/>
                <a:gd name="T4" fmla="*/ 1221 w 12700"/>
                <a:gd name="T5" fmla="*/ 0 h 227329"/>
                <a:gd name="T6" fmla="*/ 0 w 12700"/>
                <a:gd name="T7" fmla="*/ 0 h 227329"/>
                <a:gd name="T8" fmla="*/ 0 w 12700"/>
                <a:gd name="T9" fmla="*/ 22733 h 227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00" h="227329">
                  <a:moveTo>
                    <a:pt x="0" y="227075"/>
                  </a:moveTo>
                  <a:lnTo>
                    <a:pt x="12191" y="227075"/>
                  </a:lnTo>
                  <a:lnTo>
                    <a:pt x="12191" y="0"/>
                  </a:lnTo>
                  <a:lnTo>
                    <a:pt x="0" y="0"/>
                  </a:lnTo>
                  <a:lnTo>
                    <a:pt x="0" y="227075"/>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219" name="object 337"/>
            <p:cNvSpPr/>
            <p:nvPr/>
          </p:nvSpPr>
          <p:spPr bwMode="auto">
            <a:xfrm>
              <a:off x="2586608" y="5030342"/>
              <a:ext cx="16193" cy="177165"/>
            </a:xfrm>
            <a:custGeom>
              <a:avLst/>
              <a:gdLst>
                <a:gd name="T0" fmla="*/ 0 w 21589"/>
                <a:gd name="T1" fmla="*/ 23649 h 236220"/>
                <a:gd name="T2" fmla="*/ 2137 w 21589"/>
                <a:gd name="T3" fmla="*/ 23649 h 236220"/>
                <a:gd name="T4" fmla="*/ 2137 w 21589"/>
                <a:gd name="T5" fmla="*/ 0 h 236220"/>
                <a:gd name="T6" fmla="*/ 0 w 21589"/>
                <a:gd name="T7" fmla="*/ 0 h 236220"/>
                <a:gd name="T8" fmla="*/ 0 w 21589"/>
                <a:gd name="T9" fmla="*/ 23649 h 236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89" h="236220">
                  <a:moveTo>
                    <a:pt x="0" y="236219"/>
                  </a:moveTo>
                  <a:lnTo>
                    <a:pt x="21335" y="236219"/>
                  </a:lnTo>
                  <a:lnTo>
                    <a:pt x="21335" y="0"/>
                  </a:lnTo>
                  <a:lnTo>
                    <a:pt x="0" y="0"/>
                  </a:lnTo>
                  <a:lnTo>
                    <a:pt x="0" y="236219"/>
                  </a:lnTo>
                  <a:close/>
                </a:path>
              </a:pathLst>
            </a:custGeom>
            <a:solidFill>
              <a:srgbClr val="BEBEB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220" name="object 338"/>
            <p:cNvSpPr/>
            <p:nvPr/>
          </p:nvSpPr>
          <p:spPr bwMode="auto">
            <a:xfrm>
              <a:off x="2403729" y="5034915"/>
              <a:ext cx="195738" cy="0"/>
            </a:xfrm>
            <a:custGeom>
              <a:avLst/>
              <a:gdLst>
                <a:gd name="T0" fmla="*/ 0 w 260985"/>
                <a:gd name="T1" fmla="*/ 26089 w 260985"/>
                <a:gd name="T2" fmla="*/ 0 60000 65536"/>
                <a:gd name="T3" fmla="*/ 0 60000 65536"/>
              </a:gdLst>
              <a:ahLst/>
              <a:cxnLst>
                <a:cxn ang="T2">
                  <a:pos x="T0" y="0"/>
                </a:cxn>
                <a:cxn ang="T3">
                  <a:pos x="T1" y="0"/>
                </a:cxn>
              </a:cxnLst>
              <a:rect l="0" t="0" r="r" b="b"/>
              <a:pathLst>
                <a:path w="260985">
                  <a:moveTo>
                    <a:pt x="0" y="0"/>
                  </a:moveTo>
                  <a:lnTo>
                    <a:pt x="260603"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21" name="object 339"/>
            <p:cNvSpPr/>
            <p:nvPr/>
          </p:nvSpPr>
          <p:spPr bwMode="auto">
            <a:xfrm>
              <a:off x="2400301" y="5034915"/>
              <a:ext cx="202406" cy="0"/>
            </a:xfrm>
            <a:custGeom>
              <a:avLst/>
              <a:gdLst>
                <a:gd name="T0" fmla="*/ 0 w 269875"/>
                <a:gd name="T1" fmla="*/ 27005 w 269875"/>
                <a:gd name="T2" fmla="*/ 0 60000 65536"/>
                <a:gd name="T3" fmla="*/ 0 60000 65536"/>
              </a:gdLst>
              <a:ahLst/>
              <a:cxnLst>
                <a:cxn ang="T2">
                  <a:pos x="T0" y="0"/>
                </a:cxn>
                <a:cxn ang="T3">
                  <a:pos x="T1" y="0"/>
                </a:cxn>
              </a:cxnLst>
              <a:rect l="0" t="0" r="r" b="b"/>
              <a:pathLst>
                <a:path w="269875">
                  <a:moveTo>
                    <a:pt x="0" y="0"/>
                  </a:moveTo>
                  <a:lnTo>
                    <a:pt x="269748"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22" name="object 340"/>
            <p:cNvSpPr/>
            <p:nvPr/>
          </p:nvSpPr>
          <p:spPr bwMode="auto">
            <a:xfrm>
              <a:off x="2403729" y="5204078"/>
              <a:ext cx="195738" cy="0"/>
            </a:xfrm>
            <a:custGeom>
              <a:avLst/>
              <a:gdLst>
                <a:gd name="T0" fmla="*/ 0 w 260985"/>
                <a:gd name="T1" fmla="*/ 26089 w 260985"/>
                <a:gd name="T2" fmla="*/ 0 60000 65536"/>
                <a:gd name="T3" fmla="*/ 0 60000 65536"/>
              </a:gdLst>
              <a:ahLst/>
              <a:cxnLst>
                <a:cxn ang="T2">
                  <a:pos x="T0" y="0"/>
                </a:cxn>
                <a:cxn ang="T3">
                  <a:pos x="T1" y="0"/>
                </a:cxn>
              </a:cxnLst>
              <a:rect l="0" t="0" r="r" b="b"/>
              <a:pathLst>
                <a:path w="260985">
                  <a:moveTo>
                    <a:pt x="0" y="0"/>
                  </a:moveTo>
                  <a:lnTo>
                    <a:pt x="260603" y="0"/>
                  </a:lnTo>
                </a:path>
              </a:pathLst>
            </a:custGeom>
            <a:noFill/>
            <a:ln w="9143">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23" name="object 341"/>
            <p:cNvSpPr/>
            <p:nvPr/>
          </p:nvSpPr>
          <p:spPr bwMode="auto">
            <a:xfrm>
              <a:off x="2400301" y="5204078"/>
              <a:ext cx="202406" cy="0"/>
            </a:xfrm>
            <a:custGeom>
              <a:avLst/>
              <a:gdLst>
                <a:gd name="T0" fmla="*/ 0 w 269875"/>
                <a:gd name="T1" fmla="*/ 27005 w 269875"/>
                <a:gd name="T2" fmla="*/ 0 60000 65536"/>
                <a:gd name="T3" fmla="*/ 0 60000 65536"/>
              </a:gdLst>
              <a:ahLst/>
              <a:cxnLst>
                <a:cxn ang="T2">
                  <a:pos x="T0" y="0"/>
                </a:cxn>
                <a:cxn ang="T3">
                  <a:pos x="T1" y="0"/>
                </a:cxn>
              </a:cxnLst>
              <a:rect l="0" t="0" r="r" b="b"/>
              <a:pathLst>
                <a:path w="269875">
                  <a:moveTo>
                    <a:pt x="0" y="0"/>
                  </a:moveTo>
                  <a:lnTo>
                    <a:pt x="269748"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224" name="object 342"/>
            <p:cNvSpPr txBox="1">
              <a:spLocks noChangeArrowheads="1"/>
            </p:cNvSpPr>
            <p:nvPr/>
          </p:nvSpPr>
          <p:spPr bwMode="auto">
            <a:xfrm>
              <a:off x="-461" y="2023681"/>
              <a:ext cx="9144842" cy="1028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62365" rIns="0" bIns="0">
              <a:spAutoFit/>
            </a:bodyPr>
            <a:lstStyle>
              <a:lvl1pPr marL="4540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ts val="1040"/>
                </a:spcBef>
                <a:buClrTx/>
                <a:buFontTx/>
                <a:buNone/>
              </a:pPr>
              <a:r>
                <a:rPr lang="zh-CN" altLang="zh-CN" sz="4925" b="1">
                  <a:solidFill>
                    <a:srgbClr val="FF0000"/>
                  </a:solidFill>
                  <a:latin typeface="Microsoft JhengHei" panose="020B0604030504040204" pitchFamily="34" charset="-120"/>
                  <a:ea typeface="Microsoft JhengHei" panose="020B0604030504040204" pitchFamily="34" charset="-120"/>
                </a:rPr>
                <a:t>从“六论”视角论网络空间安全观念</a:t>
              </a:r>
              <a:endParaRPr lang="zh-CN" altLang="en-US" sz="4925" b="1">
                <a:solidFill>
                  <a:srgbClr val="FF0000"/>
                </a:solidFill>
                <a:latin typeface="Microsoft JhengHei" panose="020B0604030504040204" pitchFamily="34" charset="-120"/>
                <a:ea typeface="Microsoft JhengHei" panose="020B0604030504040204" pitchFamily="34" charset="-120"/>
              </a:endParaRPr>
            </a:p>
            <a:p>
              <a:pPr>
                <a:spcBef>
                  <a:spcPts val="1040"/>
                </a:spcBef>
                <a:buClrTx/>
                <a:buFontTx/>
                <a:buNone/>
              </a:pPr>
              <a:r>
                <a:rPr lang="en-US" altLang="zh-CN" sz="2215" b="1">
                  <a:solidFill>
                    <a:srgbClr val="0A85FF"/>
                  </a:solidFill>
                  <a:latin typeface="Microsoft JhengHei" panose="020B0604030504040204" pitchFamily="34" charset="-120"/>
                  <a:ea typeface="Microsoft JhengHei" panose="020B0604030504040204" pitchFamily="34" charset="-120"/>
                </a:rPr>
                <a:t>Discussion on Cyberspace Security from the perspective of “6key theories”</a:t>
              </a:r>
              <a:endParaRPr lang="zh-CN" altLang="zh-CN" sz="2215">
                <a:solidFill>
                  <a:srgbClr val="0A85FF"/>
                </a:solidFill>
                <a:latin typeface="Microsoft JhengHei" panose="020B0604030504040204" pitchFamily="34" charset="-120"/>
                <a:ea typeface="Microsoft JhengHei" panose="020B0604030504040204" pitchFamily="34" charset="-120"/>
              </a:endParaRPr>
            </a:p>
          </p:txBody>
        </p:sp>
        <p:sp>
          <p:nvSpPr>
            <p:cNvPr id="166225" name="object 343"/>
            <p:cNvSpPr>
              <a:spLocks noChangeArrowheads="1"/>
            </p:cNvSpPr>
            <p:nvPr/>
          </p:nvSpPr>
          <p:spPr bwMode="auto">
            <a:xfrm>
              <a:off x="1402461" y="3259836"/>
              <a:ext cx="1313878" cy="67265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226" name="object 344"/>
            <p:cNvSpPr txBox="1">
              <a:spLocks noChangeArrowheads="1"/>
            </p:cNvSpPr>
            <p:nvPr/>
          </p:nvSpPr>
          <p:spPr bwMode="auto">
            <a:xfrm>
              <a:off x="1314435" y="3347994"/>
              <a:ext cx="1469415" cy="6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2955" b="1" i="1">
                  <a:solidFill>
                    <a:srgbClr val="F1F1F1"/>
                  </a:solidFill>
                  <a:latin typeface="微软雅黑" panose="020B0503020204020204" charset="-122"/>
                  <a:ea typeface="微软雅黑" panose="020B0503020204020204" charset="-122"/>
                </a:rPr>
                <a:t>方滨兴</a:t>
              </a:r>
              <a:endParaRPr lang="zh-CN" altLang="zh-CN" sz="2955">
                <a:latin typeface="微软雅黑" panose="020B0503020204020204" charset="-122"/>
                <a:ea typeface="微软雅黑" panose="020B0503020204020204" charset="-122"/>
              </a:endParaRPr>
            </a:p>
            <a:p>
              <a:pPr algn="ctr">
                <a:spcBef>
                  <a:spcPts val="525"/>
                </a:spcBef>
                <a:buClrTx/>
                <a:buFontTx/>
                <a:buNone/>
              </a:pPr>
              <a:r>
                <a:rPr lang="zh-CN" altLang="zh-CN" sz="2215" b="1">
                  <a:solidFill>
                    <a:srgbClr val="F1F1F1"/>
                  </a:solidFill>
                  <a:latin typeface="Times New Roman" panose="02020603050405020304" pitchFamily="18" charset="0"/>
                  <a:ea typeface="宋体" panose="02010600030101010101" pitchFamily="2" charset="-122"/>
                  <a:cs typeface="Times New Roman" panose="02020603050405020304" pitchFamily="18" charset="0"/>
                </a:rPr>
                <a:t>FANG Binxing</a:t>
              </a:r>
              <a:endParaRPr lang="zh-CN" altLang="zh-CN" sz="2215">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6227" name="object 345"/>
            <p:cNvSpPr txBox="1">
              <a:spLocks noChangeArrowheads="1"/>
            </p:cNvSpPr>
            <p:nvPr/>
          </p:nvSpPr>
          <p:spPr bwMode="auto">
            <a:xfrm>
              <a:off x="3479185" y="4273139"/>
              <a:ext cx="1236151" cy="393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1600">
                  <a:solidFill>
                    <a:srgbClr val="F1F1F1"/>
                  </a:solidFill>
                  <a:latin typeface="微软雅黑" panose="020B0503020204020204" charset="-122"/>
                  <a:ea typeface="微软雅黑" panose="020B0503020204020204" charset="-122"/>
                </a:rPr>
                <a:t>2017年9月18日</a:t>
              </a:r>
              <a:endParaRPr lang="zh-CN" altLang="zh-CN" sz="1600">
                <a:latin typeface="微软雅黑" panose="020B0503020204020204" charset="-122"/>
                <a:ea typeface="微软雅黑" panose="020B0503020204020204" charset="-122"/>
              </a:endParaRPr>
            </a:p>
            <a:p>
              <a:pPr algn="ctr">
                <a:spcBef>
                  <a:spcPts val="325"/>
                </a:spcBef>
                <a:buClrTx/>
                <a:buFontTx/>
                <a:buNone/>
              </a:pPr>
              <a:r>
                <a:rPr lang="zh-CN" altLang="zh-CN" sz="1600" b="1">
                  <a:solidFill>
                    <a:srgbClr val="F1F1F1"/>
                  </a:solidFill>
                  <a:latin typeface="Times New Roman" panose="02020603050405020304" pitchFamily="18" charset="0"/>
                  <a:ea typeface="宋体" panose="02010600030101010101" pitchFamily="2" charset="-122"/>
                  <a:cs typeface="Times New Roman" panose="02020603050405020304" pitchFamily="18" charset="0"/>
                </a:rPr>
                <a:t>Sep. 18</a:t>
              </a:r>
              <a:r>
                <a:rPr lang="zh-CN" altLang="zh-CN" sz="1600" b="1" baseline="25000">
                  <a:solidFill>
                    <a:srgbClr val="F1F1F1"/>
                  </a:solidFill>
                  <a:latin typeface="Times New Roman" panose="02020603050405020304" pitchFamily="18" charset="0"/>
                  <a:ea typeface="宋体" panose="02010600030101010101" pitchFamily="2" charset="-122"/>
                  <a:cs typeface="Times New Roman" panose="02020603050405020304" pitchFamily="18" charset="0"/>
                </a:rPr>
                <a:t>th</a:t>
              </a:r>
              <a:r>
                <a:rPr lang="zh-CN" altLang="zh-CN" sz="1600" b="1">
                  <a:solidFill>
                    <a:srgbClr val="F1F1F1"/>
                  </a:solidFill>
                  <a:latin typeface="Times New Roman" panose="02020603050405020304" pitchFamily="18" charset="0"/>
                  <a:ea typeface="宋体" panose="02010600030101010101" pitchFamily="2" charset="-122"/>
                  <a:cs typeface="Times New Roman" panose="02020603050405020304" pitchFamily="18" charset="0"/>
                </a:rPr>
                <a:t>, 2017</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6228" name="object 347"/>
            <p:cNvSpPr>
              <a:spLocks noChangeArrowheads="1"/>
            </p:cNvSpPr>
            <p:nvPr/>
          </p:nvSpPr>
          <p:spPr bwMode="auto">
            <a:xfrm>
              <a:off x="4162807" y="3324987"/>
              <a:ext cx="3731322" cy="50806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229" name="object 348"/>
            <p:cNvSpPr txBox="1">
              <a:spLocks noChangeArrowheads="1"/>
            </p:cNvSpPr>
            <p:nvPr/>
          </p:nvSpPr>
          <p:spPr bwMode="auto">
            <a:xfrm>
              <a:off x="3632218" y="3391225"/>
              <a:ext cx="4775227" cy="79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2215" b="1" i="1">
                  <a:solidFill>
                    <a:srgbClr val="F1F1F1"/>
                  </a:solidFill>
                  <a:latin typeface="微软雅黑" panose="020B0503020204020204" charset="-122"/>
                  <a:ea typeface="微软雅黑" panose="020B0503020204020204" charset="-122"/>
                </a:rPr>
                <a:t>中国电子信息产业集团首席科学家</a:t>
              </a:r>
              <a:endParaRPr lang="zh-CN" altLang="zh-CN" sz="2215">
                <a:latin typeface="微软雅黑" panose="020B0503020204020204" charset="-122"/>
                <a:ea typeface="微软雅黑" panose="020B0503020204020204" charset="-122"/>
              </a:endParaRPr>
            </a:p>
            <a:p>
              <a:pPr algn="ctr">
                <a:spcBef>
                  <a:spcPts val="425"/>
                </a:spcBef>
                <a:buClrTx/>
                <a:buFontTx/>
                <a:buNone/>
              </a:pPr>
              <a:r>
                <a:rPr lang="zh-CN" altLang="zh-CN" sz="2215" b="1">
                  <a:solidFill>
                    <a:srgbClr val="F1F1F1"/>
                  </a:solidFill>
                  <a:latin typeface="Times New Roman" panose="02020603050405020304" pitchFamily="18" charset="0"/>
                  <a:ea typeface="宋体" panose="02010600030101010101" pitchFamily="2" charset="-122"/>
                  <a:cs typeface="Times New Roman" panose="02020603050405020304" pitchFamily="18" charset="0"/>
                </a:rPr>
                <a:t>Chief scientist of	China Electronics Corporation</a:t>
              </a:r>
              <a:endParaRPr lang="zh-CN" altLang="zh-CN" sz="2215">
                <a:latin typeface="Times New Roman" panose="02020603050405020304" pitchFamily="18" charset="0"/>
                <a:ea typeface="宋体" panose="02010600030101010101" pitchFamily="2"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object 2"/>
          <p:cNvSpPr/>
          <p:nvPr/>
        </p:nvSpPr>
        <p:spPr bwMode="auto">
          <a:xfrm>
            <a:off x="158262" y="80108"/>
            <a:ext cx="11875477" cy="1191846"/>
          </a:xfrm>
          <a:custGeom>
            <a:avLst/>
            <a:gdLst>
              <a:gd name="T0" fmla="*/ 0 w 12192000"/>
              <a:gd name="T1" fmla="*/ 128032 h 1292860"/>
              <a:gd name="T2" fmla="*/ 1876164 w 12192000"/>
              <a:gd name="T3" fmla="*/ 128032 h 1292860"/>
              <a:gd name="T4" fmla="*/ 1876164 w 12192000"/>
              <a:gd name="T5" fmla="*/ 0 h 1292860"/>
              <a:gd name="T6" fmla="*/ 0 w 12192000"/>
              <a:gd name="T7" fmla="*/ 0 h 1292860"/>
              <a:gd name="T8" fmla="*/ 0 w 12192000"/>
              <a:gd name="T9" fmla="*/ 128032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915" name="object 11"/>
          <p:cNvSpPr/>
          <p:nvPr/>
        </p:nvSpPr>
        <p:spPr bwMode="auto">
          <a:xfrm>
            <a:off x="166078" y="1115646"/>
            <a:ext cx="8399584" cy="0"/>
          </a:xfrm>
          <a:custGeom>
            <a:avLst/>
            <a:gdLst>
              <a:gd name="T0" fmla="*/ 0 w 9101455"/>
              <a:gd name="T1" fmla="*/ 909598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6916" name="object 12"/>
          <p:cNvSpPr/>
          <p:nvPr/>
        </p:nvSpPr>
        <p:spPr bwMode="auto">
          <a:xfrm>
            <a:off x="164123" y="1250462"/>
            <a:ext cx="11869616" cy="2158999"/>
          </a:xfrm>
          <a:custGeom>
            <a:avLst/>
            <a:gdLst>
              <a:gd name="T0" fmla="*/ 0 w 12192000"/>
              <a:gd name="T1" fmla="*/ 1829043 h 1743710"/>
              <a:gd name="T2" fmla="*/ 1868769 w 12192000"/>
              <a:gd name="T3" fmla="*/ 1829043 h 1743710"/>
              <a:gd name="T4" fmla="*/ 1868769 w 12192000"/>
              <a:gd name="T5" fmla="*/ 0 h 1743710"/>
              <a:gd name="T6" fmla="*/ 0 w 12192000"/>
              <a:gd name="T7" fmla="*/ 0 h 1743710"/>
              <a:gd name="T8" fmla="*/ 0 w 12192000"/>
              <a:gd name="T9" fmla="*/ 1829043 h 17437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743710">
                <a:moveTo>
                  <a:pt x="0" y="1743456"/>
                </a:moveTo>
                <a:lnTo>
                  <a:pt x="12192000" y="1743456"/>
                </a:lnTo>
                <a:lnTo>
                  <a:pt x="12192000" y="0"/>
                </a:lnTo>
                <a:lnTo>
                  <a:pt x="0" y="0"/>
                </a:lnTo>
                <a:lnTo>
                  <a:pt x="0" y="1743456"/>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917" name="object 13"/>
          <p:cNvSpPr>
            <a:spLocks noChangeArrowheads="1"/>
          </p:cNvSpPr>
          <p:nvPr/>
        </p:nvSpPr>
        <p:spPr bwMode="auto">
          <a:xfrm>
            <a:off x="164123" y="56662"/>
            <a:ext cx="3868615" cy="986693"/>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918" name="object 14"/>
          <p:cNvSpPr>
            <a:spLocks noChangeArrowheads="1"/>
          </p:cNvSpPr>
          <p:nvPr/>
        </p:nvSpPr>
        <p:spPr bwMode="auto">
          <a:xfrm>
            <a:off x="3421185" y="56662"/>
            <a:ext cx="2016369" cy="98669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919" name="object 15"/>
          <p:cNvSpPr>
            <a:spLocks noGrp="1" noChangeArrowheads="1"/>
          </p:cNvSpPr>
          <p:nvPr>
            <p:ph type="title"/>
          </p:nvPr>
        </p:nvSpPr>
        <p:spPr>
          <a:xfrm>
            <a:off x="422031" y="191673"/>
            <a:ext cx="6391031" cy="447040"/>
          </a:xfrm>
        </p:spPr>
        <p:txBody>
          <a:bodyPr lIns="0" tIns="0" rIns="0" bIns="0">
            <a:spAutoFit/>
          </a:bodyPr>
          <a:lstStyle/>
          <a:p>
            <a:pPr marL="9525">
              <a:lnSpc>
                <a:spcPts val="3490"/>
              </a:lnSpc>
            </a:pPr>
            <a:r>
              <a:rPr lang="zh-CN" altLang="zh-CN"/>
              <a:t>网络空间安全是</a:t>
            </a:r>
            <a:r>
              <a:rPr lang="zh-CN" altLang="zh-CN" i="1">
                <a:latin typeface="微软雅黑" panose="020B0503020204020204" charset="-122"/>
                <a:ea typeface="微软雅黑" panose="020B0503020204020204" charset="-122"/>
              </a:rPr>
              <a:t>实践论</a:t>
            </a:r>
            <a:endParaRPr lang="zh-CN" altLang="zh-CN" i="1">
              <a:latin typeface="微软雅黑" panose="020B0503020204020204" charset="-122"/>
              <a:ea typeface="微软雅黑" panose="020B0503020204020204" charset="-122"/>
            </a:endParaRPr>
          </a:p>
        </p:txBody>
      </p:sp>
      <p:sp>
        <p:nvSpPr>
          <p:cNvPr id="166920" name="object 16"/>
          <p:cNvSpPr>
            <a:spLocks noChangeArrowheads="1"/>
          </p:cNvSpPr>
          <p:nvPr/>
        </p:nvSpPr>
        <p:spPr bwMode="auto">
          <a:xfrm>
            <a:off x="228601" y="576385"/>
            <a:ext cx="7074876"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921" name="object 17"/>
          <p:cNvSpPr>
            <a:spLocks noChangeArrowheads="1"/>
          </p:cNvSpPr>
          <p:nvPr/>
        </p:nvSpPr>
        <p:spPr bwMode="auto">
          <a:xfrm>
            <a:off x="6871678" y="576385"/>
            <a:ext cx="1736969"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922" name="object 18"/>
          <p:cNvSpPr txBox="1">
            <a:spLocks noChangeArrowheads="1"/>
          </p:cNvSpPr>
          <p:nvPr/>
        </p:nvSpPr>
        <p:spPr bwMode="auto">
          <a:xfrm>
            <a:off x="422031" y="687754"/>
            <a:ext cx="797169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Practice</a:t>
            </a:r>
            <a:endParaRPr lang="zh-CN" altLang="zh-CN" sz="2585">
              <a:latin typeface="微软雅黑" panose="020B0503020204020204" charset="-122"/>
              <a:ea typeface="微软雅黑" panose="020B0503020204020204" charset="-122"/>
            </a:endParaRPr>
          </a:p>
        </p:txBody>
      </p:sp>
      <p:sp>
        <p:nvSpPr>
          <p:cNvPr id="166923" name="object 19"/>
          <p:cNvSpPr txBox="1"/>
          <p:nvPr/>
        </p:nvSpPr>
        <p:spPr bwMode="gray">
          <a:xfrm>
            <a:off x="523631" y="1375508"/>
            <a:ext cx="11332308" cy="172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6130" indent="-227330">
              <a:spcBef>
                <a:spcPct val="20000"/>
              </a:spcBef>
              <a:buChar char="»"/>
              <a:defRPr sz="2000">
                <a:solidFill>
                  <a:schemeClr val="tx1"/>
                </a:solidFill>
                <a:latin typeface="Arial" panose="020B0604020202020204" pitchFamily="34" charset="0"/>
                <a:ea typeface="黑体" panose="02010609060101010101" pitchFamily="49" charset="-122"/>
              </a:defRPr>
            </a:lvl5pPr>
            <a:lvl6pPr marL="25133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05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77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49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Font typeface="Wingdings" panose="05000000000000000000" pitchFamily="2" charset="2"/>
              <a:buNone/>
            </a:pPr>
            <a:r>
              <a:rPr lang="zh-CN" altLang="en-US" sz="2460" b="1" i="1">
                <a:solidFill>
                  <a:srgbClr val="001F5F"/>
                </a:solidFill>
                <a:latin typeface="微软雅黑" panose="020B0503020204020204" charset="-122"/>
                <a:ea typeface="宋体" panose="02010600030101010101" pitchFamily="2" charset="-122"/>
                <a:cs typeface="微软雅黑" panose="020B0503020204020204" charset="-122"/>
              </a:rPr>
              <a:t>       安全“是开放的而不是封闭的”，只有立足开放环境，在实践中不断进取，网络安全能力才会不断提高。</a:t>
            </a:r>
            <a:endParaRPr lang="zh-CN" altLang="en-US" sz="2460" b="1" i="1">
              <a:solidFill>
                <a:srgbClr val="001F5F"/>
              </a:solidFill>
              <a:latin typeface="微软雅黑" panose="020B0503020204020204" charset="-122"/>
              <a:ea typeface="宋体" panose="02010600030101010101" pitchFamily="2" charset="-122"/>
              <a:cs typeface="微软雅黑" panose="020B0503020204020204" charset="-122"/>
            </a:endParaRPr>
          </a:p>
          <a:p>
            <a:pPr>
              <a:buFont typeface="Wingdings" panose="05000000000000000000" pitchFamily="2" charset="2"/>
              <a:buNone/>
            </a:pPr>
            <a:endParaRPr lang="zh-CN" altLang="en-US" sz="1845">
              <a:latin typeface="微软雅黑" panose="020B0503020204020204" charset="-122"/>
              <a:ea typeface="宋体" panose="02010600030101010101" pitchFamily="2" charset="-122"/>
              <a:cs typeface="微软雅黑" panose="020B0503020204020204" charset="-122"/>
            </a:endParaRPr>
          </a:p>
          <a:p>
            <a:pPr>
              <a:buFont typeface="Wingdings" panose="05000000000000000000" pitchFamily="2" charset="2"/>
              <a:buNone/>
            </a:pPr>
            <a:r>
              <a:rPr lang="en-US" altLang="zh-CN" sz="1845">
                <a:latin typeface="微软雅黑" panose="020B0503020204020204" charset="-122"/>
                <a:ea typeface="宋体" panose="02010600030101010101" pitchFamily="2" charset="-122"/>
                <a:cs typeface="微软雅黑" panose="020B0503020204020204" charset="-122"/>
              </a:rPr>
              <a:t>Security should be </a:t>
            </a:r>
            <a:r>
              <a:rPr lang="en-US" altLang="zh-CN" sz="1845">
                <a:ea typeface="宋体" panose="02010600030101010101" pitchFamily="2" charset="-122"/>
                <a:cs typeface="微软雅黑" panose="020B0503020204020204" charset="-122"/>
              </a:rPr>
              <a:t>open rather than closed</a:t>
            </a:r>
            <a:r>
              <a:rPr lang="en-US" altLang="zh-CN" sz="1845">
                <a:latin typeface="微软雅黑" panose="020B0503020204020204" charset="-122"/>
                <a:ea typeface="宋体" panose="02010600030101010101" pitchFamily="2" charset="-122"/>
                <a:cs typeface="微软雅黑" panose="020B0503020204020204" charset="-122"/>
              </a:rPr>
              <a:t>. Improving cybersecurity capabilities  continuously depends on the open environments, as well as keeping making progress  in practice.</a:t>
            </a:r>
            <a:endParaRPr lang="en-US" altLang="zh-CN" sz="1845">
              <a:latin typeface="微软雅黑" panose="020B0503020204020204" charset="-122"/>
              <a:ea typeface="宋体" panose="02010600030101010101" pitchFamily="2" charset="-122"/>
              <a:cs typeface="微软雅黑" panose="020B0503020204020204" charset="-122"/>
            </a:endParaRPr>
          </a:p>
        </p:txBody>
      </p:sp>
      <p:grpSp>
        <p:nvGrpSpPr>
          <p:cNvPr id="166924" name="组合 21"/>
          <p:cNvGrpSpPr/>
          <p:nvPr/>
        </p:nvGrpSpPr>
        <p:grpSpPr bwMode="auto">
          <a:xfrm>
            <a:off x="158262" y="3444631"/>
            <a:ext cx="11875477" cy="3528646"/>
            <a:chOff x="128464" y="3442295"/>
            <a:chExt cx="9144000" cy="2867025"/>
          </a:xfrm>
        </p:grpSpPr>
        <p:sp>
          <p:nvSpPr>
            <p:cNvPr id="166925" name="object 3"/>
            <p:cNvSpPr/>
            <p:nvPr/>
          </p:nvSpPr>
          <p:spPr bwMode="auto">
            <a:xfrm>
              <a:off x="128464" y="3442295"/>
              <a:ext cx="9144000" cy="2867025"/>
            </a:xfrm>
            <a:custGeom>
              <a:avLst/>
              <a:gdLst>
                <a:gd name="T0" fmla="*/ 0 w 12192000"/>
                <a:gd name="T1" fmla="*/ 382651 h 3822700"/>
                <a:gd name="T2" fmla="*/ 1220577 w 12192000"/>
                <a:gd name="T3" fmla="*/ 382651 h 3822700"/>
                <a:gd name="T4" fmla="*/ 1220577 w 12192000"/>
                <a:gd name="T5" fmla="*/ 0 h 3822700"/>
                <a:gd name="T6" fmla="*/ 0 w 12192000"/>
                <a:gd name="T7" fmla="*/ 0 h 3822700"/>
                <a:gd name="T8" fmla="*/ 0 w 12192000"/>
                <a:gd name="T9" fmla="*/ 382651 h 3822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822700">
                  <a:moveTo>
                    <a:pt x="0" y="3822191"/>
                  </a:moveTo>
                  <a:lnTo>
                    <a:pt x="12192000" y="3822191"/>
                  </a:lnTo>
                  <a:lnTo>
                    <a:pt x="12192000" y="0"/>
                  </a:lnTo>
                  <a:lnTo>
                    <a:pt x="0" y="0"/>
                  </a:lnTo>
                  <a:lnTo>
                    <a:pt x="0" y="3822191"/>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6926" name="object 20"/>
            <p:cNvSpPr txBox="1">
              <a:spLocks noChangeArrowheads="1"/>
            </p:cNvSpPr>
            <p:nvPr/>
          </p:nvSpPr>
          <p:spPr bwMode="auto">
            <a:xfrm>
              <a:off x="764843" y="5482233"/>
              <a:ext cx="7880269" cy="73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indent="6159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en-US" altLang="zh-CN" sz="1845">
                  <a:solidFill>
                    <a:srgbClr val="FFFF00"/>
                  </a:solidFill>
                  <a:latin typeface="微软雅黑 Light" panose="020B0502040204020203" pitchFamily="34" charset="-122"/>
                  <a:ea typeface="微软雅黑 Light" panose="020B0502040204020203" pitchFamily="34" charset="-122"/>
                </a:rPr>
                <a:t>      </a:t>
              </a:r>
              <a:r>
                <a:rPr lang="zh-CN" altLang="zh-CN" sz="1845">
                  <a:solidFill>
                    <a:srgbClr val="FFFF00"/>
                  </a:solidFill>
                  <a:latin typeface="微软雅黑 Light" panose="020B0502040204020203" pitchFamily="34" charset="-122"/>
                  <a:ea typeface="微软雅黑 Light" panose="020B0502040204020203" pitchFamily="34" charset="-122"/>
                </a:rPr>
                <a:t>CSAW是美国规模最大的学</a:t>
              </a:r>
              <a:r>
                <a:rPr lang="zh-CN" altLang="en-US" sz="1845">
                  <a:solidFill>
                    <a:srgbClr val="FFFF00"/>
                  </a:solidFill>
                  <a:latin typeface="微软雅黑 Light" panose="020B0502040204020203" pitchFamily="34" charset="-122"/>
                  <a:ea typeface="微软雅黑 Light" panose="020B0502040204020203" pitchFamily="34" charset="-122"/>
                </a:rPr>
                <a:t>生</a:t>
              </a:r>
              <a:r>
                <a:rPr lang="zh-CN" altLang="zh-CN" sz="1845">
                  <a:solidFill>
                    <a:srgbClr val="FFFF00"/>
                  </a:solidFill>
                  <a:latin typeface="微软雅黑 Light" panose="020B0502040204020203" pitchFamily="34" charset="-122"/>
                  <a:ea typeface="微软雅黑 Light" panose="020B0502040204020203" pitchFamily="34" charset="-122"/>
                </a:rPr>
                <a:t>网络空间安全竞赛,已经成功举办13届  </a:t>
              </a:r>
              <a:endParaRPr lang="zh-CN" altLang="en-US" sz="1845">
                <a:solidFill>
                  <a:srgbClr val="FFFF00"/>
                </a:solidFill>
                <a:latin typeface="微软雅黑 Light" panose="020B0502040204020203" pitchFamily="34" charset="-122"/>
                <a:ea typeface="微软雅黑 Light" panose="020B0502040204020203" pitchFamily="34" charset="-122"/>
              </a:endParaRPr>
            </a:p>
            <a:p>
              <a:pPr>
                <a:spcBef>
                  <a:spcPct val="0"/>
                </a:spcBef>
                <a:buClrTx/>
                <a:buFontTx/>
                <a:buNone/>
              </a:pPr>
              <a:r>
                <a:rPr lang="zh-CN" altLang="zh-CN" sz="1845">
                  <a:solidFill>
                    <a:srgbClr val="FFFF00"/>
                  </a:solidFill>
                  <a:latin typeface="微软雅黑 Light" panose="020B0502040204020203" pitchFamily="34" charset="-122"/>
                  <a:ea typeface="微软雅黑 Light" panose="020B0502040204020203" pitchFamily="34" charset="-122"/>
                </a:rPr>
                <a:t>CSAW (Cyber Security Awareness Week) is the largest student cyber-security</a:t>
              </a:r>
              <a:endParaRPr lang="zh-CN" altLang="zh-CN" sz="1845">
                <a:latin typeface="微软雅黑 Light" panose="020B0502040204020203" pitchFamily="34" charset="-122"/>
                <a:ea typeface="微软雅黑 Light" panose="020B0502040204020203" pitchFamily="34" charset="-122"/>
              </a:endParaRPr>
            </a:p>
            <a:p>
              <a:pPr>
                <a:spcBef>
                  <a:spcPct val="0"/>
                </a:spcBef>
                <a:buClrTx/>
                <a:buFontTx/>
                <a:buNone/>
              </a:pPr>
              <a:r>
                <a:rPr lang="zh-CN" altLang="zh-CN" sz="1845">
                  <a:solidFill>
                    <a:srgbClr val="FFFF00"/>
                  </a:solidFill>
                  <a:latin typeface="微软雅黑 Light" panose="020B0502040204020203" pitchFamily="34" charset="-122"/>
                  <a:ea typeface="微软雅黑 Light" panose="020B0502040204020203" pitchFamily="34" charset="-122"/>
                </a:rPr>
                <a:t>contest in US 13 annual CSAW competitions have been held </a:t>
              </a:r>
              <a:r>
                <a:rPr lang="zh-CN" altLang="zh-CN" sz="2215">
                  <a:solidFill>
                    <a:srgbClr val="FFFF00"/>
                  </a:solidFill>
                  <a:latin typeface="微软雅黑 Light" panose="020B0502040204020203" pitchFamily="34" charset="-122"/>
                  <a:ea typeface="微软雅黑 Light" panose="020B0502040204020203" pitchFamily="34" charset="-122"/>
                </a:rPr>
                <a:t>successfully.</a:t>
              </a:r>
              <a:endParaRPr lang="zh-CN" altLang="zh-CN" sz="2215">
                <a:latin typeface="微软雅黑 Light" panose="020B0502040204020203" pitchFamily="34" charset="-122"/>
                <a:ea typeface="微软雅黑 Light" panose="020B0502040204020203" pitchFamily="34" charset="-122"/>
              </a:endParaRPr>
            </a:p>
          </p:txBody>
        </p:sp>
        <p:sp>
          <p:nvSpPr>
            <p:cNvPr id="166927" name="object 21"/>
            <p:cNvSpPr>
              <a:spLocks noChangeArrowheads="1"/>
            </p:cNvSpPr>
            <p:nvPr/>
          </p:nvSpPr>
          <p:spPr bwMode="auto">
            <a:xfrm>
              <a:off x="426215" y="3534110"/>
              <a:ext cx="2803779" cy="178536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928" name="object 22"/>
            <p:cNvSpPr>
              <a:spLocks noChangeArrowheads="1"/>
            </p:cNvSpPr>
            <p:nvPr/>
          </p:nvSpPr>
          <p:spPr bwMode="auto">
            <a:xfrm>
              <a:off x="3298575" y="3534110"/>
              <a:ext cx="2803779" cy="1785366"/>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6929" name="object 23"/>
            <p:cNvSpPr>
              <a:spLocks noChangeArrowheads="1"/>
            </p:cNvSpPr>
            <p:nvPr/>
          </p:nvSpPr>
          <p:spPr bwMode="auto">
            <a:xfrm>
              <a:off x="6169791" y="3534110"/>
              <a:ext cx="2803779" cy="1785366"/>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9" name="object 24"/>
            <p:cNvSpPr txBox="1"/>
            <p:nvPr/>
          </p:nvSpPr>
          <p:spPr>
            <a:xfrm>
              <a:off x="426344" y="4832945"/>
              <a:ext cx="2804280" cy="470535"/>
            </a:xfrm>
            <a:prstGeom prst="rect">
              <a:avLst/>
            </a:prstGeom>
            <a:solidFill>
              <a:srgbClr val="F1F1F1"/>
            </a:solidFill>
          </p:spPr>
          <p:txBody>
            <a:bodyPr lIns="0" tIns="31067" rIns="0" bIns="0">
              <a:spAutoFit/>
            </a:bodyPr>
            <a:lstStyle/>
            <a:p>
              <a:pPr marL="635" algn="ctr">
                <a:lnSpc>
                  <a:spcPts val="2140"/>
                </a:lnSpc>
                <a:spcBef>
                  <a:spcPts val="200"/>
                </a:spcBef>
                <a:defRPr/>
              </a:pPr>
              <a:r>
                <a:rPr sz="100" b="1" spc="-11" dirty="0">
                  <a:solidFill>
                    <a:srgbClr val="C00000"/>
                  </a:solidFill>
                  <a:latin typeface="Calibri" panose="020F0502020204030204"/>
                  <a:cs typeface="Calibri" panose="020F0502020204030204"/>
                </a:rPr>
                <a:t>CSAW’15</a:t>
              </a:r>
              <a:r>
                <a:rPr sz="100" b="1" spc="-11" dirty="0">
                  <a:solidFill>
                    <a:srgbClr val="C00000"/>
                  </a:solidFill>
                  <a:latin typeface="宋体" panose="02010600030101010101" pitchFamily="2" charset="-122"/>
                  <a:cs typeface="宋体" panose="02010600030101010101" pitchFamily="2" charset="-122"/>
                </a:rPr>
                <a:t>比赛现场</a:t>
              </a:r>
              <a:endParaRPr sz="100">
                <a:latin typeface="宋体" panose="02010600030101010101" pitchFamily="2" charset="-122"/>
                <a:cs typeface="宋体" panose="02010600030101010101" pitchFamily="2" charset="-122"/>
              </a:endParaRPr>
            </a:p>
            <a:p>
              <a:pPr marL="1270" algn="ctr">
                <a:lnSpc>
                  <a:spcPts val="2140"/>
                </a:lnSpc>
                <a:defRPr/>
              </a:pPr>
              <a:r>
                <a:rPr sz="100" spc="-11" dirty="0">
                  <a:solidFill>
                    <a:srgbClr val="C00000"/>
                  </a:solidFill>
                  <a:latin typeface="Calibri" panose="020F0502020204030204"/>
                  <a:cs typeface="Calibri" panose="020F0502020204030204"/>
                </a:rPr>
                <a:t>CSAW’15</a:t>
              </a:r>
              <a:r>
                <a:rPr sz="100" spc="-82" dirty="0">
                  <a:solidFill>
                    <a:srgbClr val="C00000"/>
                  </a:solidFill>
                  <a:latin typeface="Calibri" panose="020F0502020204030204"/>
                  <a:cs typeface="Calibri" panose="020F0502020204030204"/>
                </a:rPr>
                <a:t> </a:t>
              </a:r>
              <a:r>
                <a:rPr sz="100" dirty="0">
                  <a:solidFill>
                    <a:srgbClr val="C00000"/>
                  </a:solidFill>
                  <a:latin typeface="Calibri" panose="020F0502020204030204"/>
                  <a:cs typeface="Calibri" panose="020F0502020204030204"/>
                </a:rPr>
                <a:t>Competition</a:t>
              </a:r>
              <a:endParaRPr sz="100">
                <a:latin typeface="Calibri" panose="020F0502020204030204"/>
                <a:cs typeface="Calibri" panose="020F0502020204030204"/>
              </a:endParaRPr>
            </a:p>
          </p:txBody>
        </p:sp>
        <p:sp>
          <p:nvSpPr>
            <p:cNvPr id="20" name="object 25"/>
            <p:cNvSpPr txBox="1"/>
            <p:nvPr/>
          </p:nvSpPr>
          <p:spPr>
            <a:xfrm>
              <a:off x="3298323" y="4832945"/>
              <a:ext cx="2804280" cy="470535"/>
            </a:xfrm>
            <a:prstGeom prst="rect">
              <a:avLst/>
            </a:prstGeom>
            <a:solidFill>
              <a:srgbClr val="F1F1F1"/>
            </a:solidFill>
          </p:spPr>
          <p:txBody>
            <a:bodyPr lIns="0" tIns="31067" rIns="0" bIns="0">
              <a:spAutoFit/>
            </a:bodyPr>
            <a:lstStyle/>
            <a:p>
              <a:pPr algn="ctr">
                <a:lnSpc>
                  <a:spcPts val="2140"/>
                </a:lnSpc>
                <a:spcBef>
                  <a:spcPts val="200"/>
                </a:spcBef>
                <a:defRPr/>
              </a:pPr>
              <a:r>
                <a:rPr sz="100" b="1" spc="-11" dirty="0">
                  <a:solidFill>
                    <a:srgbClr val="C00000"/>
                  </a:solidFill>
                  <a:latin typeface="Calibri" panose="020F0502020204030204"/>
                  <a:cs typeface="Calibri" panose="020F0502020204030204"/>
                </a:rPr>
                <a:t>CSAW’15</a:t>
              </a:r>
              <a:r>
                <a:rPr sz="100" b="1" spc="-11" dirty="0">
                  <a:solidFill>
                    <a:srgbClr val="C00000"/>
                  </a:solidFill>
                  <a:latin typeface="宋体" panose="02010600030101010101" pitchFamily="2" charset="-122"/>
                  <a:cs typeface="宋体" panose="02010600030101010101" pitchFamily="2" charset="-122"/>
                </a:rPr>
                <a:t>比赛现场</a:t>
              </a:r>
              <a:endParaRPr sz="100">
                <a:latin typeface="宋体" panose="02010600030101010101" pitchFamily="2" charset="-122"/>
                <a:cs typeface="宋体" panose="02010600030101010101" pitchFamily="2" charset="-122"/>
              </a:endParaRPr>
            </a:p>
            <a:p>
              <a:pPr algn="ctr">
                <a:lnSpc>
                  <a:spcPts val="2140"/>
                </a:lnSpc>
                <a:defRPr/>
              </a:pPr>
              <a:r>
                <a:rPr sz="100" spc="-11" dirty="0">
                  <a:solidFill>
                    <a:srgbClr val="C00000"/>
                  </a:solidFill>
                  <a:latin typeface="Calibri" panose="020F0502020204030204"/>
                  <a:cs typeface="Calibri" panose="020F0502020204030204"/>
                </a:rPr>
                <a:t>CSAW’15</a:t>
              </a:r>
              <a:r>
                <a:rPr sz="100" spc="-53" dirty="0">
                  <a:solidFill>
                    <a:srgbClr val="C00000"/>
                  </a:solidFill>
                  <a:latin typeface="Calibri" panose="020F0502020204030204"/>
                  <a:cs typeface="Calibri" panose="020F0502020204030204"/>
                </a:rPr>
                <a:t> </a:t>
              </a:r>
              <a:r>
                <a:rPr sz="100" spc="-4" dirty="0">
                  <a:solidFill>
                    <a:srgbClr val="C00000"/>
                  </a:solidFill>
                  <a:latin typeface="Calibri" panose="020F0502020204030204"/>
                  <a:cs typeface="Calibri" panose="020F0502020204030204"/>
                </a:rPr>
                <a:t>Competition</a:t>
              </a:r>
              <a:endParaRPr sz="100">
                <a:latin typeface="Calibri" panose="020F0502020204030204"/>
                <a:cs typeface="Calibri" panose="020F0502020204030204"/>
              </a:endParaRPr>
            </a:p>
          </p:txBody>
        </p:sp>
        <p:sp>
          <p:nvSpPr>
            <p:cNvPr id="21" name="object 26"/>
            <p:cNvSpPr txBox="1"/>
            <p:nvPr/>
          </p:nvSpPr>
          <p:spPr>
            <a:xfrm>
              <a:off x="6170304" y="4832945"/>
              <a:ext cx="2804280" cy="470535"/>
            </a:xfrm>
            <a:prstGeom prst="rect">
              <a:avLst/>
            </a:prstGeom>
            <a:solidFill>
              <a:srgbClr val="F1F1F1"/>
            </a:solidFill>
          </p:spPr>
          <p:txBody>
            <a:bodyPr lIns="0" tIns="31067" rIns="0" bIns="0">
              <a:spAutoFit/>
            </a:bodyPr>
            <a:lstStyle/>
            <a:p>
              <a:pPr marL="1270" algn="ctr">
                <a:lnSpc>
                  <a:spcPts val="2140"/>
                </a:lnSpc>
                <a:spcBef>
                  <a:spcPts val="200"/>
                </a:spcBef>
                <a:defRPr/>
              </a:pPr>
              <a:r>
                <a:rPr sz="100" b="1" spc="-11" dirty="0">
                  <a:solidFill>
                    <a:srgbClr val="C00000"/>
                  </a:solidFill>
                  <a:latin typeface="Calibri" panose="020F0502020204030204"/>
                  <a:cs typeface="Calibri" panose="020F0502020204030204"/>
                </a:rPr>
                <a:t>CSAW’15</a:t>
              </a:r>
              <a:r>
                <a:rPr sz="100" b="1" spc="-11" dirty="0">
                  <a:solidFill>
                    <a:srgbClr val="C00000"/>
                  </a:solidFill>
                  <a:latin typeface="宋体" panose="02010600030101010101" pitchFamily="2" charset="-122"/>
                  <a:cs typeface="宋体" panose="02010600030101010101" pitchFamily="2" charset="-122"/>
                </a:rPr>
                <a:t>获奖者</a:t>
              </a:r>
              <a:endParaRPr sz="100">
                <a:latin typeface="宋体" panose="02010600030101010101" pitchFamily="2" charset="-122"/>
                <a:cs typeface="宋体" panose="02010600030101010101" pitchFamily="2" charset="-122"/>
              </a:endParaRPr>
            </a:p>
            <a:p>
              <a:pPr algn="ctr">
                <a:lnSpc>
                  <a:spcPts val="2140"/>
                </a:lnSpc>
                <a:defRPr/>
              </a:pPr>
              <a:r>
                <a:rPr sz="100" dirty="0">
                  <a:solidFill>
                    <a:srgbClr val="C00000"/>
                  </a:solidFill>
                  <a:latin typeface="Calibri" panose="020F0502020204030204"/>
                  <a:cs typeface="Calibri" panose="020F0502020204030204"/>
                </a:rPr>
                <a:t>A </a:t>
              </a:r>
              <a:r>
                <a:rPr sz="100" spc="-11" dirty="0">
                  <a:solidFill>
                    <a:srgbClr val="C00000"/>
                  </a:solidFill>
                  <a:latin typeface="Calibri" panose="020F0502020204030204"/>
                  <a:cs typeface="Calibri" panose="020F0502020204030204"/>
                </a:rPr>
                <a:t>CSAW’15</a:t>
              </a:r>
              <a:r>
                <a:rPr sz="100" spc="-94" dirty="0">
                  <a:solidFill>
                    <a:srgbClr val="C00000"/>
                  </a:solidFill>
                  <a:latin typeface="Calibri" panose="020F0502020204030204"/>
                  <a:cs typeface="Calibri" panose="020F0502020204030204"/>
                </a:rPr>
                <a:t> </a:t>
              </a:r>
              <a:r>
                <a:rPr sz="100" dirty="0">
                  <a:solidFill>
                    <a:srgbClr val="C00000"/>
                  </a:solidFill>
                  <a:latin typeface="Calibri" panose="020F0502020204030204"/>
                  <a:cs typeface="Calibri" panose="020F0502020204030204"/>
                </a:rPr>
                <a:t>Winner</a:t>
              </a:r>
              <a:endParaRPr sz="100">
                <a:latin typeface="Calibri" panose="020F0502020204030204"/>
                <a:cs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object 2"/>
          <p:cNvSpPr/>
          <p:nvPr/>
        </p:nvSpPr>
        <p:spPr bwMode="auto">
          <a:xfrm>
            <a:off x="-5862" y="-25400"/>
            <a:ext cx="12197862" cy="1185985"/>
          </a:xfrm>
          <a:custGeom>
            <a:avLst/>
            <a:gdLst>
              <a:gd name="T0" fmla="*/ 0 w 12192000"/>
              <a:gd name="T1" fmla="*/ 123081 h 1292860"/>
              <a:gd name="T2" fmla="*/ 2324514 w 12192000"/>
              <a:gd name="T3" fmla="*/ 123081 h 1292860"/>
              <a:gd name="T4" fmla="*/ 2324514 w 12192000"/>
              <a:gd name="T5" fmla="*/ 0 h 1292860"/>
              <a:gd name="T6" fmla="*/ 0 w 12192000"/>
              <a:gd name="T7" fmla="*/ 0 h 1292860"/>
              <a:gd name="T8" fmla="*/ 0 w 12192000"/>
              <a:gd name="T9" fmla="*/ 123081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7939" name="object 3"/>
          <p:cNvSpPr/>
          <p:nvPr/>
        </p:nvSpPr>
        <p:spPr bwMode="auto">
          <a:xfrm>
            <a:off x="0" y="3464169"/>
            <a:ext cx="12197862" cy="3507154"/>
          </a:xfrm>
          <a:custGeom>
            <a:avLst/>
            <a:gdLst>
              <a:gd name="T0" fmla="*/ 0 w 12192000"/>
              <a:gd name="T1" fmla="*/ 364398 h 3822700"/>
              <a:gd name="T2" fmla="*/ 2324514 w 12192000"/>
              <a:gd name="T3" fmla="*/ 364398 h 3822700"/>
              <a:gd name="T4" fmla="*/ 2324514 w 12192000"/>
              <a:gd name="T5" fmla="*/ 0 h 3822700"/>
              <a:gd name="T6" fmla="*/ 0 w 12192000"/>
              <a:gd name="T7" fmla="*/ 0 h 3822700"/>
              <a:gd name="T8" fmla="*/ 0 w 12192000"/>
              <a:gd name="T9" fmla="*/ 364398 h 3822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822700">
                <a:moveTo>
                  <a:pt x="0" y="3822191"/>
                </a:moveTo>
                <a:lnTo>
                  <a:pt x="12192000" y="3822191"/>
                </a:lnTo>
                <a:lnTo>
                  <a:pt x="12192000" y="0"/>
                </a:lnTo>
                <a:lnTo>
                  <a:pt x="0" y="0"/>
                </a:lnTo>
                <a:lnTo>
                  <a:pt x="0" y="3822191"/>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7940" name="object 11"/>
          <p:cNvSpPr/>
          <p:nvPr/>
        </p:nvSpPr>
        <p:spPr bwMode="auto">
          <a:xfrm flipV="1">
            <a:off x="0" y="1037492"/>
            <a:ext cx="9106878" cy="56662"/>
          </a:xfrm>
          <a:custGeom>
            <a:avLst/>
            <a:gdLst>
              <a:gd name="T0" fmla="*/ 0 w 9101455"/>
              <a:gd name="T1" fmla="*/ 0 h 45719"/>
              <a:gd name="T2" fmla="*/ 1736772 w 9101455"/>
              <a:gd name="T3" fmla="*/ 0 h 45719"/>
              <a:gd name="T4" fmla="*/ 0 60000 65536"/>
              <a:gd name="T5" fmla="*/ 0 60000 65536"/>
            </a:gdLst>
            <a:ahLst/>
            <a:cxnLst>
              <a:cxn ang="T4">
                <a:pos x="T0" y="T1"/>
              </a:cxn>
              <a:cxn ang="T5">
                <a:pos x="T2" y="T3"/>
              </a:cxn>
            </a:cxnLst>
            <a:rect l="0" t="0" r="r" b="b"/>
            <a:pathLst>
              <a:path w="9101455" h="45719">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7941" name="object 12"/>
          <p:cNvSpPr/>
          <p:nvPr/>
        </p:nvSpPr>
        <p:spPr bwMode="auto">
          <a:xfrm>
            <a:off x="0" y="1354015"/>
            <a:ext cx="12197862" cy="1600201"/>
          </a:xfrm>
          <a:custGeom>
            <a:avLst/>
            <a:gdLst>
              <a:gd name="T0" fmla="*/ 0 w 12192000"/>
              <a:gd name="T1" fmla="*/ 166571 h 1743710"/>
              <a:gd name="T2" fmla="*/ 2324514 w 12192000"/>
              <a:gd name="T3" fmla="*/ 166571 h 1743710"/>
              <a:gd name="T4" fmla="*/ 2324514 w 12192000"/>
              <a:gd name="T5" fmla="*/ 0 h 1743710"/>
              <a:gd name="T6" fmla="*/ 0 w 12192000"/>
              <a:gd name="T7" fmla="*/ 0 h 1743710"/>
              <a:gd name="T8" fmla="*/ 0 w 12192000"/>
              <a:gd name="T9" fmla="*/ 166571 h 17437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743710">
                <a:moveTo>
                  <a:pt x="0" y="1743456"/>
                </a:moveTo>
                <a:lnTo>
                  <a:pt x="12192000" y="1743456"/>
                </a:lnTo>
                <a:lnTo>
                  <a:pt x="12192000" y="0"/>
                </a:lnTo>
                <a:lnTo>
                  <a:pt x="0" y="0"/>
                </a:lnTo>
                <a:lnTo>
                  <a:pt x="0" y="1743456"/>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7942" name="object 13"/>
          <p:cNvSpPr>
            <a:spLocks noChangeArrowheads="1"/>
          </p:cNvSpPr>
          <p:nvPr/>
        </p:nvSpPr>
        <p:spPr bwMode="auto">
          <a:xfrm>
            <a:off x="0" y="-27353"/>
            <a:ext cx="4192954" cy="978876"/>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7943" name="object 14"/>
          <p:cNvSpPr>
            <a:spLocks noChangeArrowheads="1"/>
          </p:cNvSpPr>
          <p:nvPr/>
        </p:nvSpPr>
        <p:spPr bwMode="auto">
          <a:xfrm>
            <a:off x="3257062" y="-27353"/>
            <a:ext cx="2186353" cy="978876"/>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7944" name="object 15"/>
          <p:cNvSpPr>
            <a:spLocks noGrp="1" noChangeArrowheads="1"/>
          </p:cNvSpPr>
          <p:nvPr>
            <p:ph type="title"/>
          </p:nvPr>
        </p:nvSpPr>
        <p:spPr>
          <a:xfrm>
            <a:off x="257908" y="109611"/>
            <a:ext cx="6201508" cy="447040"/>
          </a:xfrm>
        </p:spPr>
        <p:txBody>
          <a:bodyPr lIns="0" tIns="0" rIns="0" bIns="0">
            <a:spAutoFit/>
          </a:bodyPr>
          <a:lstStyle/>
          <a:p>
            <a:pPr marL="9525">
              <a:lnSpc>
                <a:spcPts val="3490"/>
              </a:lnSpc>
            </a:pPr>
            <a:r>
              <a:rPr lang="zh-CN" altLang="zh-CN"/>
              <a:t>网络空间安全是</a:t>
            </a:r>
            <a:r>
              <a:rPr lang="zh-CN" altLang="zh-CN" i="1">
                <a:latin typeface="微软雅黑" panose="020B0503020204020204" charset="-122"/>
                <a:ea typeface="微软雅黑" panose="020B0503020204020204" charset="-122"/>
              </a:rPr>
              <a:t>实践论</a:t>
            </a:r>
            <a:endParaRPr lang="zh-CN" altLang="zh-CN" i="1">
              <a:latin typeface="微软雅黑" panose="020B0503020204020204" charset="-122"/>
              <a:ea typeface="微软雅黑" panose="020B0503020204020204" charset="-122"/>
            </a:endParaRPr>
          </a:p>
        </p:txBody>
      </p:sp>
      <p:sp>
        <p:nvSpPr>
          <p:cNvPr id="167945" name="object 16"/>
          <p:cNvSpPr>
            <a:spLocks noChangeArrowheads="1"/>
          </p:cNvSpPr>
          <p:nvPr/>
        </p:nvSpPr>
        <p:spPr bwMode="auto">
          <a:xfrm>
            <a:off x="64478" y="498231"/>
            <a:ext cx="7666892" cy="72097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7946" name="object 17"/>
          <p:cNvSpPr>
            <a:spLocks noChangeArrowheads="1"/>
          </p:cNvSpPr>
          <p:nvPr/>
        </p:nvSpPr>
        <p:spPr bwMode="auto">
          <a:xfrm>
            <a:off x="6707554" y="498231"/>
            <a:ext cx="1881553" cy="72097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7947" name="object 18"/>
          <p:cNvSpPr txBox="1">
            <a:spLocks noChangeArrowheads="1"/>
          </p:cNvSpPr>
          <p:nvPr/>
        </p:nvSpPr>
        <p:spPr bwMode="auto">
          <a:xfrm>
            <a:off x="257908" y="605693"/>
            <a:ext cx="8639908" cy="30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Practice</a:t>
            </a:r>
            <a:endParaRPr lang="zh-CN" altLang="zh-CN" sz="2585">
              <a:latin typeface="微软雅黑" panose="020B0503020204020204" charset="-122"/>
              <a:ea typeface="微软雅黑" panose="020B0503020204020204" charset="-122"/>
            </a:endParaRPr>
          </a:p>
        </p:txBody>
      </p:sp>
      <p:sp>
        <p:nvSpPr>
          <p:cNvPr id="167948" name="object 19"/>
          <p:cNvSpPr txBox="1"/>
          <p:nvPr/>
        </p:nvSpPr>
        <p:spPr bwMode="gray">
          <a:xfrm>
            <a:off x="0" y="1357923"/>
            <a:ext cx="12197862" cy="158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6130" indent="-227330">
              <a:spcBef>
                <a:spcPct val="20000"/>
              </a:spcBef>
              <a:buChar char="»"/>
              <a:defRPr sz="2000">
                <a:solidFill>
                  <a:schemeClr val="tx1"/>
                </a:solidFill>
                <a:latin typeface="Arial" panose="020B0604020202020204" pitchFamily="34" charset="0"/>
                <a:ea typeface="黑体" panose="02010609060101010101" pitchFamily="49" charset="-122"/>
              </a:defRPr>
            </a:lvl5pPr>
            <a:lvl6pPr marL="25133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05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77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4930" indent="-22733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Font typeface="Wingdings" panose="05000000000000000000" pitchFamily="2" charset="2"/>
              <a:buNone/>
            </a:pPr>
            <a:r>
              <a:rPr lang="zh-CN" altLang="en-US" sz="2460" b="1" i="1">
                <a:solidFill>
                  <a:srgbClr val="001F5F"/>
                </a:solidFill>
                <a:latin typeface="微软雅黑" panose="020B0503020204020204" charset="-122"/>
                <a:ea typeface="宋体" panose="02010600030101010101" pitchFamily="2" charset="-122"/>
                <a:cs typeface="微软雅黑" panose="020B0503020204020204" charset="-122"/>
              </a:rPr>
              <a:t>      安全“是开放的而不是封闭的”，只有立足开放环境，在实践中不断进取，网络安全能力才会不断提高。</a:t>
            </a:r>
            <a:endParaRPr lang="zh-CN" altLang="en-US" sz="2460" b="1" i="1">
              <a:solidFill>
                <a:srgbClr val="001F5F"/>
              </a:solidFill>
              <a:latin typeface="微软雅黑" panose="020B0503020204020204" charset="-122"/>
              <a:ea typeface="宋体" panose="02010600030101010101" pitchFamily="2" charset="-122"/>
              <a:cs typeface="微软雅黑" panose="020B0503020204020204" charset="-122"/>
            </a:endParaRPr>
          </a:p>
          <a:p>
            <a:pPr>
              <a:lnSpc>
                <a:spcPts val="1625"/>
              </a:lnSpc>
              <a:spcBef>
                <a:spcPts val="800"/>
              </a:spcBef>
              <a:buFont typeface="Wingdings" panose="05000000000000000000" pitchFamily="2" charset="2"/>
              <a:buNone/>
            </a:pPr>
            <a:endParaRPr lang="zh-CN" altLang="en-US" sz="1845">
              <a:latin typeface="微软雅黑" panose="020B0503020204020204" charset="-122"/>
              <a:ea typeface="宋体" panose="02010600030101010101" pitchFamily="2" charset="-122"/>
              <a:cs typeface="微软雅黑" panose="020B0503020204020204" charset="-122"/>
            </a:endParaRPr>
          </a:p>
          <a:p>
            <a:pPr>
              <a:lnSpc>
                <a:spcPts val="1625"/>
              </a:lnSpc>
              <a:spcBef>
                <a:spcPts val="800"/>
              </a:spcBef>
              <a:buFont typeface="Wingdings" panose="05000000000000000000" pitchFamily="2" charset="2"/>
              <a:buNone/>
            </a:pPr>
            <a:r>
              <a:rPr lang="en-US" altLang="zh-CN" sz="1845">
                <a:latin typeface="微软雅黑" panose="020B0503020204020204" charset="-122"/>
                <a:ea typeface="宋体" panose="02010600030101010101" pitchFamily="2" charset="-122"/>
                <a:cs typeface="微软雅黑" panose="020B0503020204020204" charset="-122"/>
              </a:rPr>
              <a:t>Security should be </a:t>
            </a:r>
            <a:r>
              <a:rPr lang="en-US" altLang="zh-CN" sz="1845">
                <a:ea typeface="宋体" panose="02010600030101010101" pitchFamily="2" charset="-122"/>
                <a:cs typeface="微软雅黑" panose="020B0503020204020204" charset="-122"/>
              </a:rPr>
              <a:t>open rather than closed</a:t>
            </a:r>
            <a:r>
              <a:rPr lang="en-US" altLang="zh-CN" sz="1845">
                <a:latin typeface="微软雅黑" panose="020B0503020204020204" charset="-122"/>
                <a:ea typeface="宋体" panose="02010600030101010101" pitchFamily="2" charset="-122"/>
                <a:cs typeface="微软雅黑" panose="020B0503020204020204" charset="-122"/>
              </a:rPr>
              <a:t>. Improving cybersecurity capabilities  continuously depends on the open environments, as well as keeping making progress  in practice.</a:t>
            </a:r>
            <a:endParaRPr lang="en-US" altLang="zh-CN" sz="1845">
              <a:latin typeface="微软雅黑" panose="020B0503020204020204" charset="-122"/>
              <a:ea typeface="宋体" panose="02010600030101010101" pitchFamily="2" charset="-122"/>
              <a:cs typeface="微软雅黑" panose="020B0503020204020204" charset="-122"/>
            </a:endParaRPr>
          </a:p>
        </p:txBody>
      </p:sp>
      <p:sp>
        <p:nvSpPr>
          <p:cNvPr id="167949" name="object 20"/>
          <p:cNvSpPr>
            <a:spLocks noChangeArrowheads="1"/>
          </p:cNvSpPr>
          <p:nvPr/>
        </p:nvSpPr>
        <p:spPr bwMode="auto">
          <a:xfrm>
            <a:off x="359508" y="3514969"/>
            <a:ext cx="3741616" cy="21844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7950" name="object 21"/>
          <p:cNvSpPr>
            <a:spLocks noChangeArrowheads="1"/>
          </p:cNvSpPr>
          <p:nvPr/>
        </p:nvSpPr>
        <p:spPr bwMode="auto">
          <a:xfrm>
            <a:off x="3895969" y="3514969"/>
            <a:ext cx="3739662" cy="218440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7951" name="object 22"/>
          <p:cNvSpPr>
            <a:spLocks noChangeArrowheads="1"/>
          </p:cNvSpPr>
          <p:nvPr/>
        </p:nvSpPr>
        <p:spPr bwMode="auto">
          <a:xfrm>
            <a:off x="7428523" y="3514969"/>
            <a:ext cx="3741616" cy="2184400"/>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7952" name="object 23"/>
          <p:cNvSpPr/>
          <p:nvPr/>
        </p:nvSpPr>
        <p:spPr bwMode="auto">
          <a:xfrm>
            <a:off x="359508" y="5101492"/>
            <a:ext cx="3741616" cy="763954"/>
          </a:xfrm>
          <a:custGeom>
            <a:avLst/>
            <a:gdLst>
              <a:gd name="T0" fmla="*/ 0 w 3738879"/>
              <a:gd name="T1" fmla="*/ 79486 h 832485"/>
              <a:gd name="T2" fmla="*/ 714186 w 3738879"/>
              <a:gd name="T3" fmla="*/ 79486 h 832485"/>
              <a:gd name="T4" fmla="*/ 714186 w 3738879"/>
              <a:gd name="T5" fmla="*/ 0 h 832485"/>
              <a:gd name="T6" fmla="*/ 0 w 3738879"/>
              <a:gd name="T7" fmla="*/ 0 h 832485"/>
              <a:gd name="T8" fmla="*/ 0 w 3738879"/>
              <a:gd name="T9" fmla="*/ 79486 h 8324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38879" h="832485">
                <a:moveTo>
                  <a:pt x="0" y="832103"/>
                </a:moveTo>
                <a:lnTo>
                  <a:pt x="3738372" y="832103"/>
                </a:lnTo>
                <a:lnTo>
                  <a:pt x="3738372" y="0"/>
                </a:lnTo>
                <a:lnTo>
                  <a:pt x="0" y="0"/>
                </a:lnTo>
                <a:lnTo>
                  <a:pt x="0" y="832103"/>
                </a:lnTo>
                <a:close/>
              </a:path>
            </a:pathLst>
          </a:custGeom>
          <a:solidFill>
            <a:srgbClr val="F1F1F1">
              <a:alpha val="69803"/>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7953" name="object 24"/>
          <p:cNvSpPr/>
          <p:nvPr/>
        </p:nvSpPr>
        <p:spPr bwMode="auto">
          <a:xfrm>
            <a:off x="3895969" y="5101492"/>
            <a:ext cx="3739662" cy="763954"/>
          </a:xfrm>
          <a:custGeom>
            <a:avLst/>
            <a:gdLst>
              <a:gd name="T0" fmla="*/ 0 w 3738879"/>
              <a:gd name="T1" fmla="*/ 79486 h 832485"/>
              <a:gd name="T2" fmla="*/ 711207 w 3738879"/>
              <a:gd name="T3" fmla="*/ 79486 h 832485"/>
              <a:gd name="T4" fmla="*/ 711207 w 3738879"/>
              <a:gd name="T5" fmla="*/ 0 h 832485"/>
              <a:gd name="T6" fmla="*/ 0 w 3738879"/>
              <a:gd name="T7" fmla="*/ 0 h 832485"/>
              <a:gd name="T8" fmla="*/ 0 w 3738879"/>
              <a:gd name="T9" fmla="*/ 79486 h 8324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38879" h="832485">
                <a:moveTo>
                  <a:pt x="0" y="832103"/>
                </a:moveTo>
                <a:lnTo>
                  <a:pt x="3738372" y="832103"/>
                </a:lnTo>
                <a:lnTo>
                  <a:pt x="3738372" y="0"/>
                </a:lnTo>
                <a:lnTo>
                  <a:pt x="0" y="0"/>
                </a:lnTo>
                <a:lnTo>
                  <a:pt x="0" y="832103"/>
                </a:lnTo>
                <a:close/>
              </a:path>
            </a:pathLst>
          </a:custGeom>
          <a:solidFill>
            <a:srgbClr val="F1F1F1">
              <a:alpha val="69803"/>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7954" name="object 25"/>
          <p:cNvSpPr/>
          <p:nvPr/>
        </p:nvSpPr>
        <p:spPr bwMode="auto">
          <a:xfrm>
            <a:off x="7428523" y="5101492"/>
            <a:ext cx="3741616" cy="763954"/>
          </a:xfrm>
          <a:custGeom>
            <a:avLst/>
            <a:gdLst>
              <a:gd name="T0" fmla="*/ 0 w 3738879"/>
              <a:gd name="T1" fmla="*/ 79486 h 832485"/>
              <a:gd name="T2" fmla="*/ 714186 w 3738879"/>
              <a:gd name="T3" fmla="*/ 79486 h 832485"/>
              <a:gd name="T4" fmla="*/ 714186 w 3738879"/>
              <a:gd name="T5" fmla="*/ 0 h 832485"/>
              <a:gd name="T6" fmla="*/ 0 w 3738879"/>
              <a:gd name="T7" fmla="*/ 0 h 832485"/>
              <a:gd name="T8" fmla="*/ 0 w 3738879"/>
              <a:gd name="T9" fmla="*/ 79486 h 8324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38879" h="832485">
                <a:moveTo>
                  <a:pt x="0" y="832103"/>
                </a:moveTo>
                <a:lnTo>
                  <a:pt x="3738372" y="832103"/>
                </a:lnTo>
                <a:lnTo>
                  <a:pt x="3738372" y="0"/>
                </a:lnTo>
                <a:lnTo>
                  <a:pt x="0" y="0"/>
                </a:lnTo>
                <a:lnTo>
                  <a:pt x="0" y="832103"/>
                </a:lnTo>
                <a:close/>
              </a:path>
            </a:pathLst>
          </a:custGeom>
          <a:solidFill>
            <a:srgbClr val="F1F1F1">
              <a:alpha val="69803"/>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7955" name="object 26"/>
          <p:cNvSpPr txBox="1">
            <a:spLocks noChangeArrowheads="1"/>
          </p:cNvSpPr>
          <p:nvPr/>
        </p:nvSpPr>
        <p:spPr bwMode="auto">
          <a:xfrm>
            <a:off x="0" y="3516924"/>
            <a:ext cx="12197862" cy="321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34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234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234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2340">
              <a:latin typeface="Times New Roman" panose="02020603050405020304" pitchFamily="18" charset="0"/>
              <a:ea typeface="宋体" panose="02010600030101010101" pitchFamily="2" charset="-122"/>
              <a:cs typeface="Times New Roman" panose="02020603050405020304" pitchFamily="18" charset="0"/>
            </a:endParaRPr>
          </a:p>
          <a:p>
            <a:pPr>
              <a:lnSpc>
                <a:spcPts val="2140"/>
              </a:lnSpc>
              <a:spcBef>
                <a:spcPts val="1465"/>
              </a:spcBef>
              <a:buClrTx/>
              <a:buFontTx/>
              <a:buNone/>
            </a:pPr>
            <a:r>
              <a:rPr lang="zh-CN" altLang="zh-CN" sz="2215" b="1">
                <a:solidFill>
                  <a:srgbClr val="C00000"/>
                </a:solidFill>
                <a:latin typeface="Calibri" panose="020F0502020204030204" pitchFamily="34" charset="0"/>
                <a:ea typeface="宋体" panose="02010600030101010101" pitchFamily="2" charset="-122"/>
                <a:cs typeface="Calibri" panose="020F0502020204030204" pitchFamily="34" charset="0"/>
              </a:rPr>
              <a:t>CSAW’15</a:t>
            </a:r>
            <a:r>
              <a:rPr lang="zh-CN" altLang="zh-CN" sz="2215" b="1">
                <a:solidFill>
                  <a:srgbClr val="C00000"/>
                </a:solidFill>
                <a:latin typeface="宋体" panose="02010600030101010101" pitchFamily="2" charset="-122"/>
                <a:ea typeface="宋体" panose="02010600030101010101" pitchFamily="2" charset="-122"/>
              </a:rPr>
              <a:t>比赛现场	</a:t>
            </a:r>
            <a:r>
              <a:rPr lang="zh-CN" altLang="zh-CN" sz="2215" b="1">
                <a:solidFill>
                  <a:srgbClr val="C00000"/>
                </a:solidFill>
                <a:latin typeface="Calibri" panose="020F0502020204030204" pitchFamily="34" charset="0"/>
                <a:ea typeface="宋体" panose="02010600030101010101" pitchFamily="2" charset="-122"/>
              </a:rPr>
              <a:t>CSAW’15</a:t>
            </a:r>
            <a:r>
              <a:rPr lang="zh-CN" altLang="zh-CN" sz="2215" b="1">
                <a:solidFill>
                  <a:srgbClr val="C00000"/>
                </a:solidFill>
                <a:latin typeface="宋体" panose="02010600030101010101" pitchFamily="2" charset="-122"/>
                <a:ea typeface="宋体" panose="02010600030101010101" pitchFamily="2" charset="-122"/>
              </a:rPr>
              <a:t>比赛现场	</a:t>
            </a:r>
            <a:r>
              <a:rPr lang="zh-CN" altLang="zh-CN" sz="2215" b="1">
                <a:solidFill>
                  <a:srgbClr val="C00000"/>
                </a:solidFill>
                <a:latin typeface="Calibri" panose="020F0502020204030204" pitchFamily="34" charset="0"/>
                <a:ea typeface="宋体" panose="02010600030101010101" pitchFamily="2" charset="-122"/>
              </a:rPr>
              <a:t>CSAW’15</a:t>
            </a:r>
            <a:r>
              <a:rPr lang="zh-CN" altLang="zh-CN" sz="2215" b="1">
                <a:solidFill>
                  <a:srgbClr val="C00000"/>
                </a:solidFill>
                <a:latin typeface="宋体" panose="02010600030101010101" pitchFamily="2" charset="-122"/>
                <a:ea typeface="宋体" panose="02010600030101010101" pitchFamily="2" charset="-122"/>
              </a:rPr>
              <a:t>获奖者</a:t>
            </a:r>
            <a:endParaRPr lang="zh-CN" altLang="zh-CN" sz="2215">
              <a:latin typeface="宋体" panose="02010600030101010101" pitchFamily="2" charset="-122"/>
              <a:ea typeface="宋体" panose="02010600030101010101" pitchFamily="2" charset="-122"/>
            </a:endParaRPr>
          </a:p>
          <a:p>
            <a:pPr>
              <a:lnSpc>
                <a:spcPts val="2140"/>
              </a:lnSpc>
              <a:spcBef>
                <a:spcPct val="0"/>
              </a:spcBef>
              <a:buClrTx/>
              <a:buFontTx/>
              <a:buNone/>
            </a:pPr>
            <a:r>
              <a:rPr lang="zh-CN" altLang="zh-CN" sz="2215">
                <a:solidFill>
                  <a:srgbClr val="C00000"/>
                </a:solidFill>
                <a:latin typeface="Calibri" panose="020F0502020204030204" pitchFamily="34" charset="0"/>
                <a:ea typeface="宋体" panose="02010600030101010101" pitchFamily="2" charset="-122"/>
              </a:rPr>
              <a:t>CSAW’15 Competition	CSAW’15 Competition	A CSAW’15 Winner</a:t>
            </a:r>
            <a:endParaRPr lang="zh-CN" altLang="zh-CN" sz="2215">
              <a:latin typeface="Calibri" panose="020F0502020204030204" pitchFamily="34" charset="0"/>
              <a:ea typeface="宋体" panose="02010600030101010101" pitchFamily="2" charset="-122"/>
            </a:endParaRPr>
          </a:p>
          <a:p>
            <a:pPr>
              <a:spcBef>
                <a:spcPts val="625"/>
              </a:spcBef>
              <a:buClrTx/>
              <a:buFontTx/>
              <a:buNone/>
            </a:pPr>
            <a:r>
              <a:rPr lang="zh-CN" altLang="zh-CN" sz="2215">
                <a:solidFill>
                  <a:srgbClr val="FFFF00"/>
                </a:solidFill>
                <a:latin typeface="微软雅黑 Light" panose="020B0502040204020203" pitchFamily="34" charset="-122"/>
                <a:ea typeface="微软雅黑 Light" panose="020B0502040204020203" pitchFamily="34" charset="-122"/>
              </a:rPr>
              <a:t>CSAW是美国规模最大的学Th网络空间安全竞赛,已经成功举办13届  CSAW (Cyber Security Awareness Week) is the largest student cyber-security</a:t>
            </a:r>
            <a:endParaRPr lang="zh-CN" altLang="zh-CN" sz="2215">
              <a:latin typeface="微软雅黑 Light" panose="020B0502040204020203" pitchFamily="34" charset="-122"/>
              <a:ea typeface="微软雅黑 Light" panose="020B0502040204020203" pitchFamily="34" charset="-122"/>
            </a:endParaRPr>
          </a:p>
          <a:p>
            <a:pPr>
              <a:lnSpc>
                <a:spcPts val="2140"/>
              </a:lnSpc>
              <a:spcBef>
                <a:spcPct val="0"/>
              </a:spcBef>
              <a:buClrTx/>
              <a:buFontTx/>
              <a:buNone/>
            </a:pPr>
            <a:r>
              <a:rPr lang="zh-CN" altLang="zh-CN" sz="2215">
                <a:solidFill>
                  <a:srgbClr val="FFFF00"/>
                </a:solidFill>
                <a:latin typeface="微软雅黑 Light" panose="020B0502040204020203" pitchFamily="34" charset="-122"/>
                <a:ea typeface="微软雅黑 Light" panose="020B0502040204020203" pitchFamily="34" charset="-122"/>
              </a:rPr>
              <a:t>contest in US 13 annual CSAW competitions have been held successfully.</a:t>
            </a:r>
            <a:endParaRPr lang="zh-CN" altLang="zh-CN" sz="2215">
              <a:latin typeface="微软雅黑 Light" panose="020B0502040204020203" pitchFamily="34" charset="-122"/>
              <a:ea typeface="微软雅黑 Light" panose="020B0502040204020203" pitchFamily="34" charset="-122"/>
            </a:endParaRPr>
          </a:p>
        </p:txBody>
      </p:sp>
      <p:sp>
        <p:nvSpPr>
          <p:cNvPr id="167956" name="object 27"/>
          <p:cNvSpPr>
            <a:spLocks noChangeArrowheads="1"/>
          </p:cNvSpPr>
          <p:nvPr/>
        </p:nvSpPr>
        <p:spPr bwMode="auto">
          <a:xfrm>
            <a:off x="0" y="3464169"/>
            <a:ext cx="12197862" cy="3479801"/>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object 2"/>
          <p:cNvSpPr/>
          <p:nvPr/>
        </p:nvSpPr>
        <p:spPr bwMode="auto">
          <a:xfrm>
            <a:off x="82062" y="128954"/>
            <a:ext cx="12039600" cy="1568938"/>
          </a:xfrm>
          <a:custGeom>
            <a:avLst/>
            <a:gdLst>
              <a:gd name="T0" fmla="*/ 0 w 12192000"/>
              <a:gd name="T1" fmla="*/ 1154519 h 1292860"/>
              <a:gd name="T2" fmla="*/ 2093913 w 12192000"/>
              <a:gd name="T3" fmla="*/ 1154519 h 1292860"/>
              <a:gd name="T4" fmla="*/ 2093913 w 12192000"/>
              <a:gd name="T5" fmla="*/ 0 h 1292860"/>
              <a:gd name="T6" fmla="*/ 0 w 12192000"/>
              <a:gd name="T7" fmla="*/ 0 h 1292860"/>
              <a:gd name="T8" fmla="*/ 0 w 12192000"/>
              <a:gd name="T9" fmla="*/ 1154519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8963" name="object 2"/>
          <p:cNvSpPr/>
          <p:nvPr/>
        </p:nvSpPr>
        <p:spPr bwMode="auto">
          <a:xfrm>
            <a:off x="87924" y="2901462"/>
            <a:ext cx="12033738" cy="3895969"/>
          </a:xfrm>
          <a:custGeom>
            <a:avLst/>
            <a:gdLst>
              <a:gd name="T0" fmla="*/ 0 w 12192000"/>
              <a:gd name="T1" fmla="*/ 422812 h 4220209"/>
              <a:gd name="T2" fmla="*/ 2085771 w 12192000"/>
              <a:gd name="T3" fmla="*/ 422812 h 4220209"/>
              <a:gd name="T4" fmla="*/ 2085771 w 12192000"/>
              <a:gd name="T5" fmla="*/ 0 h 4220209"/>
              <a:gd name="T6" fmla="*/ 0 w 12192000"/>
              <a:gd name="T7" fmla="*/ 0 h 4220209"/>
              <a:gd name="T8" fmla="*/ 0 w 12192000"/>
              <a:gd name="T9" fmla="*/ 422812 h 42202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4220209">
                <a:moveTo>
                  <a:pt x="0" y="4219955"/>
                </a:moveTo>
                <a:lnTo>
                  <a:pt x="12192000" y="4219955"/>
                </a:lnTo>
                <a:lnTo>
                  <a:pt x="12192000" y="0"/>
                </a:lnTo>
                <a:lnTo>
                  <a:pt x="0" y="0"/>
                </a:lnTo>
                <a:lnTo>
                  <a:pt x="0" y="4219955"/>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8964" name="object 10"/>
          <p:cNvSpPr/>
          <p:nvPr/>
        </p:nvSpPr>
        <p:spPr bwMode="auto">
          <a:xfrm>
            <a:off x="89877" y="1385277"/>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8965" name="object 11"/>
          <p:cNvSpPr>
            <a:spLocks noChangeArrowheads="1"/>
          </p:cNvSpPr>
          <p:nvPr/>
        </p:nvSpPr>
        <p:spPr bwMode="auto">
          <a:xfrm>
            <a:off x="468923" y="3051908"/>
            <a:ext cx="2391508" cy="3516923"/>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8966" name="object 12"/>
          <p:cNvSpPr/>
          <p:nvPr/>
        </p:nvSpPr>
        <p:spPr bwMode="auto">
          <a:xfrm>
            <a:off x="87924" y="1656862"/>
            <a:ext cx="12033738" cy="1254369"/>
          </a:xfrm>
          <a:custGeom>
            <a:avLst/>
            <a:gdLst>
              <a:gd name="T0" fmla="*/ 0 w 12192000"/>
              <a:gd name="T1" fmla="*/ 136452 h 1358264"/>
              <a:gd name="T2" fmla="*/ 2085771 w 12192000"/>
              <a:gd name="T3" fmla="*/ 136452 h 1358264"/>
              <a:gd name="T4" fmla="*/ 2085771 w 12192000"/>
              <a:gd name="T5" fmla="*/ 0 h 1358264"/>
              <a:gd name="T6" fmla="*/ 0 w 12192000"/>
              <a:gd name="T7" fmla="*/ 0 h 1358264"/>
              <a:gd name="T8" fmla="*/ 0 w 12192000"/>
              <a:gd name="T9" fmla="*/ 136452 h 135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358264">
                <a:moveTo>
                  <a:pt x="0" y="1357884"/>
                </a:moveTo>
                <a:lnTo>
                  <a:pt x="12192000" y="1357884"/>
                </a:lnTo>
                <a:lnTo>
                  <a:pt x="12192000" y="0"/>
                </a:lnTo>
                <a:lnTo>
                  <a:pt x="0" y="0"/>
                </a:lnTo>
                <a:lnTo>
                  <a:pt x="0" y="1357884"/>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8967" name="object 15"/>
          <p:cNvSpPr>
            <a:spLocks noGrp="1" noChangeArrowheads="1"/>
          </p:cNvSpPr>
          <p:nvPr>
            <p:ph type="title"/>
          </p:nvPr>
        </p:nvSpPr>
        <p:spPr>
          <a:xfrm>
            <a:off x="480646" y="518942"/>
            <a:ext cx="8016631"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相对论</a:t>
            </a:r>
            <a:endParaRPr lang="zh-CN" altLang="zh-CN" i="1">
              <a:solidFill>
                <a:srgbClr val="FF0000"/>
              </a:solidFill>
              <a:latin typeface="微软雅黑" panose="020B0503020204020204" charset="-122"/>
              <a:ea typeface="微软雅黑" panose="020B0503020204020204" charset="-122"/>
            </a:endParaRPr>
          </a:p>
        </p:txBody>
      </p:sp>
      <p:sp>
        <p:nvSpPr>
          <p:cNvPr id="168968" name="object 16"/>
          <p:cNvSpPr>
            <a:spLocks noChangeArrowheads="1"/>
          </p:cNvSpPr>
          <p:nvPr/>
        </p:nvSpPr>
        <p:spPr bwMode="auto">
          <a:xfrm>
            <a:off x="287216" y="859693"/>
            <a:ext cx="7072923" cy="7268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8969" name="object 17"/>
          <p:cNvSpPr>
            <a:spLocks noChangeArrowheads="1"/>
          </p:cNvSpPr>
          <p:nvPr/>
        </p:nvSpPr>
        <p:spPr bwMode="auto">
          <a:xfrm>
            <a:off x="6930293" y="859693"/>
            <a:ext cx="1971430"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8970" name="object 18"/>
          <p:cNvSpPr txBox="1">
            <a:spLocks noChangeArrowheads="1"/>
          </p:cNvSpPr>
          <p:nvPr/>
        </p:nvSpPr>
        <p:spPr bwMode="auto">
          <a:xfrm>
            <a:off x="478693" y="973016"/>
            <a:ext cx="8208107" cy="30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Relativity</a:t>
            </a:r>
            <a:endParaRPr lang="zh-CN" altLang="zh-CN" sz="2585">
              <a:latin typeface="微软雅黑" panose="020B0503020204020204" charset="-122"/>
              <a:ea typeface="微软雅黑" panose="020B0503020204020204" charset="-122"/>
            </a:endParaRPr>
          </a:p>
        </p:txBody>
      </p:sp>
      <p:sp>
        <p:nvSpPr>
          <p:cNvPr id="168971" name="object 19"/>
          <p:cNvSpPr/>
          <p:nvPr/>
        </p:nvSpPr>
        <p:spPr bwMode="auto">
          <a:xfrm>
            <a:off x="2854570" y="2942493"/>
            <a:ext cx="8399584" cy="2325077"/>
          </a:xfrm>
          <a:custGeom>
            <a:avLst/>
            <a:gdLst>
              <a:gd name="T0" fmla="*/ 69343 w 9100185"/>
              <a:gd name="T1" fmla="*/ 36465 h 2520315"/>
              <a:gd name="T2" fmla="*/ 71480 w 9100185"/>
              <a:gd name="T3" fmla="*/ 27355 h 2520315"/>
              <a:gd name="T4" fmla="*/ 75516 w 9100185"/>
              <a:gd name="T5" fmla="*/ 19147 h 2520315"/>
              <a:gd name="T6" fmla="*/ 81202 w 9100185"/>
              <a:gd name="T7" fmla="*/ 12088 h 2520315"/>
              <a:gd name="T8" fmla="*/ 88291 w 9100185"/>
              <a:gd name="T9" fmla="*/ 6425 h 2520315"/>
              <a:gd name="T10" fmla="*/ 96533 w 9100185"/>
              <a:gd name="T11" fmla="*/ 2406 h 2520315"/>
              <a:gd name="T12" fmla="*/ 105680 w 9100185"/>
              <a:gd name="T13" fmla="*/ 277 h 2520315"/>
              <a:gd name="T14" fmla="*/ 209301 w 9100185"/>
              <a:gd name="T15" fmla="*/ 0 h 2520315"/>
              <a:gd name="T16" fmla="*/ 869035 w 9100185"/>
              <a:gd name="T17" fmla="*/ 0 h 2520315"/>
              <a:gd name="T18" fmla="*/ 878542 w 9100185"/>
              <a:gd name="T19" fmla="*/ 1090 h 2520315"/>
              <a:gd name="T20" fmla="*/ 887267 w 9100185"/>
              <a:gd name="T21" fmla="*/ 4195 h 2520315"/>
              <a:gd name="T22" fmla="*/ 894963 w 9100185"/>
              <a:gd name="T23" fmla="*/ 9067 h 2520315"/>
              <a:gd name="T24" fmla="*/ 901382 w 9100185"/>
              <a:gd name="T25" fmla="*/ 15458 h 2520315"/>
              <a:gd name="T26" fmla="*/ 906274 w 9100185"/>
              <a:gd name="T27" fmla="*/ 23123 h 2520315"/>
              <a:gd name="T28" fmla="*/ 909392 w 9100185"/>
              <a:gd name="T29" fmla="*/ 31813 h 2520315"/>
              <a:gd name="T30" fmla="*/ 910486 w 9100185"/>
              <a:gd name="T31" fmla="*/ 41280 h 2520315"/>
              <a:gd name="T32" fmla="*/ 910486 w 9100185"/>
              <a:gd name="T33" fmla="*/ 206398 h 2520315"/>
              <a:gd name="T34" fmla="*/ 909392 w 9100185"/>
              <a:gd name="T35" fmla="*/ 215864 h 2520315"/>
              <a:gd name="T36" fmla="*/ 906274 w 9100185"/>
              <a:gd name="T37" fmla="*/ 224554 h 2520315"/>
              <a:gd name="T38" fmla="*/ 901382 w 9100185"/>
              <a:gd name="T39" fmla="*/ 232218 h 2520315"/>
              <a:gd name="T40" fmla="*/ 894963 w 9100185"/>
              <a:gd name="T41" fmla="*/ 238611 h 2520315"/>
              <a:gd name="T42" fmla="*/ 887267 w 9100185"/>
              <a:gd name="T43" fmla="*/ 243482 h 2520315"/>
              <a:gd name="T44" fmla="*/ 878542 w 9100185"/>
              <a:gd name="T45" fmla="*/ 246587 h 2520315"/>
              <a:gd name="T46" fmla="*/ 869035 w 9100185"/>
              <a:gd name="T47" fmla="*/ 247677 h 2520315"/>
              <a:gd name="T48" fmla="*/ 209301 w 9100185"/>
              <a:gd name="T49" fmla="*/ 247677 h 2520315"/>
              <a:gd name="T50" fmla="*/ 105680 w 9100185"/>
              <a:gd name="T51" fmla="*/ 247399 h 2520315"/>
              <a:gd name="T52" fmla="*/ 96533 w 9100185"/>
              <a:gd name="T53" fmla="*/ 245271 h 2520315"/>
              <a:gd name="T54" fmla="*/ 88291 w 9100185"/>
              <a:gd name="T55" fmla="*/ 241252 h 2520315"/>
              <a:gd name="T56" fmla="*/ 81202 w 9100185"/>
              <a:gd name="T57" fmla="*/ 235589 h 2520315"/>
              <a:gd name="T58" fmla="*/ 75516 w 9100185"/>
              <a:gd name="T59" fmla="*/ 228529 h 2520315"/>
              <a:gd name="T60" fmla="*/ 71480 w 9100185"/>
              <a:gd name="T61" fmla="*/ 220322 h 2520315"/>
              <a:gd name="T62" fmla="*/ 69343 w 9100185"/>
              <a:gd name="T63" fmla="*/ 211212 h 2520315"/>
              <a:gd name="T64" fmla="*/ 0 w 9100185"/>
              <a:gd name="T65" fmla="*/ 251132 h 2520315"/>
              <a:gd name="T66" fmla="*/ 69063 w 9100185"/>
              <a:gd name="T67" fmla="*/ 41280 h 252031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100185" h="2520315">
                <a:moveTo>
                  <a:pt x="690244" y="414274"/>
                </a:moveTo>
                <a:lnTo>
                  <a:pt x="693031" y="365950"/>
                </a:lnTo>
                <a:lnTo>
                  <a:pt x="701183" y="319266"/>
                </a:lnTo>
                <a:lnTo>
                  <a:pt x="714390" y="274533"/>
                </a:lnTo>
                <a:lnTo>
                  <a:pt x="732342" y="232061"/>
                </a:lnTo>
                <a:lnTo>
                  <a:pt x="754728" y="192161"/>
                </a:lnTo>
                <a:lnTo>
                  <a:pt x="781238" y="155142"/>
                </a:lnTo>
                <a:lnTo>
                  <a:pt x="811561" y="121316"/>
                </a:lnTo>
                <a:lnTo>
                  <a:pt x="845387" y="90993"/>
                </a:lnTo>
                <a:lnTo>
                  <a:pt x="882406" y="64483"/>
                </a:lnTo>
                <a:lnTo>
                  <a:pt x="922306" y="42097"/>
                </a:lnTo>
                <a:lnTo>
                  <a:pt x="964778" y="24145"/>
                </a:lnTo>
                <a:lnTo>
                  <a:pt x="1009511" y="10938"/>
                </a:lnTo>
                <a:lnTo>
                  <a:pt x="1056195" y="2786"/>
                </a:lnTo>
                <a:lnTo>
                  <a:pt x="1104518" y="0"/>
                </a:lnTo>
                <a:lnTo>
                  <a:pt x="2091816" y="0"/>
                </a:lnTo>
                <a:lnTo>
                  <a:pt x="4194174" y="0"/>
                </a:lnTo>
                <a:lnTo>
                  <a:pt x="8685403" y="0"/>
                </a:lnTo>
                <a:lnTo>
                  <a:pt x="8733726" y="2786"/>
                </a:lnTo>
                <a:lnTo>
                  <a:pt x="8780410" y="10938"/>
                </a:lnTo>
                <a:lnTo>
                  <a:pt x="8825143" y="24145"/>
                </a:lnTo>
                <a:lnTo>
                  <a:pt x="8867615" y="42097"/>
                </a:lnTo>
                <a:lnTo>
                  <a:pt x="8907515" y="64483"/>
                </a:lnTo>
                <a:lnTo>
                  <a:pt x="8944534" y="90993"/>
                </a:lnTo>
                <a:lnTo>
                  <a:pt x="8978360" y="121316"/>
                </a:lnTo>
                <a:lnTo>
                  <a:pt x="9008683" y="155142"/>
                </a:lnTo>
                <a:lnTo>
                  <a:pt x="9035193" y="192161"/>
                </a:lnTo>
                <a:lnTo>
                  <a:pt x="9057579" y="232061"/>
                </a:lnTo>
                <a:lnTo>
                  <a:pt x="9075531" y="274533"/>
                </a:lnTo>
                <a:lnTo>
                  <a:pt x="9088738" y="319266"/>
                </a:lnTo>
                <a:lnTo>
                  <a:pt x="9096890" y="365950"/>
                </a:lnTo>
                <a:lnTo>
                  <a:pt x="9099677" y="414274"/>
                </a:lnTo>
                <a:lnTo>
                  <a:pt x="9099677" y="1449959"/>
                </a:lnTo>
                <a:lnTo>
                  <a:pt x="9099677" y="2071370"/>
                </a:lnTo>
                <a:lnTo>
                  <a:pt x="9096890" y="2119693"/>
                </a:lnTo>
                <a:lnTo>
                  <a:pt x="9088738" y="2166377"/>
                </a:lnTo>
                <a:lnTo>
                  <a:pt x="9075531" y="2211110"/>
                </a:lnTo>
                <a:lnTo>
                  <a:pt x="9057579" y="2253582"/>
                </a:lnTo>
                <a:lnTo>
                  <a:pt x="9035193" y="2293482"/>
                </a:lnTo>
                <a:lnTo>
                  <a:pt x="9008683" y="2330501"/>
                </a:lnTo>
                <a:lnTo>
                  <a:pt x="8978360" y="2364327"/>
                </a:lnTo>
                <a:lnTo>
                  <a:pt x="8944534" y="2394650"/>
                </a:lnTo>
                <a:lnTo>
                  <a:pt x="8907515" y="2421160"/>
                </a:lnTo>
                <a:lnTo>
                  <a:pt x="8867615" y="2443546"/>
                </a:lnTo>
                <a:lnTo>
                  <a:pt x="8825143" y="2461498"/>
                </a:lnTo>
                <a:lnTo>
                  <a:pt x="8780410" y="2474705"/>
                </a:lnTo>
                <a:lnTo>
                  <a:pt x="8733726" y="2482857"/>
                </a:lnTo>
                <a:lnTo>
                  <a:pt x="8685403" y="2485644"/>
                </a:lnTo>
                <a:lnTo>
                  <a:pt x="4194174" y="2485644"/>
                </a:lnTo>
                <a:lnTo>
                  <a:pt x="2091816" y="2485644"/>
                </a:lnTo>
                <a:lnTo>
                  <a:pt x="1104518" y="2485644"/>
                </a:lnTo>
                <a:lnTo>
                  <a:pt x="1056195" y="2482857"/>
                </a:lnTo>
                <a:lnTo>
                  <a:pt x="1009511" y="2474705"/>
                </a:lnTo>
                <a:lnTo>
                  <a:pt x="964778" y="2461498"/>
                </a:lnTo>
                <a:lnTo>
                  <a:pt x="922306" y="2443546"/>
                </a:lnTo>
                <a:lnTo>
                  <a:pt x="882406" y="2421160"/>
                </a:lnTo>
                <a:lnTo>
                  <a:pt x="845387" y="2394650"/>
                </a:lnTo>
                <a:lnTo>
                  <a:pt x="811561" y="2364327"/>
                </a:lnTo>
                <a:lnTo>
                  <a:pt x="781238" y="2330501"/>
                </a:lnTo>
                <a:lnTo>
                  <a:pt x="754728" y="2293482"/>
                </a:lnTo>
                <a:lnTo>
                  <a:pt x="732342" y="2253582"/>
                </a:lnTo>
                <a:lnTo>
                  <a:pt x="714390" y="2211110"/>
                </a:lnTo>
                <a:lnTo>
                  <a:pt x="701183" y="2166377"/>
                </a:lnTo>
                <a:lnTo>
                  <a:pt x="693031" y="2119693"/>
                </a:lnTo>
                <a:lnTo>
                  <a:pt x="690244" y="2071370"/>
                </a:lnTo>
                <a:lnTo>
                  <a:pt x="0" y="2520315"/>
                </a:lnTo>
                <a:lnTo>
                  <a:pt x="690244" y="1449959"/>
                </a:lnTo>
                <a:lnTo>
                  <a:pt x="690244" y="414274"/>
                </a:lnTo>
                <a:close/>
              </a:path>
            </a:pathLst>
          </a:custGeom>
          <a:noFill/>
          <a:ln w="57911">
            <a:solidFill>
              <a:srgbClr val="FFFFFF"/>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8972" name="object 20"/>
          <p:cNvSpPr txBox="1">
            <a:spLocks noChangeArrowheads="1"/>
          </p:cNvSpPr>
          <p:nvPr/>
        </p:nvSpPr>
        <p:spPr bwMode="auto">
          <a:xfrm>
            <a:off x="791308" y="1740877"/>
            <a:ext cx="11330353" cy="459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dirty="0">
                <a:solidFill>
                  <a:srgbClr val="001F5F"/>
                </a:solidFill>
                <a:latin typeface="微软雅黑" panose="020B0503020204020204" charset="-122"/>
                <a:ea typeface="微软雅黑" panose="020B0503020204020204" charset="-122"/>
              </a:rPr>
              <a:t>安全“是相对的而不是绝对的”，只有立足国情，适度安全，才能够促进社会发展。</a:t>
            </a:r>
            <a:endParaRPr lang="zh-CN" altLang="zh-CN" sz="2215" dirty="0">
              <a:latin typeface="微软雅黑" panose="020B0503020204020204" charset="-122"/>
              <a:ea typeface="微软雅黑" panose="020B0503020204020204" charset="-122"/>
            </a:endParaRPr>
          </a:p>
          <a:p>
            <a:pPr>
              <a:lnSpc>
                <a:spcPts val="1640"/>
              </a:lnSpc>
              <a:spcBef>
                <a:spcPts val="775"/>
              </a:spcBef>
              <a:buClrTx/>
              <a:buFontTx/>
              <a:buNone/>
            </a:pPr>
            <a:r>
              <a:rPr lang="zh-CN" altLang="zh-CN" sz="1845" dirty="0">
                <a:solidFill>
                  <a:srgbClr val="001F5F"/>
                </a:solidFill>
                <a:latin typeface="微软雅黑" panose="020B0503020204020204" charset="-122"/>
                <a:ea typeface="微软雅黑" panose="020B0503020204020204" charset="-122"/>
              </a:rPr>
              <a:t>Security should be </a:t>
            </a:r>
            <a:r>
              <a:rPr lang="zh-CN" altLang="zh-CN" sz="1845" b="1" i="1" dirty="0">
                <a:solidFill>
                  <a:srgbClr val="001F5F"/>
                </a:solidFill>
                <a:latin typeface="微软雅黑" panose="020B0503020204020204" charset="-122"/>
                <a:ea typeface="微软雅黑" panose="020B0503020204020204" charset="-122"/>
              </a:rPr>
              <a:t>relative rather than absolute</a:t>
            </a:r>
            <a:r>
              <a:rPr lang="zh-CN" altLang="zh-CN" sz="1845" dirty="0">
                <a:solidFill>
                  <a:srgbClr val="001F5F"/>
                </a:solidFill>
                <a:latin typeface="微软雅黑" panose="020B0503020204020204" charset="-122"/>
                <a:ea typeface="微软雅黑" panose="020B0503020204020204" charset="-122"/>
              </a:rPr>
              <a:t>. Promoting social development  depends on a nation</a:t>
            </a:r>
            <a:r>
              <a:rPr lang="zh-CN" altLang="zh-CN" sz="1845" dirty="0">
                <a:latin typeface="宋体" panose="02010600030101010101" pitchFamily="2" charset="-122"/>
                <a:ea typeface="宋体" panose="02010600030101010101" pitchFamily="2" charset="-122"/>
              </a:rPr>
              <a:t>’</a:t>
            </a:r>
            <a:r>
              <a:rPr lang="zh-CN" altLang="zh-CN" sz="1845" dirty="0">
                <a:solidFill>
                  <a:srgbClr val="001F5F"/>
                </a:solidFill>
                <a:latin typeface="微软雅黑" panose="020B0503020204020204" charset="-122"/>
                <a:ea typeface="微软雅黑" panose="020B0503020204020204" charset="-122"/>
              </a:rPr>
              <a:t>s current conditions, as well as keeping moderate security.</a:t>
            </a:r>
            <a:endParaRPr lang="zh-CN" altLang="zh-CN" sz="1845" dirty="0">
              <a:latin typeface="微软雅黑" panose="020B0503020204020204" charset="-122"/>
              <a:ea typeface="微软雅黑" panose="020B0503020204020204" charset="-122"/>
            </a:endParaRPr>
          </a:p>
          <a:p>
            <a:pPr>
              <a:spcBef>
                <a:spcPts val="40"/>
              </a:spcBef>
              <a:buClrTx/>
              <a:buFontTx/>
              <a:buNone/>
            </a:pPr>
            <a:endParaRPr lang="zh-CN" altLang="zh-CN" sz="2340" dirty="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r>
              <a:rPr lang="zh-CN" altLang="zh-CN" sz="1845" dirty="0">
                <a:solidFill>
                  <a:srgbClr val="FFFF00"/>
                </a:solidFill>
                <a:latin typeface="微软雅黑 Light" panose="020B0502040204020203" pitchFamily="34" charset="-122"/>
                <a:ea typeface="微软雅黑 Light" panose="020B0502040204020203" pitchFamily="34" charset="-122"/>
              </a:rPr>
              <a:t>信息系统由低到高划分为</a:t>
            </a:r>
            <a:r>
              <a:rPr lang="zh-CN" altLang="zh-CN" sz="1845" dirty="0">
                <a:solidFill>
                  <a:srgbClr val="FFFF00"/>
                </a:solidFill>
                <a:latin typeface="Times New Roman" panose="02020603050405020304" pitchFamily="18" charset="0"/>
                <a:ea typeface="宋体" panose="02010600030101010101" pitchFamily="2" charset="-122"/>
              </a:rPr>
              <a:t>5</a:t>
            </a:r>
            <a:r>
              <a:rPr lang="zh-CN" altLang="zh-CN" sz="1845" dirty="0">
                <a:solidFill>
                  <a:srgbClr val="FFFF00"/>
                </a:solidFill>
                <a:latin typeface="微软雅黑 Light" panose="020B0502040204020203" pitchFamily="34" charset="-122"/>
                <a:ea typeface="微软雅黑 Light" panose="020B0502040204020203" pitchFamily="34" charset="-122"/>
              </a:rPr>
              <a:t>个安全等级，根据如下因素：</a:t>
            </a:r>
            <a:endParaRPr lang="zh-CN" altLang="zh-CN" sz="1845" dirty="0">
              <a:latin typeface="微软雅黑 Light" panose="020B0502040204020203" pitchFamily="34" charset="-122"/>
              <a:ea typeface="微软雅黑 Light" panose="020B0502040204020203" pitchFamily="34" charset="-122"/>
            </a:endParaRPr>
          </a:p>
          <a:p>
            <a:pPr>
              <a:spcBef>
                <a:spcPct val="0"/>
              </a:spcBef>
              <a:buClrTx/>
              <a:buFontTx/>
              <a:buNone/>
            </a:pPr>
            <a:r>
              <a:rPr lang="zh-CN" altLang="zh-CN" sz="1845" dirty="0">
                <a:solidFill>
                  <a:srgbClr val="FFFF00"/>
                </a:solidFill>
                <a:latin typeface="Arial" panose="020B0604020202020204" pitchFamily="34" charset="0"/>
                <a:ea typeface="宋体" panose="02010600030101010101" pitchFamily="2" charset="-122"/>
              </a:rPr>
              <a:t>•	</a:t>
            </a:r>
            <a:r>
              <a:rPr lang="zh-CN" altLang="zh-CN" sz="1845" dirty="0">
                <a:solidFill>
                  <a:srgbClr val="FFFF00"/>
                </a:solidFill>
                <a:latin typeface="微软雅黑 Light" panose="020B0502040204020203" pitchFamily="34" charset="-122"/>
                <a:ea typeface="微软雅黑 Light" panose="020B0502040204020203" pitchFamily="34" charset="-122"/>
              </a:rPr>
              <a:t>根据其在国家安全、经济建设、社会</a:t>
            </a:r>
            <a:r>
              <a:rPr lang="zh-CN" altLang="en-US" sz="1845" dirty="0">
                <a:solidFill>
                  <a:srgbClr val="FFFF00"/>
                </a:solidFill>
                <a:latin typeface="微软雅黑 Light" panose="020B0502040204020203" pitchFamily="34" charset="-122"/>
                <a:ea typeface="微软雅黑 Light" panose="020B0502040204020203" pitchFamily="34" charset="-122"/>
              </a:rPr>
              <a:t>生</a:t>
            </a:r>
            <a:r>
              <a:rPr lang="zh-CN" altLang="zh-CN" sz="1845" dirty="0">
                <a:solidFill>
                  <a:srgbClr val="FFFF00"/>
                </a:solidFill>
                <a:latin typeface="微软雅黑 Light" panose="020B0502040204020203" pitchFamily="34" charset="-122"/>
                <a:ea typeface="微软雅黑 Light" panose="020B0502040204020203" pitchFamily="34" charset="-122"/>
              </a:rPr>
              <a:t>活中的重要程度</a:t>
            </a:r>
            <a:endParaRPr lang="zh-CN" altLang="zh-CN" sz="1845" dirty="0">
              <a:latin typeface="微软雅黑 Light" panose="020B0502040204020203" pitchFamily="34" charset="-122"/>
              <a:ea typeface="微软雅黑 Light" panose="020B0502040204020203" pitchFamily="34" charset="-122"/>
            </a:endParaRPr>
          </a:p>
          <a:p>
            <a:pPr>
              <a:spcBef>
                <a:spcPct val="0"/>
              </a:spcBef>
              <a:buClrTx/>
              <a:buFontTx/>
              <a:buNone/>
            </a:pPr>
            <a:r>
              <a:rPr lang="zh-CN" altLang="zh-CN" sz="1845" dirty="0">
                <a:solidFill>
                  <a:srgbClr val="FFFF00"/>
                </a:solidFill>
                <a:latin typeface="Arial" panose="020B0604020202020204" pitchFamily="34" charset="0"/>
                <a:ea typeface="宋体" panose="02010600030101010101" pitchFamily="2" charset="-122"/>
              </a:rPr>
              <a:t>•	</a:t>
            </a:r>
            <a:r>
              <a:rPr lang="zh-CN" altLang="zh-CN" sz="1845" dirty="0">
                <a:solidFill>
                  <a:srgbClr val="FFFF00"/>
                </a:solidFill>
                <a:latin typeface="微软雅黑 Light" panose="020B0502040204020203" pitchFamily="34" charset="-122"/>
                <a:ea typeface="微软雅黑 Light" panose="020B0502040204020203" pitchFamily="34" charset="-122"/>
              </a:rPr>
              <a:t>遭到破坏后产</a:t>
            </a:r>
            <a:r>
              <a:rPr lang="zh-CN" altLang="en-US" sz="1845" dirty="0">
                <a:solidFill>
                  <a:srgbClr val="FFFF00"/>
                </a:solidFill>
                <a:latin typeface="微软雅黑 Light" panose="020B0502040204020203" pitchFamily="34" charset="-122"/>
                <a:ea typeface="微软雅黑 Light" panose="020B0502040204020203" pitchFamily="34" charset="-122"/>
              </a:rPr>
              <a:t>生</a:t>
            </a:r>
            <a:r>
              <a:rPr lang="zh-CN" altLang="zh-CN" sz="1845" dirty="0">
                <a:solidFill>
                  <a:srgbClr val="FFFF00"/>
                </a:solidFill>
                <a:latin typeface="微软雅黑 Light" panose="020B0502040204020203" pitchFamily="34" charset="-122"/>
                <a:ea typeface="微软雅黑 Light" panose="020B0502040204020203" pitchFamily="34" charset="-122"/>
              </a:rPr>
              <a:t>的危害程度</a:t>
            </a:r>
            <a:endParaRPr lang="zh-CN" altLang="zh-CN" sz="1845" dirty="0">
              <a:latin typeface="微软雅黑 Light" panose="020B0502040204020203" pitchFamily="34" charset="-122"/>
              <a:ea typeface="微软雅黑 Light" panose="020B0502040204020203" pitchFamily="34" charset="-122"/>
            </a:endParaRPr>
          </a:p>
          <a:p>
            <a:pPr>
              <a:spcBef>
                <a:spcPts val="15"/>
              </a:spcBef>
              <a:buClrTx/>
              <a:buFontTx/>
              <a:buNone/>
            </a:pPr>
            <a:r>
              <a:rPr lang="zh-CN" altLang="zh-CN" sz="1845" dirty="0">
                <a:solidFill>
                  <a:srgbClr val="FFFF00"/>
                </a:solidFill>
                <a:latin typeface="Times New Roman" panose="02020603050405020304" pitchFamily="18" charset="0"/>
                <a:ea typeface="宋体" panose="02010600030101010101" pitchFamily="2" charset="-122"/>
              </a:rPr>
              <a:t>The Information systems have been categorized into 5 classes according to the</a:t>
            </a:r>
            <a:endParaRPr lang="zh-CN" altLang="zh-CN" sz="1845" dirty="0">
              <a:latin typeface="Times New Roman" panose="02020603050405020304" pitchFamily="18" charset="0"/>
              <a:ea typeface="宋体" panose="02010600030101010101" pitchFamily="2" charset="-122"/>
            </a:endParaRPr>
          </a:p>
          <a:p>
            <a:pPr>
              <a:spcBef>
                <a:spcPct val="0"/>
              </a:spcBef>
              <a:buClrTx/>
              <a:buFontTx/>
              <a:buNone/>
            </a:pPr>
            <a:r>
              <a:rPr lang="zh-CN" altLang="zh-CN" sz="1845" dirty="0">
                <a:solidFill>
                  <a:srgbClr val="FFFF00"/>
                </a:solidFill>
                <a:latin typeface="Times New Roman" panose="02020603050405020304" pitchFamily="18" charset="0"/>
                <a:ea typeface="宋体" panose="02010600030101010101" pitchFamily="2" charset="-122"/>
              </a:rPr>
              <a:t>following factors</a:t>
            </a:r>
            <a:endParaRPr lang="zh-CN" altLang="zh-CN" sz="1845" dirty="0">
              <a:latin typeface="Times New Roman" panose="02020603050405020304" pitchFamily="18" charset="0"/>
              <a:ea typeface="宋体" panose="02010600030101010101" pitchFamily="2" charset="-122"/>
            </a:endParaRPr>
          </a:p>
          <a:p>
            <a:pPr>
              <a:spcBef>
                <a:spcPct val="0"/>
              </a:spcBef>
              <a:buClrTx/>
              <a:buFont typeface="Arial" panose="020B0604020202020204" pitchFamily="34" charset="0"/>
              <a:buChar char="•"/>
            </a:pPr>
            <a:r>
              <a:rPr lang="zh-CN" altLang="zh-CN" sz="1845" dirty="0">
                <a:solidFill>
                  <a:srgbClr val="FFFF00"/>
                </a:solidFill>
                <a:latin typeface="Times New Roman" panose="02020603050405020304" pitchFamily="18" charset="0"/>
                <a:ea typeface="宋体" panose="02010600030101010101" pitchFamily="2" charset="-122"/>
              </a:rPr>
              <a:t>Its importance to national security, economic construction, or social life</a:t>
            </a:r>
            <a:endParaRPr lang="zh-CN" altLang="zh-CN" sz="1845" dirty="0">
              <a:latin typeface="Times New Roman" panose="02020603050405020304" pitchFamily="18" charset="0"/>
              <a:ea typeface="宋体" panose="02010600030101010101" pitchFamily="2" charset="-122"/>
            </a:endParaRPr>
          </a:p>
          <a:p>
            <a:pPr>
              <a:spcBef>
                <a:spcPct val="0"/>
              </a:spcBef>
              <a:buClrTx/>
              <a:buFont typeface="Arial" panose="020B0604020202020204" pitchFamily="34" charset="0"/>
              <a:buChar char="•"/>
            </a:pPr>
            <a:r>
              <a:rPr lang="zh-CN" altLang="zh-CN" sz="1845" dirty="0">
                <a:solidFill>
                  <a:srgbClr val="FFFF00"/>
                </a:solidFill>
                <a:latin typeface="Times New Roman" panose="02020603050405020304" pitchFamily="18" charset="0"/>
                <a:ea typeface="宋体" panose="02010600030101010101" pitchFamily="2" charset="-122"/>
              </a:rPr>
              <a:t>the degree of harm if attacks occur</a:t>
            </a:r>
            <a:endParaRPr lang="zh-CN" altLang="zh-CN" sz="1845" dirty="0">
              <a:latin typeface="Times New Roman" panose="02020603050405020304" pitchFamily="18" charset="0"/>
              <a:ea typeface="宋体" panose="02010600030101010101" pitchFamily="2" charset="-122"/>
            </a:endParaRPr>
          </a:p>
          <a:p>
            <a:pPr>
              <a:spcBef>
                <a:spcPts val="40"/>
              </a:spcBef>
              <a:buClrTx/>
              <a:buFontTx/>
              <a:buNone/>
            </a:pPr>
            <a:endParaRPr lang="zh-CN" altLang="zh-CN" sz="2460" dirty="0">
              <a:latin typeface="Times New Roman" panose="02020603050405020304" pitchFamily="18" charset="0"/>
              <a:ea typeface="宋体" panose="02010600030101010101" pitchFamily="2" charset="-122"/>
            </a:endParaRPr>
          </a:p>
          <a:p>
            <a:pPr algn="ctr">
              <a:spcBef>
                <a:spcPct val="0"/>
              </a:spcBef>
              <a:buClrTx/>
              <a:buFontTx/>
              <a:buNone/>
            </a:pPr>
            <a:r>
              <a:rPr lang="zh-CN" altLang="zh-CN" sz="1970" dirty="0">
                <a:solidFill>
                  <a:srgbClr val="FFFFFF"/>
                </a:solidFill>
                <a:latin typeface="微软雅黑" panose="020B0503020204020204" charset="-122"/>
                <a:ea typeface="微软雅黑" panose="020B0503020204020204" charset="-122"/>
              </a:rPr>
              <a:t>立足国情，适度防范。</a:t>
            </a:r>
            <a:r>
              <a:rPr lang="zh-CN" altLang="zh-CN" sz="1970" dirty="0">
                <a:solidFill>
                  <a:srgbClr val="FFFFFF"/>
                </a:solidFill>
                <a:latin typeface="Times New Roman" panose="02020603050405020304" pitchFamily="18" charset="0"/>
                <a:ea typeface="宋体" panose="02010600030101010101" pitchFamily="2" charset="-122"/>
              </a:rPr>
              <a:t>Based on national conditions, appropriate prevention</a:t>
            </a:r>
            <a:endParaRPr lang="zh-CN" altLang="zh-CN" sz="1970" dirty="0">
              <a:latin typeface="Times New Roman" panose="02020603050405020304" pitchFamily="18" charset="0"/>
              <a:ea typeface="宋体" panose="02010600030101010101" pitchFamily="2" charset="-122"/>
            </a:endParaRPr>
          </a:p>
          <a:p>
            <a:pPr algn="ctr">
              <a:spcBef>
                <a:spcPts val="925"/>
              </a:spcBef>
              <a:buClrTx/>
              <a:buFontTx/>
              <a:buNone/>
            </a:pPr>
            <a:r>
              <a:rPr lang="zh-CN" altLang="zh-CN" sz="1845" dirty="0">
                <a:solidFill>
                  <a:srgbClr val="F1DCDB"/>
                </a:solidFill>
                <a:latin typeface="微软雅黑 Light" panose="020B0502040204020203" pitchFamily="34" charset="-122"/>
                <a:ea typeface="微软雅黑 Light" panose="020B0502040204020203" pitchFamily="34" charset="-122"/>
              </a:rPr>
              <a:t>信息系统等级保护就是根据信息系统的重要性而施加适当强度的防护  </a:t>
            </a:r>
            <a:r>
              <a:rPr lang="zh-CN" altLang="zh-CN" sz="1845" dirty="0">
                <a:solidFill>
                  <a:srgbClr val="F1DCDB"/>
                </a:solidFill>
                <a:latin typeface="Times New Roman" panose="02020603050405020304" pitchFamily="18" charset="0"/>
                <a:ea typeface="宋体" panose="02010600030101010101" pitchFamily="2" charset="-122"/>
              </a:rPr>
              <a:t>Based on the importance of the information system, Information system level  protection mechanism deploys the appropriate protection facilities</a:t>
            </a:r>
            <a:endParaRPr lang="zh-CN" altLang="zh-CN" sz="1845" dirty="0">
              <a:latin typeface="Times New Roman" panose="02020603050405020304" pitchFamily="18" charset="0"/>
              <a:ea typeface="宋体" panose="02010600030101010101" pitchFamily="2" charset="-122"/>
            </a:endParaRPr>
          </a:p>
        </p:txBody>
      </p:sp>
      <p:sp>
        <p:nvSpPr>
          <p:cNvPr id="168973" name="object 21"/>
          <p:cNvSpPr>
            <a:spLocks noChangeArrowheads="1"/>
          </p:cNvSpPr>
          <p:nvPr/>
        </p:nvSpPr>
        <p:spPr bwMode="auto">
          <a:xfrm>
            <a:off x="453292" y="5003800"/>
            <a:ext cx="2407138" cy="978878"/>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object 2"/>
          <p:cNvSpPr/>
          <p:nvPr/>
        </p:nvSpPr>
        <p:spPr bwMode="auto">
          <a:xfrm>
            <a:off x="212970" y="134815"/>
            <a:ext cx="11820769" cy="1416539"/>
          </a:xfrm>
          <a:custGeom>
            <a:avLst/>
            <a:gdLst>
              <a:gd name="T0" fmla="*/ 0 w 12192000"/>
              <a:gd name="T1" fmla="*/ 509782 h 1292860"/>
              <a:gd name="T2" fmla="*/ 1808124 w 12192000"/>
              <a:gd name="T3" fmla="*/ 509782 h 1292860"/>
              <a:gd name="T4" fmla="*/ 1808124 w 12192000"/>
              <a:gd name="T5" fmla="*/ 0 h 1292860"/>
              <a:gd name="T6" fmla="*/ 0 w 12192000"/>
              <a:gd name="T7" fmla="*/ 0 h 1292860"/>
              <a:gd name="T8" fmla="*/ 0 w 12192000"/>
              <a:gd name="T9" fmla="*/ 509782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9987" name="object 2"/>
          <p:cNvSpPr/>
          <p:nvPr/>
        </p:nvSpPr>
        <p:spPr bwMode="auto">
          <a:xfrm>
            <a:off x="216878" y="3184770"/>
            <a:ext cx="11816862" cy="3700585"/>
          </a:xfrm>
          <a:custGeom>
            <a:avLst/>
            <a:gdLst>
              <a:gd name="T0" fmla="*/ 0 w 12192000"/>
              <a:gd name="T1" fmla="*/ 400571 h 4010025"/>
              <a:gd name="T2" fmla="*/ 1803348 w 12192000"/>
              <a:gd name="T3" fmla="*/ 400571 h 4010025"/>
              <a:gd name="T4" fmla="*/ 1803348 w 12192000"/>
              <a:gd name="T5" fmla="*/ 0 h 4010025"/>
              <a:gd name="T6" fmla="*/ 0 w 12192000"/>
              <a:gd name="T7" fmla="*/ 0 h 4010025"/>
              <a:gd name="T8" fmla="*/ 0 w 12192000"/>
              <a:gd name="T9" fmla="*/ 400571 h 40100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4010025">
                <a:moveTo>
                  <a:pt x="0" y="4009643"/>
                </a:moveTo>
                <a:lnTo>
                  <a:pt x="12192000" y="4009643"/>
                </a:lnTo>
                <a:lnTo>
                  <a:pt x="12192000" y="0"/>
                </a:lnTo>
                <a:lnTo>
                  <a:pt x="0" y="0"/>
                </a:lnTo>
                <a:lnTo>
                  <a:pt x="0" y="4009643"/>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9988" name="object 10"/>
          <p:cNvSpPr/>
          <p:nvPr/>
        </p:nvSpPr>
        <p:spPr bwMode="auto">
          <a:xfrm>
            <a:off x="216878" y="1385277"/>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69989" name="object 11"/>
          <p:cNvSpPr>
            <a:spLocks noChangeArrowheads="1"/>
          </p:cNvSpPr>
          <p:nvPr/>
        </p:nvSpPr>
        <p:spPr bwMode="auto">
          <a:xfrm>
            <a:off x="8469924" y="3264877"/>
            <a:ext cx="1461477" cy="1604108"/>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9990" name="object 12"/>
          <p:cNvSpPr>
            <a:spLocks noChangeArrowheads="1"/>
          </p:cNvSpPr>
          <p:nvPr/>
        </p:nvSpPr>
        <p:spPr bwMode="auto">
          <a:xfrm>
            <a:off x="2897554" y="3251201"/>
            <a:ext cx="1711569" cy="171743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9991" name="object 13"/>
          <p:cNvSpPr/>
          <p:nvPr/>
        </p:nvSpPr>
        <p:spPr bwMode="auto">
          <a:xfrm>
            <a:off x="216878" y="1715478"/>
            <a:ext cx="11816862" cy="1447799"/>
          </a:xfrm>
          <a:custGeom>
            <a:avLst/>
            <a:gdLst>
              <a:gd name="T0" fmla="*/ 0 w 12192000"/>
              <a:gd name="T1" fmla="*/ 156996 h 1568450"/>
              <a:gd name="T2" fmla="*/ 1803348 w 12192000"/>
              <a:gd name="T3" fmla="*/ 156996 h 1568450"/>
              <a:gd name="T4" fmla="*/ 1803348 w 12192000"/>
              <a:gd name="T5" fmla="*/ 0 h 1568450"/>
              <a:gd name="T6" fmla="*/ 0 w 12192000"/>
              <a:gd name="T7" fmla="*/ 0 h 1568450"/>
              <a:gd name="T8" fmla="*/ 0 w 12192000"/>
              <a:gd name="T9" fmla="*/ 156996 h 15684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568450">
                <a:moveTo>
                  <a:pt x="0" y="1568196"/>
                </a:moveTo>
                <a:lnTo>
                  <a:pt x="12192000" y="1568196"/>
                </a:lnTo>
                <a:lnTo>
                  <a:pt x="12192000" y="0"/>
                </a:lnTo>
                <a:lnTo>
                  <a:pt x="0" y="0"/>
                </a:lnTo>
                <a:lnTo>
                  <a:pt x="0" y="1568196"/>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69992" name="object 14"/>
          <p:cNvSpPr>
            <a:spLocks noChangeArrowheads="1"/>
          </p:cNvSpPr>
          <p:nvPr/>
        </p:nvSpPr>
        <p:spPr bwMode="auto">
          <a:xfrm>
            <a:off x="326293" y="326292"/>
            <a:ext cx="3892062" cy="1002324"/>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9993" name="object 15"/>
          <p:cNvSpPr>
            <a:spLocks noChangeArrowheads="1"/>
          </p:cNvSpPr>
          <p:nvPr/>
        </p:nvSpPr>
        <p:spPr bwMode="auto">
          <a:xfrm>
            <a:off x="3606800" y="326292"/>
            <a:ext cx="2016369" cy="1002324"/>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9994" name="object 16"/>
          <p:cNvSpPr>
            <a:spLocks noGrp="1" noChangeArrowheads="1"/>
          </p:cNvSpPr>
          <p:nvPr>
            <p:ph type="title"/>
          </p:nvPr>
        </p:nvSpPr>
        <p:spPr>
          <a:xfrm>
            <a:off x="601785" y="454465"/>
            <a:ext cx="8016631"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进化论</a:t>
            </a:r>
            <a:endParaRPr lang="zh-CN" altLang="zh-CN" i="1">
              <a:solidFill>
                <a:srgbClr val="FF0000"/>
              </a:solidFill>
              <a:latin typeface="微软雅黑" panose="020B0503020204020204" charset="-122"/>
              <a:ea typeface="微软雅黑" panose="020B0503020204020204" charset="-122"/>
            </a:endParaRPr>
          </a:p>
        </p:txBody>
      </p:sp>
      <p:sp>
        <p:nvSpPr>
          <p:cNvPr id="169995" name="object 17"/>
          <p:cNvSpPr>
            <a:spLocks noChangeArrowheads="1"/>
          </p:cNvSpPr>
          <p:nvPr/>
        </p:nvSpPr>
        <p:spPr bwMode="auto">
          <a:xfrm>
            <a:off x="414215" y="859693"/>
            <a:ext cx="7074878" cy="726831"/>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9996" name="object 18"/>
          <p:cNvSpPr>
            <a:spLocks noChangeArrowheads="1"/>
          </p:cNvSpPr>
          <p:nvPr/>
        </p:nvSpPr>
        <p:spPr bwMode="auto">
          <a:xfrm>
            <a:off x="7057292" y="859693"/>
            <a:ext cx="2668954" cy="726831"/>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69997" name="object 19"/>
          <p:cNvSpPr txBox="1">
            <a:spLocks noChangeArrowheads="1"/>
          </p:cNvSpPr>
          <p:nvPr/>
        </p:nvSpPr>
        <p:spPr bwMode="auto">
          <a:xfrm>
            <a:off x="605692" y="973016"/>
            <a:ext cx="880598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Evolutionism</a:t>
            </a:r>
            <a:endParaRPr lang="zh-CN" altLang="zh-CN" sz="2585">
              <a:latin typeface="微软雅黑" panose="020B0503020204020204" charset="-122"/>
              <a:ea typeface="微软雅黑" panose="020B0503020204020204" charset="-122"/>
            </a:endParaRPr>
          </a:p>
        </p:txBody>
      </p:sp>
      <p:sp>
        <p:nvSpPr>
          <p:cNvPr id="169998" name="object 20"/>
          <p:cNvSpPr txBox="1">
            <a:spLocks noChangeArrowheads="1"/>
          </p:cNvSpPr>
          <p:nvPr/>
        </p:nvSpPr>
        <p:spPr bwMode="auto">
          <a:xfrm>
            <a:off x="388816" y="1778001"/>
            <a:ext cx="10937631" cy="1413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indent="4749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安全“是动态的而不是静态的“，威胁来源和攻击手段在变化，必须树立动态、综  合的防护理念。</a:t>
            </a:r>
            <a:endParaRPr lang="zh-CN" altLang="zh-CN" sz="2215">
              <a:latin typeface="微软雅黑" panose="020B0503020204020204" charset="-122"/>
              <a:ea typeface="微软雅黑" panose="020B0503020204020204" charset="-122"/>
            </a:endParaRPr>
          </a:p>
          <a:p>
            <a:pPr>
              <a:lnSpc>
                <a:spcPts val="1790"/>
              </a:lnSpc>
              <a:spcBef>
                <a:spcPts val="515"/>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dynamic rather than static</a:t>
            </a:r>
            <a:r>
              <a:rPr lang="zh-CN" altLang="zh-CN" sz="1845">
                <a:solidFill>
                  <a:srgbClr val="001F5F"/>
                </a:solidFill>
                <a:latin typeface="微软雅黑" panose="020B0503020204020204" charset="-122"/>
                <a:ea typeface="微软雅黑" panose="020B0503020204020204" charset="-122"/>
              </a:rPr>
              <a:t>. Threat sources and attack approaches are</a:t>
            </a:r>
            <a:endParaRPr lang="zh-CN" altLang="zh-CN" sz="1845">
              <a:latin typeface="微软雅黑" panose="020B0503020204020204" charset="-122"/>
              <a:ea typeface="微软雅黑" panose="020B0503020204020204" charset="-122"/>
            </a:endParaRPr>
          </a:p>
          <a:p>
            <a:pPr>
              <a:lnSpc>
                <a:spcPts val="1700"/>
              </a:lnSpc>
              <a:spcBef>
                <a:spcPct val="0"/>
              </a:spcBef>
              <a:buClrTx/>
              <a:buFontTx/>
              <a:buNone/>
            </a:pPr>
            <a:r>
              <a:rPr lang="zh-CN" altLang="zh-CN" sz="1845">
                <a:solidFill>
                  <a:srgbClr val="001F5F"/>
                </a:solidFill>
                <a:latin typeface="微软雅黑" panose="020B0503020204020204" charset="-122"/>
                <a:ea typeface="微软雅黑" panose="020B0503020204020204" charset="-122"/>
              </a:rPr>
              <a:t>always evolving. A set of dynamic and comprehensive protection concepts should be established.</a:t>
            </a:r>
            <a:endParaRPr lang="zh-CN" altLang="zh-CN" sz="1845">
              <a:latin typeface="微软雅黑" panose="020B0503020204020204" charset="-122"/>
              <a:ea typeface="微软雅黑" panose="020B0503020204020204" charset="-122"/>
            </a:endParaRPr>
          </a:p>
        </p:txBody>
      </p:sp>
      <p:sp>
        <p:nvSpPr>
          <p:cNvPr id="169999" name="object 21"/>
          <p:cNvSpPr>
            <a:spLocks noChangeArrowheads="1"/>
          </p:cNvSpPr>
          <p:nvPr/>
        </p:nvSpPr>
        <p:spPr bwMode="auto">
          <a:xfrm>
            <a:off x="273538" y="3171092"/>
            <a:ext cx="1637323" cy="186787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0000" name="object 22"/>
          <p:cNvSpPr>
            <a:spLocks noChangeArrowheads="1"/>
          </p:cNvSpPr>
          <p:nvPr/>
        </p:nvSpPr>
        <p:spPr bwMode="auto">
          <a:xfrm>
            <a:off x="1453662" y="5062415"/>
            <a:ext cx="1676400" cy="1756508"/>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0001" name="object 23"/>
          <p:cNvSpPr>
            <a:spLocks noChangeArrowheads="1"/>
          </p:cNvSpPr>
          <p:nvPr/>
        </p:nvSpPr>
        <p:spPr bwMode="auto">
          <a:xfrm>
            <a:off x="5842000" y="3280508"/>
            <a:ext cx="1555262" cy="1668585"/>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0002" name="object 24"/>
          <p:cNvSpPr>
            <a:spLocks noChangeArrowheads="1"/>
          </p:cNvSpPr>
          <p:nvPr/>
        </p:nvSpPr>
        <p:spPr bwMode="auto">
          <a:xfrm>
            <a:off x="7201877" y="5007708"/>
            <a:ext cx="1533770" cy="1744785"/>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0003" name="object 25"/>
          <p:cNvSpPr>
            <a:spLocks noChangeArrowheads="1"/>
          </p:cNvSpPr>
          <p:nvPr/>
        </p:nvSpPr>
        <p:spPr bwMode="auto">
          <a:xfrm>
            <a:off x="4405924" y="4949092"/>
            <a:ext cx="1561122" cy="1869831"/>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0004" name="object 26"/>
          <p:cNvSpPr>
            <a:spLocks noChangeArrowheads="1"/>
          </p:cNvSpPr>
          <p:nvPr/>
        </p:nvSpPr>
        <p:spPr bwMode="auto">
          <a:xfrm>
            <a:off x="9876693" y="5007708"/>
            <a:ext cx="1590431" cy="1750646"/>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object 2"/>
          <p:cNvSpPr/>
          <p:nvPr/>
        </p:nvSpPr>
        <p:spPr bwMode="auto">
          <a:xfrm>
            <a:off x="246185" y="150446"/>
            <a:ext cx="11787554" cy="1281723"/>
          </a:xfrm>
          <a:custGeom>
            <a:avLst/>
            <a:gdLst>
              <a:gd name="T0" fmla="*/ 0 w 12192000"/>
              <a:gd name="T1" fmla="*/ 229039 h 1292860"/>
              <a:gd name="T2" fmla="*/ 1767877 w 12192000"/>
              <a:gd name="T3" fmla="*/ 229039 h 1292860"/>
              <a:gd name="T4" fmla="*/ 1767877 w 12192000"/>
              <a:gd name="T5" fmla="*/ 0 h 1292860"/>
              <a:gd name="T6" fmla="*/ 0 w 12192000"/>
              <a:gd name="T7" fmla="*/ 0 h 1292860"/>
              <a:gd name="T8" fmla="*/ 0 w 12192000"/>
              <a:gd name="T9" fmla="*/ 229039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1011" name="object 2"/>
          <p:cNvSpPr/>
          <p:nvPr/>
        </p:nvSpPr>
        <p:spPr bwMode="auto">
          <a:xfrm>
            <a:off x="254000" y="3137878"/>
            <a:ext cx="11744570" cy="3835399"/>
          </a:xfrm>
          <a:custGeom>
            <a:avLst/>
            <a:gdLst>
              <a:gd name="T0" fmla="*/ 0 w 12192000"/>
              <a:gd name="T1" fmla="*/ 533336 h 4010025"/>
              <a:gd name="T2" fmla="*/ 1716956 w 12192000"/>
              <a:gd name="T3" fmla="*/ 533336 h 4010025"/>
              <a:gd name="T4" fmla="*/ 1716956 w 12192000"/>
              <a:gd name="T5" fmla="*/ 0 h 4010025"/>
              <a:gd name="T6" fmla="*/ 0 w 12192000"/>
              <a:gd name="T7" fmla="*/ 0 h 4010025"/>
              <a:gd name="T8" fmla="*/ 0 w 12192000"/>
              <a:gd name="T9" fmla="*/ 533336 h 40100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4010025">
                <a:moveTo>
                  <a:pt x="0" y="4009643"/>
                </a:moveTo>
                <a:lnTo>
                  <a:pt x="12192000" y="4009643"/>
                </a:lnTo>
                <a:lnTo>
                  <a:pt x="12192000" y="0"/>
                </a:lnTo>
                <a:lnTo>
                  <a:pt x="0" y="0"/>
                </a:lnTo>
                <a:lnTo>
                  <a:pt x="0" y="4009643"/>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1012" name="object 10"/>
          <p:cNvSpPr/>
          <p:nvPr/>
        </p:nvSpPr>
        <p:spPr bwMode="auto">
          <a:xfrm>
            <a:off x="254000" y="1297354"/>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1013" name="object 11"/>
          <p:cNvSpPr>
            <a:spLocks noChangeArrowheads="1"/>
          </p:cNvSpPr>
          <p:nvPr/>
        </p:nvSpPr>
        <p:spPr bwMode="auto">
          <a:xfrm>
            <a:off x="363415" y="238370"/>
            <a:ext cx="3892062" cy="1000369"/>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1014" name="object 12"/>
          <p:cNvSpPr>
            <a:spLocks noChangeArrowheads="1"/>
          </p:cNvSpPr>
          <p:nvPr/>
        </p:nvSpPr>
        <p:spPr bwMode="auto">
          <a:xfrm>
            <a:off x="3643924" y="238370"/>
            <a:ext cx="2016369" cy="100036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1015" name="object 13"/>
          <p:cNvSpPr>
            <a:spLocks noGrp="1" noChangeArrowheads="1"/>
          </p:cNvSpPr>
          <p:nvPr>
            <p:ph type="title"/>
          </p:nvPr>
        </p:nvSpPr>
        <p:spPr>
          <a:xfrm>
            <a:off x="642816" y="419296"/>
            <a:ext cx="8016630"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进化论</a:t>
            </a:r>
            <a:endParaRPr lang="zh-CN" altLang="zh-CN" i="1">
              <a:solidFill>
                <a:srgbClr val="FF0000"/>
              </a:solidFill>
              <a:latin typeface="微软雅黑" panose="020B0503020204020204" charset="-122"/>
              <a:ea typeface="微软雅黑" panose="020B0503020204020204" charset="-122"/>
            </a:endParaRPr>
          </a:p>
        </p:txBody>
      </p:sp>
      <p:sp>
        <p:nvSpPr>
          <p:cNvPr id="171016" name="object 14"/>
          <p:cNvSpPr>
            <a:spLocks noChangeArrowheads="1"/>
          </p:cNvSpPr>
          <p:nvPr/>
        </p:nvSpPr>
        <p:spPr bwMode="auto">
          <a:xfrm>
            <a:off x="451339" y="771769"/>
            <a:ext cx="7074876"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1017" name="object 15"/>
          <p:cNvSpPr>
            <a:spLocks noChangeArrowheads="1"/>
          </p:cNvSpPr>
          <p:nvPr/>
        </p:nvSpPr>
        <p:spPr bwMode="auto">
          <a:xfrm>
            <a:off x="7094416" y="771769"/>
            <a:ext cx="2668954"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1018" name="object 16"/>
          <p:cNvSpPr txBox="1">
            <a:spLocks noChangeArrowheads="1"/>
          </p:cNvSpPr>
          <p:nvPr/>
        </p:nvSpPr>
        <p:spPr bwMode="auto">
          <a:xfrm>
            <a:off x="642816" y="883139"/>
            <a:ext cx="8805984"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Evolutionism</a:t>
            </a:r>
            <a:endParaRPr lang="zh-CN" altLang="zh-CN" sz="2585">
              <a:latin typeface="微软雅黑" panose="020B0503020204020204" charset="-122"/>
              <a:ea typeface="微软雅黑" panose="020B0503020204020204" charset="-122"/>
            </a:endParaRPr>
          </a:p>
        </p:txBody>
      </p:sp>
      <p:sp>
        <p:nvSpPr>
          <p:cNvPr id="171019" name="object 17"/>
          <p:cNvSpPr>
            <a:spLocks noChangeArrowheads="1"/>
          </p:cNvSpPr>
          <p:nvPr/>
        </p:nvSpPr>
        <p:spPr bwMode="auto">
          <a:xfrm>
            <a:off x="472831" y="3378200"/>
            <a:ext cx="6525846" cy="2504831"/>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1020" name="object 18"/>
          <p:cNvSpPr>
            <a:spLocks noChangeArrowheads="1"/>
          </p:cNvSpPr>
          <p:nvPr/>
        </p:nvSpPr>
        <p:spPr bwMode="auto">
          <a:xfrm>
            <a:off x="7055339" y="3360616"/>
            <a:ext cx="4394199" cy="2522415"/>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1021" name="object 19"/>
          <p:cNvSpPr txBox="1">
            <a:spLocks noChangeArrowheads="1"/>
          </p:cNvSpPr>
          <p:nvPr/>
        </p:nvSpPr>
        <p:spPr bwMode="auto">
          <a:xfrm>
            <a:off x="418123" y="5935785"/>
            <a:ext cx="10968892" cy="922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921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1600">
                <a:solidFill>
                  <a:srgbClr val="FFFF00"/>
                </a:solidFill>
                <a:latin typeface="Times New Roman" panose="02020603050405020304" pitchFamily="18" charset="0"/>
                <a:ea typeface="宋体" panose="02010600030101010101" pitchFamily="2" charset="-122"/>
                <a:cs typeface="Times New Roman" panose="02020603050405020304" pitchFamily="18" charset="0"/>
              </a:rPr>
              <a:t>2016</a:t>
            </a:r>
            <a:r>
              <a:rPr lang="zh-CN" altLang="zh-CN" sz="1600">
                <a:solidFill>
                  <a:srgbClr val="FFFF00"/>
                </a:solidFill>
                <a:latin typeface="微软雅黑 Light" panose="020B0502040204020203" pitchFamily="34" charset="-122"/>
                <a:ea typeface="微软雅黑 Light" panose="020B0502040204020203" pitchFamily="34" charset="-122"/>
                <a:cs typeface="Times New Roman" panose="02020603050405020304" pitchFamily="18" charset="0"/>
              </a:rPr>
              <a:t>年</a:t>
            </a:r>
            <a:r>
              <a:rPr lang="zh-CN" altLang="zh-CN" sz="1600">
                <a:solidFill>
                  <a:srgbClr val="FFFF00"/>
                </a:solidFill>
                <a:latin typeface="Times New Roman" panose="02020603050405020304" pitchFamily="18" charset="0"/>
                <a:ea typeface="宋体" panose="02010600030101010101" pitchFamily="2" charset="-122"/>
                <a:cs typeface="Times New Roman" panose="02020603050405020304" pitchFamily="18" charset="0"/>
              </a:rPr>
              <a:t>10</a:t>
            </a:r>
            <a:r>
              <a:rPr lang="zh-CN" altLang="zh-CN" sz="1600">
                <a:solidFill>
                  <a:srgbClr val="FFFF00"/>
                </a:solidFill>
                <a:latin typeface="微软雅黑 Light" panose="020B0502040204020203" pitchFamily="34" charset="-122"/>
                <a:ea typeface="微软雅黑 Light" panose="020B0502040204020203" pitchFamily="34" charset="-122"/>
              </a:rPr>
              <a:t>月</a:t>
            </a:r>
            <a:r>
              <a:rPr lang="zh-CN" altLang="zh-CN" sz="1600">
                <a:solidFill>
                  <a:srgbClr val="FFFF00"/>
                </a:solidFill>
                <a:latin typeface="Times New Roman" panose="02020603050405020304" pitchFamily="18" charset="0"/>
                <a:ea typeface="宋体" panose="02010600030101010101" pitchFamily="2" charset="-122"/>
              </a:rPr>
              <a:t>21</a:t>
            </a:r>
            <a:r>
              <a:rPr lang="zh-CN" altLang="zh-CN" sz="1600">
                <a:solidFill>
                  <a:srgbClr val="FFFF00"/>
                </a:solidFill>
                <a:latin typeface="微软雅黑 Light" panose="020B0502040204020203" pitchFamily="34" charset="-122"/>
                <a:ea typeface="微软雅黑 Light" panose="020B0502040204020203" pitchFamily="34" charset="-122"/>
              </a:rPr>
              <a:t>日，有黑客操控大量智能电视、冰箱、摄像机等物联网设备攻击运营商</a:t>
            </a:r>
            <a:r>
              <a:rPr lang="zh-CN" altLang="zh-CN" sz="1600">
                <a:solidFill>
                  <a:srgbClr val="FFFF00"/>
                </a:solidFill>
                <a:latin typeface="Times New Roman" panose="02020603050405020304" pitchFamily="18" charset="0"/>
                <a:ea typeface="宋体" panose="02010600030101010101" pitchFamily="2" charset="-122"/>
              </a:rPr>
              <a:t>DYN</a:t>
            </a:r>
            <a:r>
              <a:rPr lang="zh-CN" altLang="zh-CN" sz="1600">
                <a:solidFill>
                  <a:srgbClr val="FFFF00"/>
                </a:solidFill>
                <a:latin typeface="微软雅黑 Light" panose="020B0502040204020203" pitchFamily="34" charset="-122"/>
                <a:ea typeface="微软雅黑 Light" panose="020B0502040204020203" pitchFamily="34" charset="-122"/>
              </a:rPr>
              <a:t>，造成美国众多网站瘫痪</a:t>
            </a:r>
            <a:endParaRPr lang="zh-CN" altLang="zh-CN" sz="1600">
              <a:latin typeface="微软雅黑 Light" panose="020B0502040204020203" pitchFamily="34" charset="-122"/>
              <a:ea typeface="微软雅黑 Light" panose="020B0502040204020203" pitchFamily="34" charset="-122"/>
            </a:endParaRPr>
          </a:p>
          <a:p>
            <a:pPr algn="ctr">
              <a:spcBef>
                <a:spcPts val="15"/>
              </a:spcBef>
              <a:buClrTx/>
              <a:buFontTx/>
              <a:buNone/>
            </a:pPr>
            <a:r>
              <a:rPr lang="zh-CN" altLang="zh-CN" sz="1845">
                <a:solidFill>
                  <a:srgbClr val="FFFF00"/>
                </a:solidFill>
                <a:latin typeface="Times New Roman" panose="02020603050405020304" pitchFamily="18" charset="0"/>
                <a:ea typeface="宋体" panose="02010600030101010101" pitchFamily="2" charset="-122"/>
              </a:rPr>
              <a:t>Hackers controlled millions of smart TVs, refrigerators, home routers, security cameras to attack DYN,</a:t>
            </a:r>
            <a:endParaRPr lang="zh-CN" altLang="zh-CN" sz="1845">
              <a:latin typeface="Times New Roman" panose="02020603050405020304" pitchFamily="18" charset="0"/>
              <a:ea typeface="宋体" panose="02010600030101010101" pitchFamily="2" charset="-122"/>
            </a:endParaRPr>
          </a:p>
          <a:p>
            <a:pPr algn="ctr">
              <a:lnSpc>
                <a:spcPts val="1700"/>
              </a:lnSpc>
              <a:spcBef>
                <a:spcPct val="0"/>
              </a:spcBef>
              <a:buClrTx/>
              <a:buFontTx/>
              <a:buNone/>
            </a:pPr>
            <a:r>
              <a:rPr lang="zh-CN" altLang="zh-CN" sz="1845">
                <a:solidFill>
                  <a:srgbClr val="FFFF00"/>
                </a:solidFill>
                <a:latin typeface="Times New Roman" panose="02020603050405020304" pitchFamily="18" charset="0"/>
                <a:ea typeface="宋体" panose="02010600030101010101" pitchFamily="2" charset="-122"/>
              </a:rPr>
              <a:t>and took some popular US web sites down at Oct 21, 2016</a:t>
            </a:r>
            <a:endParaRPr lang="zh-CN" altLang="zh-CN" sz="1845">
              <a:latin typeface="Times New Roman" panose="02020603050405020304" pitchFamily="18" charset="0"/>
              <a:ea typeface="宋体" panose="02010600030101010101" pitchFamily="2" charset="-122"/>
            </a:endParaRPr>
          </a:p>
          <a:p>
            <a:pPr>
              <a:lnSpc>
                <a:spcPts val="1340"/>
              </a:lnSpc>
              <a:spcBef>
                <a:spcPct val="0"/>
              </a:spcBef>
              <a:buClrTx/>
              <a:buFontTx/>
              <a:buNone/>
            </a:pPr>
            <a:r>
              <a:rPr lang="zh-CN" altLang="zh-CN" sz="1475">
                <a:solidFill>
                  <a:srgbClr val="FFFFFF"/>
                </a:solidFill>
                <a:latin typeface="Calibri" panose="020F0502020204030204" pitchFamily="34" charset="0"/>
                <a:ea typeface="宋体" panose="02010600030101010101" pitchFamily="2" charset="-122"/>
              </a:rPr>
              <a:t>http</a:t>
            </a:r>
            <a:r>
              <a:rPr lang="zh-CN" altLang="zh-CN" sz="1475">
                <a:solidFill>
                  <a:srgbClr val="FFFFFF"/>
                </a:solidFill>
                <a:latin typeface="Calibri" panose="020F0502020204030204" pitchFamily="34" charset="0"/>
                <a:ea typeface="宋体" panose="02010600030101010101" pitchFamily="2" charset="-122"/>
                <a:hlinkClick r:id="rId7"/>
              </a:rPr>
              <a:t>s://w</a:t>
            </a:r>
            <a:r>
              <a:rPr lang="zh-CN" altLang="zh-CN" sz="1475">
                <a:solidFill>
                  <a:srgbClr val="FFFFFF"/>
                </a:solidFill>
                <a:latin typeface="Calibri" panose="020F0502020204030204" pitchFamily="34" charset="0"/>
                <a:ea typeface="宋体" panose="02010600030101010101" pitchFamily="2" charset="-122"/>
              </a:rPr>
              <a:t>ww.</a:t>
            </a:r>
            <a:r>
              <a:rPr lang="zh-CN" altLang="zh-CN" sz="1475">
                <a:solidFill>
                  <a:srgbClr val="FFFFFF"/>
                </a:solidFill>
                <a:latin typeface="Calibri" panose="020F0502020204030204" pitchFamily="34" charset="0"/>
                <a:ea typeface="宋体" panose="02010600030101010101" pitchFamily="2" charset="-122"/>
                <a:hlinkClick r:id="rId7"/>
              </a:rPr>
              <a:t>cne</a:t>
            </a:r>
            <a:r>
              <a:rPr lang="zh-CN" altLang="zh-CN" sz="1475">
                <a:solidFill>
                  <a:srgbClr val="FFFFFF"/>
                </a:solidFill>
                <a:latin typeface="Calibri" panose="020F0502020204030204" pitchFamily="34" charset="0"/>
                <a:ea typeface="宋体" panose="02010600030101010101" pitchFamily="2" charset="-122"/>
              </a:rPr>
              <a:t>t</a:t>
            </a:r>
            <a:r>
              <a:rPr lang="zh-CN" altLang="zh-CN" sz="1475">
                <a:solidFill>
                  <a:srgbClr val="FFFFFF"/>
                </a:solidFill>
                <a:latin typeface="Calibri" panose="020F0502020204030204" pitchFamily="34" charset="0"/>
                <a:ea typeface="宋体" panose="02010600030101010101" pitchFamily="2" charset="-122"/>
                <a:hlinkClick r:id="rId7"/>
              </a:rPr>
              <a:t>.com/news/internet-outage-dyn-ddos-attack-twitter-spotify/</a:t>
            </a:r>
            <a:endParaRPr lang="zh-CN" altLang="zh-CN" sz="1475">
              <a:latin typeface="Calibri" panose="020F0502020204030204" pitchFamily="34" charset="0"/>
              <a:ea typeface="宋体" panose="02010600030101010101" pitchFamily="2" charset="-122"/>
            </a:endParaRPr>
          </a:p>
        </p:txBody>
      </p:sp>
      <p:sp>
        <p:nvSpPr>
          <p:cNvPr id="171022" name="object 20"/>
          <p:cNvSpPr/>
          <p:nvPr/>
        </p:nvSpPr>
        <p:spPr bwMode="auto">
          <a:xfrm>
            <a:off x="216878" y="1563078"/>
            <a:ext cx="11781692" cy="1574800"/>
          </a:xfrm>
          <a:custGeom>
            <a:avLst/>
            <a:gdLst>
              <a:gd name="T0" fmla="*/ 0 w 12192000"/>
              <a:gd name="T1" fmla="*/ 307628 h 1568450"/>
              <a:gd name="T2" fmla="*/ 1760856 w 12192000"/>
              <a:gd name="T3" fmla="*/ 307628 h 1568450"/>
              <a:gd name="T4" fmla="*/ 1760856 w 12192000"/>
              <a:gd name="T5" fmla="*/ 0 h 1568450"/>
              <a:gd name="T6" fmla="*/ 0 w 12192000"/>
              <a:gd name="T7" fmla="*/ 0 h 1568450"/>
              <a:gd name="T8" fmla="*/ 0 w 12192000"/>
              <a:gd name="T9" fmla="*/ 307628 h 15684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568450">
                <a:moveTo>
                  <a:pt x="0" y="1568196"/>
                </a:moveTo>
                <a:lnTo>
                  <a:pt x="12192000" y="1568196"/>
                </a:lnTo>
                <a:lnTo>
                  <a:pt x="12192000" y="0"/>
                </a:lnTo>
                <a:lnTo>
                  <a:pt x="0" y="0"/>
                </a:lnTo>
                <a:lnTo>
                  <a:pt x="0" y="1568196"/>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1023" name="object 21"/>
          <p:cNvSpPr txBox="1">
            <a:spLocks noChangeArrowheads="1"/>
          </p:cNvSpPr>
          <p:nvPr/>
        </p:nvSpPr>
        <p:spPr bwMode="auto">
          <a:xfrm>
            <a:off x="433754" y="1678354"/>
            <a:ext cx="10937631" cy="1413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indent="4749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安全“是动态的而不是静态的“，威胁来源和攻击手段在变化，必须树立动态、综合的防护理念。</a:t>
            </a:r>
            <a:endParaRPr lang="zh-CN" altLang="zh-CN" sz="2215">
              <a:latin typeface="微软雅黑" panose="020B0503020204020204" charset="-122"/>
              <a:ea typeface="微软雅黑" panose="020B0503020204020204" charset="-122"/>
            </a:endParaRPr>
          </a:p>
          <a:p>
            <a:pPr>
              <a:lnSpc>
                <a:spcPts val="1790"/>
              </a:lnSpc>
              <a:spcBef>
                <a:spcPts val="515"/>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dynamic rather than static</a:t>
            </a:r>
            <a:r>
              <a:rPr lang="zh-CN" altLang="zh-CN" sz="1845">
                <a:solidFill>
                  <a:srgbClr val="001F5F"/>
                </a:solidFill>
                <a:latin typeface="微软雅黑" panose="020B0503020204020204" charset="-122"/>
                <a:ea typeface="微软雅黑" panose="020B0503020204020204" charset="-122"/>
              </a:rPr>
              <a:t>. Threat sources and attack approaches are</a:t>
            </a:r>
            <a:endParaRPr lang="zh-CN" altLang="zh-CN" sz="1845">
              <a:latin typeface="微软雅黑" panose="020B0503020204020204" charset="-122"/>
              <a:ea typeface="微软雅黑" panose="020B0503020204020204" charset="-122"/>
            </a:endParaRPr>
          </a:p>
          <a:p>
            <a:pPr>
              <a:lnSpc>
                <a:spcPts val="1700"/>
              </a:lnSpc>
              <a:spcBef>
                <a:spcPct val="0"/>
              </a:spcBef>
              <a:buClrTx/>
              <a:buFontTx/>
              <a:buNone/>
            </a:pPr>
            <a:r>
              <a:rPr lang="zh-CN" altLang="zh-CN" sz="1845">
                <a:solidFill>
                  <a:srgbClr val="001F5F"/>
                </a:solidFill>
                <a:latin typeface="微软雅黑" panose="020B0503020204020204" charset="-122"/>
                <a:ea typeface="微软雅黑" panose="020B0503020204020204" charset="-122"/>
              </a:rPr>
              <a:t>always evolving. A set of dynamic and comprehensive protection concepts should be established.</a:t>
            </a:r>
            <a:endParaRPr lang="zh-CN" altLang="zh-CN" sz="1845">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object 2"/>
          <p:cNvSpPr/>
          <p:nvPr/>
        </p:nvSpPr>
        <p:spPr bwMode="auto">
          <a:xfrm>
            <a:off x="160215" y="60569"/>
            <a:ext cx="11787554" cy="1459524"/>
          </a:xfrm>
          <a:custGeom>
            <a:avLst/>
            <a:gdLst>
              <a:gd name="T0" fmla="*/ 0 w 12192000"/>
              <a:gd name="T1" fmla="*/ 647508 h 1292860"/>
              <a:gd name="T2" fmla="*/ 1767877 w 12192000"/>
              <a:gd name="T3" fmla="*/ 647508 h 1292860"/>
              <a:gd name="T4" fmla="*/ 1767877 w 12192000"/>
              <a:gd name="T5" fmla="*/ 0 h 1292860"/>
              <a:gd name="T6" fmla="*/ 0 w 12192000"/>
              <a:gd name="T7" fmla="*/ 0 h 1292860"/>
              <a:gd name="T8" fmla="*/ 0 w 12192000"/>
              <a:gd name="T9" fmla="*/ 647508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2035" name="object 2"/>
          <p:cNvSpPr/>
          <p:nvPr/>
        </p:nvSpPr>
        <p:spPr bwMode="auto">
          <a:xfrm>
            <a:off x="160215" y="3470031"/>
            <a:ext cx="11787554" cy="3499338"/>
          </a:xfrm>
          <a:custGeom>
            <a:avLst/>
            <a:gdLst>
              <a:gd name="T0" fmla="*/ 0 w 12192000"/>
              <a:gd name="T1" fmla="*/ 378583 h 3792220"/>
              <a:gd name="T2" fmla="*/ 1767877 w 12192000"/>
              <a:gd name="T3" fmla="*/ 378583 h 3792220"/>
              <a:gd name="T4" fmla="*/ 1767877 w 12192000"/>
              <a:gd name="T5" fmla="*/ 0 h 3792220"/>
              <a:gd name="T6" fmla="*/ 0 w 12192000"/>
              <a:gd name="T7" fmla="*/ 0 h 3792220"/>
              <a:gd name="T8" fmla="*/ 0 w 12192000"/>
              <a:gd name="T9" fmla="*/ 378583 h 3792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792220">
                <a:moveTo>
                  <a:pt x="0" y="3791711"/>
                </a:moveTo>
                <a:lnTo>
                  <a:pt x="12192000" y="3791711"/>
                </a:lnTo>
                <a:lnTo>
                  <a:pt x="12192000" y="0"/>
                </a:lnTo>
                <a:lnTo>
                  <a:pt x="0" y="0"/>
                </a:lnTo>
                <a:lnTo>
                  <a:pt x="0" y="3791711"/>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2036" name="object 10"/>
          <p:cNvSpPr/>
          <p:nvPr/>
        </p:nvSpPr>
        <p:spPr bwMode="auto">
          <a:xfrm>
            <a:off x="160215" y="1293447"/>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2037" name="object 11"/>
          <p:cNvSpPr/>
          <p:nvPr/>
        </p:nvSpPr>
        <p:spPr bwMode="auto">
          <a:xfrm>
            <a:off x="158262" y="1520093"/>
            <a:ext cx="11789508" cy="1649046"/>
          </a:xfrm>
          <a:custGeom>
            <a:avLst/>
            <a:gdLst>
              <a:gd name="T0" fmla="*/ 0 w 12192000"/>
              <a:gd name="T1" fmla="*/ 178985 h 1786255"/>
              <a:gd name="T2" fmla="*/ 1770222 w 12192000"/>
              <a:gd name="T3" fmla="*/ 178985 h 1786255"/>
              <a:gd name="T4" fmla="*/ 1770222 w 12192000"/>
              <a:gd name="T5" fmla="*/ 0 h 1786255"/>
              <a:gd name="T6" fmla="*/ 0 w 12192000"/>
              <a:gd name="T7" fmla="*/ 0 h 1786255"/>
              <a:gd name="T8" fmla="*/ 0 w 12192000"/>
              <a:gd name="T9" fmla="*/ 178985 h 17862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786255">
                <a:moveTo>
                  <a:pt x="0" y="1786127"/>
                </a:moveTo>
                <a:lnTo>
                  <a:pt x="12192000" y="1786127"/>
                </a:lnTo>
                <a:lnTo>
                  <a:pt x="12192000" y="0"/>
                </a:lnTo>
                <a:lnTo>
                  <a:pt x="0" y="0"/>
                </a:lnTo>
                <a:lnTo>
                  <a:pt x="0" y="1786127"/>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2038" name="object 12"/>
          <p:cNvSpPr>
            <a:spLocks noChangeArrowheads="1"/>
          </p:cNvSpPr>
          <p:nvPr/>
        </p:nvSpPr>
        <p:spPr bwMode="auto">
          <a:xfrm>
            <a:off x="271585" y="234462"/>
            <a:ext cx="3890107" cy="1000369"/>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2039" name="object 13"/>
          <p:cNvSpPr>
            <a:spLocks noChangeArrowheads="1"/>
          </p:cNvSpPr>
          <p:nvPr/>
        </p:nvSpPr>
        <p:spPr bwMode="auto">
          <a:xfrm>
            <a:off x="3550139" y="234462"/>
            <a:ext cx="2016369" cy="100036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2040" name="object 14"/>
          <p:cNvSpPr>
            <a:spLocks noGrp="1" noChangeArrowheads="1"/>
          </p:cNvSpPr>
          <p:nvPr>
            <p:ph type="title"/>
          </p:nvPr>
        </p:nvSpPr>
        <p:spPr>
          <a:xfrm>
            <a:off x="580293" y="424180"/>
            <a:ext cx="8016630"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认识论</a:t>
            </a:r>
            <a:endParaRPr lang="zh-CN" altLang="zh-CN" i="1">
              <a:solidFill>
                <a:srgbClr val="FF0000"/>
              </a:solidFill>
              <a:latin typeface="微软雅黑" panose="020B0503020204020204" charset="-122"/>
              <a:ea typeface="微软雅黑" panose="020B0503020204020204" charset="-122"/>
            </a:endParaRPr>
          </a:p>
        </p:txBody>
      </p:sp>
      <p:sp>
        <p:nvSpPr>
          <p:cNvPr id="172041" name="object 15"/>
          <p:cNvSpPr>
            <a:spLocks noChangeArrowheads="1"/>
          </p:cNvSpPr>
          <p:nvPr/>
        </p:nvSpPr>
        <p:spPr bwMode="auto">
          <a:xfrm>
            <a:off x="357554" y="767862"/>
            <a:ext cx="7074876"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2042" name="object 16"/>
          <p:cNvSpPr>
            <a:spLocks noChangeArrowheads="1"/>
          </p:cNvSpPr>
          <p:nvPr/>
        </p:nvSpPr>
        <p:spPr bwMode="auto">
          <a:xfrm>
            <a:off x="7000631" y="767862"/>
            <a:ext cx="2676769"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2043" name="object 17"/>
          <p:cNvSpPr txBox="1">
            <a:spLocks noChangeArrowheads="1"/>
          </p:cNvSpPr>
          <p:nvPr/>
        </p:nvSpPr>
        <p:spPr bwMode="auto">
          <a:xfrm>
            <a:off x="550985" y="879231"/>
            <a:ext cx="89095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Epistemology</a:t>
            </a:r>
            <a:endParaRPr lang="zh-CN" altLang="zh-CN" sz="2585">
              <a:latin typeface="微软雅黑" panose="020B0503020204020204" charset="-122"/>
              <a:ea typeface="微软雅黑" panose="020B0503020204020204" charset="-122"/>
            </a:endParaRPr>
          </a:p>
        </p:txBody>
      </p:sp>
      <p:sp>
        <p:nvSpPr>
          <p:cNvPr id="172044" name="object 18"/>
          <p:cNvSpPr txBox="1">
            <a:spLocks noChangeArrowheads="1"/>
          </p:cNvSpPr>
          <p:nvPr/>
        </p:nvSpPr>
        <p:spPr bwMode="auto">
          <a:xfrm>
            <a:off x="357554" y="1590431"/>
            <a:ext cx="11271738" cy="1539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indent="4749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安全“是整体的而不是割裂的“，要认识到网络安全与政治安全、经济安全、社会安 全、文化安全、国防安全相辅相成；要认识到国家拥有网络空间主权。</a:t>
            </a:r>
            <a:endParaRPr lang="zh-CN" altLang="zh-CN" sz="2215">
              <a:latin typeface="微软雅黑" panose="020B0503020204020204" charset="-122"/>
              <a:ea typeface="微软雅黑" panose="020B0503020204020204" charset="-122"/>
            </a:endParaRPr>
          </a:p>
          <a:p>
            <a:pPr algn="just">
              <a:lnSpc>
                <a:spcPct val="90000"/>
              </a:lnSpc>
              <a:spcBef>
                <a:spcPts val="700"/>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holistic rather than fragmented</a:t>
            </a:r>
            <a:r>
              <a:rPr lang="zh-CN" altLang="zh-CN" sz="1845">
                <a:solidFill>
                  <a:srgbClr val="001F5F"/>
                </a:solidFill>
                <a:latin typeface="微软雅黑" panose="020B0503020204020204" charset="-122"/>
                <a:ea typeface="微软雅黑" panose="020B0503020204020204" charset="-122"/>
              </a:rPr>
              <a:t>. It should be realized that cybersecurity  complements multiple factors, including political security, economic security, community security,  cultural security, and national defense security. that the state has Sovereignty in Cyberspace.</a:t>
            </a:r>
            <a:endParaRPr lang="zh-CN" altLang="zh-CN" sz="1845">
              <a:latin typeface="微软雅黑" panose="020B0503020204020204" charset="-122"/>
              <a:ea typeface="微软雅黑" panose="020B0503020204020204" charset="-122"/>
            </a:endParaRPr>
          </a:p>
        </p:txBody>
      </p:sp>
      <p:sp>
        <p:nvSpPr>
          <p:cNvPr id="172045" name="object 19"/>
          <p:cNvSpPr txBox="1">
            <a:spLocks noChangeArrowheads="1"/>
          </p:cNvSpPr>
          <p:nvPr/>
        </p:nvSpPr>
        <p:spPr bwMode="auto">
          <a:xfrm>
            <a:off x="261815" y="5965092"/>
            <a:ext cx="11049001"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1845">
                <a:solidFill>
                  <a:srgbClr val="FFFF00"/>
                </a:solidFill>
                <a:latin typeface="微软雅黑 Light" panose="020B0502040204020203" pitchFamily="34" charset="-122"/>
                <a:ea typeface="微软雅黑 Light" panose="020B0502040204020203" pitchFamily="34" charset="-122"/>
              </a:rPr>
              <a:t>网络空间你中有我，我中有你。网络空间犹如一条大船，承载着整个互联网世界，各国形成了命运共同体。  </a:t>
            </a:r>
            <a:r>
              <a:rPr lang="zh-CN" altLang="zh-CN" sz="1845">
                <a:solidFill>
                  <a:srgbClr val="FFFF00"/>
                </a:solidFill>
                <a:latin typeface="Times New Roman" panose="02020603050405020304" pitchFamily="18" charset="0"/>
                <a:ea typeface="宋体" panose="02010600030101010101" pitchFamily="2" charset="-122"/>
                <a:cs typeface="Times New Roman" panose="02020603050405020304" pitchFamily="18" charset="0"/>
              </a:rPr>
              <a:t>All of us together in the cyberspace. The cyberspace is like a ship, carrying the entire Internet world, the world has  formed a community of common destiny.</a:t>
            </a:r>
            <a:endParaRPr lang="zh-CN" altLang="zh-CN" sz="1845">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2046" name="object 20"/>
          <p:cNvSpPr>
            <a:spLocks noChangeArrowheads="1"/>
          </p:cNvSpPr>
          <p:nvPr/>
        </p:nvSpPr>
        <p:spPr bwMode="auto">
          <a:xfrm>
            <a:off x="6611815" y="3565769"/>
            <a:ext cx="4134338" cy="2356338"/>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2047" name="object 21"/>
          <p:cNvSpPr>
            <a:spLocks noChangeArrowheads="1"/>
          </p:cNvSpPr>
          <p:nvPr/>
        </p:nvSpPr>
        <p:spPr bwMode="auto">
          <a:xfrm>
            <a:off x="898769" y="3526692"/>
            <a:ext cx="4243754" cy="243449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object 2"/>
          <p:cNvSpPr/>
          <p:nvPr/>
        </p:nvSpPr>
        <p:spPr bwMode="auto">
          <a:xfrm>
            <a:off x="158262" y="123092"/>
            <a:ext cx="11609754" cy="1397001"/>
          </a:xfrm>
          <a:custGeom>
            <a:avLst/>
            <a:gdLst>
              <a:gd name="T0" fmla="*/ 0 w 12192000"/>
              <a:gd name="T1" fmla="*/ 456172 h 1292860"/>
              <a:gd name="T2" fmla="*/ 1565476 w 12192000"/>
              <a:gd name="T3" fmla="*/ 456172 h 1292860"/>
              <a:gd name="T4" fmla="*/ 1565476 w 12192000"/>
              <a:gd name="T5" fmla="*/ 0 h 1292860"/>
              <a:gd name="T6" fmla="*/ 0 w 12192000"/>
              <a:gd name="T7" fmla="*/ 0 h 1292860"/>
              <a:gd name="T8" fmla="*/ 0 w 12192000"/>
              <a:gd name="T9" fmla="*/ 456172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3059" name="object 2"/>
          <p:cNvSpPr/>
          <p:nvPr/>
        </p:nvSpPr>
        <p:spPr bwMode="auto">
          <a:xfrm>
            <a:off x="169985" y="3386015"/>
            <a:ext cx="11598031" cy="3499339"/>
          </a:xfrm>
          <a:custGeom>
            <a:avLst/>
            <a:gdLst>
              <a:gd name="T0" fmla="*/ 0 w 12192000"/>
              <a:gd name="T1" fmla="*/ 378583 h 3792220"/>
              <a:gd name="T2" fmla="*/ 1552875 w 12192000"/>
              <a:gd name="T3" fmla="*/ 378583 h 3792220"/>
              <a:gd name="T4" fmla="*/ 1552875 w 12192000"/>
              <a:gd name="T5" fmla="*/ 0 h 3792220"/>
              <a:gd name="T6" fmla="*/ 0 w 12192000"/>
              <a:gd name="T7" fmla="*/ 0 h 3792220"/>
              <a:gd name="T8" fmla="*/ 0 w 12192000"/>
              <a:gd name="T9" fmla="*/ 378583 h 3792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792220">
                <a:moveTo>
                  <a:pt x="0" y="3791711"/>
                </a:moveTo>
                <a:lnTo>
                  <a:pt x="12192000" y="3791711"/>
                </a:lnTo>
                <a:lnTo>
                  <a:pt x="12192000" y="0"/>
                </a:lnTo>
                <a:lnTo>
                  <a:pt x="0" y="0"/>
                </a:lnTo>
                <a:lnTo>
                  <a:pt x="0" y="3791711"/>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3060" name="object 10"/>
          <p:cNvSpPr/>
          <p:nvPr/>
        </p:nvSpPr>
        <p:spPr bwMode="auto">
          <a:xfrm>
            <a:off x="169985" y="1342292"/>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3061" name="object 11"/>
          <p:cNvSpPr>
            <a:spLocks noChangeArrowheads="1"/>
          </p:cNvSpPr>
          <p:nvPr/>
        </p:nvSpPr>
        <p:spPr bwMode="auto">
          <a:xfrm>
            <a:off x="281354" y="283308"/>
            <a:ext cx="3890108" cy="1000369"/>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62" name="object 12"/>
          <p:cNvSpPr>
            <a:spLocks noChangeArrowheads="1"/>
          </p:cNvSpPr>
          <p:nvPr/>
        </p:nvSpPr>
        <p:spPr bwMode="auto">
          <a:xfrm>
            <a:off x="3559908" y="283308"/>
            <a:ext cx="2016369" cy="100036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63" name="object 13"/>
          <p:cNvSpPr>
            <a:spLocks noGrp="1" noChangeArrowheads="1"/>
          </p:cNvSpPr>
          <p:nvPr>
            <p:ph type="title"/>
          </p:nvPr>
        </p:nvSpPr>
        <p:spPr>
          <a:xfrm>
            <a:off x="570523" y="452511"/>
            <a:ext cx="8016631"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认识论</a:t>
            </a:r>
            <a:endParaRPr lang="zh-CN" altLang="zh-CN" i="1">
              <a:solidFill>
                <a:srgbClr val="FF0000"/>
              </a:solidFill>
              <a:latin typeface="微软雅黑" panose="020B0503020204020204" charset="-122"/>
              <a:ea typeface="微软雅黑" panose="020B0503020204020204" charset="-122"/>
            </a:endParaRPr>
          </a:p>
        </p:txBody>
      </p:sp>
      <p:sp>
        <p:nvSpPr>
          <p:cNvPr id="173064" name="object 14"/>
          <p:cNvSpPr>
            <a:spLocks noChangeArrowheads="1"/>
          </p:cNvSpPr>
          <p:nvPr/>
        </p:nvSpPr>
        <p:spPr bwMode="auto">
          <a:xfrm>
            <a:off x="367323" y="816708"/>
            <a:ext cx="7074878"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65" name="object 15"/>
          <p:cNvSpPr>
            <a:spLocks noChangeArrowheads="1"/>
          </p:cNvSpPr>
          <p:nvPr/>
        </p:nvSpPr>
        <p:spPr bwMode="auto">
          <a:xfrm>
            <a:off x="7010400" y="816708"/>
            <a:ext cx="2676769"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66" name="object 16"/>
          <p:cNvSpPr txBox="1">
            <a:spLocks noChangeArrowheads="1"/>
          </p:cNvSpPr>
          <p:nvPr/>
        </p:nvSpPr>
        <p:spPr bwMode="auto">
          <a:xfrm>
            <a:off x="560754" y="928077"/>
            <a:ext cx="89095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Epistemology</a:t>
            </a:r>
            <a:endParaRPr lang="zh-CN" altLang="zh-CN" sz="2585">
              <a:latin typeface="微软雅黑" panose="020B0503020204020204" charset="-122"/>
              <a:ea typeface="微软雅黑" panose="020B0503020204020204" charset="-122"/>
            </a:endParaRPr>
          </a:p>
        </p:txBody>
      </p:sp>
      <p:sp>
        <p:nvSpPr>
          <p:cNvPr id="173067" name="object 17"/>
          <p:cNvSpPr>
            <a:spLocks noChangeArrowheads="1"/>
          </p:cNvSpPr>
          <p:nvPr/>
        </p:nvSpPr>
        <p:spPr bwMode="auto">
          <a:xfrm>
            <a:off x="322385" y="3479800"/>
            <a:ext cx="2622062" cy="1459524"/>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68" name="object 18"/>
          <p:cNvSpPr>
            <a:spLocks noChangeArrowheads="1"/>
          </p:cNvSpPr>
          <p:nvPr/>
        </p:nvSpPr>
        <p:spPr bwMode="auto">
          <a:xfrm>
            <a:off x="2944447" y="3950678"/>
            <a:ext cx="1035538" cy="851877"/>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69" name="object 19"/>
          <p:cNvSpPr txBox="1">
            <a:spLocks noChangeArrowheads="1"/>
          </p:cNvSpPr>
          <p:nvPr/>
        </p:nvSpPr>
        <p:spPr bwMode="auto">
          <a:xfrm>
            <a:off x="2944447" y="3950678"/>
            <a:ext cx="1035538" cy="769620"/>
          </a:xfrm>
          <a:prstGeom prst="rect">
            <a:avLst/>
          </a:prstGeom>
          <a:solidFill>
            <a:srgbClr val="FFC000"/>
          </a:solidFill>
          <a:ln w="6096">
            <a:solidFill>
              <a:srgbClr val="9BBA58"/>
            </a:solidFill>
            <a:miter lim="800000"/>
          </a:ln>
        </p:spPr>
        <p:txBody>
          <a:bodyPr lIns="0" tIns="31652" rIns="0" bIns="0">
            <a:spAutoFit/>
          </a:bodyPr>
          <a:lstStyle>
            <a:lvl1pPr marL="116205" indent="-400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ts val="200"/>
              </a:spcBef>
              <a:buClrTx/>
              <a:buFontTx/>
              <a:buNone/>
            </a:pPr>
            <a:r>
              <a:rPr lang="zh-CN" altLang="zh-CN" sz="1600">
                <a:latin typeface="微软雅黑" panose="020B0503020204020204" charset="-122"/>
                <a:ea typeface="微软雅黑" panose="020B0503020204020204" charset="-122"/>
              </a:rPr>
              <a:t>政治安全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political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070" name="object 20"/>
          <p:cNvSpPr>
            <a:spLocks noChangeArrowheads="1"/>
          </p:cNvSpPr>
          <p:nvPr/>
        </p:nvSpPr>
        <p:spPr bwMode="auto">
          <a:xfrm>
            <a:off x="332154" y="5060462"/>
            <a:ext cx="2612293" cy="1551354"/>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71" name="object 21"/>
          <p:cNvSpPr>
            <a:spLocks noChangeArrowheads="1"/>
          </p:cNvSpPr>
          <p:nvPr/>
        </p:nvSpPr>
        <p:spPr bwMode="auto">
          <a:xfrm>
            <a:off x="2944447" y="5451231"/>
            <a:ext cx="1074615" cy="85383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72" name="object 22"/>
          <p:cNvSpPr txBox="1">
            <a:spLocks noChangeArrowheads="1"/>
          </p:cNvSpPr>
          <p:nvPr/>
        </p:nvSpPr>
        <p:spPr bwMode="auto">
          <a:xfrm>
            <a:off x="2944447" y="5451231"/>
            <a:ext cx="1074615" cy="769620"/>
          </a:xfrm>
          <a:prstGeom prst="rect">
            <a:avLst/>
          </a:prstGeom>
          <a:solidFill>
            <a:srgbClr val="FFC000"/>
          </a:solidFill>
          <a:ln w="6096">
            <a:solidFill>
              <a:srgbClr val="9BBA58"/>
            </a:solidFill>
            <a:miter lim="800000"/>
          </a:ln>
        </p:spPr>
        <p:txBody>
          <a:bodyPr lIns="0" tIns="31652" rIns="0" bIns="0">
            <a:spAutoFit/>
          </a:bodyPr>
          <a:lstStyle>
            <a:lvl1pPr marL="79375" indent="-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just">
              <a:spcBef>
                <a:spcPts val="200"/>
              </a:spcBef>
              <a:buClrTx/>
              <a:buFontTx/>
              <a:buNone/>
            </a:pPr>
            <a:r>
              <a:rPr lang="zh-CN" altLang="zh-CN" sz="1600">
                <a:latin typeface="微软雅黑" panose="020B0503020204020204" charset="-122"/>
                <a:ea typeface="微软雅黑" panose="020B0503020204020204" charset="-122"/>
              </a:rPr>
              <a:t>经济安全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economic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073" name="object 23"/>
          <p:cNvSpPr>
            <a:spLocks noChangeArrowheads="1"/>
          </p:cNvSpPr>
          <p:nvPr/>
        </p:nvSpPr>
        <p:spPr bwMode="auto">
          <a:xfrm>
            <a:off x="4249616" y="3495431"/>
            <a:ext cx="2557584" cy="1441938"/>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74" name="object 24"/>
          <p:cNvSpPr>
            <a:spLocks noChangeArrowheads="1"/>
          </p:cNvSpPr>
          <p:nvPr/>
        </p:nvSpPr>
        <p:spPr bwMode="auto">
          <a:xfrm>
            <a:off x="6807200" y="3929185"/>
            <a:ext cx="1189893" cy="851877"/>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75" name="object 25"/>
          <p:cNvSpPr txBox="1">
            <a:spLocks noChangeArrowheads="1"/>
          </p:cNvSpPr>
          <p:nvPr/>
        </p:nvSpPr>
        <p:spPr bwMode="auto">
          <a:xfrm>
            <a:off x="6807200" y="3929185"/>
            <a:ext cx="1189893" cy="768985"/>
          </a:xfrm>
          <a:prstGeom prst="rect">
            <a:avLst/>
          </a:prstGeom>
          <a:solidFill>
            <a:srgbClr val="FFC000"/>
          </a:solidFill>
          <a:ln w="6096">
            <a:solidFill>
              <a:srgbClr val="9BBA58"/>
            </a:solidFill>
            <a:miter lim="800000"/>
          </a:ln>
        </p:spPr>
        <p:txBody>
          <a:bodyPr lIns="0" tIns="31067" rIns="0" bIns="0">
            <a:spAutoFit/>
          </a:bodyPr>
          <a:lstStyle>
            <a:lvl1pPr marL="69850" indent="-400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ts val="200"/>
              </a:spcBef>
              <a:buClrTx/>
              <a:buFontTx/>
              <a:buNone/>
            </a:pPr>
            <a:r>
              <a:rPr lang="zh-CN" altLang="zh-CN" sz="1600">
                <a:latin typeface="微软雅黑" panose="020B0503020204020204" charset="-122"/>
                <a:ea typeface="微软雅黑" panose="020B0503020204020204" charset="-122"/>
              </a:rPr>
              <a:t>社会安全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Community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076" name="object 26"/>
          <p:cNvSpPr>
            <a:spLocks noChangeArrowheads="1"/>
          </p:cNvSpPr>
          <p:nvPr/>
        </p:nvSpPr>
        <p:spPr bwMode="auto">
          <a:xfrm>
            <a:off x="6818923" y="5474678"/>
            <a:ext cx="1086338" cy="853830"/>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77" name="object 27"/>
          <p:cNvSpPr txBox="1">
            <a:spLocks noChangeArrowheads="1"/>
          </p:cNvSpPr>
          <p:nvPr/>
        </p:nvSpPr>
        <p:spPr bwMode="auto">
          <a:xfrm>
            <a:off x="6818923" y="5474678"/>
            <a:ext cx="1086338" cy="769620"/>
          </a:xfrm>
          <a:prstGeom prst="rect">
            <a:avLst/>
          </a:prstGeom>
          <a:solidFill>
            <a:srgbClr val="FFC000"/>
          </a:solidFill>
          <a:ln w="6096">
            <a:solidFill>
              <a:srgbClr val="9BBA58"/>
            </a:solidFill>
            <a:miter lim="800000"/>
          </a:ln>
        </p:spPr>
        <p:txBody>
          <a:bodyPr lIns="0" tIns="31652" rIns="0" bIns="0">
            <a:spAutoFit/>
          </a:bodyPr>
          <a:lstStyle>
            <a:lvl1pPr marL="155575" indent="-812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ts val="200"/>
              </a:spcBef>
              <a:buClrTx/>
              <a:buFontTx/>
              <a:buNone/>
            </a:pPr>
            <a:r>
              <a:rPr lang="zh-CN" altLang="zh-CN" sz="1600">
                <a:latin typeface="微软雅黑" panose="020B0503020204020204" charset="-122"/>
                <a:ea typeface="微软雅黑" panose="020B0503020204020204" charset="-122"/>
              </a:rPr>
              <a:t>文化安全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cultural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078" name="object 28"/>
          <p:cNvSpPr>
            <a:spLocks noChangeArrowheads="1"/>
          </p:cNvSpPr>
          <p:nvPr/>
        </p:nvSpPr>
        <p:spPr bwMode="auto">
          <a:xfrm>
            <a:off x="8280400" y="3532554"/>
            <a:ext cx="3016738" cy="2157046"/>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79" name="object 29"/>
          <p:cNvSpPr>
            <a:spLocks noChangeArrowheads="1"/>
          </p:cNvSpPr>
          <p:nvPr/>
        </p:nvSpPr>
        <p:spPr bwMode="auto">
          <a:xfrm>
            <a:off x="9044354" y="5707185"/>
            <a:ext cx="1666630" cy="853831"/>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80" name="object 30"/>
          <p:cNvSpPr txBox="1">
            <a:spLocks noChangeArrowheads="1"/>
          </p:cNvSpPr>
          <p:nvPr/>
        </p:nvSpPr>
        <p:spPr bwMode="auto">
          <a:xfrm>
            <a:off x="9044354" y="5707185"/>
            <a:ext cx="1666630" cy="769620"/>
          </a:xfrm>
          <a:prstGeom prst="rect">
            <a:avLst/>
          </a:prstGeom>
          <a:solidFill>
            <a:srgbClr val="FFC000"/>
          </a:solidFill>
          <a:ln w="6096">
            <a:solidFill>
              <a:srgbClr val="9BBA58"/>
            </a:solidFill>
            <a:miter lim="800000"/>
          </a:ln>
        </p:spPr>
        <p:txBody>
          <a:bodyPr lIns="0" tIns="31652" rIns="0" bIns="0">
            <a:spAutoFit/>
          </a:bodyPr>
          <a:lstStyle>
            <a:lvl1pPr marL="1143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ts val="200"/>
              </a:spcBef>
              <a:buClrTx/>
              <a:buFontTx/>
              <a:buNone/>
            </a:pPr>
            <a:r>
              <a:rPr lang="zh-CN" altLang="zh-CN" sz="1600">
                <a:latin typeface="微软雅黑" panose="020B0503020204020204" charset="-122"/>
                <a:ea typeface="微软雅黑" panose="020B0503020204020204" charset="-122"/>
              </a:rPr>
              <a:t>国防安全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national defense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081" name="object 31"/>
          <p:cNvSpPr>
            <a:spLocks noChangeArrowheads="1"/>
          </p:cNvSpPr>
          <p:nvPr/>
        </p:nvSpPr>
        <p:spPr bwMode="auto">
          <a:xfrm>
            <a:off x="4257431" y="5144477"/>
            <a:ext cx="2549769" cy="1647093"/>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3082" name="object 32"/>
          <p:cNvSpPr/>
          <p:nvPr/>
        </p:nvSpPr>
        <p:spPr bwMode="auto">
          <a:xfrm>
            <a:off x="169985" y="1652954"/>
            <a:ext cx="11598031" cy="1649046"/>
          </a:xfrm>
          <a:custGeom>
            <a:avLst/>
            <a:gdLst>
              <a:gd name="T0" fmla="*/ 0 w 12192000"/>
              <a:gd name="T1" fmla="*/ 178985 h 1786255"/>
              <a:gd name="T2" fmla="*/ 1552875 w 12192000"/>
              <a:gd name="T3" fmla="*/ 178985 h 1786255"/>
              <a:gd name="T4" fmla="*/ 1552875 w 12192000"/>
              <a:gd name="T5" fmla="*/ 0 h 1786255"/>
              <a:gd name="T6" fmla="*/ 0 w 12192000"/>
              <a:gd name="T7" fmla="*/ 0 h 1786255"/>
              <a:gd name="T8" fmla="*/ 0 w 12192000"/>
              <a:gd name="T9" fmla="*/ 178985 h 17862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786255">
                <a:moveTo>
                  <a:pt x="0" y="1786127"/>
                </a:moveTo>
                <a:lnTo>
                  <a:pt x="12192000" y="1786127"/>
                </a:lnTo>
                <a:lnTo>
                  <a:pt x="12192000" y="0"/>
                </a:lnTo>
                <a:lnTo>
                  <a:pt x="0" y="0"/>
                </a:lnTo>
                <a:lnTo>
                  <a:pt x="0" y="1786127"/>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3083" name="object 33"/>
          <p:cNvSpPr txBox="1">
            <a:spLocks noChangeArrowheads="1"/>
          </p:cNvSpPr>
          <p:nvPr/>
        </p:nvSpPr>
        <p:spPr bwMode="auto">
          <a:xfrm>
            <a:off x="242277" y="1649047"/>
            <a:ext cx="11019692" cy="1539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indent="4749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安全“是整体的而不是割裂的“，要认识到网络安全与政治安全、经济安全、社会安  全、文化安全、国防安全相辅相成；要认识到国家拥有网络空间主权。</a:t>
            </a:r>
            <a:endParaRPr lang="zh-CN" altLang="zh-CN" sz="2215">
              <a:latin typeface="微软雅黑" panose="020B0503020204020204" charset="-122"/>
              <a:ea typeface="微软雅黑" panose="020B0503020204020204" charset="-122"/>
            </a:endParaRPr>
          </a:p>
          <a:p>
            <a:pPr algn="just">
              <a:lnSpc>
                <a:spcPct val="90000"/>
              </a:lnSpc>
              <a:spcBef>
                <a:spcPts val="700"/>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holistic rather than fragmented</a:t>
            </a:r>
            <a:r>
              <a:rPr lang="zh-CN" altLang="zh-CN" sz="1845">
                <a:solidFill>
                  <a:srgbClr val="001F5F"/>
                </a:solidFill>
                <a:latin typeface="微软雅黑" panose="020B0503020204020204" charset="-122"/>
                <a:ea typeface="微软雅黑" panose="020B0503020204020204" charset="-122"/>
              </a:rPr>
              <a:t>. It should be realized that cybersecurity  complements multiple factors, including political security, economic security, community security,  cultural security, and national defense security. that the state has Sovereignty in Cyberspace.</a:t>
            </a:r>
            <a:endParaRPr lang="zh-CN" altLang="zh-CN" sz="1845">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object 2"/>
          <p:cNvSpPr/>
          <p:nvPr/>
        </p:nvSpPr>
        <p:spPr bwMode="auto">
          <a:xfrm>
            <a:off x="158262" y="150446"/>
            <a:ext cx="11697676" cy="1369647"/>
          </a:xfrm>
          <a:custGeom>
            <a:avLst/>
            <a:gdLst>
              <a:gd name="T0" fmla="*/ 0 w 12192000"/>
              <a:gd name="T1" fmla="*/ 389425 h 1292860"/>
              <a:gd name="T2" fmla="*/ 1662873 w 12192000"/>
              <a:gd name="T3" fmla="*/ 389425 h 1292860"/>
              <a:gd name="T4" fmla="*/ 1662873 w 12192000"/>
              <a:gd name="T5" fmla="*/ 0 h 1292860"/>
              <a:gd name="T6" fmla="*/ 0 w 12192000"/>
              <a:gd name="T7" fmla="*/ 0 h 1292860"/>
              <a:gd name="T8" fmla="*/ 0 w 12192000"/>
              <a:gd name="T9" fmla="*/ 389425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4083" name="object 2"/>
          <p:cNvSpPr/>
          <p:nvPr/>
        </p:nvSpPr>
        <p:spPr bwMode="auto">
          <a:xfrm>
            <a:off x="168031" y="3462216"/>
            <a:ext cx="11687908" cy="3501292"/>
          </a:xfrm>
          <a:custGeom>
            <a:avLst/>
            <a:gdLst>
              <a:gd name="T0" fmla="*/ 0 w 12192000"/>
              <a:gd name="T1" fmla="*/ 380278 h 3792220"/>
              <a:gd name="T2" fmla="*/ 1651796 w 12192000"/>
              <a:gd name="T3" fmla="*/ 380278 h 3792220"/>
              <a:gd name="T4" fmla="*/ 1651796 w 12192000"/>
              <a:gd name="T5" fmla="*/ 0 h 3792220"/>
              <a:gd name="T6" fmla="*/ 0 w 12192000"/>
              <a:gd name="T7" fmla="*/ 0 h 3792220"/>
              <a:gd name="T8" fmla="*/ 0 w 12192000"/>
              <a:gd name="T9" fmla="*/ 380278 h 3792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792220">
                <a:moveTo>
                  <a:pt x="0" y="3791711"/>
                </a:moveTo>
                <a:lnTo>
                  <a:pt x="12192000" y="3791711"/>
                </a:lnTo>
                <a:lnTo>
                  <a:pt x="12192000" y="0"/>
                </a:lnTo>
                <a:lnTo>
                  <a:pt x="0" y="0"/>
                </a:lnTo>
                <a:lnTo>
                  <a:pt x="0" y="3791711"/>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4084" name="object 10"/>
          <p:cNvSpPr/>
          <p:nvPr/>
        </p:nvSpPr>
        <p:spPr bwMode="auto">
          <a:xfrm>
            <a:off x="168031" y="1375508"/>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4085" name="object 11"/>
          <p:cNvSpPr>
            <a:spLocks noChangeArrowheads="1"/>
          </p:cNvSpPr>
          <p:nvPr/>
        </p:nvSpPr>
        <p:spPr bwMode="auto">
          <a:xfrm>
            <a:off x="277446" y="316524"/>
            <a:ext cx="3892062" cy="1000369"/>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86" name="object 12"/>
          <p:cNvSpPr>
            <a:spLocks noChangeArrowheads="1"/>
          </p:cNvSpPr>
          <p:nvPr/>
        </p:nvSpPr>
        <p:spPr bwMode="auto">
          <a:xfrm>
            <a:off x="3557954" y="316524"/>
            <a:ext cx="2016369" cy="100036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87" name="object 13"/>
          <p:cNvSpPr>
            <a:spLocks noGrp="1" noChangeArrowheads="1"/>
          </p:cNvSpPr>
          <p:nvPr>
            <p:ph type="title"/>
          </p:nvPr>
        </p:nvSpPr>
        <p:spPr>
          <a:xfrm>
            <a:off x="562708" y="454465"/>
            <a:ext cx="8018585"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认识论</a:t>
            </a:r>
            <a:endParaRPr lang="zh-CN" altLang="zh-CN" i="1">
              <a:solidFill>
                <a:srgbClr val="FF0000"/>
              </a:solidFill>
              <a:latin typeface="微软雅黑" panose="020B0503020204020204" charset="-122"/>
              <a:ea typeface="微软雅黑" panose="020B0503020204020204" charset="-122"/>
            </a:endParaRPr>
          </a:p>
        </p:txBody>
      </p:sp>
      <p:sp>
        <p:nvSpPr>
          <p:cNvPr id="174088" name="object 14"/>
          <p:cNvSpPr>
            <a:spLocks noChangeArrowheads="1"/>
          </p:cNvSpPr>
          <p:nvPr/>
        </p:nvSpPr>
        <p:spPr bwMode="auto">
          <a:xfrm>
            <a:off x="365370" y="849923"/>
            <a:ext cx="7074876"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89" name="object 15"/>
          <p:cNvSpPr>
            <a:spLocks noChangeArrowheads="1"/>
          </p:cNvSpPr>
          <p:nvPr/>
        </p:nvSpPr>
        <p:spPr bwMode="auto">
          <a:xfrm>
            <a:off x="7008447" y="849923"/>
            <a:ext cx="2676769"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90" name="object 16"/>
          <p:cNvSpPr txBox="1">
            <a:spLocks noChangeArrowheads="1"/>
          </p:cNvSpPr>
          <p:nvPr/>
        </p:nvSpPr>
        <p:spPr bwMode="auto">
          <a:xfrm>
            <a:off x="556847" y="961293"/>
            <a:ext cx="891149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Epistemology</a:t>
            </a:r>
            <a:endParaRPr lang="zh-CN" altLang="zh-CN" sz="2585">
              <a:latin typeface="微软雅黑" panose="020B0503020204020204" charset="-122"/>
              <a:ea typeface="微软雅黑" panose="020B0503020204020204" charset="-122"/>
            </a:endParaRPr>
          </a:p>
        </p:txBody>
      </p:sp>
      <p:sp>
        <p:nvSpPr>
          <p:cNvPr id="174091" name="object 17"/>
          <p:cNvSpPr>
            <a:spLocks noChangeArrowheads="1"/>
          </p:cNvSpPr>
          <p:nvPr/>
        </p:nvSpPr>
        <p:spPr bwMode="auto">
          <a:xfrm>
            <a:off x="318478" y="3557954"/>
            <a:ext cx="2622062" cy="1459524"/>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92" name="object 18"/>
          <p:cNvSpPr>
            <a:spLocks noChangeArrowheads="1"/>
          </p:cNvSpPr>
          <p:nvPr/>
        </p:nvSpPr>
        <p:spPr bwMode="auto">
          <a:xfrm>
            <a:off x="2940539" y="3899878"/>
            <a:ext cx="1037492" cy="851877"/>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93" name="object 19"/>
          <p:cNvSpPr txBox="1">
            <a:spLocks noChangeArrowheads="1"/>
          </p:cNvSpPr>
          <p:nvPr/>
        </p:nvSpPr>
        <p:spPr bwMode="auto">
          <a:xfrm>
            <a:off x="2940539" y="3899878"/>
            <a:ext cx="1037492" cy="769620"/>
          </a:xfrm>
          <a:prstGeom prst="rect">
            <a:avLst/>
          </a:prstGeom>
          <a:solidFill>
            <a:srgbClr val="004797"/>
          </a:solidFill>
          <a:ln w="6096">
            <a:solidFill>
              <a:srgbClr val="9BBA58"/>
            </a:solidFill>
            <a:miter lim="800000"/>
          </a:ln>
        </p:spPr>
        <p:txBody>
          <a:bodyPr lIns="0" tIns="31652" rIns="0" bIns="0">
            <a:spAutoFit/>
          </a:bodyPr>
          <a:lstStyle>
            <a:lvl1pPr marL="116205" indent="-400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ts val="200"/>
              </a:spcBef>
              <a:buClrTx/>
              <a:buFontTx/>
              <a:buNone/>
            </a:pPr>
            <a:r>
              <a:rPr lang="zh-CN" altLang="zh-CN" sz="1600">
                <a:latin typeface="微软雅黑" panose="020B0503020204020204" charset="-122"/>
                <a:ea typeface="微软雅黑" panose="020B0503020204020204" charset="-122"/>
              </a:rPr>
              <a:t>政治安全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political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094" name="object 20"/>
          <p:cNvSpPr>
            <a:spLocks noChangeArrowheads="1"/>
          </p:cNvSpPr>
          <p:nvPr/>
        </p:nvSpPr>
        <p:spPr bwMode="auto">
          <a:xfrm>
            <a:off x="328246" y="5138616"/>
            <a:ext cx="2612293" cy="1551354"/>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95" name="object 21"/>
          <p:cNvSpPr>
            <a:spLocks noChangeArrowheads="1"/>
          </p:cNvSpPr>
          <p:nvPr/>
        </p:nvSpPr>
        <p:spPr bwMode="auto">
          <a:xfrm>
            <a:off x="2940539" y="5529385"/>
            <a:ext cx="1076569" cy="851877"/>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96" name="object 22"/>
          <p:cNvSpPr txBox="1">
            <a:spLocks noChangeArrowheads="1"/>
          </p:cNvSpPr>
          <p:nvPr/>
        </p:nvSpPr>
        <p:spPr bwMode="auto">
          <a:xfrm>
            <a:off x="2940539" y="5529385"/>
            <a:ext cx="1076569" cy="769620"/>
          </a:xfrm>
          <a:prstGeom prst="rect">
            <a:avLst/>
          </a:prstGeom>
          <a:solidFill>
            <a:srgbClr val="004797"/>
          </a:solidFill>
          <a:ln w="6096">
            <a:solidFill>
              <a:srgbClr val="9BBA58"/>
            </a:solidFill>
            <a:miter lim="800000"/>
          </a:ln>
        </p:spPr>
        <p:txBody>
          <a:bodyPr lIns="0" tIns="31652" rIns="0" bIns="0">
            <a:spAutoFit/>
          </a:bodyPr>
          <a:lstStyle>
            <a:lvl1pPr marL="79375" indent="-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just">
              <a:spcBef>
                <a:spcPts val="200"/>
              </a:spcBef>
              <a:buClrTx/>
              <a:buFontTx/>
              <a:buNone/>
            </a:pPr>
            <a:r>
              <a:rPr lang="zh-CN" altLang="zh-CN" sz="1600">
                <a:latin typeface="微软雅黑" panose="020B0503020204020204" charset="-122"/>
                <a:ea typeface="微软雅黑" panose="020B0503020204020204" charset="-122"/>
              </a:rPr>
              <a:t>经济安全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economic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097" name="object 23"/>
          <p:cNvSpPr>
            <a:spLocks noChangeArrowheads="1"/>
          </p:cNvSpPr>
          <p:nvPr/>
        </p:nvSpPr>
        <p:spPr bwMode="auto">
          <a:xfrm>
            <a:off x="4247662" y="3573585"/>
            <a:ext cx="2557585" cy="1441938"/>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98" name="object 24"/>
          <p:cNvSpPr>
            <a:spLocks noChangeArrowheads="1"/>
          </p:cNvSpPr>
          <p:nvPr/>
        </p:nvSpPr>
        <p:spPr bwMode="auto">
          <a:xfrm>
            <a:off x="6805247" y="3878385"/>
            <a:ext cx="1189892" cy="851877"/>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099" name="object 25"/>
          <p:cNvSpPr txBox="1">
            <a:spLocks noChangeArrowheads="1"/>
          </p:cNvSpPr>
          <p:nvPr/>
        </p:nvSpPr>
        <p:spPr bwMode="auto">
          <a:xfrm>
            <a:off x="6805247" y="3878385"/>
            <a:ext cx="1189892" cy="768985"/>
          </a:xfrm>
          <a:prstGeom prst="rect">
            <a:avLst/>
          </a:prstGeom>
          <a:solidFill>
            <a:srgbClr val="004797"/>
          </a:solidFill>
          <a:ln w="6096">
            <a:solidFill>
              <a:srgbClr val="9BBA58"/>
            </a:solidFill>
            <a:miter lim="800000"/>
          </a:ln>
        </p:spPr>
        <p:txBody>
          <a:bodyPr lIns="0" tIns="31067" rIns="0" bIns="0">
            <a:spAutoFit/>
          </a:bodyPr>
          <a:lstStyle>
            <a:lvl1pPr marL="69850" indent="-400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ts val="200"/>
              </a:spcBef>
              <a:buClrTx/>
              <a:buFontTx/>
              <a:buNone/>
            </a:pPr>
            <a:r>
              <a:rPr lang="zh-CN" altLang="zh-CN" sz="1600">
                <a:latin typeface="微软雅黑" panose="020B0503020204020204" charset="-122"/>
                <a:ea typeface="微软雅黑" panose="020B0503020204020204" charset="-122"/>
              </a:rPr>
              <a:t>社会安全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Community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00" name="object 26"/>
          <p:cNvSpPr>
            <a:spLocks noChangeArrowheads="1"/>
          </p:cNvSpPr>
          <p:nvPr/>
        </p:nvSpPr>
        <p:spPr bwMode="auto">
          <a:xfrm>
            <a:off x="6816970" y="5552831"/>
            <a:ext cx="1086338" cy="853830"/>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101" name="object 27"/>
          <p:cNvSpPr txBox="1">
            <a:spLocks noChangeArrowheads="1"/>
          </p:cNvSpPr>
          <p:nvPr/>
        </p:nvSpPr>
        <p:spPr bwMode="auto">
          <a:xfrm>
            <a:off x="6816970" y="5552831"/>
            <a:ext cx="1086338" cy="769620"/>
          </a:xfrm>
          <a:prstGeom prst="rect">
            <a:avLst/>
          </a:prstGeom>
          <a:solidFill>
            <a:srgbClr val="004797"/>
          </a:solidFill>
          <a:ln w="6096">
            <a:solidFill>
              <a:srgbClr val="9BBA58"/>
            </a:solidFill>
            <a:miter lim="800000"/>
          </a:ln>
        </p:spPr>
        <p:txBody>
          <a:bodyPr lIns="0" tIns="31652" rIns="0" bIns="0">
            <a:spAutoFit/>
          </a:bodyPr>
          <a:lstStyle>
            <a:lvl1pPr marL="155575" indent="-812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ts val="200"/>
              </a:spcBef>
              <a:buClrTx/>
              <a:buFontTx/>
              <a:buNone/>
            </a:pPr>
            <a:r>
              <a:rPr lang="zh-CN" altLang="zh-CN" sz="1600">
                <a:latin typeface="微软雅黑" panose="020B0503020204020204" charset="-122"/>
                <a:ea typeface="微软雅黑" panose="020B0503020204020204" charset="-122"/>
              </a:rPr>
              <a:t>文化安全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cultural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02" name="object 28"/>
          <p:cNvSpPr>
            <a:spLocks noChangeArrowheads="1"/>
          </p:cNvSpPr>
          <p:nvPr/>
        </p:nvSpPr>
        <p:spPr bwMode="auto">
          <a:xfrm>
            <a:off x="8276492" y="3610708"/>
            <a:ext cx="3018693" cy="2157046"/>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103" name="object 29"/>
          <p:cNvSpPr>
            <a:spLocks noChangeArrowheads="1"/>
          </p:cNvSpPr>
          <p:nvPr/>
        </p:nvSpPr>
        <p:spPr bwMode="auto">
          <a:xfrm>
            <a:off x="9040447" y="5785338"/>
            <a:ext cx="1668585" cy="85187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104" name="object 30"/>
          <p:cNvSpPr/>
          <p:nvPr/>
        </p:nvSpPr>
        <p:spPr bwMode="auto">
          <a:xfrm>
            <a:off x="9040447" y="5785338"/>
            <a:ext cx="1668585" cy="853831"/>
          </a:xfrm>
          <a:custGeom>
            <a:avLst/>
            <a:gdLst>
              <a:gd name="T0" fmla="*/ 0 w 1805940"/>
              <a:gd name="T1" fmla="*/ 93309 h 923925"/>
              <a:gd name="T2" fmla="*/ 182159 w 1805940"/>
              <a:gd name="T3" fmla="*/ 93309 h 923925"/>
              <a:gd name="T4" fmla="*/ 182159 w 1805940"/>
              <a:gd name="T5" fmla="*/ 0 h 923925"/>
              <a:gd name="T6" fmla="*/ 0 w 1805940"/>
              <a:gd name="T7" fmla="*/ 0 h 923925"/>
              <a:gd name="T8" fmla="*/ 0 w 1805940"/>
              <a:gd name="T9" fmla="*/ 93309 h 9239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5940" h="923925">
                <a:moveTo>
                  <a:pt x="0" y="923544"/>
                </a:moveTo>
                <a:lnTo>
                  <a:pt x="1805940" y="923544"/>
                </a:lnTo>
                <a:lnTo>
                  <a:pt x="1805940" y="0"/>
                </a:lnTo>
                <a:lnTo>
                  <a:pt x="0" y="0"/>
                </a:lnTo>
                <a:lnTo>
                  <a:pt x="0" y="923544"/>
                </a:lnTo>
                <a:close/>
              </a:path>
            </a:pathLst>
          </a:custGeom>
          <a:noFill/>
          <a:ln w="6096">
            <a:solidFill>
              <a:srgbClr val="9BBA58"/>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4105" name="object 31"/>
          <p:cNvSpPr txBox="1">
            <a:spLocks noChangeArrowheads="1"/>
          </p:cNvSpPr>
          <p:nvPr/>
        </p:nvSpPr>
        <p:spPr bwMode="auto">
          <a:xfrm>
            <a:off x="8276492" y="3487615"/>
            <a:ext cx="3579446" cy="25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spcBef>
                <a:spcPct val="0"/>
              </a:spcBef>
              <a:buClrTx/>
              <a:buFontTx/>
              <a:buNone/>
            </a:pP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a:p>
            <a:pPr algn="ctr">
              <a:spcBef>
                <a:spcPts val="950"/>
              </a:spcBef>
              <a:buClrTx/>
              <a:buFontTx/>
              <a:buNone/>
            </a:pPr>
            <a:r>
              <a:rPr lang="zh-CN" altLang="zh-CN" sz="1600">
                <a:latin typeface="微软雅黑" panose="020B0503020204020204" charset="-122"/>
                <a:ea typeface="微软雅黑" panose="020B0503020204020204" charset="-122"/>
                <a:cs typeface="Times New Roman" panose="02020603050405020304" pitchFamily="18" charset="0"/>
              </a:rPr>
              <a:t>国防安全  </a:t>
            </a:r>
            <a:r>
              <a:rPr lang="zh-CN" altLang="zh-CN" sz="1600">
                <a:solidFill>
                  <a:srgbClr val="001F5F"/>
                </a:solidFill>
                <a:latin typeface="Times New Roman" panose="02020603050405020304" pitchFamily="18" charset="0"/>
                <a:ea typeface="宋体" panose="02010600030101010101" pitchFamily="2" charset="-122"/>
                <a:cs typeface="Times New Roman" panose="02020603050405020304" pitchFamily="18" charset="0"/>
              </a:rPr>
              <a:t>national defense  security</a:t>
            </a:r>
            <a:endParaRPr lang="zh-CN"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06" name="object 32"/>
          <p:cNvSpPr>
            <a:spLocks noChangeArrowheads="1"/>
          </p:cNvSpPr>
          <p:nvPr/>
        </p:nvSpPr>
        <p:spPr bwMode="auto">
          <a:xfrm>
            <a:off x="4255477" y="5222631"/>
            <a:ext cx="2549770" cy="1645138"/>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107" name="object 33"/>
          <p:cNvSpPr>
            <a:spLocks noChangeArrowheads="1"/>
          </p:cNvSpPr>
          <p:nvPr/>
        </p:nvSpPr>
        <p:spPr bwMode="auto">
          <a:xfrm>
            <a:off x="175846" y="3462216"/>
            <a:ext cx="8667262" cy="3501292"/>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108" name="object 34"/>
          <p:cNvSpPr>
            <a:spLocks noChangeArrowheads="1"/>
          </p:cNvSpPr>
          <p:nvPr/>
        </p:nvSpPr>
        <p:spPr bwMode="auto">
          <a:xfrm>
            <a:off x="8811846" y="3487615"/>
            <a:ext cx="3143739" cy="3475893"/>
          </a:xfrm>
          <a:prstGeom prst="rect">
            <a:avLst/>
          </a:prstGeom>
          <a:blipFill dpi="0" rotWithShape="1">
            <a:blip r:embed="rId1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4109" name="object 35"/>
          <p:cNvSpPr/>
          <p:nvPr/>
        </p:nvSpPr>
        <p:spPr bwMode="auto">
          <a:xfrm>
            <a:off x="168031" y="1645139"/>
            <a:ext cx="11687908" cy="1649046"/>
          </a:xfrm>
          <a:custGeom>
            <a:avLst/>
            <a:gdLst>
              <a:gd name="T0" fmla="*/ 0 w 12192000"/>
              <a:gd name="T1" fmla="*/ 178985 h 1786255"/>
              <a:gd name="T2" fmla="*/ 1651796 w 12192000"/>
              <a:gd name="T3" fmla="*/ 178985 h 1786255"/>
              <a:gd name="T4" fmla="*/ 1651796 w 12192000"/>
              <a:gd name="T5" fmla="*/ 0 h 1786255"/>
              <a:gd name="T6" fmla="*/ 0 w 12192000"/>
              <a:gd name="T7" fmla="*/ 0 h 1786255"/>
              <a:gd name="T8" fmla="*/ 0 w 12192000"/>
              <a:gd name="T9" fmla="*/ 178985 h 17862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786255">
                <a:moveTo>
                  <a:pt x="0" y="1786127"/>
                </a:moveTo>
                <a:lnTo>
                  <a:pt x="12192000" y="1786127"/>
                </a:lnTo>
                <a:lnTo>
                  <a:pt x="12192000" y="0"/>
                </a:lnTo>
                <a:lnTo>
                  <a:pt x="0" y="0"/>
                </a:lnTo>
                <a:lnTo>
                  <a:pt x="0" y="1786127"/>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4110" name="object 36"/>
          <p:cNvSpPr txBox="1">
            <a:spLocks noChangeArrowheads="1"/>
          </p:cNvSpPr>
          <p:nvPr/>
        </p:nvSpPr>
        <p:spPr bwMode="auto">
          <a:xfrm>
            <a:off x="240324" y="1701800"/>
            <a:ext cx="11017738" cy="1539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indent="4749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安全“是整体的而不是割裂的“，要认识到网络安全与政治安全、经济安全、社会安  全、文化安全、国防安全相辅相成；要认识到国家拥有网络空间主权。</a:t>
            </a:r>
            <a:endParaRPr lang="zh-CN" altLang="zh-CN" sz="2215">
              <a:latin typeface="微软雅黑" panose="020B0503020204020204" charset="-122"/>
              <a:ea typeface="微软雅黑" panose="020B0503020204020204" charset="-122"/>
            </a:endParaRPr>
          </a:p>
          <a:p>
            <a:pPr algn="just">
              <a:lnSpc>
                <a:spcPct val="90000"/>
              </a:lnSpc>
              <a:spcBef>
                <a:spcPts val="700"/>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holistic rather than fragmented</a:t>
            </a:r>
            <a:r>
              <a:rPr lang="zh-CN" altLang="zh-CN" sz="1845">
                <a:solidFill>
                  <a:srgbClr val="001F5F"/>
                </a:solidFill>
                <a:latin typeface="微软雅黑" panose="020B0503020204020204" charset="-122"/>
                <a:ea typeface="微软雅黑" panose="020B0503020204020204" charset="-122"/>
              </a:rPr>
              <a:t>. It should be realized that cybersecurity  complements multiple factors, including political security, economic security, community security,  cultural security, and national defense security. that the state has Sovereignty in Cyberspace.</a:t>
            </a:r>
            <a:endParaRPr lang="zh-CN" altLang="zh-CN" sz="1845">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object 2"/>
          <p:cNvSpPr/>
          <p:nvPr/>
        </p:nvSpPr>
        <p:spPr bwMode="auto">
          <a:xfrm>
            <a:off x="246185" y="181708"/>
            <a:ext cx="11787554" cy="1271954"/>
          </a:xfrm>
          <a:custGeom>
            <a:avLst/>
            <a:gdLst>
              <a:gd name="T0" fmla="*/ 0 w 12192000"/>
              <a:gd name="T1" fmla="*/ 321331 h 1221105"/>
              <a:gd name="T2" fmla="*/ 1767877 w 12192000"/>
              <a:gd name="T3" fmla="*/ 321331 h 1221105"/>
              <a:gd name="T4" fmla="*/ 1767877 w 12192000"/>
              <a:gd name="T5" fmla="*/ 0 h 1221105"/>
              <a:gd name="T6" fmla="*/ 0 w 12192000"/>
              <a:gd name="T7" fmla="*/ 0 h 1221105"/>
              <a:gd name="T8" fmla="*/ 0 w 12192000"/>
              <a:gd name="T9" fmla="*/ 321331 h 12211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21105">
                <a:moveTo>
                  <a:pt x="0" y="1220724"/>
                </a:moveTo>
                <a:lnTo>
                  <a:pt x="12192000" y="1220724"/>
                </a:lnTo>
                <a:lnTo>
                  <a:pt x="12192000" y="0"/>
                </a:lnTo>
                <a:lnTo>
                  <a:pt x="0" y="0"/>
                </a:lnTo>
                <a:lnTo>
                  <a:pt x="0" y="1220724"/>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5107" name="object 3"/>
          <p:cNvSpPr/>
          <p:nvPr/>
        </p:nvSpPr>
        <p:spPr bwMode="auto">
          <a:xfrm>
            <a:off x="246185" y="3278554"/>
            <a:ext cx="11787554" cy="3575538"/>
          </a:xfrm>
          <a:custGeom>
            <a:avLst/>
            <a:gdLst>
              <a:gd name="T0" fmla="*/ 0 w 12192000"/>
              <a:gd name="T1" fmla="*/ 387330 h 3874134"/>
              <a:gd name="T2" fmla="*/ 1767877 w 12192000"/>
              <a:gd name="T3" fmla="*/ 387330 h 3874134"/>
              <a:gd name="T4" fmla="*/ 1767877 w 12192000"/>
              <a:gd name="T5" fmla="*/ 0 h 3874134"/>
              <a:gd name="T6" fmla="*/ 0 w 12192000"/>
              <a:gd name="T7" fmla="*/ 0 h 3874134"/>
              <a:gd name="T8" fmla="*/ 0 w 12192000"/>
              <a:gd name="T9" fmla="*/ 387330 h 3874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874134">
                <a:moveTo>
                  <a:pt x="0" y="3874007"/>
                </a:moveTo>
                <a:lnTo>
                  <a:pt x="12192000" y="3874007"/>
                </a:lnTo>
                <a:lnTo>
                  <a:pt x="12192000" y="0"/>
                </a:lnTo>
                <a:lnTo>
                  <a:pt x="0" y="0"/>
                </a:lnTo>
                <a:lnTo>
                  <a:pt x="0" y="3874007"/>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5108" name="object 11"/>
          <p:cNvSpPr/>
          <p:nvPr/>
        </p:nvSpPr>
        <p:spPr bwMode="auto">
          <a:xfrm>
            <a:off x="248139" y="1373554"/>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5109" name="object 12"/>
          <p:cNvSpPr>
            <a:spLocks noChangeArrowheads="1"/>
          </p:cNvSpPr>
          <p:nvPr/>
        </p:nvSpPr>
        <p:spPr bwMode="auto">
          <a:xfrm>
            <a:off x="715108" y="3321539"/>
            <a:ext cx="4044462" cy="2274277"/>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5110" name="object 13"/>
          <p:cNvSpPr/>
          <p:nvPr/>
        </p:nvSpPr>
        <p:spPr bwMode="auto">
          <a:xfrm>
            <a:off x="838201" y="4794739"/>
            <a:ext cx="3794369" cy="595922"/>
          </a:xfrm>
          <a:custGeom>
            <a:avLst/>
            <a:gdLst>
              <a:gd name="T0" fmla="*/ 0 w 4109085"/>
              <a:gd name="T1" fmla="*/ 64016 h 646429"/>
              <a:gd name="T2" fmla="*/ 412523 w 4109085"/>
              <a:gd name="T3" fmla="*/ 64016 h 646429"/>
              <a:gd name="T4" fmla="*/ 412523 w 4109085"/>
              <a:gd name="T5" fmla="*/ 0 h 646429"/>
              <a:gd name="T6" fmla="*/ 0 w 4109085"/>
              <a:gd name="T7" fmla="*/ 0 h 646429"/>
              <a:gd name="T8" fmla="*/ 0 w 4109085"/>
              <a:gd name="T9" fmla="*/ 64016 h 6464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09085" h="646429">
                <a:moveTo>
                  <a:pt x="0" y="646176"/>
                </a:moveTo>
                <a:lnTo>
                  <a:pt x="4108704" y="646176"/>
                </a:lnTo>
                <a:lnTo>
                  <a:pt x="4108704" y="0"/>
                </a:lnTo>
                <a:lnTo>
                  <a:pt x="0" y="0"/>
                </a:lnTo>
                <a:lnTo>
                  <a:pt x="0" y="646176"/>
                </a:lnTo>
                <a:close/>
              </a:path>
            </a:pathLst>
          </a:custGeom>
          <a:solidFill>
            <a:srgbClr val="F1F1F1">
              <a:alpha val="69803"/>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9" name="object 14"/>
          <p:cNvSpPr txBox="1"/>
          <p:nvPr/>
        </p:nvSpPr>
        <p:spPr>
          <a:xfrm>
            <a:off x="1352062" y="4827954"/>
            <a:ext cx="2764693" cy="412750"/>
          </a:xfrm>
          <a:prstGeom prst="rect">
            <a:avLst/>
          </a:prstGeom>
        </p:spPr>
        <p:txBody>
          <a:bodyPr lIns="0" tIns="0" rIns="0" bIns="0">
            <a:spAutoFit/>
          </a:bodyPr>
          <a:lstStyle/>
          <a:p>
            <a:pPr marL="1270" algn="ctr">
              <a:lnSpc>
                <a:spcPts val="1610"/>
              </a:lnSpc>
              <a:defRPr/>
            </a:pPr>
            <a:r>
              <a:rPr sz="1660" b="1" dirty="0">
                <a:solidFill>
                  <a:srgbClr val="C00000"/>
                </a:solidFill>
                <a:latin typeface="宋体" panose="02010600030101010101" pitchFamily="2" charset="-122"/>
                <a:cs typeface="宋体" panose="02010600030101010101" pitchFamily="2" charset="-122"/>
              </a:rPr>
              <a:t>个人注重终端防护</a:t>
            </a:r>
            <a:endParaRPr sz="1660">
              <a:latin typeface="宋体" panose="02010600030101010101" pitchFamily="2" charset="-122"/>
              <a:cs typeface="宋体" panose="02010600030101010101" pitchFamily="2" charset="-122"/>
            </a:endParaRPr>
          </a:p>
          <a:p>
            <a:pPr algn="ctr">
              <a:lnSpc>
                <a:spcPts val="1610"/>
              </a:lnSpc>
              <a:defRPr/>
            </a:pPr>
            <a:r>
              <a:rPr sz="1660" spc="-7" dirty="0">
                <a:solidFill>
                  <a:srgbClr val="C00000"/>
                </a:solidFill>
                <a:latin typeface="Calibri" panose="020F0502020204030204"/>
                <a:cs typeface="Calibri" panose="020F0502020204030204"/>
              </a:rPr>
              <a:t>People </a:t>
            </a:r>
            <a:r>
              <a:rPr sz="1660" spc="-18" dirty="0">
                <a:solidFill>
                  <a:srgbClr val="C00000"/>
                </a:solidFill>
                <a:latin typeface="Calibri" panose="020F0502020204030204"/>
                <a:cs typeface="Calibri" panose="020F0502020204030204"/>
              </a:rPr>
              <a:t>take </a:t>
            </a:r>
            <a:r>
              <a:rPr sz="1660" spc="-11" dirty="0">
                <a:solidFill>
                  <a:srgbClr val="C00000"/>
                </a:solidFill>
                <a:latin typeface="Calibri" panose="020F0502020204030204"/>
                <a:cs typeface="Calibri" panose="020F0502020204030204"/>
              </a:rPr>
              <a:t>care </a:t>
            </a:r>
            <a:r>
              <a:rPr sz="1660" spc="-4" dirty="0">
                <a:solidFill>
                  <a:srgbClr val="C00000"/>
                </a:solidFill>
                <a:latin typeface="Calibri" panose="020F0502020204030204"/>
                <a:cs typeface="Calibri" panose="020F0502020204030204"/>
              </a:rPr>
              <a:t>of </a:t>
            </a:r>
            <a:r>
              <a:rPr sz="1660" dirty="0">
                <a:solidFill>
                  <a:srgbClr val="C00000"/>
                </a:solidFill>
                <a:latin typeface="Calibri" panose="020F0502020204030204"/>
                <a:cs typeface="Calibri" panose="020F0502020204030204"/>
              </a:rPr>
              <a:t>the</a:t>
            </a:r>
            <a:r>
              <a:rPr sz="1660" spc="30" dirty="0">
                <a:solidFill>
                  <a:srgbClr val="C00000"/>
                </a:solidFill>
                <a:latin typeface="Calibri" panose="020F0502020204030204"/>
                <a:cs typeface="Calibri" panose="020F0502020204030204"/>
              </a:rPr>
              <a:t> </a:t>
            </a:r>
            <a:r>
              <a:rPr sz="1660" spc="-4" dirty="0">
                <a:solidFill>
                  <a:srgbClr val="C00000"/>
                </a:solidFill>
                <a:latin typeface="Calibri" panose="020F0502020204030204"/>
                <a:cs typeface="Calibri" panose="020F0502020204030204"/>
              </a:rPr>
              <a:t>terminal</a:t>
            </a:r>
            <a:endParaRPr sz="1660">
              <a:latin typeface="Calibri" panose="020F0502020204030204"/>
              <a:cs typeface="Calibri" panose="020F0502020204030204"/>
            </a:endParaRPr>
          </a:p>
        </p:txBody>
      </p:sp>
      <p:sp>
        <p:nvSpPr>
          <p:cNvPr id="175112" name="object 15"/>
          <p:cNvSpPr/>
          <p:nvPr/>
        </p:nvSpPr>
        <p:spPr bwMode="auto">
          <a:xfrm>
            <a:off x="246185" y="1441939"/>
            <a:ext cx="11787554" cy="1627553"/>
          </a:xfrm>
          <a:custGeom>
            <a:avLst/>
            <a:gdLst>
              <a:gd name="T0" fmla="*/ 0 w 12192000"/>
              <a:gd name="T1" fmla="*/ 176356 h 1763395"/>
              <a:gd name="T2" fmla="*/ 1767877 w 12192000"/>
              <a:gd name="T3" fmla="*/ 176356 h 1763395"/>
              <a:gd name="T4" fmla="*/ 1767877 w 12192000"/>
              <a:gd name="T5" fmla="*/ 0 h 1763395"/>
              <a:gd name="T6" fmla="*/ 0 w 12192000"/>
              <a:gd name="T7" fmla="*/ 0 h 1763395"/>
              <a:gd name="T8" fmla="*/ 0 w 12192000"/>
              <a:gd name="T9" fmla="*/ 176356 h 1763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763395">
                <a:moveTo>
                  <a:pt x="0" y="1763267"/>
                </a:moveTo>
                <a:lnTo>
                  <a:pt x="12192000" y="1763267"/>
                </a:lnTo>
                <a:lnTo>
                  <a:pt x="12192000" y="0"/>
                </a:lnTo>
                <a:lnTo>
                  <a:pt x="0" y="0"/>
                </a:lnTo>
                <a:lnTo>
                  <a:pt x="0" y="1763267"/>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5113" name="object 16"/>
          <p:cNvSpPr>
            <a:spLocks noChangeArrowheads="1"/>
          </p:cNvSpPr>
          <p:nvPr/>
        </p:nvSpPr>
        <p:spPr bwMode="auto">
          <a:xfrm>
            <a:off x="357554" y="314569"/>
            <a:ext cx="3890107" cy="100036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5114" name="object 17"/>
          <p:cNvSpPr>
            <a:spLocks noChangeArrowheads="1"/>
          </p:cNvSpPr>
          <p:nvPr/>
        </p:nvSpPr>
        <p:spPr bwMode="auto">
          <a:xfrm>
            <a:off x="3636108" y="314569"/>
            <a:ext cx="2018322" cy="1000369"/>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5115" name="object 18"/>
          <p:cNvSpPr>
            <a:spLocks noGrp="1" noChangeArrowheads="1"/>
          </p:cNvSpPr>
          <p:nvPr>
            <p:ph type="title"/>
          </p:nvPr>
        </p:nvSpPr>
        <p:spPr>
          <a:xfrm>
            <a:off x="633046" y="480842"/>
            <a:ext cx="8016631" cy="447040"/>
          </a:xfrm>
        </p:spPr>
        <p:txBody>
          <a:bodyPr lIns="0" tIns="0" rIns="0" bIns="0">
            <a:spAutoFit/>
          </a:bodyPr>
          <a:lstStyle/>
          <a:p>
            <a:pPr marL="9525">
              <a:lnSpc>
                <a:spcPts val="3490"/>
              </a:lnSpc>
            </a:pPr>
            <a:r>
              <a:rPr lang="zh-CN" altLang="zh-CN"/>
              <a:t>网络空间安全是</a:t>
            </a:r>
            <a:r>
              <a:rPr lang="zh-CN" altLang="zh-CN" i="1">
                <a:latin typeface="微软雅黑" panose="020B0503020204020204" charset="-122"/>
                <a:ea typeface="微软雅黑" panose="020B0503020204020204" charset="-122"/>
              </a:rPr>
              <a:t>方法论</a:t>
            </a:r>
            <a:endParaRPr lang="zh-CN" altLang="zh-CN" i="1">
              <a:latin typeface="微软雅黑" panose="020B0503020204020204" charset="-122"/>
              <a:ea typeface="微软雅黑" panose="020B0503020204020204" charset="-122"/>
            </a:endParaRPr>
          </a:p>
        </p:txBody>
      </p:sp>
      <p:sp>
        <p:nvSpPr>
          <p:cNvPr id="175116" name="object 19"/>
          <p:cNvSpPr>
            <a:spLocks noChangeArrowheads="1"/>
          </p:cNvSpPr>
          <p:nvPr/>
        </p:nvSpPr>
        <p:spPr bwMode="auto">
          <a:xfrm>
            <a:off x="445477" y="847970"/>
            <a:ext cx="7072923"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5117" name="object 20"/>
          <p:cNvSpPr>
            <a:spLocks noChangeArrowheads="1"/>
          </p:cNvSpPr>
          <p:nvPr/>
        </p:nvSpPr>
        <p:spPr bwMode="auto">
          <a:xfrm>
            <a:off x="7088554" y="847970"/>
            <a:ext cx="2672862" cy="726831"/>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5118" name="object 21"/>
          <p:cNvSpPr txBox="1">
            <a:spLocks noChangeArrowheads="1"/>
          </p:cNvSpPr>
          <p:nvPr/>
        </p:nvSpPr>
        <p:spPr bwMode="auto">
          <a:xfrm>
            <a:off x="636954" y="959338"/>
            <a:ext cx="89095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Methodology</a:t>
            </a:r>
            <a:endParaRPr lang="zh-CN" altLang="zh-CN" sz="2585">
              <a:latin typeface="微软雅黑" panose="020B0503020204020204" charset="-122"/>
              <a:ea typeface="微软雅黑" panose="020B0503020204020204" charset="-122"/>
            </a:endParaRPr>
          </a:p>
        </p:txBody>
      </p:sp>
      <p:sp>
        <p:nvSpPr>
          <p:cNvPr id="175119" name="object 22"/>
          <p:cNvSpPr txBox="1">
            <a:spLocks noChangeArrowheads="1"/>
          </p:cNvSpPr>
          <p:nvPr/>
        </p:nvSpPr>
        <p:spPr bwMode="auto">
          <a:xfrm>
            <a:off x="496277" y="1479062"/>
            <a:ext cx="11537462" cy="1408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845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安全“是共同的而不是孤立的”，要各方面协同安全，打造聚合式安全服务平台，</a:t>
            </a:r>
            <a:endParaRPr lang="zh-CN" altLang="zh-CN" sz="2215">
              <a:latin typeface="微软雅黑" panose="020B0503020204020204" charset="-122"/>
              <a:ea typeface="微软雅黑" panose="020B0503020204020204" charset="-122"/>
            </a:endParaRPr>
          </a:p>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共筑网络安全防线。</a:t>
            </a:r>
            <a:endParaRPr lang="zh-CN" altLang="zh-CN" sz="2215">
              <a:latin typeface="微软雅黑" panose="020B0503020204020204" charset="-122"/>
              <a:ea typeface="微软雅黑" panose="020B0503020204020204" charset="-122"/>
            </a:endParaRPr>
          </a:p>
          <a:p>
            <a:pPr>
              <a:lnSpc>
                <a:spcPts val="1625"/>
              </a:lnSpc>
              <a:spcBef>
                <a:spcPts val="790"/>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common rather than isolated</a:t>
            </a:r>
            <a:r>
              <a:rPr lang="zh-CN" altLang="zh-CN" sz="1845">
                <a:solidFill>
                  <a:srgbClr val="001F5F"/>
                </a:solidFill>
                <a:latin typeface="微软雅黑" panose="020B0503020204020204" charset="-122"/>
                <a:ea typeface="微软雅黑" panose="020B0503020204020204" charset="-122"/>
              </a:rPr>
              <a:t>. The comprehensive security service  platforms should be built by taking care of multiple aspects of security, so that a cybersecurity  line against threats can be established.</a:t>
            </a:r>
            <a:endParaRPr lang="zh-CN" altLang="zh-CN" sz="1845">
              <a:latin typeface="微软雅黑" panose="020B0503020204020204" charset="-122"/>
              <a:ea typeface="微软雅黑" panose="020B0503020204020204" charset="-122"/>
            </a:endParaRPr>
          </a:p>
        </p:txBody>
      </p:sp>
      <p:sp>
        <p:nvSpPr>
          <p:cNvPr id="175120" name="object 23"/>
          <p:cNvSpPr/>
          <p:nvPr/>
        </p:nvSpPr>
        <p:spPr bwMode="auto">
          <a:xfrm>
            <a:off x="4837723" y="4036647"/>
            <a:ext cx="2071077" cy="838199"/>
          </a:xfrm>
          <a:custGeom>
            <a:avLst/>
            <a:gdLst>
              <a:gd name="T0" fmla="*/ 105774 w 2243454"/>
              <a:gd name="T1" fmla="*/ 76 h 908685"/>
              <a:gd name="T2" fmla="*/ 92880 w 2243454"/>
              <a:gd name="T3" fmla="*/ 678 h 908685"/>
              <a:gd name="T4" fmla="*/ 80472 w 2243454"/>
              <a:gd name="T5" fmla="*/ 1848 h 908685"/>
              <a:gd name="T6" fmla="*/ 68634 w 2243454"/>
              <a:gd name="T7" fmla="*/ 3553 h 908685"/>
              <a:gd name="T8" fmla="*/ 57452 w 2243454"/>
              <a:gd name="T9" fmla="*/ 5759 h 908685"/>
              <a:gd name="T10" fmla="*/ 47008 w 2243454"/>
              <a:gd name="T11" fmla="*/ 8432 h 908685"/>
              <a:gd name="T12" fmla="*/ 37389 w 2243454"/>
              <a:gd name="T13" fmla="*/ 11537 h 908685"/>
              <a:gd name="T14" fmla="*/ 28676 w 2243454"/>
              <a:gd name="T15" fmla="*/ 15043 h 908685"/>
              <a:gd name="T16" fmla="*/ 20956 w 2243454"/>
              <a:gd name="T17" fmla="*/ 18913 h 908685"/>
              <a:gd name="T18" fmla="*/ 14314 w 2243454"/>
              <a:gd name="T19" fmla="*/ 23115 h 908685"/>
              <a:gd name="T20" fmla="*/ 4593 w 2243454"/>
              <a:gd name="T21" fmla="*/ 32376 h 908685"/>
              <a:gd name="T22" fmla="*/ 191 w 2243454"/>
              <a:gd name="T23" fmla="*/ 42556 h 908685"/>
              <a:gd name="T24" fmla="*/ 191 w 2243454"/>
              <a:gd name="T25" fmla="*/ 47869 h 908685"/>
              <a:gd name="T26" fmla="*/ 4593 w 2243454"/>
              <a:gd name="T27" fmla="*/ 58049 h 908685"/>
              <a:gd name="T28" fmla="*/ 14314 w 2243454"/>
              <a:gd name="T29" fmla="*/ 67310 h 908685"/>
              <a:gd name="T30" fmla="*/ 20956 w 2243454"/>
              <a:gd name="T31" fmla="*/ 71512 h 908685"/>
              <a:gd name="T32" fmla="*/ 28676 w 2243454"/>
              <a:gd name="T33" fmla="*/ 75382 h 908685"/>
              <a:gd name="T34" fmla="*/ 37389 w 2243454"/>
              <a:gd name="T35" fmla="*/ 78888 h 908685"/>
              <a:gd name="T36" fmla="*/ 47008 w 2243454"/>
              <a:gd name="T37" fmla="*/ 81993 h 908685"/>
              <a:gd name="T38" fmla="*/ 57452 w 2243454"/>
              <a:gd name="T39" fmla="*/ 84667 h 908685"/>
              <a:gd name="T40" fmla="*/ 68634 w 2243454"/>
              <a:gd name="T41" fmla="*/ 86872 h 908685"/>
              <a:gd name="T42" fmla="*/ 80472 w 2243454"/>
              <a:gd name="T43" fmla="*/ 88577 h 908685"/>
              <a:gd name="T44" fmla="*/ 92880 w 2243454"/>
              <a:gd name="T45" fmla="*/ 89747 h 908685"/>
              <a:gd name="T46" fmla="*/ 105774 w 2243454"/>
              <a:gd name="T47" fmla="*/ 90349 h 908685"/>
              <a:gd name="T48" fmla="*/ 118982 w 2243454"/>
              <a:gd name="T49" fmla="*/ 90349 h 908685"/>
              <a:gd name="T50" fmla="*/ 131876 w 2243454"/>
              <a:gd name="T51" fmla="*/ 89747 h 908685"/>
              <a:gd name="T52" fmla="*/ 144285 w 2243454"/>
              <a:gd name="T53" fmla="*/ 88577 h 908685"/>
              <a:gd name="T54" fmla="*/ 156122 w 2243454"/>
              <a:gd name="T55" fmla="*/ 86872 h 908685"/>
              <a:gd name="T56" fmla="*/ 167305 w 2243454"/>
              <a:gd name="T57" fmla="*/ 84667 h 908685"/>
              <a:gd name="T58" fmla="*/ 177748 w 2243454"/>
              <a:gd name="T59" fmla="*/ 81993 h 908685"/>
              <a:gd name="T60" fmla="*/ 187368 w 2243454"/>
              <a:gd name="T61" fmla="*/ 78888 h 908685"/>
              <a:gd name="T62" fmla="*/ 196081 w 2243454"/>
              <a:gd name="T63" fmla="*/ 75382 h 908685"/>
              <a:gd name="T64" fmla="*/ 203800 w 2243454"/>
              <a:gd name="T65" fmla="*/ 71512 h 908685"/>
              <a:gd name="T66" fmla="*/ 210443 w 2243454"/>
              <a:gd name="T67" fmla="*/ 67310 h 908685"/>
              <a:gd name="T68" fmla="*/ 220162 w 2243454"/>
              <a:gd name="T69" fmla="*/ 58049 h 908685"/>
              <a:gd name="T70" fmla="*/ 224566 w 2243454"/>
              <a:gd name="T71" fmla="*/ 47869 h 908685"/>
              <a:gd name="T72" fmla="*/ 224566 w 2243454"/>
              <a:gd name="T73" fmla="*/ 42556 h 908685"/>
              <a:gd name="T74" fmla="*/ 220162 w 2243454"/>
              <a:gd name="T75" fmla="*/ 32376 h 908685"/>
              <a:gd name="T76" fmla="*/ 210443 w 2243454"/>
              <a:gd name="T77" fmla="*/ 23115 h 908685"/>
              <a:gd name="T78" fmla="*/ 203800 w 2243454"/>
              <a:gd name="T79" fmla="*/ 18913 h 908685"/>
              <a:gd name="T80" fmla="*/ 196081 w 2243454"/>
              <a:gd name="T81" fmla="*/ 15043 h 908685"/>
              <a:gd name="T82" fmla="*/ 187368 w 2243454"/>
              <a:gd name="T83" fmla="*/ 11537 h 908685"/>
              <a:gd name="T84" fmla="*/ 177748 w 2243454"/>
              <a:gd name="T85" fmla="*/ 8432 h 908685"/>
              <a:gd name="T86" fmla="*/ 167305 w 2243454"/>
              <a:gd name="T87" fmla="*/ 5759 h 908685"/>
              <a:gd name="T88" fmla="*/ 156122 w 2243454"/>
              <a:gd name="T89" fmla="*/ 3553 h 908685"/>
              <a:gd name="T90" fmla="*/ 144285 w 2243454"/>
              <a:gd name="T91" fmla="*/ 1848 h 908685"/>
              <a:gd name="T92" fmla="*/ 131876 w 2243454"/>
              <a:gd name="T93" fmla="*/ 678 h 908685"/>
              <a:gd name="T94" fmla="*/ 118982 w 2243454"/>
              <a:gd name="T95" fmla="*/ 76 h 90868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43454" h="908685">
                <a:moveTo>
                  <a:pt x="1121664" y="0"/>
                </a:moveTo>
                <a:lnTo>
                  <a:pt x="1055754" y="770"/>
                </a:lnTo>
                <a:lnTo>
                  <a:pt x="990849" y="3055"/>
                </a:lnTo>
                <a:lnTo>
                  <a:pt x="927051" y="6810"/>
                </a:lnTo>
                <a:lnTo>
                  <a:pt x="864467" y="11994"/>
                </a:lnTo>
                <a:lnTo>
                  <a:pt x="803202" y="18563"/>
                </a:lnTo>
                <a:lnTo>
                  <a:pt x="743361" y="26476"/>
                </a:lnTo>
                <a:lnTo>
                  <a:pt x="685049" y="35688"/>
                </a:lnTo>
                <a:lnTo>
                  <a:pt x="628372" y="46159"/>
                </a:lnTo>
                <a:lnTo>
                  <a:pt x="573434" y="57846"/>
                </a:lnTo>
                <a:lnTo>
                  <a:pt x="520340" y="70705"/>
                </a:lnTo>
                <a:lnTo>
                  <a:pt x="469197" y="84694"/>
                </a:lnTo>
                <a:lnTo>
                  <a:pt x="420108" y="99770"/>
                </a:lnTo>
                <a:lnTo>
                  <a:pt x="373180" y="115892"/>
                </a:lnTo>
                <a:lnTo>
                  <a:pt x="328517" y="133016"/>
                </a:lnTo>
                <a:lnTo>
                  <a:pt x="286224" y="151100"/>
                </a:lnTo>
                <a:lnTo>
                  <a:pt x="246408" y="170101"/>
                </a:lnTo>
                <a:lnTo>
                  <a:pt x="209172" y="189977"/>
                </a:lnTo>
                <a:lnTo>
                  <a:pt x="174622" y="210684"/>
                </a:lnTo>
                <a:lnTo>
                  <a:pt x="142864" y="232181"/>
                </a:lnTo>
                <a:lnTo>
                  <a:pt x="88141" y="277373"/>
                </a:lnTo>
                <a:lnTo>
                  <a:pt x="45846" y="325212"/>
                </a:lnTo>
                <a:lnTo>
                  <a:pt x="16820" y="375357"/>
                </a:lnTo>
                <a:lnTo>
                  <a:pt x="1903" y="427466"/>
                </a:lnTo>
                <a:lnTo>
                  <a:pt x="0" y="454152"/>
                </a:lnTo>
                <a:lnTo>
                  <a:pt x="1903" y="480837"/>
                </a:lnTo>
                <a:lnTo>
                  <a:pt x="16820" y="532946"/>
                </a:lnTo>
                <a:lnTo>
                  <a:pt x="45846" y="583091"/>
                </a:lnTo>
                <a:lnTo>
                  <a:pt x="88141" y="630930"/>
                </a:lnTo>
                <a:lnTo>
                  <a:pt x="142864" y="676122"/>
                </a:lnTo>
                <a:lnTo>
                  <a:pt x="174622" y="697619"/>
                </a:lnTo>
                <a:lnTo>
                  <a:pt x="209172" y="718326"/>
                </a:lnTo>
                <a:lnTo>
                  <a:pt x="246408" y="738202"/>
                </a:lnTo>
                <a:lnTo>
                  <a:pt x="286224" y="757203"/>
                </a:lnTo>
                <a:lnTo>
                  <a:pt x="328517" y="775287"/>
                </a:lnTo>
                <a:lnTo>
                  <a:pt x="373180" y="792411"/>
                </a:lnTo>
                <a:lnTo>
                  <a:pt x="420108" y="808533"/>
                </a:lnTo>
                <a:lnTo>
                  <a:pt x="469197" y="823609"/>
                </a:lnTo>
                <a:lnTo>
                  <a:pt x="520340" y="837598"/>
                </a:lnTo>
                <a:lnTo>
                  <a:pt x="573434" y="850457"/>
                </a:lnTo>
                <a:lnTo>
                  <a:pt x="628372" y="862144"/>
                </a:lnTo>
                <a:lnTo>
                  <a:pt x="685049" y="872615"/>
                </a:lnTo>
                <a:lnTo>
                  <a:pt x="743361" y="881827"/>
                </a:lnTo>
                <a:lnTo>
                  <a:pt x="803202" y="889740"/>
                </a:lnTo>
                <a:lnTo>
                  <a:pt x="864467" y="896309"/>
                </a:lnTo>
                <a:lnTo>
                  <a:pt x="927051" y="901493"/>
                </a:lnTo>
                <a:lnTo>
                  <a:pt x="990849" y="905248"/>
                </a:lnTo>
                <a:lnTo>
                  <a:pt x="1055754" y="907533"/>
                </a:lnTo>
                <a:lnTo>
                  <a:pt x="1121664" y="908304"/>
                </a:lnTo>
                <a:lnTo>
                  <a:pt x="1187573" y="907533"/>
                </a:lnTo>
                <a:lnTo>
                  <a:pt x="1252478" y="905248"/>
                </a:lnTo>
                <a:lnTo>
                  <a:pt x="1316276" y="901493"/>
                </a:lnTo>
                <a:lnTo>
                  <a:pt x="1378860" y="896309"/>
                </a:lnTo>
                <a:lnTo>
                  <a:pt x="1440125" y="889740"/>
                </a:lnTo>
                <a:lnTo>
                  <a:pt x="1499966" y="881827"/>
                </a:lnTo>
                <a:lnTo>
                  <a:pt x="1558278" y="872615"/>
                </a:lnTo>
                <a:lnTo>
                  <a:pt x="1614955" y="862144"/>
                </a:lnTo>
                <a:lnTo>
                  <a:pt x="1669893" y="850457"/>
                </a:lnTo>
                <a:lnTo>
                  <a:pt x="1722987" y="837598"/>
                </a:lnTo>
                <a:lnTo>
                  <a:pt x="1774130" y="823609"/>
                </a:lnTo>
                <a:lnTo>
                  <a:pt x="1823219" y="808533"/>
                </a:lnTo>
                <a:lnTo>
                  <a:pt x="1870147" y="792411"/>
                </a:lnTo>
                <a:lnTo>
                  <a:pt x="1914810" y="775287"/>
                </a:lnTo>
                <a:lnTo>
                  <a:pt x="1957103" y="757203"/>
                </a:lnTo>
                <a:lnTo>
                  <a:pt x="1996919" y="738202"/>
                </a:lnTo>
                <a:lnTo>
                  <a:pt x="2034155" y="718326"/>
                </a:lnTo>
                <a:lnTo>
                  <a:pt x="2068705" y="697619"/>
                </a:lnTo>
                <a:lnTo>
                  <a:pt x="2100463" y="676122"/>
                </a:lnTo>
                <a:lnTo>
                  <a:pt x="2155186" y="630930"/>
                </a:lnTo>
                <a:lnTo>
                  <a:pt x="2197481" y="583091"/>
                </a:lnTo>
                <a:lnTo>
                  <a:pt x="2226507" y="532946"/>
                </a:lnTo>
                <a:lnTo>
                  <a:pt x="2241424" y="480837"/>
                </a:lnTo>
                <a:lnTo>
                  <a:pt x="2243328" y="454152"/>
                </a:lnTo>
                <a:lnTo>
                  <a:pt x="2241424" y="427466"/>
                </a:lnTo>
                <a:lnTo>
                  <a:pt x="2226507" y="375357"/>
                </a:lnTo>
                <a:lnTo>
                  <a:pt x="2197481" y="325212"/>
                </a:lnTo>
                <a:lnTo>
                  <a:pt x="2155186" y="277373"/>
                </a:lnTo>
                <a:lnTo>
                  <a:pt x="2100463" y="232181"/>
                </a:lnTo>
                <a:lnTo>
                  <a:pt x="2068705" y="210684"/>
                </a:lnTo>
                <a:lnTo>
                  <a:pt x="2034155" y="189977"/>
                </a:lnTo>
                <a:lnTo>
                  <a:pt x="1996919" y="170101"/>
                </a:lnTo>
                <a:lnTo>
                  <a:pt x="1957103" y="151100"/>
                </a:lnTo>
                <a:lnTo>
                  <a:pt x="1914810" y="133016"/>
                </a:lnTo>
                <a:lnTo>
                  <a:pt x="1870147" y="115892"/>
                </a:lnTo>
                <a:lnTo>
                  <a:pt x="1823219" y="99770"/>
                </a:lnTo>
                <a:lnTo>
                  <a:pt x="1774130" y="84694"/>
                </a:lnTo>
                <a:lnTo>
                  <a:pt x="1722987" y="70705"/>
                </a:lnTo>
                <a:lnTo>
                  <a:pt x="1669893" y="57846"/>
                </a:lnTo>
                <a:lnTo>
                  <a:pt x="1614955" y="46159"/>
                </a:lnTo>
                <a:lnTo>
                  <a:pt x="1558278" y="35688"/>
                </a:lnTo>
                <a:lnTo>
                  <a:pt x="1499966" y="26476"/>
                </a:lnTo>
                <a:lnTo>
                  <a:pt x="1440125" y="18563"/>
                </a:lnTo>
                <a:lnTo>
                  <a:pt x="1378860" y="11994"/>
                </a:lnTo>
                <a:lnTo>
                  <a:pt x="1316276" y="6810"/>
                </a:lnTo>
                <a:lnTo>
                  <a:pt x="1252478" y="3055"/>
                </a:lnTo>
                <a:lnTo>
                  <a:pt x="1187573" y="770"/>
                </a:lnTo>
                <a:lnTo>
                  <a:pt x="1121664" y="0"/>
                </a:lnTo>
                <a:close/>
              </a:path>
            </a:pathLst>
          </a:custGeom>
          <a:solidFill>
            <a:srgbClr val="FCEADA"/>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5121" name="object 24"/>
          <p:cNvSpPr/>
          <p:nvPr/>
        </p:nvSpPr>
        <p:spPr bwMode="auto">
          <a:xfrm>
            <a:off x="4837723" y="4036647"/>
            <a:ext cx="2071077" cy="838199"/>
          </a:xfrm>
          <a:custGeom>
            <a:avLst/>
            <a:gdLst>
              <a:gd name="T0" fmla="*/ 755 w 2243454"/>
              <a:gd name="T1" fmla="*/ 39940 h 908685"/>
              <a:gd name="T2" fmla="*/ 6551 w 2243454"/>
              <a:gd name="T3" fmla="*/ 29964 h 908685"/>
              <a:gd name="T4" fmla="*/ 17495 w 2243454"/>
              <a:gd name="T5" fmla="*/ 20974 h 908685"/>
              <a:gd name="T6" fmla="*/ 24688 w 2243454"/>
              <a:gd name="T7" fmla="*/ 16934 h 908685"/>
              <a:gd name="T8" fmla="*/ 32914 w 2243454"/>
              <a:gd name="T9" fmla="*/ 13242 h 908685"/>
              <a:gd name="T10" fmla="*/ 42090 w 2243454"/>
              <a:gd name="T11" fmla="*/ 9932 h 908685"/>
              <a:gd name="T12" fmla="*/ 52132 w 2243454"/>
              <a:gd name="T13" fmla="*/ 7039 h 908685"/>
              <a:gd name="T14" fmla="*/ 62956 w 2243454"/>
              <a:gd name="T15" fmla="*/ 4595 h 908685"/>
              <a:gd name="T16" fmla="*/ 74477 w 2243454"/>
              <a:gd name="T17" fmla="*/ 2636 h 908685"/>
              <a:gd name="T18" fmla="*/ 86611 w 2243454"/>
              <a:gd name="T19" fmla="*/ 1194 h 908685"/>
              <a:gd name="T20" fmla="*/ 99272 w 2243454"/>
              <a:gd name="T21" fmla="*/ 304 h 908685"/>
              <a:gd name="T22" fmla="*/ 112378 w 2243454"/>
              <a:gd name="T23" fmla="*/ 0 h 908685"/>
              <a:gd name="T24" fmla="*/ 125485 w 2243454"/>
              <a:gd name="T25" fmla="*/ 304 h 908685"/>
              <a:gd name="T26" fmla="*/ 138147 w 2243454"/>
              <a:gd name="T27" fmla="*/ 1194 h 908685"/>
              <a:gd name="T28" fmla="*/ 150280 w 2243454"/>
              <a:gd name="T29" fmla="*/ 2636 h 908685"/>
              <a:gd name="T30" fmla="*/ 161801 w 2243454"/>
              <a:gd name="T31" fmla="*/ 4595 h 908685"/>
              <a:gd name="T32" fmla="*/ 172624 w 2243454"/>
              <a:gd name="T33" fmla="*/ 7039 h 908685"/>
              <a:gd name="T34" fmla="*/ 182666 w 2243454"/>
              <a:gd name="T35" fmla="*/ 9932 h 908685"/>
              <a:gd name="T36" fmla="*/ 191842 w 2243454"/>
              <a:gd name="T37" fmla="*/ 13242 h 908685"/>
              <a:gd name="T38" fmla="*/ 200069 w 2243454"/>
              <a:gd name="T39" fmla="*/ 16934 h 908685"/>
              <a:gd name="T40" fmla="*/ 207261 w 2243454"/>
              <a:gd name="T41" fmla="*/ 20974 h 908685"/>
              <a:gd name="T42" fmla="*/ 215926 w 2243454"/>
              <a:gd name="T43" fmla="*/ 27614 h 908685"/>
              <a:gd name="T44" fmla="*/ 223071 w 2243454"/>
              <a:gd name="T45" fmla="*/ 37369 h 908685"/>
              <a:gd name="T46" fmla="*/ 224757 w 2243454"/>
              <a:gd name="T47" fmla="*/ 45212 h 908685"/>
              <a:gd name="T48" fmla="*/ 223071 w 2243454"/>
              <a:gd name="T49" fmla="*/ 53057 h 908685"/>
              <a:gd name="T50" fmla="*/ 215926 w 2243454"/>
              <a:gd name="T51" fmla="*/ 62812 h 908685"/>
              <a:gd name="T52" fmla="*/ 207261 w 2243454"/>
              <a:gd name="T53" fmla="*/ 69451 h 908685"/>
              <a:gd name="T54" fmla="*/ 200069 w 2243454"/>
              <a:gd name="T55" fmla="*/ 73491 h 908685"/>
              <a:gd name="T56" fmla="*/ 191842 w 2243454"/>
              <a:gd name="T57" fmla="*/ 77183 h 908685"/>
              <a:gd name="T58" fmla="*/ 182666 w 2243454"/>
              <a:gd name="T59" fmla="*/ 80493 h 908685"/>
              <a:gd name="T60" fmla="*/ 172624 w 2243454"/>
              <a:gd name="T61" fmla="*/ 83387 h 908685"/>
              <a:gd name="T62" fmla="*/ 161801 w 2243454"/>
              <a:gd name="T63" fmla="*/ 85830 h 908685"/>
              <a:gd name="T64" fmla="*/ 150280 w 2243454"/>
              <a:gd name="T65" fmla="*/ 87790 h 908685"/>
              <a:gd name="T66" fmla="*/ 138147 w 2243454"/>
              <a:gd name="T67" fmla="*/ 89231 h 908685"/>
              <a:gd name="T68" fmla="*/ 125485 w 2243454"/>
              <a:gd name="T69" fmla="*/ 90121 h 908685"/>
              <a:gd name="T70" fmla="*/ 112378 w 2243454"/>
              <a:gd name="T71" fmla="*/ 90425 h 908685"/>
              <a:gd name="T72" fmla="*/ 99272 w 2243454"/>
              <a:gd name="T73" fmla="*/ 90121 h 908685"/>
              <a:gd name="T74" fmla="*/ 86611 w 2243454"/>
              <a:gd name="T75" fmla="*/ 89231 h 908685"/>
              <a:gd name="T76" fmla="*/ 74477 w 2243454"/>
              <a:gd name="T77" fmla="*/ 87790 h 908685"/>
              <a:gd name="T78" fmla="*/ 62956 w 2243454"/>
              <a:gd name="T79" fmla="*/ 85830 h 908685"/>
              <a:gd name="T80" fmla="*/ 52132 w 2243454"/>
              <a:gd name="T81" fmla="*/ 83387 h 908685"/>
              <a:gd name="T82" fmla="*/ 42090 w 2243454"/>
              <a:gd name="T83" fmla="*/ 80493 h 908685"/>
              <a:gd name="T84" fmla="*/ 32914 w 2243454"/>
              <a:gd name="T85" fmla="*/ 77183 h 908685"/>
              <a:gd name="T86" fmla="*/ 24688 w 2243454"/>
              <a:gd name="T87" fmla="*/ 73491 h 908685"/>
              <a:gd name="T88" fmla="*/ 17495 w 2243454"/>
              <a:gd name="T89" fmla="*/ 69451 h 908685"/>
              <a:gd name="T90" fmla="*/ 8831 w 2243454"/>
              <a:gd name="T91" fmla="*/ 62812 h 908685"/>
              <a:gd name="T92" fmla="*/ 1685 w 2243454"/>
              <a:gd name="T93" fmla="*/ 53057 h 908685"/>
              <a:gd name="T94" fmla="*/ 0 w 2243454"/>
              <a:gd name="T95" fmla="*/ 45212 h 90868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43454" h="908685">
                <a:moveTo>
                  <a:pt x="0" y="454152"/>
                </a:moveTo>
                <a:lnTo>
                  <a:pt x="7545" y="401187"/>
                </a:lnTo>
                <a:lnTo>
                  <a:pt x="29622" y="350017"/>
                </a:lnTo>
                <a:lnTo>
                  <a:pt x="65388" y="300983"/>
                </a:lnTo>
                <a:lnTo>
                  <a:pt x="114002" y="254425"/>
                </a:lnTo>
                <a:lnTo>
                  <a:pt x="174622" y="210684"/>
                </a:lnTo>
                <a:lnTo>
                  <a:pt x="209172" y="189977"/>
                </a:lnTo>
                <a:lnTo>
                  <a:pt x="246408" y="170101"/>
                </a:lnTo>
                <a:lnTo>
                  <a:pt x="286224" y="151100"/>
                </a:lnTo>
                <a:lnTo>
                  <a:pt x="328517" y="133016"/>
                </a:lnTo>
                <a:lnTo>
                  <a:pt x="373180" y="115892"/>
                </a:lnTo>
                <a:lnTo>
                  <a:pt x="420108" y="99770"/>
                </a:lnTo>
                <a:lnTo>
                  <a:pt x="469197" y="84694"/>
                </a:lnTo>
                <a:lnTo>
                  <a:pt x="520340" y="70705"/>
                </a:lnTo>
                <a:lnTo>
                  <a:pt x="573434" y="57846"/>
                </a:lnTo>
                <a:lnTo>
                  <a:pt x="628372" y="46159"/>
                </a:lnTo>
                <a:lnTo>
                  <a:pt x="685049" y="35688"/>
                </a:lnTo>
                <a:lnTo>
                  <a:pt x="743361" y="26476"/>
                </a:lnTo>
                <a:lnTo>
                  <a:pt x="803202" y="18563"/>
                </a:lnTo>
                <a:lnTo>
                  <a:pt x="864467" y="11994"/>
                </a:lnTo>
                <a:lnTo>
                  <a:pt x="927051" y="6810"/>
                </a:lnTo>
                <a:lnTo>
                  <a:pt x="990849" y="3055"/>
                </a:lnTo>
                <a:lnTo>
                  <a:pt x="1055754" y="770"/>
                </a:lnTo>
                <a:lnTo>
                  <a:pt x="1121664" y="0"/>
                </a:lnTo>
                <a:lnTo>
                  <a:pt x="1187573" y="770"/>
                </a:lnTo>
                <a:lnTo>
                  <a:pt x="1252478" y="3055"/>
                </a:lnTo>
                <a:lnTo>
                  <a:pt x="1316276" y="6810"/>
                </a:lnTo>
                <a:lnTo>
                  <a:pt x="1378860" y="11994"/>
                </a:lnTo>
                <a:lnTo>
                  <a:pt x="1440125" y="18563"/>
                </a:lnTo>
                <a:lnTo>
                  <a:pt x="1499966" y="26476"/>
                </a:lnTo>
                <a:lnTo>
                  <a:pt x="1558278" y="35688"/>
                </a:lnTo>
                <a:lnTo>
                  <a:pt x="1614955" y="46159"/>
                </a:lnTo>
                <a:lnTo>
                  <a:pt x="1669893" y="57846"/>
                </a:lnTo>
                <a:lnTo>
                  <a:pt x="1722987" y="70705"/>
                </a:lnTo>
                <a:lnTo>
                  <a:pt x="1774130" y="84694"/>
                </a:lnTo>
                <a:lnTo>
                  <a:pt x="1823219" y="99770"/>
                </a:lnTo>
                <a:lnTo>
                  <a:pt x="1870147" y="115892"/>
                </a:lnTo>
                <a:lnTo>
                  <a:pt x="1914810" y="133016"/>
                </a:lnTo>
                <a:lnTo>
                  <a:pt x="1957103" y="151100"/>
                </a:lnTo>
                <a:lnTo>
                  <a:pt x="1996919" y="170101"/>
                </a:lnTo>
                <a:lnTo>
                  <a:pt x="2034155" y="189977"/>
                </a:lnTo>
                <a:lnTo>
                  <a:pt x="2068705" y="210684"/>
                </a:lnTo>
                <a:lnTo>
                  <a:pt x="2100463" y="232181"/>
                </a:lnTo>
                <a:lnTo>
                  <a:pt x="2155186" y="277373"/>
                </a:lnTo>
                <a:lnTo>
                  <a:pt x="2197481" y="325212"/>
                </a:lnTo>
                <a:lnTo>
                  <a:pt x="2226507" y="375357"/>
                </a:lnTo>
                <a:lnTo>
                  <a:pt x="2241424" y="427466"/>
                </a:lnTo>
                <a:lnTo>
                  <a:pt x="2243328" y="454152"/>
                </a:lnTo>
                <a:lnTo>
                  <a:pt x="2241424" y="480837"/>
                </a:lnTo>
                <a:lnTo>
                  <a:pt x="2226507" y="532946"/>
                </a:lnTo>
                <a:lnTo>
                  <a:pt x="2197481" y="583091"/>
                </a:lnTo>
                <a:lnTo>
                  <a:pt x="2155186" y="630930"/>
                </a:lnTo>
                <a:lnTo>
                  <a:pt x="2100463" y="676122"/>
                </a:lnTo>
                <a:lnTo>
                  <a:pt x="2068705" y="697619"/>
                </a:lnTo>
                <a:lnTo>
                  <a:pt x="2034155" y="718326"/>
                </a:lnTo>
                <a:lnTo>
                  <a:pt x="1996919" y="738202"/>
                </a:lnTo>
                <a:lnTo>
                  <a:pt x="1957103" y="757203"/>
                </a:lnTo>
                <a:lnTo>
                  <a:pt x="1914810" y="775287"/>
                </a:lnTo>
                <a:lnTo>
                  <a:pt x="1870147" y="792411"/>
                </a:lnTo>
                <a:lnTo>
                  <a:pt x="1823219" y="808533"/>
                </a:lnTo>
                <a:lnTo>
                  <a:pt x="1774130" y="823609"/>
                </a:lnTo>
                <a:lnTo>
                  <a:pt x="1722987" y="837598"/>
                </a:lnTo>
                <a:lnTo>
                  <a:pt x="1669893" y="850457"/>
                </a:lnTo>
                <a:lnTo>
                  <a:pt x="1614955" y="862144"/>
                </a:lnTo>
                <a:lnTo>
                  <a:pt x="1558278" y="872615"/>
                </a:lnTo>
                <a:lnTo>
                  <a:pt x="1499966" y="881827"/>
                </a:lnTo>
                <a:lnTo>
                  <a:pt x="1440125" y="889740"/>
                </a:lnTo>
                <a:lnTo>
                  <a:pt x="1378860" y="896309"/>
                </a:lnTo>
                <a:lnTo>
                  <a:pt x="1316276" y="901493"/>
                </a:lnTo>
                <a:lnTo>
                  <a:pt x="1252478" y="905248"/>
                </a:lnTo>
                <a:lnTo>
                  <a:pt x="1187573" y="907533"/>
                </a:lnTo>
                <a:lnTo>
                  <a:pt x="1121664" y="908304"/>
                </a:lnTo>
                <a:lnTo>
                  <a:pt x="1055754" y="907533"/>
                </a:lnTo>
                <a:lnTo>
                  <a:pt x="990849" y="905248"/>
                </a:lnTo>
                <a:lnTo>
                  <a:pt x="927051" y="901493"/>
                </a:lnTo>
                <a:lnTo>
                  <a:pt x="864467" y="896309"/>
                </a:lnTo>
                <a:lnTo>
                  <a:pt x="803202" y="889740"/>
                </a:lnTo>
                <a:lnTo>
                  <a:pt x="743361" y="881827"/>
                </a:lnTo>
                <a:lnTo>
                  <a:pt x="685049" y="872615"/>
                </a:lnTo>
                <a:lnTo>
                  <a:pt x="628372" y="862144"/>
                </a:lnTo>
                <a:lnTo>
                  <a:pt x="573434" y="850457"/>
                </a:lnTo>
                <a:lnTo>
                  <a:pt x="520340" y="837598"/>
                </a:lnTo>
                <a:lnTo>
                  <a:pt x="469197" y="823609"/>
                </a:lnTo>
                <a:lnTo>
                  <a:pt x="420108" y="808533"/>
                </a:lnTo>
                <a:lnTo>
                  <a:pt x="373180" y="792411"/>
                </a:lnTo>
                <a:lnTo>
                  <a:pt x="328517" y="775287"/>
                </a:lnTo>
                <a:lnTo>
                  <a:pt x="286224" y="757203"/>
                </a:lnTo>
                <a:lnTo>
                  <a:pt x="246408" y="738202"/>
                </a:lnTo>
                <a:lnTo>
                  <a:pt x="209172" y="718326"/>
                </a:lnTo>
                <a:lnTo>
                  <a:pt x="174622" y="697619"/>
                </a:lnTo>
                <a:lnTo>
                  <a:pt x="142864" y="676122"/>
                </a:lnTo>
                <a:lnTo>
                  <a:pt x="88141" y="630930"/>
                </a:lnTo>
                <a:lnTo>
                  <a:pt x="45846" y="583091"/>
                </a:lnTo>
                <a:lnTo>
                  <a:pt x="16820" y="532946"/>
                </a:lnTo>
                <a:lnTo>
                  <a:pt x="1903" y="480837"/>
                </a:lnTo>
                <a:lnTo>
                  <a:pt x="0" y="454152"/>
                </a:lnTo>
                <a:close/>
              </a:path>
            </a:pathLst>
          </a:custGeom>
          <a:noFill/>
          <a:ln w="12191">
            <a:solidFill>
              <a:srgbClr val="C0504D"/>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20" name="object 25"/>
          <p:cNvSpPr txBox="1"/>
          <p:nvPr/>
        </p:nvSpPr>
        <p:spPr>
          <a:xfrm>
            <a:off x="5273431" y="4191000"/>
            <a:ext cx="1199662" cy="411480"/>
          </a:xfrm>
          <a:prstGeom prst="rect">
            <a:avLst/>
          </a:prstGeom>
        </p:spPr>
        <p:txBody>
          <a:bodyPr lIns="0" tIns="0" rIns="0" bIns="0">
            <a:spAutoFit/>
          </a:bodyPr>
          <a:lstStyle/>
          <a:p>
            <a:pPr marL="635" algn="ctr">
              <a:lnSpc>
                <a:spcPts val="1605"/>
              </a:lnSpc>
              <a:defRPr/>
            </a:pPr>
            <a:r>
              <a:rPr sz="1660" b="1" dirty="0">
                <a:solidFill>
                  <a:srgbClr val="C00000"/>
                </a:solidFill>
                <a:latin typeface="宋体" panose="02010600030101010101" pitchFamily="2" charset="-122"/>
                <a:cs typeface="宋体" panose="02010600030101010101" pitchFamily="2" charset="-122"/>
              </a:rPr>
              <a:t>协同安全</a:t>
            </a:r>
            <a:endParaRPr sz="1660">
              <a:latin typeface="宋体" panose="02010600030101010101" pitchFamily="2" charset="-122"/>
              <a:cs typeface="宋体" panose="02010600030101010101" pitchFamily="2" charset="-122"/>
            </a:endParaRPr>
          </a:p>
          <a:p>
            <a:pPr algn="ctr">
              <a:lnSpc>
                <a:spcPts val="1605"/>
              </a:lnSpc>
              <a:defRPr/>
            </a:pPr>
            <a:r>
              <a:rPr sz="1660" b="1" spc="-4" dirty="0">
                <a:solidFill>
                  <a:srgbClr val="C00000"/>
                </a:solidFill>
                <a:latin typeface="Calibri" panose="020F0502020204030204"/>
                <a:cs typeface="Calibri" panose="020F0502020204030204"/>
              </a:rPr>
              <a:t>Joint</a:t>
            </a:r>
            <a:r>
              <a:rPr sz="1660" b="1" spc="-75" dirty="0">
                <a:solidFill>
                  <a:srgbClr val="C00000"/>
                </a:solidFill>
                <a:latin typeface="Calibri" panose="020F0502020204030204"/>
                <a:cs typeface="Calibri" panose="020F0502020204030204"/>
              </a:rPr>
              <a:t> </a:t>
            </a:r>
            <a:r>
              <a:rPr sz="1660" b="1" dirty="0">
                <a:solidFill>
                  <a:srgbClr val="C00000"/>
                </a:solidFill>
                <a:latin typeface="Calibri" panose="020F0502020204030204"/>
                <a:cs typeface="Calibri" panose="020F0502020204030204"/>
              </a:rPr>
              <a:t>Security</a:t>
            </a:r>
            <a:endParaRPr sz="1660">
              <a:latin typeface="Calibri" panose="020F0502020204030204"/>
              <a:cs typeface="Calibri" panose="020F0502020204030204"/>
            </a:endParaRPr>
          </a:p>
        </p:txBody>
      </p:sp>
      <p:sp>
        <p:nvSpPr>
          <p:cNvPr id="175123" name="object 26"/>
          <p:cNvSpPr txBox="1">
            <a:spLocks noChangeArrowheads="1"/>
          </p:cNvSpPr>
          <p:nvPr/>
        </p:nvSpPr>
        <p:spPr bwMode="auto">
          <a:xfrm>
            <a:off x="1133231" y="5849816"/>
            <a:ext cx="9503508" cy="1365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2215">
                <a:solidFill>
                  <a:srgbClr val="FFFF00"/>
                </a:solidFill>
                <a:latin typeface="微软雅黑 Light" panose="020B0502040204020203" pitchFamily="34" charset="-122"/>
                <a:ea typeface="微软雅黑 Light" panose="020B0502040204020203" pitchFamily="34" charset="-122"/>
              </a:rPr>
              <a:t>群众提高意识、运营商做好防护、政府依法提供保障</a:t>
            </a:r>
            <a:endParaRPr lang="zh-CN" altLang="zh-CN" sz="2215">
              <a:latin typeface="微软雅黑 Light" panose="020B0502040204020203" pitchFamily="34" charset="-122"/>
              <a:ea typeface="微软雅黑 Light" panose="020B0502040204020203" pitchFamily="34" charset="-122"/>
            </a:endParaRPr>
          </a:p>
          <a:p>
            <a:pPr algn="ctr">
              <a:spcBef>
                <a:spcPts val="15"/>
              </a:spcBef>
              <a:buClrTx/>
              <a:buFontTx/>
              <a:buNone/>
            </a:pPr>
            <a:r>
              <a:rPr lang="zh-CN" altLang="zh-CN" sz="2215">
                <a:solidFill>
                  <a:srgbClr val="FFFF00"/>
                </a:solidFill>
                <a:latin typeface="Times New Roman" panose="02020603050405020304" pitchFamily="18" charset="0"/>
                <a:ea typeface="宋体" panose="02010600030101010101" pitchFamily="2" charset="-122"/>
                <a:cs typeface="Times New Roman" panose="02020603050405020304" pitchFamily="18" charset="0"/>
              </a:rPr>
              <a:t>The ordinary people should raise their awareness. The ISP should build the effective</a:t>
            </a:r>
            <a:endParaRPr lang="zh-CN" altLang="zh-CN" sz="2215">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ClrTx/>
              <a:buFontTx/>
              <a:buNone/>
            </a:pPr>
            <a:r>
              <a:rPr lang="zh-CN" altLang="zh-CN" sz="2215">
                <a:solidFill>
                  <a:srgbClr val="FFFF00"/>
                </a:solidFill>
                <a:latin typeface="Times New Roman" panose="02020603050405020304" pitchFamily="18" charset="0"/>
                <a:ea typeface="宋体" panose="02010600030101010101" pitchFamily="2" charset="-122"/>
                <a:cs typeface="Times New Roman" panose="02020603050405020304" pitchFamily="18" charset="0"/>
              </a:rPr>
              <a:t>protection. The Government should give their support according to law.</a:t>
            </a:r>
            <a:endParaRPr lang="zh-CN" altLang="zh-CN" sz="2215">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5124" name="object 27"/>
          <p:cNvSpPr>
            <a:spLocks noChangeArrowheads="1"/>
          </p:cNvSpPr>
          <p:nvPr/>
        </p:nvSpPr>
        <p:spPr bwMode="auto">
          <a:xfrm>
            <a:off x="7129585" y="3321539"/>
            <a:ext cx="4073769" cy="2274277"/>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5125" name="object 28"/>
          <p:cNvSpPr/>
          <p:nvPr/>
        </p:nvSpPr>
        <p:spPr bwMode="auto">
          <a:xfrm>
            <a:off x="7270262" y="4749800"/>
            <a:ext cx="3794369" cy="597877"/>
          </a:xfrm>
          <a:custGeom>
            <a:avLst/>
            <a:gdLst>
              <a:gd name="T0" fmla="*/ 0 w 4109084"/>
              <a:gd name="T1" fmla="*/ 64844 h 647700"/>
              <a:gd name="T2" fmla="*/ 412524 w 4109084"/>
              <a:gd name="T3" fmla="*/ 64844 h 647700"/>
              <a:gd name="T4" fmla="*/ 412524 w 4109084"/>
              <a:gd name="T5" fmla="*/ 0 h 647700"/>
              <a:gd name="T6" fmla="*/ 0 w 4109084"/>
              <a:gd name="T7" fmla="*/ 0 h 647700"/>
              <a:gd name="T8" fmla="*/ 0 w 4109084"/>
              <a:gd name="T9" fmla="*/ 64844 h 64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09084" h="647700">
                <a:moveTo>
                  <a:pt x="0" y="647700"/>
                </a:moveTo>
                <a:lnTo>
                  <a:pt x="4108704" y="647700"/>
                </a:lnTo>
                <a:lnTo>
                  <a:pt x="4108704" y="0"/>
                </a:lnTo>
                <a:lnTo>
                  <a:pt x="0" y="0"/>
                </a:lnTo>
                <a:lnTo>
                  <a:pt x="0" y="647700"/>
                </a:lnTo>
                <a:close/>
              </a:path>
            </a:pathLst>
          </a:custGeom>
          <a:solidFill>
            <a:srgbClr val="F1F1F1">
              <a:alpha val="69803"/>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24" name="object 29"/>
          <p:cNvSpPr txBox="1"/>
          <p:nvPr/>
        </p:nvSpPr>
        <p:spPr>
          <a:xfrm>
            <a:off x="7825154" y="4783016"/>
            <a:ext cx="2686538" cy="411480"/>
          </a:xfrm>
          <a:prstGeom prst="rect">
            <a:avLst/>
          </a:prstGeom>
        </p:spPr>
        <p:txBody>
          <a:bodyPr lIns="0" tIns="0" rIns="0" bIns="0">
            <a:spAutoFit/>
          </a:bodyPr>
          <a:lstStyle/>
          <a:p>
            <a:pPr algn="ctr">
              <a:lnSpc>
                <a:spcPts val="1605"/>
              </a:lnSpc>
              <a:defRPr/>
            </a:pPr>
            <a:r>
              <a:rPr sz="1660" b="1" dirty="0">
                <a:solidFill>
                  <a:srgbClr val="C00000"/>
                </a:solidFill>
                <a:latin typeface="宋体" panose="02010600030101010101" pitchFamily="2" charset="-122"/>
                <a:cs typeface="宋体" panose="02010600030101010101" pitchFamily="2" charset="-122"/>
              </a:rPr>
              <a:t>运营商注重保护</a:t>
            </a:r>
            <a:endParaRPr sz="1660">
              <a:latin typeface="宋体" panose="02010600030101010101" pitchFamily="2" charset="-122"/>
              <a:cs typeface="宋体" panose="02010600030101010101" pitchFamily="2" charset="-122"/>
            </a:endParaRPr>
          </a:p>
          <a:p>
            <a:pPr algn="ctr">
              <a:lnSpc>
                <a:spcPts val="1605"/>
              </a:lnSpc>
              <a:defRPr/>
            </a:pPr>
            <a:r>
              <a:rPr sz="1660" spc="-7" dirty="0">
                <a:solidFill>
                  <a:srgbClr val="C00000"/>
                </a:solidFill>
                <a:latin typeface="Calibri" panose="020F0502020204030204"/>
                <a:cs typeface="Calibri" panose="020F0502020204030204"/>
              </a:rPr>
              <a:t>ISPs </a:t>
            </a:r>
            <a:r>
              <a:rPr sz="1660" spc="-18" dirty="0">
                <a:solidFill>
                  <a:srgbClr val="C00000"/>
                </a:solidFill>
                <a:latin typeface="Calibri" panose="020F0502020204030204"/>
                <a:cs typeface="Calibri" panose="020F0502020204030204"/>
              </a:rPr>
              <a:t>take </a:t>
            </a:r>
            <a:r>
              <a:rPr sz="1660" spc="-11" dirty="0">
                <a:solidFill>
                  <a:srgbClr val="C00000"/>
                </a:solidFill>
                <a:latin typeface="Calibri" panose="020F0502020204030204"/>
                <a:cs typeface="Calibri" panose="020F0502020204030204"/>
              </a:rPr>
              <a:t>care </a:t>
            </a:r>
            <a:r>
              <a:rPr sz="1660" spc="-4" dirty="0">
                <a:solidFill>
                  <a:srgbClr val="C00000"/>
                </a:solidFill>
                <a:latin typeface="Calibri" panose="020F0502020204030204"/>
                <a:cs typeface="Calibri" panose="020F0502020204030204"/>
              </a:rPr>
              <a:t>of </a:t>
            </a:r>
            <a:r>
              <a:rPr sz="1660" dirty="0">
                <a:solidFill>
                  <a:srgbClr val="C00000"/>
                </a:solidFill>
                <a:latin typeface="Calibri" panose="020F0502020204030204"/>
                <a:cs typeface="Calibri" panose="020F0502020204030204"/>
              </a:rPr>
              <a:t>the</a:t>
            </a:r>
            <a:r>
              <a:rPr sz="1660" spc="15" dirty="0">
                <a:solidFill>
                  <a:srgbClr val="C00000"/>
                </a:solidFill>
                <a:latin typeface="Calibri" panose="020F0502020204030204"/>
                <a:cs typeface="Calibri" panose="020F0502020204030204"/>
              </a:rPr>
              <a:t> </a:t>
            </a:r>
            <a:r>
              <a:rPr sz="1660" spc="-7" dirty="0">
                <a:solidFill>
                  <a:srgbClr val="C00000"/>
                </a:solidFill>
                <a:latin typeface="Calibri" panose="020F0502020204030204"/>
                <a:cs typeface="Calibri" panose="020F0502020204030204"/>
              </a:rPr>
              <a:t>protection</a:t>
            </a:r>
            <a:endParaRPr sz="1660">
              <a:latin typeface="Calibri" panose="020F0502020204030204"/>
              <a:cs typeface="Calibri" panose="020F0502020204030204"/>
            </a:endParaRPr>
          </a:p>
        </p:txBody>
      </p:sp>
      <p:sp>
        <p:nvSpPr>
          <p:cNvPr id="175127" name="object 30"/>
          <p:cNvSpPr>
            <a:spLocks noChangeArrowheads="1"/>
          </p:cNvSpPr>
          <p:nvPr/>
        </p:nvSpPr>
        <p:spPr bwMode="auto">
          <a:xfrm>
            <a:off x="3817815" y="4986216"/>
            <a:ext cx="4110892" cy="822569"/>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5128" name="object 31"/>
          <p:cNvSpPr/>
          <p:nvPr/>
        </p:nvSpPr>
        <p:spPr bwMode="auto">
          <a:xfrm>
            <a:off x="3817815" y="4986216"/>
            <a:ext cx="4110892" cy="822569"/>
          </a:xfrm>
          <a:custGeom>
            <a:avLst/>
            <a:gdLst>
              <a:gd name="T0" fmla="*/ 0 w 4453255"/>
              <a:gd name="T1" fmla="*/ 54046 h 891539"/>
              <a:gd name="T2" fmla="*/ 222992 w 4453255"/>
              <a:gd name="T3" fmla="*/ 0 h 891539"/>
              <a:gd name="T4" fmla="*/ 445985 w 4453255"/>
              <a:gd name="T5" fmla="*/ 54046 h 891539"/>
              <a:gd name="T6" fmla="*/ 435098 w 4453255"/>
              <a:gd name="T7" fmla="*/ 54046 h 891539"/>
              <a:gd name="T8" fmla="*/ 435098 w 4453255"/>
              <a:gd name="T9" fmla="*/ 88917 h 891539"/>
              <a:gd name="T10" fmla="*/ 10887 w 4453255"/>
              <a:gd name="T11" fmla="*/ 88917 h 891539"/>
              <a:gd name="T12" fmla="*/ 10887 w 4453255"/>
              <a:gd name="T13" fmla="*/ 54046 h 891539"/>
              <a:gd name="T14" fmla="*/ 0 w 4453255"/>
              <a:gd name="T15" fmla="*/ 54046 h 89153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53255" h="891539">
                <a:moveTo>
                  <a:pt x="0" y="541909"/>
                </a:moveTo>
                <a:lnTo>
                  <a:pt x="2226564" y="0"/>
                </a:lnTo>
                <a:lnTo>
                  <a:pt x="4453128" y="541909"/>
                </a:lnTo>
                <a:lnTo>
                  <a:pt x="4344416" y="541909"/>
                </a:lnTo>
                <a:lnTo>
                  <a:pt x="4344416" y="891540"/>
                </a:lnTo>
                <a:lnTo>
                  <a:pt x="108712" y="891540"/>
                </a:lnTo>
                <a:lnTo>
                  <a:pt x="108712" y="541909"/>
                </a:lnTo>
                <a:lnTo>
                  <a:pt x="0" y="541909"/>
                </a:lnTo>
                <a:close/>
              </a:path>
            </a:pathLst>
          </a:custGeom>
          <a:noFill/>
          <a:ln w="12192">
            <a:solidFill>
              <a:srgbClr val="385D89"/>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27" name="object 32"/>
          <p:cNvSpPr txBox="1"/>
          <p:nvPr/>
        </p:nvSpPr>
        <p:spPr>
          <a:xfrm>
            <a:off x="4917831" y="5179646"/>
            <a:ext cx="2024185" cy="457200"/>
          </a:xfrm>
          <a:prstGeom prst="rect">
            <a:avLst/>
          </a:prstGeom>
        </p:spPr>
        <p:txBody>
          <a:bodyPr lIns="0" tIns="0" rIns="0" bIns="0">
            <a:spAutoFit/>
          </a:bodyPr>
          <a:lstStyle/>
          <a:p>
            <a:pPr algn="ctr">
              <a:lnSpc>
                <a:spcPts val="1785"/>
              </a:lnSpc>
              <a:defRPr/>
            </a:pPr>
            <a:r>
              <a:rPr sz="1845" dirty="0">
                <a:solidFill>
                  <a:srgbClr val="FFFFFF"/>
                </a:solidFill>
                <a:latin typeface="宋体" panose="02010600030101010101" pitchFamily="2" charset="-122"/>
                <a:cs typeface="宋体" panose="02010600030101010101" pitchFamily="2" charset="-122"/>
              </a:rPr>
              <a:t>政府支持</a:t>
            </a:r>
            <a:endParaRPr sz="1845">
              <a:latin typeface="宋体" panose="02010600030101010101" pitchFamily="2" charset="-122"/>
              <a:cs typeface="宋体" panose="02010600030101010101" pitchFamily="2" charset="-122"/>
            </a:endParaRPr>
          </a:p>
          <a:p>
            <a:pPr algn="ctr">
              <a:lnSpc>
                <a:spcPts val="1785"/>
              </a:lnSpc>
              <a:defRPr/>
            </a:pPr>
            <a:r>
              <a:rPr sz="1845" spc="-7" dirty="0">
                <a:solidFill>
                  <a:srgbClr val="FFFFFF"/>
                </a:solidFill>
                <a:latin typeface="Calibri" panose="020F0502020204030204"/>
                <a:cs typeface="Calibri" panose="020F0502020204030204"/>
              </a:rPr>
              <a:t>Government</a:t>
            </a:r>
            <a:r>
              <a:rPr sz="1845" spc="-38" dirty="0">
                <a:solidFill>
                  <a:srgbClr val="FFFFFF"/>
                </a:solidFill>
                <a:latin typeface="Calibri" panose="020F0502020204030204"/>
                <a:cs typeface="Calibri" panose="020F0502020204030204"/>
              </a:rPr>
              <a:t> </a:t>
            </a:r>
            <a:r>
              <a:rPr sz="1845" spc="-4" dirty="0">
                <a:solidFill>
                  <a:srgbClr val="FFFFFF"/>
                </a:solidFill>
                <a:latin typeface="Calibri" panose="020F0502020204030204"/>
                <a:cs typeface="Calibri" panose="020F0502020204030204"/>
              </a:rPr>
              <a:t>support</a:t>
            </a:r>
            <a:endParaRPr sz="1845">
              <a:latin typeface="Calibri" panose="020F0502020204030204"/>
              <a:cs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object 2"/>
          <p:cNvSpPr/>
          <p:nvPr/>
        </p:nvSpPr>
        <p:spPr bwMode="auto">
          <a:xfrm>
            <a:off x="158262" y="119185"/>
            <a:ext cx="11875477" cy="1127370"/>
          </a:xfrm>
          <a:custGeom>
            <a:avLst/>
            <a:gdLst>
              <a:gd name="T0" fmla="*/ 0 w 12192000"/>
              <a:gd name="T1" fmla="*/ 122381 h 1221105"/>
              <a:gd name="T2" fmla="*/ 1876164 w 12192000"/>
              <a:gd name="T3" fmla="*/ 122381 h 1221105"/>
              <a:gd name="T4" fmla="*/ 1876164 w 12192000"/>
              <a:gd name="T5" fmla="*/ 0 h 1221105"/>
              <a:gd name="T6" fmla="*/ 0 w 12192000"/>
              <a:gd name="T7" fmla="*/ 0 h 1221105"/>
              <a:gd name="T8" fmla="*/ 0 w 12192000"/>
              <a:gd name="T9" fmla="*/ 122381 h 12211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21105">
                <a:moveTo>
                  <a:pt x="0" y="1220724"/>
                </a:moveTo>
                <a:lnTo>
                  <a:pt x="12192000" y="1220724"/>
                </a:lnTo>
                <a:lnTo>
                  <a:pt x="12192000" y="0"/>
                </a:lnTo>
                <a:lnTo>
                  <a:pt x="0" y="0"/>
                </a:lnTo>
                <a:lnTo>
                  <a:pt x="0" y="1220724"/>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6131" name="object 3"/>
          <p:cNvSpPr/>
          <p:nvPr/>
        </p:nvSpPr>
        <p:spPr bwMode="auto">
          <a:xfrm>
            <a:off x="158262" y="3370385"/>
            <a:ext cx="11875477" cy="3577493"/>
          </a:xfrm>
          <a:custGeom>
            <a:avLst/>
            <a:gdLst>
              <a:gd name="T0" fmla="*/ 0 w 12192000"/>
              <a:gd name="T1" fmla="*/ 389028 h 3874134"/>
              <a:gd name="T2" fmla="*/ 1876164 w 12192000"/>
              <a:gd name="T3" fmla="*/ 389028 h 3874134"/>
              <a:gd name="T4" fmla="*/ 1876164 w 12192000"/>
              <a:gd name="T5" fmla="*/ 0 h 3874134"/>
              <a:gd name="T6" fmla="*/ 0 w 12192000"/>
              <a:gd name="T7" fmla="*/ 0 h 3874134"/>
              <a:gd name="T8" fmla="*/ 0 w 12192000"/>
              <a:gd name="T9" fmla="*/ 389028 h 3874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874134">
                <a:moveTo>
                  <a:pt x="0" y="3874007"/>
                </a:moveTo>
                <a:lnTo>
                  <a:pt x="12192000" y="3874007"/>
                </a:lnTo>
                <a:lnTo>
                  <a:pt x="12192000" y="0"/>
                </a:lnTo>
                <a:lnTo>
                  <a:pt x="0" y="0"/>
                </a:lnTo>
                <a:lnTo>
                  <a:pt x="0" y="3874007"/>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6132" name="object 11"/>
          <p:cNvSpPr/>
          <p:nvPr/>
        </p:nvSpPr>
        <p:spPr bwMode="auto">
          <a:xfrm>
            <a:off x="158262" y="1178169"/>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6133" name="object 12"/>
          <p:cNvSpPr>
            <a:spLocks noChangeArrowheads="1"/>
          </p:cNvSpPr>
          <p:nvPr/>
        </p:nvSpPr>
        <p:spPr bwMode="auto">
          <a:xfrm>
            <a:off x="269631" y="119185"/>
            <a:ext cx="3890108" cy="1000369"/>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6134" name="object 13"/>
          <p:cNvSpPr>
            <a:spLocks noChangeArrowheads="1"/>
          </p:cNvSpPr>
          <p:nvPr/>
        </p:nvSpPr>
        <p:spPr bwMode="auto">
          <a:xfrm>
            <a:off x="3548185" y="119185"/>
            <a:ext cx="2016369" cy="100036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6135" name="object 14"/>
          <p:cNvSpPr>
            <a:spLocks noGrp="1" noChangeArrowheads="1"/>
          </p:cNvSpPr>
          <p:nvPr>
            <p:ph type="title"/>
          </p:nvPr>
        </p:nvSpPr>
        <p:spPr>
          <a:xfrm>
            <a:off x="580293" y="260057"/>
            <a:ext cx="8016630" cy="447040"/>
          </a:xfrm>
        </p:spPr>
        <p:txBody>
          <a:bodyPr lIns="0" tIns="0" rIns="0" bIns="0">
            <a:spAutoFit/>
          </a:bodyPr>
          <a:lstStyle/>
          <a:p>
            <a:pPr marL="9525">
              <a:lnSpc>
                <a:spcPts val="3490"/>
              </a:lnSpc>
            </a:pPr>
            <a:r>
              <a:rPr lang="zh-CN" altLang="zh-CN"/>
              <a:t>网络空间安全是</a:t>
            </a:r>
            <a:r>
              <a:rPr lang="zh-CN" altLang="zh-CN" i="1">
                <a:latin typeface="微软雅黑" panose="020B0503020204020204" charset="-122"/>
                <a:ea typeface="微软雅黑" panose="020B0503020204020204" charset="-122"/>
              </a:rPr>
              <a:t>方法论</a:t>
            </a:r>
            <a:endParaRPr lang="zh-CN" altLang="zh-CN" i="1">
              <a:latin typeface="微软雅黑" panose="020B0503020204020204" charset="-122"/>
              <a:ea typeface="微软雅黑" panose="020B0503020204020204" charset="-122"/>
            </a:endParaRPr>
          </a:p>
        </p:txBody>
      </p:sp>
      <p:sp>
        <p:nvSpPr>
          <p:cNvPr id="176136" name="object 15"/>
          <p:cNvSpPr>
            <a:spLocks noChangeArrowheads="1"/>
          </p:cNvSpPr>
          <p:nvPr/>
        </p:nvSpPr>
        <p:spPr bwMode="auto">
          <a:xfrm>
            <a:off x="355600" y="652585"/>
            <a:ext cx="7074878"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6137" name="object 16"/>
          <p:cNvSpPr>
            <a:spLocks noChangeArrowheads="1"/>
          </p:cNvSpPr>
          <p:nvPr/>
        </p:nvSpPr>
        <p:spPr bwMode="auto">
          <a:xfrm>
            <a:off x="6998677" y="652585"/>
            <a:ext cx="2674816"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6138" name="object 17"/>
          <p:cNvSpPr txBox="1">
            <a:spLocks noChangeArrowheads="1"/>
          </p:cNvSpPr>
          <p:nvPr/>
        </p:nvSpPr>
        <p:spPr bwMode="auto">
          <a:xfrm>
            <a:off x="549031" y="763954"/>
            <a:ext cx="8907584"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Methodology</a:t>
            </a:r>
            <a:endParaRPr lang="zh-CN" altLang="zh-CN" sz="2585">
              <a:latin typeface="微软雅黑" panose="020B0503020204020204" charset="-122"/>
              <a:ea typeface="微软雅黑" panose="020B0503020204020204" charset="-122"/>
            </a:endParaRPr>
          </a:p>
        </p:txBody>
      </p:sp>
      <p:sp>
        <p:nvSpPr>
          <p:cNvPr id="176139" name="object 18"/>
          <p:cNvSpPr txBox="1">
            <a:spLocks noChangeArrowheads="1"/>
          </p:cNvSpPr>
          <p:nvPr/>
        </p:nvSpPr>
        <p:spPr bwMode="auto">
          <a:xfrm>
            <a:off x="345831" y="5058508"/>
            <a:ext cx="11449538" cy="1817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indent="30988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1970">
                <a:solidFill>
                  <a:srgbClr val="FFFF00"/>
                </a:solidFill>
                <a:latin typeface="微软雅黑" panose="020B0503020204020204" charset="-122"/>
                <a:ea typeface="微软雅黑" panose="020B0503020204020204" charset="-122"/>
              </a:rPr>
              <a:t>政府主导顶层监控（上位骨干网）；关键用户主导重要信息系统及关键基础设施监控（中位网关）；企业主导终端监控（下位公众用户）。上中下三位一体协同监控，感知网络空间安全态势。</a:t>
            </a:r>
            <a:endParaRPr lang="zh-CN" altLang="zh-CN" sz="1970">
              <a:latin typeface="微软雅黑" panose="020B0503020204020204" charset="-122"/>
              <a:ea typeface="微软雅黑" panose="020B0503020204020204" charset="-122"/>
            </a:endParaRPr>
          </a:p>
          <a:p>
            <a:pPr>
              <a:spcBef>
                <a:spcPts val="15"/>
              </a:spcBef>
              <a:buClrTx/>
              <a:buFontTx/>
              <a:buNone/>
            </a:pPr>
            <a:r>
              <a:rPr lang="zh-CN" altLang="zh-CN" sz="1970">
                <a:solidFill>
                  <a:srgbClr val="FFFF00"/>
                </a:solidFill>
                <a:latin typeface="Times New Roman" panose="02020603050405020304" pitchFamily="18" charset="0"/>
                <a:ea typeface="宋体" panose="02010600030101010101" pitchFamily="2" charset="-122"/>
                <a:cs typeface="Times New Roman" panose="02020603050405020304" pitchFamily="18" charset="0"/>
              </a:rPr>
              <a:t>Government leading top-level monitoring (upper backbone); critical user leading critical information  systems and critical infrastructure monitoring (gateway of middle position); enterprise leading terminal  monitoring (lower public users). The upper, middle and lower reaches cooperate to monitor, and  apperceive the network security situation.</a:t>
            </a:r>
            <a:endParaRPr lang="zh-CN" altLang="zh-CN" sz="197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6140" name="object 19"/>
          <p:cNvSpPr>
            <a:spLocks noChangeArrowheads="1"/>
          </p:cNvSpPr>
          <p:nvPr/>
        </p:nvSpPr>
        <p:spPr bwMode="auto">
          <a:xfrm>
            <a:off x="209062" y="3450493"/>
            <a:ext cx="5541108" cy="1529861"/>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6141" name="object 20"/>
          <p:cNvSpPr>
            <a:spLocks noChangeArrowheads="1"/>
          </p:cNvSpPr>
          <p:nvPr/>
        </p:nvSpPr>
        <p:spPr bwMode="auto">
          <a:xfrm>
            <a:off x="5812693" y="3450493"/>
            <a:ext cx="6133122" cy="1529861"/>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6142" name="object 21"/>
          <p:cNvSpPr/>
          <p:nvPr/>
        </p:nvSpPr>
        <p:spPr bwMode="auto">
          <a:xfrm>
            <a:off x="158262" y="1244600"/>
            <a:ext cx="11875477" cy="1629508"/>
          </a:xfrm>
          <a:custGeom>
            <a:avLst/>
            <a:gdLst>
              <a:gd name="T0" fmla="*/ 0 w 12192000"/>
              <a:gd name="T1" fmla="*/ 178058 h 1763395"/>
              <a:gd name="T2" fmla="*/ 1876164 w 12192000"/>
              <a:gd name="T3" fmla="*/ 178058 h 1763395"/>
              <a:gd name="T4" fmla="*/ 1876164 w 12192000"/>
              <a:gd name="T5" fmla="*/ 0 h 1763395"/>
              <a:gd name="T6" fmla="*/ 0 w 12192000"/>
              <a:gd name="T7" fmla="*/ 0 h 1763395"/>
              <a:gd name="T8" fmla="*/ 0 w 12192000"/>
              <a:gd name="T9" fmla="*/ 178058 h 1763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763395">
                <a:moveTo>
                  <a:pt x="0" y="1763267"/>
                </a:moveTo>
                <a:lnTo>
                  <a:pt x="12192000" y="1763267"/>
                </a:lnTo>
                <a:lnTo>
                  <a:pt x="12192000" y="0"/>
                </a:lnTo>
                <a:lnTo>
                  <a:pt x="0" y="0"/>
                </a:lnTo>
                <a:lnTo>
                  <a:pt x="0" y="1763267"/>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6143" name="object 22"/>
          <p:cNvSpPr txBox="1">
            <a:spLocks noChangeArrowheads="1"/>
          </p:cNvSpPr>
          <p:nvPr/>
        </p:nvSpPr>
        <p:spPr bwMode="auto">
          <a:xfrm>
            <a:off x="345831" y="1541585"/>
            <a:ext cx="10933723" cy="1408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845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安全“是共同的而不是孤立的”，要各方面协同安全，打造聚合式安全服务平台，</a:t>
            </a:r>
            <a:endParaRPr lang="zh-CN" altLang="zh-CN" sz="2215">
              <a:latin typeface="微软雅黑" panose="020B0503020204020204" charset="-122"/>
              <a:ea typeface="微软雅黑" panose="020B0503020204020204" charset="-122"/>
            </a:endParaRPr>
          </a:p>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共筑网络安全防线。</a:t>
            </a:r>
            <a:endParaRPr lang="zh-CN" altLang="zh-CN" sz="2215">
              <a:latin typeface="微软雅黑" panose="020B0503020204020204" charset="-122"/>
              <a:ea typeface="微软雅黑" panose="020B0503020204020204" charset="-122"/>
            </a:endParaRPr>
          </a:p>
          <a:p>
            <a:pPr>
              <a:lnSpc>
                <a:spcPts val="1625"/>
              </a:lnSpc>
              <a:spcBef>
                <a:spcPts val="790"/>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common rather than isolated</a:t>
            </a:r>
            <a:r>
              <a:rPr lang="zh-CN" altLang="zh-CN" sz="1845">
                <a:solidFill>
                  <a:srgbClr val="001F5F"/>
                </a:solidFill>
                <a:latin typeface="微软雅黑" panose="020B0503020204020204" charset="-122"/>
                <a:ea typeface="微软雅黑" panose="020B0503020204020204" charset="-122"/>
              </a:rPr>
              <a:t>. The comprehensive security service  platforms should be built by taking care of multiple aspects of security, so that a cybersecurity  line against threats can be established.</a:t>
            </a:r>
            <a:endParaRPr lang="zh-CN" altLang="zh-CN" sz="1845">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object 2"/>
          <p:cNvSpPr/>
          <p:nvPr/>
        </p:nvSpPr>
        <p:spPr bwMode="auto">
          <a:xfrm>
            <a:off x="158262" y="150446"/>
            <a:ext cx="11787553" cy="1369647"/>
          </a:xfrm>
          <a:custGeom>
            <a:avLst/>
            <a:gdLst>
              <a:gd name="T0" fmla="*/ 0 w 12192000"/>
              <a:gd name="T1" fmla="*/ 389425 h 1292860"/>
              <a:gd name="T2" fmla="*/ 1767876 w 12192000"/>
              <a:gd name="T3" fmla="*/ 389425 h 1292860"/>
              <a:gd name="T4" fmla="*/ 1767876 w 12192000"/>
              <a:gd name="T5" fmla="*/ 0 h 1292860"/>
              <a:gd name="T6" fmla="*/ 0 w 12192000"/>
              <a:gd name="T7" fmla="*/ 0 h 1292860"/>
              <a:gd name="T8" fmla="*/ 0 w 12192000"/>
              <a:gd name="T9" fmla="*/ 389425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7155" name="object 2"/>
          <p:cNvSpPr/>
          <p:nvPr/>
        </p:nvSpPr>
        <p:spPr bwMode="auto">
          <a:xfrm>
            <a:off x="158262" y="3520831"/>
            <a:ext cx="11697676" cy="3276599"/>
          </a:xfrm>
          <a:custGeom>
            <a:avLst/>
            <a:gdLst>
              <a:gd name="T0" fmla="*/ 0 w 12192000"/>
              <a:gd name="T1" fmla="*/ 355339 h 3549650"/>
              <a:gd name="T2" fmla="*/ 1662873 w 12192000"/>
              <a:gd name="T3" fmla="*/ 355339 h 3549650"/>
              <a:gd name="T4" fmla="*/ 1662873 w 12192000"/>
              <a:gd name="T5" fmla="*/ 0 h 3549650"/>
              <a:gd name="T6" fmla="*/ 0 w 12192000"/>
              <a:gd name="T7" fmla="*/ 0 h 3549650"/>
              <a:gd name="T8" fmla="*/ 0 w 12192000"/>
              <a:gd name="T9" fmla="*/ 355339 h 35496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549650">
                <a:moveTo>
                  <a:pt x="0" y="3549395"/>
                </a:moveTo>
                <a:lnTo>
                  <a:pt x="12192000" y="3549395"/>
                </a:lnTo>
                <a:lnTo>
                  <a:pt x="12192000" y="0"/>
                </a:lnTo>
                <a:lnTo>
                  <a:pt x="0" y="0"/>
                </a:lnTo>
                <a:lnTo>
                  <a:pt x="0" y="3549395"/>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7156" name="object 10"/>
          <p:cNvSpPr/>
          <p:nvPr/>
        </p:nvSpPr>
        <p:spPr bwMode="auto">
          <a:xfrm>
            <a:off x="158262" y="1398954"/>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7157" name="object 11"/>
          <p:cNvSpPr>
            <a:spLocks noChangeArrowheads="1"/>
          </p:cNvSpPr>
          <p:nvPr/>
        </p:nvSpPr>
        <p:spPr bwMode="auto">
          <a:xfrm>
            <a:off x="269631" y="341923"/>
            <a:ext cx="3890108" cy="1000369"/>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7158" name="object 12"/>
          <p:cNvSpPr>
            <a:spLocks noChangeArrowheads="1"/>
          </p:cNvSpPr>
          <p:nvPr/>
        </p:nvSpPr>
        <p:spPr bwMode="auto">
          <a:xfrm>
            <a:off x="3548185" y="341923"/>
            <a:ext cx="2016369" cy="100036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7159" name="object 13"/>
          <p:cNvSpPr>
            <a:spLocks noGrp="1" noChangeArrowheads="1"/>
          </p:cNvSpPr>
          <p:nvPr>
            <p:ph type="title"/>
          </p:nvPr>
        </p:nvSpPr>
        <p:spPr>
          <a:xfrm>
            <a:off x="549031" y="551180"/>
            <a:ext cx="8016630"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矛盾论</a:t>
            </a:r>
            <a:endParaRPr lang="zh-CN" altLang="zh-CN" i="1">
              <a:solidFill>
                <a:srgbClr val="FF0000"/>
              </a:solidFill>
              <a:latin typeface="微软雅黑" panose="020B0503020204020204" charset="-122"/>
              <a:ea typeface="微软雅黑" panose="020B0503020204020204" charset="-122"/>
            </a:endParaRPr>
          </a:p>
        </p:txBody>
      </p:sp>
      <p:sp>
        <p:nvSpPr>
          <p:cNvPr id="177160" name="object 14"/>
          <p:cNvSpPr>
            <a:spLocks noChangeArrowheads="1"/>
          </p:cNvSpPr>
          <p:nvPr/>
        </p:nvSpPr>
        <p:spPr bwMode="auto">
          <a:xfrm>
            <a:off x="355600" y="875324"/>
            <a:ext cx="7074878" cy="724876"/>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7161" name="object 15"/>
          <p:cNvSpPr>
            <a:spLocks noChangeArrowheads="1"/>
          </p:cNvSpPr>
          <p:nvPr/>
        </p:nvSpPr>
        <p:spPr bwMode="auto">
          <a:xfrm>
            <a:off x="6998677" y="875324"/>
            <a:ext cx="2790092" cy="72487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7162" name="object 16"/>
          <p:cNvSpPr txBox="1">
            <a:spLocks noChangeArrowheads="1"/>
          </p:cNvSpPr>
          <p:nvPr/>
        </p:nvSpPr>
        <p:spPr bwMode="auto">
          <a:xfrm>
            <a:off x="549031" y="986692"/>
            <a:ext cx="892126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Contradiction</a:t>
            </a:r>
            <a:endParaRPr lang="zh-CN" altLang="zh-CN" sz="2585">
              <a:latin typeface="微软雅黑" panose="020B0503020204020204" charset="-122"/>
              <a:ea typeface="微软雅黑" panose="020B0503020204020204" charset="-122"/>
            </a:endParaRPr>
          </a:p>
        </p:txBody>
      </p:sp>
      <p:sp>
        <p:nvSpPr>
          <p:cNvPr id="177163" name="object 17"/>
          <p:cNvSpPr txBox="1">
            <a:spLocks noChangeArrowheads="1"/>
          </p:cNvSpPr>
          <p:nvPr/>
        </p:nvSpPr>
        <p:spPr bwMode="auto">
          <a:xfrm>
            <a:off x="879231" y="5662247"/>
            <a:ext cx="9589477" cy="1022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825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2215">
                <a:solidFill>
                  <a:srgbClr val="FFFF00"/>
                </a:solidFill>
                <a:latin typeface="微软雅黑 Light" panose="020B0502040204020203" pitchFamily="34" charset="-122"/>
                <a:ea typeface="微软雅黑 Light" panose="020B0502040204020203" pitchFamily="34" charset="-122"/>
              </a:rPr>
              <a:t>手机安全防护软件既要保护用户隐私不被窃取，但又不能干扰系统的正常运行  </a:t>
            </a:r>
            <a:r>
              <a:rPr lang="zh-CN" altLang="zh-CN" sz="2215">
                <a:solidFill>
                  <a:srgbClr val="FFFF00"/>
                </a:solidFill>
                <a:latin typeface="Times New Roman" panose="02020603050405020304" pitchFamily="18" charset="0"/>
                <a:ea typeface="宋体" panose="02010600030101010101" pitchFamily="2" charset="-122"/>
                <a:cs typeface="Times New Roman" panose="02020603050405020304" pitchFamily="18" charset="0"/>
              </a:rPr>
              <a:t>Mobile security software needs to protect user privacy from thieves, as well as to  keep the system working as usual</a:t>
            </a:r>
            <a:endParaRPr lang="zh-CN" altLang="zh-CN" sz="2215">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7164" name="object 18"/>
          <p:cNvSpPr>
            <a:spLocks noChangeArrowheads="1"/>
          </p:cNvSpPr>
          <p:nvPr/>
        </p:nvSpPr>
        <p:spPr bwMode="auto">
          <a:xfrm>
            <a:off x="1205524" y="4720493"/>
            <a:ext cx="4245707" cy="765908"/>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5" name="object 19"/>
          <p:cNvSpPr txBox="1"/>
          <p:nvPr/>
        </p:nvSpPr>
        <p:spPr>
          <a:xfrm>
            <a:off x="1205524" y="4720493"/>
            <a:ext cx="4247662" cy="584200"/>
          </a:xfrm>
          <a:prstGeom prst="rect">
            <a:avLst/>
          </a:prstGeom>
          <a:solidFill>
            <a:srgbClr val="FFC000"/>
          </a:solidFill>
          <a:ln w="6096">
            <a:solidFill>
              <a:srgbClr val="9BBA58"/>
            </a:solidFill>
          </a:ln>
        </p:spPr>
        <p:txBody>
          <a:bodyPr lIns="0" tIns="34582" rIns="0" bIns="0">
            <a:spAutoFit/>
          </a:bodyPr>
          <a:lstStyle/>
          <a:p>
            <a:pPr marL="1270" algn="ctr">
              <a:lnSpc>
                <a:spcPts val="2145"/>
              </a:lnSpc>
              <a:spcBef>
                <a:spcPts val="220"/>
              </a:spcBef>
              <a:defRPr/>
            </a:pPr>
            <a:r>
              <a:rPr sz="100" dirty="0">
                <a:latin typeface="宋体" panose="02010600030101010101" pitchFamily="2" charset="-122"/>
                <a:cs typeface="宋体" panose="02010600030101010101" pitchFamily="2" charset="-122"/>
              </a:rPr>
              <a:t>发展与安全孰重孰轻？</a:t>
            </a:r>
            <a:endParaRPr sz="100" dirty="0">
              <a:latin typeface="宋体" panose="02010600030101010101" pitchFamily="2" charset="-122"/>
              <a:cs typeface="宋体" panose="02010600030101010101" pitchFamily="2" charset="-122"/>
            </a:endParaRPr>
          </a:p>
          <a:p>
            <a:pPr algn="ctr">
              <a:lnSpc>
                <a:spcPts val="2145"/>
              </a:lnSpc>
              <a:defRPr/>
            </a:pPr>
            <a:r>
              <a:rPr sz="100" spc="-4" dirty="0">
                <a:latin typeface="Times New Roman" panose="02020603050405020304"/>
                <a:cs typeface="Times New Roman" panose="02020603050405020304"/>
              </a:rPr>
              <a:t>DEVELOPMENT vs.</a:t>
            </a:r>
            <a:r>
              <a:rPr sz="100" spc="-49" dirty="0">
                <a:latin typeface="Times New Roman" panose="02020603050405020304"/>
                <a:cs typeface="Times New Roman" panose="02020603050405020304"/>
              </a:rPr>
              <a:t> </a:t>
            </a:r>
            <a:r>
              <a:rPr sz="100" spc="-4" dirty="0">
                <a:latin typeface="Times New Roman" panose="02020603050405020304"/>
                <a:cs typeface="Times New Roman" panose="02020603050405020304"/>
              </a:rPr>
              <a:t>SECURITY?</a:t>
            </a:r>
            <a:endParaRPr sz="100" dirty="0">
              <a:latin typeface="Times New Roman" panose="02020603050405020304"/>
              <a:cs typeface="Times New Roman" panose="02020603050405020304"/>
            </a:endParaRPr>
          </a:p>
        </p:txBody>
      </p:sp>
      <p:sp>
        <p:nvSpPr>
          <p:cNvPr id="177166" name="object 20"/>
          <p:cNvSpPr>
            <a:spLocks noChangeArrowheads="1"/>
          </p:cNvSpPr>
          <p:nvPr/>
        </p:nvSpPr>
        <p:spPr bwMode="auto">
          <a:xfrm>
            <a:off x="6480908" y="4720493"/>
            <a:ext cx="3852985" cy="765908"/>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 name="object 21"/>
          <p:cNvSpPr txBox="1"/>
          <p:nvPr/>
        </p:nvSpPr>
        <p:spPr>
          <a:xfrm>
            <a:off x="6480908" y="4720493"/>
            <a:ext cx="3854938" cy="584200"/>
          </a:xfrm>
          <a:prstGeom prst="rect">
            <a:avLst/>
          </a:prstGeom>
          <a:solidFill>
            <a:srgbClr val="FFC000"/>
          </a:solidFill>
          <a:ln w="6096">
            <a:solidFill>
              <a:srgbClr val="4AACC5"/>
            </a:solidFill>
          </a:ln>
        </p:spPr>
        <p:txBody>
          <a:bodyPr lIns="0" tIns="34582" rIns="0" bIns="0">
            <a:spAutoFit/>
          </a:bodyPr>
          <a:lstStyle/>
          <a:p>
            <a:pPr marL="635" algn="ctr">
              <a:lnSpc>
                <a:spcPts val="2145"/>
              </a:lnSpc>
              <a:spcBef>
                <a:spcPts val="220"/>
              </a:spcBef>
              <a:defRPr/>
            </a:pPr>
            <a:r>
              <a:rPr sz="100" dirty="0">
                <a:latin typeface="宋体" panose="02010600030101010101" pitchFamily="2" charset="-122"/>
                <a:cs typeface="宋体" panose="02010600030101010101" pitchFamily="2" charset="-122"/>
              </a:rPr>
              <a:t>应用与可信谁主沉浮？</a:t>
            </a:r>
            <a:endParaRPr sz="100" dirty="0">
              <a:latin typeface="宋体" panose="02010600030101010101" pitchFamily="2" charset="-122"/>
              <a:cs typeface="宋体" panose="02010600030101010101" pitchFamily="2" charset="-122"/>
            </a:endParaRPr>
          </a:p>
          <a:p>
            <a:pPr algn="ctr">
              <a:lnSpc>
                <a:spcPts val="2145"/>
              </a:lnSpc>
              <a:defRPr/>
            </a:pPr>
            <a:r>
              <a:rPr sz="100" spc="-18" dirty="0">
                <a:latin typeface="Times New Roman" panose="02020603050405020304"/>
                <a:cs typeface="Times New Roman" panose="02020603050405020304"/>
              </a:rPr>
              <a:t>APPLICATIONS </a:t>
            </a:r>
            <a:r>
              <a:rPr sz="100" dirty="0">
                <a:latin typeface="Times New Roman" panose="02020603050405020304"/>
                <a:cs typeface="Times New Roman" panose="02020603050405020304"/>
              </a:rPr>
              <a:t>vs.</a:t>
            </a:r>
            <a:r>
              <a:rPr sz="100" spc="-49" dirty="0">
                <a:latin typeface="Times New Roman" panose="02020603050405020304"/>
                <a:cs typeface="Times New Roman" panose="02020603050405020304"/>
              </a:rPr>
              <a:t> </a:t>
            </a:r>
            <a:r>
              <a:rPr sz="100" spc="-4" dirty="0">
                <a:latin typeface="Times New Roman" panose="02020603050405020304"/>
                <a:cs typeface="Times New Roman" panose="02020603050405020304"/>
              </a:rPr>
              <a:t>TRUSTY?</a:t>
            </a:r>
            <a:endParaRPr sz="100" dirty="0">
              <a:latin typeface="Times New Roman" panose="02020603050405020304"/>
              <a:cs typeface="Times New Roman" panose="02020603050405020304"/>
            </a:endParaRPr>
          </a:p>
        </p:txBody>
      </p:sp>
      <p:sp>
        <p:nvSpPr>
          <p:cNvPr id="177168" name="object 22"/>
          <p:cNvSpPr>
            <a:spLocks noChangeArrowheads="1"/>
          </p:cNvSpPr>
          <p:nvPr/>
        </p:nvSpPr>
        <p:spPr bwMode="auto">
          <a:xfrm>
            <a:off x="4376615" y="3667369"/>
            <a:ext cx="3229708" cy="765908"/>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9" name="object 23"/>
          <p:cNvSpPr txBox="1"/>
          <p:nvPr/>
        </p:nvSpPr>
        <p:spPr>
          <a:xfrm>
            <a:off x="4376615" y="3667369"/>
            <a:ext cx="3229708" cy="585470"/>
          </a:xfrm>
          <a:prstGeom prst="rect">
            <a:avLst/>
          </a:prstGeom>
          <a:solidFill>
            <a:srgbClr val="FFC000"/>
          </a:solidFill>
          <a:ln w="6096">
            <a:solidFill>
              <a:srgbClr val="F79546"/>
            </a:solidFill>
          </a:ln>
        </p:spPr>
        <p:txBody>
          <a:bodyPr lIns="0" tIns="34582" rIns="0" bIns="0">
            <a:spAutoFit/>
          </a:bodyPr>
          <a:lstStyle/>
          <a:p>
            <a:pPr algn="ctr">
              <a:lnSpc>
                <a:spcPts val="2150"/>
              </a:lnSpc>
              <a:spcBef>
                <a:spcPts val="220"/>
              </a:spcBef>
              <a:defRPr/>
            </a:pPr>
            <a:r>
              <a:rPr sz="100" spc="-4" dirty="0">
                <a:latin typeface="宋体" panose="02010600030101010101" pitchFamily="2" charset="-122"/>
                <a:cs typeface="宋体" panose="02010600030101010101" pitchFamily="2" charset="-122"/>
              </a:rPr>
              <a:t>隐私与共享谁引潮流？</a:t>
            </a:r>
            <a:endParaRPr sz="100" dirty="0">
              <a:latin typeface="宋体" panose="02010600030101010101" pitchFamily="2" charset="-122"/>
              <a:cs typeface="宋体" panose="02010600030101010101" pitchFamily="2" charset="-122"/>
            </a:endParaRPr>
          </a:p>
          <a:p>
            <a:pPr algn="ctr">
              <a:lnSpc>
                <a:spcPts val="2150"/>
              </a:lnSpc>
              <a:defRPr/>
            </a:pPr>
            <a:r>
              <a:rPr sz="100" spc="-38" dirty="0">
                <a:latin typeface="Times New Roman" panose="02020603050405020304"/>
                <a:cs typeface="Times New Roman" panose="02020603050405020304"/>
              </a:rPr>
              <a:t>PRIVACY </a:t>
            </a:r>
            <a:r>
              <a:rPr sz="100" spc="-4" dirty="0">
                <a:latin typeface="Times New Roman" panose="02020603050405020304"/>
                <a:cs typeface="Times New Roman" panose="02020603050405020304"/>
              </a:rPr>
              <a:t>vs.</a:t>
            </a:r>
            <a:r>
              <a:rPr sz="100" spc="-49" dirty="0">
                <a:latin typeface="Times New Roman" panose="02020603050405020304"/>
                <a:cs typeface="Times New Roman" panose="02020603050405020304"/>
              </a:rPr>
              <a:t> </a:t>
            </a:r>
            <a:r>
              <a:rPr sz="100" spc="-4" dirty="0">
                <a:latin typeface="Times New Roman" panose="02020603050405020304"/>
                <a:cs typeface="Times New Roman" panose="02020603050405020304"/>
              </a:rPr>
              <a:t>SHARING?</a:t>
            </a:r>
            <a:endParaRPr sz="100" dirty="0">
              <a:latin typeface="Times New Roman" panose="02020603050405020304"/>
              <a:cs typeface="Times New Roman" panose="02020603050405020304"/>
            </a:endParaRPr>
          </a:p>
        </p:txBody>
      </p:sp>
      <p:sp>
        <p:nvSpPr>
          <p:cNvPr id="177170" name="object 24"/>
          <p:cNvSpPr>
            <a:spLocks noChangeArrowheads="1"/>
          </p:cNvSpPr>
          <p:nvPr/>
        </p:nvSpPr>
        <p:spPr bwMode="auto">
          <a:xfrm>
            <a:off x="8124092" y="3667369"/>
            <a:ext cx="3085124" cy="765908"/>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21" name="object 25"/>
          <p:cNvSpPr txBox="1"/>
          <p:nvPr/>
        </p:nvSpPr>
        <p:spPr>
          <a:xfrm>
            <a:off x="8124092" y="3667369"/>
            <a:ext cx="3085124" cy="585470"/>
          </a:xfrm>
          <a:prstGeom prst="rect">
            <a:avLst/>
          </a:prstGeom>
          <a:solidFill>
            <a:srgbClr val="FFC000"/>
          </a:solidFill>
          <a:ln w="6096">
            <a:solidFill>
              <a:srgbClr val="8063A1"/>
            </a:solidFill>
          </a:ln>
        </p:spPr>
        <p:txBody>
          <a:bodyPr lIns="0" tIns="34582" rIns="0" bIns="0">
            <a:spAutoFit/>
          </a:bodyPr>
          <a:lstStyle/>
          <a:p>
            <a:pPr marL="107950">
              <a:lnSpc>
                <a:spcPts val="2150"/>
              </a:lnSpc>
              <a:spcBef>
                <a:spcPts val="220"/>
              </a:spcBef>
              <a:defRPr/>
            </a:pPr>
            <a:r>
              <a:rPr sz="100" dirty="0">
                <a:latin typeface="宋体" panose="02010600030101010101" pitchFamily="2" charset="-122"/>
                <a:cs typeface="宋体" panose="02010600030101010101" pitchFamily="2" charset="-122"/>
              </a:rPr>
              <a:t>自由与秩序谁为前提？</a:t>
            </a:r>
            <a:endParaRPr sz="100" dirty="0">
              <a:latin typeface="宋体" panose="02010600030101010101" pitchFamily="2" charset="-122"/>
              <a:cs typeface="宋体" panose="02010600030101010101" pitchFamily="2" charset="-122"/>
            </a:endParaRPr>
          </a:p>
          <a:p>
            <a:pPr marL="79375">
              <a:lnSpc>
                <a:spcPts val="2150"/>
              </a:lnSpc>
              <a:defRPr/>
            </a:pPr>
            <a:r>
              <a:rPr sz="100" spc="-4" dirty="0">
                <a:latin typeface="Times New Roman" panose="02020603050405020304"/>
                <a:cs typeface="Times New Roman" panose="02020603050405020304"/>
              </a:rPr>
              <a:t>FREEDOM vs.</a:t>
            </a:r>
            <a:r>
              <a:rPr sz="100" spc="-7" dirty="0">
                <a:latin typeface="Times New Roman" panose="02020603050405020304"/>
                <a:cs typeface="Times New Roman" panose="02020603050405020304"/>
              </a:rPr>
              <a:t> </a:t>
            </a:r>
            <a:r>
              <a:rPr sz="100" spc="-4" dirty="0">
                <a:latin typeface="Times New Roman" panose="02020603050405020304"/>
                <a:cs typeface="Times New Roman" panose="02020603050405020304"/>
              </a:rPr>
              <a:t>ORDER?</a:t>
            </a:r>
            <a:endParaRPr sz="100" dirty="0">
              <a:latin typeface="Times New Roman" panose="02020603050405020304"/>
              <a:cs typeface="Times New Roman" panose="02020603050405020304"/>
            </a:endParaRPr>
          </a:p>
        </p:txBody>
      </p:sp>
      <p:sp>
        <p:nvSpPr>
          <p:cNvPr id="177172" name="object 26"/>
          <p:cNvSpPr>
            <a:spLocks noChangeArrowheads="1"/>
          </p:cNvSpPr>
          <p:nvPr/>
        </p:nvSpPr>
        <p:spPr bwMode="auto">
          <a:xfrm>
            <a:off x="488462" y="3667369"/>
            <a:ext cx="3274646" cy="765908"/>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23" name="object 27"/>
          <p:cNvSpPr txBox="1"/>
          <p:nvPr/>
        </p:nvSpPr>
        <p:spPr>
          <a:xfrm>
            <a:off x="488462" y="3667369"/>
            <a:ext cx="3274646" cy="585470"/>
          </a:xfrm>
          <a:prstGeom prst="rect">
            <a:avLst/>
          </a:prstGeom>
          <a:solidFill>
            <a:srgbClr val="FFC000"/>
          </a:solidFill>
          <a:ln w="6096">
            <a:solidFill>
              <a:srgbClr val="C0504D"/>
            </a:solidFill>
          </a:ln>
        </p:spPr>
        <p:txBody>
          <a:bodyPr lIns="0" tIns="34582" rIns="0" bIns="0">
            <a:spAutoFit/>
          </a:bodyPr>
          <a:lstStyle/>
          <a:p>
            <a:pPr algn="ctr">
              <a:lnSpc>
                <a:spcPts val="2150"/>
              </a:lnSpc>
              <a:spcBef>
                <a:spcPts val="220"/>
              </a:spcBef>
              <a:defRPr/>
            </a:pPr>
            <a:r>
              <a:rPr sz="100" spc="-4" dirty="0">
                <a:latin typeface="宋体" panose="02010600030101010101" pitchFamily="2" charset="-122"/>
                <a:cs typeface="宋体" panose="02010600030101010101" pitchFamily="2" charset="-122"/>
              </a:rPr>
              <a:t>开放与防护谁为首要？</a:t>
            </a:r>
            <a:endParaRPr sz="100" dirty="0">
              <a:latin typeface="宋体" panose="02010600030101010101" pitchFamily="2" charset="-122"/>
              <a:cs typeface="宋体" panose="02010600030101010101" pitchFamily="2" charset="-122"/>
            </a:endParaRPr>
          </a:p>
          <a:p>
            <a:pPr algn="ctr">
              <a:lnSpc>
                <a:spcPts val="2150"/>
              </a:lnSpc>
              <a:defRPr/>
            </a:pPr>
            <a:r>
              <a:rPr sz="100" spc="-4" dirty="0">
                <a:latin typeface="Times New Roman" panose="02020603050405020304"/>
                <a:cs typeface="Times New Roman" panose="02020603050405020304"/>
              </a:rPr>
              <a:t>OPEN vs.</a:t>
            </a:r>
            <a:r>
              <a:rPr sz="100" spc="-30" dirty="0">
                <a:latin typeface="Times New Roman" panose="02020603050405020304"/>
                <a:cs typeface="Times New Roman" panose="02020603050405020304"/>
              </a:rPr>
              <a:t> </a:t>
            </a:r>
            <a:r>
              <a:rPr sz="100" spc="-4" dirty="0">
                <a:latin typeface="Times New Roman" panose="02020603050405020304"/>
                <a:cs typeface="Times New Roman" panose="02020603050405020304"/>
              </a:rPr>
              <a:t>PROTECTION?</a:t>
            </a:r>
            <a:endParaRPr sz="100" dirty="0">
              <a:latin typeface="Times New Roman" panose="02020603050405020304"/>
              <a:cs typeface="Times New Roman" panose="02020603050405020304"/>
            </a:endParaRPr>
          </a:p>
        </p:txBody>
      </p:sp>
      <p:sp>
        <p:nvSpPr>
          <p:cNvPr id="177174" name="object 28"/>
          <p:cNvSpPr/>
          <p:nvPr/>
        </p:nvSpPr>
        <p:spPr bwMode="auto">
          <a:xfrm>
            <a:off x="158262" y="1522046"/>
            <a:ext cx="11697676" cy="1873739"/>
          </a:xfrm>
          <a:custGeom>
            <a:avLst/>
            <a:gdLst>
              <a:gd name="T0" fmla="*/ 0 w 12192000"/>
              <a:gd name="T1" fmla="*/ 203923 h 2028825"/>
              <a:gd name="T2" fmla="*/ 1662873 w 12192000"/>
              <a:gd name="T3" fmla="*/ 203923 h 2028825"/>
              <a:gd name="T4" fmla="*/ 1662873 w 12192000"/>
              <a:gd name="T5" fmla="*/ 0 h 2028825"/>
              <a:gd name="T6" fmla="*/ 0 w 12192000"/>
              <a:gd name="T7" fmla="*/ 0 h 2028825"/>
              <a:gd name="T8" fmla="*/ 0 w 12192000"/>
              <a:gd name="T9" fmla="*/ 203923 h 20288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2028825">
                <a:moveTo>
                  <a:pt x="0" y="2028444"/>
                </a:moveTo>
                <a:lnTo>
                  <a:pt x="12192000" y="2028444"/>
                </a:lnTo>
                <a:lnTo>
                  <a:pt x="12192000" y="0"/>
                </a:lnTo>
                <a:lnTo>
                  <a:pt x="0" y="0"/>
                </a:lnTo>
                <a:lnTo>
                  <a:pt x="0" y="2028444"/>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7175" name="object 29"/>
          <p:cNvSpPr txBox="1">
            <a:spLocks noChangeArrowheads="1"/>
          </p:cNvSpPr>
          <p:nvPr/>
        </p:nvSpPr>
        <p:spPr bwMode="auto">
          <a:xfrm>
            <a:off x="443524" y="1666631"/>
            <a:ext cx="10968892" cy="1480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845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安全是“妥协的而不是互斥的”，既要在保障安全的前提下完成使命，更要在达到</a:t>
            </a:r>
            <a:endParaRPr lang="zh-CN" altLang="zh-CN" sz="2215">
              <a:latin typeface="微软雅黑" panose="020B0503020204020204" charset="-122"/>
              <a:ea typeface="微软雅黑" panose="020B0503020204020204" charset="-122"/>
            </a:endParaRPr>
          </a:p>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使命的前提下力求安全。</a:t>
            </a:r>
            <a:endParaRPr lang="zh-CN" altLang="zh-CN" sz="2215">
              <a:latin typeface="微软雅黑" panose="020B0503020204020204" charset="-122"/>
              <a:ea typeface="微软雅黑" panose="020B0503020204020204" charset="-122"/>
            </a:endParaRPr>
          </a:p>
          <a:p>
            <a:pPr>
              <a:lnSpc>
                <a:spcPts val="1800"/>
              </a:lnSpc>
              <a:spcBef>
                <a:spcPts val="825"/>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compromised rather than exclusive. </a:t>
            </a:r>
            <a:r>
              <a:rPr lang="zh-CN" altLang="zh-CN" sz="1845">
                <a:solidFill>
                  <a:srgbClr val="001F5F"/>
                </a:solidFill>
                <a:latin typeface="微软雅黑" panose="020B0503020204020204" charset="-122"/>
                <a:ea typeface="微软雅黑" panose="020B0503020204020204" charset="-122"/>
              </a:rPr>
              <a:t>It is necessary to complete the  missions under the premise of ensuring the security, as well as to pursuit goals of security  under the premise of completing the missions.</a:t>
            </a:r>
            <a:endParaRPr lang="zh-CN" altLang="zh-CN" sz="1845">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object 2"/>
          <p:cNvSpPr/>
          <p:nvPr/>
        </p:nvSpPr>
        <p:spPr bwMode="auto">
          <a:xfrm>
            <a:off x="158262" y="238370"/>
            <a:ext cx="11787553" cy="1371600"/>
          </a:xfrm>
          <a:custGeom>
            <a:avLst/>
            <a:gdLst>
              <a:gd name="T0" fmla="*/ 0 w 12192000"/>
              <a:gd name="T1" fmla="*/ 393891 h 1292860"/>
              <a:gd name="T2" fmla="*/ 1767876 w 12192000"/>
              <a:gd name="T3" fmla="*/ 393891 h 1292860"/>
              <a:gd name="T4" fmla="*/ 1767876 w 12192000"/>
              <a:gd name="T5" fmla="*/ 0 h 1292860"/>
              <a:gd name="T6" fmla="*/ 0 w 12192000"/>
              <a:gd name="T7" fmla="*/ 0 h 1292860"/>
              <a:gd name="T8" fmla="*/ 0 w 12192000"/>
              <a:gd name="T9" fmla="*/ 393891 h 12928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1292860">
                <a:moveTo>
                  <a:pt x="0" y="1292352"/>
                </a:moveTo>
                <a:lnTo>
                  <a:pt x="12192000" y="1292352"/>
                </a:lnTo>
                <a:lnTo>
                  <a:pt x="12192000" y="0"/>
                </a:lnTo>
                <a:lnTo>
                  <a:pt x="0" y="0"/>
                </a:lnTo>
                <a:lnTo>
                  <a:pt x="0" y="1292352"/>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8179" name="object 2"/>
          <p:cNvSpPr/>
          <p:nvPr/>
        </p:nvSpPr>
        <p:spPr bwMode="auto">
          <a:xfrm>
            <a:off x="164123" y="3520831"/>
            <a:ext cx="11781692" cy="3276599"/>
          </a:xfrm>
          <a:custGeom>
            <a:avLst/>
            <a:gdLst>
              <a:gd name="T0" fmla="*/ 0 w 12192000"/>
              <a:gd name="T1" fmla="*/ 355339 h 3549650"/>
              <a:gd name="T2" fmla="*/ 1760856 w 12192000"/>
              <a:gd name="T3" fmla="*/ 355339 h 3549650"/>
              <a:gd name="T4" fmla="*/ 1760856 w 12192000"/>
              <a:gd name="T5" fmla="*/ 0 h 3549650"/>
              <a:gd name="T6" fmla="*/ 0 w 12192000"/>
              <a:gd name="T7" fmla="*/ 0 h 3549650"/>
              <a:gd name="T8" fmla="*/ 0 w 12192000"/>
              <a:gd name="T9" fmla="*/ 355339 h 35496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3549650">
                <a:moveTo>
                  <a:pt x="0" y="3549395"/>
                </a:moveTo>
                <a:lnTo>
                  <a:pt x="12192000" y="3549395"/>
                </a:lnTo>
                <a:lnTo>
                  <a:pt x="12192000" y="0"/>
                </a:lnTo>
                <a:lnTo>
                  <a:pt x="0" y="0"/>
                </a:lnTo>
                <a:lnTo>
                  <a:pt x="0" y="3549395"/>
                </a:lnTo>
                <a:close/>
              </a:path>
            </a:pathLst>
          </a:custGeom>
          <a:solidFill>
            <a:srgbClr val="004797"/>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8180" name="object 10"/>
          <p:cNvSpPr/>
          <p:nvPr/>
        </p:nvSpPr>
        <p:spPr bwMode="auto">
          <a:xfrm>
            <a:off x="166078" y="1477108"/>
            <a:ext cx="8401538" cy="0"/>
          </a:xfrm>
          <a:custGeom>
            <a:avLst/>
            <a:gdLst>
              <a:gd name="T0" fmla="*/ 0 w 9101455"/>
              <a:gd name="T1" fmla="*/ 911292 w 9101455"/>
              <a:gd name="T2" fmla="*/ 0 60000 65536"/>
              <a:gd name="T3" fmla="*/ 0 60000 65536"/>
            </a:gdLst>
            <a:ahLst/>
            <a:cxnLst>
              <a:cxn ang="T2">
                <a:pos x="T0" y="0"/>
              </a:cxn>
              <a:cxn ang="T3">
                <a:pos x="T1" y="0"/>
              </a:cxn>
            </a:cxnLst>
            <a:rect l="0" t="0" r="r" b="b"/>
            <a:pathLst>
              <a:path w="9101455">
                <a:moveTo>
                  <a:pt x="0" y="0"/>
                </a:moveTo>
                <a:lnTo>
                  <a:pt x="9100947" y="0"/>
                </a:lnTo>
              </a:path>
            </a:pathLst>
          </a:custGeom>
          <a:noFill/>
          <a:ln w="38100">
            <a:solidFill>
              <a:srgbClr val="FFD96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181" name="object 11"/>
          <p:cNvSpPr>
            <a:spLocks noChangeArrowheads="1"/>
          </p:cNvSpPr>
          <p:nvPr/>
        </p:nvSpPr>
        <p:spPr bwMode="auto">
          <a:xfrm>
            <a:off x="275493" y="418124"/>
            <a:ext cx="3890107" cy="1002322"/>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182" name="object 12"/>
          <p:cNvSpPr>
            <a:spLocks noChangeArrowheads="1"/>
          </p:cNvSpPr>
          <p:nvPr/>
        </p:nvSpPr>
        <p:spPr bwMode="auto">
          <a:xfrm>
            <a:off x="3556000" y="418124"/>
            <a:ext cx="2016369" cy="1002322"/>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183" name="object 13"/>
          <p:cNvSpPr>
            <a:spLocks noGrp="1" noChangeArrowheads="1"/>
          </p:cNvSpPr>
          <p:nvPr>
            <p:ph type="title"/>
          </p:nvPr>
        </p:nvSpPr>
        <p:spPr>
          <a:xfrm>
            <a:off x="592016" y="588303"/>
            <a:ext cx="8016630" cy="447040"/>
          </a:xfrm>
        </p:spPr>
        <p:txBody>
          <a:bodyPr lIns="0" tIns="0" rIns="0" bIns="0">
            <a:spAutoFit/>
          </a:bodyPr>
          <a:lstStyle/>
          <a:p>
            <a:pPr marL="9525">
              <a:lnSpc>
                <a:spcPts val="3490"/>
              </a:lnSpc>
            </a:pPr>
            <a:r>
              <a:rPr lang="zh-CN" altLang="zh-CN">
                <a:solidFill>
                  <a:srgbClr val="FF0000"/>
                </a:solidFill>
              </a:rPr>
              <a:t>网络空间安全是</a:t>
            </a:r>
            <a:r>
              <a:rPr lang="zh-CN" altLang="zh-CN" i="1">
                <a:solidFill>
                  <a:srgbClr val="FF0000"/>
                </a:solidFill>
                <a:latin typeface="微软雅黑" panose="020B0503020204020204" charset="-122"/>
                <a:ea typeface="微软雅黑" panose="020B0503020204020204" charset="-122"/>
              </a:rPr>
              <a:t>矛盾论</a:t>
            </a:r>
            <a:endParaRPr lang="zh-CN" altLang="zh-CN" i="1">
              <a:solidFill>
                <a:srgbClr val="FF0000"/>
              </a:solidFill>
              <a:latin typeface="微软雅黑" panose="020B0503020204020204" charset="-122"/>
              <a:ea typeface="微软雅黑" panose="020B0503020204020204" charset="-122"/>
            </a:endParaRPr>
          </a:p>
        </p:txBody>
      </p:sp>
      <p:sp>
        <p:nvSpPr>
          <p:cNvPr id="178184" name="object 14"/>
          <p:cNvSpPr>
            <a:spLocks noChangeArrowheads="1"/>
          </p:cNvSpPr>
          <p:nvPr/>
        </p:nvSpPr>
        <p:spPr bwMode="auto">
          <a:xfrm>
            <a:off x="363415" y="951523"/>
            <a:ext cx="7072923" cy="72683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185" name="object 15"/>
          <p:cNvSpPr>
            <a:spLocks noChangeArrowheads="1"/>
          </p:cNvSpPr>
          <p:nvPr/>
        </p:nvSpPr>
        <p:spPr bwMode="auto">
          <a:xfrm>
            <a:off x="7006492" y="951523"/>
            <a:ext cx="2788139" cy="726831"/>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186" name="object 16"/>
          <p:cNvSpPr txBox="1">
            <a:spLocks noChangeArrowheads="1"/>
          </p:cNvSpPr>
          <p:nvPr/>
        </p:nvSpPr>
        <p:spPr bwMode="auto">
          <a:xfrm>
            <a:off x="554892" y="1064846"/>
            <a:ext cx="892126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nSpc>
                <a:spcPts val="2415"/>
              </a:lnSpc>
              <a:spcBef>
                <a:spcPct val="0"/>
              </a:spcBef>
              <a:buClrTx/>
              <a:buFontTx/>
              <a:buNone/>
            </a:pPr>
            <a:r>
              <a:rPr lang="zh-CN" altLang="zh-CN" sz="2585">
                <a:solidFill>
                  <a:srgbClr val="FFD966"/>
                </a:solidFill>
                <a:latin typeface="微软雅黑" panose="020B0503020204020204" charset="-122"/>
                <a:ea typeface="微软雅黑" panose="020B0503020204020204" charset="-122"/>
              </a:rPr>
              <a:t>Consider the Cybersecurity as a Theory of </a:t>
            </a:r>
            <a:r>
              <a:rPr lang="zh-CN" altLang="zh-CN" sz="2585" b="1">
                <a:solidFill>
                  <a:srgbClr val="FFD966"/>
                </a:solidFill>
                <a:latin typeface="微软雅黑" panose="020B0503020204020204" charset="-122"/>
                <a:ea typeface="微软雅黑" panose="020B0503020204020204" charset="-122"/>
              </a:rPr>
              <a:t>Contradiction</a:t>
            </a:r>
            <a:endParaRPr lang="zh-CN" altLang="zh-CN" sz="2585">
              <a:latin typeface="微软雅黑" panose="020B0503020204020204" charset="-122"/>
              <a:ea typeface="微软雅黑" panose="020B0503020204020204" charset="-122"/>
            </a:endParaRPr>
          </a:p>
        </p:txBody>
      </p:sp>
      <p:sp>
        <p:nvSpPr>
          <p:cNvPr id="178187" name="object 17"/>
          <p:cNvSpPr>
            <a:spLocks noChangeArrowheads="1"/>
          </p:cNvSpPr>
          <p:nvPr/>
        </p:nvSpPr>
        <p:spPr bwMode="auto">
          <a:xfrm>
            <a:off x="2913185" y="3962401"/>
            <a:ext cx="5931877" cy="1396999"/>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188" name="object 18"/>
          <p:cNvSpPr>
            <a:spLocks noChangeArrowheads="1"/>
          </p:cNvSpPr>
          <p:nvPr/>
        </p:nvSpPr>
        <p:spPr bwMode="auto">
          <a:xfrm>
            <a:off x="5693508" y="4253523"/>
            <a:ext cx="371231" cy="175846"/>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189" name="object 19"/>
          <p:cNvSpPr/>
          <p:nvPr/>
        </p:nvSpPr>
        <p:spPr bwMode="auto">
          <a:xfrm>
            <a:off x="2913185" y="3962401"/>
            <a:ext cx="5931877" cy="1396999"/>
          </a:xfrm>
          <a:custGeom>
            <a:avLst/>
            <a:gdLst>
              <a:gd name="T0" fmla="*/ 0 w 6425565"/>
              <a:gd name="T1" fmla="*/ 63559 h 1511935"/>
              <a:gd name="T2" fmla="*/ 75736 w 6425565"/>
              <a:gd name="T3" fmla="*/ 0 h 1511935"/>
              <a:gd name="T4" fmla="*/ 75736 w 6425565"/>
              <a:gd name="T5" fmla="*/ 25424 h 1511935"/>
              <a:gd name="T6" fmla="*/ 321876 w 6425565"/>
              <a:gd name="T7" fmla="*/ 25424 h 1511935"/>
              <a:gd name="T8" fmla="*/ 328233 w 6425565"/>
              <a:gd name="T9" fmla="*/ 25748 h 1511935"/>
              <a:gd name="T10" fmla="*/ 333757 w 6425565"/>
              <a:gd name="T11" fmla="*/ 26650 h 1511935"/>
              <a:gd name="T12" fmla="*/ 338112 w 6425565"/>
              <a:gd name="T13" fmla="*/ 28026 h 1511935"/>
              <a:gd name="T14" fmla="*/ 341993 w 6425565"/>
              <a:gd name="T15" fmla="*/ 31779 h 1511935"/>
              <a:gd name="T16" fmla="*/ 340968 w 6425565"/>
              <a:gd name="T17" fmla="*/ 33788 h 1511935"/>
              <a:gd name="T18" fmla="*/ 338112 w 6425565"/>
              <a:gd name="T19" fmla="*/ 35534 h 1511935"/>
              <a:gd name="T20" fmla="*/ 333757 w 6425565"/>
              <a:gd name="T21" fmla="*/ 36909 h 1511935"/>
              <a:gd name="T22" fmla="*/ 328233 w 6425565"/>
              <a:gd name="T23" fmla="*/ 37812 h 1511935"/>
              <a:gd name="T24" fmla="*/ 321876 w 6425565"/>
              <a:gd name="T25" fmla="*/ 38136 h 1511935"/>
              <a:gd name="T26" fmla="*/ 315519 w 6425565"/>
              <a:gd name="T27" fmla="*/ 38459 h 1511935"/>
              <a:gd name="T28" fmla="*/ 309996 w 6425565"/>
              <a:gd name="T29" fmla="*/ 39362 h 1511935"/>
              <a:gd name="T30" fmla="*/ 305642 w 6425565"/>
              <a:gd name="T31" fmla="*/ 40737 h 1511935"/>
              <a:gd name="T32" fmla="*/ 302785 w 6425565"/>
              <a:gd name="T33" fmla="*/ 42482 h 1511935"/>
              <a:gd name="T34" fmla="*/ 301759 w 6425565"/>
              <a:gd name="T35" fmla="*/ 44492 h 1511935"/>
              <a:gd name="T36" fmla="*/ 302785 w 6425565"/>
              <a:gd name="T37" fmla="*/ 46501 h 1511935"/>
              <a:gd name="T38" fmla="*/ 305642 w 6425565"/>
              <a:gd name="T39" fmla="*/ 48245 h 1511935"/>
              <a:gd name="T40" fmla="*/ 309996 w 6425565"/>
              <a:gd name="T41" fmla="*/ 49621 h 1511935"/>
              <a:gd name="T42" fmla="*/ 315519 w 6425565"/>
              <a:gd name="T43" fmla="*/ 50523 h 1511935"/>
              <a:gd name="T44" fmla="*/ 321876 w 6425565"/>
              <a:gd name="T45" fmla="*/ 50847 h 1511935"/>
              <a:gd name="T46" fmla="*/ 568017 w 6425565"/>
              <a:gd name="T47" fmla="*/ 50847 h 1511935"/>
              <a:gd name="T48" fmla="*/ 568017 w 6425565"/>
              <a:gd name="T49" fmla="*/ 25424 h 1511935"/>
              <a:gd name="T50" fmla="*/ 643752 w 6425565"/>
              <a:gd name="T51" fmla="*/ 88982 h 1511935"/>
              <a:gd name="T52" fmla="*/ 568017 w 6425565"/>
              <a:gd name="T53" fmla="*/ 152541 h 1511935"/>
              <a:gd name="T54" fmla="*/ 568017 w 6425565"/>
              <a:gd name="T55" fmla="*/ 127117 h 1511935"/>
              <a:gd name="T56" fmla="*/ 321876 w 6425565"/>
              <a:gd name="T57" fmla="*/ 127117 h 1511935"/>
              <a:gd name="T58" fmla="*/ 315519 w 6425565"/>
              <a:gd name="T59" fmla="*/ 126795 h 1511935"/>
              <a:gd name="T60" fmla="*/ 309996 w 6425565"/>
              <a:gd name="T61" fmla="*/ 125892 h 1511935"/>
              <a:gd name="T62" fmla="*/ 305642 w 6425565"/>
              <a:gd name="T63" fmla="*/ 124515 h 1511935"/>
              <a:gd name="T64" fmla="*/ 301759 w 6425565"/>
              <a:gd name="T65" fmla="*/ 120762 h 1511935"/>
              <a:gd name="T66" fmla="*/ 301759 w 6425565"/>
              <a:gd name="T67" fmla="*/ 101695 h 1511935"/>
              <a:gd name="T68" fmla="*/ 75736 w 6425565"/>
              <a:gd name="T69" fmla="*/ 101695 h 1511935"/>
              <a:gd name="T70" fmla="*/ 75736 w 6425565"/>
              <a:gd name="T71" fmla="*/ 127117 h 1511935"/>
              <a:gd name="T72" fmla="*/ 0 w 6425565"/>
              <a:gd name="T73" fmla="*/ 63559 h 151193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425565" h="1511935">
                <a:moveTo>
                  <a:pt x="0" y="629919"/>
                </a:moveTo>
                <a:lnTo>
                  <a:pt x="755904" y="0"/>
                </a:lnTo>
                <a:lnTo>
                  <a:pt x="755904" y="251968"/>
                </a:lnTo>
                <a:lnTo>
                  <a:pt x="3212592" y="251968"/>
                </a:lnTo>
                <a:lnTo>
                  <a:pt x="3276048" y="255178"/>
                </a:lnTo>
                <a:lnTo>
                  <a:pt x="3331165" y="264119"/>
                </a:lnTo>
                <a:lnTo>
                  <a:pt x="3374632" y="277754"/>
                </a:lnTo>
                <a:lnTo>
                  <a:pt x="3413379" y="314960"/>
                </a:lnTo>
                <a:lnTo>
                  <a:pt x="3403140" y="334873"/>
                </a:lnTo>
                <a:lnTo>
                  <a:pt x="3374632" y="352165"/>
                </a:lnTo>
                <a:lnTo>
                  <a:pt x="3331165" y="365800"/>
                </a:lnTo>
                <a:lnTo>
                  <a:pt x="3276048" y="374741"/>
                </a:lnTo>
                <a:lnTo>
                  <a:pt x="3212592" y="377952"/>
                </a:lnTo>
                <a:lnTo>
                  <a:pt x="3149135" y="381162"/>
                </a:lnTo>
                <a:lnTo>
                  <a:pt x="3094018" y="390103"/>
                </a:lnTo>
                <a:lnTo>
                  <a:pt x="3050551" y="403738"/>
                </a:lnTo>
                <a:lnTo>
                  <a:pt x="3022043" y="421030"/>
                </a:lnTo>
                <a:lnTo>
                  <a:pt x="3011805" y="440944"/>
                </a:lnTo>
                <a:lnTo>
                  <a:pt x="3022043" y="460857"/>
                </a:lnTo>
                <a:lnTo>
                  <a:pt x="3050551" y="478149"/>
                </a:lnTo>
                <a:lnTo>
                  <a:pt x="3094018" y="491784"/>
                </a:lnTo>
                <a:lnTo>
                  <a:pt x="3149135" y="500725"/>
                </a:lnTo>
                <a:lnTo>
                  <a:pt x="3212592" y="503936"/>
                </a:lnTo>
                <a:lnTo>
                  <a:pt x="5669280" y="503936"/>
                </a:lnTo>
                <a:lnTo>
                  <a:pt x="5669280" y="251968"/>
                </a:lnTo>
                <a:lnTo>
                  <a:pt x="6425183" y="881888"/>
                </a:lnTo>
                <a:lnTo>
                  <a:pt x="5669280" y="1511808"/>
                </a:lnTo>
                <a:lnTo>
                  <a:pt x="5669280" y="1259840"/>
                </a:lnTo>
                <a:lnTo>
                  <a:pt x="3212592" y="1259840"/>
                </a:lnTo>
                <a:lnTo>
                  <a:pt x="3149135" y="1256629"/>
                </a:lnTo>
                <a:lnTo>
                  <a:pt x="3094018" y="1247688"/>
                </a:lnTo>
                <a:lnTo>
                  <a:pt x="3050551" y="1234053"/>
                </a:lnTo>
                <a:lnTo>
                  <a:pt x="3011805" y="1196848"/>
                </a:lnTo>
                <a:lnTo>
                  <a:pt x="3011805" y="1007872"/>
                </a:lnTo>
                <a:lnTo>
                  <a:pt x="755904" y="1007872"/>
                </a:lnTo>
                <a:lnTo>
                  <a:pt x="755904" y="1259840"/>
                </a:lnTo>
                <a:lnTo>
                  <a:pt x="0" y="629919"/>
                </a:lnTo>
                <a:close/>
              </a:path>
            </a:pathLst>
          </a:custGeom>
          <a:noFill/>
          <a:ln w="6096">
            <a:solidFill>
              <a:srgbClr val="4AACC5"/>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190" name="object 20"/>
          <p:cNvSpPr/>
          <p:nvPr/>
        </p:nvSpPr>
        <p:spPr bwMode="auto">
          <a:xfrm>
            <a:off x="6064738" y="4253523"/>
            <a:ext cx="0" cy="175846"/>
          </a:xfrm>
          <a:custGeom>
            <a:avLst/>
            <a:gdLst>
              <a:gd name="T0" fmla="*/ 0 h 189229"/>
              <a:gd name="T1" fmla="*/ 19959 h 189229"/>
              <a:gd name="T2" fmla="*/ 0 60000 65536"/>
              <a:gd name="T3" fmla="*/ 0 60000 65536"/>
            </a:gdLst>
            <a:ahLst/>
            <a:cxnLst>
              <a:cxn ang="T2">
                <a:pos x="0" y="T0"/>
              </a:cxn>
              <a:cxn ang="T3">
                <a:pos x="0" y="T1"/>
              </a:cxn>
            </a:cxnLst>
            <a:rect l="0" t="0" r="r" b="b"/>
            <a:pathLst>
              <a:path h="189229">
                <a:moveTo>
                  <a:pt x="0" y="0"/>
                </a:moveTo>
                <a:lnTo>
                  <a:pt x="0" y="188975"/>
                </a:lnTo>
              </a:path>
            </a:pathLst>
          </a:custGeom>
          <a:noFill/>
          <a:ln w="6096">
            <a:solidFill>
              <a:srgbClr val="4AACC5"/>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191" name="object 21"/>
          <p:cNvSpPr/>
          <p:nvPr/>
        </p:nvSpPr>
        <p:spPr bwMode="auto">
          <a:xfrm>
            <a:off x="5693508" y="4370754"/>
            <a:ext cx="0" cy="523631"/>
          </a:xfrm>
          <a:custGeom>
            <a:avLst/>
            <a:gdLst>
              <a:gd name="T0" fmla="*/ 0 h 567054"/>
              <a:gd name="T1" fmla="*/ 56927 h 567054"/>
              <a:gd name="T2" fmla="*/ 0 60000 65536"/>
              <a:gd name="T3" fmla="*/ 0 60000 65536"/>
            </a:gdLst>
            <a:ahLst/>
            <a:cxnLst>
              <a:cxn ang="T2">
                <a:pos x="0" y="T0"/>
              </a:cxn>
              <a:cxn ang="T3">
                <a:pos x="0" y="T1"/>
              </a:cxn>
            </a:cxnLst>
            <a:rect l="0" t="0" r="r" b="b"/>
            <a:pathLst>
              <a:path h="567054">
                <a:moveTo>
                  <a:pt x="0" y="0"/>
                </a:moveTo>
                <a:lnTo>
                  <a:pt x="0" y="566928"/>
                </a:lnTo>
              </a:path>
            </a:pathLst>
          </a:custGeom>
          <a:noFill/>
          <a:ln w="6096">
            <a:solidFill>
              <a:srgbClr val="4AACC5"/>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192" name="object 22"/>
          <p:cNvSpPr txBox="1">
            <a:spLocks noChangeArrowheads="1"/>
          </p:cNvSpPr>
          <p:nvPr/>
        </p:nvSpPr>
        <p:spPr bwMode="auto">
          <a:xfrm>
            <a:off x="6027616" y="4437185"/>
            <a:ext cx="2250831"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2585" b="1" i="1">
                <a:solidFill>
                  <a:srgbClr val="C00000"/>
                </a:solidFill>
                <a:latin typeface="微软雅黑" panose="020B0503020204020204" charset="-122"/>
                <a:ea typeface="微软雅黑" panose="020B0503020204020204" charset="-122"/>
              </a:rPr>
              <a:t>保障安全</a:t>
            </a:r>
            <a:endParaRPr lang="zh-CN" altLang="zh-CN" sz="2585">
              <a:latin typeface="微软雅黑" panose="020B0503020204020204" charset="-122"/>
              <a:ea typeface="微软雅黑" panose="020B0503020204020204" charset="-122"/>
            </a:endParaRPr>
          </a:p>
          <a:p>
            <a:pPr algn="ctr">
              <a:spcBef>
                <a:spcPct val="0"/>
              </a:spcBef>
              <a:buClrTx/>
              <a:buFontTx/>
              <a:buNone/>
            </a:pPr>
            <a:r>
              <a:rPr lang="zh-CN" altLang="zh-CN" sz="1845" b="1">
                <a:solidFill>
                  <a:srgbClr val="C00000"/>
                </a:solidFill>
                <a:latin typeface="微软雅黑" panose="020B0503020204020204" charset="-122"/>
                <a:ea typeface="微软雅黑" panose="020B0503020204020204" charset="-122"/>
              </a:rPr>
              <a:t>Security Assurance</a:t>
            </a:r>
            <a:endParaRPr lang="zh-CN" altLang="zh-CN" sz="1845">
              <a:latin typeface="微软雅黑" panose="020B0503020204020204" charset="-122"/>
              <a:ea typeface="微软雅黑" panose="020B0503020204020204" charset="-122"/>
            </a:endParaRPr>
          </a:p>
        </p:txBody>
      </p:sp>
      <p:sp>
        <p:nvSpPr>
          <p:cNvPr id="178193" name="object 23"/>
          <p:cNvSpPr txBox="1">
            <a:spLocks noChangeArrowheads="1"/>
          </p:cNvSpPr>
          <p:nvPr/>
        </p:nvSpPr>
        <p:spPr bwMode="auto">
          <a:xfrm>
            <a:off x="3376246" y="4194908"/>
            <a:ext cx="2215662" cy="55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lnSpc>
                <a:spcPts val="2525"/>
              </a:lnSpc>
              <a:spcBef>
                <a:spcPct val="0"/>
              </a:spcBef>
              <a:buClrTx/>
              <a:buFontTx/>
              <a:buNone/>
            </a:pPr>
            <a:r>
              <a:rPr lang="zh-CN" altLang="zh-CN" sz="2585" b="1" i="1">
                <a:solidFill>
                  <a:srgbClr val="C00000"/>
                </a:solidFill>
                <a:latin typeface="微软雅黑" panose="020B0503020204020204" charset="-122"/>
                <a:ea typeface="微软雅黑" panose="020B0503020204020204" charset="-122"/>
              </a:rPr>
              <a:t>使命确保</a:t>
            </a:r>
            <a:endParaRPr lang="zh-CN" altLang="zh-CN" sz="2585">
              <a:latin typeface="微软雅黑" panose="020B0503020204020204" charset="-122"/>
              <a:ea typeface="微软雅黑" panose="020B0503020204020204" charset="-122"/>
            </a:endParaRPr>
          </a:p>
          <a:p>
            <a:pPr algn="ctr">
              <a:lnSpc>
                <a:spcPts val="1800"/>
              </a:lnSpc>
              <a:spcBef>
                <a:spcPct val="0"/>
              </a:spcBef>
              <a:buClrTx/>
              <a:buFontTx/>
              <a:buNone/>
            </a:pPr>
            <a:r>
              <a:rPr lang="zh-CN" altLang="zh-CN" sz="1845" b="1">
                <a:solidFill>
                  <a:srgbClr val="C00000"/>
                </a:solidFill>
                <a:latin typeface="微软雅黑" panose="020B0503020204020204" charset="-122"/>
                <a:ea typeface="微软雅黑" panose="020B0503020204020204" charset="-122"/>
              </a:rPr>
              <a:t>Mission Assurance</a:t>
            </a:r>
            <a:endParaRPr lang="zh-CN" altLang="zh-CN" sz="1845">
              <a:latin typeface="微软雅黑" panose="020B0503020204020204" charset="-122"/>
              <a:ea typeface="微软雅黑" panose="020B0503020204020204" charset="-122"/>
            </a:endParaRPr>
          </a:p>
        </p:txBody>
      </p:sp>
      <p:sp>
        <p:nvSpPr>
          <p:cNvPr id="178194" name="object 24"/>
          <p:cNvSpPr txBox="1">
            <a:spLocks noChangeArrowheads="1"/>
          </p:cNvSpPr>
          <p:nvPr/>
        </p:nvSpPr>
        <p:spPr bwMode="auto">
          <a:xfrm>
            <a:off x="619370" y="5849816"/>
            <a:ext cx="1035733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52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zh-CN" sz="1845">
                <a:solidFill>
                  <a:srgbClr val="FFFF00"/>
                </a:solidFill>
                <a:latin typeface="微软雅黑 Light" panose="020B0502040204020203" pitchFamily="34" charset="-122"/>
                <a:ea typeface="微软雅黑 Light" panose="020B0502040204020203" pitchFamily="34" charset="-122"/>
              </a:rPr>
              <a:t>网络安全和信息化是相辅相成的。安全是发展的前提，发展是安全的保障，安全和发展要同步推进。  </a:t>
            </a:r>
            <a:r>
              <a:rPr lang="zh-CN" altLang="zh-CN" sz="1845">
                <a:solidFill>
                  <a:srgbClr val="FFFF00"/>
                </a:solidFill>
                <a:latin typeface="Times New Roman" panose="02020603050405020304" pitchFamily="18" charset="0"/>
                <a:ea typeface="宋体" panose="02010600030101010101" pitchFamily="2" charset="-122"/>
                <a:cs typeface="Times New Roman" panose="02020603050405020304" pitchFamily="18" charset="0"/>
              </a:rPr>
              <a:t>Cybersecurity and information technology is complementary. Security is the prerequisite for development,  development is the assurance of security, security and development should be synchronized.</a:t>
            </a:r>
            <a:endParaRPr lang="zh-CN" altLang="zh-CN" sz="1845">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8195" name="object 25"/>
          <p:cNvSpPr>
            <a:spLocks noChangeArrowheads="1"/>
          </p:cNvSpPr>
          <p:nvPr/>
        </p:nvSpPr>
        <p:spPr bwMode="auto">
          <a:xfrm>
            <a:off x="8741508" y="3667369"/>
            <a:ext cx="2649415" cy="1987062"/>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196" name="object 26"/>
          <p:cNvSpPr/>
          <p:nvPr/>
        </p:nvSpPr>
        <p:spPr bwMode="auto">
          <a:xfrm>
            <a:off x="10232293" y="4644292"/>
            <a:ext cx="935892" cy="887046"/>
          </a:xfrm>
          <a:custGeom>
            <a:avLst/>
            <a:gdLst>
              <a:gd name="T0" fmla="*/ 41581 w 1012190"/>
              <a:gd name="T1" fmla="*/ 872 h 960120"/>
              <a:gd name="T2" fmla="*/ 28162 w 1012190"/>
              <a:gd name="T3" fmla="*/ 5201 h 960120"/>
              <a:gd name="T4" fmla="*/ 16713 w 1012190"/>
              <a:gd name="T5" fmla="*/ 12664 h 960120"/>
              <a:gd name="T6" fmla="*/ 7815 w 1012190"/>
              <a:gd name="T7" fmla="*/ 22717 h 960120"/>
              <a:gd name="T8" fmla="*/ 2051 w 1012190"/>
              <a:gd name="T9" fmla="*/ 34811 h 960120"/>
              <a:gd name="T10" fmla="*/ 0 w 1012190"/>
              <a:gd name="T11" fmla="*/ 48400 h 960120"/>
              <a:gd name="T12" fmla="*/ 2051 w 1012190"/>
              <a:gd name="T13" fmla="*/ 61990 h 960120"/>
              <a:gd name="T14" fmla="*/ 7815 w 1012190"/>
              <a:gd name="T15" fmla="*/ 74084 h 960120"/>
              <a:gd name="T16" fmla="*/ 16713 w 1012190"/>
              <a:gd name="T17" fmla="*/ 84137 h 960120"/>
              <a:gd name="T18" fmla="*/ 28162 w 1012190"/>
              <a:gd name="T19" fmla="*/ 91601 h 960120"/>
              <a:gd name="T20" fmla="*/ 41581 w 1012190"/>
              <a:gd name="T21" fmla="*/ 95929 h 960120"/>
              <a:gd name="T22" fmla="*/ 56279 w 1012190"/>
              <a:gd name="T23" fmla="*/ 96579 h 960120"/>
              <a:gd name="T24" fmla="*/ 70226 w 1012190"/>
              <a:gd name="T25" fmla="*/ 93418 h 960120"/>
              <a:gd name="T26" fmla="*/ 82397 w 1012190"/>
              <a:gd name="T27" fmla="*/ 86939 h 960120"/>
              <a:gd name="T28" fmla="*/ 48771 w 1012190"/>
              <a:gd name="T29" fmla="*/ 85720 h 960120"/>
              <a:gd name="T30" fmla="*/ 35218 w 1012190"/>
              <a:gd name="T31" fmla="*/ 82673 h 960120"/>
              <a:gd name="T32" fmla="*/ 23138 w 1012190"/>
              <a:gd name="T33" fmla="*/ 75097 h 960120"/>
              <a:gd name="T34" fmla="*/ 14755 w 1012190"/>
              <a:gd name="T35" fmla="*/ 64037 h 960120"/>
              <a:gd name="T36" fmla="*/ 11189 w 1012190"/>
              <a:gd name="T37" fmla="*/ 51244 h 960120"/>
              <a:gd name="T38" fmla="*/ 12635 w 1012190"/>
              <a:gd name="T39" fmla="*/ 38045 h 960120"/>
              <a:gd name="T40" fmla="*/ 19289 w 1012190"/>
              <a:gd name="T41" fmla="*/ 25762 h 960120"/>
              <a:gd name="T42" fmla="*/ 31405 w 1012190"/>
              <a:gd name="T43" fmla="*/ 15907 h 960120"/>
              <a:gd name="T44" fmla="*/ 44646 w 1012190"/>
              <a:gd name="T45" fmla="*/ 11523 h 960120"/>
              <a:gd name="T46" fmla="*/ 82397 w 1012190"/>
              <a:gd name="T47" fmla="*/ 9861 h 960120"/>
              <a:gd name="T48" fmla="*/ 70226 w 1012190"/>
              <a:gd name="T49" fmla="*/ 3382 h 960120"/>
              <a:gd name="T50" fmla="*/ 56279 w 1012190"/>
              <a:gd name="T51" fmla="*/ 221 h 960120"/>
              <a:gd name="T52" fmla="*/ 19289 w 1012190"/>
              <a:gd name="T53" fmla="*/ 25762 h 960120"/>
              <a:gd name="T54" fmla="*/ 67002 w 1012190"/>
              <a:gd name="T55" fmla="*/ 82850 h 960120"/>
              <a:gd name="T56" fmla="*/ 53408 w 1012190"/>
              <a:gd name="T57" fmla="*/ 85747 h 960120"/>
              <a:gd name="T58" fmla="*/ 92210 w 1012190"/>
              <a:gd name="T59" fmla="*/ 77689 h 960120"/>
              <a:gd name="T60" fmla="*/ 83382 w 1012190"/>
              <a:gd name="T61" fmla="*/ 71038 h 960120"/>
              <a:gd name="T62" fmla="*/ 49263 w 1012190"/>
              <a:gd name="T63" fmla="*/ 11054 h 960120"/>
              <a:gd name="T64" fmla="*/ 63044 w 1012190"/>
              <a:gd name="T65" fmla="*/ 12617 h 960120"/>
              <a:gd name="T66" fmla="*/ 75702 w 1012190"/>
              <a:gd name="T67" fmla="*/ 18630 h 960120"/>
              <a:gd name="T68" fmla="*/ 85648 w 1012190"/>
              <a:gd name="T69" fmla="*/ 28819 h 960120"/>
              <a:gd name="T70" fmla="*/ 90840 w 1012190"/>
              <a:gd name="T71" fmla="*/ 41182 h 960120"/>
              <a:gd name="T72" fmla="*/ 91087 w 1012190"/>
              <a:gd name="T73" fmla="*/ 54393 h 960120"/>
              <a:gd name="T74" fmla="*/ 86190 w 1012190"/>
              <a:gd name="T75" fmla="*/ 67128 h 960120"/>
              <a:gd name="T76" fmla="*/ 99082 w 1012190"/>
              <a:gd name="T77" fmla="*/ 66214 h 960120"/>
              <a:gd name="T78" fmla="*/ 102436 w 1012190"/>
              <a:gd name="T79" fmla="*/ 53063 h 960120"/>
              <a:gd name="T80" fmla="*/ 101746 w 1012190"/>
              <a:gd name="T81" fmla="*/ 39202 h 960120"/>
              <a:gd name="T82" fmla="*/ 97154 w 1012190"/>
              <a:gd name="T83" fmla="*/ 26549 h 960120"/>
              <a:gd name="T84" fmla="*/ 89236 w 1012190"/>
              <a:gd name="T85" fmla="*/ 15754 h 96012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12190" h="960120">
                <a:moveTo>
                  <a:pt x="505967" y="0"/>
                </a:moveTo>
                <a:lnTo>
                  <a:pt x="457245" y="2197"/>
                </a:lnTo>
                <a:lnTo>
                  <a:pt x="409832" y="8654"/>
                </a:lnTo>
                <a:lnTo>
                  <a:pt x="363941" y="19171"/>
                </a:lnTo>
                <a:lnTo>
                  <a:pt x="319782" y="33545"/>
                </a:lnTo>
                <a:lnTo>
                  <a:pt x="277569" y="51578"/>
                </a:lnTo>
                <a:lnTo>
                  <a:pt x="237514" y="73066"/>
                </a:lnTo>
                <a:lnTo>
                  <a:pt x="199829" y="97809"/>
                </a:lnTo>
                <a:lnTo>
                  <a:pt x="164726" y="125607"/>
                </a:lnTo>
                <a:lnTo>
                  <a:pt x="132417" y="156258"/>
                </a:lnTo>
                <a:lnTo>
                  <a:pt x="103114" y="189561"/>
                </a:lnTo>
                <a:lnTo>
                  <a:pt x="77030" y="225315"/>
                </a:lnTo>
                <a:lnTo>
                  <a:pt x="54377" y="263320"/>
                </a:lnTo>
                <a:lnTo>
                  <a:pt x="35367" y="303374"/>
                </a:lnTo>
                <a:lnTo>
                  <a:pt x="20212" y="345275"/>
                </a:lnTo>
                <a:lnTo>
                  <a:pt x="9124" y="388824"/>
                </a:lnTo>
                <a:lnTo>
                  <a:pt x="2316" y="433819"/>
                </a:lnTo>
                <a:lnTo>
                  <a:pt x="0" y="480060"/>
                </a:lnTo>
                <a:lnTo>
                  <a:pt x="2316" y="526300"/>
                </a:lnTo>
                <a:lnTo>
                  <a:pt x="9124" y="571295"/>
                </a:lnTo>
                <a:lnTo>
                  <a:pt x="20212" y="614844"/>
                </a:lnTo>
                <a:lnTo>
                  <a:pt x="35367" y="656745"/>
                </a:lnTo>
                <a:lnTo>
                  <a:pt x="54377" y="696799"/>
                </a:lnTo>
                <a:lnTo>
                  <a:pt x="77030" y="734804"/>
                </a:lnTo>
                <a:lnTo>
                  <a:pt x="103114" y="770558"/>
                </a:lnTo>
                <a:lnTo>
                  <a:pt x="132417" y="803861"/>
                </a:lnTo>
                <a:lnTo>
                  <a:pt x="164726" y="834512"/>
                </a:lnTo>
                <a:lnTo>
                  <a:pt x="199829" y="862310"/>
                </a:lnTo>
                <a:lnTo>
                  <a:pt x="237514" y="887053"/>
                </a:lnTo>
                <a:lnTo>
                  <a:pt x="277569" y="908541"/>
                </a:lnTo>
                <a:lnTo>
                  <a:pt x="319782" y="926574"/>
                </a:lnTo>
                <a:lnTo>
                  <a:pt x="363941" y="940948"/>
                </a:lnTo>
                <a:lnTo>
                  <a:pt x="409832" y="951465"/>
                </a:lnTo>
                <a:lnTo>
                  <a:pt x="457245" y="957922"/>
                </a:lnTo>
                <a:lnTo>
                  <a:pt x="505967" y="960120"/>
                </a:lnTo>
                <a:lnTo>
                  <a:pt x="554690" y="957922"/>
                </a:lnTo>
                <a:lnTo>
                  <a:pt x="602103" y="951465"/>
                </a:lnTo>
                <a:lnTo>
                  <a:pt x="647994" y="940948"/>
                </a:lnTo>
                <a:lnTo>
                  <a:pt x="692153" y="926574"/>
                </a:lnTo>
                <a:lnTo>
                  <a:pt x="734366" y="908541"/>
                </a:lnTo>
                <a:lnTo>
                  <a:pt x="774421" y="887053"/>
                </a:lnTo>
                <a:lnTo>
                  <a:pt x="812106" y="862310"/>
                </a:lnTo>
                <a:lnTo>
                  <a:pt x="827046" y="850479"/>
                </a:lnTo>
                <a:lnTo>
                  <a:pt x="526397" y="850479"/>
                </a:lnTo>
                <a:lnTo>
                  <a:pt x="480689" y="850219"/>
                </a:lnTo>
                <a:lnTo>
                  <a:pt x="435253" y="845049"/>
                </a:lnTo>
                <a:lnTo>
                  <a:pt x="390570" y="834972"/>
                </a:lnTo>
                <a:lnTo>
                  <a:pt x="347116" y="819992"/>
                </a:lnTo>
                <a:lnTo>
                  <a:pt x="305371" y="800112"/>
                </a:lnTo>
                <a:lnTo>
                  <a:pt x="265810" y="775335"/>
                </a:lnTo>
                <a:lnTo>
                  <a:pt x="228049" y="744854"/>
                </a:lnTo>
                <a:lnTo>
                  <a:pt x="195350" y="711006"/>
                </a:lnTo>
                <a:lnTo>
                  <a:pt x="167785" y="674276"/>
                </a:lnTo>
                <a:lnTo>
                  <a:pt x="145424" y="635150"/>
                </a:lnTo>
                <a:lnTo>
                  <a:pt x="128340" y="594116"/>
                </a:lnTo>
                <a:lnTo>
                  <a:pt x="116601" y="551659"/>
                </a:lnTo>
                <a:lnTo>
                  <a:pt x="110281" y="508267"/>
                </a:lnTo>
                <a:lnTo>
                  <a:pt x="109450" y="464427"/>
                </a:lnTo>
                <a:lnTo>
                  <a:pt x="114179" y="420624"/>
                </a:lnTo>
                <a:lnTo>
                  <a:pt x="124539" y="377346"/>
                </a:lnTo>
                <a:lnTo>
                  <a:pt x="140602" y="335079"/>
                </a:lnTo>
                <a:lnTo>
                  <a:pt x="162438" y="294309"/>
                </a:lnTo>
                <a:lnTo>
                  <a:pt x="190118" y="255524"/>
                </a:lnTo>
                <a:lnTo>
                  <a:pt x="347202" y="255524"/>
                </a:lnTo>
                <a:lnTo>
                  <a:pt x="269621" y="182118"/>
                </a:lnTo>
                <a:lnTo>
                  <a:pt x="309527" y="157774"/>
                </a:lnTo>
                <a:lnTo>
                  <a:pt x="351550" y="138358"/>
                </a:lnTo>
                <a:lnTo>
                  <a:pt x="395211" y="123866"/>
                </a:lnTo>
                <a:lnTo>
                  <a:pt x="440033" y="114294"/>
                </a:lnTo>
                <a:lnTo>
                  <a:pt x="485538" y="109640"/>
                </a:lnTo>
                <a:lnTo>
                  <a:pt x="827046" y="109640"/>
                </a:lnTo>
                <a:lnTo>
                  <a:pt x="812106" y="97809"/>
                </a:lnTo>
                <a:lnTo>
                  <a:pt x="774421" y="73066"/>
                </a:lnTo>
                <a:lnTo>
                  <a:pt x="734366" y="51578"/>
                </a:lnTo>
                <a:lnTo>
                  <a:pt x="692153" y="33545"/>
                </a:lnTo>
                <a:lnTo>
                  <a:pt x="647994" y="19171"/>
                </a:lnTo>
                <a:lnTo>
                  <a:pt x="602103" y="8654"/>
                </a:lnTo>
                <a:lnTo>
                  <a:pt x="554690" y="2197"/>
                </a:lnTo>
                <a:lnTo>
                  <a:pt x="505967" y="0"/>
                </a:lnTo>
                <a:close/>
              </a:path>
              <a:path w="1012190" h="960120">
                <a:moveTo>
                  <a:pt x="347202" y="255524"/>
                </a:moveTo>
                <a:lnTo>
                  <a:pt x="190118" y="255524"/>
                </a:lnTo>
                <a:lnTo>
                  <a:pt x="742314" y="778002"/>
                </a:lnTo>
                <a:lnTo>
                  <a:pt x="702408" y="802345"/>
                </a:lnTo>
                <a:lnTo>
                  <a:pt x="660385" y="821761"/>
                </a:lnTo>
                <a:lnTo>
                  <a:pt x="616724" y="836253"/>
                </a:lnTo>
                <a:lnTo>
                  <a:pt x="571902" y="845825"/>
                </a:lnTo>
                <a:lnTo>
                  <a:pt x="526397" y="850479"/>
                </a:lnTo>
                <a:lnTo>
                  <a:pt x="827046" y="850479"/>
                </a:lnTo>
                <a:lnTo>
                  <a:pt x="879518" y="803861"/>
                </a:lnTo>
                <a:lnTo>
                  <a:pt x="908821" y="770558"/>
                </a:lnTo>
                <a:lnTo>
                  <a:pt x="934905" y="734804"/>
                </a:lnTo>
                <a:lnTo>
                  <a:pt x="952911" y="704596"/>
                </a:lnTo>
                <a:lnTo>
                  <a:pt x="821816" y="704596"/>
                </a:lnTo>
                <a:lnTo>
                  <a:pt x="347202" y="255524"/>
                </a:lnTo>
                <a:close/>
              </a:path>
              <a:path w="1012190" h="960120">
                <a:moveTo>
                  <a:pt x="827046" y="109640"/>
                </a:moveTo>
                <a:lnTo>
                  <a:pt x="485538" y="109640"/>
                </a:lnTo>
                <a:lnTo>
                  <a:pt x="531246" y="109900"/>
                </a:lnTo>
                <a:lnTo>
                  <a:pt x="576682" y="115070"/>
                </a:lnTo>
                <a:lnTo>
                  <a:pt x="621365" y="125147"/>
                </a:lnTo>
                <a:lnTo>
                  <a:pt x="664819" y="140127"/>
                </a:lnTo>
                <a:lnTo>
                  <a:pt x="706564" y="160007"/>
                </a:lnTo>
                <a:lnTo>
                  <a:pt x="746125" y="184785"/>
                </a:lnTo>
                <a:lnTo>
                  <a:pt x="783886" y="215265"/>
                </a:lnTo>
                <a:lnTo>
                  <a:pt x="816585" y="249113"/>
                </a:lnTo>
                <a:lnTo>
                  <a:pt x="844150" y="285843"/>
                </a:lnTo>
                <a:lnTo>
                  <a:pt x="866511" y="324969"/>
                </a:lnTo>
                <a:lnTo>
                  <a:pt x="883595" y="366003"/>
                </a:lnTo>
                <a:lnTo>
                  <a:pt x="895334" y="408460"/>
                </a:lnTo>
                <a:lnTo>
                  <a:pt x="901654" y="451852"/>
                </a:lnTo>
                <a:lnTo>
                  <a:pt x="902485" y="495692"/>
                </a:lnTo>
                <a:lnTo>
                  <a:pt x="897756" y="539495"/>
                </a:lnTo>
                <a:lnTo>
                  <a:pt x="887396" y="582773"/>
                </a:lnTo>
                <a:lnTo>
                  <a:pt x="871333" y="625040"/>
                </a:lnTo>
                <a:lnTo>
                  <a:pt x="849497" y="665810"/>
                </a:lnTo>
                <a:lnTo>
                  <a:pt x="821816" y="704596"/>
                </a:lnTo>
                <a:lnTo>
                  <a:pt x="952911" y="704596"/>
                </a:lnTo>
                <a:lnTo>
                  <a:pt x="976568" y="656745"/>
                </a:lnTo>
                <a:lnTo>
                  <a:pt x="991723" y="614844"/>
                </a:lnTo>
                <a:lnTo>
                  <a:pt x="1002811" y="571295"/>
                </a:lnTo>
                <a:lnTo>
                  <a:pt x="1009619" y="526300"/>
                </a:lnTo>
                <a:lnTo>
                  <a:pt x="1011935" y="480060"/>
                </a:lnTo>
                <a:lnTo>
                  <a:pt x="1009619" y="433819"/>
                </a:lnTo>
                <a:lnTo>
                  <a:pt x="1002811" y="388824"/>
                </a:lnTo>
                <a:lnTo>
                  <a:pt x="991723" y="345275"/>
                </a:lnTo>
                <a:lnTo>
                  <a:pt x="976568" y="303374"/>
                </a:lnTo>
                <a:lnTo>
                  <a:pt x="957558" y="263320"/>
                </a:lnTo>
                <a:lnTo>
                  <a:pt x="934905" y="225315"/>
                </a:lnTo>
                <a:lnTo>
                  <a:pt x="908821" y="189561"/>
                </a:lnTo>
                <a:lnTo>
                  <a:pt x="879518" y="156258"/>
                </a:lnTo>
                <a:lnTo>
                  <a:pt x="847209" y="125607"/>
                </a:lnTo>
                <a:lnTo>
                  <a:pt x="827046" y="109640"/>
                </a:lnTo>
                <a:close/>
              </a:path>
            </a:pathLst>
          </a:custGeom>
          <a:solidFill>
            <a:srgbClr val="C0504D"/>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8197" name="object 27"/>
          <p:cNvSpPr/>
          <p:nvPr/>
        </p:nvSpPr>
        <p:spPr bwMode="auto">
          <a:xfrm>
            <a:off x="10232293" y="4644292"/>
            <a:ext cx="935892" cy="887046"/>
          </a:xfrm>
          <a:custGeom>
            <a:avLst/>
            <a:gdLst>
              <a:gd name="T0" fmla="*/ 235 w 1012190"/>
              <a:gd name="T1" fmla="*/ 43738 h 960120"/>
              <a:gd name="T2" fmla="*/ 2051 w 1012190"/>
              <a:gd name="T3" fmla="*/ 34811 h 960120"/>
              <a:gd name="T4" fmla="*/ 5517 w 1012190"/>
              <a:gd name="T5" fmla="*/ 26549 h 960120"/>
              <a:gd name="T6" fmla="*/ 10462 w 1012190"/>
              <a:gd name="T7" fmla="*/ 19111 h 960120"/>
              <a:gd name="T8" fmla="*/ 16713 w 1012190"/>
              <a:gd name="T9" fmla="*/ 12664 h 960120"/>
              <a:gd name="T10" fmla="*/ 24098 w 1012190"/>
              <a:gd name="T11" fmla="*/ 7366 h 960120"/>
              <a:gd name="T12" fmla="*/ 32445 w 1012190"/>
              <a:gd name="T13" fmla="*/ 3382 h 960120"/>
              <a:gd name="T14" fmla="*/ 41581 w 1012190"/>
              <a:gd name="T15" fmla="*/ 872 h 960120"/>
              <a:gd name="T16" fmla="*/ 51335 w 1012190"/>
              <a:gd name="T17" fmla="*/ 0 h 960120"/>
              <a:gd name="T18" fmla="*/ 61090 w 1012190"/>
              <a:gd name="T19" fmla="*/ 872 h 960120"/>
              <a:gd name="T20" fmla="*/ 70226 w 1012190"/>
              <a:gd name="T21" fmla="*/ 3382 h 960120"/>
              <a:gd name="T22" fmla="*/ 78573 w 1012190"/>
              <a:gd name="T23" fmla="*/ 7366 h 960120"/>
              <a:gd name="T24" fmla="*/ 85958 w 1012190"/>
              <a:gd name="T25" fmla="*/ 12664 h 960120"/>
              <a:gd name="T26" fmla="*/ 92210 w 1012190"/>
              <a:gd name="T27" fmla="*/ 19111 h 960120"/>
              <a:gd name="T28" fmla="*/ 97154 w 1012190"/>
              <a:gd name="T29" fmla="*/ 26549 h 960120"/>
              <a:gd name="T30" fmla="*/ 100620 w 1012190"/>
              <a:gd name="T31" fmla="*/ 34811 h 960120"/>
              <a:gd name="T32" fmla="*/ 102436 w 1012190"/>
              <a:gd name="T33" fmla="*/ 43738 h 960120"/>
              <a:gd name="T34" fmla="*/ 102436 w 1012190"/>
              <a:gd name="T35" fmla="*/ 53063 h 960120"/>
              <a:gd name="T36" fmla="*/ 100620 w 1012190"/>
              <a:gd name="T37" fmla="*/ 61990 h 960120"/>
              <a:gd name="T38" fmla="*/ 97154 w 1012190"/>
              <a:gd name="T39" fmla="*/ 70252 h 960120"/>
              <a:gd name="T40" fmla="*/ 92210 w 1012190"/>
              <a:gd name="T41" fmla="*/ 77689 h 960120"/>
              <a:gd name="T42" fmla="*/ 85958 w 1012190"/>
              <a:gd name="T43" fmla="*/ 84137 h 960120"/>
              <a:gd name="T44" fmla="*/ 78573 w 1012190"/>
              <a:gd name="T45" fmla="*/ 89434 h 960120"/>
              <a:gd name="T46" fmla="*/ 70226 w 1012190"/>
              <a:gd name="T47" fmla="*/ 93418 h 960120"/>
              <a:gd name="T48" fmla="*/ 61090 w 1012190"/>
              <a:gd name="T49" fmla="*/ 95929 h 960120"/>
              <a:gd name="T50" fmla="*/ 51335 w 1012190"/>
              <a:gd name="T51" fmla="*/ 96801 h 960120"/>
              <a:gd name="T52" fmla="*/ 41581 w 1012190"/>
              <a:gd name="T53" fmla="*/ 95929 h 960120"/>
              <a:gd name="T54" fmla="*/ 32445 w 1012190"/>
              <a:gd name="T55" fmla="*/ 93418 h 960120"/>
              <a:gd name="T56" fmla="*/ 24098 w 1012190"/>
              <a:gd name="T57" fmla="*/ 89434 h 960120"/>
              <a:gd name="T58" fmla="*/ 16713 w 1012190"/>
              <a:gd name="T59" fmla="*/ 84137 h 960120"/>
              <a:gd name="T60" fmla="*/ 10462 w 1012190"/>
              <a:gd name="T61" fmla="*/ 77689 h 960120"/>
              <a:gd name="T62" fmla="*/ 5517 w 1012190"/>
              <a:gd name="T63" fmla="*/ 70252 h 960120"/>
              <a:gd name="T64" fmla="*/ 2051 w 1012190"/>
              <a:gd name="T65" fmla="*/ 61990 h 960120"/>
              <a:gd name="T66" fmla="*/ 235 w 1012190"/>
              <a:gd name="T67" fmla="*/ 53063 h 9601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12190" h="960120">
                <a:moveTo>
                  <a:pt x="0" y="480060"/>
                </a:moveTo>
                <a:lnTo>
                  <a:pt x="2316" y="433819"/>
                </a:lnTo>
                <a:lnTo>
                  <a:pt x="9124" y="388824"/>
                </a:lnTo>
                <a:lnTo>
                  <a:pt x="20212" y="345275"/>
                </a:lnTo>
                <a:lnTo>
                  <a:pt x="35367" y="303374"/>
                </a:lnTo>
                <a:lnTo>
                  <a:pt x="54377" y="263320"/>
                </a:lnTo>
                <a:lnTo>
                  <a:pt x="77030" y="225315"/>
                </a:lnTo>
                <a:lnTo>
                  <a:pt x="103114" y="189561"/>
                </a:lnTo>
                <a:lnTo>
                  <a:pt x="132417" y="156258"/>
                </a:lnTo>
                <a:lnTo>
                  <a:pt x="164726" y="125607"/>
                </a:lnTo>
                <a:lnTo>
                  <a:pt x="199829" y="97809"/>
                </a:lnTo>
                <a:lnTo>
                  <a:pt x="237514" y="73066"/>
                </a:lnTo>
                <a:lnTo>
                  <a:pt x="277569" y="51578"/>
                </a:lnTo>
                <a:lnTo>
                  <a:pt x="319782" y="33545"/>
                </a:lnTo>
                <a:lnTo>
                  <a:pt x="363941" y="19171"/>
                </a:lnTo>
                <a:lnTo>
                  <a:pt x="409832" y="8654"/>
                </a:lnTo>
                <a:lnTo>
                  <a:pt x="457245" y="2197"/>
                </a:lnTo>
                <a:lnTo>
                  <a:pt x="505967" y="0"/>
                </a:lnTo>
                <a:lnTo>
                  <a:pt x="554690" y="2197"/>
                </a:lnTo>
                <a:lnTo>
                  <a:pt x="602103" y="8654"/>
                </a:lnTo>
                <a:lnTo>
                  <a:pt x="647994" y="19171"/>
                </a:lnTo>
                <a:lnTo>
                  <a:pt x="692153" y="33545"/>
                </a:lnTo>
                <a:lnTo>
                  <a:pt x="734366" y="51578"/>
                </a:lnTo>
                <a:lnTo>
                  <a:pt x="774421" y="73066"/>
                </a:lnTo>
                <a:lnTo>
                  <a:pt x="812106" y="97809"/>
                </a:lnTo>
                <a:lnTo>
                  <a:pt x="847209" y="125607"/>
                </a:lnTo>
                <a:lnTo>
                  <a:pt x="879518" y="156258"/>
                </a:lnTo>
                <a:lnTo>
                  <a:pt x="908821" y="189561"/>
                </a:lnTo>
                <a:lnTo>
                  <a:pt x="934905" y="225315"/>
                </a:lnTo>
                <a:lnTo>
                  <a:pt x="957558" y="263320"/>
                </a:lnTo>
                <a:lnTo>
                  <a:pt x="976568" y="303374"/>
                </a:lnTo>
                <a:lnTo>
                  <a:pt x="991723" y="345275"/>
                </a:lnTo>
                <a:lnTo>
                  <a:pt x="1002811" y="388824"/>
                </a:lnTo>
                <a:lnTo>
                  <a:pt x="1009619" y="433819"/>
                </a:lnTo>
                <a:lnTo>
                  <a:pt x="1011935" y="480060"/>
                </a:lnTo>
                <a:lnTo>
                  <a:pt x="1009619" y="526300"/>
                </a:lnTo>
                <a:lnTo>
                  <a:pt x="1002811" y="571295"/>
                </a:lnTo>
                <a:lnTo>
                  <a:pt x="991723" y="614844"/>
                </a:lnTo>
                <a:lnTo>
                  <a:pt x="976568" y="656745"/>
                </a:lnTo>
                <a:lnTo>
                  <a:pt x="957558" y="696799"/>
                </a:lnTo>
                <a:lnTo>
                  <a:pt x="934905" y="734804"/>
                </a:lnTo>
                <a:lnTo>
                  <a:pt x="908821" y="770558"/>
                </a:lnTo>
                <a:lnTo>
                  <a:pt x="879518" y="803861"/>
                </a:lnTo>
                <a:lnTo>
                  <a:pt x="847209" y="834512"/>
                </a:lnTo>
                <a:lnTo>
                  <a:pt x="812106" y="862310"/>
                </a:lnTo>
                <a:lnTo>
                  <a:pt x="774421" y="887053"/>
                </a:lnTo>
                <a:lnTo>
                  <a:pt x="734366" y="908541"/>
                </a:lnTo>
                <a:lnTo>
                  <a:pt x="692153" y="926574"/>
                </a:lnTo>
                <a:lnTo>
                  <a:pt x="647994" y="940948"/>
                </a:lnTo>
                <a:lnTo>
                  <a:pt x="602103" y="951465"/>
                </a:lnTo>
                <a:lnTo>
                  <a:pt x="554690" y="957922"/>
                </a:lnTo>
                <a:lnTo>
                  <a:pt x="505967" y="960120"/>
                </a:lnTo>
                <a:lnTo>
                  <a:pt x="457245" y="957922"/>
                </a:lnTo>
                <a:lnTo>
                  <a:pt x="409832" y="951465"/>
                </a:lnTo>
                <a:lnTo>
                  <a:pt x="363941" y="940948"/>
                </a:lnTo>
                <a:lnTo>
                  <a:pt x="319782" y="926574"/>
                </a:lnTo>
                <a:lnTo>
                  <a:pt x="277569" y="908541"/>
                </a:lnTo>
                <a:lnTo>
                  <a:pt x="237514" y="887053"/>
                </a:lnTo>
                <a:lnTo>
                  <a:pt x="199829" y="862310"/>
                </a:lnTo>
                <a:lnTo>
                  <a:pt x="164726" y="834512"/>
                </a:lnTo>
                <a:lnTo>
                  <a:pt x="132417" y="803861"/>
                </a:lnTo>
                <a:lnTo>
                  <a:pt x="103114" y="770558"/>
                </a:lnTo>
                <a:lnTo>
                  <a:pt x="77030" y="734804"/>
                </a:lnTo>
                <a:lnTo>
                  <a:pt x="54377" y="696799"/>
                </a:lnTo>
                <a:lnTo>
                  <a:pt x="35367" y="656745"/>
                </a:lnTo>
                <a:lnTo>
                  <a:pt x="20212" y="614844"/>
                </a:lnTo>
                <a:lnTo>
                  <a:pt x="9124" y="571295"/>
                </a:lnTo>
                <a:lnTo>
                  <a:pt x="2316" y="526300"/>
                </a:lnTo>
                <a:lnTo>
                  <a:pt x="0" y="480060"/>
                </a:lnTo>
                <a:close/>
              </a:path>
            </a:pathLst>
          </a:custGeom>
          <a:noFill/>
          <a:ln w="12192">
            <a:solidFill>
              <a:srgbClr val="8B383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198" name="object 28"/>
          <p:cNvSpPr/>
          <p:nvPr/>
        </p:nvSpPr>
        <p:spPr bwMode="auto">
          <a:xfrm>
            <a:off x="10482385" y="4745892"/>
            <a:ext cx="584199" cy="549031"/>
          </a:xfrm>
          <a:custGeom>
            <a:avLst/>
            <a:gdLst>
              <a:gd name="T0" fmla="*/ 55134 w 633095"/>
              <a:gd name="T1" fmla="*/ 59395 h 594995"/>
              <a:gd name="T2" fmla="*/ 57897 w 633095"/>
              <a:gd name="T3" fmla="*/ 55522 h 594995"/>
              <a:gd name="T4" fmla="*/ 60078 w 633095"/>
              <a:gd name="T5" fmla="*/ 51452 h 594995"/>
              <a:gd name="T6" fmla="*/ 61681 w 633095"/>
              <a:gd name="T7" fmla="*/ 47232 h 594995"/>
              <a:gd name="T8" fmla="*/ 62716 w 633095"/>
              <a:gd name="T9" fmla="*/ 42912 h 594995"/>
              <a:gd name="T10" fmla="*/ 63188 w 633095"/>
              <a:gd name="T11" fmla="*/ 38539 h 594995"/>
              <a:gd name="T12" fmla="*/ 63105 w 633095"/>
              <a:gd name="T13" fmla="*/ 34162 h 594995"/>
              <a:gd name="T14" fmla="*/ 62474 w 633095"/>
              <a:gd name="T15" fmla="*/ 29831 h 594995"/>
              <a:gd name="T16" fmla="*/ 61302 w 633095"/>
              <a:gd name="T17" fmla="*/ 25592 h 594995"/>
              <a:gd name="T18" fmla="*/ 59596 w 633095"/>
              <a:gd name="T19" fmla="*/ 21496 h 594995"/>
              <a:gd name="T20" fmla="*/ 57363 w 633095"/>
              <a:gd name="T21" fmla="*/ 17590 h 594995"/>
              <a:gd name="T22" fmla="*/ 54612 w 633095"/>
              <a:gd name="T23" fmla="*/ 13923 h 594995"/>
              <a:gd name="T24" fmla="*/ 51347 w 633095"/>
              <a:gd name="T25" fmla="*/ 10544 h 594995"/>
              <a:gd name="T26" fmla="*/ 47576 w 633095"/>
              <a:gd name="T27" fmla="*/ 7502 h 594995"/>
              <a:gd name="T28" fmla="*/ 43626 w 633095"/>
              <a:gd name="T29" fmla="*/ 5028 h 594995"/>
              <a:gd name="T30" fmla="*/ 39459 w 633095"/>
              <a:gd name="T31" fmla="*/ 3043 h 594995"/>
              <a:gd name="T32" fmla="*/ 35120 w 633095"/>
              <a:gd name="T33" fmla="*/ 1549 h 594995"/>
              <a:gd name="T34" fmla="*/ 30658 w 633095"/>
              <a:gd name="T35" fmla="*/ 542 h 594995"/>
              <a:gd name="T36" fmla="*/ 26122 w 633095"/>
              <a:gd name="T37" fmla="*/ 25 h 594995"/>
              <a:gd name="T38" fmla="*/ 21558 w 633095"/>
              <a:gd name="T39" fmla="*/ 0 h 594995"/>
              <a:gd name="T40" fmla="*/ 17015 w 633095"/>
              <a:gd name="T41" fmla="*/ 464 h 594995"/>
              <a:gd name="T42" fmla="*/ 12540 w 633095"/>
              <a:gd name="T43" fmla="*/ 1421 h 594995"/>
              <a:gd name="T44" fmla="*/ 8180 w 633095"/>
              <a:gd name="T45" fmla="*/ 2867 h 594995"/>
              <a:gd name="T46" fmla="*/ 3984 w 633095"/>
              <a:gd name="T47" fmla="*/ 4805 h 594995"/>
              <a:gd name="T48" fmla="*/ 0 w 633095"/>
              <a:gd name="T49" fmla="*/ 7235 h 594995"/>
              <a:gd name="T50" fmla="*/ 55134 w 633095"/>
              <a:gd name="T51" fmla="*/ 59395 h 59499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33095" h="594995">
                <a:moveTo>
                  <a:pt x="552195" y="594955"/>
                </a:moveTo>
                <a:lnTo>
                  <a:pt x="579876" y="556169"/>
                </a:lnTo>
                <a:lnTo>
                  <a:pt x="601712" y="515400"/>
                </a:lnTo>
                <a:lnTo>
                  <a:pt x="617775" y="473132"/>
                </a:lnTo>
                <a:lnTo>
                  <a:pt x="628135" y="429854"/>
                </a:lnTo>
                <a:lnTo>
                  <a:pt x="632864" y="386051"/>
                </a:lnTo>
                <a:lnTo>
                  <a:pt x="632033" y="342211"/>
                </a:lnTo>
                <a:lnTo>
                  <a:pt x="625713" y="298819"/>
                </a:lnTo>
                <a:lnTo>
                  <a:pt x="613974" y="256363"/>
                </a:lnTo>
                <a:lnTo>
                  <a:pt x="596890" y="215328"/>
                </a:lnTo>
                <a:lnTo>
                  <a:pt x="574529" y="176203"/>
                </a:lnTo>
                <a:lnTo>
                  <a:pt x="546964" y="139472"/>
                </a:lnTo>
                <a:lnTo>
                  <a:pt x="514265" y="105624"/>
                </a:lnTo>
                <a:lnTo>
                  <a:pt x="476503" y="75144"/>
                </a:lnTo>
                <a:lnTo>
                  <a:pt x="436943" y="50367"/>
                </a:lnTo>
                <a:lnTo>
                  <a:pt x="395198" y="30486"/>
                </a:lnTo>
                <a:lnTo>
                  <a:pt x="351744" y="15506"/>
                </a:lnTo>
                <a:lnTo>
                  <a:pt x="307061" y="5429"/>
                </a:lnTo>
                <a:lnTo>
                  <a:pt x="261625" y="259"/>
                </a:lnTo>
                <a:lnTo>
                  <a:pt x="215917" y="0"/>
                </a:lnTo>
                <a:lnTo>
                  <a:pt x="170412" y="4654"/>
                </a:lnTo>
                <a:lnTo>
                  <a:pt x="125590" y="14225"/>
                </a:lnTo>
                <a:lnTo>
                  <a:pt x="81929" y="28717"/>
                </a:lnTo>
                <a:lnTo>
                  <a:pt x="39906" y="48133"/>
                </a:lnTo>
                <a:lnTo>
                  <a:pt x="0" y="72477"/>
                </a:lnTo>
                <a:lnTo>
                  <a:pt x="552195" y="594955"/>
                </a:lnTo>
                <a:close/>
              </a:path>
            </a:pathLst>
          </a:custGeom>
          <a:noFill/>
          <a:ln w="12192">
            <a:solidFill>
              <a:srgbClr val="8B383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199" name="object 29"/>
          <p:cNvSpPr/>
          <p:nvPr/>
        </p:nvSpPr>
        <p:spPr bwMode="auto">
          <a:xfrm>
            <a:off x="10333893" y="4880708"/>
            <a:ext cx="584199" cy="549030"/>
          </a:xfrm>
          <a:custGeom>
            <a:avLst/>
            <a:gdLst>
              <a:gd name="T0" fmla="*/ 8054 w 633095"/>
              <a:gd name="T1" fmla="*/ 0 h 594995"/>
              <a:gd name="T2" fmla="*/ 5291 w 633095"/>
              <a:gd name="T3" fmla="*/ 3872 h 594995"/>
              <a:gd name="T4" fmla="*/ 3110 w 633095"/>
              <a:gd name="T5" fmla="*/ 7942 h 594995"/>
              <a:gd name="T6" fmla="*/ 1506 w 633095"/>
              <a:gd name="T7" fmla="*/ 12161 h 594995"/>
              <a:gd name="T8" fmla="*/ 472 w 633095"/>
              <a:gd name="T9" fmla="*/ 16481 h 594995"/>
              <a:gd name="T10" fmla="*/ 0 w 633095"/>
              <a:gd name="T11" fmla="*/ 20855 h 594995"/>
              <a:gd name="T12" fmla="*/ 82 w 633095"/>
              <a:gd name="T13" fmla="*/ 25230 h 594995"/>
              <a:gd name="T14" fmla="*/ 714 w 633095"/>
              <a:gd name="T15" fmla="*/ 29563 h 594995"/>
              <a:gd name="T16" fmla="*/ 1886 w 633095"/>
              <a:gd name="T17" fmla="*/ 33801 h 594995"/>
              <a:gd name="T18" fmla="*/ 3591 w 633095"/>
              <a:gd name="T19" fmla="*/ 37897 h 594995"/>
              <a:gd name="T20" fmla="*/ 5825 w 633095"/>
              <a:gd name="T21" fmla="*/ 41804 h 594995"/>
              <a:gd name="T22" fmla="*/ 8576 w 633095"/>
              <a:gd name="T23" fmla="*/ 45469 h 594995"/>
              <a:gd name="T24" fmla="*/ 11842 w 633095"/>
              <a:gd name="T25" fmla="*/ 48849 h 594995"/>
              <a:gd name="T26" fmla="*/ 15612 w 633095"/>
              <a:gd name="T27" fmla="*/ 51892 h 594995"/>
              <a:gd name="T28" fmla="*/ 19562 w 633095"/>
              <a:gd name="T29" fmla="*/ 54365 h 594995"/>
              <a:gd name="T30" fmla="*/ 23730 w 633095"/>
              <a:gd name="T31" fmla="*/ 56349 h 594995"/>
              <a:gd name="T32" fmla="*/ 28068 w 633095"/>
              <a:gd name="T33" fmla="*/ 57844 h 594995"/>
              <a:gd name="T34" fmla="*/ 32529 w 633095"/>
              <a:gd name="T35" fmla="*/ 58851 h 594995"/>
              <a:gd name="T36" fmla="*/ 37066 w 633095"/>
              <a:gd name="T37" fmla="*/ 59367 h 594995"/>
              <a:gd name="T38" fmla="*/ 41630 w 633095"/>
              <a:gd name="T39" fmla="*/ 59393 h 594995"/>
              <a:gd name="T40" fmla="*/ 46173 w 633095"/>
              <a:gd name="T41" fmla="*/ 58929 h 594995"/>
              <a:gd name="T42" fmla="*/ 50649 w 633095"/>
              <a:gd name="T43" fmla="*/ 57972 h 594995"/>
              <a:gd name="T44" fmla="*/ 55008 w 633095"/>
              <a:gd name="T45" fmla="*/ 56526 h 594995"/>
              <a:gd name="T46" fmla="*/ 59204 w 633095"/>
              <a:gd name="T47" fmla="*/ 54588 h 594995"/>
              <a:gd name="T48" fmla="*/ 63188 w 633095"/>
              <a:gd name="T49" fmla="*/ 52157 h 594995"/>
              <a:gd name="T50" fmla="*/ 8054 w 633095"/>
              <a:gd name="T51" fmla="*/ 0 h 59499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33095" h="594995">
                <a:moveTo>
                  <a:pt x="80668" y="0"/>
                </a:moveTo>
                <a:lnTo>
                  <a:pt x="52987" y="38785"/>
                </a:lnTo>
                <a:lnTo>
                  <a:pt x="31151" y="79555"/>
                </a:lnTo>
                <a:lnTo>
                  <a:pt x="15089" y="121822"/>
                </a:lnTo>
                <a:lnTo>
                  <a:pt x="4729" y="165100"/>
                </a:lnTo>
                <a:lnTo>
                  <a:pt x="0" y="208903"/>
                </a:lnTo>
                <a:lnTo>
                  <a:pt x="831" y="252743"/>
                </a:lnTo>
                <a:lnTo>
                  <a:pt x="7151" y="296135"/>
                </a:lnTo>
                <a:lnTo>
                  <a:pt x="18889" y="338592"/>
                </a:lnTo>
                <a:lnTo>
                  <a:pt x="35974" y="379626"/>
                </a:lnTo>
                <a:lnTo>
                  <a:pt x="58335" y="418752"/>
                </a:lnTo>
                <a:lnTo>
                  <a:pt x="85900" y="455482"/>
                </a:lnTo>
                <a:lnTo>
                  <a:pt x="118599" y="489330"/>
                </a:lnTo>
                <a:lnTo>
                  <a:pt x="156360" y="519811"/>
                </a:lnTo>
                <a:lnTo>
                  <a:pt x="195920" y="544588"/>
                </a:lnTo>
                <a:lnTo>
                  <a:pt x="237666" y="564468"/>
                </a:lnTo>
                <a:lnTo>
                  <a:pt x="281120" y="579448"/>
                </a:lnTo>
                <a:lnTo>
                  <a:pt x="325803" y="589525"/>
                </a:lnTo>
                <a:lnTo>
                  <a:pt x="371238" y="594695"/>
                </a:lnTo>
                <a:lnTo>
                  <a:pt x="416947" y="594955"/>
                </a:lnTo>
                <a:lnTo>
                  <a:pt x="462451" y="590301"/>
                </a:lnTo>
                <a:lnTo>
                  <a:pt x="507273" y="580729"/>
                </a:lnTo>
                <a:lnTo>
                  <a:pt x="550935" y="566237"/>
                </a:lnTo>
                <a:lnTo>
                  <a:pt x="592957" y="546821"/>
                </a:lnTo>
                <a:lnTo>
                  <a:pt x="632864" y="522478"/>
                </a:lnTo>
                <a:lnTo>
                  <a:pt x="80668" y="0"/>
                </a:lnTo>
                <a:close/>
              </a:path>
            </a:pathLst>
          </a:custGeom>
          <a:noFill/>
          <a:ln w="12192">
            <a:solidFill>
              <a:srgbClr val="8B383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200" name="object 30"/>
          <p:cNvSpPr>
            <a:spLocks noChangeArrowheads="1"/>
          </p:cNvSpPr>
          <p:nvPr/>
        </p:nvSpPr>
        <p:spPr bwMode="auto">
          <a:xfrm>
            <a:off x="373185" y="3667369"/>
            <a:ext cx="2577122" cy="1926492"/>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zh-CN" sz="2215">
              <a:latin typeface="Arial" panose="020B0604020202020204" pitchFamily="34" charset="0"/>
              <a:ea typeface="宋体" panose="02010600030101010101" pitchFamily="2" charset="-122"/>
            </a:endParaRPr>
          </a:p>
        </p:txBody>
      </p:sp>
      <p:sp>
        <p:nvSpPr>
          <p:cNvPr id="178201" name="object 31"/>
          <p:cNvSpPr/>
          <p:nvPr/>
        </p:nvSpPr>
        <p:spPr bwMode="auto">
          <a:xfrm>
            <a:off x="537308" y="4659923"/>
            <a:ext cx="933938" cy="887046"/>
          </a:xfrm>
          <a:custGeom>
            <a:avLst/>
            <a:gdLst>
              <a:gd name="T0" fmla="*/ 41242 w 1010919"/>
              <a:gd name="T1" fmla="*/ 860 h 962025"/>
              <a:gd name="T2" fmla="*/ 27932 w 1010919"/>
              <a:gd name="T3" fmla="*/ 5127 h 962025"/>
              <a:gd name="T4" fmla="*/ 16575 w 1010919"/>
              <a:gd name="T5" fmla="*/ 12486 h 962025"/>
              <a:gd name="T6" fmla="*/ 7751 w 1010919"/>
              <a:gd name="T7" fmla="*/ 22396 h 962025"/>
              <a:gd name="T8" fmla="*/ 2034 w 1010919"/>
              <a:gd name="T9" fmla="*/ 34319 h 962025"/>
              <a:gd name="T10" fmla="*/ 0 w 1010919"/>
              <a:gd name="T11" fmla="*/ 47715 h 962025"/>
              <a:gd name="T12" fmla="*/ 2034 w 1010919"/>
              <a:gd name="T13" fmla="*/ 61109 h 962025"/>
              <a:gd name="T14" fmla="*/ 7751 w 1010919"/>
              <a:gd name="T15" fmla="*/ 73032 h 962025"/>
              <a:gd name="T16" fmla="*/ 16575 w 1010919"/>
              <a:gd name="T17" fmla="*/ 82943 h 962025"/>
              <a:gd name="T18" fmla="*/ 27932 w 1010919"/>
              <a:gd name="T19" fmla="*/ 90303 h 962025"/>
              <a:gd name="T20" fmla="*/ 41242 w 1010919"/>
              <a:gd name="T21" fmla="*/ 94568 h 962025"/>
              <a:gd name="T22" fmla="*/ 55821 w 1010919"/>
              <a:gd name="T23" fmla="*/ 95210 h 962025"/>
              <a:gd name="T24" fmla="*/ 69656 w 1010919"/>
              <a:gd name="T25" fmla="*/ 92095 h 962025"/>
              <a:gd name="T26" fmla="*/ 81728 w 1010919"/>
              <a:gd name="T27" fmla="*/ 85706 h 962025"/>
              <a:gd name="T28" fmla="*/ 48390 w 1010919"/>
              <a:gd name="T29" fmla="*/ 84505 h 962025"/>
              <a:gd name="T30" fmla="*/ 34962 w 1010919"/>
              <a:gd name="T31" fmla="*/ 81509 h 962025"/>
              <a:gd name="T32" fmla="*/ 22989 w 1010919"/>
              <a:gd name="T33" fmla="*/ 74051 h 962025"/>
              <a:gd name="T34" fmla="*/ 14676 w 1010919"/>
              <a:gd name="T35" fmla="*/ 63150 h 962025"/>
              <a:gd name="T36" fmla="*/ 11136 w 1010919"/>
              <a:gd name="T37" fmla="*/ 50540 h 962025"/>
              <a:gd name="T38" fmla="*/ 12560 w 1010919"/>
              <a:gd name="T39" fmla="*/ 37528 h 962025"/>
              <a:gd name="T40" fmla="*/ 19142 w 1010919"/>
              <a:gd name="T41" fmla="*/ 25420 h 962025"/>
              <a:gd name="T42" fmla="*/ 31164 w 1010919"/>
              <a:gd name="T43" fmla="*/ 15682 h 962025"/>
              <a:gd name="T44" fmla="*/ 44278 w 1010919"/>
              <a:gd name="T45" fmla="*/ 11363 h 962025"/>
              <a:gd name="T46" fmla="*/ 81728 w 1010919"/>
              <a:gd name="T47" fmla="*/ 9723 h 962025"/>
              <a:gd name="T48" fmla="*/ 69656 w 1010919"/>
              <a:gd name="T49" fmla="*/ 3335 h 962025"/>
              <a:gd name="T50" fmla="*/ 55821 w 1010919"/>
              <a:gd name="T51" fmla="*/ 218 h 962025"/>
              <a:gd name="T52" fmla="*/ 19142 w 1010919"/>
              <a:gd name="T53" fmla="*/ 25420 h 962025"/>
              <a:gd name="T54" fmla="*/ 66449 w 1010919"/>
              <a:gd name="T55" fmla="*/ 81674 h 962025"/>
              <a:gd name="T56" fmla="*/ 52985 w 1010919"/>
              <a:gd name="T57" fmla="*/ 84529 h 962025"/>
              <a:gd name="T58" fmla="*/ 91460 w 1010919"/>
              <a:gd name="T59" fmla="*/ 76586 h 962025"/>
              <a:gd name="T60" fmla="*/ 82693 w 1010919"/>
              <a:gd name="T61" fmla="*/ 70009 h 962025"/>
              <a:gd name="T62" fmla="*/ 48851 w 1010919"/>
              <a:gd name="T63" fmla="*/ 10900 h 962025"/>
              <a:gd name="T64" fmla="*/ 62505 w 1010919"/>
              <a:gd name="T65" fmla="*/ 12433 h 962025"/>
              <a:gd name="T66" fmla="*/ 75049 w 1010919"/>
              <a:gd name="T67" fmla="*/ 18350 h 962025"/>
              <a:gd name="T68" fmla="*/ 84909 w 1010919"/>
              <a:gd name="T69" fmla="*/ 28391 h 962025"/>
              <a:gd name="T70" fmla="*/ 90062 w 1010919"/>
              <a:gd name="T71" fmla="*/ 40576 h 962025"/>
              <a:gd name="T72" fmla="*/ 90316 w 1010919"/>
              <a:gd name="T73" fmla="*/ 53599 h 962025"/>
              <a:gd name="T74" fmla="*/ 85474 w 1010919"/>
              <a:gd name="T75" fmla="*/ 66154 h 962025"/>
              <a:gd name="T76" fmla="*/ 98277 w 1010919"/>
              <a:gd name="T77" fmla="*/ 65274 h 962025"/>
              <a:gd name="T78" fmla="*/ 101602 w 1010919"/>
              <a:gd name="T79" fmla="*/ 52310 h 962025"/>
              <a:gd name="T80" fmla="*/ 100918 w 1010919"/>
              <a:gd name="T81" fmla="*/ 38647 h 962025"/>
              <a:gd name="T82" fmla="*/ 96364 w 1010919"/>
              <a:gd name="T83" fmla="*/ 26174 h 962025"/>
              <a:gd name="T84" fmla="*/ 88511 w 1010919"/>
              <a:gd name="T85" fmla="*/ 15533 h 9620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10919" h="962025">
                <a:moveTo>
                  <a:pt x="505206" y="0"/>
                </a:moveTo>
                <a:lnTo>
                  <a:pt x="456551" y="2201"/>
                </a:lnTo>
                <a:lnTo>
                  <a:pt x="409204" y="8669"/>
                </a:lnTo>
                <a:lnTo>
                  <a:pt x="363378" y="19204"/>
                </a:lnTo>
                <a:lnTo>
                  <a:pt x="319284" y="33604"/>
                </a:lnTo>
                <a:lnTo>
                  <a:pt x="277134" y="51667"/>
                </a:lnTo>
                <a:lnTo>
                  <a:pt x="237139" y="73192"/>
                </a:lnTo>
                <a:lnTo>
                  <a:pt x="199511" y="97977"/>
                </a:lnTo>
                <a:lnTo>
                  <a:pt x="164462" y="125821"/>
                </a:lnTo>
                <a:lnTo>
                  <a:pt x="132203" y="156522"/>
                </a:lnTo>
                <a:lnTo>
                  <a:pt x="102947" y="189879"/>
                </a:lnTo>
                <a:lnTo>
                  <a:pt x="76905" y="225691"/>
                </a:lnTo>
                <a:lnTo>
                  <a:pt x="54288" y="263755"/>
                </a:lnTo>
                <a:lnTo>
                  <a:pt x="35309" y="303872"/>
                </a:lnTo>
                <a:lnTo>
                  <a:pt x="20178" y="345838"/>
                </a:lnTo>
                <a:lnTo>
                  <a:pt x="9109" y="389452"/>
                </a:lnTo>
                <a:lnTo>
                  <a:pt x="2312" y="434514"/>
                </a:lnTo>
                <a:lnTo>
                  <a:pt x="0" y="480821"/>
                </a:lnTo>
                <a:lnTo>
                  <a:pt x="2312" y="527129"/>
                </a:lnTo>
                <a:lnTo>
                  <a:pt x="9109" y="572191"/>
                </a:lnTo>
                <a:lnTo>
                  <a:pt x="20178" y="615805"/>
                </a:lnTo>
                <a:lnTo>
                  <a:pt x="35309" y="657771"/>
                </a:lnTo>
                <a:lnTo>
                  <a:pt x="54288" y="697888"/>
                </a:lnTo>
                <a:lnTo>
                  <a:pt x="76905" y="735952"/>
                </a:lnTo>
                <a:lnTo>
                  <a:pt x="102947" y="771764"/>
                </a:lnTo>
                <a:lnTo>
                  <a:pt x="132203" y="805121"/>
                </a:lnTo>
                <a:lnTo>
                  <a:pt x="164462" y="835822"/>
                </a:lnTo>
                <a:lnTo>
                  <a:pt x="199511" y="863666"/>
                </a:lnTo>
                <a:lnTo>
                  <a:pt x="237139" y="888451"/>
                </a:lnTo>
                <a:lnTo>
                  <a:pt x="277134" y="909976"/>
                </a:lnTo>
                <a:lnTo>
                  <a:pt x="319284" y="928039"/>
                </a:lnTo>
                <a:lnTo>
                  <a:pt x="363378" y="942439"/>
                </a:lnTo>
                <a:lnTo>
                  <a:pt x="409204" y="952974"/>
                </a:lnTo>
                <a:lnTo>
                  <a:pt x="456551" y="959442"/>
                </a:lnTo>
                <a:lnTo>
                  <a:pt x="505206" y="961643"/>
                </a:lnTo>
                <a:lnTo>
                  <a:pt x="553860" y="959442"/>
                </a:lnTo>
                <a:lnTo>
                  <a:pt x="601207" y="952974"/>
                </a:lnTo>
                <a:lnTo>
                  <a:pt x="647033" y="942439"/>
                </a:lnTo>
                <a:lnTo>
                  <a:pt x="691127" y="928039"/>
                </a:lnTo>
                <a:lnTo>
                  <a:pt x="733277" y="909976"/>
                </a:lnTo>
                <a:lnTo>
                  <a:pt x="773272" y="888451"/>
                </a:lnTo>
                <a:lnTo>
                  <a:pt x="810900" y="863666"/>
                </a:lnTo>
                <a:lnTo>
                  <a:pt x="825833" y="851804"/>
                </a:lnTo>
                <a:lnTo>
                  <a:pt x="525710" y="851804"/>
                </a:lnTo>
                <a:lnTo>
                  <a:pt x="480127" y="851561"/>
                </a:lnTo>
                <a:lnTo>
                  <a:pt x="434812" y="846408"/>
                </a:lnTo>
                <a:lnTo>
                  <a:pt x="390243" y="836346"/>
                </a:lnTo>
                <a:lnTo>
                  <a:pt x="346896" y="821378"/>
                </a:lnTo>
                <a:lnTo>
                  <a:pt x="305247" y="801506"/>
                </a:lnTo>
                <a:lnTo>
                  <a:pt x="265772" y="776731"/>
                </a:lnTo>
                <a:lnTo>
                  <a:pt x="228091" y="746218"/>
                </a:lnTo>
                <a:lnTo>
                  <a:pt x="195458" y="712328"/>
                </a:lnTo>
                <a:lnTo>
                  <a:pt x="167942" y="675549"/>
                </a:lnTo>
                <a:lnTo>
                  <a:pt x="145615" y="636369"/>
                </a:lnTo>
                <a:lnTo>
                  <a:pt x="128549" y="595275"/>
                </a:lnTo>
                <a:lnTo>
                  <a:pt x="116815" y="552756"/>
                </a:lnTo>
                <a:lnTo>
                  <a:pt x="110483" y="509298"/>
                </a:lnTo>
                <a:lnTo>
                  <a:pt x="109625" y="465390"/>
                </a:lnTo>
                <a:lnTo>
                  <a:pt x="114311" y="421519"/>
                </a:lnTo>
                <a:lnTo>
                  <a:pt x="124614" y="378172"/>
                </a:lnTo>
                <a:lnTo>
                  <a:pt x="140603" y="335838"/>
                </a:lnTo>
                <a:lnTo>
                  <a:pt x="162351" y="295005"/>
                </a:lnTo>
                <a:lnTo>
                  <a:pt x="189928" y="256158"/>
                </a:lnTo>
                <a:lnTo>
                  <a:pt x="347158" y="256158"/>
                </a:lnTo>
                <a:lnTo>
                  <a:pt x="269430" y="182371"/>
                </a:lnTo>
                <a:lnTo>
                  <a:pt x="309210" y="158025"/>
                </a:lnTo>
                <a:lnTo>
                  <a:pt x="351103" y="138601"/>
                </a:lnTo>
                <a:lnTo>
                  <a:pt x="394634" y="124097"/>
                </a:lnTo>
                <a:lnTo>
                  <a:pt x="439325" y="114510"/>
                </a:lnTo>
                <a:lnTo>
                  <a:pt x="484701" y="109839"/>
                </a:lnTo>
                <a:lnTo>
                  <a:pt x="825833" y="109839"/>
                </a:lnTo>
                <a:lnTo>
                  <a:pt x="810900" y="97977"/>
                </a:lnTo>
                <a:lnTo>
                  <a:pt x="773272" y="73192"/>
                </a:lnTo>
                <a:lnTo>
                  <a:pt x="733277" y="51667"/>
                </a:lnTo>
                <a:lnTo>
                  <a:pt x="691127" y="33604"/>
                </a:lnTo>
                <a:lnTo>
                  <a:pt x="647033" y="19204"/>
                </a:lnTo>
                <a:lnTo>
                  <a:pt x="601207" y="8669"/>
                </a:lnTo>
                <a:lnTo>
                  <a:pt x="553860" y="2201"/>
                </a:lnTo>
                <a:lnTo>
                  <a:pt x="505206" y="0"/>
                </a:lnTo>
                <a:close/>
              </a:path>
              <a:path w="1010919" h="962025">
                <a:moveTo>
                  <a:pt x="347158" y="256158"/>
                </a:moveTo>
                <a:lnTo>
                  <a:pt x="189928" y="256158"/>
                </a:lnTo>
                <a:lnTo>
                  <a:pt x="740981" y="779271"/>
                </a:lnTo>
                <a:lnTo>
                  <a:pt x="701201" y="803618"/>
                </a:lnTo>
                <a:lnTo>
                  <a:pt x="659308" y="823042"/>
                </a:lnTo>
                <a:lnTo>
                  <a:pt x="615777" y="837546"/>
                </a:lnTo>
                <a:lnTo>
                  <a:pt x="571086" y="847133"/>
                </a:lnTo>
                <a:lnTo>
                  <a:pt x="525710" y="851804"/>
                </a:lnTo>
                <a:lnTo>
                  <a:pt x="825833" y="851804"/>
                </a:lnTo>
                <a:lnTo>
                  <a:pt x="878208" y="805121"/>
                </a:lnTo>
                <a:lnTo>
                  <a:pt x="907464" y="771764"/>
                </a:lnTo>
                <a:lnTo>
                  <a:pt x="933506" y="735952"/>
                </a:lnTo>
                <a:lnTo>
                  <a:pt x="951609" y="705484"/>
                </a:lnTo>
                <a:lnTo>
                  <a:pt x="820483" y="705484"/>
                </a:lnTo>
                <a:lnTo>
                  <a:pt x="347158" y="256158"/>
                </a:lnTo>
                <a:close/>
              </a:path>
              <a:path w="1010919" h="962025">
                <a:moveTo>
                  <a:pt x="825833" y="109839"/>
                </a:moveTo>
                <a:lnTo>
                  <a:pt x="484701" y="109839"/>
                </a:lnTo>
                <a:lnTo>
                  <a:pt x="530284" y="110082"/>
                </a:lnTo>
                <a:lnTo>
                  <a:pt x="575599" y="115235"/>
                </a:lnTo>
                <a:lnTo>
                  <a:pt x="620168" y="125297"/>
                </a:lnTo>
                <a:lnTo>
                  <a:pt x="663515" y="140265"/>
                </a:lnTo>
                <a:lnTo>
                  <a:pt x="705164" y="160137"/>
                </a:lnTo>
                <a:lnTo>
                  <a:pt x="744639" y="184911"/>
                </a:lnTo>
                <a:lnTo>
                  <a:pt x="782313" y="215425"/>
                </a:lnTo>
                <a:lnTo>
                  <a:pt x="814943" y="249315"/>
                </a:lnTo>
                <a:lnTo>
                  <a:pt x="842458" y="286094"/>
                </a:lnTo>
                <a:lnTo>
                  <a:pt x="864786" y="325274"/>
                </a:lnTo>
                <a:lnTo>
                  <a:pt x="881855" y="366368"/>
                </a:lnTo>
                <a:lnTo>
                  <a:pt x="893594" y="408887"/>
                </a:lnTo>
                <a:lnTo>
                  <a:pt x="899930" y="452345"/>
                </a:lnTo>
                <a:lnTo>
                  <a:pt x="900792" y="496253"/>
                </a:lnTo>
                <a:lnTo>
                  <a:pt x="896109" y="540124"/>
                </a:lnTo>
                <a:lnTo>
                  <a:pt x="885808" y="583471"/>
                </a:lnTo>
                <a:lnTo>
                  <a:pt x="869818" y="625805"/>
                </a:lnTo>
                <a:lnTo>
                  <a:pt x="848067" y="666638"/>
                </a:lnTo>
                <a:lnTo>
                  <a:pt x="820483" y="705484"/>
                </a:lnTo>
                <a:lnTo>
                  <a:pt x="951609" y="705484"/>
                </a:lnTo>
                <a:lnTo>
                  <a:pt x="975102" y="657771"/>
                </a:lnTo>
                <a:lnTo>
                  <a:pt x="990233" y="615805"/>
                </a:lnTo>
                <a:lnTo>
                  <a:pt x="1001302" y="572191"/>
                </a:lnTo>
                <a:lnTo>
                  <a:pt x="1008099" y="527129"/>
                </a:lnTo>
                <a:lnTo>
                  <a:pt x="1010412" y="480821"/>
                </a:lnTo>
                <a:lnTo>
                  <a:pt x="1008099" y="434514"/>
                </a:lnTo>
                <a:lnTo>
                  <a:pt x="1001302" y="389452"/>
                </a:lnTo>
                <a:lnTo>
                  <a:pt x="990233" y="345838"/>
                </a:lnTo>
                <a:lnTo>
                  <a:pt x="975102" y="303872"/>
                </a:lnTo>
                <a:lnTo>
                  <a:pt x="956123" y="263755"/>
                </a:lnTo>
                <a:lnTo>
                  <a:pt x="933506" y="225691"/>
                </a:lnTo>
                <a:lnTo>
                  <a:pt x="907464" y="189879"/>
                </a:lnTo>
                <a:lnTo>
                  <a:pt x="878208" y="156522"/>
                </a:lnTo>
                <a:lnTo>
                  <a:pt x="845949" y="125821"/>
                </a:lnTo>
                <a:lnTo>
                  <a:pt x="825833" y="109839"/>
                </a:lnTo>
                <a:close/>
              </a:path>
            </a:pathLst>
          </a:custGeom>
          <a:solidFill>
            <a:srgbClr val="C0504D"/>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8202" name="object 32"/>
          <p:cNvSpPr/>
          <p:nvPr/>
        </p:nvSpPr>
        <p:spPr bwMode="auto">
          <a:xfrm>
            <a:off x="537308" y="4659923"/>
            <a:ext cx="933938" cy="887046"/>
          </a:xfrm>
          <a:custGeom>
            <a:avLst/>
            <a:gdLst>
              <a:gd name="T0" fmla="*/ 233 w 1010919"/>
              <a:gd name="T1" fmla="*/ 43120 h 962025"/>
              <a:gd name="T2" fmla="*/ 2034 w 1010919"/>
              <a:gd name="T3" fmla="*/ 34319 h 962025"/>
              <a:gd name="T4" fmla="*/ 5471 w 1010919"/>
              <a:gd name="T5" fmla="*/ 26174 h 962025"/>
              <a:gd name="T6" fmla="*/ 10375 w 1010919"/>
              <a:gd name="T7" fmla="*/ 18842 h 962025"/>
              <a:gd name="T8" fmla="*/ 16575 w 1010919"/>
              <a:gd name="T9" fmla="*/ 12486 h 962025"/>
              <a:gd name="T10" fmla="*/ 23900 w 1010919"/>
              <a:gd name="T11" fmla="*/ 7263 h 962025"/>
              <a:gd name="T12" fmla="*/ 32179 w 1010919"/>
              <a:gd name="T13" fmla="*/ 3335 h 962025"/>
              <a:gd name="T14" fmla="*/ 41242 w 1010919"/>
              <a:gd name="T15" fmla="*/ 860 h 962025"/>
              <a:gd name="T16" fmla="*/ 50918 w 1010919"/>
              <a:gd name="T17" fmla="*/ 0 h 962025"/>
              <a:gd name="T18" fmla="*/ 60594 w 1010919"/>
              <a:gd name="T19" fmla="*/ 860 h 962025"/>
              <a:gd name="T20" fmla="*/ 69656 w 1010919"/>
              <a:gd name="T21" fmla="*/ 3335 h 962025"/>
              <a:gd name="T22" fmla="*/ 77935 w 1010919"/>
              <a:gd name="T23" fmla="*/ 7263 h 962025"/>
              <a:gd name="T24" fmla="*/ 85260 w 1010919"/>
              <a:gd name="T25" fmla="*/ 12486 h 962025"/>
              <a:gd name="T26" fmla="*/ 91460 w 1010919"/>
              <a:gd name="T27" fmla="*/ 18842 h 962025"/>
              <a:gd name="T28" fmla="*/ 96364 w 1010919"/>
              <a:gd name="T29" fmla="*/ 26174 h 962025"/>
              <a:gd name="T30" fmla="*/ 99802 w 1010919"/>
              <a:gd name="T31" fmla="*/ 34319 h 962025"/>
              <a:gd name="T32" fmla="*/ 101602 w 1010919"/>
              <a:gd name="T33" fmla="*/ 43120 h 962025"/>
              <a:gd name="T34" fmla="*/ 101602 w 1010919"/>
              <a:gd name="T35" fmla="*/ 52310 h 962025"/>
              <a:gd name="T36" fmla="*/ 99802 w 1010919"/>
              <a:gd name="T37" fmla="*/ 61109 h 962025"/>
              <a:gd name="T38" fmla="*/ 96364 w 1010919"/>
              <a:gd name="T39" fmla="*/ 69254 h 962025"/>
              <a:gd name="T40" fmla="*/ 91460 w 1010919"/>
              <a:gd name="T41" fmla="*/ 76586 h 962025"/>
              <a:gd name="T42" fmla="*/ 85260 w 1010919"/>
              <a:gd name="T43" fmla="*/ 82943 h 962025"/>
              <a:gd name="T44" fmla="*/ 77935 w 1010919"/>
              <a:gd name="T45" fmla="*/ 88166 h 962025"/>
              <a:gd name="T46" fmla="*/ 69656 w 1010919"/>
              <a:gd name="T47" fmla="*/ 92095 h 962025"/>
              <a:gd name="T48" fmla="*/ 60594 w 1010919"/>
              <a:gd name="T49" fmla="*/ 94568 h 962025"/>
              <a:gd name="T50" fmla="*/ 50918 w 1010919"/>
              <a:gd name="T51" fmla="*/ 95428 h 962025"/>
              <a:gd name="T52" fmla="*/ 41242 w 1010919"/>
              <a:gd name="T53" fmla="*/ 94568 h 962025"/>
              <a:gd name="T54" fmla="*/ 32179 w 1010919"/>
              <a:gd name="T55" fmla="*/ 92095 h 962025"/>
              <a:gd name="T56" fmla="*/ 23900 w 1010919"/>
              <a:gd name="T57" fmla="*/ 88166 h 962025"/>
              <a:gd name="T58" fmla="*/ 16575 w 1010919"/>
              <a:gd name="T59" fmla="*/ 82943 h 962025"/>
              <a:gd name="T60" fmla="*/ 10375 w 1010919"/>
              <a:gd name="T61" fmla="*/ 76586 h 962025"/>
              <a:gd name="T62" fmla="*/ 5471 w 1010919"/>
              <a:gd name="T63" fmla="*/ 69254 h 962025"/>
              <a:gd name="T64" fmla="*/ 2034 w 1010919"/>
              <a:gd name="T65" fmla="*/ 61109 h 962025"/>
              <a:gd name="T66" fmla="*/ 233 w 1010919"/>
              <a:gd name="T67" fmla="*/ 52310 h 9620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10919" h="962025">
                <a:moveTo>
                  <a:pt x="0" y="480821"/>
                </a:moveTo>
                <a:lnTo>
                  <a:pt x="2312" y="434514"/>
                </a:lnTo>
                <a:lnTo>
                  <a:pt x="9109" y="389452"/>
                </a:lnTo>
                <a:lnTo>
                  <a:pt x="20178" y="345838"/>
                </a:lnTo>
                <a:lnTo>
                  <a:pt x="35309" y="303872"/>
                </a:lnTo>
                <a:lnTo>
                  <a:pt x="54288" y="263755"/>
                </a:lnTo>
                <a:lnTo>
                  <a:pt x="76905" y="225691"/>
                </a:lnTo>
                <a:lnTo>
                  <a:pt x="102947" y="189879"/>
                </a:lnTo>
                <a:lnTo>
                  <a:pt x="132203" y="156522"/>
                </a:lnTo>
                <a:lnTo>
                  <a:pt x="164462" y="125821"/>
                </a:lnTo>
                <a:lnTo>
                  <a:pt x="199511" y="97977"/>
                </a:lnTo>
                <a:lnTo>
                  <a:pt x="237139" y="73192"/>
                </a:lnTo>
                <a:lnTo>
                  <a:pt x="277134" y="51667"/>
                </a:lnTo>
                <a:lnTo>
                  <a:pt x="319284" y="33604"/>
                </a:lnTo>
                <a:lnTo>
                  <a:pt x="363378" y="19204"/>
                </a:lnTo>
                <a:lnTo>
                  <a:pt x="409204" y="8669"/>
                </a:lnTo>
                <a:lnTo>
                  <a:pt x="456551" y="2201"/>
                </a:lnTo>
                <a:lnTo>
                  <a:pt x="505206" y="0"/>
                </a:lnTo>
                <a:lnTo>
                  <a:pt x="553860" y="2201"/>
                </a:lnTo>
                <a:lnTo>
                  <a:pt x="601207" y="8669"/>
                </a:lnTo>
                <a:lnTo>
                  <a:pt x="647033" y="19204"/>
                </a:lnTo>
                <a:lnTo>
                  <a:pt x="691127" y="33604"/>
                </a:lnTo>
                <a:lnTo>
                  <a:pt x="733277" y="51667"/>
                </a:lnTo>
                <a:lnTo>
                  <a:pt x="773272" y="73192"/>
                </a:lnTo>
                <a:lnTo>
                  <a:pt x="810900" y="97977"/>
                </a:lnTo>
                <a:lnTo>
                  <a:pt x="845949" y="125821"/>
                </a:lnTo>
                <a:lnTo>
                  <a:pt x="878208" y="156522"/>
                </a:lnTo>
                <a:lnTo>
                  <a:pt x="907464" y="189879"/>
                </a:lnTo>
                <a:lnTo>
                  <a:pt x="933506" y="225691"/>
                </a:lnTo>
                <a:lnTo>
                  <a:pt x="956123" y="263755"/>
                </a:lnTo>
                <a:lnTo>
                  <a:pt x="975102" y="303872"/>
                </a:lnTo>
                <a:lnTo>
                  <a:pt x="990233" y="345838"/>
                </a:lnTo>
                <a:lnTo>
                  <a:pt x="1001302" y="389452"/>
                </a:lnTo>
                <a:lnTo>
                  <a:pt x="1008099" y="434514"/>
                </a:lnTo>
                <a:lnTo>
                  <a:pt x="1010412" y="480821"/>
                </a:lnTo>
                <a:lnTo>
                  <a:pt x="1008099" y="527129"/>
                </a:lnTo>
                <a:lnTo>
                  <a:pt x="1001302" y="572191"/>
                </a:lnTo>
                <a:lnTo>
                  <a:pt x="990233" y="615805"/>
                </a:lnTo>
                <a:lnTo>
                  <a:pt x="975102" y="657771"/>
                </a:lnTo>
                <a:lnTo>
                  <a:pt x="956123" y="697888"/>
                </a:lnTo>
                <a:lnTo>
                  <a:pt x="933506" y="735952"/>
                </a:lnTo>
                <a:lnTo>
                  <a:pt x="907464" y="771764"/>
                </a:lnTo>
                <a:lnTo>
                  <a:pt x="878208" y="805121"/>
                </a:lnTo>
                <a:lnTo>
                  <a:pt x="845949" y="835822"/>
                </a:lnTo>
                <a:lnTo>
                  <a:pt x="810900" y="863666"/>
                </a:lnTo>
                <a:lnTo>
                  <a:pt x="773272" y="888451"/>
                </a:lnTo>
                <a:lnTo>
                  <a:pt x="733277" y="909976"/>
                </a:lnTo>
                <a:lnTo>
                  <a:pt x="691127" y="928039"/>
                </a:lnTo>
                <a:lnTo>
                  <a:pt x="647033" y="942439"/>
                </a:lnTo>
                <a:lnTo>
                  <a:pt x="601207" y="952974"/>
                </a:lnTo>
                <a:lnTo>
                  <a:pt x="553860" y="959442"/>
                </a:lnTo>
                <a:lnTo>
                  <a:pt x="505206" y="961643"/>
                </a:lnTo>
                <a:lnTo>
                  <a:pt x="456551" y="959442"/>
                </a:lnTo>
                <a:lnTo>
                  <a:pt x="409204" y="952974"/>
                </a:lnTo>
                <a:lnTo>
                  <a:pt x="363378" y="942439"/>
                </a:lnTo>
                <a:lnTo>
                  <a:pt x="319284" y="928039"/>
                </a:lnTo>
                <a:lnTo>
                  <a:pt x="277134" y="909976"/>
                </a:lnTo>
                <a:lnTo>
                  <a:pt x="237139" y="888451"/>
                </a:lnTo>
                <a:lnTo>
                  <a:pt x="199511" y="863666"/>
                </a:lnTo>
                <a:lnTo>
                  <a:pt x="164462" y="835822"/>
                </a:lnTo>
                <a:lnTo>
                  <a:pt x="132203" y="805121"/>
                </a:lnTo>
                <a:lnTo>
                  <a:pt x="102947" y="771764"/>
                </a:lnTo>
                <a:lnTo>
                  <a:pt x="76905" y="735952"/>
                </a:lnTo>
                <a:lnTo>
                  <a:pt x="54288" y="697888"/>
                </a:lnTo>
                <a:lnTo>
                  <a:pt x="35309" y="657771"/>
                </a:lnTo>
                <a:lnTo>
                  <a:pt x="20178" y="615805"/>
                </a:lnTo>
                <a:lnTo>
                  <a:pt x="9109" y="572191"/>
                </a:lnTo>
                <a:lnTo>
                  <a:pt x="2312" y="527129"/>
                </a:lnTo>
                <a:lnTo>
                  <a:pt x="0" y="480821"/>
                </a:lnTo>
                <a:close/>
              </a:path>
            </a:pathLst>
          </a:custGeom>
          <a:noFill/>
          <a:ln w="12192">
            <a:solidFill>
              <a:srgbClr val="8B383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203" name="object 33"/>
          <p:cNvSpPr/>
          <p:nvPr/>
        </p:nvSpPr>
        <p:spPr bwMode="auto">
          <a:xfrm>
            <a:off x="785446" y="4761523"/>
            <a:ext cx="584201" cy="549031"/>
          </a:xfrm>
          <a:custGeom>
            <a:avLst/>
            <a:gdLst>
              <a:gd name="T0" fmla="*/ 55912 w 631825"/>
              <a:gd name="T1" fmla="*/ 58457 h 596264"/>
              <a:gd name="T2" fmla="*/ 58710 w 631825"/>
              <a:gd name="T3" fmla="*/ 54646 h 596264"/>
              <a:gd name="T4" fmla="*/ 60917 w 631825"/>
              <a:gd name="T5" fmla="*/ 50638 h 596264"/>
              <a:gd name="T6" fmla="*/ 62540 w 631825"/>
              <a:gd name="T7" fmla="*/ 46483 h 596264"/>
              <a:gd name="T8" fmla="*/ 63585 w 631825"/>
              <a:gd name="T9" fmla="*/ 42229 h 596264"/>
              <a:gd name="T10" fmla="*/ 64060 w 631825"/>
              <a:gd name="T11" fmla="*/ 37923 h 596264"/>
              <a:gd name="T12" fmla="*/ 63973 w 631825"/>
              <a:gd name="T13" fmla="*/ 33615 h 596264"/>
              <a:gd name="T14" fmla="*/ 63329 w 631825"/>
              <a:gd name="T15" fmla="*/ 29349 h 596264"/>
              <a:gd name="T16" fmla="*/ 62139 w 631825"/>
              <a:gd name="T17" fmla="*/ 25176 h 596264"/>
              <a:gd name="T18" fmla="*/ 60407 w 631825"/>
              <a:gd name="T19" fmla="*/ 21143 h 596264"/>
              <a:gd name="T20" fmla="*/ 58141 w 631825"/>
              <a:gd name="T21" fmla="*/ 17298 h 596264"/>
              <a:gd name="T22" fmla="*/ 55350 w 631825"/>
              <a:gd name="T23" fmla="*/ 13688 h 596264"/>
              <a:gd name="T24" fmla="*/ 52039 w 631825"/>
              <a:gd name="T25" fmla="*/ 10362 h 596264"/>
              <a:gd name="T26" fmla="*/ 48216 w 631825"/>
              <a:gd name="T27" fmla="*/ 7368 h 596264"/>
              <a:gd name="T28" fmla="*/ 44211 w 631825"/>
              <a:gd name="T29" fmla="*/ 4936 h 596264"/>
              <a:gd name="T30" fmla="*/ 39985 w 631825"/>
              <a:gd name="T31" fmla="*/ 2986 h 596264"/>
              <a:gd name="T32" fmla="*/ 35588 w 631825"/>
              <a:gd name="T33" fmla="*/ 1516 h 596264"/>
              <a:gd name="T34" fmla="*/ 31065 w 631825"/>
              <a:gd name="T35" fmla="*/ 530 h 596264"/>
              <a:gd name="T36" fmla="*/ 26468 w 631825"/>
              <a:gd name="T37" fmla="*/ 24 h 596264"/>
              <a:gd name="T38" fmla="*/ 21842 w 631825"/>
              <a:gd name="T39" fmla="*/ 0 h 596264"/>
              <a:gd name="T40" fmla="*/ 17238 w 631825"/>
              <a:gd name="T41" fmla="*/ 459 h 596264"/>
              <a:gd name="T42" fmla="*/ 12703 w 631825"/>
              <a:gd name="T43" fmla="*/ 1399 h 596264"/>
              <a:gd name="T44" fmla="*/ 8287 w 631825"/>
              <a:gd name="T45" fmla="*/ 2823 h 596264"/>
              <a:gd name="T46" fmla="*/ 4036 w 631825"/>
              <a:gd name="T47" fmla="*/ 4729 h 596264"/>
              <a:gd name="T48" fmla="*/ 0 w 631825"/>
              <a:gd name="T49" fmla="*/ 7119 h 596264"/>
              <a:gd name="T50" fmla="*/ 55912 w 631825"/>
              <a:gd name="T51" fmla="*/ 58457 h 5962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31825" h="596264">
                <a:moveTo>
                  <a:pt x="551053" y="595645"/>
                </a:moveTo>
                <a:lnTo>
                  <a:pt x="578636" y="556799"/>
                </a:lnTo>
                <a:lnTo>
                  <a:pt x="600387" y="515965"/>
                </a:lnTo>
                <a:lnTo>
                  <a:pt x="616377" y="473631"/>
                </a:lnTo>
                <a:lnTo>
                  <a:pt x="626678" y="430285"/>
                </a:lnTo>
                <a:lnTo>
                  <a:pt x="631362" y="386413"/>
                </a:lnTo>
                <a:lnTo>
                  <a:pt x="630500" y="342505"/>
                </a:lnTo>
                <a:lnTo>
                  <a:pt x="624163" y="299048"/>
                </a:lnTo>
                <a:lnTo>
                  <a:pt x="612425" y="256528"/>
                </a:lnTo>
                <a:lnTo>
                  <a:pt x="595356" y="215435"/>
                </a:lnTo>
                <a:lnTo>
                  <a:pt x="573028" y="176254"/>
                </a:lnTo>
                <a:lnTo>
                  <a:pt x="545513" y="139476"/>
                </a:lnTo>
                <a:lnTo>
                  <a:pt x="512882" y="105585"/>
                </a:lnTo>
                <a:lnTo>
                  <a:pt x="475208" y="75072"/>
                </a:lnTo>
                <a:lnTo>
                  <a:pt x="435734" y="50298"/>
                </a:lnTo>
                <a:lnTo>
                  <a:pt x="394085" y="30425"/>
                </a:lnTo>
                <a:lnTo>
                  <a:pt x="350737" y="15457"/>
                </a:lnTo>
                <a:lnTo>
                  <a:pt x="306168" y="5395"/>
                </a:lnTo>
                <a:lnTo>
                  <a:pt x="260854" y="242"/>
                </a:lnTo>
                <a:lnTo>
                  <a:pt x="215270" y="0"/>
                </a:lnTo>
                <a:lnTo>
                  <a:pt x="169895" y="4670"/>
                </a:lnTo>
                <a:lnTo>
                  <a:pt x="125203" y="14257"/>
                </a:lnTo>
                <a:lnTo>
                  <a:pt x="81673" y="28761"/>
                </a:lnTo>
                <a:lnTo>
                  <a:pt x="39779" y="48185"/>
                </a:lnTo>
                <a:lnTo>
                  <a:pt x="0" y="72532"/>
                </a:lnTo>
                <a:lnTo>
                  <a:pt x="551053" y="595645"/>
                </a:lnTo>
                <a:close/>
              </a:path>
            </a:pathLst>
          </a:custGeom>
          <a:noFill/>
          <a:ln w="12192">
            <a:solidFill>
              <a:srgbClr val="8B383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204" name="object 34"/>
          <p:cNvSpPr/>
          <p:nvPr/>
        </p:nvSpPr>
        <p:spPr bwMode="auto">
          <a:xfrm>
            <a:off x="638908" y="4896339"/>
            <a:ext cx="582246" cy="550985"/>
          </a:xfrm>
          <a:custGeom>
            <a:avLst/>
            <a:gdLst>
              <a:gd name="T0" fmla="*/ 7933 w 631825"/>
              <a:gd name="T1" fmla="*/ 0 h 596264"/>
              <a:gd name="T2" fmla="*/ 5208 w 631825"/>
              <a:gd name="T3" fmla="*/ 3922 h 596264"/>
              <a:gd name="T4" fmla="*/ 3060 w 631825"/>
              <a:gd name="T5" fmla="*/ 8045 h 596264"/>
              <a:gd name="T6" fmla="*/ 1480 w 631825"/>
              <a:gd name="T7" fmla="*/ 12320 h 596264"/>
              <a:gd name="T8" fmla="*/ 463 w 631825"/>
              <a:gd name="T9" fmla="*/ 16696 h 596264"/>
              <a:gd name="T10" fmla="*/ 0 w 631825"/>
              <a:gd name="T11" fmla="*/ 21126 h 596264"/>
              <a:gd name="T12" fmla="*/ 85 w 631825"/>
              <a:gd name="T13" fmla="*/ 25559 h 596264"/>
              <a:gd name="T14" fmla="*/ 710 w 631825"/>
              <a:gd name="T15" fmla="*/ 29948 h 596264"/>
              <a:gd name="T16" fmla="*/ 1869 w 631825"/>
              <a:gd name="T17" fmla="*/ 34241 h 596264"/>
              <a:gd name="T18" fmla="*/ 3555 w 631825"/>
              <a:gd name="T19" fmla="*/ 38390 h 596264"/>
              <a:gd name="T20" fmla="*/ 5760 w 631825"/>
              <a:gd name="T21" fmla="*/ 42346 h 596264"/>
              <a:gd name="T22" fmla="*/ 8478 w 631825"/>
              <a:gd name="T23" fmla="*/ 46060 h 596264"/>
              <a:gd name="T24" fmla="*/ 11702 w 631825"/>
              <a:gd name="T25" fmla="*/ 49481 h 596264"/>
              <a:gd name="T26" fmla="*/ 15424 w 631825"/>
              <a:gd name="T27" fmla="*/ 52562 h 596264"/>
              <a:gd name="T28" fmla="*/ 19324 w 631825"/>
              <a:gd name="T29" fmla="*/ 55064 h 596264"/>
              <a:gd name="T30" fmla="*/ 23437 w 631825"/>
              <a:gd name="T31" fmla="*/ 57070 h 596264"/>
              <a:gd name="T32" fmla="*/ 27719 w 631825"/>
              <a:gd name="T33" fmla="*/ 58581 h 596264"/>
              <a:gd name="T34" fmla="*/ 32123 w 631825"/>
              <a:gd name="T35" fmla="*/ 59598 h 596264"/>
              <a:gd name="T36" fmla="*/ 36598 w 631825"/>
              <a:gd name="T37" fmla="*/ 60118 h 596264"/>
              <a:gd name="T38" fmla="*/ 41101 w 631825"/>
              <a:gd name="T39" fmla="*/ 60142 h 596264"/>
              <a:gd name="T40" fmla="*/ 45583 w 631825"/>
              <a:gd name="T41" fmla="*/ 59671 h 596264"/>
              <a:gd name="T42" fmla="*/ 49997 w 631825"/>
              <a:gd name="T43" fmla="*/ 58703 h 596264"/>
              <a:gd name="T44" fmla="*/ 54297 w 631825"/>
              <a:gd name="T45" fmla="*/ 57238 h 596264"/>
              <a:gd name="T46" fmla="*/ 58436 w 631825"/>
              <a:gd name="T47" fmla="*/ 55277 h 596264"/>
              <a:gd name="T48" fmla="*/ 62364 w 631825"/>
              <a:gd name="T49" fmla="*/ 52819 h 596264"/>
              <a:gd name="T50" fmla="*/ 7933 w 631825"/>
              <a:gd name="T51" fmla="*/ 0 h 5962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31825" h="596264">
                <a:moveTo>
                  <a:pt x="80303" y="0"/>
                </a:moveTo>
                <a:lnTo>
                  <a:pt x="52726" y="38846"/>
                </a:lnTo>
                <a:lnTo>
                  <a:pt x="30978" y="79679"/>
                </a:lnTo>
                <a:lnTo>
                  <a:pt x="14989" y="122013"/>
                </a:lnTo>
                <a:lnTo>
                  <a:pt x="4686" y="165360"/>
                </a:lnTo>
                <a:lnTo>
                  <a:pt x="0" y="209231"/>
                </a:lnTo>
                <a:lnTo>
                  <a:pt x="858" y="253139"/>
                </a:lnTo>
                <a:lnTo>
                  <a:pt x="7190" y="296597"/>
                </a:lnTo>
                <a:lnTo>
                  <a:pt x="18924" y="339116"/>
                </a:lnTo>
                <a:lnTo>
                  <a:pt x="35990" y="380210"/>
                </a:lnTo>
                <a:lnTo>
                  <a:pt x="58316" y="419390"/>
                </a:lnTo>
                <a:lnTo>
                  <a:pt x="85832" y="456169"/>
                </a:lnTo>
                <a:lnTo>
                  <a:pt x="118466" y="490059"/>
                </a:lnTo>
                <a:lnTo>
                  <a:pt x="156147" y="520573"/>
                </a:lnTo>
                <a:lnTo>
                  <a:pt x="195621" y="545347"/>
                </a:lnTo>
                <a:lnTo>
                  <a:pt x="237271" y="565219"/>
                </a:lnTo>
                <a:lnTo>
                  <a:pt x="280618" y="580187"/>
                </a:lnTo>
                <a:lnTo>
                  <a:pt x="325187" y="590249"/>
                </a:lnTo>
                <a:lnTo>
                  <a:pt x="370502" y="595402"/>
                </a:lnTo>
                <a:lnTo>
                  <a:pt x="416085" y="595645"/>
                </a:lnTo>
                <a:lnTo>
                  <a:pt x="461460" y="590974"/>
                </a:lnTo>
                <a:lnTo>
                  <a:pt x="506152" y="581387"/>
                </a:lnTo>
                <a:lnTo>
                  <a:pt x="549682" y="566883"/>
                </a:lnTo>
                <a:lnTo>
                  <a:pt x="591576" y="547459"/>
                </a:lnTo>
                <a:lnTo>
                  <a:pt x="631356" y="523113"/>
                </a:lnTo>
                <a:lnTo>
                  <a:pt x="80303" y="0"/>
                </a:lnTo>
                <a:close/>
              </a:path>
            </a:pathLst>
          </a:custGeom>
          <a:noFill/>
          <a:ln w="12192">
            <a:solidFill>
              <a:srgbClr val="8B3836"/>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100"/>
          </a:p>
        </p:txBody>
      </p:sp>
      <p:sp>
        <p:nvSpPr>
          <p:cNvPr id="178205" name="object 35"/>
          <p:cNvSpPr/>
          <p:nvPr/>
        </p:nvSpPr>
        <p:spPr bwMode="auto">
          <a:xfrm>
            <a:off x="164123" y="1600200"/>
            <a:ext cx="11781692" cy="1873739"/>
          </a:xfrm>
          <a:custGeom>
            <a:avLst/>
            <a:gdLst>
              <a:gd name="T0" fmla="*/ 0 w 12192000"/>
              <a:gd name="T1" fmla="*/ 203923 h 2028825"/>
              <a:gd name="T2" fmla="*/ 1760856 w 12192000"/>
              <a:gd name="T3" fmla="*/ 203923 h 2028825"/>
              <a:gd name="T4" fmla="*/ 1760856 w 12192000"/>
              <a:gd name="T5" fmla="*/ 0 h 2028825"/>
              <a:gd name="T6" fmla="*/ 0 w 12192000"/>
              <a:gd name="T7" fmla="*/ 0 h 2028825"/>
              <a:gd name="T8" fmla="*/ 0 w 12192000"/>
              <a:gd name="T9" fmla="*/ 203923 h 20288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92000" h="2028825">
                <a:moveTo>
                  <a:pt x="0" y="2028444"/>
                </a:moveTo>
                <a:lnTo>
                  <a:pt x="12192000" y="2028444"/>
                </a:lnTo>
                <a:lnTo>
                  <a:pt x="12192000" y="0"/>
                </a:lnTo>
                <a:lnTo>
                  <a:pt x="0" y="0"/>
                </a:lnTo>
                <a:lnTo>
                  <a:pt x="0" y="2028444"/>
                </a:lnTo>
                <a:close/>
              </a:path>
            </a:pathLst>
          </a:custGeom>
          <a:solidFill>
            <a:srgbClr val="F1F1F1">
              <a:alpha val="61176"/>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sz="100"/>
          </a:p>
        </p:txBody>
      </p:sp>
      <p:sp>
        <p:nvSpPr>
          <p:cNvPr id="178206" name="object 36"/>
          <p:cNvSpPr txBox="1">
            <a:spLocks noChangeArrowheads="1"/>
          </p:cNvSpPr>
          <p:nvPr/>
        </p:nvSpPr>
        <p:spPr bwMode="auto">
          <a:xfrm>
            <a:off x="296985" y="1766278"/>
            <a:ext cx="10974754" cy="1480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845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安全是“妥协的而不是互斥的”，既要在保障安全的前提下完成使命，更要在达到</a:t>
            </a:r>
            <a:endParaRPr lang="zh-CN" altLang="zh-CN" sz="2215">
              <a:latin typeface="微软雅黑" panose="020B0503020204020204" charset="-122"/>
              <a:ea typeface="微软雅黑" panose="020B0503020204020204" charset="-122"/>
            </a:endParaRPr>
          </a:p>
          <a:p>
            <a:pPr>
              <a:spcBef>
                <a:spcPct val="0"/>
              </a:spcBef>
              <a:buClrTx/>
              <a:buFontTx/>
              <a:buNone/>
            </a:pPr>
            <a:r>
              <a:rPr lang="zh-CN" altLang="zh-CN" sz="2215" b="1" i="1">
                <a:solidFill>
                  <a:srgbClr val="001F5F"/>
                </a:solidFill>
                <a:latin typeface="微软雅黑" panose="020B0503020204020204" charset="-122"/>
                <a:ea typeface="微软雅黑" panose="020B0503020204020204" charset="-122"/>
              </a:rPr>
              <a:t>使命的前提下力求安全。</a:t>
            </a:r>
            <a:endParaRPr lang="zh-CN" altLang="zh-CN" sz="2215">
              <a:latin typeface="微软雅黑" panose="020B0503020204020204" charset="-122"/>
              <a:ea typeface="微软雅黑" panose="020B0503020204020204" charset="-122"/>
            </a:endParaRPr>
          </a:p>
          <a:p>
            <a:pPr>
              <a:lnSpc>
                <a:spcPts val="1800"/>
              </a:lnSpc>
              <a:spcBef>
                <a:spcPts val="825"/>
              </a:spcBef>
              <a:buClrTx/>
              <a:buFontTx/>
              <a:buNone/>
            </a:pPr>
            <a:r>
              <a:rPr lang="zh-CN" altLang="zh-CN" sz="1845">
                <a:solidFill>
                  <a:srgbClr val="001F5F"/>
                </a:solidFill>
                <a:latin typeface="微软雅黑" panose="020B0503020204020204" charset="-122"/>
                <a:ea typeface="微软雅黑" panose="020B0503020204020204" charset="-122"/>
              </a:rPr>
              <a:t>Security should be </a:t>
            </a:r>
            <a:r>
              <a:rPr lang="zh-CN" altLang="zh-CN" sz="1845" b="1" i="1">
                <a:solidFill>
                  <a:srgbClr val="001F5F"/>
                </a:solidFill>
                <a:latin typeface="微软雅黑" panose="020B0503020204020204" charset="-122"/>
                <a:ea typeface="微软雅黑" panose="020B0503020204020204" charset="-122"/>
              </a:rPr>
              <a:t>compromised rather than exclusive. </a:t>
            </a:r>
            <a:r>
              <a:rPr lang="zh-CN" altLang="zh-CN" sz="1845">
                <a:solidFill>
                  <a:srgbClr val="001F5F"/>
                </a:solidFill>
                <a:latin typeface="微软雅黑" panose="020B0503020204020204" charset="-122"/>
                <a:ea typeface="微软雅黑" panose="020B0503020204020204" charset="-122"/>
              </a:rPr>
              <a:t>It is necessary to complete the  missions under the premise of ensuring the security, as well as to pursuit goals of security  under the premise of completing the missions.</a:t>
            </a:r>
            <a:endParaRPr lang="zh-CN" altLang="zh-CN" sz="1845">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23985" y="5467380"/>
            <a:ext cx="11344030" cy="106680"/>
          </a:xfrm>
          <a:prstGeom prst="rect">
            <a:avLst/>
          </a:prstGeom>
          <a:noFill/>
        </p:spPr>
        <p:txBody>
          <a:bodyPr wrap="square" rtlCol="0">
            <a:spAutoFit/>
          </a:bodyPr>
          <a:lstStyle/>
          <a:p>
            <a:r>
              <a:rPr kumimoji="1" lang="en-GB" altLang="zh-CN" sz="100" dirty="0"/>
              <a:t>https://</a:t>
            </a:r>
            <a:r>
              <a:rPr kumimoji="1" lang="en-GB" altLang="zh-CN" sz="100" dirty="0" err="1"/>
              <a:t>www.bilibili.com</a:t>
            </a:r>
            <a:r>
              <a:rPr kumimoji="1" lang="en-GB" altLang="zh-CN" sz="100" dirty="0"/>
              <a:t>/video/BV13R4y1M73K?spm_id_from=333.337.top_right_bar_window_custom_collection.content.click&amp;vd_source=0991c0bfd7ce6d8c34ea5d7729eaded5</a:t>
            </a:r>
            <a:endParaRPr kumimoji="1" lang="zh-CN" altLang="en-US" sz="100"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1993" y="415742"/>
            <a:ext cx="11768015" cy="45404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241502" y="3429000"/>
            <a:ext cx="8771151" cy="1318363"/>
          </a:xfrm>
          <a:prstGeom prst="rect">
            <a:avLst/>
          </a:prstGeom>
        </p:spPr>
        <p:txBody>
          <a:bodyPr vert="horz" lIns="112541" tIns="56270" rIns="112541" bIns="56270" rtlCol="0" anchor="b">
            <a:normAutofit/>
          </a:bodyPr>
          <a:lstStyle>
            <a:lvl1pPr algn="ctr" defTabSz="914400" rtl="0" eaLnBrk="1" latinLnBrk="0" hangingPunct="1">
              <a:spcBef>
                <a:spcPct val="0"/>
              </a:spcBef>
              <a:buNone/>
              <a:defRPr sz="4400" kern="1200">
                <a:solidFill>
                  <a:schemeClr val="accent1">
                    <a:lumMod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kumimoji="1" lang="en-US" altLang="zh-CN" sz="7385" b="1" dirty="0">
                <a:solidFill>
                  <a:srgbClr val="FFE4E5">
                    <a:lumMod val="25000"/>
                  </a:srgbClr>
                </a:solidFill>
                <a:latin typeface="微软雅黑" panose="020B0503020204020204" charset="-122"/>
                <a:ea typeface="微软雅黑" panose="020B0503020204020204" charset="-122"/>
                <a:cs typeface="Arial" panose="020B0604020202020204"/>
              </a:rPr>
              <a:t>Thanks</a:t>
            </a:r>
            <a:r>
              <a:rPr kumimoji="1" lang="zh-CN" altLang="en-US" sz="7385" b="1" dirty="0">
                <a:solidFill>
                  <a:srgbClr val="FFE4E5">
                    <a:lumMod val="25000"/>
                  </a:srgbClr>
                </a:solidFill>
                <a:latin typeface="微软雅黑" panose="020B0503020204020204" charset="-122"/>
                <a:ea typeface="微软雅黑" panose="020B0503020204020204" charset="-122"/>
                <a:cs typeface="Arial" panose="020B0604020202020204"/>
              </a:rPr>
              <a:t>！</a:t>
            </a:r>
            <a:endParaRPr lang="zh-CN" altLang="en-US" sz="7385" b="1" dirty="0">
              <a:solidFill>
                <a:srgbClr val="C00000"/>
              </a:solidFill>
              <a:latin typeface="微软雅黑" panose="020B0503020204020204" charset="-122"/>
              <a:ea typeface="微软雅黑" panose="020B0503020204020204" charset="-122"/>
              <a:cs typeface="Arial" panose="020B0604020202020204"/>
            </a:endParaRPr>
          </a:p>
        </p:txBody>
      </p:sp>
      <p:sp>
        <p:nvSpPr>
          <p:cNvPr id="6" name="Rectangle 2"/>
          <p:cNvSpPr txBox="1">
            <a:spLocks noRot="1" noChangeArrowheads="1"/>
          </p:cNvSpPr>
          <p:nvPr/>
        </p:nvSpPr>
        <p:spPr>
          <a:xfrm>
            <a:off x="1551690" y="427892"/>
            <a:ext cx="8150774" cy="1031631"/>
          </a:xfrm>
          <a:prstGeom prst="rect">
            <a:avLst/>
          </a:prstGeom>
        </p:spPr>
        <p:txBody>
          <a:bodyPr vert="horz" lIns="112541" tIns="56270" rIns="112541" bIns="56270" rtlCol="0" anchor="ctr">
            <a:normAutofit/>
          </a:bodyPr>
          <a:lstStyle>
            <a:lvl1pPr algn="ctr" defTabSz="914400" rtl="0" eaLnBrk="1" latinLnBrk="0" hangingPunct="1">
              <a:spcBef>
                <a:spcPct val="0"/>
              </a:spcBef>
              <a:buNone/>
              <a:defRPr sz="4400" b="1" kern="1200">
                <a:solidFill>
                  <a:srgbClr val="C0000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fontAlgn="auto">
              <a:spcAft>
                <a:spcPts val="0"/>
              </a:spcAft>
            </a:pPr>
            <a:r>
              <a:rPr kumimoji="1" lang="en-US" altLang="zh-CN" sz="5415" dirty="0">
                <a:solidFill>
                  <a:srgbClr val="FFE4E5">
                    <a:lumMod val="25000"/>
                  </a:srgbClr>
                </a:solidFill>
                <a:latin typeface="微软雅黑" panose="020B0503020204020204" charset="-122"/>
                <a:ea typeface="微软雅黑" panose="020B0503020204020204" charset="-122"/>
                <a:cs typeface="Arial" panose="020B0604020202020204"/>
              </a:rPr>
              <a:t>Questions</a:t>
            </a:r>
            <a:r>
              <a:rPr kumimoji="1" lang="zh-CN" altLang="en-US" sz="5415" dirty="0">
                <a:solidFill>
                  <a:srgbClr val="FFE4E5">
                    <a:lumMod val="25000"/>
                  </a:srgbClr>
                </a:solidFill>
                <a:latin typeface="微软雅黑" panose="020B0503020204020204" charset="-122"/>
                <a:ea typeface="微软雅黑" panose="020B0503020204020204" charset="-122"/>
                <a:cs typeface="Arial" panose="020B0604020202020204"/>
              </a:rPr>
              <a:t> </a:t>
            </a:r>
            <a:r>
              <a:rPr kumimoji="1" lang="en-US" altLang="zh-CN" sz="5415" dirty="0">
                <a:solidFill>
                  <a:srgbClr val="FFE4E5">
                    <a:lumMod val="25000"/>
                  </a:srgbClr>
                </a:solidFill>
                <a:latin typeface="微软雅黑" panose="020B0503020204020204" charset="-122"/>
                <a:ea typeface="微软雅黑" panose="020B0503020204020204" charset="-122"/>
                <a:cs typeface="Arial" panose="020B0604020202020204"/>
              </a:rPr>
              <a:t>&amp;</a:t>
            </a:r>
            <a:r>
              <a:rPr kumimoji="1" lang="zh-CN" altLang="en-US" sz="5415" dirty="0">
                <a:solidFill>
                  <a:srgbClr val="FFE4E5">
                    <a:lumMod val="25000"/>
                  </a:srgbClr>
                </a:solidFill>
                <a:latin typeface="微软雅黑" panose="020B0503020204020204" charset="-122"/>
                <a:ea typeface="微软雅黑" panose="020B0503020204020204" charset="-122"/>
                <a:cs typeface="Arial" panose="020B0604020202020204"/>
              </a:rPr>
              <a:t> </a:t>
            </a:r>
            <a:r>
              <a:rPr kumimoji="1" lang="en-US" altLang="zh-CN" sz="5415" dirty="0">
                <a:solidFill>
                  <a:srgbClr val="FFE4E5">
                    <a:lumMod val="25000"/>
                  </a:srgbClr>
                </a:solidFill>
                <a:latin typeface="微软雅黑" panose="020B0503020204020204" charset="-122"/>
                <a:ea typeface="微软雅黑" panose="020B0503020204020204" charset="-122"/>
                <a:cs typeface="Arial" panose="020B0604020202020204"/>
              </a:rPr>
              <a:t>Answers</a:t>
            </a:r>
            <a:endParaRPr kumimoji="1" lang="en-US" altLang="zh-CN" sz="5415" dirty="0">
              <a:solidFill>
                <a:srgbClr val="FFE4E5">
                  <a:lumMod val="25000"/>
                </a:srgbClr>
              </a:solidFill>
              <a:latin typeface="微软雅黑" panose="020B0503020204020204" charset="-122"/>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heme/theme1.xml><?xml version="1.0" encoding="utf-8"?>
<a:theme xmlns:a="http://schemas.openxmlformats.org/drawingml/2006/main" name="CISP-模板">
  <a:themeElements>
    <a:clrScheme name="CISP-模板 3">
      <a:dk1>
        <a:srgbClr val="0B398B"/>
      </a:dk1>
      <a:lt1>
        <a:srgbClr val="D1D1D1"/>
      </a:lt1>
      <a:dk2>
        <a:srgbClr val="000072"/>
      </a:dk2>
      <a:lt2>
        <a:srgbClr val="FFFFFF"/>
      </a:lt2>
      <a:accent1>
        <a:srgbClr val="003BB2"/>
      </a:accent1>
      <a:accent2>
        <a:srgbClr val="4DA6FF"/>
      </a:accent2>
      <a:accent3>
        <a:srgbClr val="AAAABC"/>
      </a:accent3>
      <a:accent4>
        <a:srgbClr val="B2B2B2"/>
      </a:accent4>
      <a:accent5>
        <a:srgbClr val="AAAFD5"/>
      </a:accent5>
      <a:accent6>
        <a:srgbClr val="4596E7"/>
      </a:accent6>
      <a:hlink>
        <a:srgbClr val="00D69E"/>
      </a:hlink>
      <a:folHlink>
        <a:srgbClr val="D46AE8"/>
      </a:folHlink>
    </a:clrScheme>
    <a:fontScheme name="CISP-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rgbClr val="99CCFF">
                <a:gamma/>
                <a:tint val="27451"/>
                <a:invGamma/>
              </a:srgbClr>
            </a:gs>
          </a:gsLst>
          <a:lin ang="5400000" scaled="1"/>
        </a:gradFill>
        <a:ln w="38100" cap="flat" cmpd="sng" algn="ctr">
          <a:solidFill>
            <a:srgbClr val="FF66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gradFill rotWithShape="0">
          <a:gsLst>
            <a:gs pos="0">
              <a:srgbClr val="99CCFF"/>
            </a:gs>
            <a:gs pos="100000">
              <a:srgbClr val="99CCFF">
                <a:gamma/>
                <a:tint val="27451"/>
                <a:invGamma/>
              </a:srgbClr>
            </a:gs>
          </a:gsLst>
          <a:lin ang="5400000" scaled="1"/>
        </a:gradFill>
        <a:ln w="38100" cap="flat" cmpd="sng" algn="ctr">
          <a:solidFill>
            <a:srgbClr val="FF66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ISP-模板 1">
        <a:dk1>
          <a:srgbClr val="333333"/>
        </a:dk1>
        <a:lt1>
          <a:srgbClr val="FFFFFF"/>
        </a:lt1>
        <a:dk2>
          <a:srgbClr val="470E03"/>
        </a:dk2>
        <a:lt2>
          <a:srgbClr val="FFFFFF"/>
        </a:lt2>
        <a:accent1>
          <a:srgbClr val="CC6600"/>
        </a:accent1>
        <a:accent2>
          <a:srgbClr val="99CCFF"/>
        </a:accent2>
        <a:accent3>
          <a:srgbClr val="B1AAAA"/>
        </a:accent3>
        <a:accent4>
          <a:srgbClr val="DADADA"/>
        </a:accent4>
        <a:accent5>
          <a:srgbClr val="E2B8AA"/>
        </a:accent5>
        <a:accent6>
          <a:srgbClr val="8AB9E7"/>
        </a:accent6>
        <a:hlink>
          <a:srgbClr val="2EB62E"/>
        </a:hlink>
        <a:folHlink>
          <a:srgbClr val="E88A00"/>
        </a:folHlink>
      </a:clrScheme>
      <a:clrMap bg1="dk2" tx1="lt1" bg2="dk1" tx2="lt2" accent1="accent1" accent2="accent2" accent3="accent3" accent4="accent4" accent5="accent5" accent6="accent6" hlink="hlink" folHlink="folHlink"/>
    </a:extraClrScheme>
    <a:extraClrScheme>
      <a:clrScheme name="CISP-模板 2">
        <a:dk1>
          <a:srgbClr val="000000"/>
        </a:dk1>
        <a:lt1>
          <a:srgbClr val="D1D1D1"/>
        </a:lt1>
        <a:dk2>
          <a:srgbClr val="003600"/>
        </a:dk2>
        <a:lt2>
          <a:srgbClr val="FFFFFF"/>
        </a:lt2>
        <a:accent1>
          <a:srgbClr val="26A84E"/>
        </a:accent1>
        <a:accent2>
          <a:srgbClr val="C7E46A"/>
        </a:accent2>
        <a:accent3>
          <a:srgbClr val="AAAEAA"/>
        </a:accent3>
        <a:accent4>
          <a:srgbClr val="B2B2B2"/>
        </a:accent4>
        <a:accent5>
          <a:srgbClr val="ACD1B2"/>
        </a:accent5>
        <a:accent6>
          <a:srgbClr val="B4CF5F"/>
        </a:accent6>
        <a:hlink>
          <a:srgbClr val="00D69E"/>
        </a:hlink>
        <a:folHlink>
          <a:srgbClr val="4466A4"/>
        </a:folHlink>
      </a:clrScheme>
      <a:clrMap bg1="dk2" tx1="lt1" bg2="dk1" tx2="lt2" accent1="accent1" accent2="accent2" accent3="accent3" accent4="accent4" accent5="accent5" accent6="accent6" hlink="hlink" folHlink="folHlink"/>
    </a:extraClrScheme>
    <a:extraClrScheme>
      <a:clrScheme name="CISP-模板 3">
        <a:dk1>
          <a:srgbClr val="0B398B"/>
        </a:dk1>
        <a:lt1>
          <a:srgbClr val="D1D1D1"/>
        </a:lt1>
        <a:dk2>
          <a:srgbClr val="000072"/>
        </a:dk2>
        <a:lt2>
          <a:srgbClr val="FFFFFF"/>
        </a:lt2>
        <a:accent1>
          <a:srgbClr val="003BB2"/>
        </a:accent1>
        <a:accent2>
          <a:srgbClr val="4DA6FF"/>
        </a:accent2>
        <a:accent3>
          <a:srgbClr val="AAAABC"/>
        </a:accent3>
        <a:accent4>
          <a:srgbClr val="B2B2B2"/>
        </a:accent4>
        <a:accent5>
          <a:srgbClr val="AAAFD5"/>
        </a:accent5>
        <a:accent6>
          <a:srgbClr val="4596E7"/>
        </a:accent6>
        <a:hlink>
          <a:srgbClr val="00D69E"/>
        </a:hlink>
        <a:folHlink>
          <a:srgbClr val="D46AE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rgbClr val="99CCFF">
                <a:gamma/>
                <a:tint val="27451"/>
                <a:invGamma/>
              </a:srgbClr>
            </a:gs>
          </a:gsLst>
          <a:lin ang="5400000" scaled="1"/>
        </a:gradFill>
        <a:ln w="38100" cap="flat" cmpd="sng" algn="ctr">
          <a:solidFill>
            <a:srgbClr val="FF66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gradFill rotWithShape="0">
          <a:gsLst>
            <a:gs pos="0">
              <a:srgbClr val="99CCFF"/>
            </a:gs>
            <a:gs pos="100000">
              <a:srgbClr val="99CCFF">
                <a:gamma/>
                <a:tint val="27451"/>
                <a:invGamma/>
              </a:srgbClr>
            </a:gs>
          </a:gsLst>
          <a:lin ang="5400000" scaled="1"/>
        </a:gradFill>
        <a:ln w="38100" cap="flat" cmpd="sng" algn="ctr">
          <a:solidFill>
            <a:srgbClr val="FF66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x272TGp_report_light">
  <a:themeElements>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fontScheme name="sx272TGp_report_light">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x272TGp_report_light 1">
        <a:dk1>
          <a:srgbClr val="000000"/>
        </a:dk1>
        <a:lt1>
          <a:srgbClr val="FFFFFF"/>
        </a:lt1>
        <a:dk2>
          <a:srgbClr val="003366"/>
        </a:dk2>
        <a:lt2>
          <a:srgbClr val="C0C0C0"/>
        </a:lt2>
        <a:accent1>
          <a:srgbClr val="4EA7EA"/>
        </a:accent1>
        <a:accent2>
          <a:srgbClr val="93C052"/>
        </a:accent2>
        <a:accent3>
          <a:srgbClr val="FFFFFF"/>
        </a:accent3>
        <a:accent4>
          <a:srgbClr val="000000"/>
        </a:accent4>
        <a:accent5>
          <a:srgbClr val="B2D0F3"/>
        </a:accent5>
        <a:accent6>
          <a:srgbClr val="85AE49"/>
        </a:accent6>
        <a:hlink>
          <a:srgbClr val="9999FF"/>
        </a:hlink>
        <a:folHlink>
          <a:srgbClr val="855ADA"/>
        </a:folHlink>
      </a:clrScheme>
      <a:clrMap bg1="lt1" tx1="dk1" bg2="lt2" tx2="dk2" accent1="accent1" accent2="accent2" accent3="accent3" accent4="accent4" accent5="accent5" accent6="accent6" hlink="hlink" folHlink="folHlink"/>
    </a:extraClrScheme>
    <a:extraClrScheme>
      <a:clrScheme name="sx272TGp_report_light 2">
        <a:dk1>
          <a:srgbClr val="000000"/>
        </a:dk1>
        <a:lt1>
          <a:srgbClr val="FFFFFF"/>
        </a:lt1>
        <a:dk2>
          <a:srgbClr val="003366"/>
        </a:dk2>
        <a:lt2>
          <a:srgbClr val="C0C0C0"/>
        </a:lt2>
        <a:accent1>
          <a:srgbClr val="DF6521"/>
        </a:accent1>
        <a:accent2>
          <a:srgbClr val="D7D03B"/>
        </a:accent2>
        <a:accent3>
          <a:srgbClr val="FFFFFF"/>
        </a:accent3>
        <a:accent4>
          <a:srgbClr val="000000"/>
        </a:accent4>
        <a:accent5>
          <a:srgbClr val="ECB8AB"/>
        </a:accent5>
        <a:accent6>
          <a:srgbClr val="C3BC35"/>
        </a:accent6>
        <a:hlink>
          <a:srgbClr val="188FB4"/>
        </a:hlink>
        <a:folHlink>
          <a:srgbClr val="A98FD9"/>
        </a:folHlink>
      </a:clrScheme>
      <a:clrMap bg1="lt1" tx1="dk1" bg2="lt2" tx2="dk2" accent1="accent1" accent2="accent2" accent3="accent3" accent4="accent4" accent5="accent5" accent6="accent6" hlink="hlink" folHlink="folHlink"/>
    </a:extraClrScheme>
    <a:extraClrScheme>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CISP-模板</Template>
  <TotalTime>0</TotalTime>
  <Words>27588</Words>
  <Application>WPS 演示</Application>
  <PresentationFormat>A4 纸张(210x297 毫米)</PresentationFormat>
  <Paragraphs>1502</Paragraphs>
  <Slides>149</Slides>
  <Notes>8</Notes>
  <HiddenSlides>0</HiddenSlides>
  <MMClips>2</MMClips>
  <ScaleCrop>false</ScaleCrop>
  <HeadingPairs>
    <vt:vector size="8" baseType="variant">
      <vt:variant>
        <vt:lpstr>已用的字体</vt:lpstr>
      </vt:variant>
      <vt:variant>
        <vt:i4>42</vt:i4>
      </vt:variant>
      <vt:variant>
        <vt:lpstr>主题</vt:lpstr>
      </vt:variant>
      <vt:variant>
        <vt:i4>5</vt:i4>
      </vt:variant>
      <vt:variant>
        <vt:lpstr>嵌入 OLE 服务器</vt:lpstr>
      </vt:variant>
      <vt:variant>
        <vt:i4>0</vt:i4>
      </vt:variant>
      <vt:variant>
        <vt:lpstr>幻灯片标题</vt:lpstr>
      </vt:variant>
      <vt:variant>
        <vt:i4>149</vt:i4>
      </vt:variant>
    </vt:vector>
  </HeadingPairs>
  <TitlesOfParts>
    <vt:vector size="196" baseType="lpstr">
      <vt:lpstr>Arial</vt:lpstr>
      <vt:lpstr>宋体</vt:lpstr>
      <vt:lpstr>Wingdings</vt:lpstr>
      <vt:lpstr>楷体_GB2312</vt:lpstr>
      <vt:lpstr>新宋体</vt:lpstr>
      <vt:lpstr>楷体_GB2312</vt:lpstr>
      <vt:lpstr>黑体</vt:lpstr>
      <vt:lpstr>隶书</vt:lpstr>
      <vt:lpstr>Tahoma</vt:lpstr>
      <vt:lpstr>Times New Roman</vt:lpstr>
      <vt:lpstr>Bitstream Vera Sans</vt:lpstr>
      <vt:lpstr>Lucida Sans Unicode</vt:lpstr>
      <vt:lpstr>Verdana</vt:lpstr>
      <vt:lpstr>华文新魏</vt:lpstr>
      <vt:lpstr>MS Gothic</vt:lpstr>
      <vt:lpstr>方正舒体</vt:lpstr>
      <vt:lpstr>华文行楷</vt:lpstr>
      <vt:lpstr>微软雅黑</vt:lpstr>
      <vt:lpstr>Arial Unicode MS</vt:lpstr>
      <vt:lpstr>AMGDT</vt:lpstr>
      <vt:lpstr>华文琥珀</vt:lpstr>
      <vt:lpstr>华文隶书</vt:lpstr>
      <vt:lpstr>ACaslon Bold</vt:lpstr>
      <vt:lpstr>Helvetica</vt:lpstr>
      <vt:lpstr>Helvetica</vt:lpstr>
      <vt:lpstr>方正大标宋简体</vt:lpstr>
      <vt:lpstr>Comic Sans MS</vt:lpstr>
      <vt:lpstr>方正细黑一简体</vt:lpstr>
      <vt:lpstr>Myriad Pro</vt:lpstr>
      <vt:lpstr>Arial</vt:lpstr>
      <vt:lpstr>Impact</vt:lpstr>
      <vt:lpstr>华文细黑</vt:lpstr>
      <vt:lpstr>Arial Narrow</vt:lpstr>
      <vt:lpstr>Palatino</vt:lpstr>
      <vt:lpstr>方正小标宋简体</vt:lpstr>
      <vt:lpstr>幼圆</vt:lpstr>
      <vt:lpstr>Microsoft JhengHei</vt:lpstr>
      <vt:lpstr>微软雅黑 Light</vt:lpstr>
      <vt:lpstr>Calibri</vt:lpstr>
      <vt:lpstr>Calibri</vt:lpstr>
      <vt:lpstr>Times New Roman</vt:lpstr>
      <vt:lpstr>Palatino Linotype</vt:lpstr>
      <vt:lpstr>CISP-模板</vt:lpstr>
      <vt:lpstr>万里长城</vt:lpstr>
      <vt:lpstr>sx272TGp_report_light</vt:lpstr>
      <vt:lpstr>默认设计模板</vt:lpstr>
      <vt:lpstr>1_默认设计模板</vt:lpstr>
      <vt:lpstr>PowerPoint 演示文稿</vt:lpstr>
      <vt:lpstr>PowerPoint 演示文稿</vt:lpstr>
      <vt:lpstr>目录</vt:lpstr>
      <vt:lpstr>PowerPoint 演示文稿</vt:lpstr>
      <vt:lpstr>内容</vt:lpstr>
      <vt:lpstr>PowerPoint 演示文稿</vt:lpstr>
      <vt:lpstr>安全问题根源—</vt:lpstr>
      <vt:lpstr>PowerPoint 演示文稿</vt:lpstr>
      <vt:lpstr>安全问题根源—外因来自自然的破坏</vt:lpstr>
      <vt:lpstr>PowerPoint 演示文稿</vt:lpstr>
      <vt:lpstr>PowerPoint 演示文稿</vt:lpstr>
      <vt:lpstr>信息技术的发展</vt:lpstr>
      <vt:lpstr>信息安全问题的诞生</vt:lpstr>
      <vt:lpstr>通信安全</vt:lpstr>
      <vt:lpstr>信息系统安全</vt:lpstr>
      <vt:lpstr>信息安全保障</vt:lpstr>
      <vt:lpstr>什么是信息安全？</vt:lpstr>
      <vt:lpstr>PowerPoint 演示文稿</vt:lpstr>
      <vt:lpstr>什么是信息安全？</vt:lpstr>
      <vt:lpstr>PowerPoint 演示文稿</vt:lpstr>
      <vt:lpstr>PowerPoint 演示文稿</vt:lpstr>
      <vt:lpstr>什么是信息安全？</vt:lpstr>
      <vt:lpstr>PowerPoint 演示文稿</vt:lpstr>
      <vt:lpstr>PowerPoint 演示文稿</vt:lpstr>
      <vt:lpstr>什么是信息安全</vt:lpstr>
      <vt:lpstr>如何保障信息安全？</vt:lpstr>
      <vt:lpstr>        完善的信息安全技术体系考虑过程</vt:lpstr>
      <vt:lpstr>高素质的人员队伍</vt:lpstr>
      <vt:lpstr>内容</vt:lpstr>
      <vt:lpstr>我国信息化迅猛发展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回顾：信息安全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网络空间安全趋势</vt:lpstr>
      <vt:lpstr>PowerPoint 演示文稿</vt:lpstr>
      <vt:lpstr>PowerPoint 演示文稿</vt:lpstr>
      <vt:lpstr>PowerPoint 演示文稿</vt:lpstr>
      <vt:lpstr>网络空间安全受到高度重视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墨菲定律：</vt:lpstr>
      <vt:lpstr>名医启示：</vt:lpstr>
      <vt:lpstr>木桶原理：</vt:lpstr>
      <vt:lpstr>PowerPoint 演示文稿</vt:lpstr>
      <vt:lpstr>PowerPoint 演示文稿</vt:lpstr>
      <vt:lpstr>PowerPoint 演示文稿</vt:lpstr>
      <vt:lpstr>PowerPoint 演示文稿</vt:lpstr>
      <vt:lpstr>PowerPoint 演示文稿</vt:lpstr>
      <vt:lpstr>PowerPoint 演示文稿</vt:lpstr>
      <vt:lpstr>信息安全问题</vt:lpstr>
      <vt:lpstr>明确信息安全责任的重要性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网络空间安全</vt:lpstr>
      <vt:lpstr>PowerPoint 演示文稿</vt:lpstr>
      <vt:lpstr>信息安全（Information Security）</vt:lpstr>
      <vt:lpstr>应用安全（Application Security）技术、程序和参与者。</vt:lpstr>
      <vt:lpstr>PowerPoint 演示文稿</vt:lpstr>
      <vt:lpstr>PowerPoint 演示文稿</vt:lpstr>
      <vt:lpstr>因特网安全（ Internet Security）</vt:lpstr>
      <vt:lpstr>PowerPoint 演示文稿</vt:lpstr>
      <vt:lpstr>PowerPoint 演示文稿</vt:lpstr>
      <vt:lpstr>网络空间安全是实践论</vt:lpstr>
      <vt:lpstr>网络空间安全是实践论</vt:lpstr>
      <vt:lpstr>网络空间安全是相对论</vt:lpstr>
      <vt:lpstr>网络空间安全是进化论</vt:lpstr>
      <vt:lpstr>网络空间安全是进化论</vt:lpstr>
      <vt:lpstr>网络空间安全是认识论</vt:lpstr>
      <vt:lpstr>网络空间安全是认识论</vt:lpstr>
      <vt:lpstr>网络空间安全是认识论</vt:lpstr>
      <vt:lpstr>网络空间安全是方法论</vt:lpstr>
      <vt:lpstr>网络空间安全是方法论</vt:lpstr>
      <vt:lpstr>网络空间安全是矛盾论</vt:lpstr>
      <vt:lpstr>网络空间安全是矛盾论</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彭勇</dc:creator>
  <cp:lastModifiedBy>Administrator</cp:lastModifiedBy>
  <cp:revision>705</cp:revision>
  <dcterms:created xsi:type="dcterms:W3CDTF">2007-07-24T06:33:00Z</dcterms:created>
  <dcterms:modified xsi:type="dcterms:W3CDTF">2026-03-09T03:26:57Z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6F482084E6B24355B3F2CC94A243CED4</vt:lpwstr>
  </property>
  <property fmtid="{D5CDD505-2E9C-101B-9397-08002B2CF9AE}" pid="3" name="KSOProductBuildVer">
    <vt:lpwstr>2052-11.1.0.10700</vt:lpwstr>
  </property>
</Properties>
</file>