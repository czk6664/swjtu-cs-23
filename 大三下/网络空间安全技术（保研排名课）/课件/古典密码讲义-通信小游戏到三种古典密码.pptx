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用户上传《浙大讲义.pdf》前几页的“一个通讯游戏”内容（第2–9页）。
- 用户上传《牛津-资料.pdf》关于 Caesar / Substitution / Vigenere 的练习与示例（第1–6页）。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用户上传《浙大讲义.pdf》第2–5页：通讯游戏的场景、协议与单向函数引入。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用户上传《浙大讲义.pdf》第7–9页：通讯游戏的合理性、公平性与“计算困难性/单向函数”的说明。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用户上传《牛津-资料.pdf》第1–2页：Caesar cipher 的定义、key 含义、示例“CAESAR → RPTHPG”及频率分析思路。
- 用户上传《浙大讲义.pdf》第15–16页：移位加密、模26表示与“有规律的置换”的说明。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用户上传《牛津-资料.pdf》第3–4页：Substitution cipher 的定义、小型替换表示例，以及“THIS SENTENCE IS ENCRYPTED → OAZH HLEOLEXL ZH LEXKMVOLJ”。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用户上传《牛津-资料.pdf》第5–6页：Vigenere cipher 的关键词重复、示例“CRYPTOGRAPHY → MVWZXMQVYZLW”及其与频率分析的关系。
- 用户上传《浙大讲义.pdf》第20页：佛吉尼亚密码是移位密码扩展、按位移位与“消除频率特征”的提示。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综合自用户上传《牛津-资料.pdf》第1–6页与《浙大讲义.pdf》第15–20页：三种古典密码的定义、例子和弱点。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综合自用户上传《浙大讲义.pdf》前几页与《牛津-资料.pdf》第1–6页，对讲课逻辑进行重组与中文化改写。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11556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古典密码入门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96112" y="2029968"/>
            <a:ext cx="6126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D8E1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从通信小游戏到凯撒、替换与弗吉尼亚密码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96112" y="2770632"/>
            <a:ext cx="5916168" cy="0"/>
          </a:xfrm>
          <a:prstGeom prst="line">
            <a:avLst/>
          </a:prstGeom>
          <a:noFill/>
          <a:ln w="31750">
            <a:solidFill>
              <a:srgbClr val="D4A4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9626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4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课堂讲义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635240" y="1234440"/>
            <a:ext cx="3611880" cy="585216"/>
          </a:xfrm>
          <a:prstGeom prst="rect">
            <a:avLst/>
          </a:prstGeom>
          <a:solidFill>
            <a:srgbClr val="D4A451"/>
          </a:solidFill>
          <a:ln w="12700">
            <a:solidFill>
              <a:srgbClr val="D4A451"/>
            </a:solidFill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通信小游戏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635240" y="2148840"/>
            <a:ext cx="3611880" cy="585216"/>
          </a:xfrm>
          <a:prstGeom prst="rect">
            <a:avLst/>
          </a:prstGeom>
          <a:solidFill>
            <a:srgbClr val="1B426C">
              <a:alpha val="85000"/>
            </a:srgbClr>
          </a:solidFill>
          <a:ln w="12700">
            <a:solidFill>
              <a:srgbClr val="315C8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凯撒加密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35240" y="3063240"/>
            <a:ext cx="3611880" cy="585216"/>
          </a:xfrm>
          <a:prstGeom prst="rect">
            <a:avLst/>
          </a:prstGeom>
          <a:solidFill>
            <a:srgbClr val="1B426C">
              <a:alpha val="85000"/>
            </a:srgbClr>
          </a:solidFill>
          <a:ln w="12700">
            <a:solidFill>
              <a:srgbClr val="315C8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替换加密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35240" y="3977640"/>
            <a:ext cx="3611880" cy="585216"/>
          </a:xfrm>
          <a:prstGeom prst="rect">
            <a:avLst/>
          </a:prstGeom>
          <a:solidFill>
            <a:srgbClr val="1B426C">
              <a:alpha val="85000"/>
            </a:srgbClr>
          </a:solidFill>
          <a:ln w="12700">
            <a:solidFill>
              <a:srgbClr val="315C8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弗吉尼亚加密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62672" y="4892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7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适合讲授“原理、例子与直觉”的入门课程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49808" cy="566928"/>
          </a:xfrm>
          <a:prstGeom prst="rect">
            <a:avLst/>
          </a:prstGeom>
          <a:solidFill>
            <a:srgbClr val="D4A451"/>
          </a:solidFill>
          <a:ln w="12700">
            <a:solidFill>
              <a:srgbClr val="D4A45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81328" y="320040"/>
            <a:ext cx="10012680" cy="566928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一个通信小游戏：为什么“面对面能做的事，远程不一定能做”？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58368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380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古典密码 | 课堂讲义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1201400" y="6400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80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143000"/>
            <a:ext cx="3703320" cy="1874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8DEE8"/>
            </a:solidFill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23A63"/>
                </a:solidFill>
              </a:rPr>
              <a:t>问题场景
</a:t>
            </a:r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</a:rPr>
              <a:t>面对面时，抛硬币就能决定输赢。
</a:t>
            </a:r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</a:rPr>
              <a:t>但如果改成电话或网络通信，双方都担心：
</a:t>
            </a:r>
            <a:pPr indent="0" marL="0">
              <a:buNone/>
            </a:pPr>
            <a:r>
              <a:rPr lang="en-US" sz="1750" i="1" dirty="0">
                <a:solidFill>
                  <a:srgbClr val="C94A44"/>
                </a:solidFill>
              </a:rPr>
              <a:t>“你会不会先看结果再说？”
</a:t>
            </a:r>
            <a:pPr indent="0" marL="0">
              <a:buNone/>
            </a:pPr>
            <a:r>
              <a:rPr lang="en-US" sz="1750" i="1" dirty="0">
                <a:solidFill>
                  <a:srgbClr val="C94A44"/>
                </a:solidFill>
              </a:rPr>
              <a:t>“你会不会事后改口？”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58368" y="3246120"/>
            <a:ext cx="3703320" cy="877824"/>
          </a:xfrm>
          <a:prstGeom prst="roundRect">
            <a:avLst/>
          </a:prstGeom>
          <a:solidFill>
            <a:srgbClr val="F5E7C8"/>
          </a:solidFill>
          <a:ln w="15240">
            <a:solidFill>
              <a:srgbClr val="D4A4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核心问题：两人不见面，怎样仍然能“公平地决定正反面”？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4800600" y="969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一种协议化思路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89520" y="9692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先“承诺”，再“公开”，最后“验证”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65592" y="1993392"/>
            <a:ext cx="0" cy="256032"/>
          </a:xfrm>
          <a:prstGeom prst="line">
            <a:avLst/>
          </a:prstGeom>
          <a:noFill/>
          <a:ln w="27940">
            <a:solidFill>
              <a:srgbClr val="2C7BE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65592" y="2907792"/>
            <a:ext cx="0" cy="256032"/>
          </a:xfrm>
          <a:prstGeom prst="line">
            <a:avLst/>
          </a:prstGeom>
          <a:noFill/>
          <a:ln w="27940">
            <a:solidFill>
              <a:srgbClr val="2C7BE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65592" y="3822192"/>
            <a:ext cx="0" cy="256032"/>
          </a:xfrm>
          <a:prstGeom prst="line">
            <a:avLst/>
          </a:prstGeom>
          <a:noFill/>
          <a:ln w="27940">
            <a:solidFill>
              <a:srgbClr val="2C7BE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754880" y="1298448"/>
            <a:ext cx="6821424" cy="65836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C5D4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甲随机选择一个大数 x，计算 f(x)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4754880" y="2212848"/>
            <a:ext cx="6821424" cy="65836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C5D4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甲先把 f(x) 发给乙：先承诺，但不暴露 x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4754880" y="3127248"/>
            <a:ext cx="6821424" cy="65836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C5D4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乙根据规则猜 x 的奇偶：偶数=正面，奇数=反面</a:t>
            </a:r>
            <a:endParaRPr lang="en-US" sz="1620" dirty="0"/>
          </a:p>
        </p:txBody>
      </p:sp>
      <p:sp>
        <p:nvSpPr>
          <p:cNvPr id="16" name="Text 14"/>
          <p:cNvSpPr/>
          <p:nvPr/>
        </p:nvSpPr>
        <p:spPr>
          <a:xfrm>
            <a:off x="4754880" y="4041648"/>
            <a:ext cx="6821424" cy="65836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C5D4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甲公开 x，乙再计算 f(x) 来核验是否真实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4754880" y="5056632"/>
            <a:ext cx="3246120" cy="694944"/>
          </a:xfrm>
          <a:prstGeom prst="roundRect">
            <a:avLst/>
          </a:prstGeom>
          <a:solidFill>
            <a:srgbClr val="DFF3F0"/>
          </a:solidFill>
          <a:ln w="15240">
            <a:solidFill>
              <a:srgbClr val="97D6C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甲不能事后更改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0184" y="5056632"/>
            <a:ext cx="3246120" cy="694944"/>
          </a:xfrm>
          <a:prstGeom prst="roundRect">
            <a:avLst/>
          </a:prstGeom>
          <a:solidFill>
            <a:srgbClr val="F5E7C8"/>
          </a:solidFill>
          <a:ln w="15240">
            <a:solidFill>
              <a:srgbClr val="D4A4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乙不能事先看穿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49808" cy="566928"/>
          </a:xfrm>
          <a:prstGeom prst="rect">
            <a:avLst/>
          </a:prstGeom>
          <a:solidFill>
            <a:srgbClr val="D4A451"/>
          </a:solidFill>
          <a:ln w="12700">
            <a:solidFill>
              <a:srgbClr val="D4A45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81328" y="320040"/>
            <a:ext cx="10012680" cy="566928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通信小游戏告诉我们的安全直觉：合法方容易算，攻击者难反推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58368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380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古典密码 | 课堂讲义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1201400" y="6400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80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115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单向函数的直观理解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36208" y="11155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协议为什么公平？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9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x 计算 f(x) 很容易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401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C94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 f(x) 后，要反推 x 很难</a:t>
            </a:r>
            <a:endParaRPr lang="en-US" sz="1680" dirty="0"/>
          </a:p>
        </p:txBody>
      </p:sp>
      <p:sp>
        <p:nvSpPr>
          <p:cNvPr id="10" name="Shape 8"/>
          <p:cNvSpPr/>
          <p:nvPr/>
        </p:nvSpPr>
        <p:spPr>
          <a:xfrm>
            <a:off x="1188720" y="2606040"/>
            <a:ext cx="3383280" cy="0"/>
          </a:xfrm>
          <a:prstGeom prst="line">
            <a:avLst/>
          </a:prstGeom>
          <a:noFill/>
          <a:ln w="35560">
            <a:solidFill>
              <a:srgbClr val="2C7BE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2267712"/>
            <a:ext cx="640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7BE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x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90288" y="2267712"/>
            <a:ext cx="91440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7BE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f(x)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72768" y="3703320"/>
            <a:ext cx="3136392" cy="0"/>
          </a:xfrm>
          <a:prstGeom prst="line">
            <a:avLst/>
          </a:prstGeom>
          <a:noFill/>
          <a:ln w="27940">
            <a:solidFill>
              <a:srgbClr val="C94A44"/>
            </a:solidFill>
            <a:prstDash val="dash"/>
            <a:headEnd type="triangle"/>
          </a:ln>
        </p:spPr>
      </p:sp>
      <p:sp>
        <p:nvSpPr>
          <p:cNvPr id="14" name="Text 12"/>
          <p:cNvSpPr/>
          <p:nvPr/>
        </p:nvSpPr>
        <p:spPr>
          <a:xfrm>
            <a:off x="6217920" y="1600200"/>
            <a:ext cx="53035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EE8"/>
            </a:solidFill>
          </a:ln>
          <a:effectLst>
            <a:outerShdw sx="100000" sy="100000" kx="0" ky="0" algn="bl" rotWithShape="0" blurRad="25400" dist="1270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63"/>
                </a:solidFill>
              </a:rPr>
              <a:t>① 先承诺
</a:t>
            </a:r>
            <a:pPr indent="0" marL="0">
              <a:buNone/>
            </a:pPr>
            <a:r>
              <a:rPr lang="en-US" sz="1680" dirty="0">
                <a:solidFill>
                  <a:srgbClr val="1F2937"/>
                </a:solidFill>
              </a:rPr>
              <a:t>甲一旦先发出 f(x)，就等于把自己的选择“锁定”了，不能事后换成另一个奇偶不同的数。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17920" y="3017520"/>
            <a:ext cx="530352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EE8"/>
            </a:solidFill>
          </a:ln>
          <a:effectLst>
            <a:outerShdw sx="100000" sy="100000" kx="0" ky="0" algn="bl" rotWithShape="0" blurRad="25400" dist="1270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A63"/>
                </a:solidFill>
              </a:rPr>
              <a:t>② 再隐藏
</a:t>
            </a:r>
            <a:pPr indent="0" marL="0">
              <a:buNone/>
            </a:pPr>
            <a:r>
              <a:rPr lang="en-US" sz="1680" dirty="0">
                <a:solidFill>
                  <a:srgbClr val="1F2937"/>
                </a:solidFill>
              </a:rPr>
              <a:t>乙只看到 f(x)，却不知道 x 本身，因此无法提前判断奇偶，只能做真实猜测。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13232" y="4864608"/>
            <a:ext cx="10826496" cy="822960"/>
          </a:xfrm>
          <a:prstGeom prst="roundRect">
            <a:avLst/>
          </a:prstGeom>
          <a:solidFill>
            <a:srgbClr val="F5E7C8"/>
          </a:solidFill>
          <a:ln w="15240">
            <a:solidFill>
              <a:srgbClr val="D4A4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这就是密码设计最核心的思路：让“正向计算”方便，让“逆向恢复秘密”变难。</a:t>
            </a:r>
            <a:endParaRPr lang="en-US" sz="1820" dirty="0"/>
          </a:p>
          <a:p>
            <a:pPr algn="ctr" indent="0" marL="0">
              <a:buNone/>
            </a:pPr>
            <a:r>
              <a:rPr lang="en-US" sz="182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下面的三种古典密码，都在解决“如何把明文藏起来”这个问题。</a:t>
            </a:r>
            <a:endParaRPr lang="en-US" sz="1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49808" cy="566928"/>
          </a:xfrm>
          <a:prstGeom prst="rect">
            <a:avLst/>
          </a:prstGeom>
          <a:solidFill>
            <a:srgbClr val="D4A451"/>
          </a:solidFill>
          <a:ln w="12700">
            <a:solidFill>
              <a:srgbClr val="D4A45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81328" y="320040"/>
            <a:ext cx="10012680" cy="566928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凯撒加密：固定步长的“整体平移”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58368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380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古典密码 | 课堂讲义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1201400" y="6400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80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" y="1170432"/>
            <a:ext cx="3913632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EE8"/>
            </a:solidFill>
          </a:ln>
          <a:effectLst>
            <a:outerShdw sx="100000" sy="100000" kx="0" ky="0" algn="bl" rotWithShape="0" blurRad="25400" dist="1270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23A63"/>
                </a:solidFill>
              </a:rPr>
              <a:t>核心原理
</a:t>
            </a:r>
            <a:pPr indent="0" marL="0">
              <a:buNone/>
            </a:pPr>
            <a:r>
              <a:rPr lang="en-US" sz="1720" dirty="0">
                <a:solidFill>
                  <a:srgbClr val="1F2937"/>
                </a:solidFill>
              </a:rPr>
              <a:t>• 把 26 个英文字母看成一个循环表。
</a:t>
            </a:r>
            <a:pPr indent="0" marL="0">
              <a:buNone/>
            </a:pPr>
            <a:r>
              <a:rPr lang="en-US" sz="1720" dirty="0">
                <a:solidFill>
                  <a:srgbClr val="1F2937"/>
                </a:solidFill>
              </a:rPr>
              <a:t>• 选择一个固定步长 k，所有字母一起平移。
</a:t>
            </a:r>
            <a:pPr indent="0" marL="0">
              <a:buNone/>
            </a:pPr>
            <a:r>
              <a:rPr lang="en-US" sz="1720" dirty="0">
                <a:solidFill>
                  <a:srgbClr val="1F2937"/>
                </a:solidFill>
              </a:rPr>
              <a:t>• 加密和解密都只围绕“移多少位”展开。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68096" y="30723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2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公式（模 26）</a:t>
            </a:r>
            <a:endParaRPr lang="en-US" sz="1460" dirty="0"/>
          </a:p>
        </p:txBody>
      </p:sp>
      <p:sp>
        <p:nvSpPr>
          <p:cNvPr id="8" name="Text 6"/>
          <p:cNvSpPr/>
          <p:nvPr/>
        </p:nvSpPr>
        <p:spPr>
          <a:xfrm>
            <a:off x="896112" y="361188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F9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691640" y="3410712"/>
            <a:ext cx="28803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 = (P + k) mod 26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96112" y="422452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94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解密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691640" y="4023360"/>
            <a:ext cx="28803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 = (C - k) mod 26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13232" y="4983480"/>
            <a:ext cx="3886200" cy="749808"/>
          </a:xfrm>
          <a:prstGeom prst="roundRect">
            <a:avLst/>
          </a:prstGeom>
          <a:solidFill>
            <a:srgbClr val="F5E7C8"/>
          </a:solidFill>
          <a:ln w="15240">
            <a:solidFill>
              <a:srgbClr val="D4A4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例如：key = P，表示向后平移 15 位</a:t>
            </a:r>
            <a:endParaRPr lang="en-US" sz="1730" dirty="0"/>
          </a:p>
        </p:txBody>
      </p:sp>
      <p:sp>
        <p:nvSpPr>
          <p:cNvPr id="13" name="Text 11"/>
          <p:cNvSpPr/>
          <p:nvPr/>
        </p:nvSpPr>
        <p:spPr>
          <a:xfrm>
            <a:off x="498348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A→0, B→1, …, Z→25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56048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明文字母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4956048" y="25420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密文字母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5833872" y="1755648"/>
            <a:ext cx="544068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ABCDEFGHIJKLMNOPQRSTUVWXYZ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5833872" y="2395728"/>
            <a:ext cx="5440680" cy="502920"/>
          </a:xfrm>
          <a:prstGeom prst="roundRect">
            <a:avLst/>
          </a:prstGeom>
          <a:solidFill>
            <a:srgbClr val="EAF1FB"/>
          </a:solidFill>
          <a:ln w="13970">
            <a:solidFill>
              <a:srgbClr val="B8CA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PQRSTUVWXYZABCDEFGHIJKLMNO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83480" y="3310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Oxford 示例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983480" y="3675888"/>
            <a:ext cx="19202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CAESAR</a:t>
            </a:r>
            <a:endParaRPr lang="en-US" sz="2050" dirty="0"/>
          </a:p>
        </p:txBody>
      </p:sp>
      <p:sp>
        <p:nvSpPr>
          <p:cNvPr id="20" name="Shape 18"/>
          <p:cNvSpPr/>
          <p:nvPr/>
        </p:nvSpPr>
        <p:spPr>
          <a:xfrm>
            <a:off x="6967728" y="4005072"/>
            <a:ext cx="877824" cy="0"/>
          </a:xfrm>
          <a:prstGeom prst="line">
            <a:avLst/>
          </a:prstGeom>
          <a:noFill/>
          <a:ln w="33020">
            <a:solidFill>
              <a:srgbClr val="2C7BE5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068312" y="36758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2C7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</a:t>
            </a:r>
            <a:endParaRPr lang="en-US" sz="1360" dirty="0"/>
          </a:p>
        </p:txBody>
      </p:sp>
      <p:sp>
        <p:nvSpPr>
          <p:cNvPr id="22" name="Text 20"/>
          <p:cNvSpPr/>
          <p:nvPr/>
        </p:nvSpPr>
        <p:spPr>
          <a:xfrm>
            <a:off x="7955280" y="3675888"/>
            <a:ext cx="2011680" cy="658368"/>
          </a:xfrm>
          <a:prstGeom prst="roundRect">
            <a:avLst/>
          </a:prstGeom>
          <a:solidFill>
            <a:srgbClr val="DFF3F0"/>
          </a:solidFill>
          <a:ln w="13970">
            <a:solidFill>
              <a:srgbClr val="97D6C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RPTHPG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8321040" y="4709160"/>
            <a:ext cx="297180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8"/>
            </a:solidFill>
          </a:ln>
          <a:effectLst>
            <a:outerShdw sx="100000" sy="100000" kx="0" ky="0" algn="bl" rotWithShape="0" blurRad="25400" dist="12700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为什么它很容易被破解？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只需尝试 25 个有效移位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字母频率整体只是“平移”，并没有消失</a:t>
            </a:r>
            <a:endParaRPr lang="en-US" sz="15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49808" cy="566928"/>
          </a:xfrm>
          <a:prstGeom prst="rect">
            <a:avLst/>
          </a:prstGeom>
          <a:solidFill>
            <a:srgbClr val="D4A451"/>
          </a:solidFill>
          <a:ln w="12700">
            <a:solidFill>
              <a:srgbClr val="D4A45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81328" y="320040"/>
            <a:ext cx="10012680" cy="566928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替换加密：不再整体平移，而是“一字一映射”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58368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380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古典密码 | 课堂讲义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1201400" y="6400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80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170432"/>
            <a:ext cx="3822192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EE8"/>
            </a:solidFill>
          </a:ln>
          <a:effectLst>
            <a:outerShdw sx="100000" sy="100000" kx="0" ky="0" algn="bl" rotWithShape="0" blurRad="25400" dist="1270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23A63"/>
                </a:solidFill>
              </a:rPr>
              <a:t>核心原理
</a:t>
            </a:r>
            <a:pPr indent="0" marL="0">
              <a:buNone/>
            </a:pPr>
            <a:r>
              <a:rPr lang="en-US" sz="1710" dirty="0">
                <a:solidFill>
                  <a:srgbClr val="1F2937"/>
                </a:solidFill>
              </a:rPr>
              <a:t>• 每个明文字母都对应一个固定的“替身”。
</a:t>
            </a:r>
            <a:pPr indent="0" marL="0">
              <a:buNone/>
            </a:pPr>
            <a:r>
              <a:rPr lang="en-US" sz="1710" dirty="0">
                <a:solidFill>
                  <a:srgbClr val="1F2937"/>
                </a:solidFill>
              </a:rPr>
              <a:t>• 密钥不再是一个数字，而是一整张替换表。
</a:t>
            </a:r>
            <a:pPr indent="0" marL="0">
              <a:buNone/>
            </a:pPr>
            <a:r>
              <a:rPr lang="en-US" sz="1710" dirty="0">
                <a:solidFill>
                  <a:srgbClr val="1F2937"/>
                </a:solidFill>
              </a:rPr>
              <a:t>• 解密时要用这张表的逆映射。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2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Oxford 示例中的一小段替换表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31520" y="3401568"/>
            <a:ext cx="376732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7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Plain : C D E H I N P R S T Y</a:t>
            </a:r>
            <a:endParaRPr lang="en-US" sz="1670" dirty="0"/>
          </a:p>
        </p:txBody>
      </p:sp>
      <p:sp>
        <p:nvSpPr>
          <p:cNvPr id="9" name="Text 7"/>
          <p:cNvSpPr/>
          <p:nvPr/>
        </p:nvSpPr>
        <p:spPr>
          <a:xfrm>
            <a:off x="731520" y="4005072"/>
            <a:ext cx="3767328" cy="50292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B8CA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7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Cipher: X J L A Z E V K H O M</a:t>
            </a:r>
            <a:endParaRPr lang="en-US" sz="1670" dirty="0"/>
          </a:p>
        </p:txBody>
      </p:sp>
      <p:sp>
        <p:nvSpPr>
          <p:cNvPr id="10" name="Text 8"/>
          <p:cNvSpPr/>
          <p:nvPr/>
        </p:nvSpPr>
        <p:spPr>
          <a:xfrm>
            <a:off x="731520" y="4919472"/>
            <a:ext cx="3767328" cy="841248"/>
          </a:xfrm>
          <a:prstGeom prst="roundRect">
            <a:avLst/>
          </a:prstGeom>
          <a:solidFill>
            <a:srgbClr val="F5E7C8"/>
          </a:solidFill>
          <a:ln w="13970">
            <a:solidFill>
              <a:srgbClr val="D4A4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只要映射固定，同一个明文字母就会反复变成同一个密文字母。</a:t>
            </a:r>
            <a:endParaRPr lang="en-US" sz="166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2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明文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4937760" y="1755648"/>
            <a:ext cx="630936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THIS SENTENCE IS ENCRYPTED</a:t>
            </a:r>
            <a:endParaRPr lang="en-US" sz="1980" dirty="0"/>
          </a:p>
        </p:txBody>
      </p:sp>
      <p:sp>
        <p:nvSpPr>
          <p:cNvPr id="13" name="Shape 11"/>
          <p:cNvSpPr/>
          <p:nvPr/>
        </p:nvSpPr>
        <p:spPr>
          <a:xfrm>
            <a:off x="8065008" y="2578608"/>
            <a:ext cx="0" cy="512064"/>
          </a:xfrm>
          <a:prstGeom prst="line">
            <a:avLst/>
          </a:prstGeom>
          <a:noFill/>
          <a:ln w="33020">
            <a:solidFill>
              <a:srgbClr val="2C7BE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693408" y="27614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C7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按固定替换表逐字替换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4937760" y="3291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2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密文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4937760" y="3639312"/>
            <a:ext cx="6309360" cy="713232"/>
          </a:xfrm>
          <a:prstGeom prst="roundRect">
            <a:avLst/>
          </a:prstGeom>
          <a:solidFill>
            <a:srgbClr val="DFF3F0"/>
          </a:solidFill>
          <a:ln w="13970">
            <a:solidFill>
              <a:srgbClr val="97D6C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4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OAZH HLEOLEXL ZH LEXKMVOLJ</a:t>
            </a:r>
            <a:endParaRPr lang="en-US" sz="1940" dirty="0"/>
          </a:p>
        </p:txBody>
      </p:sp>
      <p:sp>
        <p:nvSpPr>
          <p:cNvPr id="17" name="Text 15"/>
          <p:cNvSpPr/>
          <p:nvPr/>
        </p:nvSpPr>
        <p:spPr>
          <a:xfrm>
            <a:off x="4956048" y="4736592"/>
            <a:ext cx="6291072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8"/>
            </a:solidFill>
          </a:ln>
          <a:effectLst>
            <a:outerShdw sx="100000" sy="100000" kx="0" ky="0" algn="bl" rotWithShape="0" blurRad="25400" dist="12700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为什么比凯撒更“隐蔽”？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密钥空间更大：不是 1 个位移量，而是一整张映射表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但它仍保留单字母频率特征，因此仍可被频率分析破解</a:t>
            </a:r>
            <a:endParaRPr lang="en-US" sz="15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49808" cy="566928"/>
          </a:xfrm>
          <a:prstGeom prst="rect">
            <a:avLst/>
          </a:prstGeom>
          <a:solidFill>
            <a:srgbClr val="D4A451"/>
          </a:solidFill>
          <a:ln w="12700">
            <a:solidFill>
              <a:srgbClr val="D4A45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81328" y="320040"/>
            <a:ext cx="10012680" cy="566928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弗吉尼亚加密：关键词驱动的“多表替换”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58368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380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古典密码 | 课堂讲义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1201400" y="6400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80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170432"/>
            <a:ext cx="3749040" cy="1627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EE8"/>
            </a:solidFill>
          </a:ln>
          <a:effectLst>
            <a:outerShdw sx="100000" sy="100000" kx="0" ky="0" algn="bl" rotWithShape="0" blurRad="25400" dist="1270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23A63"/>
                </a:solidFill>
              </a:rPr>
              <a:t>核心原理
</a:t>
            </a:r>
            <a:pPr indent="0" marL="0">
              <a:buNone/>
            </a:pPr>
            <a:r>
              <a:rPr lang="en-US" sz="1710" dirty="0">
                <a:solidFill>
                  <a:srgbClr val="1F2937"/>
                </a:solidFill>
              </a:rPr>
              <a:t>• 先选一个关键词，例如 KEY。
</a:t>
            </a:r>
            <a:pPr indent="0" marL="0">
              <a:buNone/>
            </a:pPr>
            <a:r>
              <a:rPr lang="en-US" sz="1710" dirty="0">
                <a:solidFill>
                  <a:srgbClr val="1F2937"/>
                </a:solidFill>
              </a:rPr>
              <a:t>• 把关键词重复展开到与明文等长。
</a:t>
            </a:r>
            <a:pPr indent="0" marL="0">
              <a:buNone/>
            </a:pPr>
            <a:r>
              <a:rPr lang="en-US" sz="1710" dirty="0">
                <a:solidFill>
                  <a:srgbClr val="1F2937"/>
                </a:solidFill>
              </a:rPr>
              <a:t>• 每个位置都做一次“对应位移”的凯撒加密。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86384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2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按位加密（模 26）</a:t>
            </a:r>
            <a:endParaRPr lang="en-US" sz="1460" dirty="0"/>
          </a:p>
        </p:txBody>
      </p:sp>
      <p:sp>
        <p:nvSpPr>
          <p:cNvPr id="8" name="Text 6"/>
          <p:cNvSpPr/>
          <p:nvPr/>
        </p:nvSpPr>
        <p:spPr>
          <a:xfrm>
            <a:off x="841248" y="3401568"/>
            <a:ext cx="3474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Ci = (Pi + Ki) mod 26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31520" y="4828032"/>
            <a:ext cx="3730752" cy="914400"/>
          </a:xfrm>
          <a:prstGeom prst="roundRect">
            <a:avLst/>
          </a:prstGeom>
          <a:solidFill>
            <a:srgbClr val="F5E7C8"/>
          </a:solidFill>
          <a:ln w="13970">
            <a:solidFill>
              <a:srgbClr val="D4A4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可以把它理解成：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“多个凯撒加密轮流作用在不同位置上”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864608" y="1234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2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Oxford 示例：关键词 = KEY</a:t>
            </a:r>
            <a:endParaRPr lang="en-US" sz="1460" dirty="0"/>
          </a:p>
        </p:txBody>
      </p:sp>
      <p:sp>
        <p:nvSpPr>
          <p:cNvPr id="11" name="Text 9"/>
          <p:cNvSpPr/>
          <p:nvPr/>
        </p:nvSpPr>
        <p:spPr>
          <a:xfrm>
            <a:off x="4892040" y="1682496"/>
            <a:ext cx="1005840" cy="4572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Key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71032" y="1682496"/>
            <a:ext cx="5440680" cy="4572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K E Y K E Y K E Y K E Y</a:t>
            </a:r>
            <a:endParaRPr lang="en-US" sz="1720" dirty="0"/>
          </a:p>
        </p:txBody>
      </p:sp>
      <p:sp>
        <p:nvSpPr>
          <p:cNvPr id="13" name="Text 11"/>
          <p:cNvSpPr/>
          <p:nvPr/>
        </p:nvSpPr>
        <p:spPr>
          <a:xfrm>
            <a:off x="4892040" y="2304288"/>
            <a:ext cx="1005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Plain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71032" y="2304288"/>
            <a:ext cx="54406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 R Y P T O G R A P H Y</a:t>
            </a:r>
            <a:endParaRPr lang="en-US" sz="1720" dirty="0"/>
          </a:p>
        </p:txBody>
      </p:sp>
      <p:sp>
        <p:nvSpPr>
          <p:cNvPr id="15" name="Text 13"/>
          <p:cNvSpPr/>
          <p:nvPr/>
        </p:nvSpPr>
        <p:spPr>
          <a:xfrm>
            <a:off x="4892040" y="2926080"/>
            <a:ext cx="1005840" cy="457200"/>
          </a:xfrm>
          <a:prstGeom prst="roundRect">
            <a:avLst/>
          </a:prstGeom>
          <a:solidFill>
            <a:srgbClr val="F5E7C8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Cipher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71032" y="2926080"/>
            <a:ext cx="5440680" cy="457200"/>
          </a:xfrm>
          <a:prstGeom prst="roundRect">
            <a:avLst/>
          </a:prstGeom>
          <a:solidFill>
            <a:srgbClr val="DFF3F0"/>
          </a:solidFill>
          <a:ln w="12700">
            <a:solidFill>
              <a:srgbClr val="D8DE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0B274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 V W Z X M Q V Y Z L W</a:t>
            </a:r>
            <a:endParaRPr lang="en-US" sz="1720" dirty="0"/>
          </a:p>
        </p:txBody>
      </p:sp>
      <p:sp>
        <p:nvSpPr>
          <p:cNvPr id="17" name="Text 15"/>
          <p:cNvSpPr/>
          <p:nvPr/>
        </p:nvSpPr>
        <p:spPr>
          <a:xfrm>
            <a:off x="4892040" y="3767328"/>
            <a:ext cx="6355080" cy="1188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8"/>
            </a:solidFill>
          </a:ln>
          <a:effectLst>
            <a:outerShdw sx="100000" sy="100000" kx="0" ky="0" algn="bl" rotWithShape="0" blurRad="25400" dist="12700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1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为什么它比“单表替换”更难？</a:t>
            </a:r>
            <a:endParaRPr lang="en-US" sz="1610" dirty="0"/>
          </a:p>
          <a:p>
            <a:pPr indent="0" marL="0">
              <a:buNone/>
            </a:pPr>
            <a:r>
              <a:rPr lang="en-US" sz="161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同一个明文字母出现在不同位置时，可能因为关键词字母不同，而被加密成不同结果。</a:t>
            </a:r>
            <a:endParaRPr lang="en-US" sz="1610" dirty="0"/>
          </a:p>
          <a:p>
            <a:pPr indent="0" marL="0">
              <a:buNone/>
            </a:pPr>
            <a:r>
              <a:rPr lang="en-US" sz="161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因此，单字母频率特征会被“摊薄”。</a:t>
            </a:r>
            <a:endParaRPr lang="en-US" sz="1610" dirty="0"/>
          </a:p>
        </p:txBody>
      </p:sp>
      <p:sp>
        <p:nvSpPr>
          <p:cNvPr id="18" name="Text 16"/>
          <p:cNvSpPr/>
          <p:nvPr/>
        </p:nvSpPr>
        <p:spPr>
          <a:xfrm>
            <a:off x="4892040" y="5138928"/>
            <a:ext cx="6355080" cy="621792"/>
          </a:xfrm>
          <a:prstGeom prst="roundRect">
            <a:avLst/>
          </a:prstGeom>
          <a:solidFill>
            <a:srgbClr val="EAF1FB"/>
          </a:solidFill>
          <a:ln w="13970">
            <a:solidFill>
              <a:srgbClr val="B8CA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课堂上要特别讲清的一点：</a:t>
            </a:r>
            <a:endParaRPr lang="en-US" sz="1640" dirty="0"/>
          </a:p>
          <a:p>
            <a:pPr algn="ctr" indent="0" marL="0">
              <a:buNone/>
            </a:pPr>
            <a:r>
              <a:rPr lang="en-US" sz="164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它不是“随机替换”，而是“有规律地、按位变化的替换”。</a:t>
            </a:r>
            <a:endParaRPr lang="en-US" sz="16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49808" cy="566928"/>
          </a:xfrm>
          <a:prstGeom prst="rect">
            <a:avLst/>
          </a:prstGeom>
          <a:solidFill>
            <a:srgbClr val="D4A451"/>
          </a:solidFill>
          <a:ln w="12700">
            <a:solidFill>
              <a:srgbClr val="D4A45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81328" y="320040"/>
            <a:ext cx="10012680" cy="566928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三种古典密码的核心差别：从单表到多表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58368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380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古典密码 | 课堂讲义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1201400" y="6400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80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0789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一张表看懂三者差异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188720" cy="658368"/>
          </a:xfrm>
          <a:prstGeom prst="rect">
            <a:avLst/>
          </a:prstGeom>
          <a:solidFill>
            <a:srgbClr val="123A63"/>
          </a:solidFill>
          <a:ln w="1524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1920240" y="1463040"/>
            <a:ext cx="2057400" cy="658368"/>
          </a:xfrm>
          <a:prstGeom prst="rect">
            <a:avLst/>
          </a:prstGeom>
          <a:solidFill>
            <a:srgbClr val="123A63"/>
          </a:solidFill>
          <a:ln w="1524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密钥形式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3977640" y="1463040"/>
            <a:ext cx="2103120" cy="658368"/>
          </a:xfrm>
          <a:prstGeom prst="rect">
            <a:avLst/>
          </a:prstGeom>
          <a:solidFill>
            <a:srgbClr val="123A63"/>
          </a:solidFill>
          <a:ln w="1524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本质操作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6080760" y="1463040"/>
            <a:ext cx="2971800" cy="658368"/>
          </a:xfrm>
          <a:prstGeom prst="rect">
            <a:avLst/>
          </a:prstGeom>
          <a:solidFill>
            <a:srgbClr val="123A63"/>
          </a:solidFill>
          <a:ln w="1524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同一字母是否总变成同一密文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9052560" y="1463040"/>
            <a:ext cx="2560320" cy="658368"/>
          </a:xfrm>
          <a:prstGeom prst="rect">
            <a:avLst/>
          </a:prstGeom>
          <a:solidFill>
            <a:srgbClr val="123A63"/>
          </a:solidFill>
          <a:ln w="1524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典型破解思路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731520" y="2212848"/>
            <a:ext cx="1188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凯撒</a:t>
            </a:r>
            <a:endParaRPr lang="en-US" sz="1490" dirty="0"/>
          </a:p>
        </p:txBody>
      </p:sp>
      <p:sp>
        <p:nvSpPr>
          <p:cNvPr id="13" name="Text 11"/>
          <p:cNvSpPr/>
          <p:nvPr/>
        </p:nvSpPr>
        <p:spPr>
          <a:xfrm>
            <a:off x="1920240" y="2212848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一个位移量 k</a:t>
            </a:r>
            <a:endParaRPr lang="en-US" sz="1490" dirty="0"/>
          </a:p>
        </p:txBody>
      </p:sp>
      <p:sp>
        <p:nvSpPr>
          <p:cNvPr id="14" name="Text 12"/>
          <p:cNvSpPr/>
          <p:nvPr/>
        </p:nvSpPr>
        <p:spPr>
          <a:xfrm>
            <a:off x="3977640" y="2212848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整体平移</a:t>
            </a:r>
            <a:endParaRPr lang="en-US" sz="1490" dirty="0"/>
          </a:p>
        </p:txBody>
      </p:sp>
      <p:sp>
        <p:nvSpPr>
          <p:cNvPr id="15" name="Text 13"/>
          <p:cNvSpPr/>
          <p:nvPr/>
        </p:nvSpPr>
        <p:spPr>
          <a:xfrm>
            <a:off x="6080760" y="2212848"/>
            <a:ext cx="2971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490" dirty="0"/>
          </a:p>
        </p:txBody>
      </p:sp>
      <p:sp>
        <p:nvSpPr>
          <p:cNvPr id="16" name="Text 14"/>
          <p:cNvSpPr/>
          <p:nvPr/>
        </p:nvSpPr>
        <p:spPr>
          <a:xfrm>
            <a:off x="9052560" y="2212848"/>
            <a:ext cx="2560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穷举 25 个密钥 + 频率分析</a:t>
            </a:r>
            <a:endParaRPr lang="en-US" sz="149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1188720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</a:t>
            </a:r>
            <a:endParaRPr lang="en-US" sz="1490" dirty="0"/>
          </a:p>
        </p:txBody>
      </p:sp>
      <p:sp>
        <p:nvSpPr>
          <p:cNvPr id="18" name="Text 16"/>
          <p:cNvSpPr/>
          <p:nvPr/>
        </p:nvSpPr>
        <p:spPr>
          <a:xfrm>
            <a:off x="1920240" y="2962656"/>
            <a:ext cx="2057400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一整张替换表</a:t>
            </a:r>
            <a:endParaRPr lang="en-US" sz="1490" dirty="0"/>
          </a:p>
        </p:txBody>
      </p:sp>
      <p:sp>
        <p:nvSpPr>
          <p:cNvPr id="19" name="Text 17"/>
          <p:cNvSpPr/>
          <p:nvPr/>
        </p:nvSpPr>
        <p:spPr>
          <a:xfrm>
            <a:off x="3977640" y="2962656"/>
            <a:ext cx="2103120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单表映射</a:t>
            </a:r>
            <a:endParaRPr lang="en-US" sz="1490" dirty="0"/>
          </a:p>
        </p:txBody>
      </p:sp>
      <p:sp>
        <p:nvSpPr>
          <p:cNvPr id="20" name="Text 18"/>
          <p:cNvSpPr/>
          <p:nvPr/>
        </p:nvSpPr>
        <p:spPr>
          <a:xfrm>
            <a:off x="6080760" y="2962656"/>
            <a:ext cx="2971800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490" dirty="0"/>
          </a:p>
        </p:txBody>
      </p:sp>
      <p:sp>
        <p:nvSpPr>
          <p:cNvPr id="21" name="Text 19"/>
          <p:cNvSpPr/>
          <p:nvPr/>
        </p:nvSpPr>
        <p:spPr>
          <a:xfrm>
            <a:off x="9052560" y="2962656"/>
            <a:ext cx="2560320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频率分析 + 常见单词/模式</a:t>
            </a:r>
            <a:endParaRPr lang="en-US" sz="1490" dirty="0"/>
          </a:p>
        </p:txBody>
      </p:sp>
      <p:sp>
        <p:nvSpPr>
          <p:cNvPr id="22" name="Text 20"/>
          <p:cNvSpPr/>
          <p:nvPr/>
        </p:nvSpPr>
        <p:spPr>
          <a:xfrm>
            <a:off x="731520" y="3712464"/>
            <a:ext cx="1188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弗吉尼亚</a:t>
            </a:r>
            <a:endParaRPr lang="en-US" sz="1490" dirty="0"/>
          </a:p>
        </p:txBody>
      </p:sp>
      <p:sp>
        <p:nvSpPr>
          <p:cNvPr id="23" name="Text 21"/>
          <p:cNvSpPr/>
          <p:nvPr/>
        </p:nvSpPr>
        <p:spPr>
          <a:xfrm>
            <a:off x="1920240" y="3712464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一个关键词</a:t>
            </a:r>
            <a:endParaRPr lang="en-US" sz="1490" dirty="0"/>
          </a:p>
        </p:txBody>
      </p:sp>
      <p:sp>
        <p:nvSpPr>
          <p:cNvPr id="24" name="Text 22"/>
          <p:cNvSpPr/>
          <p:nvPr/>
        </p:nvSpPr>
        <p:spPr>
          <a:xfrm>
            <a:off x="3977640" y="3712464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按位变化的多表替换</a:t>
            </a:r>
            <a:endParaRPr lang="en-US" sz="1490" dirty="0"/>
          </a:p>
        </p:txBody>
      </p:sp>
      <p:sp>
        <p:nvSpPr>
          <p:cNvPr id="25" name="Text 23"/>
          <p:cNvSpPr/>
          <p:nvPr/>
        </p:nvSpPr>
        <p:spPr>
          <a:xfrm>
            <a:off x="6080760" y="3712464"/>
            <a:ext cx="2971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不一定</a:t>
            </a:r>
            <a:endParaRPr lang="en-US" sz="1490" dirty="0"/>
          </a:p>
        </p:txBody>
      </p:sp>
      <p:sp>
        <p:nvSpPr>
          <p:cNvPr id="26" name="Text 24"/>
          <p:cNvSpPr/>
          <p:nvPr/>
        </p:nvSpPr>
        <p:spPr>
          <a:xfrm>
            <a:off x="9052560" y="3712464"/>
            <a:ext cx="2560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先猜关键词长度，再分组分析</a:t>
            </a:r>
            <a:endParaRPr lang="en-US" sz="1490" dirty="0"/>
          </a:p>
        </p:txBody>
      </p:sp>
      <p:sp>
        <p:nvSpPr>
          <p:cNvPr id="27" name="Text 25"/>
          <p:cNvSpPr/>
          <p:nvPr/>
        </p:nvSpPr>
        <p:spPr>
          <a:xfrm>
            <a:off x="731520" y="5285232"/>
            <a:ext cx="10881360" cy="658368"/>
          </a:xfrm>
          <a:prstGeom prst="roundRect">
            <a:avLst/>
          </a:prstGeom>
          <a:solidFill>
            <a:srgbClr val="F5E7C8"/>
          </a:solidFill>
          <a:ln w="15240">
            <a:solidFill>
              <a:srgbClr val="D4A4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难度变化的本质不是“字母表更复杂”，而是：</a:t>
            </a:r>
            <a:endParaRPr lang="en-US" sz="1820" dirty="0"/>
          </a:p>
          <a:p>
            <a:pPr algn="ctr" indent="0" marL="0">
              <a:buNone/>
            </a:pPr>
            <a:r>
              <a:rPr lang="en-US" sz="182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是否让同一个明文字母在不同位置呈现出不同的密文行为。</a:t>
            </a:r>
            <a:endParaRPr lang="en-US" sz="1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49808" cy="566928"/>
          </a:xfrm>
          <a:prstGeom prst="rect">
            <a:avLst/>
          </a:prstGeom>
          <a:solidFill>
            <a:srgbClr val="D4A451"/>
          </a:solidFill>
          <a:ln w="12700">
            <a:solidFill>
              <a:srgbClr val="D4A45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81328" y="320040"/>
            <a:ext cx="10012680" cy="566928"/>
          </a:xfrm>
          <a:prstGeom prst="rect">
            <a:avLst/>
          </a:prstGeom>
          <a:solidFill>
            <a:srgbClr val="123A63"/>
          </a:solidFill>
          <a:ln w="12700">
            <a:solidFill>
              <a:srgbClr val="123A63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小结：把四类内容串成一条课上主线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58368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380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古典密码 | 课堂讲义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1201400" y="6400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80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097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建议的讲课主线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481328"/>
            <a:ext cx="566928" cy="566928"/>
          </a:xfrm>
          <a:prstGeom prst="ellipse">
            <a:avLst/>
          </a:prstGeom>
          <a:solidFill>
            <a:srgbClr val="D4A451"/>
          </a:solidFill>
          <a:ln w="12700">
            <a:solidFill>
              <a:srgbClr val="D4A45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99616" y="1435608"/>
            <a:ext cx="5239512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745"/>
                </a:solidFill>
              </a:rPr>
              <a:t>通信小游戏
</a:t>
            </a:r>
            <a:pPr indent="0" marL="0">
              <a:buNone/>
            </a:pPr>
            <a:r>
              <a:rPr lang="en-US" sz="1620" dirty="0">
                <a:solidFill>
                  <a:srgbClr val="1F2937"/>
                </a:solidFill>
              </a:rPr>
              <a:t>先讲“远程为什么会出现公平性问题”，再引出承诺、公开与验证。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2487168"/>
            <a:ext cx="566928" cy="566928"/>
          </a:xfrm>
          <a:prstGeom prst="ellipse">
            <a:avLst/>
          </a:prstGeom>
          <a:solidFill>
            <a:srgbClr val="D4A451"/>
          </a:solidFill>
          <a:ln w="12700">
            <a:solidFill>
              <a:srgbClr val="D4A45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99616" y="2441448"/>
            <a:ext cx="5239512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745"/>
                </a:solidFill>
              </a:rPr>
              <a:t>凯撒加密
</a:t>
            </a:r>
            <a:pPr indent="0" marL="0">
              <a:buNone/>
            </a:pPr>
            <a:r>
              <a:rPr lang="en-US" sz="1620" dirty="0">
                <a:solidFill>
                  <a:srgbClr val="1F2937"/>
                </a:solidFill>
              </a:rPr>
              <a:t>用固定移位帮助学生建立“加密=规则变换”的第一直觉。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3493008"/>
            <a:ext cx="566928" cy="566928"/>
          </a:xfrm>
          <a:prstGeom prst="ellipse">
            <a:avLst/>
          </a:prstGeom>
          <a:solidFill>
            <a:srgbClr val="D4A451"/>
          </a:solidFill>
          <a:ln w="12700">
            <a:solidFill>
              <a:srgbClr val="D4A45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99616" y="3447288"/>
            <a:ext cx="5239512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745"/>
                </a:solidFill>
              </a:rPr>
              <a:t>替换加密
</a:t>
            </a:r>
            <a:pPr indent="0" marL="0">
              <a:buNone/>
            </a:pPr>
            <a:r>
              <a:rPr lang="en-US" sz="1620" dirty="0">
                <a:solidFill>
                  <a:srgbClr val="1F2937"/>
                </a:solidFill>
              </a:rPr>
              <a:t>把“一个位移量”升级成“一整张映射表”，理解密钥空间扩大。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" y="4498848"/>
            <a:ext cx="566928" cy="566928"/>
          </a:xfrm>
          <a:prstGeom prst="ellipse">
            <a:avLst/>
          </a:prstGeom>
          <a:solidFill>
            <a:srgbClr val="D4A451"/>
          </a:solidFill>
          <a:ln w="12700">
            <a:solidFill>
              <a:srgbClr val="D4A45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9616" y="4453128"/>
            <a:ext cx="5239512" cy="6766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745"/>
                </a:solidFill>
              </a:rPr>
              <a:t>弗吉尼亚加密
</a:t>
            </a:r>
            <a:pPr indent="0" marL="0">
              <a:buNone/>
            </a:pPr>
            <a:r>
              <a:rPr lang="en-US" sz="1620" dirty="0">
                <a:solidFill>
                  <a:srgbClr val="1F2937"/>
                </a:solidFill>
              </a:rPr>
              <a:t>用关键词控制按位变化，让学生看到“多表替换”如何削弱频率特征。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0" y="10972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课堂思考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69480" y="1444752"/>
            <a:ext cx="3886200" cy="3913632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B8CAE1"/>
            </a:solidFill>
          </a:ln>
          <a:effectLst>
            <a:outerShdw sx="100000" sy="100000" kx="0" ky="0" algn="bl" rotWithShape="0" blurRad="25400" dist="12700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为什么替换加密比凯撒更难，但仍然不安全？</a:t>
            </a:r>
            <a:endParaRPr lang="en-US" sz="1630" dirty="0"/>
          </a:p>
          <a:p>
            <a:pPr indent="0" marL="0">
              <a:buNone/>
            </a:pP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为什么弗吉尼亚加密会削弱单字母频率分析？</a:t>
            </a:r>
            <a:endParaRPr lang="en-US" sz="1630" dirty="0"/>
          </a:p>
          <a:p>
            <a:pPr indent="0" marL="0">
              <a:buNone/>
            </a:pP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如果要把今天内容继续延伸，下一个最自然的话题就是：现代分组密码与公钥密码。</a:t>
            </a:r>
            <a:endParaRPr lang="en-US" sz="1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古典密码入门：从通信小游戏到凯撒、替换与弗吉尼亚密码</dc:title>
  <dc:subject>古典密码课堂讲义</dc:subject>
  <dc:creator>OpenAI</dc:creator>
  <cp:lastModifiedBy>OpenAI</cp:lastModifiedBy>
  <cp:revision>1</cp:revision>
  <dcterms:created xsi:type="dcterms:W3CDTF">2026-03-22T14:42:11Z</dcterms:created>
  <dcterms:modified xsi:type="dcterms:W3CDTF">2026-03-22T14:42:11Z</dcterms:modified>
</cp:coreProperties>
</file>